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9"/>
  </p:notesMasterIdLst>
  <p:sldIdLst>
    <p:sldId id="256" r:id="rId2"/>
    <p:sldId id="259" r:id="rId3"/>
    <p:sldId id="284" r:id="rId4"/>
    <p:sldId id="285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3CB-C6C8-4F41-A6A6-EA9A78FF6D7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B744B-BF2D-4205-9A5F-2F96EB07D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8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B744B-BF2D-4205-9A5F-2F96EB07DB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64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5B063-35D0-6802-FA54-056B4D6B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E236B-BFAC-DA61-C334-86F7E4D46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460B1-145F-2646-60AF-CA63D25B4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7A504-2CFE-0AFA-13B4-942F063E0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B744B-BF2D-4205-9A5F-2F96EB07DB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62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7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0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1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44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71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7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7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9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92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25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3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22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3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8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3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CE2030-EDF4-499D-A239-01B6EBD487CA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DBFCCB-4855-4E26-8918-179AC8E41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4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2083C45B-C722-C31B-4952-D8F26A82C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2087" y="1440580"/>
            <a:ext cx="9266957" cy="2387600"/>
          </a:xfrm>
        </p:spPr>
        <p:txBody>
          <a:bodyPr>
            <a:noAutofit/>
          </a:bodyPr>
          <a:lstStyle/>
          <a:p>
            <a:pPr algn="l"/>
            <a:br>
              <a:rPr lang="en-US" sz="2800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</a:br>
            <a:r>
              <a:rPr lang="bg-BG" sz="4400" b="0" i="0" dirty="0">
                <a:effectLst/>
                <a:latin typeface="Century Gothic" panose="020B0502020202020204" pitchFamily="34" charset="0"/>
              </a:rPr>
              <a:t>Мащабируеми паралелни </a:t>
            </a:r>
            <a:br>
              <a:rPr lang="bg-BG" sz="4400" b="0" i="0" dirty="0">
                <a:effectLst/>
                <a:latin typeface="Century Gothic" panose="020B0502020202020204" pitchFamily="34" charset="0"/>
              </a:rPr>
            </a:br>
            <a:r>
              <a:rPr lang="bg-BG" sz="4400" b="0" i="0" dirty="0">
                <a:effectLst/>
                <a:latin typeface="Century Gothic" panose="020B0502020202020204" pitchFamily="34" charset="0"/>
              </a:rPr>
              <a:t>компютърини архитектури –</a:t>
            </a:r>
            <a:br>
              <a:rPr lang="bg-BG" sz="2800" b="0" i="0" dirty="0">
                <a:effectLst/>
                <a:latin typeface="Century Gothic" panose="020B0502020202020204" pitchFamily="34" charset="0"/>
              </a:rPr>
            </a:br>
            <a:r>
              <a:rPr lang="bg-BG" sz="2400" b="0" i="0" dirty="0">
                <a:effectLst/>
                <a:latin typeface="Century Gothic" panose="020B0502020202020204" pitchFamily="34" charset="0"/>
              </a:rPr>
              <a:t>архитектура на процесора, програмни модели, сфери на приможение, производиделност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09CFB-A136-CC0A-3378-843314A44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5045" y="5722374"/>
            <a:ext cx="9144000" cy="75708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bg-BG" sz="2000" dirty="0"/>
              <a:t>Изготвил: Владислав Валентонов Атанасов</a:t>
            </a:r>
          </a:p>
          <a:p>
            <a:pPr algn="r"/>
            <a:r>
              <a:rPr lang="bg-BG" sz="2000" dirty="0"/>
              <a:t>ФКСТ, КСИ, курс </a:t>
            </a:r>
            <a:r>
              <a:rPr lang="en-US" sz="2000" dirty="0"/>
              <a:t>III, </a:t>
            </a:r>
            <a:r>
              <a:rPr lang="bg-BG" sz="2000" dirty="0"/>
              <a:t>ф.н 121222190, група 38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515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D0E9-F8A1-7C0E-70E9-BAA09FD9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24" y="558800"/>
            <a:ext cx="6208396" cy="1473201"/>
          </a:xfrm>
        </p:spPr>
        <p:txBody>
          <a:bodyPr>
            <a:normAutofit/>
          </a:bodyPr>
          <a:lstStyle/>
          <a:p>
            <a:pPr algn="l"/>
            <a:r>
              <a:rPr lang="bg-BG" sz="4400"/>
              <a:t>Архитектурни нива</a:t>
            </a:r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B038F-7F6A-A242-01A5-7C956089F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5124" y="2138678"/>
            <a:ext cx="9708066" cy="327660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2800" dirty="0"/>
              <a:t>Паралелизъм на ниво инструкции </a:t>
            </a:r>
          </a:p>
          <a:p>
            <a:pPr algn="l"/>
            <a:r>
              <a:rPr lang="bg-BG" sz="2800" dirty="0"/>
              <a:t>-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използват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техники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като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конвейеризация</a:t>
            </a:r>
            <a:r>
              <a:rPr lang="en-US" sz="2800" dirty="0">
                <a:effectLst/>
                <a:ea typeface="Aptos" panose="020B0004020202020204" pitchFamily="34" charset="0"/>
              </a:rPr>
              <a:t>,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при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която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инструкциите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се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разделят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на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етапи</a:t>
            </a:r>
            <a:r>
              <a:rPr lang="en-US" sz="2800" dirty="0">
                <a:effectLst/>
                <a:ea typeface="Aptos" panose="020B0004020202020204" pitchFamily="34" charset="0"/>
              </a:rPr>
              <a:t> и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се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обработват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паралелно</a:t>
            </a:r>
            <a:r>
              <a:rPr lang="en-US" sz="2800" dirty="0">
                <a:effectLst/>
                <a:ea typeface="Aptos" panose="020B0004020202020204" pitchFamily="34" charset="0"/>
              </a:rPr>
              <a:t>. </a:t>
            </a:r>
            <a:endParaRPr lang="bg-BG" sz="2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>
                <a:effectLst/>
                <a:ea typeface="Aptos" panose="020B0004020202020204" pitchFamily="34" charset="0"/>
              </a:rPr>
              <a:t>Паралелизмът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на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ниво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нишки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endParaRPr lang="bg-BG" sz="2800" dirty="0">
              <a:effectLst/>
              <a:ea typeface="Aptos" panose="020B0004020202020204" pitchFamily="34" charset="0"/>
            </a:endParaRPr>
          </a:p>
          <a:p>
            <a:pPr algn="l"/>
            <a:r>
              <a:rPr lang="bg-BG" sz="2800" dirty="0">
                <a:effectLst/>
                <a:ea typeface="Aptos" panose="020B0004020202020204" pitchFamily="34" charset="0"/>
              </a:rPr>
              <a:t>-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включва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хардуерна</a:t>
            </a:r>
            <a:r>
              <a:rPr lang="en-US" sz="2800" dirty="0">
                <a:effectLst/>
                <a:ea typeface="Aptos" panose="020B0004020202020204" pitchFamily="34" charset="0"/>
              </a:rPr>
              <a:t> и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софтуерна</a:t>
            </a:r>
            <a:r>
              <a:rPr lang="en-US" sz="2800" dirty="0">
                <a:effectLst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ea typeface="Aptos" panose="020B0004020202020204" pitchFamily="34" charset="0"/>
              </a:rPr>
              <a:t>многозадачност</a:t>
            </a:r>
            <a:r>
              <a:rPr lang="en-US" sz="2800" dirty="0">
                <a:effectLst/>
                <a:ea typeface="Aptos" panose="020B0004020202020204" pitchFamily="34" charset="0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0004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D27C-DA59-93BF-14B1-CDF77A2A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917294"/>
            <a:ext cx="6050807" cy="1371600"/>
          </a:xfrm>
        </p:spPr>
        <p:txBody>
          <a:bodyPr>
            <a:noAutofit/>
          </a:bodyPr>
          <a:lstStyle/>
          <a:p>
            <a:pPr algn="l"/>
            <a:r>
              <a:rPr lang="bg-BG" sz="4400" dirty="0"/>
              <a:t>Класификация по Флин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9EF4-8F89-DAAD-B218-0F206BCBA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B32FD-B6DA-FC07-1E2A-90C4A71F2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7381896" cy="1828800"/>
          </a:xfrm>
        </p:spPr>
        <p:txBody>
          <a:bodyPr>
            <a:noAutofit/>
          </a:bodyPr>
          <a:lstStyle/>
          <a:p>
            <a:pPr marL="285750" marR="0" indent="-285750" algn="l">
              <a:buFont typeface="Arial"/>
              <a:buChar char="•"/>
            </a:pPr>
            <a:r>
              <a:rPr lang="en-US" sz="2800" dirty="0"/>
              <a:t>SISD (Single Instruction, Single Data) </a:t>
            </a:r>
          </a:p>
          <a:p>
            <a:pPr marL="285750" marR="0" indent="-285750" algn="l">
              <a:buFont typeface="Arial"/>
              <a:buChar char="•"/>
            </a:pPr>
            <a:r>
              <a:rPr lang="en-US" sz="2800" dirty="0"/>
              <a:t>SIMD (Single Instruction, Multiple Data) </a:t>
            </a:r>
          </a:p>
          <a:p>
            <a:pPr marL="285750" marR="0" indent="-285750" algn="l">
              <a:buFont typeface="Arial"/>
              <a:buChar char="•"/>
            </a:pPr>
            <a:r>
              <a:rPr lang="en-US" sz="2800" dirty="0"/>
              <a:t>MISD (Multiple Instruction, Single Data) </a:t>
            </a:r>
          </a:p>
          <a:p>
            <a:pPr marL="285750" marR="0" indent="-285750" algn="l">
              <a:buFont typeface="Arial"/>
              <a:buChar char="•"/>
            </a:pPr>
            <a:r>
              <a:rPr lang="en-US" sz="2800" dirty="0"/>
              <a:t>MIMD (Multiple Instruction, Multiple Data)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109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294-9B4B-7B11-15D5-C77B2810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FE9BB-5D2C-BF58-DD9C-65E67C2D3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Placeholder 6" descr="A diagram of a computer hardware&#10;&#10;AI-generated content may be incorrect.">
            <a:extLst>
              <a:ext uri="{FF2B5EF4-FFF2-40B4-BE49-F238E27FC236}">
                <a16:creationId xmlns:a16="http://schemas.microsoft.com/office/drawing/2014/main" id="{297FA450-AAB4-E1D9-3FEA-54E07C97922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t="7736" r="-65" b="9984"/>
          <a:stretch/>
        </p:blipFill>
        <p:spPr bwMode="auto">
          <a:xfrm>
            <a:off x="1754052" y="504499"/>
            <a:ext cx="9479227" cy="5849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5537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7BF9-C9B4-7661-1F1B-C24652A4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3" y="5415483"/>
            <a:ext cx="12353096" cy="717240"/>
          </a:xfrm>
        </p:spPr>
        <p:txBody>
          <a:bodyPr>
            <a:normAutofit/>
          </a:bodyPr>
          <a:lstStyle/>
          <a:p>
            <a:r>
              <a:rPr lang="bg-BG" dirty="0">
                <a:latin typeface="+mn-lt"/>
              </a:rPr>
              <a:t>Паралелизъм на ниво инсрукции чрез </a:t>
            </a:r>
            <a:r>
              <a:rPr lang="en-US" dirty="0" err="1">
                <a:effectLst/>
                <a:latin typeface="+mn-lt"/>
                <a:ea typeface="Aptos" panose="020B0004020202020204" pitchFamily="34" charset="0"/>
              </a:rPr>
              <a:t>конвейеризация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58262-39D8-9001-7ADC-F4AF0BB5C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4871" y="6001614"/>
            <a:ext cx="12353096" cy="624821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Placeholder 4" descr="A diagram of a computer architecture&#10;&#10;AI-generated content may be incorrect.">
            <a:extLst>
              <a:ext uri="{FF2B5EF4-FFF2-40B4-BE49-F238E27FC236}">
                <a16:creationId xmlns:a16="http://schemas.microsoft.com/office/drawing/2014/main" id="{D4E7A6B4-E624-BBD4-EADC-8DDA442ECC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9" t="24347" r="3271" b="16155"/>
          <a:stretch/>
        </p:blipFill>
        <p:spPr bwMode="auto">
          <a:xfrm>
            <a:off x="1691770" y="538480"/>
            <a:ext cx="9630363" cy="50275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6797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24612-6FE0-D9F9-7CD0-0B4DD2CB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254" y="5752782"/>
            <a:ext cx="10018711" cy="566738"/>
          </a:xfrm>
        </p:spPr>
        <p:txBody>
          <a:bodyPr/>
          <a:lstStyle/>
          <a:p>
            <a:r>
              <a:rPr lang="bg-BG" dirty="0"/>
              <a:t>Архитектурна схема на паралелизъм на ниво нишки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CFF96-7515-28F9-01EA-9883261EA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9694418-A5B0-670B-D604-5F253A72735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2" t="43687" r="24762" b="18130"/>
          <a:stretch/>
        </p:blipFill>
        <p:spPr bwMode="auto">
          <a:xfrm>
            <a:off x="1712429" y="538480"/>
            <a:ext cx="9976363" cy="51511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9975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049E-BD1D-92D5-8660-C66A6237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184" y="970279"/>
            <a:ext cx="6685916" cy="1371600"/>
          </a:xfrm>
        </p:spPr>
        <p:txBody>
          <a:bodyPr>
            <a:normAutofit/>
          </a:bodyPr>
          <a:lstStyle/>
          <a:p>
            <a:r>
              <a:rPr lang="bg-BG" sz="4400" dirty="0"/>
              <a:t>Модели на програмиране</a:t>
            </a:r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A93B7-BE83-8E0F-74C7-E66108FF1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26564" y="2849878"/>
            <a:ext cx="7813676" cy="307340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OpenMP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POSIX Threads (</a:t>
            </a:r>
            <a:r>
              <a:rPr lang="en-US" sz="2800" dirty="0" err="1"/>
              <a:t>pthreads</a:t>
            </a:r>
            <a:r>
              <a:rPr lang="en-US" sz="2800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Message Passing Interface (MPI)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GPU programming (NVIDIA’s model -CUDA)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OpenCL (CUDA alternative)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226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D762-A7BD-D0C6-1315-5079FCF5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4" y="5793315"/>
            <a:ext cx="10018711" cy="566738"/>
          </a:xfrm>
        </p:spPr>
        <p:txBody>
          <a:bodyPr/>
          <a:lstStyle/>
          <a:p>
            <a:r>
              <a:rPr lang="ru-RU" dirty="0"/>
              <a:t>Свързване на процеси и ресурси в многовъзлов MPI клъстер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B5F9-4899-7F5F-64A7-28DE0D9AC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EF3D8B9-D256-763C-4CC5-1A66127C6F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2" t="21914" r="18820" b="14039"/>
          <a:stretch/>
        </p:blipFill>
        <p:spPr bwMode="auto">
          <a:xfrm>
            <a:off x="2141326" y="497947"/>
            <a:ext cx="7909345" cy="51206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5455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701A-72C4-2BAB-C37C-A8113DB2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847" y="228278"/>
            <a:ext cx="6370956" cy="1371600"/>
          </a:xfrm>
        </p:spPr>
        <p:txBody>
          <a:bodyPr>
            <a:normAutofit/>
          </a:bodyPr>
          <a:lstStyle/>
          <a:p>
            <a:r>
              <a:rPr lang="bg-BG" sz="4400" dirty="0"/>
              <a:t>Паралелни алгоритми</a:t>
            </a:r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D41E4-AF6F-0C35-D80F-CC08D8332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7847" y="1727200"/>
            <a:ext cx="10083176" cy="4404361"/>
          </a:xfrm>
        </p:spPr>
        <p:txBody>
          <a:bodyPr>
            <a:normAutofit fontScale="62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4500" dirty="0"/>
              <a:t>Cannon's, Fox's и SUMMA</a:t>
            </a:r>
            <a:br>
              <a:rPr lang="ru-RU" sz="2800" dirty="0"/>
            </a:br>
            <a:r>
              <a:rPr lang="ru-RU" sz="3800" dirty="0"/>
              <a:t>- Това са алгоритми за разпределено умножение на матрици, използвани в паралелни изчисления, като всяка техника предлага различни подходи за минимизиране на комуникацията между процесите.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4500" dirty="0"/>
              <a:t>Bitonic sort и Sample sort</a:t>
            </a:r>
            <a:br>
              <a:rPr lang="ru-RU" sz="2800" dirty="0"/>
            </a:br>
            <a:r>
              <a:rPr lang="ru-RU" sz="3800" dirty="0"/>
              <a:t>- Паралелни алгоритми за сортиране, където Bitonic sort е подходящ за архитектури с фиксирана комуникация, а Sample sort използва избрани елементи (семпли) за по-ефективно разпределение.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4500" dirty="0"/>
              <a:t>Breadth-First Search и PageRank</a:t>
            </a:r>
            <a:br>
              <a:rPr lang="ru-RU" sz="2800" dirty="0"/>
            </a:br>
            <a:r>
              <a:rPr lang="ru-RU" sz="3800" dirty="0"/>
              <a:t>- BFS се използва за намиране на най-късите пътища в графи, докато PageRank е алгоритъм на Google за определяне на важността на страници в мрежи чрез анализ на връзките.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9952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302E-A83F-868D-B109-71ED75CF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3" y="826624"/>
            <a:ext cx="5426158" cy="1371600"/>
          </a:xfrm>
        </p:spPr>
        <p:txBody>
          <a:bodyPr>
            <a:normAutofit/>
          </a:bodyPr>
          <a:lstStyle/>
          <a:p>
            <a:pPr algn="l"/>
            <a:r>
              <a:rPr lang="bg-BG" sz="4400" dirty="0"/>
              <a:t>Машинно обучение</a:t>
            </a:r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2F735-35F2-2368-F55B-02A5488D2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3" y="2395960"/>
            <a:ext cx="6862623" cy="312613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Data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Gradient averaging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dirty="0"/>
              <a:t>Model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Pipeline parallelism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Tensor parallelism</a:t>
            </a:r>
          </a:p>
        </p:txBody>
      </p:sp>
    </p:spTree>
    <p:extLst>
      <p:ext uri="{BB962C8B-B14F-4D97-AF65-F5344CB8AC3E}">
        <p14:creationId xmlns:p14="http://schemas.microsoft.com/office/powerpoint/2010/main" val="966722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33C3-C88E-AA3B-CC48-E1E37AFD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6B666-DD28-3F0A-8102-A6FDA9EAE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 descr="Illustration of data parallelism and model parallelism.">
            <a:extLst>
              <a:ext uri="{FF2B5EF4-FFF2-40B4-BE49-F238E27FC236}">
                <a16:creationId xmlns:a16="http://schemas.microsoft.com/office/drawing/2014/main" id="{1766E658-9502-4B2D-D66E-4420A6D377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" b="-676"/>
          <a:stretch/>
        </p:blipFill>
        <p:spPr bwMode="auto">
          <a:xfrm>
            <a:off x="1247297" y="1206660"/>
            <a:ext cx="10255725" cy="4444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34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4DED-93CB-466E-933D-4C8E085A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171" y="166867"/>
            <a:ext cx="8417544" cy="1712559"/>
          </a:xfrm>
        </p:spPr>
        <p:txBody>
          <a:bodyPr>
            <a:normAutofit/>
          </a:bodyPr>
          <a:lstStyle/>
          <a:p>
            <a:r>
              <a:rPr lang="en-US" sz="4400" kern="1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Закони</a:t>
            </a:r>
            <a:r>
              <a:rPr lang="en-US" sz="4400" kern="1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kern="1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sz="4400" kern="1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kern="1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производителност</a:t>
            </a:r>
            <a:endParaRPr lang="en-US" sz="5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A2FA6-62BB-1C31-D846-CD291126E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170" y="1538466"/>
            <a:ext cx="9073389" cy="531953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3200" dirty="0"/>
              <a:t>Закон на Амдал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3200" dirty="0"/>
              <a:t>Закон на Густавсон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3200" dirty="0"/>
              <a:t>Метрики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bg-BG" sz="2800" dirty="0"/>
              <a:t>Силна мащабируемост</a:t>
            </a:r>
          </a:p>
          <a:p>
            <a:pPr lvl="1"/>
            <a:r>
              <a:rPr lang="bg-BG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 З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апазва</a:t>
            </a:r>
            <a:r>
              <a:rPr lang="bg-BG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се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фиксиран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размер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задачата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докато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се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увеличава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броят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процесорите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bg-BG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bg-BG" sz="2800" dirty="0"/>
              <a:t>Слаба мащабируемост</a:t>
            </a:r>
          </a:p>
          <a:p>
            <a:pPr lvl="1"/>
            <a:r>
              <a:rPr lang="bg-BG" sz="2800" dirty="0"/>
              <a:t>- У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величават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bg-BG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се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едновременно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задачата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и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ресурсите</a:t>
            </a:r>
            <a:r>
              <a:rPr lang="bg-BG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543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5C1CC-F73D-1441-9395-8F5CFE40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/>
              <a:t>Закон на Амдал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762CF-105F-A451-FBCF-48789AA63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0" y="3703898"/>
            <a:ext cx="8307872" cy="3124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където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S(n)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ускорението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процесора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делът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програмата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който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бъде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паралелизиран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(1 - p)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последователната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част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която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ускори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332EAE-CF40-577A-1282-1C3391D215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4" b="55405"/>
          <a:stretch/>
        </p:blipFill>
        <p:spPr bwMode="auto">
          <a:xfrm>
            <a:off x="1484310" y="2392101"/>
            <a:ext cx="9933751" cy="10368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71808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C014-DF4C-505F-67A5-8E0CCEE58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193" y="5793315"/>
            <a:ext cx="10018711" cy="566738"/>
          </a:xfrm>
        </p:spPr>
        <p:txBody>
          <a:bodyPr>
            <a:noAutofit/>
          </a:bodyPr>
          <a:lstStyle/>
          <a:p>
            <a:r>
              <a:rPr lang="bg-BG" sz="2000" dirty="0"/>
              <a:t>Графика на зависимостта между ускорението и броят процесори според закона на Амдал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5414-538C-2CA0-3CC9-EDA74D43A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D11784-B2CB-F4AD-5291-6FC1A696441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6" b="-1059"/>
          <a:stretch/>
        </p:blipFill>
        <p:spPr bwMode="auto">
          <a:xfrm>
            <a:off x="2109335" y="226257"/>
            <a:ext cx="6977907" cy="551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74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1BEF-5798-601D-528F-69B110F1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1143-C0F9-7E9C-B80D-DA51C498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/>
              <a:t>Закон на Густавсон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0C993-3B69-39B2-0BBF-EAA76AE2D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0" y="3703898"/>
            <a:ext cx="8307872" cy="23159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където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броят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процесорите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делът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последователния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код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F5BAD-9B12-36F2-4C54-D1052F3ADD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09"/>
          <a:stretch/>
        </p:blipFill>
        <p:spPr>
          <a:xfrm>
            <a:off x="1484311" y="2323998"/>
            <a:ext cx="7856460" cy="99793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314A25-C43B-87C0-B72C-166F4A08FA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28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A708-31B5-E09D-8AC2-CC005589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7385-FCF5-CB15-21A7-907BDEB1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87" y="5793315"/>
            <a:ext cx="10665517" cy="566738"/>
          </a:xfrm>
        </p:spPr>
        <p:txBody>
          <a:bodyPr>
            <a:noAutofit/>
          </a:bodyPr>
          <a:lstStyle/>
          <a:p>
            <a:r>
              <a:rPr lang="bg-BG" sz="2000" dirty="0"/>
              <a:t>Графика на зависимостта между ускорението и броят процесори според закона на</a:t>
            </a:r>
            <a:r>
              <a:rPr lang="en-US" sz="2000" dirty="0"/>
              <a:t> </a:t>
            </a:r>
            <a:r>
              <a:rPr lang="bg-BG" sz="2000" dirty="0"/>
              <a:t>Густавсон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AEDCD-2183-EBC1-E391-88B7D4FC1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5F93A71-D03A-F84D-32FC-6C5A4C577C1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t="-13" r="-65" b="89"/>
          <a:stretch/>
        </p:blipFill>
        <p:spPr bwMode="auto">
          <a:xfrm>
            <a:off x="1888301" y="150470"/>
            <a:ext cx="8225944" cy="576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089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B47B-2364-9C91-18E6-412AE5F7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295400"/>
            <a:ext cx="8724559" cy="1371600"/>
          </a:xfrm>
        </p:spPr>
        <p:txBody>
          <a:bodyPr>
            <a:noAutofit/>
          </a:bodyPr>
          <a:lstStyle/>
          <a:p>
            <a:pPr algn="l"/>
            <a:r>
              <a:rPr lang="en-US" sz="4400" kern="1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Предизвикателства</a:t>
            </a:r>
            <a:r>
              <a:rPr lang="en-US" sz="4400" kern="1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4400" kern="1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тенденции</a:t>
            </a:r>
            <a:endParaRPr lang="en-US" sz="4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7499-4637-7469-E193-952C69297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2B81A-3470-4D67-1F36-A6EB5DDF2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4766017" cy="182880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2800" dirty="0"/>
              <a:t>Енергийна ефективност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2800" dirty="0"/>
              <a:t>Паметна стена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bg-BG" sz="2800" dirty="0"/>
              <a:t>Бъдещи тенденции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2791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F0DE-B489-257B-C79A-B409D5BC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387" y="1496028"/>
            <a:ext cx="5260320" cy="1371600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effectLst/>
                <a:latin typeface="+mn-lt"/>
                <a:ea typeface="Aptos" panose="020B0004020202020204" pitchFamily="34" charset="0"/>
              </a:rPr>
              <a:t>Dynamic Voltage and Frequency Scaling</a:t>
            </a:r>
            <a:endParaRPr lang="en-US" sz="4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C2F72-1089-25EA-4ADB-27723BF10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450" y="2181828"/>
            <a:ext cx="5900337" cy="3324828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ea typeface="Aptos" panose="020B0004020202020204" pitchFamily="34" charset="0"/>
              </a:rPr>
              <a:t>A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даптиране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честотата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и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напрежението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според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натоварването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2400" dirty="0"/>
          </a:p>
        </p:txBody>
      </p:sp>
      <p:pic>
        <p:nvPicPr>
          <p:cNvPr id="6146" name="Picture 2" descr="Benefit of frequency scaling available to the low-activity detection ...">
            <a:extLst>
              <a:ext uri="{FF2B5EF4-FFF2-40B4-BE49-F238E27FC236}">
                <a16:creationId xmlns:a16="http://schemas.microsoft.com/office/drawing/2014/main" id="{A96A83B9-4C0A-4C18-1009-704E0D5C92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774" y="762465"/>
            <a:ext cx="5345836" cy="554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516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B7BB-D29A-FBBC-64F2-F07C79A4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00F1-5B7B-57A3-3F67-C14833D3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871" y="1496028"/>
            <a:ext cx="5345836" cy="1371600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effectLst/>
                <a:latin typeface="+mn-lt"/>
                <a:ea typeface="Aptos" panose="020B0004020202020204" pitchFamily="34" charset="0"/>
              </a:rPr>
              <a:t>Near-threshold computing </a:t>
            </a:r>
            <a:endParaRPr lang="en-US" sz="440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1AF5F-D0F5-9B34-B086-36E6003D5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3451" y="2181828"/>
            <a:ext cx="4684996" cy="3324828"/>
          </a:xfrm>
        </p:spPr>
        <p:txBody>
          <a:bodyPr>
            <a:normAutofit/>
          </a:bodyPr>
          <a:lstStyle/>
          <a:p>
            <a:pPr marL="342900" marR="0" lvl="0" indent="-342900" algn="l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bg-BG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амалява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разхода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енергия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усложнява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дизайна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стабилността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системата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Figure 1 : Energy minimum and contributors to total energy for a 32nm process (Source: University of Michigan)">
            <a:extLst>
              <a:ext uri="{FF2B5EF4-FFF2-40B4-BE49-F238E27FC236}">
                <a16:creationId xmlns:a16="http://schemas.microsoft.com/office/drawing/2014/main" id="{1124C59E-04E3-7753-8D86-2425424CC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447" y="833305"/>
            <a:ext cx="6253430" cy="4815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908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A6CB-F431-FEAA-8259-FA2515C67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3" y="248856"/>
            <a:ext cx="5426158" cy="1371600"/>
          </a:xfrm>
        </p:spPr>
        <p:txBody>
          <a:bodyPr>
            <a:normAutofit/>
          </a:bodyPr>
          <a:lstStyle/>
          <a:p>
            <a:pPr algn="l"/>
            <a:r>
              <a:rPr lang="bg-BG" sz="4400" dirty="0"/>
              <a:t>Паметна стена</a:t>
            </a:r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2E6AF-0C87-AB35-8E30-485EE7586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3" y="1827836"/>
            <a:ext cx="10080385" cy="4781308"/>
          </a:xfrm>
        </p:spPr>
        <p:txBody>
          <a:bodyPr>
            <a:normAutofit fontScale="92500" lnSpcReduction="10000"/>
          </a:bodyPr>
          <a:lstStyle/>
          <a:p>
            <a:pPr marL="457200" marR="0" lvl="0" indent="-457200"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DDR5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предлага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около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50 GB/s,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докато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HBM3 (High Bandwidth Memory)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достига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над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 TB/s,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е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скъпа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трудна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интеграция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algn="just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Някои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решенията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включват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3D stacking –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вертикално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подреждане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паметни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изчислителни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слоеве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което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намалява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латентността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Processing-in-Memory (PIM) –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сливане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логика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памет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един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модул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което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позволява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обработка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данни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място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необходимост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тяхното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прехвърляне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към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процесора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93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6A4D-FF9F-B884-5FE4-B22C4154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145" y="5909298"/>
            <a:ext cx="10018711" cy="566738"/>
          </a:xfrm>
        </p:spPr>
        <p:txBody>
          <a:bodyPr>
            <a:normAutofit/>
          </a:bodyPr>
          <a:lstStyle/>
          <a:p>
            <a:endParaRPr lang="en-US" dirty="0">
              <a:latin typeface="Abad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B0987-B3FB-83A7-B408-920937C9E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EE989EB-0D66-2002-817F-CFAD28CCFD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" b="371"/>
          <a:stretch/>
        </p:blipFill>
        <p:spPr bwMode="auto">
          <a:xfrm>
            <a:off x="1638711" y="688879"/>
            <a:ext cx="10247578" cy="51044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1721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5F579-6EE3-6D7B-2FFA-6A5202C3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18235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bg-BG" sz="4400" dirty="0"/>
              <a:t>Бъдещи тенденции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2921A-7745-9E90-1395-690CDFEBF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Квантови изчисления</a:t>
            </a:r>
          </a:p>
          <a:p>
            <a:r>
              <a:rPr lang="bg-BG" sz="2800" dirty="0"/>
              <a:t>Невроморфни чипов</a:t>
            </a:r>
            <a:r>
              <a:rPr lang="ru-RU" sz="2800" dirty="0"/>
              <a:t>е</a:t>
            </a:r>
          </a:p>
          <a:p>
            <a:r>
              <a:rPr lang="bg-BG" sz="2800" dirty="0"/>
              <a:t>Оптични изчисления</a:t>
            </a:r>
            <a:endParaRPr lang="ru-RU" sz="2800" dirty="0"/>
          </a:p>
          <a:p>
            <a:endParaRPr lang="ru-RU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642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B298-FB79-5CF9-2B76-EC756F0C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400" dirty="0"/>
              <a:t>Квантови изчисления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6B8C-3DDA-D908-6506-5B9BA91B9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54483"/>
            <a:ext cx="10018713" cy="312420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Използват кюбити вместо битове – суперпозиция и заплитане.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Позволяват експоненциален паралелизъм.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Потенциал в криптография, оптимизация, квантови симулации.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Предизвикателства: стабилност, грешки, мащабиране.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4342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168DB-74A4-F704-C9D1-F6F1EE3B8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D395-E965-DBAE-6D1A-251CCCF40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4400" dirty="0"/>
              <a:t>Невроморфни чипове</a:t>
            </a:r>
            <a:endParaRPr lang="en-US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19C8-C040-5400-17A9-DF39D807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30392"/>
            <a:ext cx="10018713" cy="3124201"/>
          </a:xfrm>
        </p:spPr>
        <p:txBody>
          <a:bodyPr>
            <a:normAutofit/>
          </a:bodyPr>
          <a:lstStyle/>
          <a:p>
            <a:r>
              <a:rPr lang="ru-RU" sz="2800" dirty="0"/>
              <a:t>Имитират мозъка чрез спайкинг невронни мрежи.</a:t>
            </a:r>
          </a:p>
          <a:p>
            <a:r>
              <a:rPr lang="ru-RU" sz="2800" dirty="0"/>
              <a:t>Събитийно-базирани, с много</a:t>
            </a:r>
          </a:p>
          <a:p>
            <a:r>
              <a:rPr lang="ru-RU" sz="2800" dirty="0"/>
              <a:t>Подходящи за автономни системи, роботика, адаптивно поведение. ниска енергийна консумация.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844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03A6-A83E-5EBF-CAF7-5723F014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/>
              <a:t>Оптични изчисления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3B89-5F82-45EA-C185-CDCBB6E0D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7162"/>
            <a:ext cx="10018713" cy="3124201"/>
          </a:xfrm>
        </p:spPr>
        <p:txBody>
          <a:bodyPr>
            <a:normAutofit/>
          </a:bodyPr>
          <a:lstStyle/>
          <a:p>
            <a:r>
              <a:rPr lang="ru-RU" sz="2800" dirty="0"/>
              <a:t>Използват фотони вместо електрони – по-малко топлина, висока скорост.</a:t>
            </a:r>
          </a:p>
          <a:p>
            <a:r>
              <a:rPr lang="ru-RU" sz="2800" dirty="0"/>
              <a:t>Подходящи за паралелна обработка, логически операции.</a:t>
            </a:r>
          </a:p>
          <a:p>
            <a:r>
              <a:rPr lang="ru-RU" sz="2800" dirty="0"/>
              <a:t>Приложения: невронни мрежи, ускорители за търсене, мрежови комутатори.</a:t>
            </a:r>
          </a:p>
        </p:txBody>
      </p:sp>
    </p:spTree>
    <p:extLst>
      <p:ext uri="{BB962C8B-B14F-4D97-AF65-F5344CB8AC3E}">
        <p14:creationId xmlns:p14="http://schemas.microsoft.com/office/powerpoint/2010/main" val="60988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C9C6-7568-1528-907E-BA6AD3856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>
            <a:normAutofit/>
          </a:bodyPr>
          <a:lstStyle/>
          <a:p>
            <a:r>
              <a:rPr lang="bg-BG" sz="9600" dirty="0"/>
              <a:t>Въпроси?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611053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3F6C-8E19-3272-10B9-1B50F63F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552700"/>
            <a:ext cx="10018713" cy="1752599"/>
          </a:xfrm>
        </p:spPr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293077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178</TotalTime>
  <Words>631</Words>
  <Application>Microsoft Office PowerPoint</Application>
  <PresentationFormat>Widescreen</PresentationFormat>
  <Paragraphs>86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Abadi</vt:lpstr>
      <vt:lpstr>Aptos</vt:lpstr>
      <vt:lpstr>Arial</vt:lpstr>
      <vt:lpstr>Century Gothic</vt:lpstr>
      <vt:lpstr>Corbel</vt:lpstr>
      <vt:lpstr>Times New Roman</vt:lpstr>
      <vt:lpstr>Parallax</vt:lpstr>
      <vt:lpstr> Мащабируеми паралелни  компютърини архитектури – архитектура на процесора, програмни модели, сфери на приможение, производиделност</vt:lpstr>
      <vt:lpstr>Архитектурни нива</vt:lpstr>
      <vt:lpstr>Класификация по Флин</vt:lpstr>
      <vt:lpstr>PowerPoint Presentation</vt:lpstr>
      <vt:lpstr>Паралелизъм на ниво инсрукции чрез конвейеризация</vt:lpstr>
      <vt:lpstr>Архитектурна схема на паралелизъм на ниво нишки</vt:lpstr>
      <vt:lpstr>Модели на програмиране</vt:lpstr>
      <vt:lpstr>Свързване на процеси и ресурси в многовъзлов MPI клъстер</vt:lpstr>
      <vt:lpstr>Паралелни алгоритми</vt:lpstr>
      <vt:lpstr>Машинно обучение</vt:lpstr>
      <vt:lpstr>PowerPoint Presentation</vt:lpstr>
      <vt:lpstr>Закони за производителност</vt:lpstr>
      <vt:lpstr>Закон на Амдал</vt:lpstr>
      <vt:lpstr>Графика на зависимостта между ускорението и броят процесори според закона на Амдал</vt:lpstr>
      <vt:lpstr>Закон на Густавсон</vt:lpstr>
      <vt:lpstr>Графика на зависимостта между ускорението и броят процесори според закона на Густавсон</vt:lpstr>
      <vt:lpstr>Предизвикателства и тенденции</vt:lpstr>
      <vt:lpstr>Dynamic Voltage and Frequency Scaling</vt:lpstr>
      <vt:lpstr>Near-threshold computing </vt:lpstr>
      <vt:lpstr>Паметна стена</vt:lpstr>
      <vt:lpstr>PowerPoint Presentation</vt:lpstr>
      <vt:lpstr>Бъдещи тенденции</vt:lpstr>
      <vt:lpstr>Квантови изчисления</vt:lpstr>
      <vt:lpstr>Невроморфни чипове</vt:lpstr>
      <vt:lpstr>Оптични изчисления</vt:lpstr>
      <vt:lpstr>Въпроси?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 Atanasov</dc:creator>
  <cp:lastModifiedBy>Vladislav Atanasov</cp:lastModifiedBy>
  <cp:revision>1</cp:revision>
  <dcterms:created xsi:type="dcterms:W3CDTF">2025-04-07T14:20:43Z</dcterms:created>
  <dcterms:modified xsi:type="dcterms:W3CDTF">2025-04-07T17:18:43Z</dcterms:modified>
</cp:coreProperties>
</file>