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08"/>
  </p:notesMasterIdLst>
  <p:handoutMasterIdLst>
    <p:handoutMasterId r:id="rId109"/>
  </p:handoutMasterIdLst>
  <p:sldIdLst>
    <p:sldId id="25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  <p:sldId id="355" r:id="rId52"/>
    <p:sldId id="362" r:id="rId53"/>
    <p:sldId id="363" r:id="rId54"/>
    <p:sldId id="364" r:id="rId55"/>
    <p:sldId id="365" r:id="rId56"/>
    <p:sldId id="366" r:id="rId57"/>
    <p:sldId id="367" r:id="rId58"/>
    <p:sldId id="368" r:id="rId59"/>
    <p:sldId id="369" r:id="rId60"/>
    <p:sldId id="370" r:id="rId61"/>
    <p:sldId id="371" r:id="rId62"/>
    <p:sldId id="372" r:id="rId63"/>
    <p:sldId id="373" r:id="rId64"/>
    <p:sldId id="374" r:id="rId65"/>
    <p:sldId id="375" r:id="rId66"/>
    <p:sldId id="376" r:id="rId67"/>
    <p:sldId id="377" r:id="rId68"/>
    <p:sldId id="378" r:id="rId69"/>
    <p:sldId id="379" r:id="rId70"/>
    <p:sldId id="380" r:id="rId71"/>
    <p:sldId id="381" r:id="rId72"/>
    <p:sldId id="382" r:id="rId73"/>
    <p:sldId id="383" r:id="rId74"/>
    <p:sldId id="384" r:id="rId75"/>
    <p:sldId id="385" r:id="rId76"/>
    <p:sldId id="386" r:id="rId77"/>
    <p:sldId id="387" r:id="rId78"/>
    <p:sldId id="388" r:id="rId79"/>
    <p:sldId id="389" r:id="rId80"/>
    <p:sldId id="390" r:id="rId81"/>
    <p:sldId id="391" r:id="rId82"/>
    <p:sldId id="392" r:id="rId83"/>
    <p:sldId id="393" r:id="rId84"/>
    <p:sldId id="394" r:id="rId85"/>
    <p:sldId id="395" r:id="rId86"/>
    <p:sldId id="396" r:id="rId87"/>
    <p:sldId id="397" r:id="rId88"/>
    <p:sldId id="398" r:id="rId89"/>
    <p:sldId id="399" r:id="rId90"/>
    <p:sldId id="400" r:id="rId91"/>
    <p:sldId id="401" r:id="rId92"/>
    <p:sldId id="402" r:id="rId93"/>
    <p:sldId id="403" r:id="rId94"/>
    <p:sldId id="404" r:id="rId95"/>
    <p:sldId id="405" r:id="rId96"/>
    <p:sldId id="406" r:id="rId97"/>
    <p:sldId id="407" r:id="rId98"/>
    <p:sldId id="408" r:id="rId99"/>
    <p:sldId id="409" r:id="rId100"/>
    <p:sldId id="410" r:id="rId101"/>
    <p:sldId id="411" r:id="rId102"/>
    <p:sldId id="412" r:id="rId103"/>
    <p:sldId id="413" r:id="rId104"/>
    <p:sldId id="414" r:id="rId105"/>
    <p:sldId id="415" r:id="rId106"/>
    <p:sldId id="306" r:id="rId10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009"/>
    <a:srgbClr val="000099"/>
    <a:srgbClr val="452603"/>
    <a:srgbClr val="F4D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98" autoAdjust="0"/>
  </p:normalViewPr>
  <p:slideViewPr>
    <p:cSldViewPr showGuides="1">
      <p:cViewPr varScale="1">
        <p:scale>
          <a:sx n="100" d="100"/>
          <a:sy n="100" d="100"/>
        </p:scale>
        <p:origin x="270" y="90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-315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theme" Target="theme/theme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c_OS_X_Leopard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altLang="en-US" sz="1200" dirty="0" smtClean="0"/>
              <a:t>„</a:t>
            </a:r>
            <a:r>
              <a:rPr lang="ru-RU" altLang="en-US" sz="1200" dirty="0" err="1" smtClean="0"/>
              <a:t>обектен</a:t>
            </a:r>
            <a:r>
              <a:rPr lang="ru-RU" altLang="en-US" sz="1200" dirty="0" smtClean="0"/>
              <a:t> код</a:t>
            </a:r>
            <a:r>
              <a:rPr lang="bg-BG" altLang="en-US" sz="1200" dirty="0" smtClean="0"/>
              <a:t>“  -&gt; </a:t>
            </a:r>
            <a:r>
              <a:rPr lang="bg-BG" altLang="en-US" sz="1200" dirty="0" err="1" smtClean="0"/>
              <a:t>англ</a:t>
            </a:r>
            <a:r>
              <a:rPr lang="bg-BG" altLang="en-US" sz="1200" dirty="0" smtClean="0"/>
              <a:t>. </a:t>
            </a:r>
            <a:r>
              <a:rPr lang="en-US" altLang="en-US" sz="1200" dirty="0" smtClean="0"/>
              <a:t>Object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24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altLang="en-US" sz="2400" noProof="0" dirty="0" smtClean="0"/>
              <a:t>При някои компилативни езици се изисква програмите да посочват изрично типа данни на дадена променлива в момента, в който тя е обявена или се</a:t>
            </a:r>
            <a:r>
              <a:rPr lang="bg-BG" altLang="en-US" sz="2400" baseline="0" noProof="0" dirty="0" smtClean="0"/>
              <a:t> </a:t>
            </a:r>
            <a:r>
              <a:rPr lang="bg-BG" altLang="en-US" sz="2400" noProof="0" dirty="0" smtClean="0"/>
              <a:t>използва за пръв път, докато някои интерпретативните езици много често се използва динамична дисциплина на типизиране на променливите.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53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91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At the time the bytecode is run, the just-in-time compiler will compile some or all of it to native machine code for better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41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9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8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we can invoke </a:t>
            </a:r>
            <a:r>
              <a:rPr lang="en-US" sz="2400" i="1" dirty="0" err="1" smtClean="0"/>
              <a:t>gcc's</a:t>
            </a:r>
            <a:r>
              <a:rPr lang="en-US" sz="2400" i="1" dirty="0" smtClean="0"/>
              <a:t> preprocessor </a:t>
            </a:r>
            <a:r>
              <a:rPr lang="en-US" sz="2400" dirty="0" smtClean="0"/>
              <a:t>via a command such as:   </a:t>
            </a:r>
            <a:r>
              <a:rPr lang="en-US" sz="2400" i="1" dirty="0" err="1" smtClean="0"/>
              <a:t>gcc</a:t>
            </a:r>
            <a:r>
              <a:rPr lang="en-US" sz="2400" i="1" dirty="0" smtClean="0"/>
              <a:t> -E f0.c -o f1.c</a:t>
            </a:r>
            <a:r>
              <a:rPr lang="en-US" sz="2400" dirty="0" smtClean="0"/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73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e.g., an assignment always has an assignment operator in it, so we can imply that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80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type checking  - </a:t>
            </a:r>
            <a:r>
              <a:rPr lang="en-US" altLang="en-US" dirty="0" smtClean="0"/>
              <a:t>checking for type errors </a:t>
            </a:r>
          </a:p>
          <a:p>
            <a:r>
              <a:rPr lang="en-US" altLang="en-US" b="1" dirty="0" smtClean="0"/>
              <a:t>static object binding - </a:t>
            </a:r>
            <a:r>
              <a:rPr lang="en-US" altLang="en-US" dirty="0" smtClean="0"/>
              <a:t>associating variable and function references with their definitions </a:t>
            </a:r>
          </a:p>
          <a:p>
            <a:r>
              <a:rPr lang="en-US" altLang="en-US" b="1" dirty="0" smtClean="0"/>
              <a:t>definite assignment </a:t>
            </a:r>
            <a:r>
              <a:rPr lang="en-US" altLang="en-US" b="0" baseline="0" dirty="0" smtClean="0"/>
              <a:t> - r</a:t>
            </a:r>
            <a:r>
              <a:rPr lang="en-US" altLang="en-US" dirty="0" smtClean="0"/>
              <a:t>equiring all local variables to be initialized before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3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 smtClean="0"/>
              <a:t>type checking  - </a:t>
            </a:r>
            <a:r>
              <a:rPr lang="en-US" altLang="en-US" dirty="0" smtClean="0"/>
              <a:t>checking for type errors </a:t>
            </a:r>
          </a:p>
          <a:p>
            <a:r>
              <a:rPr lang="en-US" altLang="en-US" b="1" dirty="0" smtClean="0"/>
              <a:t>static object binding - </a:t>
            </a:r>
            <a:r>
              <a:rPr lang="en-US" altLang="en-US" dirty="0" smtClean="0"/>
              <a:t>associating variable and function references with their definitions </a:t>
            </a:r>
          </a:p>
          <a:p>
            <a:r>
              <a:rPr lang="en-US" altLang="en-US" b="1" dirty="0" smtClean="0"/>
              <a:t>definite assignment </a:t>
            </a:r>
            <a:r>
              <a:rPr lang="en-US" altLang="en-US" b="0" baseline="0" dirty="0" smtClean="0"/>
              <a:t> - r</a:t>
            </a:r>
            <a:r>
              <a:rPr lang="en-US" altLang="en-US" dirty="0" smtClean="0"/>
              <a:t>equiring all local variables to be initialized before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93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sz="2400" dirty="0" smtClean="0"/>
              <a:t>Циклите са съществена част от изпълнението на програмата, т.е. оптимизацията в тях може съществено да подобри качеството на програмата</a:t>
            </a:r>
            <a:r>
              <a:rPr lang="bg-BG" sz="2000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630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5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In Linux we can translate the source file, e.g., f1.c to assembly via the command cc1 f1.c -o f2.s, assuming that cc1 is the system's compiler. </a:t>
            </a:r>
          </a:p>
          <a:p>
            <a:pPr lvl="0"/>
            <a:r>
              <a:rPr lang="en-US" sz="2400" dirty="0" smtClean="0"/>
              <a:t>This command is equivalent to the call </a:t>
            </a:r>
            <a:r>
              <a:rPr lang="en-US" sz="2400" dirty="0" err="1" smtClean="0"/>
              <a:t>gcc</a:t>
            </a:r>
            <a:r>
              <a:rPr lang="en-US" sz="2400" dirty="0" smtClean="0"/>
              <a:t> -S f1.c -o f2.s.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25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96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typical tool, in this case, is </a:t>
            </a:r>
            <a:r>
              <a:rPr lang="en-US" dirty="0" err="1" smtClean="0"/>
              <a:t>ld</a:t>
            </a:r>
            <a:r>
              <a:rPr lang="en-US" dirty="0" smtClean="0"/>
              <a:t> or collect2. For instance, in order to produce the executable program in a Mac OS running </a:t>
            </a:r>
            <a:r>
              <a:rPr lang="en-US" dirty="0" smtClean="0">
                <a:hlinkClick r:id="rId3" tooltip="w:Mac OS X Leopard"/>
              </a:rPr>
              <a:t>Leopard</a:t>
            </a:r>
            <a:r>
              <a:rPr lang="en-US" dirty="0" smtClean="0"/>
              <a:t>, we can use the command collect2 -o f4.exe -lcrt1.10.5.o f3.o -</a:t>
            </a:r>
            <a:r>
              <a:rPr lang="en-US" dirty="0" err="1" smtClean="0"/>
              <a:t>lSystem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437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47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880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69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300"/>
              </a:spcBef>
            </a:pPr>
            <a:r>
              <a:rPr lang="bg-BG" altLang="en-US" sz="2600" dirty="0" smtClean="0"/>
              <a:t>Изпълняват се следните последователни действия</a:t>
            </a:r>
            <a:r>
              <a:rPr lang="en-US" altLang="en-US" sz="2600" dirty="0" smtClean="0"/>
              <a:t>:</a:t>
            </a:r>
          </a:p>
          <a:p>
            <a:pPr lvl="1"/>
            <a:r>
              <a:rPr lang="bg-BG" sz="2200" dirty="0" smtClean="0"/>
              <a:t>Извличане (</a:t>
            </a:r>
            <a:r>
              <a:rPr lang="bg-BG" sz="2200" dirty="0" err="1" smtClean="0"/>
              <a:t>англ</a:t>
            </a:r>
            <a:r>
              <a:rPr lang="bg-BG" sz="2200" dirty="0" smtClean="0"/>
              <a:t>. </a:t>
            </a:r>
            <a:r>
              <a:rPr lang="en-US" sz="2200" dirty="0" smtClean="0"/>
              <a:t>fetch</a:t>
            </a:r>
            <a:r>
              <a:rPr lang="bg-BG" sz="2200" dirty="0" smtClean="0"/>
              <a:t>)</a:t>
            </a:r>
            <a:r>
              <a:rPr lang="en-US" sz="2200" dirty="0" smtClean="0"/>
              <a:t> </a:t>
            </a:r>
            <a:r>
              <a:rPr lang="bg-BG" sz="2200" dirty="0" smtClean="0"/>
              <a:t>на поредната инструкция</a:t>
            </a:r>
            <a:endParaRPr lang="en-US" sz="2200" dirty="0" smtClean="0"/>
          </a:p>
          <a:p>
            <a:pPr lvl="1"/>
            <a:r>
              <a:rPr lang="bg-BG" sz="2200" dirty="0" smtClean="0"/>
              <a:t>Декодиране на инструкцията</a:t>
            </a:r>
            <a:endParaRPr lang="en-US" sz="2200" dirty="0" smtClean="0"/>
          </a:p>
          <a:p>
            <a:pPr lvl="1"/>
            <a:r>
              <a:rPr lang="bg-BG" sz="2200" dirty="0" smtClean="0"/>
              <a:t>Изпълнение на инструкцията</a:t>
            </a:r>
          </a:p>
          <a:p>
            <a:pPr lvl="1"/>
            <a:r>
              <a:rPr lang="bg-BG" sz="2200" dirty="0" smtClean="0"/>
              <a:t>Съхраняване на резултата от инструкцията (ако има такъв)</a:t>
            </a:r>
            <a:r>
              <a:rPr lang="en-US" altLang="en-US" sz="2200" dirty="0" smtClean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51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program counter (PC)</a:t>
            </a:r>
            <a:r>
              <a:rPr lang="bg-BG" dirty="0" smtClean="0"/>
              <a:t>:</a:t>
            </a:r>
          </a:p>
          <a:p>
            <a:r>
              <a:rPr lang="bg-BG" dirty="0" smtClean="0"/>
              <a:t> - в микропроцесорите на </a:t>
            </a:r>
            <a:r>
              <a:rPr lang="en-US" dirty="0" smtClean="0"/>
              <a:t>Intel x86 and Itanium</a:t>
            </a:r>
            <a:r>
              <a:rPr lang="bg-BG" dirty="0" smtClean="0"/>
              <a:t> се нарича </a:t>
            </a:r>
            <a:r>
              <a:rPr lang="en-US" dirty="0" smtClean="0"/>
              <a:t>instruction pointer (IP)</a:t>
            </a:r>
            <a:endParaRPr lang="bg-BG" dirty="0" smtClean="0"/>
          </a:p>
          <a:p>
            <a:r>
              <a:rPr lang="bg-BG" dirty="0" smtClean="0"/>
              <a:t> -</a:t>
            </a:r>
            <a:r>
              <a:rPr lang="bg-BG" baseline="0" dirty="0" smtClean="0"/>
              <a:t>  други названия:  </a:t>
            </a:r>
            <a:r>
              <a:rPr lang="en-US" dirty="0" smtClean="0"/>
              <a:t>instruction address register (IAR),</a:t>
            </a:r>
            <a:r>
              <a:rPr lang="bg-BG" dirty="0" smtClean="0"/>
              <a:t>  </a:t>
            </a:r>
            <a:r>
              <a:rPr lang="en-US" dirty="0" smtClean="0"/>
              <a:t>instruction counter,</a:t>
            </a:r>
            <a:r>
              <a:rPr lang="bg-BG" dirty="0" smtClean="0"/>
              <a:t> </a:t>
            </a:r>
            <a:r>
              <a:rPr lang="en-US" dirty="0" smtClean="0"/>
              <a:t>instruction sequencer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208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46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Unfortunately, many common CPUs like the Intel Pentium have been designed with the same size of the address bus and the data bus.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size of the address bus determines how much memory can be addressed by a CPU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size of the data bus determines the natural size of data accesses on the CPU.</a:t>
            </a:r>
            <a:endParaRPr lang="bg-BG" sz="1200" b="0" i="0" kern="1200" dirty="0" smtClean="0"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5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The above diagram shows the main components of the CPU, and the arrowed lines show the main flows of data and instructions</a:t>
            </a:r>
            <a:endParaRPr lang="bg-BG" sz="1200" b="0" i="0" kern="1200" dirty="0" smtClean="0"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en-US" sz="1200" dirty="0" smtClean="0"/>
              <a:t>CPU</a:t>
            </a:r>
            <a:r>
              <a:rPr lang="en-US" altLang="en-US" sz="1200" baseline="0" dirty="0" smtClean="0"/>
              <a:t> </a:t>
            </a:r>
            <a:r>
              <a:rPr lang="en-US" altLang="en-US" sz="1200" dirty="0" smtClean="0"/>
              <a:t>performs operations on data: it is hardware that implement Arithmetic and Logic operations</a:t>
            </a:r>
            <a:endParaRPr lang="en-US" sz="1200" b="0" i="0" kern="1200" dirty="0" smtClean="0"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599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During the fetch phase of the instruction cycle, the PC's value is sent across the address bus, and the next instruction travels back across the data bus into the CPU.</a:t>
            </a:r>
            <a:endParaRPr lang="bg-BG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Incoming</a:t>
            </a:r>
            <a:r>
              <a:rPr lang="en-US" baseline="0" dirty="0" smtClean="0"/>
              <a:t> instruction </a:t>
            </a:r>
            <a:r>
              <a:rPr lang="en-US" dirty="0" smtClean="0"/>
              <a:t>is decoded to determine: what operation to perform; what operands does the operation act on: typically, one or more registers are chosen; on some architectures, a literal value may be encoded in part of the instruction; on some architectures, the instruction might require further fetches of data from main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203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Mpx3 and Mpx4 receive a number of inputs, and based on a number of control lines, select only one of the inputs to propagate to the multiplexor's output.</a:t>
            </a:r>
            <a:endParaRPr lang="bg-BG" sz="1200" dirty="0" smtClean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/>
              <a:t>The PC has a new value, and so the next instruction cycle can begin, with the CPU fetching a new instruction from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10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Processing unit also includes a set of 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Registers</a:t>
            </a:r>
            <a:r>
              <a:rPr lang="en-US" dirty="0" smtClean="0"/>
              <a:t> for </a:t>
            </a:r>
            <a:r>
              <a:rPr lang="en-US" i="1" dirty="0" smtClean="0"/>
              <a:t>temporary storage</a:t>
            </a:r>
            <a:r>
              <a:rPr lang="en-US" dirty="0" smtClean="0"/>
              <a:t> of data and memory addressing.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38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 smtClean="0"/>
              <a:t>This subsystem allows a computer to communicate with the outside world and to store programs and data even when the power is off.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970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A SCSI controller coordinates between all of the other devices on the SCSI bus and the computer. Also called a </a:t>
            </a:r>
            <a:r>
              <a:rPr lang="en-US" sz="1200" b="1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host adapter</a:t>
            </a: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, the controller can be a card that you plug into an available slot or it can be built into the motherboard. 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Each SCSI device must have a unique </a:t>
            </a:r>
            <a:r>
              <a:rPr lang="en-US" sz="1200" b="1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identifier</a:t>
            </a: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 (ID) in order for it to work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830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FireWire was developed by a partnership of Apple, Texas Instruments, and several other companies. FireWire is a great method for transferring streaming data like audio and video, which require a lot of bandwidth and CANNOT have the signal interrupted without serious degradation to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17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If the instruction refers to a word in main memory, data transfer is between main memory and the CPU. </a:t>
            </a:r>
          </a:p>
          <a:p>
            <a:pPr lvl="1"/>
            <a:r>
              <a:rPr lang="en-US" altLang="en-US" dirty="0" smtClean="0"/>
              <a:t>If the instruction identifies an I/O device, data transfer is between the I/O device and the CPU.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574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If the instruction refers to a word in main memory, data transfer is between main memory and the CPU. </a:t>
            </a:r>
          </a:p>
          <a:p>
            <a:pPr lvl="1"/>
            <a:r>
              <a:rPr lang="en-US" altLang="en-US" dirty="0" smtClean="0"/>
              <a:t>If the instruction identifies an I/O device, data transfer is between the I/O device and the CPU.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520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DMA</a:t>
            </a:r>
            <a:r>
              <a:rPr lang="en-US" baseline="0" dirty="0" smtClean="0"/>
              <a:t> – Direct Memory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540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 smtClean="0"/>
              <a:t>However, any design decision which we make then becomes a constraint which limits all our other design decisions.</a:t>
            </a:r>
          </a:p>
          <a:p>
            <a:pPr lvl="1"/>
            <a:r>
              <a:rPr lang="en-US" dirty="0" smtClean="0"/>
              <a:t>In effect, any complete design is a collection of compromises which in total come as close as possible to achieving our original goals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370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We will also need more bits in each instruction to encode the operation: 5 bits =&gt; 32 operations, 6 bits =&gt; 64 operations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611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294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In the early silicon days of computing, there were a lot of constraints on ISA design:</a:t>
            </a:r>
            <a:r>
              <a:rPr lang="bg-BG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memory was expensive</a:t>
            </a:r>
            <a:r>
              <a:rPr lang="bg-BG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CPUs were made from few discrete transistors, or with chips that had few integrated transistors.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70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The CISC instructions take variable amounts of time to execute, depending on their complexity and the number of memory accesses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480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In the 1970s, as memory sizes and transistor counts improved, there was a backlash against CISC.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Several researchers demonstrated that some of the more complex CISC instructions actually took longer to execute than a sequence of simpler instructions.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Moreover, many of the esoteric instructions and addressing modes were simply not being used by programmers or by compilers. It was too hard, for example, to automate the translation of high-level constructs to make use of all the features of a CISC architecture.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With more CPU transistors, the need to limit the number of registers was removed, which also reduced the frequency that the CPU needed to access main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721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R-type instructions -&gt; they which perform arithmetic and logical operations on registers.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I-type instructions -&gt; they deal with load/stores and immediate literal values, as well as branches.</a:t>
            </a:r>
          </a:p>
          <a:p>
            <a:r>
              <a:rPr lang="en-US" sz="1200" b="0" i="0" kern="1200" dirty="0" smtClean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J-type instructions -&gt; they are used for jumps and function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63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bg2">
              <a:lumMod val="50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1012" y="6195695"/>
            <a:ext cx="16001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4412" y="6172200"/>
            <a:ext cx="4953000" cy="4311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bg-BG" dirty="0" smtClean="0"/>
              <a:t>Системно програмиране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812" y="5809005"/>
            <a:ext cx="906705" cy="9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/>
          <a:lstStyle/>
          <a:p>
            <a:fld id="{C2C6F8EA-316C-41DE-B9A4-EDCC3A85ED9A}" type="datetimeFigureOut">
              <a:rPr lang="en-US"/>
              <a:t>2/28/2023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61812" y="0"/>
            <a:ext cx="227013" cy="6858000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4715" y="0"/>
            <a:ext cx="448089" cy="6858000"/>
          </a:xfrm>
          <a:prstGeom prst="rect">
            <a:avLst/>
          </a:prstGeom>
          <a:solidFill>
            <a:schemeClr val="bg2">
              <a:lumMod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" y="0"/>
            <a:ext cx="227011" cy="6858000"/>
          </a:xfrm>
          <a:prstGeom prst="rect">
            <a:avLst/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13" y="4338"/>
            <a:ext cx="455791" cy="455910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 flipV="1">
            <a:off x="227012" y="0"/>
            <a:ext cx="455792" cy="3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227013" y="460248"/>
            <a:ext cx="45579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227012" y="-3048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089654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662" y="1143000"/>
            <a:ext cx="1090075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1236" y="6629400"/>
            <a:ext cx="420576" cy="225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1739" y="34237"/>
            <a:ext cx="385848" cy="3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400"/>
        </a:spcBef>
        <a:buSzPct val="70000"/>
        <a:buFont typeface="Wingdings" panose="05000000000000000000" pitchFamily="2" charset="2"/>
        <a:buChar char="Ä"/>
        <a:defRPr sz="32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1pPr>
      <a:lvl2pPr marL="741363" indent="-303213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Wingdings" panose="05000000000000000000" pitchFamily="2" charset="2"/>
        <a:buChar char="ü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300038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Wingdings" panose="05000000000000000000" pitchFamily="2" charset="2"/>
        <a:buChar char="û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3pPr>
      <a:lvl4pPr marL="1316038" indent="-1920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4pPr>
      <a:lvl5pPr marL="1655763" indent="-1920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hyperlink" Target="http://www.polytechnichub.com/wp-content/uploads/2017/04/Harvard-architecture.j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hyperlink" Target="http://www.polytechnichub.com/wp-content/uploads/2017/04/Von-Neumann-architecture.jpg" TargetMode="Externa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Генерация на изпълним код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5412" y="6329299"/>
            <a:ext cx="4736065" cy="5073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bg-BG" dirty="0" smtClean="0"/>
              <a:t>Системно програмиране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Въведение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Има различни начини, по които можем да стигнем от програмен код до изпълняване на реална програма.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Най-често се използват следните три вида програмни продукти за генерация на изпълним код: 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компилатори</a:t>
            </a:r>
            <a:r>
              <a:rPr lang="bg-BG" sz="2400" dirty="0" smtClean="0"/>
              <a:t>, 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интерпретатори </a:t>
            </a:r>
            <a:r>
              <a:rPr lang="bg-BG" sz="2400" dirty="0" smtClean="0"/>
              <a:t>и 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виртуални машини</a:t>
            </a:r>
            <a:r>
              <a:rPr lang="bg-BG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Най-общо процесът на преобразуване се нарича „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транслация</a:t>
            </a:r>
            <a:r>
              <a:rPr lang="bg-BG" sz="2400" dirty="0" smtClean="0"/>
              <a:t>“.</a:t>
            </a:r>
          </a:p>
          <a:p>
            <a:pPr>
              <a:spcBef>
                <a:spcPts val="300"/>
              </a:spcBef>
            </a:pPr>
            <a:r>
              <a:rPr lang="bg-BG" sz="2800" dirty="0" smtClean="0"/>
              <a:t>Всички тези програмни продукти са насочени към „симулиране“ на семантиката на програмата (реализирана чрез програмния код) за изпълнение на конкретната апаратна част.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Всички тези технологии са създадени с една единствена цел - да можем да изпълняваме програми.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Всички тези технологии използват различни подходи и различни реализации.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Всички тези технологии имат предимства и недостатъци и всеки програмист трябва да ги знае и оценява за конкретния проект. </a:t>
            </a:r>
          </a:p>
        </p:txBody>
      </p:sp>
    </p:spTree>
    <p:extLst>
      <p:ext uri="{BB962C8B-B14F-4D97-AF65-F5344CB8AC3E}">
        <p14:creationId xmlns:p14="http://schemas.microsoft.com/office/powerpoint/2010/main" val="16394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Базови методи за транслация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ts val="300"/>
              </a:spcBef>
            </a:pPr>
            <a:r>
              <a:rPr lang="bg-BG" altLang="en-US" sz="2800" dirty="0" smtClean="0"/>
              <a:t>Програмните езици използват 3 базови модела за транслация на програмен код до изпълним код на програма: </a:t>
            </a:r>
          </a:p>
          <a:p>
            <a:pPr lvl="1">
              <a:lnSpc>
                <a:spcPct val="85000"/>
              </a:lnSpc>
              <a:spcBef>
                <a:spcPts val="300"/>
              </a:spcBef>
            </a:pPr>
            <a:r>
              <a:rPr lang="bg-BG" altLang="en-US" sz="2400" dirty="0" smtClean="0"/>
              <a:t>Компилация</a:t>
            </a:r>
          </a:p>
          <a:p>
            <a:pPr lvl="2">
              <a:lnSpc>
                <a:spcPct val="85000"/>
              </a:lnSpc>
              <a:spcBef>
                <a:spcPts val="300"/>
              </a:spcBef>
            </a:pPr>
            <a:r>
              <a:rPr lang="bg-BG" altLang="en-US" sz="2000" dirty="0" smtClean="0"/>
              <a:t>Програмите се превеждат директно на машинен език, след което може да се изпълняват директно от компютър.</a:t>
            </a:r>
          </a:p>
          <a:p>
            <a:pPr lvl="2">
              <a:lnSpc>
                <a:spcPct val="85000"/>
              </a:lnSpc>
              <a:spcBef>
                <a:spcPts val="300"/>
              </a:spcBef>
            </a:pPr>
            <a:r>
              <a:rPr lang="bg-BG" altLang="en-US" sz="2000" dirty="0" smtClean="0"/>
              <a:t>Компилацията 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 разделена </a:t>
            </a:r>
            <a:r>
              <a:rPr lang="bg-BG" altLang="en-US" sz="2000" dirty="0" smtClean="0"/>
              <a:t>от изпълнението !</a:t>
            </a:r>
          </a:p>
          <a:p>
            <a:pPr lvl="1">
              <a:lnSpc>
                <a:spcPct val="85000"/>
              </a:lnSpc>
              <a:spcBef>
                <a:spcPts val="300"/>
              </a:spcBef>
            </a:pPr>
            <a:r>
              <a:rPr lang="bg-BG" altLang="en-US" sz="2400" dirty="0" smtClean="0"/>
              <a:t>Интерпретация</a:t>
            </a:r>
          </a:p>
          <a:p>
            <a:pPr lvl="2">
              <a:lnSpc>
                <a:spcPct val="85000"/>
              </a:lnSpc>
              <a:spcBef>
                <a:spcPts val="300"/>
              </a:spcBef>
            </a:pPr>
            <a:r>
              <a:rPr lang="bg-BG" altLang="en-US" sz="2000" dirty="0" smtClean="0"/>
              <a:t>Програмата се „тълкува“ (</a:t>
            </a:r>
            <a:r>
              <a:rPr lang="bg-BG" altLang="en-US" sz="2000" dirty="0" err="1" smtClean="0"/>
              <a:t>англ</a:t>
            </a:r>
            <a:r>
              <a:rPr lang="bg-BG" altLang="en-US" sz="2000" dirty="0" smtClean="0"/>
              <a:t>. </a:t>
            </a:r>
            <a:r>
              <a:rPr lang="en-US" altLang="en-US" sz="2000" dirty="0" smtClean="0"/>
              <a:t>interpretation</a:t>
            </a:r>
            <a:r>
              <a:rPr lang="bg-BG" altLang="en-US" sz="2000" dirty="0" smtClean="0"/>
              <a:t>), т.е. едновременно се транслира и се изпълнява (реализира се на ниво</a:t>
            </a:r>
            <a:r>
              <a:rPr lang="en-US" altLang="en-US" sz="2000" dirty="0"/>
              <a:t> </a:t>
            </a:r>
            <a:r>
              <a:rPr lang="bg-BG" altLang="en-US" sz="2000" dirty="0" smtClean="0"/>
              <a:t>„оператор“).</a:t>
            </a:r>
          </a:p>
          <a:p>
            <a:pPr lvl="1">
              <a:lnSpc>
                <a:spcPct val="85000"/>
              </a:lnSpc>
              <a:spcBef>
                <a:spcPts val="300"/>
              </a:spcBef>
            </a:pPr>
            <a:r>
              <a:rPr lang="bg-BG" altLang="en-US" sz="2400" dirty="0" err="1" smtClean="0"/>
              <a:t>Хидбиден</a:t>
            </a:r>
            <a:r>
              <a:rPr lang="bg-BG" altLang="en-US" sz="2400" dirty="0" smtClean="0"/>
              <a:t> подход</a:t>
            </a:r>
          </a:p>
          <a:p>
            <a:pPr lvl="2">
              <a:lnSpc>
                <a:spcPct val="85000"/>
              </a:lnSpc>
              <a:spcBef>
                <a:spcPts val="300"/>
              </a:spcBef>
            </a:pPr>
            <a:r>
              <a:rPr lang="bg-BG" altLang="en-US" sz="2000" dirty="0" smtClean="0"/>
              <a:t>Програмите първо се превеждат в междинен формат чрез компилация, а този междинен код по-късно се изпълнява от интерпретатор.</a:t>
            </a:r>
          </a:p>
          <a:p>
            <a:pPr>
              <a:lnSpc>
                <a:spcPct val="85000"/>
              </a:lnSpc>
              <a:spcBef>
                <a:spcPts val="300"/>
              </a:spcBef>
            </a:pPr>
            <a:r>
              <a:rPr lang="bg-BG" sz="2800" dirty="0" smtClean="0"/>
              <a:t>По принцип, за всеки език може да се всяка от тези технологии. </a:t>
            </a:r>
          </a:p>
          <a:p>
            <a:pPr lvl="1">
              <a:lnSpc>
                <a:spcPct val="85000"/>
              </a:lnSpc>
              <a:spcBef>
                <a:spcPts val="300"/>
              </a:spcBef>
            </a:pPr>
            <a:r>
              <a:rPr lang="bg-BG" sz="2400" dirty="0" smtClean="0"/>
              <a:t>Естествено, това не се прави – за всеки от езиците някоя от стратегиите е „по-естествени“ и затова по-лесна за реализация.</a:t>
            </a:r>
          </a:p>
          <a:p>
            <a:pPr lvl="1">
              <a:lnSpc>
                <a:spcPct val="85000"/>
              </a:lnSpc>
              <a:spcBef>
                <a:spcPts val="300"/>
              </a:spcBef>
            </a:pPr>
            <a:r>
              <a:rPr lang="bg-BG" altLang="en-US" sz="2400" dirty="0" smtClean="0"/>
              <a:t>Примери за езици, реализирани по два различни начина: </a:t>
            </a:r>
            <a:r>
              <a:rPr lang="bg-BG" altLang="en-US" sz="2400" dirty="0" err="1" smtClean="0"/>
              <a:t>Lisp</a:t>
            </a:r>
            <a:r>
              <a:rPr lang="bg-BG" altLang="en-US" sz="2400" dirty="0" smtClean="0"/>
              <a:t>, </a:t>
            </a:r>
            <a:r>
              <a:rPr lang="bg-BG" altLang="en-US" sz="2400" dirty="0" err="1" smtClean="0"/>
              <a:t>Pascal</a:t>
            </a:r>
            <a:r>
              <a:rPr lang="bg-BG" altLang="en-US" sz="2400" dirty="0" smtClean="0"/>
              <a:t>, C, BASIC и </a:t>
            </a:r>
            <a:r>
              <a:rPr lang="bg-BG" altLang="en-US" sz="2400" dirty="0" err="1" smtClean="0"/>
              <a:t>Python</a:t>
            </a:r>
            <a:r>
              <a:rPr lang="bg-BG" altLang="en-US" sz="2400" dirty="0" smtClean="0"/>
              <a:t>.</a:t>
            </a:r>
            <a:endParaRPr lang="bg-BG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410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Компилаторът </a:t>
            </a:r>
            <a:r>
              <a:rPr lang="bg-BG" altLang="en-US" sz="2800" dirty="0" smtClean="0"/>
              <a:t>е компютърна програма (или набор от програми), която преобразува изходен код, написан на език за програмиране, до програма на машинен език (нарича се още „обектен код“ ). </a:t>
            </a:r>
          </a:p>
          <a:p>
            <a:pPr lvl="1"/>
            <a:r>
              <a:rPr lang="bg-BG" altLang="en-US" sz="2400" dirty="0" smtClean="0"/>
              <a:t>Името "компилатор" се използва предимно за програми, които превеждат изходния код от езика за програмиране на високо ниво до езика от по-ниско ниво (напр. асемблер или машинен код) и това 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задължително</a:t>
            </a:r>
            <a:r>
              <a:rPr lang="bg-BG" altLang="en-US" sz="2400" dirty="0" smtClean="0"/>
              <a:t> трябва да приключи преди стартирането на програмата.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284412" y="4377294"/>
          <a:ext cx="9344025" cy="2256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Visio" r:id="rId4" imgW="5114157" imgH="1234440" progId="Visio.Drawing.11">
                  <p:embed/>
                </p:oleObj>
              </mc:Choice>
              <mc:Fallback>
                <p:oleObj name="Visio" r:id="rId4" imgW="5114157" imgH="1234440" progId="Visio.Drawing.11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2" y="4377294"/>
                        <a:ext cx="9344025" cy="2256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675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Основното предимство на компилацията е скоростта на изпълнение на програмата.</a:t>
            </a:r>
          </a:p>
          <a:p>
            <a:pPr lvl="1"/>
            <a:r>
              <a:rPr lang="bg-BG" dirty="0" smtClean="0"/>
              <a:t>Тъй като изходната програма се превежда директно в кода на машината, тази програма най-често е много по-бърза, отколкото ако се интерпретира.</a:t>
            </a:r>
          </a:p>
          <a:p>
            <a:pPr lvl="1"/>
            <a:r>
              <a:rPr lang="bg-BG" dirty="0" smtClean="0"/>
              <a:t>Независимо от това, съществуват случаи, при които интерпретацията дава по-високо бързодействие</a:t>
            </a:r>
          </a:p>
          <a:p>
            <a:r>
              <a:rPr lang="bg-BG" dirty="0" smtClean="0"/>
              <a:t>Основният недостатък на изпълнението чрез компилация е преносимостта.</a:t>
            </a:r>
          </a:p>
          <a:p>
            <a:pPr lvl="1"/>
            <a:r>
              <a:rPr lang="bg-BG" dirty="0" smtClean="0"/>
              <a:t>Компилираната програма е насочена към конкретна компютърна архитектура и няма да може да работи с друг хардуер.</a:t>
            </a:r>
          </a:p>
        </p:txBody>
      </p:sp>
    </p:spTree>
    <p:extLst>
      <p:ext uri="{BB962C8B-B14F-4D97-AF65-F5344CB8AC3E}">
        <p14:creationId xmlns:p14="http://schemas.microsoft.com/office/powerpoint/2010/main" val="344904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Интерпретация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bg-BG" sz="2800" dirty="0" smtClean="0"/>
              <a:t>При този модел на транслация програмния код не се преобразува директно до машинен код за конкретен процесор, а за всеки процесор съществува специална програма (т.нар. интерпретатор), която чете програмния код оператор по оператор, преобразува го до машинни команди и управлява изпълнението му</a:t>
            </a:r>
            <a:r>
              <a:rPr lang="en-US" sz="2800" dirty="0" smtClean="0"/>
              <a:t>. </a:t>
            </a:r>
            <a:endParaRPr lang="en-US" sz="2800" dirty="0"/>
          </a:p>
          <a:p>
            <a:pPr lvl="1">
              <a:defRPr/>
            </a:pPr>
            <a:r>
              <a:rPr lang="bg-BG" sz="2400" dirty="0" smtClean="0"/>
              <a:t>В този случай всички фази на анализа на програмния код се „случват“ по време на изпълнение, което води до ненужни системни разходи.</a:t>
            </a:r>
          </a:p>
          <a:p>
            <a:pPr lvl="2">
              <a:defRPr/>
            </a:pPr>
            <a:r>
              <a:rPr lang="bg-BG" sz="2000" dirty="0" smtClean="0"/>
              <a:t>Много неподходящо при изпълнение на цикли или многократно стартиране на една и съща подпрограма</a:t>
            </a:r>
            <a:r>
              <a:rPr lang="en-US" sz="2000" dirty="0" smtClean="0"/>
              <a:t>.</a:t>
            </a:r>
            <a:r>
              <a:rPr lang="en-US" sz="2400" dirty="0" smtClean="0"/>
              <a:t> </a:t>
            </a:r>
            <a:endParaRPr lang="en-US" sz="2400" dirty="0"/>
          </a:p>
          <a:p>
            <a:endParaRPr lang="en-US" sz="28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7389812" y="4724400"/>
          <a:ext cx="3730625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3" imgW="2110549" imgH="967680" progId="Visio.Drawing.11">
                  <p:embed/>
                </p:oleObj>
              </mc:Choice>
              <mc:Fallback>
                <p:oleObj name="Visio" r:id="rId3" imgW="2110549" imgH="967680" progId="Visio.Drawing.11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9812" y="4724400"/>
                        <a:ext cx="3730625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32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Хибриден подход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bg-BG" altLang="en-US" sz="2800" dirty="0" smtClean="0"/>
              <a:t>Предимствата на преносимостта на интерпретацията, но при намаляване на големите системни разходи, породиха този подход. 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Решение: компилация до междинно представяне, което след това се интерпретира при много по-малки системни разходи</a:t>
            </a:r>
            <a:r>
              <a:rPr lang="en-US" altLang="en-US" sz="2400" dirty="0" smtClean="0"/>
              <a:t>. </a:t>
            </a:r>
            <a:endParaRPr lang="en-US" altLang="en-US" sz="2400" dirty="0"/>
          </a:p>
          <a:p>
            <a:pPr lvl="2">
              <a:spcBef>
                <a:spcPts val="0"/>
              </a:spcBef>
            </a:pPr>
            <a:r>
              <a:rPr lang="bg-BG" altLang="en-US" sz="2000" dirty="0"/>
              <a:t>Програмните грешки се откриват преди началото на изпълнението.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Междинният код, до който се компилира, най-често се означава с термина „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bytecode</a:t>
            </a:r>
            <a:r>
              <a:rPr lang="bg-BG" altLang="en-US" sz="2400" dirty="0" smtClean="0"/>
              <a:t>“</a:t>
            </a:r>
            <a:r>
              <a:rPr lang="en-US" altLang="en-US" sz="2400" dirty="0" smtClean="0"/>
              <a:t>. 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Примери</a:t>
            </a:r>
            <a:r>
              <a:rPr lang="en-US" altLang="en-US" sz="2400" dirty="0" smtClean="0"/>
              <a:t>: Python</a:t>
            </a:r>
            <a:r>
              <a:rPr lang="en-US" altLang="en-US" sz="2400" dirty="0"/>
              <a:t>, Java, </a:t>
            </a:r>
            <a:r>
              <a:rPr lang="en-US" altLang="en-US" sz="2400" dirty="0" smtClean="0"/>
              <a:t>Ruby</a:t>
            </a:r>
            <a:r>
              <a:rPr lang="en-US" altLang="en-US" sz="2400" dirty="0"/>
              <a:t>. </a:t>
            </a:r>
          </a:p>
          <a:p>
            <a:pPr>
              <a:spcBef>
                <a:spcPts val="0"/>
              </a:spcBef>
            </a:pPr>
            <a:r>
              <a:rPr lang="bg-BG" altLang="en-US" sz="2800" dirty="0" smtClean="0"/>
              <a:t>Видове реализация според получаването на междинния код</a:t>
            </a:r>
            <a:r>
              <a:rPr lang="en-US" altLang="en-US" sz="2800" dirty="0" smtClean="0"/>
              <a:t>: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веднъж за всички стартиране </a:t>
            </a:r>
            <a:r>
              <a:rPr lang="en-US" altLang="en-US" sz="2400" dirty="0" smtClean="0"/>
              <a:t>(</a:t>
            </a:r>
            <a:r>
              <a:rPr lang="bg-BG" altLang="en-US" sz="2400" dirty="0" smtClean="0"/>
              <a:t>пример: </a:t>
            </a:r>
            <a:r>
              <a:rPr lang="en-US" altLang="en-US" sz="2400" dirty="0" smtClean="0"/>
              <a:t>Java)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всеки път преди стартиране</a:t>
            </a:r>
            <a:r>
              <a:rPr lang="en-US" altLang="en-US" sz="2400" dirty="0" smtClean="0"/>
              <a:t> (Perl</a:t>
            </a:r>
            <a:r>
              <a:rPr lang="bg-BG" altLang="en-US" sz="2400" dirty="0" smtClean="0"/>
              <a:t>, 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Ruby</a:t>
            </a:r>
            <a:r>
              <a:rPr lang="en-US" altLang="en-US" sz="2400" dirty="0" smtClean="0"/>
              <a:t>) </a:t>
            </a:r>
          </a:p>
          <a:p>
            <a:pPr lvl="1">
              <a:spcBef>
                <a:spcPts val="0"/>
              </a:spcBef>
            </a:pPr>
            <a:r>
              <a:rPr lang="bg-BG" altLang="en-US" sz="2400" dirty="0" smtClean="0"/>
              <a:t>всеки път при стартиране, когато има промяна на програмния код (</a:t>
            </a:r>
            <a:r>
              <a:rPr lang="en-US" altLang="en-US" sz="2400" dirty="0" smtClean="0"/>
              <a:t>Python</a:t>
            </a:r>
            <a:r>
              <a:rPr lang="en-US" altLang="en-US" sz="2400" dirty="0"/>
              <a:t>). </a:t>
            </a:r>
            <a:endParaRPr lang="bg-BG" altLang="en-US" sz="2400" dirty="0" smtClean="0"/>
          </a:p>
          <a:p>
            <a:pPr>
              <a:spcBef>
                <a:spcPts val="0"/>
              </a:spcBef>
            </a:pPr>
            <a:endParaRPr lang="en-US" sz="28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503612" y="4419600"/>
          <a:ext cx="8063332" cy="187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3" imgW="5568250" imgH="1294650" progId="Visio.Drawing.11">
                  <p:embed/>
                </p:oleObj>
              </mc:Choice>
              <mc:Fallback>
                <p:oleObj name="Visio" r:id="rId3" imgW="5568250" imgH="1294650" progId="Visio.Drawing.11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2" y="4419600"/>
                        <a:ext cx="8063332" cy="187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639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Кой метод е по-добър?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altLang="en-US" sz="2800" dirty="0" smtClean="0"/>
              <a:t>В началните години на компютрите, дизайнът на програмните езици силно се е влияел от използвания метод за транслация (компилация или интерпретация).</a:t>
            </a:r>
          </a:p>
          <a:p>
            <a:pPr lvl="1"/>
            <a:r>
              <a:rPr lang="bg-BG" altLang="en-US" sz="2400" dirty="0" smtClean="0"/>
              <a:t>Най-ясно това си проличава при типизирането на променливите, т.е. задаването на тип на променливите.</a:t>
            </a:r>
          </a:p>
          <a:p>
            <a:r>
              <a:rPr lang="bg-BG" altLang="en-US" sz="2800" dirty="0" smtClean="0"/>
              <a:t>Използваният метод за транслация пряко влияе върху възможността за свързване в момента на изпълнение на програмата (т.нар. </a:t>
            </a:r>
            <a:r>
              <a:rPr lang="bg-BG" altLang="en-US" sz="2800" dirty="0" err="1" smtClean="0"/>
              <a:t>run-time</a:t>
            </a:r>
            <a:r>
              <a:rPr lang="bg-BG" altLang="en-US" sz="2800" dirty="0" smtClean="0"/>
              <a:t> </a:t>
            </a:r>
            <a:r>
              <a:rPr lang="bg-BG" altLang="en-US" sz="2800" dirty="0" err="1" smtClean="0"/>
              <a:t>binding</a:t>
            </a:r>
            <a:r>
              <a:rPr lang="bg-BG" altLang="en-US" sz="2800" dirty="0" smtClean="0"/>
              <a:t>)</a:t>
            </a:r>
          </a:p>
          <a:p>
            <a:pPr lvl="1"/>
            <a:r>
              <a:rPr lang="bg-BG" altLang="en-US" sz="2400" dirty="0" smtClean="0"/>
              <a:t>Внимание ! Времето за свързване на елементите на програмата не е свързано с времето на всички останали видове анализи на програмата, т.е. за ускоряване е възможно някои анализи да се извършват предварително, т.е. преди изпълнението на програмата.</a:t>
            </a:r>
          </a:p>
          <a:p>
            <a:pPr lvl="1"/>
            <a:r>
              <a:rPr lang="bg-BG" altLang="en-US" sz="2400" dirty="0" smtClean="0"/>
              <a:t>Пример: </a:t>
            </a:r>
            <a:r>
              <a:rPr lang="bg-BG" altLang="en-US" sz="2400" dirty="0" err="1" smtClean="0"/>
              <a:t>Smalltalk</a:t>
            </a:r>
            <a:r>
              <a:rPr lang="bg-BG" altLang="en-US" sz="2400" dirty="0" smtClean="0"/>
              <a:t> 80, при който се използва интерпретиране по време на изпълнение от обектно-ориентиран интерпретатор, но за т.нар. генерични обекти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 </a:t>
            </a:r>
            <a:r>
              <a:rPr lang="bg-BG" altLang="en-US" sz="2400" dirty="0" err="1" smtClean="0"/>
              <a:t>generic</a:t>
            </a:r>
            <a:r>
              <a:rPr lang="bg-BG" altLang="en-US" sz="2400" dirty="0" smtClean="0"/>
              <a:t> </a:t>
            </a:r>
            <a:r>
              <a:rPr lang="bg-BG" altLang="en-US" sz="2400" dirty="0" err="1" smtClean="0"/>
              <a:t>objects</a:t>
            </a:r>
            <a:r>
              <a:rPr lang="bg-BG" altLang="en-US" sz="2400" dirty="0" smtClean="0"/>
              <a:t>) се реализират динамични взаимодействия. 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3817946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Кой метод е по-добър?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r>
              <a:rPr lang="bg-BG" altLang="en-US" sz="2800" dirty="0" smtClean="0"/>
              <a:t>Преносимостта на програмите при интерпретация е по-голяма спрямо програмите при компилация. </a:t>
            </a:r>
          </a:p>
          <a:p>
            <a:pPr lvl="1"/>
            <a:r>
              <a:rPr lang="bg-BG" altLang="en-US" sz="2400" dirty="0" smtClean="0"/>
              <a:t>Интерпретацията е по-гъвкава като метод спрямо промените на архитектурата на процесора.</a:t>
            </a:r>
          </a:p>
          <a:p>
            <a:pPr lvl="1"/>
            <a:r>
              <a:rPr lang="bg-BG" altLang="en-US" sz="2400" dirty="0" smtClean="0"/>
              <a:t>Най-често, при интерпретация е по-лесно да се реализират следните функции: </a:t>
            </a:r>
            <a:r>
              <a:rPr lang="bg-BG" altLang="en-US" sz="2400" dirty="0" err="1" smtClean="0"/>
              <a:t>платформана</a:t>
            </a:r>
            <a:r>
              <a:rPr lang="bg-BG" altLang="en-US" sz="2400" dirty="0" smtClean="0"/>
              <a:t> независимост и адаптивност, динамично типизиране, динамично обхват и други.</a:t>
            </a:r>
          </a:p>
          <a:p>
            <a:r>
              <a:rPr lang="bg-BG" altLang="en-US" sz="2800" dirty="0" smtClean="0"/>
              <a:t>Основният проблем на интерпретацията е много по-ниската скорост на изпълнение на програмата спрямо програма на машинен код. </a:t>
            </a:r>
          </a:p>
          <a:p>
            <a:pPr lvl="1"/>
            <a:r>
              <a:rPr lang="bg-BG" altLang="en-US" sz="2400" dirty="0" smtClean="0"/>
              <a:t>Това е довело до техники за подобряване на скоростта на интерпретация, базирани на хибриден подход. </a:t>
            </a:r>
          </a:p>
          <a:p>
            <a:pPr lvl="1"/>
            <a:r>
              <a:rPr lang="en-US" altLang="en-US" sz="2400" dirty="0" smtClean="0"/>
              <a:t>JIT</a:t>
            </a:r>
            <a:r>
              <a:rPr lang="bg-BG" altLang="en-US" sz="2400" dirty="0" smtClean="0"/>
              <a:t> (</a:t>
            </a:r>
            <a:r>
              <a:rPr lang="en-US" altLang="en-US" sz="2400" dirty="0" smtClean="0"/>
              <a:t>just-in-time) </a:t>
            </a:r>
            <a:r>
              <a:rPr lang="bg-BG" altLang="en-US" sz="2400" dirty="0" smtClean="0"/>
              <a:t>е един такъв подход.</a:t>
            </a:r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176031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„</a:t>
            </a:r>
            <a:r>
              <a:rPr lang="en-CA" dirty="0" smtClean="0"/>
              <a:t>Just-in-time</a:t>
            </a:r>
            <a:r>
              <a:rPr lang="bg-BG" dirty="0" smtClean="0"/>
              <a:t>“</a:t>
            </a:r>
            <a:r>
              <a:rPr lang="en-CA" dirty="0" smtClean="0"/>
              <a:t> </a:t>
            </a:r>
            <a:r>
              <a:rPr lang="bg-BG" dirty="0" smtClean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562600"/>
          </a:xfrm>
        </p:spPr>
        <p:txBody>
          <a:bodyPr>
            <a:normAutofit/>
          </a:bodyPr>
          <a:lstStyle/>
          <a:p>
            <a:r>
              <a:rPr lang="bg-BG" altLang="en-US" sz="2800" i="1" dirty="0" smtClean="0"/>
              <a:t>„</a:t>
            </a:r>
            <a:r>
              <a:rPr lang="en-US" altLang="en-US" sz="2800" i="1" dirty="0" smtClean="0"/>
              <a:t>Just-in-time</a:t>
            </a:r>
            <a:r>
              <a:rPr lang="bg-BG" altLang="en-US" sz="2800" i="1" dirty="0" smtClean="0"/>
              <a:t>“</a:t>
            </a:r>
            <a:r>
              <a:rPr lang="en-US" altLang="en-US" sz="2800" i="1" dirty="0" smtClean="0"/>
              <a:t> </a:t>
            </a:r>
            <a:r>
              <a:rPr lang="bg-BG" altLang="en-US" sz="2800" i="1" dirty="0" smtClean="0"/>
              <a:t>компилацията </a:t>
            </a:r>
            <a:r>
              <a:rPr lang="en-US" altLang="en-US" sz="2800" i="1" dirty="0" smtClean="0"/>
              <a:t>(JIT)</a:t>
            </a:r>
            <a:r>
              <a:rPr lang="en-US" altLang="en-US" sz="2800" dirty="0" smtClean="0"/>
              <a:t> </a:t>
            </a:r>
            <a:r>
              <a:rPr lang="bg-BG" altLang="en-US" sz="2800" dirty="0" smtClean="0"/>
              <a:t>е хибриден метод, насочен към подобряване на скоростта на изпълнение в реално време пи интерпретация на програмата</a:t>
            </a:r>
            <a:r>
              <a:rPr lang="en-US" altLang="en-US" sz="2800" dirty="0" smtClean="0"/>
              <a:t>.</a:t>
            </a:r>
            <a:endParaRPr lang="bg-BG" altLang="en-US" sz="2800" dirty="0" smtClean="0"/>
          </a:p>
          <a:p>
            <a:pPr lvl="1"/>
            <a:r>
              <a:rPr lang="bg-BG" altLang="en-US" sz="2400" dirty="0" smtClean="0"/>
              <a:t>Известна е и като </a:t>
            </a:r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динамична транслация</a:t>
            </a:r>
            <a:r>
              <a:rPr lang="bg-BG" altLang="en-US" sz="2400" dirty="0" smtClean="0"/>
              <a:t>.</a:t>
            </a:r>
          </a:p>
          <a:p>
            <a:pPr lvl="1"/>
            <a:r>
              <a:rPr lang="bg-BG" altLang="en-US" sz="2400" dirty="0" smtClean="0"/>
              <a:t>Целта на използването на JIT-техниките е да се достигне или да се надмине бързодействието при изпълнение на статичното компилирани програми, но същевременно да се запазят някои от основните предимствата на интерпретацията.</a:t>
            </a:r>
          </a:p>
          <a:p>
            <a:r>
              <a:rPr lang="ru-RU" altLang="en-US" sz="2800" dirty="0" smtClean="0"/>
              <a:t>Пример:</a:t>
            </a:r>
            <a:endParaRPr lang="bg-BG" altLang="en-US" sz="2800" dirty="0" smtClean="0"/>
          </a:p>
        </p:txBody>
      </p:sp>
      <p:pic>
        <p:nvPicPr>
          <p:cNvPr id="4" name="Picture 2" descr="TraceMonke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812" y="4572000"/>
            <a:ext cx="8936309" cy="205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74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„</a:t>
            </a:r>
            <a:r>
              <a:rPr lang="en-CA" dirty="0"/>
              <a:t>Just-in-time</a:t>
            </a:r>
            <a:r>
              <a:rPr lang="bg-BG" dirty="0"/>
              <a:t>“</a:t>
            </a:r>
            <a:r>
              <a:rPr lang="en-CA" dirty="0"/>
              <a:t> </a:t>
            </a:r>
            <a:r>
              <a:rPr lang="bg-BG" dirty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bg-BG" sz="2800" dirty="0" smtClean="0"/>
              <a:t>JIT-компилацията е насочена към ускоряване на интерпретацията на преносимия </a:t>
            </a:r>
            <a:r>
              <a:rPr lang="bg-BG" altLang="en-US" sz="2800" dirty="0" smtClean="0"/>
              <a:t>„</a:t>
            </a:r>
            <a:r>
              <a:rPr lang="bg-BG" sz="2800" i="1" dirty="0" err="1" smtClean="0"/>
              <a:t>bytecode</a:t>
            </a:r>
            <a:r>
              <a:rPr lang="bg-BG" altLang="en-US" sz="2800" dirty="0" smtClean="0"/>
              <a:t>“</a:t>
            </a:r>
            <a:r>
              <a:rPr lang="bg-BG" sz="2800" dirty="0" smtClean="0"/>
              <a:t>.</a:t>
            </a:r>
          </a:p>
          <a:p>
            <a:pPr lvl="1">
              <a:defRPr/>
            </a:pPr>
            <a:r>
              <a:rPr lang="bg-BG" sz="2400" dirty="0" smtClean="0"/>
              <a:t>Кодът се компилира, едва когато ще бъде изпълняван ("</a:t>
            </a:r>
            <a:r>
              <a:rPr lang="bg-BG" sz="2400" dirty="0" err="1" smtClean="0"/>
              <a:t>just-in-time</a:t>
            </a:r>
            <a:r>
              <a:rPr lang="bg-BG" sz="2400" dirty="0" smtClean="0"/>
              <a:t>").</a:t>
            </a:r>
          </a:p>
          <a:p>
            <a:pPr lvl="1">
              <a:defRPr/>
            </a:pPr>
            <a:r>
              <a:rPr lang="bg-BG" sz="2400" dirty="0" smtClean="0"/>
              <a:t>Компилацията може да е на различно ниво: на ниво </a:t>
            </a:r>
            <a:r>
              <a:rPr lang="bg-BG" altLang="en-US" sz="2400" dirty="0" smtClean="0"/>
              <a:t>„файл“, на ниво „</a:t>
            </a:r>
            <a:r>
              <a:rPr lang="bg-BG" sz="2400" dirty="0" smtClean="0"/>
              <a:t>функция</a:t>
            </a:r>
            <a:r>
              <a:rPr lang="bg-BG" altLang="en-US" sz="2400" dirty="0" smtClean="0"/>
              <a:t>“, на ниво </a:t>
            </a:r>
            <a:r>
              <a:rPr lang="bg-BG" sz="2400" dirty="0" smtClean="0"/>
              <a:t> </a:t>
            </a:r>
            <a:r>
              <a:rPr lang="bg-BG" altLang="en-US" sz="2400" dirty="0" smtClean="0"/>
              <a:t>„</a:t>
            </a:r>
            <a:r>
              <a:rPr lang="bg-BG" sz="2400" dirty="0" smtClean="0"/>
              <a:t>програмен фрагмент</a:t>
            </a:r>
            <a:r>
              <a:rPr lang="bg-BG" altLang="en-US" sz="2400" dirty="0" smtClean="0"/>
              <a:t>“, а може и да е на </a:t>
            </a:r>
            <a:r>
              <a:rPr lang="bg-BG" sz="2400" dirty="0" smtClean="0"/>
              <a:t>ниво </a:t>
            </a:r>
            <a:r>
              <a:rPr lang="bg-BG" altLang="en-US" sz="2400" dirty="0" smtClean="0"/>
              <a:t>„оператор“</a:t>
            </a:r>
            <a:r>
              <a:rPr lang="bg-BG" sz="2400" dirty="0" smtClean="0"/>
              <a:t>.</a:t>
            </a:r>
          </a:p>
          <a:p>
            <a:r>
              <a:rPr lang="bg-BG" altLang="en-US" sz="2800" dirty="0" smtClean="0"/>
              <a:t>JIT-компилацията предлага много по-добра производителност спрямо класическата интерпретация. </a:t>
            </a:r>
          </a:p>
          <a:p>
            <a:pPr lvl="1"/>
            <a:r>
              <a:rPr lang="bg-BG" altLang="en-US" sz="2400" dirty="0" smtClean="0"/>
              <a:t>Преобразуването от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до машинен код е много по-бързо. </a:t>
            </a:r>
          </a:p>
          <a:p>
            <a:pPr lvl="1"/>
            <a:r>
              <a:rPr lang="bg-BG" altLang="en-US" sz="2400" dirty="0" smtClean="0"/>
              <a:t>Преносимостта на програма в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е много висока. </a:t>
            </a:r>
          </a:p>
          <a:p>
            <a:pPr lvl="1"/>
            <a:r>
              <a:rPr lang="bg-BG" altLang="en-US" sz="2400" dirty="0" smtClean="0"/>
              <a:t>Интерпретаторите за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са много по-лесни за разработка, защото при компилацията до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са извършени много от сложните и тежки анализи на изходния програмен код. </a:t>
            </a:r>
            <a:endParaRPr lang="bg-BG" altLang="en-US" sz="2800" dirty="0" smtClean="0"/>
          </a:p>
          <a:p>
            <a:pPr lvl="1"/>
            <a:endParaRPr lang="bg-BG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991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„</a:t>
            </a:r>
            <a:r>
              <a:rPr lang="en-CA" dirty="0"/>
              <a:t>Just-in-time</a:t>
            </a:r>
            <a:r>
              <a:rPr lang="bg-BG" dirty="0"/>
              <a:t>“</a:t>
            </a:r>
            <a:r>
              <a:rPr lang="en-CA" dirty="0"/>
              <a:t> </a:t>
            </a:r>
            <a:r>
              <a:rPr lang="bg-BG" dirty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altLang="en-US" sz="2800" dirty="0" smtClean="0"/>
              <a:t>В някои случаи JIT-компилацията има по-добри резултати от статичното компилираните програми, защото някои оптимизации на програмата са реализуеми само по време на изпълнение:</a:t>
            </a:r>
          </a:p>
          <a:p>
            <a:pPr lvl="2">
              <a:spcBef>
                <a:spcPts val="300"/>
              </a:spcBef>
            </a:pPr>
            <a:r>
              <a:rPr lang="bg-BG" altLang="en-US" dirty="0" smtClean="0"/>
              <a:t>Компилацията не може да бъде оптимизирана толкова целево за конкретния процесор и конкретната операционна система, където ще се изпълнява програмата.</a:t>
            </a:r>
          </a:p>
          <a:p>
            <a:pPr lvl="2">
              <a:spcBef>
                <a:spcPts val="300"/>
              </a:spcBef>
            </a:pPr>
            <a:r>
              <a:rPr lang="bg-BG" altLang="en-US" dirty="0" smtClean="0"/>
              <a:t>Системата може да събира статистически данни за това, как програмата всъщност се изпълнява в средата, в която се намира, и може да се пренарежда и </a:t>
            </a:r>
            <a:r>
              <a:rPr lang="bg-BG" altLang="en-US" dirty="0" err="1" smtClean="0"/>
              <a:t>прекомпилира</a:t>
            </a:r>
            <a:r>
              <a:rPr lang="bg-BG" altLang="en-US" dirty="0" smtClean="0"/>
              <a:t> за оптимална производителност.</a:t>
            </a:r>
          </a:p>
          <a:p>
            <a:pPr lvl="2">
              <a:spcBef>
                <a:spcPts val="300"/>
              </a:spcBef>
            </a:pPr>
            <a:r>
              <a:rPr lang="bg-BG" altLang="en-US" dirty="0" smtClean="0"/>
              <a:t>Може се да правят глобални оптимизации (например вмъкване на функциите на библиотеката), без да губи предимствата на динамичното свързване и без общите разходи, присъщи на компилаторите и на свързващите редактори (наричани още „</a:t>
            </a:r>
            <a:r>
              <a:rPr lang="bg-BG" altLang="en-US" dirty="0" err="1" smtClean="0"/>
              <a:t>линкери</a:t>
            </a:r>
            <a:r>
              <a:rPr lang="bg-BG" altLang="en-US" dirty="0" smtClean="0"/>
              <a:t>“). </a:t>
            </a:r>
          </a:p>
          <a:p>
            <a:pPr lvl="2">
              <a:spcBef>
                <a:spcPts val="300"/>
              </a:spcBef>
            </a:pPr>
            <a:r>
              <a:rPr lang="bg-BG" altLang="en-US" dirty="0" smtClean="0"/>
              <a:t>Много по-лесно се реализират техники за управление на паметта с оглед на използване на кеш-паметта (напр. при „</a:t>
            </a:r>
            <a:r>
              <a:rPr lang="bg-BG" altLang="en-US" dirty="0" err="1" smtClean="0"/>
              <a:t>garbage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collection</a:t>
            </a:r>
            <a:r>
              <a:rPr lang="bg-BG" altLang="en-US" dirty="0" smtClean="0"/>
              <a:t>“). </a:t>
            </a:r>
            <a:endParaRPr lang="bg-BG" altLang="en-US" dirty="0"/>
          </a:p>
        </p:txBody>
      </p:sp>
    </p:spTree>
    <p:extLst>
      <p:ext uri="{BB962C8B-B14F-4D97-AF65-F5344CB8AC3E}">
        <p14:creationId xmlns:p14="http://schemas.microsoft.com/office/powerpoint/2010/main" val="388966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„</a:t>
            </a:r>
            <a:r>
              <a:rPr lang="en-CA" dirty="0" smtClean="0"/>
              <a:t>Just-in-time</a:t>
            </a:r>
            <a:r>
              <a:rPr lang="bg-BG" dirty="0" smtClean="0"/>
              <a:t>“</a:t>
            </a:r>
            <a:r>
              <a:rPr lang="en-CA" dirty="0" smtClean="0"/>
              <a:t> </a:t>
            </a:r>
            <a:r>
              <a:rPr lang="bg-BG" dirty="0" smtClean="0"/>
              <a:t>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334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altLang="en-US" sz="2800" dirty="0" smtClean="0"/>
              <a:t>Особености на реализацията.</a:t>
            </a:r>
          </a:p>
          <a:p>
            <a:pPr lvl="1">
              <a:spcBef>
                <a:spcPts val="400"/>
              </a:spcBef>
            </a:pPr>
            <a:r>
              <a:rPr lang="bg-BG" altLang="en-US" sz="2400" dirty="0" smtClean="0"/>
              <a:t>Това е хибриден подход, при който се използва класическа интерпретация, но вече преобразувания код се съхранява („</a:t>
            </a:r>
            <a:r>
              <a:rPr lang="bg-BG" altLang="en-US" sz="2400" dirty="0" err="1" smtClean="0"/>
              <a:t>кешира</a:t>
            </a:r>
            <a:r>
              <a:rPr lang="bg-BG" altLang="en-US" sz="2400" dirty="0" smtClean="0"/>
              <a:t>“) за повторна употреба. </a:t>
            </a:r>
          </a:p>
          <a:p>
            <a:pPr lvl="2">
              <a:spcBef>
                <a:spcPts val="400"/>
              </a:spcBef>
            </a:pPr>
            <a:r>
              <a:rPr lang="bg-BG" altLang="en-US" sz="2000" dirty="0" smtClean="0"/>
              <a:t>Транслацията на всички операнд е само веднъж и това е при първото изпълнение.</a:t>
            </a:r>
          </a:p>
          <a:p>
            <a:pPr lvl="2">
              <a:spcBef>
                <a:spcPts val="400"/>
              </a:spcBef>
            </a:pPr>
            <a:r>
              <a:rPr lang="bg-BG" altLang="en-US" sz="2000" dirty="0" err="1" smtClean="0"/>
              <a:t>Кеширането</a:t>
            </a:r>
            <a:r>
              <a:rPr lang="bg-BG" altLang="en-US" sz="2000" dirty="0" smtClean="0"/>
              <a:t> на транслирания код е свързано с много малка загуба на бързодействие.</a:t>
            </a:r>
          </a:p>
          <a:p>
            <a:pPr lvl="2">
              <a:spcBef>
                <a:spcPts val="400"/>
              </a:spcBef>
            </a:pPr>
            <a:r>
              <a:rPr lang="bg-BG" altLang="en-US" sz="2000" dirty="0" smtClean="0"/>
              <a:t>Определянето дали оператор е вече </a:t>
            </a:r>
            <a:r>
              <a:rPr lang="bg-BG" altLang="en-US" sz="2000" dirty="0" err="1" smtClean="0"/>
              <a:t>кеширан</a:t>
            </a:r>
            <a:r>
              <a:rPr lang="bg-BG" altLang="en-US" sz="2000" dirty="0" smtClean="0"/>
              <a:t> също става много бързо.</a:t>
            </a:r>
          </a:p>
          <a:p>
            <a:pPr lvl="1">
              <a:spcBef>
                <a:spcPts val="400"/>
              </a:spcBef>
            </a:pPr>
            <a:r>
              <a:rPr lang="bg-BG" altLang="en-US" sz="2400" dirty="0" smtClean="0"/>
              <a:t>Голяма част от „тежките“ анализи на изходния код, както и основна оптимизация се реализират при компилирането преди разпространението.</a:t>
            </a:r>
          </a:p>
          <a:p>
            <a:pPr>
              <a:spcBef>
                <a:spcPts val="400"/>
              </a:spcBef>
            </a:pPr>
            <a:r>
              <a:rPr lang="bg-BG" sz="2800" dirty="0" smtClean="0"/>
              <a:t>Намира голямо приложение, напр. </a:t>
            </a:r>
            <a:r>
              <a:rPr lang="bg-BG" sz="2800" dirty="0" err="1" smtClean="0"/>
              <a:t>Microsoft's</a:t>
            </a:r>
            <a:r>
              <a:rPr lang="bg-BG" sz="2800" dirty="0" smtClean="0"/>
              <a:t> .NET Framework и </a:t>
            </a:r>
            <a:r>
              <a:rPr lang="bg-BG" sz="2800" dirty="0" err="1" smtClean="0"/>
              <a:t>Java-машините</a:t>
            </a:r>
            <a:r>
              <a:rPr lang="bg-BG" sz="2800" dirty="0" smtClean="0"/>
              <a:t>. 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415989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„</a:t>
            </a:r>
            <a:r>
              <a:rPr lang="en-US" dirty="0" smtClean="0"/>
              <a:t>Ahead-of-time</a:t>
            </a:r>
            <a:r>
              <a:rPr lang="bg-BG" altLang="en-US" dirty="0"/>
              <a:t>“</a:t>
            </a:r>
            <a:r>
              <a:rPr lang="en-US" dirty="0" smtClean="0"/>
              <a:t> compilation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bg-BG" altLang="en-US" sz="2800" dirty="0" smtClean="0"/>
              <a:t>„</a:t>
            </a:r>
            <a:r>
              <a:rPr lang="bg-BG" altLang="en-US" sz="2800" dirty="0" err="1" smtClean="0"/>
              <a:t>Ahead-of-time</a:t>
            </a:r>
            <a:r>
              <a:rPr lang="bg-BG" altLang="en-US" sz="2800" dirty="0" smtClean="0"/>
              <a:t>“ компилацията (AOT-компилация) е насочена да оптимизира процеса на преобразуване на междинния код до машинен код, т.е. да подобри бързодействието на </a:t>
            </a:r>
            <a:r>
              <a:rPr lang="bg-BG" altLang="en-US" sz="2400" dirty="0" smtClean="0"/>
              <a:t>интерпретацията на междинния код на JIT-компилатора.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т.е. „</a:t>
            </a:r>
            <a:r>
              <a:rPr lang="bg-BG" altLang="en-US" sz="2000" dirty="0" err="1" smtClean="0"/>
              <a:t>bytecode</a:t>
            </a:r>
            <a:r>
              <a:rPr lang="bg-BG" altLang="en-US" sz="2000" dirty="0" smtClean="0"/>
              <a:t>“ за </a:t>
            </a:r>
            <a:r>
              <a:rPr lang="bg-BG" altLang="en-US" sz="2000" dirty="0" err="1" smtClean="0"/>
              <a:t>Java</a:t>
            </a:r>
            <a:r>
              <a:rPr lang="bg-BG" altLang="en-US" sz="2000" dirty="0" smtClean="0"/>
              <a:t> или CIL в .NET (CIL - </a:t>
            </a:r>
            <a:r>
              <a:rPr lang="bg-BG" altLang="en-US" sz="2000" dirty="0" err="1" smtClean="0"/>
              <a:t>Common</a:t>
            </a:r>
            <a:r>
              <a:rPr lang="bg-BG" altLang="en-US" sz="2000" dirty="0" smtClean="0"/>
              <a:t> </a:t>
            </a:r>
            <a:r>
              <a:rPr lang="bg-BG" altLang="en-US" sz="2000" dirty="0" err="1" smtClean="0"/>
              <a:t>Intermediate</a:t>
            </a:r>
            <a:r>
              <a:rPr lang="bg-BG" altLang="en-US" sz="2000" dirty="0" smtClean="0"/>
              <a:t> </a:t>
            </a:r>
            <a:r>
              <a:rPr lang="bg-BG" altLang="en-US" sz="2000" dirty="0" err="1" smtClean="0"/>
              <a:t>Language</a:t>
            </a:r>
            <a:r>
              <a:rPr lang="bg-BG" altLang="en-US" sz="2000" dirty="0" smtClean="0"/>
              <a:t>) 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bg-BG" altLang="en-US" sz="2800" dirty="0" smtClean="0"/>
              <a:t>Същност 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AOT- компилацията създава оптимизиран машинен код, който е подобен на кода, генериран при класическа компилация – може да се изпълнява директно, без допълнителна интерпретация.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AOT- компилацията може да се прилага както върху програми на езици от високо ниво (C, C++, …), така и върху междинния код за JIT-компилатори („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за </a:t>
            </a:r>
            <a:r>
              <a:rPr lang="bg-BG" altLang="en-US" sz="2400" dirty="0" err="1" smtClean="0"/>
              <a:t>Java</a:t>
            </a:r>
            <a:r>
              <a:rPr lang="bg-BG" altLang="en-US" sz="2400" dirty="0" smtClean="0"/>
              <a:t>). 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Когато AOT- компилацията се извършва върху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 от JIT-компилатор, то преди стартирането на програмата първо се получава „</a:t>
            </a:r>
            <a:r>
              <a:rPr lang="bg-BG" altLang="en-US" sz="2400" dirty="0" err="1" smtClean="0"/>
              <a:t>bytecode</a:t>
            </a:r>
            <a:r>
              <a:rPr lang="bg-BG" altLang="en-US" sz="2400" dirty="0" smtClean="0"/>
              <a:t>“, след което от него се генерира машинен код, който се „</a:t>
            </a:r>
            <a:r>
              <a:rPr lang="bg-BG" altLang="en-US" sz="2400" dirty="0" err="1" smtClean="0"/>
              <a:t>кешира</a:t>
            </a:r>
            <a:r>
              <a:rPr lang="bg-BG" altLang="en-US" sz="2400" dirty="0" smtClean="0"/>
              <a:t>“.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Това увеличава бързодействието.</a:t>
            </a:r>
            <a:endParaRPr lang="bg-BG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7747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„</a:t>
            </a:r>
            <a:r>
              <a:rPr lang="en-US" dirty="0" smtClean="0"/>
              <a:t>Ahead-of-time</a:t>
            </a:r>
            <a:r>
              <a:rPr lang="bg-BG" altLang="en-US" dirty="0"/>
              <a:t>“</a:t>
            </a:r>
            <a:r>
              <a:rPr lang="en-US" dirty="0" smtClean="0"/>
              <a:t> compilation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bg-BG" altLang="en-US" sz="2800" dirty="0" smtClean="0"/>
              <a:t>Предимства и недостатъци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Изпълнимият код е в повечето случаи е много по-бърз от кода при </a:t>
            </a:r>
            <a:r>
              <a:rPr lang="en-US" altLang="en-US" sz="2400" dirty="0"/>
              <a:t>JIT-</a:t>
            </a:r>
            <a:r>
              <a:rPr lang="bg-BG" altLang="en-US" sz="2400" dirty="0" smtClean="0"/>
              <a:t>компилацията.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Има </a:t>
            </a:r>
            <a:r>
              <a:rPr lang="bg-BG" altLang="en-US" sz="2400" dirty="0"/>
              <a:t>сериозни предимства при програми за вградени или за мобилни системи – по-лесно се управляват някои видове ресурси (дисково пространство, памет, В/И устройства), позволява управление на захранването, а реализацията на режим за „бързо стартиране“ е много по-надеждна.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При езици с динамично типизиране има някои реализационни трудности, които не позволяват да се използва този метод (пример: </a:t>
            </a:r>
            <a:r>
              <a:rPr lang="en-US" altLang="en-US" sz="2400" dirty="0" err="1" smtClean="0"/>
              <a:t>Erlang</a:t>
            </a:r>
            <a:r>
              <a:rPr lang="bg-BG" altLang="en-US" sz="2400" dirty="0" smtClean="0"/>
              <a:t>).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Оптимизацията на кода не може да отчита „динамичните“ промени в системата, което е едно от предимствата на </a:t>
            </a:r>
            <a:r>
              <a:rPr lang="en-US" altLang="en-US" sz="2400" dirty="0" smtClean="0"/>
              <a:t>JIT-</a:t>
            </a:r>
            <a:r>
              <a:rPr lang="bg-BG" altLang="en-US" sz="2400" dirty="0" smtClean="0"/>
              <a:t>компилацията.</a:t>
            </a:r>
            <a:endParaRPr lang="en-US" altLang="en-US" sz="2400" dirty="0" smtClean="0"/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3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36811" y="3999485"/>
            <a:ext cx="8915401" cy="724915"/>
          </a:xfrm>
        </p:spPr>
        <p:txBody>
          <a:bodyPr>
            <a:noAutofit/>
          </a:bodyPr>
          <a:lstStyle/>
          <a:p>
            <a:pPr algn="r"/>
            <a:r>
              <a:rPr lang="bg-BG" sz="5400" dirty="0" smtClean="0">
                <a:solidFill>
                  <a:schemeClr val="tx2">
                    <a:lumMod val="85000"/>
                    <a:lumOff val="15000"/>
                  </a:schemeClr>
                </a:solidFill>
              </a:rPr>
              <a:t>Компилация на програми</a:t>
            </a:r>
            <a:endParaRPr lang="en-US" sz="54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itle 3"/>
          <p:cNvSpPr txBox="1">
            <a:spLocks/>
          </p:cNvSpPr>
          <p:nvPr/>
        </p:nvSpPr>
        <p:spPr>
          <a:xfrm>
            <a:off x="2436812" y="4724400"/>
            <a:ext cx="891540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bg-BG" sz="3200" dirty="0" smtClean="0">
                <a:solidFill>
                  <a:schemeClr val="tx2">
                    <a:lumMod val="50000"/>
                    <a:lumOff val="50000"/>
                  </a:schemeClr>
                </a:solidFill>
                <a:effectLst/>
              </a:rPr>
              <a:t>Основни етапи, проблеми и решения</a:t>
            </a:r>
            <a:endParaRPr lang="en-US" sz="3200" dirty="0">
              <a:solidFill>
                <a:schemeClr val="tx2">
                  <a:lumMod val="50000"/>
                  <a:lumOff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6611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Компилаторът като програма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Компилаторите са компютърни програми, които „превеждат“ от  програмен език на високо ниво на програмен език на ниско ниво.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Резултатът от работата на компилатора е файл, който е съставен от инструкции, кодирани в специфичен машинен код.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Изпълнимата програма е специфична за конкретен тип компютърна архитектура.</a:t>
            </a:r>
          </a:p>
          <a:p>
            <a:pPr marL="347663" lvl="1" indent="-347663">
              <a:lnSpc>
                <a:spcPct val="100000"/>
              </a:lnSpc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Компилаторите се създават да обработват конкретен език за програмиране, като езиците могат да бъдат съвсем различни (като парадигма и като реализация на тази парадигма)</a:t>
            </a:r>
          </a:p>
          <a:p>
            <a:pPr marL="749300" lvl="2" indent="-347663">
              <a:lnSpc>
                <a:spcPct val="100000"/>
              </a:lnSpc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Въпреки разликите, всички компилатори имат приблизително еднаква макро-архитектура.</a:t>
            </a:r>
            <a:endParaRPr lang="bg-BG" sz="2800" dirty="0"/>
          </a:p>
        </p:txBody>
      </p:sp>
      <p:pic>
        <p:nvPicPr>
          <p:cNvPr id="5122" name="Picture 2" descr="Compiler design IP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2" y="4386251"/>
            <a:ext cx="6810375" cy="246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769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„</a:t>
            </a:r>
            <a:r>
              <a:rPr lang="en-CA" dirty="0" smtClean="0"/>
              <a:t>Front-End</a:t>
            </a:r>
            <a:r>
              <a:rPr lang="bg-BG" dirty="0" smtClean="0"/>
              <a:t>“ подсистема на компилатора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altLang="en-US" sz="2800" dirty="0" smtClean="0"/>
              <a:t>В тази подсистема влизат поредица от анализи на програмния код, които позволяват да се достигне до специфично вътрешно представяне на програмата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bg-BG" alt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intermediate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representation</a:t>
            </a:r>
            <a:r>
              <a:rPr lang="bg-BG" altLang="en-US" sz="2800" dirty="0" smtClean="0"/>
              <a:t>). </a:t>
            </a:r>
          </a:p>
          <a:p>
            <a:pPr lvl="1"/>
            <a:r>
              <a:rPr lang="bg-BG" altLang="en-US" sz="2400" dirty="0" smtClean="0"/>
              <a:t>Той също така управлява таблицата със символи – това е структура от данни, която осигурява съответствие между символ/-и от програмния код и свързаната с него информация (разположение, тип, обхват, …).</a:t>
            </a:r>
          </a:p>
          <a:p>
            <a:pPr lvl="1"/>
            <a:r>
              <a:rPr lang="bg-BG" altLang="en-US" sz="2400" dirty="0" smtClean="0"/>
              <a:t>Не зависи от целевия компютър, за който се създава машинния код.</a:t>
            </a:r>
          </a:p>
          <a:p>
            <a:r>
              <a:rPr lang="bg-BG" sz="2800" dirty="0" smtClean="0"/>
              <a:t>„</a:t>
            </a:r>
            <a:r>
              <a:rPr lang="bg-BG" sz="2800" dirty="0" err="1" smtClean="0"/>
              <a:t>Front-End</a:t>
            </a:r>
            <a:r>
              <a:rPr lang="bg-BG" sz="2800" dirty="0" smtClean="0"/>
              <a:t>“ подсистема се състои от 4 модула: лексикален, синтактичен и семантичен анализатори, както и модул за машинно-независима оптимизация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bg-BG" sz="2800" dirty="0" err="1" smtClean="0"/>
              <a:t>h</a:t>
            </a:r>
            <a:r>
              <a:rPr lang="bg-BG" altLang="en-US" sz="2800" dirty="0" err="1" smtClean="0"/>
              <a:t>igh-level</a:t>
            </a:r>
            <a:r>
              <a:rPr lang="bg-BG" altLang="en-US" sz="2800" dirty="0" smtClean="0"/>
              <a:t> </a:t>
            </a:r>
            <a:r>
              <a:rPr lang="bg-BG" altLang="en-US" sz="2800" dirty="0" err="1" smtClean="0"/>
              <a:t>optimization</a:t>
            </a:r>
            <a:r>
              <a:rPr lang="bg-BG" altLang="en-US" sz="2800" dirty="0" smtClean="0"/>
              <a:t>).</a:t>
            </a:r>
          </a:p>
          <a:p>
            <a:pPr lvl="1"/>
            <a:r>
              <a:rPr lang="bg-BG" altLang="en-US" sz="2400" dirty="0" smtClean="0"/>
              <a:t>В повечето компилатори синтактичният анализатор е доминиращия модул в тази подсистема – той извиква лексикалния анализатор, който разпознава лексемите и генерира абстрактно синтактично дърво, необходимо за разпознаване на синтактичните елементи.</a:t>
            </a:r>
          </a:p>
          <a:p>
            <a:pPr lvl="1"/>
            <a:r>
              <a:rPr lang="bg-BG" altLang="en-US" sz="2400" dirty="0" smtClean="0"/>
              <a:t>Полученото дърво (или друго междинно представяне) се анализира и оптимизира в отделен процес. </a:t>
            </a:r>
            <a:endParaRPr lang="bg-BG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327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„</a:t>
            </a:r>
            <a:r>
              <a:rPr lang="en-CA" dirty="0" smtClean="0"/>
              <a:t>Back-End</a:t>
            </a:r>
            <a:r>
              <a:rPr lang="bg-BG" dirty="0" smtClean="0"/>
              <a:t>“ </a:t>
            </a:r>
            <a:r>
              <a:rPr lang="bg-BG" dirty="0"/>
              <a:t>подсистема на компилатора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/>
          </a:bodyPr>
          <a:lstStyle/>
          <a:p>
            <a:r>
              <a:rPr lang="bg-BG" altLang="en-US" sz="2800" dirty="0" smtClean="0"/>
              <a:t>Тази подсистема има два модула: </a:t>
            </a:r>
            <a:r>
              <a:rPr lang="bg-BG" altLang="en-US" sz="2800" dirty="0" err="1" smtClean="0"/>
              <a:t>кодогенератор</a:t>
            </a:r>
            <a:r>
              <a:rPr lang="bg-BG" altLang="en-US" sz="2800" dirty="0" smtClean="0"/>
              <a:t> и оптимизатор на машинния код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bg-BG" altLang="en-US" sz="2800" dirty="0" err="1" smtClean="0"/>
              <a:t>low-level</a:t>
            </a:r>
            <a:r>
              <a:rPr lang="bg-BG" altLang="en-US" sz="2800" dirty="0" smtClean="0"/>
              <a:t> </a:t>
            </a:r>
            <a:r>
              <a:rPr lang="bg-BG" altLang="en-US" sz="2800" dirty="0" err="1" smtClean="0"/>
              <a:t>optimization</a:t>
            </a:r>
            <a:r>
              <a:rPr lang="bg-BG" altLang="en-US" sz="2800" dirty="0" smtClean="0"/>
              <a:t>).</a:t>
            </a:r>
          </a:p>
          <a:p>
            <a:pPr lvl="1"/>
            <a:r>
              <a:rPr lang="bg-BG" altLang="en-US" sz="2400" dirty="0" smtClean="0"/>
              <a:t>Използва се вътрешното представяне на програмата и от него се генерира крайния машинен код за конкретната компютърна архитектура.</a:t>
            </a:r>
          </a:p>
          <a:p>
            <a:pPr lvl="2"/>
            <a:r>
              <a:rPr lang="bg-BG" altLang="en-US" sz="2000" dirty="0" smtClean="0"/>
              <a:t>Пряко зависи от крайния компютър, за който е предназначена програмата.</a:t>
            </a:r>
          </a:p>
          <a:p>
            <a:pPr lvl="1"/>
            <a:r>
              <a:rPr lang="bg-BG" altLang="en-US" sz="2400" dirty="0" smtClean="0"/>
              <a:t>Този етап е независим от програмния език от високо ниво. </a:t>
            </a:r>
          </a:p>
          <a:p>
            <a:r>
              <a:rPr lang="bg-BG" altLang="en-US" sz="2800" dirty="0" smtClean="0"/>
              <a:t>Терминът </a:t>
            </a:r>
            <a:r>
              <a:rPr lang="bg-BG" sz="2800" dirty="0" smtClean="0"/>
              <a:t>„</a:t>
            </a:r>
            <a:r>
              <a:rPr lang="bg-BG" altLang="en-US" sz="2800" dirty="0" err="1" smtClean="0"/>
              <a:t>Back-End</a:t>
            </a:r>
            <a:r>
              <a:rPr lang="bg-BG" sz="2800" dirty="0" smtClean="0"/>
              <a:t>“</a:t>
            </a:r>
            <a:r>
              <a:rPr lang="bg-BG" altLang="en-US" sz="2800" dirty="0" smtClean="0"/>
              <a:t> понякога се отъждествява с </a:t>
            </a:r>
            <a:r>
              <a:rPr lang="bg-BG" altLang="en-US" sz="2800" dirty="0" err="1" smtClean="0"/>
              <a:t>кодогенератора</a:t>
            </a:r>
            <a:r>
              <a:rPr lang="bg-BG" altLang="en-US" sz="2800" dirty="0" smtClean="0"/>
              <a:t>, защото функционалност се реализира функции, свързани с генерацията на асемблерен код.</a:t>
            </a:r>
          </a:p>
          <a:p>
            <a:pPr lvl="1"/>
            <a:r>
              <a:rPr lang="bg-BG" altLang="en-US" sz="2400" dirty="0" smtClean="0"/>
              <a:t>Затова в някои публикации </a:t>
            </a:r>
            <a:r>
              <a:rPr lang="bg-BG" altLang="en-US" sz="2400" dirty="0" err="1" smtClean="0"/>
              <a:t>кодогенерацията</a:t>
            </a:r>
            <a:r>
              <a:rPr lang="bg-BG" altLang="en-US" sz="2400" dirty="0" smtClean="0"/>
              <a:t> се означава с </a:t>
            </a:r>
            <a:r>
              <a:rPr lang="bg-BG" sz="2400" dirty="0" smtClean="0"/>
              <a:t>„</a:t>
            </a:r>
            <a:r>
              <a:rPr lang="bg-BG" altLang="en-US" sz="2400" dirty="0" err="1" smtClean="0"/>
              <a:t>Middle-End</a:t>
            </a:r>
            <a:r>
              <a:rPr lang="bg-BG" sz="2400" dirty="0" smtClean="0"/>
              <a:t>“, докато с „</a:t>
            </a:r>
            <a:r>
              <a:rPr lang="bg-BG" altLang="en-US" sz="2400" dirty="0" err="1" smtClean="0"/>
              <a:t>Back-End</a:t>
            </a:r>
            <a:r>
              <a:rPr lang="bg-BG" sz="2400" dirty="0" smtClean="0"/>
              <a:t>“</a:t>
            </a:r>
            <a:r>
              <a:rPr lang="bg-BG" altLang="en-US" sz="2400" dirty="0" smtClean="0"/>
              <a:t> се означава оптимизацията на машинно-зависимите команди.</a:t>
            </a:r>
            <a:endParaRPr lang="bg-BG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5017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Фази на компилацията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020" y="304800"/>
            <a:ext cx="4764288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2" y="1219200"/>
            <a:ext cx="4257675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5856288" y="2628900"/>
            <a:ext cx="1457324" cy="419100"/>
          </a:xfrm>
          <a:prstGeom prst="straightConnector1">
            <a:avLst/>
          </a:prstGeom>
          <a:ln w="31750">
            <a:solidFill>
              <a:srgbClr val="021A5E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942012" y="4191000"/>
            <a:ext cx="1457324" cy="304800"/>
          </a:xfrm>
          <a:prstGeom prst="straightConnector1">
            <a:avLst/>
          </a:prstGeom>
          <a:ln w="31750">
            <a:solidFill>
              <a:srgbClr val="021A5E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1" y="3352800"/>
            <a:ext cx="444817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093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sz="4400" dirty="0" smtClean="0">
                <a:ea typeface="ＭＳ Ｐゴシック" pitchFamily="-112" charset="-128"/>
              </a:rPr>
              <a:t>Някои дефиниции</a:t>
            </a:r>
            <a:endParaRPr lang="en-US" sz="4400" dirty="0">
              <a:ea typeface="ＭＳ Ｐゴシック" pitchFamily="-112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bg-BG" altLang="en-US" sz="2800" dirty="0" smtClean="0"/>
              <a:t>Лексема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bg-BG" altLang="en-US" sz="2800" dirty="0" err="1" smtClean="0"/>
              <a:t>Lexeme</a:t>
            </a:r>
            <a:r>
              <a:rPr lang="bg-BG" altLang="en-US" sz="2800" dirty="0" smtClean="0"/>
              <a:t>)</a:t>
            </a:r>
          </a:p>
          <a:p>
            <a:pPr lvl="1"/>
            <a:r>
              <a:rPr lang="bg-BG" altLang="en-US" sz="2400" dirty="0" smtClean="0"/>
              <a:t>Това е </a:t>
            </a:r>
            <a:r>
              <a:rPr lang="bg-BG" altLang="en-US" sz="2400" dirty="0" err="1" smtClean="0"/>
              <a:t>синтаксисен</a:t>
            </a:r>
            <a:r>
              <a:rPr lang="bg-BG" altLang="en-US" sz="2400" dirty="0" smtClean="0"/>
              <a:t> елемент от най-ниското ниво на езика (напр.: </a:t>
            </a:r>
            <a:r>
              <a:rPr lang="bg-BG" altLang="en-US" sz="2400" i="1" dirty="0" smtClean="0"/>
              <a:t>*, add1, </a:t>
            </a:r>
            <a:r>
              <a:rPr lang="bg-BG" altLang="en-US" sz="2400" i="1" dirty="0" err="1" smtClean="0"/>
              <a:t>begin</a:t>
            </a:r>
            <a:r>
              <a:rPr lang="bg-BG" altLang="en-US" sz="2400" dirty="0" smtClean="0"/>
              <a:t>).</a:t>
            </a:r>
          </a:p>
          <a:p>
            <a:pPr>
              <a:spcBef>
                <a:spcPts val="600"/>
              </a:spcBef>
            </a:pPr>
            <a:r>
              <a:rPr lang="bg-BG" altLang="en-US" sz="2800" dirty="0" smtClean="0"/>
              <a:t>Символ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bg-BG" altLang="en-US" sz="2800" dirty="0" err="1" smtClean="0"/>
              <a:t>Token</a:t>
            </a:r>
            <a:r>
              <a:rPr lang="bg-BG" altLang="en-US" sz="2800" dirty="0" smtClean="0"/>
              <a:t>)</a:t>
            </a:r>
          </a:p>
          <a:p>
            <a:pPr lvl="1"/>
            <a:r>
              <a:rPr lang="bg-BG" altLang="en-US" sz="2400" dirty="0" smtClean="0"/>
              <a:t>Това категория лексеми (напр. </a:t>
            </a:r>
            <a:r>
              <a:rPr lang="bg-BG" altLang="en-US" sz="2400" i="1" dirty="0" smtClean="0"/>
              <a:t>„идентификатор“</a:t>
            </a:r>
            <a:r>
              <a:rPr lang="bg-BG" altLang="en-US" sz="2400" dirty="0" smtClean="0"/>
              <a:t>).</a:t>
            </a:r>
          </a:p>
          <a:p>
            <a:pPr lvl="1"/>
            <a:r>
              <a:rPr lang="bg-BG" sz="2400" dirty="0" err="1" smtClean="0"/>
              <a:t>Токените</a:t>
            </a:r>
            <a:r>
              <a:rPr lang="bg-BG" sz="2400" dirty="0" smtClean="0"/>
              <a:t> формират речника на езика и са най-малките единици на синтаксиса: </a:t>
            </a:r>
          </a:p>
          <a:p>
            <a:pPr lvl="2"/>
            <a:r>
              <a:rPr lang="bg-BG" sz="2000" dirty="0" smtClean="0"/>
              <a:t>Тези елементи са символите, които програмистите виждат, когато пишат своя код,  напр. </a:t>
            </a:r>
            <a:r>
              <a:rPr lang="bg-BG" sz="2000" i="1" dirty="0" err="1" smtClean="0"/>
              <a:t>while</a:t>
            </a:r>
            <a:r>
              <a:rPr lang="bg-BG" sz="2000" dirty="0" smtClean="0"/>
              <a:t>, </a:t>
            </a:r>
            <a:r>
              <a:rPr lang="bg-BG" sz="2000" i="1" dirty="0" err="1" smtClean="0"/>
              <a:t>for</a:t>
            </a:r>
            <a:r>
              <a:rPr lang="bg-BG" sz="2000" dirty="0" smtClean="0"/>
              <a:t>, </a:t>
            </a:r>
            <a:r>
              <a:rPr lang="bg-BG" sz="2000" i="1" dirty="0" smtClean="0"/>
              <a:t>+</a:t>
            </a:r>
            <a:r>
              <a:rPr lang="bg-BG" sz="2000" dirty="0" smtClean="0"/>
              <a:t>, </a:t>
            </a:r>
            <a:r>
              <a:rPr lang="bg-BG" sz="2000" i="1" dirty="0" smtClean="0"/>
              <a:t>(</a:t>
            </a:r>
            <a:r>
              <a:rPr lang="bg-BG" sz="2000" dirty="0" smtClean="0"/>
              <a:t>,  … </a:t>
            </a:r>
            <a:endParaRPr lang="bg-BG" altLang="en-US" sz="2000" dirty="0" smtClean="0"/>
          </a:p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Нетерминален символ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Nonterminals</a:t>
            </a:r>
            <a:r>
              <a:rPr lang="bg-BG" dirty="0" smtClean="0"/>
              <a:t>)</a:t>
            </a:r>
          </a:p>
          <a:p>
            <a:pPr lvl="1"/>
            <a:r>
              <a:rPr lang="bg-BG" sz="2400" dirty="0" smtClean="0"/>
              <a:t>Те не са част от езика сам по себе си.</a:t>
            </a:r>
          </a:p>
          <a:p>
            <a:pPr lvl="1"/>
            <a:r>
              <a:rPr lang="bg-BG" sz="2400" dirty="0" smtClean="0"/>
              <a:t>Те помагат да се определи структурата на </a:t>
            </a:r>
            <a:r>
              <a:rPr lang="bg-BG" sz="2400" dirty="0" err="1" smtClean="0"/>
              <a:t>дървидното</a:t>
            </a:r>
            <a:r>
              <a:rPr lang="bg-BG" sz="2400" dirty="0" smtClean="0"/>
              <a:t> описание на елементите на езика, резултат от приложение на граматиката, т.е. те не са част от езика сами по себе си.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92535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sz="4400" dirty="0">
                <a:ea typeface="ＭＳ Ｐゴシック" pitchFamily="-112" charset="-128"/>
              </a:rPr>
              <a:t>Някои дефиниции</a:t>
            </a:r>
            <a:endParaRPr lang="en-US" sz="4400" dirty="0">
              <a:ea typeface="ＭＳ Ｐゴシック" pitchFamily="-112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bg-BG" sz="2800" dirty="0" smtClean="0"/>
              <a:t>Начален символ</a:t>
            </a:r>
            <a:endParaRPr lang="en-US" sz="2800" dirty="0" smtClean="0"/>
          </a:p>
          <a:p>
            <a:pPr lvl="1"/>
            <a:r>
              <a:rPr lang="ru-RU" sz="2400" dirty="0" err="1" smtClean="0"/>
              <a:t>Това</a:t>
            </a:r>
            <a:r>
              <a:rPr lang="ru-RU" sz="2400" dirty="0" smtClean="0"/>
              <a:t> е </a:t>
            </a:r>
            <a:r>
              <a:rPr lang="ru-RU" sz="2400" dirty="0" err="1" smtClean="0"/>
              <a:t>специален</a:t>
            </a:r>
            <a:r>
              <a:rPr lang="ru-RU" sz="2400" dirty="0" smtClean="0"/>
              <a:t> </a:t>
            </a:r>
            <a:r>
              <a:rPr lang="ru-RU" sz="2400" dirty="0" err="1" smtClean="0"/>
              <a:t>нетерминален</a:t>
            </a:r>
            <a:r>
              <a:rPr lang="ru-RU" sz="2400" dirty="0" smtClean="0"/>
              <a:t> символ, от </a:t>
            </a:r>
            <a:r>
              <a:rPr lang="ru-RU" sz="2400" dirty="0" err="1" smtClean="0"/>
              <a:t>който</a:t>
            </a:r>
            <a:r>
              <a:rPr lang="ru-RU" sz="2400" dirty="0" smtClean="0"/>
              <a:t> </a:t>
            </a:r>
            <a:r>
              <a:rPr lang="ru-RU" sz="2400" dirty="0" err="1" smtClean="0"/>
              <a:t>започва</a:t>
            </a:r>
            <a:r>
              <a:rPr lang="ru-RU" sz="2400" dirty="0" smtClean="0"/>
              <a:t> </a:t>
            </a:r>
            <a:r>
              <a:rPr lang="ru-RU" sz="2400" dirty="0" err="1" smtClean="0"/>
              <a:t>разпознаването</a:t>
            </a:r>
            <a:r>
              <a:rPr lang="ru-RU" sz="2400" dirty="0" smtClean="0"/>
              <a:t> на дадена </a:t>
            </a:r>
            <a:r>
              <a:rPr lang="ru-RU" sz="2400" dirty="0" err="1" smtClean="0"/>
              <a:t>граматично</a:t>
            </a:r>
            <a:r>
              <a:rPr lang="ru-RU" sz="2400" dirty="0" smtClean="0"/>
              <a:t> </a:t>
            </a:r>
            <a:r>
              <a:rPr lang="ru-RU" sz="2400" dirty="0"/>
              <a:t>валидна </a:t>
            </a:r>
            <a:r>
              <a:rPr lang="ru-RU" sz="2400" dirty="0" smtClean="0"/>
              <a:t>конструкция.</a:t>
            </a:r>
            <a:endParaRPr lang="bg-BG" sz="2400" dirty="0" smtClean="0"/>
          </a:p>
          <a:p>
            <a:pPr>
              <a:spcBef>
                <a:spcPts val="600"/>
              </a:spcBef>
            </a:pPr>
            <a:r>
              <a:rPr lang="bg-BG" altLang="en-US" sz="2800" dirty="0" smtClean="0"/>
              <a:t>Изречение</a:t>
            </a:r>
            <a:endParaRPr lang="en-US" altLang="en-US" sz="2800" dirty="0" smtClean="0"/>
          </a:p>
          <a:p>
            <a:pPr lvl="1"/>
            <a:r>
              <a:rPr lang="ru-RU" altLang="en-US" sz="2400" dirty="0" err="1"/>
              <a:t>Това</a:t>
            </a:r>
            <a:r>
              <a:rPr lang="ru-RU" altLang="en-US" sz="2400" dirty="0"/>
              <a:t> е низ от </a:t>
            </a:r>
            <a:r>
              <a:rPr lang="ru-RU" altLang="en-US" sz="2400" dirty="0" err="1" smtClean="0"/>
              <a:t>знаци</a:t>
            </a:r>
            <a:r>
              <a:rPr lang="ru-RU" altLang="en-US" sz="2400" dirty="0" smtClean="0"/>
              <a:t>, </a:t>
            </a:r>
            <a:r>
              <a:rPr lang="ru-RU" altLang="en-US" sz="2400" dirty="0" err="1" smtClean="0"/>
              <a:t>принадлежащи</a:t>
            </a:r>
            <a:r>
              <a:rPr lang="ru-RU" altLang="en-US" sz="2400" dirty="0" smtClean="0"/>
              <a:t> на даден </a:t>
            </a:r>
            <a:r>
              <a:rPr lang="ru-RU" altLang="en-US" sz="2400" dirty="0" err="1" smtClean="0"/>
              <a:t>език</a:t>
            </a:r>
            <a:r>
              <a:rPr lang="en-US" altLang="en-US" sz="2400" dirty="0" smtClean="0"/>
              <a:t>. </a:t>
            </a:r>
          </a:p>
          <a:p>
            <a:pPr>
              <a:spcBef>
                <a:spcPts val="600"/>
              </a:spcBef>
            </a:pPr>
            <a:r>
              <a:rPr lang="bg-BG" altLang="en-US" sz="2800" dirty="0" smtClean="0"/>
              <a:t>Език</a:t>
            </a:r>
            <a:endParaRPr lang="en-US" altLang="en-US" sz="2800" dirty="0" smtClean="0"/>
          </a:p>
          <a:p>
            <a:pPr lvl="1"/>
            <a:r>
              <a:rPr lang="bg-BG" altLang="en-US" sz="2400" dirty="0" smtClean="0"/>
              <a:t>Множество от изречения</a:t>
            </a:r>
            <a:r>
              <a:rPr lang="en-US" altLang="en-US" sz="2400" dirty="0" smtClean="0"/>
              <a:t>.</a:t>
            </a:r>
          </a:p>
          <a:p>
            <a:pPr lvl="1"/>
            <a:r>
              <a:rPr lang="bg-BG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Метаезик</a:t>
            </a:r>
            <a:r>
              <a:rPr lang="bg-BG" altLang="en-US" sz="2400" dirty="0" smtClean="0"/>
              <a:t> е език за описание на друг език</a:t>
            </a:r>
            <a:r>
              <a:rPr lang="en-US" altLang="en-US" sz="2400" dirty="0" smtClean="0"/>
              <a:t>.</a:t>
            </a:r>
            <a:endParaRPr lang="en-US" altLang="en-US" sz="2400" dirty="0"/>
          </a:p>
          <a:p>
            <a:pPr>
              <a:spcBef>
                <a:spcPts val="600"/>
              </a:spcBef>
            </a:pPr>
            <a:r>
              <a:rPr lang="bg-BG" altLang="en-US" sz="2800" dirty="0" smtClean="0"/>
              <a:t>Граматика</a:t>
            </a:r>
            <a:endParaRPr lang="en-US" altLang="en-US" sz="2800" dirty="0" smtClean="0"/>
          </a:p>
          <a:p>
            <a:pPr lvl="1"/>
            <a:r>
              <a:rPr lang="bg-BG" altLang="en-US" sz="2400" dirty="0" smtClean="0"/>
              <a:t>Това е крайно, непразно множество от правила за изграждане на изреченията на даден език</a:t>
            </a:r>
            <a:r>
              <a:rPr lang="en-US" altLang="en-US" sz="2400" dirty="0" smtClean="0"/>
              <a:t>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7757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Как работи „на живо“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 последователни обработки и съответните резултати</a:t>
            </a:r>
            <a:r>
              <a:rPr lang="bg-BG" sz="2800" dirty="0"/>
              <a:t>.</a:t>
            </a:r>
            <a:endParaRPr lang="en-US" sz="2400" dirty="0" smtClean="0"/>
          </a:p>
        </p:txBody>
      </p:sp>
      <p:pic>
        <p:nvPicPr>
          <p:cNvPr id="1026" name="Picture 2" descr="Program life cycle IP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710" y="2019300"/>
            <a:ext cx="10439902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491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Етапи на работа: въвеждане на програмата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Програмистът въвежда </a:t>
            </a:r>
            <a:r>
              <a:rPr lang="bg-BG" sz="2800" dirty="0"/>
              <a:t>кода на програмата, написана на език за програмиране от  високо </a:t>
            </a:r>
            <a:r>
              <a:rPr lang="bg-BG" sz="2800" dirty="0" smtClean="0"/>
              <a:t>ниво и го записва с специфичен файл</a:t>
            </a:r>
          </a:p>
          <a:p>
            <a:pPr lvl="1"/>
            <a:r>
              <a:rPr lang="bg-BG" sz="2400" dirty="0" smtClean="0"/>
              <a:t>За изпълнение на тази задача се текстов редактор.</a:t>
            </a:r>
          </a:p>
          <a:p>
            <a:pPr lvl="1"/>
            <a:r>
              <a:rPr lang="bg-BG" sz="2400" dirty="0" smtClean="0"/>
              <a:t>Всеки текстов редактор може да се използва, но някои предоставят допълнителна поддръжка, подобряваща работоспособността: подчертаване и/или оцветяване на синтактични единици, автоматично генериране операторни структури, интегриран </a:t>
            </a:r>
            <a:r>
              <a:rPr lang="bg-BG" sz="2400" dirty="0" err="1" smtClean="0"/>
              <a:t>дебъгер</a:t>
            </a:r>
            <a:r>
              <a:rPr lang="bg-BG" sz="2400" dirty="0" smtClean="0"/>
              <a:t> и др.</a:t>
            </a:r>
            <a:endParaRPr lang="bg-BG" sz="20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212" y="3843990"/>
            <a:ext cx="6697663" cy="2878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876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 наличен файл с кода на програмата се стартира специализирана програма, наречена„</a:t>
            </a:r>
            <a:r>
              <a:rPr lang="bg-BG" dirty="0" err="1" smtClean="0"/>
              <a:t>предпроцесор</a:t>
            </a:r>
            <a:r>
              <a:rPr lang="bg-BG" dirty="0" smtClean="0"/>
              <a:t>“, която има за задача да извърши специфични текстови замени и корекции в програмния код.</a:t>
            </a:r>
          </a:p>
          <a:p>
            <a:pPr lvl="1"/>
            <a:r>
              <a:rPr lang="bg-BG" dirty="0" smtClean="0"/>
              <a:t>Преобразуванията, извършени от </a:t>
            </a:r>
            <a:r>
              <a:rPr lang="bg-BG" dirty="0" err="1" smtClean="0"/>
              <a:t>препроцесора</a:t>
            </a:r>
            <a:r>
              <a:rPr lang="bg-BG" dirty="0" smtClean="0"/>
              <a:t>, се управляват от специални команди към </a:t>
            </a:r>
            <a:r>
              <a:rPr lang="bg-BG" dirty="0" err="1" smtClean="0"/>
              <a:t>подпроцесора</a:t>
            </a:r>
            <a:r>
              <a:rPr lang="bg-BG" dirty="0" smtClean="0"/>
              <a:t>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compiler</a:t>
            </a:r>
            <a:r>
              <a:rPr lang="bg-BG" dirty="0" smtClean="0"/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directives</a:t>
            </a:r>
            <a:r>
              <a:rPr lang="bg-BG" dirty="0" smtClean="0"/>
              <a:t>), записани в програмния код от програмиста.</a:t>
            </a:r>
          </a:p>
          <a:p>
            <a:r>
              <a:rPr lang="bg-BG" dirty="0" smtClean="0"/>
              <a:t>Три основни обработки</a:t>
            </a:r>
          </a:p>
          <a:p>
            <a:pPr lvl="1"/>
            <a:r>
              <a:rPr lang="bg-BG" dirty="0" err="1" smtClean="0"/>
              <a:t>Макрогенерация</a:t>
            </a:r>
            <a:r>
              <a:rPr lang="bg-BG" dirty="0" smtClean="0"/>
              <a:t>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dirty="0"/>
              <a:t>macro </a:t>
            </a:r>
            <a:r>
              <a:rPr lang="en-US" dirty="0" smtClean="0"/>
              <a:t>definitions</a:t>
            </a:r>
            <a:r>
              <a:rPr lang="bg-BG" dirty="0" smtClean="0"/>
              <a:t>)</a:t>
            </a:r>
          </a:p>
          <a:p>
            <a:pPr lvl="1"/>
            <a:r>
              <a:rPr lang="bg-BG" dirty="0" smtClean="0"/>
              <a:t>Вмъкване на код от самостоятелен файл (</a:t>
            </a:r>
            <a:r>
              <a:rPr lang="bg-BG" dirty="0" err="1"/>
              <a:t>англ</a:t>
            </a:r>
            <a:r>
              <a:rPr lang="bg-BG" dirty="0"/>
              <a:t>. </a:t>
            </a:r>
            <a:r>
              <a:rPr lang="en-US" dirty="0" smtClean="0"/>
              <a:t>file inclusion</a:t>
            </a:r>
            <a:r>
              <a:rPr lang="bg-BG" dirty="0" smtClean="0"/>
              <a:t>)</a:t>
            </a:r>
          </a:p>
          <a:p>
            <a:pPr lvl="1"/>
            <a:r>
              <a:rPr lang="bg-BG" dirty="0" smtClean="0"/>
              <a:t>Условна компилация</a:t>
            </a:r>
            <a:r>
              <a:rPr lang="bg-BG" dirty="0"/>
              <a:t> (</a:t>
            </a:r>
            <a:r>
              <a:rPr lang="bg-BG" dirty="0" err="1"/>
              <a:t>англ</a:t>
            </a:r>
            <a:r>
              <a:rPr lang="bg-BG" dirty="0"/>
              <a:t>. </a:t>
            </a:r>
            <a:r>
              <a:rPr lang="en-US" dirty="0"/>
              <a:t>conditional </a:t>
            </a:r>
            <a:r>
              <a:rPr lang="en-US" dirty="0" smtClean="0"/>
              <a:t>compilation</a:t>
            </a:r>
            <a:r>
              <a:rPr lang="bg-BG" dirty="0" smtClean="0"/>
              <a:t>)</a:t>
            </a:r>
            <a:endParaRPr lang="bg-BG" dirty="0"/>
          </a:p>
          <a:p>
            <a:pPr lvl="1"/>
            <a:endParaRPr lang="bg-BG" dirty="0"/>
          </a:p>
          <a:p>
            <a:pPr lvl="1"/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1049001" cy="7249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 sz="3900" dirty="0"/>
              <a:t>Етапи на работа</a:t>
            </a:r>
            <a:r>
              <a:rPr lang="bg-BG" sz="3900" dirty="0" smtClean="0"/>
              <a:t>: </a:t>
            </a:r>
            <a:r>
              <a:rPr lang="bg-BG" sz="3900" dirty="0" err="1" smtClean="0"/>
              <a:t>предпроцесор</a:t>
            </a:r>
            <a:endParaRPr lang="en-US" sz="3900" dirty="0"/>
          </a:p>
        </p:txBody>
      </p:sp>
    </p:spTree>
    <p:extLst>
      <p:ext uri="{BB962C8B-B14F-4D97-AF65-F5344CB8AC3E}">
        <p14:creationId xmlns:p14="http://schemas.microsoft.com/office/powerpoint/2010/main" val="185462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макрогенерацията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/>
              <a:t>предпроцесорът</a:t>
            </a:r>
            <a:r>
              <a:rPr lang="bg-BG" dirty="0" smtClean="0"/>
              <a:t> заменя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макросите</a:t>
            </a:r>
            <a:r>
              <a:rPr lang="bg-BG" dirty="0" smtClean="0"/>
              <a:t> с тяхната дефиниция - тялото на макроса замества всяко появяване на името му в изходния код на програмата. </a:t>
            </a:r>
          </a:p>
          <a:p>
            <a:pPr lvl="1"/>
            <a:r>
              <a:rPr lang="bg-BG" sz="2400" dirty="0" smtClean="0"/>
              <a:t>Класическата дефиниция за „макрос“ е: „</a:t>
            </a:r>
            <a:r>
              <a:rPr lang="bg-BG" sz="2400" i="1" dirty="0" smtClean="0"/>
              <a:t>Това е фрагмент от програмен код, който има име и на етапа на </a:t>
            </a:r>
            <a:r>
              <a:rPr lang="bg-BG" sz="2400" i="1" dirty="0" err="1" smtClean="0"/>
              <a:t>предпроцесора</a:t>
            </a:r>
            <a:r>
              <a:rPr lang="bg-BG" sz="2400" i="1" dirty="0" smtClean="0"/>
              <a:t> името се заменя лексикографски с програмния код.“</a:t>
            </a:r>
          </a:p>
          <a:p>
            <a:pPr lvl="1"/>
            <a:r>
              <a:rPr lang="bg-BG" sz="2400" dirty="0" smtClean="0"/>
              <a:t>Има макроси с параметри и без параметри:</a:t>
            </a:r>
          </a:p>
          <a:p>
            <a:pPr lvl="2"/>
            <a:r>
              <a:rPr lang="bg-BG" sz="2000" dirty="0" smtClean="0"/>
              <a:t>Макросите без параметри е прието да се наричат "обектни макроси" (</a:t>
            </a:r>
            <a:r>
              <a:rPr lang="bg-BG" sz="2000" dirty="0" err="1" smtClean="0"/>
              <a:t>англ</a:t>
            </a:r>
            <a:r>
              <a:rPr lang="bg-BG" sz="2000" dirty="0" smtClean="0"/>
              <a:t>. </a:t>
            </a:r>
            <a:r>
              <a:rPr lang="bg-BG" sz="2000" dirty="0" err="1" smtClean="0"/>
              <a:t>object-like</a:t>
            </a:r>
            <a:r>
              <a:rPr lang="bg-BG" sz="2000" dirty="0" smtClean="0"/>
              <a:t> </a:t>
            </a:r>
            <a:r>
              <a:rPr lang="bg-BG" sz="2000" dirty="0" err="1" smtClean="0"/>
              <a:t>macros</a:t>
            </a:r>
            <a:r>
              <a:rPr lang="bg-BG" sz="2000" dirty="0" smtClean="0"/>
              <a:t>)</a:t>
            </a:r>
          </a:p>
          <a:p>
            <a:pPr lvl="2"/>
            <a:r>
              <a:rPr lang="bg-BG" sz="2000" dirty="0" smtClean="0"/>
              <a:t>Макросите s параметри е прието да се наричат "функционални макроси" (</a:t>
            </a:r>
            <a:r>
              <a:rPr lang="bg-BG" sz="2000" dirty="0" err="1" smtClean="0"/>
              <a:t>англ</a:t>
            </a:r>
            <a:r>
              <a:rPr lang="bg-BG" sz="2000" dirty="0" smtClean="0"/>
              <a:t>. </a:t>
            </a:r>
            <a:r>
              <a:rPr lang="bg-BG" sz="2000" dirty="0" err="1" smtClean="0"/>
              <a:t>function-like</a:t>
            </a:r>
            <a:r>
              <a:rPr lang="bg-BG" sz="2000" dirty="0" smtClean="0"/>
              <a:t> </a:t>
            </a:r>
            <a:r>
              <a:rPr lang="bg-BG" sz="2000" dirty="0" err="1" smtClean="0"/>
              <a:t>macros</a:t>
            </a:r>
            <a:r>
              <a:rPr lang="bg-BG" sz="2000" dirty="0" smtClean="0"/>
              <a:t>)</a:t>
            </a:r>
          </a:p>
          <a:p>
            <a:pPr lvl="1"/>
            <a:r>
              <a:rPr lang="bg-BG" sz="2400" dirty="0" smtClean="0"/>
              <a:t>За езици като C и C++ това е тривиално действие, но при някои езици (напр. </a:t>
            </a:r>
            <a:r>
              <a:rPr lang="bg-BG" sz="2400" dirty="0" err="1" smtClean="0"/>
              <a:t>Lisp</a:t>
            </a:r>
            <a:r>
              <a:rPr lang="bg-BG" sz="2400" dirty="0" smtClean="0"/>
              <a:t>) може да бъде доста сложно - типичен проблем в такива случаи е неправилното свързване на променливите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bg-BG" sz="2400" dirty="0" err="1" smtClean="0"/>
              <a:t>variable</a:t>
            </a:r>
            <a:r>
              <a:rPr lang="bg-BG" sz="2400" dirty="0" smtClean="0"/>
              <a:t> </a:t>
            </a:r>
            <a:r>
              <a:rPr lang="bg-BG" sz="2400" dirty="0" err="1" smtClean="0"/>
              <a:t>capture</a:t>
            </a:r>
            <a:r>
              <a:rPr lang="bg-BG" sz="2400" dirty="0" smtClean="0"/>
              <a:t>).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2" y="2867025"/>
            <a:ext cx="5916613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1049001" cy="7249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bg-BG" sz="3900" dirty="0" err="1" smtClean="0"/>
              <a:t>Предпроцесор</a:t>
            </a:r>
            <a:r>
              <a:rPr lang="bg-BG" sz="3900" dirty="0" smtClean="0"/>
              <a:t>: </a:t>
            </a:r>
            <a:r>
              <a:rPr lang="bg-BG" sz="3900" dirty="0" err="1" smtClean="0"/>
              <a:t>макрогенерация</a:t>
            </a:r>
            <a:endParaRPr lang="en-US" sz="3900" dirty="0"/>
          </a:p>
        </p:txBody>
      </p:sp>
      <p:sp>
        <p:nvSpPr>
          <p:cNvPr id="4" name="Rectangle 3"/>
          <p:cNvSpPr/>
          <p:nvPr/>
        </p:nvSpPr>
        <p:spPr>
          <a:xfrm>
            <a:off x="6018212" y="3086102"/>
            <a:ext cx="3657600" cy="457200"/>
          </a:xfrm>
          <a:prstGeom prst="rect">
            <a:avLst/>
          </a:prstGeom>
          <a:solidFill>
            <a:srgbClr val="9D2C23">
              <a:alpha val="3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434659" y="5143502"/>
            <a:ext cx="1281906" cy="381000"/>
          </a:xfrm>
          <a:prstGeom prst="rect">
            <a:avLst/>
          </a:prstGeom>
          <a:solidFill>
            <a:srgbClr val="0000CC">
              <a:alpha val="3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2" y="2867024"/>
            <a:ext cx="5916613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7467052" y="5143502"/>
            <a:ext cx="1827760" cy="381000"/>
          </a:xfrm>
          <a:prstGeom prst="rect">
            <a:avLst/>
          </a:prstGeom>
          <a:solidFill>
            <a:srgbClr val="0000CC">
              <a:alpha val="3294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3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Предпроцесор</a:t>
            </a:r>
            <a:r>
              <a:rPr lang="bg-BG" dirty="0" smtClean="0"/>
              <a:t>: вмъкване на код от файл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Тази функционалност на </a:t>
            </a:r>
            <a:r>
              <a:rPr lang="bg-BG" dirty="0" err="1" smtClean="0"/>
              <a:t>препроцесора</a:t>
            </a:r>
            <a:r>
              <a:rPr lang="bg-BG" dirty="0" smtClean="0"/>
              <a:t> ни позволява да разбием файла с програмния код на по-малки парчета, които да бъдат „събрани“ по време на компилацията. </a:t>
            </a:r>
          </a:p>
          <a:p>
            <a:pPr lvl="1"/>
            <a:r>
              <a:rPr lang="bg-BG" dirty="0" smtClean="0"/>
              <a:t>Това позволява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скриване </a:t>
            </a:r>
            <a:r>
              <a:rPr lang="bg-BG" dirty="0" smtClean="0"/>
              <a:t>на детайлите, което прави програмите по-четливи.</a:t>
            </a:r>
          </a:p>
          <a:p>
            <a:pPr lvl="2"/>
            <a:r>
              <a:rPr lang="bg-BG" dirty="0" smtClean="0"/>
              <a:t>Скриването е в отделни файлове, които </a:t>
            </a:r>
            <a:r>
              <a:rPr lang="bg-BG" dirty="0" err="1" smtClean="0"/>
              <a:t>препроцесора</a:t>
            </a:r>
            <a:r>
              <a:rPr lang="bg-BG" dirty="0" smtClean="0"/>
              <a:t> включва в изходния файл преди лексикалния анализ. </a:t>
            </a:r>
          </a:p>
          <a:p>
            <a:pPr lvl="2"/>
            <a:r>
              <a:rPr lang="bg-BG" dirty="0" smtClean="0"/>
              <a:t>Много често се използва включване на функционални прототипни (напр. за библиотечни функции), макроси, дефиниции на типове и класове, …</a:t>
            </a:r>
          </a:p>
          <a:p>
            <a:pPr lvl="2"/>
            <a:r>
              <a:rPr lang="bg-BG" dirty="0" smtClean="0"/>
              <a:t>Обикновено съответната команда на </a:t>
            </a:r>
            <a:r>
              <a:rPr lang="bg-BG" dirty="0" err="1" smtClean="0"/>
              <a:t>предпроцесора</a:t>
            </a:r>
            <a:r>
              <a:rPr lang="bg-BG" dirty="0" smtClean="0"/>
              <a:t> се разполага в началото на файловете с програмния код. </a:t>
            </a:r>
          </a:p>
          <a:p>
            <a:pPr lvl="1"/>
            <a:r>
              <a:rPr lang="bg-BG" dirty="0" smtClean="0"/>
              <a:t>Примери: #</a:t>
            </a:r>
            <a:r>
              <a:rPr lang="bg-BG" dirty="0" err="1" smtClean="0"/>
              <a:t>include</a:t>
            </a:r>
            <a:r>
              <a:rPr lang="bg-BG" dirty="0" smtClean="0"/>
              <a:t>  (C, C++, </a:t>
            </a:r>
            <a:r>
              <a:rPr lang="bg-BG" dirty="0" err="1" smtClean="0"/>
              <a:t>Python</a:t>
            </a:r>
            <a:r>
              <a:rPr lang="bg-BG" dirty="0" smtClean="0"/>
              <a:t>), </a:t>
            </a:r>
            <a:r>
              <a:rPr lang="bg-BG" dirty="0" err="1" smtClean="0"/>
              <a:t>import</a:t>
            </a:r>
            <a:r>
              <a:rPr lang="bg-BG" dirty="0" smtClean="0"/>
              <a:t> (</a:t>
            </a:r>
            <a:r>
              <a:rPr lang="bg-BG" dirty="0" err="1" smtClean="0"/>
              <a:t>Java</a:t>
            </a:r>
            <a:r>
              <a:rPr lang="bg-BG" dirty="0" smtClean="0"/>
              <a:t>), …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4636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Предпроцесор</a:t>
            </a:r>
            <a:r>
              <a:rPr lang="bg-BG" dirty="0" smtClean="0"/>
              <a:t>: условна компилация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 smtClean="0"/>
              <a:t>Условната компилация е функция на </a:t>
            </a:r>
            <a:r>
              <a:rPr lang="bg-BG" dirty="0" err="1" smtClean="0"/>
              <a:t>препроцесора</a:t>
            </a:r>
            <a:r>
              <a:rPr lang="bg-BG" dirty="0" smtClean="0"/>
              <a:t>,  която позволява да се избират кои фрагменти на програмата да се използват за генерация на изпълнимия код и кои фрагменти да не се използват. </a:t>
            </a:r>
          </a:p>
          <a:p>
            <a:pPr lvl="1"/>
            <a:r>
              <a:rPr lang="bg-BG" dirty="0" smtClean="0"/>
              <a:t>Управлението се извършва чрез проверка на константни стойности (вкл. и стойност на израз), като константните стойностите могат да се дефинират или по време на създаване на кода (статично в програмата), или като параметри на стартиране на компилатора.</a:t>
            </a:r>
          </a:p>
          <a:p>
            <a:pPr lvl="1"/>
            <a:r>
              <a:rPr lang="bg-BG" dirty="0" smtClean="0"/>
              <a:t>Пример: </a:t>
            </a:r>
            <a:endParaRPr lang="en-US" dirty="0" smtClean="0"/>
          </a:p>
          <a:p>
            <a:pPr lvl="2"/>
            <a:r>
              <a:rPr lang="en-US" dirty="0"/>
              <a:t>C, C</a:t>
            </a:r>
            <a:r>
              <a:rPr lang="en-US" dirty="0" smtClean="0"/>
              <a:t>++: #</a:t>
            </a:r>
            <a:r>
              <a:rPr lang="en-US" dirty="0"/>
              <a:t>if, #</a:t>
            </a:r>
            <a:r>
              <a:rPr lang="en-US" dirty="0" err="1"/>
              <a:t>elif</a:t>
            </a:r>
            <a:r>
              <a:rPr lang="en-US" dirty="0"/>
              <a:t>, #</a:t>
            </a:r>
            <a:r>
              <a:rPr lang="en-US" dirty="0" err="1"/>
              <a:t>ifdef</a:t>
            </a:r>
            <a:r>
              <a:rPr lang="en-US" dirty="0"/>
              <a:t>, #</a:t>
            </a:r>
            <a:r>
              <a:rPr lang="en-US" dirty="0" err="1"/>
              <a:t>ifndef</a:t>
            </a:r>
            <a:r>
              <a:rPr lang="en-US" dirty="0"/>
              <a:t>, #else и #</a:t>
            </a:r>
            <a:r>
              <a:rPr lang="en-US" dirty="0" err="1" smtClean="0"/>
              <a:t>endif</a:t>
            </a:r>
            <a:r>
              <a:rPr lang="bg-BG" dirty="0" smtClean="0"/>
              <a:t> </a:t>
            </a:r>
            <a:endParaRPr lang="en-US" dirty="0" smtClean="0"/>
          </a:p>
          <a:p>
            <a:pPr lvl="2"/>
            <a:r>
              <a:rPr lang="en-US" dirty="0"/>
              <a:t>Pascal: {$</a:t>
            </a:r>
            <a:r>
              <a:rPr lang="en-US" dirty="0" err="1"/>
              <a:t>ifdef</a:t>
            </a:r>
            <a:r>
              <a:rPr lang="en-US" dirty="0"/>
              <a:t>}, {$else</a:t>
            </a:r>
            <a:r>
              <a:rPr lang="bg-BG" dirty="0"/>
              <a:t>р}, {$</a:t>
            </a:r>
            <a:r>
              <a:rPr lang="en-US" dirty="0" err="1"/>
              <a:t>endif</a:t>
            </a:r>
            <a:r>
              <a:rPr lang="en-US" dirty="0"/>
              <a:t>}</a:t>
            </a:r>
            <a:endParaRPr lang="en-US" dirty="0" smtClean="0"/>
          </a:p>
          <a:p>
            <a:pPr lvl="1"/>
            <a:r>
              <a:rPr lang="bg-BG" dirty="0" smtClean="0"/>
              <a:t>Условното компилиране намира изключително голямо приложение при системи за генерирания програмен код според текущия хардуер</a:t>
            </a:r>
            <a:r>
              <a:rPr lang="en-US" dirty="0" smtClean="0"/>
              <a:t> (</a:t>
            </a:r>
            <a:r>
              <a:rPr lang="bg-BG" dirty="0" smtClean="0"/>
              <a:t>т.нар. </a:t>
            </a:r>
            <a:r>
              <a:rPr lang="en-US" dirty="0"/>
              <a:t>cross-platform development </a:t>
            </a:r>
            <a:r>
              <a:rPr lang="en-US" dirty="0" smtClean="0"/>
              <a:t>scenario</a:t>
            </a:r>
            <a:r>
              <a:rPr lang="bg-BG" dirty="0" smtClean="0"/>
              <a:t>).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2" y="2785756"/>
            <a:ext cx="4248150" cy="3738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72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Лексикален и Синтактичен анализ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Програмният език </a:t>
            </a:r>
            <a:r>
              <a:rPr lang="bg-BG" dirty="0" smtClean="0"/>
              <a:t>е потенциално безкрайно множество от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стрингове</a:t>
            </a:r>
            <a:r>
              <a:rPr lang="bg-BG" dirty="0" smtClean="0"/>
              <a:t> (понякога се наричат „изречения“): </a:t>
            </a:r>
          </a:p>
          <a:p>
            <a:pPr lvl="1"/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Изреченията </a:t>
            </a:r>
            <a:r>
              <a:rPr lang="bg-BG" dirty="0" smtClean="0"/>
              <a:t>са последователност от символи от дадена азбука.</a:t>
            </a:r>
          </a:p>
          <a:p>
            <a:pPr lvl="1"/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Знаците </a:t>
            </a:r>
            <a:r>
              <a:rPr lang="bg-BG" dirty="0" smtClean="0"/>
              <a:t>(</a:t>
            </a:r>
            <a:r>
              <a:rPr lang="bg-BG" dirty="0" err="1" smtClean="0"/>
              <a:t>англ</a:t>
            </a:r>
            <a:r>
              <a:rPr lang="bg-BG" dirty="0" smtClean="0"/>
              <a:t>.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tokens</a:t>
            </a:r>
            <a:r>
              <a:rPr lang="bg-BG" dirty="0" smtClean="0"/>
              <a:t>) на всяко изречение се подреждат според някаква структура.</a:t>
            </a:r>
          </a:p>
          <a:p>
            <a:pPr lvl="1"/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Граматиката </a:t>
            </a:r>
            <a:r>
              <a:rPr lang="bg-BG" dirty="0" smtClean="0"/>
              <a:t>е набор от правила, които описват един език, т.е. граматиките приписват структура на изречение.</a:t>
            </a:r>
          </a:p>
          <a:p>
            <a:pPr lvl="1"/>
            <a:r>
              <a:rPr lang="bg-BG" dirty="0" smtClean="0"/>
              <a:t>Компилаторите могат да разпознават (приемат) всички изречения на даден език и да отхвърлят онези, които не принадлежат към него.</a:t>
            </a:r>
          </a:p>
          <a:p>
            <a:pPr>
              <a:spcBef>
                <a:spcPts val="600"/>
              </a:spcBef>
            </a:pP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Лексикалният </a:t>
            </a:r>
            <a:r>
              <a:rPr lang="bg-BG" dirty="0" smtClean="0"/>
              <a:t>и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синтактическият анализ опростено </a:t>
            </a:r>
            <a:r>
              <a:rPr lang="bg-BG" dirty="0" smtClean="0"/>
              <a:t>може да се представят като машина, която приема програмен код и връща синтактични грешки, дървета с елементи за анализ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parse</a:t>
            </a:r>
            <a:r>
              <a:rPr lang="bg-BG" dirty="0" smtClean="0"/>
              <a:t> </a:t>
            </a:r>
            <a:r>
              <a:rPr lang="bg-BG" dirty="0" err="1" smtClean="0"/>
              <a:t>trees</a:t>
            </a:r>
            <a:r>
              <a:rPr lang="bg-BG" dirty="0" smtClean="0"/>
              <a:t>) и структури от данни.</a:t>
            </a:r>
          </a:p>
        </p:txBody>
      </p:sp>
    </p:spTree>
    <p:extLst>
      <p:ext uri="{BB962C8B-B14F-4D97-AF65-F5344CB8AC3E}">
        <p14:creationId xmlns:p14="http://schemas.microsoft.com/office/powerpoint/2010/main" val="187673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Лексикален</a:t>
            </a:r>
            <a:r>
              <a:rPr lang="ru-RU" dirty="0" smtClean="0"/>
              <a:t> </a:t>
            </a:r>
            <a:r>
              <a:rPr lang="ru-RU" dirty="0"/>
              <a:t>анализ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Лексикалният анализ </a:t>
            </a:r>
            <a:r>
              <a:rPr lang="bg-BG" sz="2800" dirty="0" smtClean="0"/>
              <a:t>е извличането на отделни думи или лексеми от входния поток от символи и преминаването на съответни </a:t>
            </a:r>
            <a:r>
              <a:rPr lang="bg-BG" sz="2800" dirty="0" err="1" smtClean="0"/>
              <a:t>токени</a:t>
            </a:r>
            <a:r>
              <a:rPr lang="bg-BG" sz="2800" dirty="0" smtClean="0"/>
              <a:t> обратно към анализатора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bg-BG" sz="2800" dirty="0" err="1" smtClean="0"/>
              <a:t>Parser</a:t>
            </a:r>
            <a:r>
              <a:rPr lang="bg-BG" sz="2800" dirty="0" smtClean="0"/>
              <a:t>)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Ако анализираме оператор от език за програмиране, трябва да сме в състояние да разпознаем малките </a:t>
            </a:r>
            <a:r>
              <a:rPr lang="bg-BG" sz="2400" dirty="0" err="1" smtClean="0"/>
              <a:t>синтаксидни</a:t>
            </a:r>
            <a:r>
              <a:rPr lang="bg-BG" sz="2400" dirty="0" smtClean="0"/>
              <a:t> единици (</a:t>
            </a:r>
            <a:r>
              <a:rPr lang="bg-BG" sz="2400" dirty="0" err="1" smtClean="0"/>
              <a:t>токъните</a:t>
            </a:r>
            <a:r>
              <a:rPr lang="bg-BG" sz="2400" dirty="0" smtClean="0"/>
              <a:t>) и да предадем тази информация на анализатора (</a:t>
            </a:r>
            <a:r>
              <a:rPr lang="bg-BG" sz="2400" dirty="0" err="1" smtClean="0"/>
              <a:t>жарг</a:t>
            </a:r>
            <a:r>
              <a:rPr lang="bg-BG" sz="2400" dirty="0" smtClean="0"/>
              <a:t>. </a:t>
            </a:r>
            <a:r>
              <a:rPr lang="bg-BG" sz="2400" dirty="0" err="1" smtClean="0"/>
              <a:t>парсъра</a:t>
            </a:r>
            <a:r>
              <a:rPr lang="bg-BG" sz="2400" dirty="0" smtClean="0"/>
              <a:t>).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Трябва също да съхраняваме различните атрибути за </a:t>
            </a:r>
            <a:r>
              <a:rPr lang="bg-BG" sz="2400" dirty="0" err="1" smtClean="0"/>
              <a:t>токъните</a:t>
            </a:r>
            <a:r>
              <a:rPr lang="bg-BG" sz="2400" dirty="0" smtClean="0"/>
              <a:t> и символни таблици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bg-BG" sz="2400" dirty="0" err="1" smtClean="0"/>
              <a:t>literal</a:t>
            </a:r>
            <a:r>
              <a:rPr lang="bg-BG" sz="2400" dirty="0" smtClean="0"/>
              <a:t> </a:t>
            </a:r>
            <a:r>
              <a:rPr lang="bg-BG" sz="2400" dirty="0" err="1" smtClean="0"/>
              <a:t>tables</a:t>
            </a:r>
            <a:r>
              <a:rPr lang="bg-BG" sz="2400" dirty="0" smtClean="0"/>
              <a:t>) за по-нататъшна употреба.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Пример: ако се анализира променлива, анализаторът трябва да разпознае </a:t>
            </a:r>
            <a:r>
              <a:rPr lang="bg-BG" sz="2000" dirty="0" err="1" smtClean="0"/>
              <a:t>токън</a:t>
            </a:r>
            <a:r>
              <a:rPr lang="bg-BG" sz="2000" dirty="0" smtClean="0"/>
              <a:t> „</a:t>
            </a:r>
            <a:r>
              <a:rPr lang="bg-BG" sz="2000" dirty="0" err="1" smtClean="0"/>
              <a:t>var</a:t>
            </a:r>
            <a:r>
              <a:rPr lang="bg-BG" sz="2000" dirty="0" smtClean="0"/>
              <a:t>“ и да асоциира следващата лексема като име на променлива в символната таблица.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Правилата могат да включват "запазени думи", които не могат да се използват като идентификатори.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Другите задачи на лексикалния анализатор включват отстраняването на празните символи и коментарите, обработката на директивите на </a:t>
            </a:r>
            <a:r>
              <a:rPr lang="bg-BG" sz="2400" dirty="0" err="1" smtClean="0"/>
              <a:t>препроцесор</a:t>
            </a:r>
            <a:r>
              <a:rPr lang="bg-BG" sz="2400" dirty="0" smtClean="0"/>
              <a:t>, и др.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71969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Лексикален</a:t>
            </a:r>
            <a:r>
              <a:rPr lang="ru-RU" dirty="0" smtClean="0"/>
              <a:t> </a:t>
            </a:r>
            <a:r>
              <a:rPr lang="ru-RU" dirty="0"/>
              <a:t>анализ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Лексикалният анализ </a:t>
            </a:r>
            <a:r>
              <a:rPr lang="bg-BG" sz="2800" dirty="0" smtClean="0"/>
              <a:t>е извличането на отделни думи или лексеми от входния поток от символи и преминаването на съответни </a:t>
            </a:r>
            <a:r>
              <a:rPr lang="bg-BG" sz="2800" dirty="0" err="1" smtClean="0"/>
              <a:t>токени</a:t>
            </a:r>
            <a:r>
              <a:rPr lang="bg-BG" sz="2800" dirty="0" smtClean="0"/>
              <a:t> обратно към анализатора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bg-BG" sz="2800" dirty="0" err="1" smtClean="0"/>
              <a:t>Parser</a:t>
            </a:r>
            <a:r>
              <a:rPr lang="bg-BG" sz="2800" dirty="0" smtClean="0"/>
              <a:t>)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Ако анализираме оператор от език за програмиране, трябва да сме в състояние да разпознаем малките </a:t>
            </a:r>
            <a:r>
              <a:rPr lang="bg-BG" sz="2400" dirty="0" err="1" smtClean="0"/>
              <a:t>синтаксидни</a:t>
            </a:r>
            <a:r>
              <a:rPr lang="bg-BG" sz="2400" dirty="0" smtClean="0"/>
              <a:t> единици (</a:t>
            </a:r>
            <a:r>
              <a:rPr lang="bg-BG" sz="2400" dirty="0" err="1" smtClean="0"/>
              <a:t>токъните</a:t>
            </a:r>
            <a:r>
              <a:rPr lang="bg-BG" sz="2400" dirty="0" smtClean="0"/>
              <a:t>) и да предадем тази информация на анализатора (</a:t>
            </a:r>
            <a:r>
              <a:rPr lang="bg-BG" sz="2400" dirty="0" err="1" smtClean="0"/>
              <a:t>жарг</a:t>
            </a:r>
            <a:r>
              <a:rPr lang="bg-BG" sz="2400" dirty="0" smtClean="0"/>
              <a:t>. </a:t>
            </a:r>
            <a:r>
              <a:rPr lang="bg-BG" sz="2400" dirty="0" err="1" smtClean="0"/>
              <a:t>парсъра</a:t>
            </a:r>
            <a:r>
              <a:rPr lang="bg-BG" sz="2400" dirty="0" smtClean="0"/>
              <a:t>).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Трябва също да съхраняваме различните атрибути за </a:t>
            </a:r>
            <a:r>
              <a:rPr lang="bg-BG" sz="2400" dirty="0" err="1" smtClean="0"/>
              <a:t>токъните</a:t>
            </a:r>
            <a:r>
              <a:rPr lang="bg-BG" sz="2400" dirty="0" smtClean="0"/>
              <a:t> и символни таблици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bg-BG" sz="2400" dirty="0" err="1" smtClean="0"/>
              <a:t>literal</a:t>
            </a:r>
            <a:r>
              <a:rPr lang="bg-BG" sz="2400" dirty="0" smtClean="0"/>
              <a:t> </a:t>
            </a:r>
            <a:r>
              <a:rPr lang="bg-BG" sz="2400" dirty="0" err="1" smtClean="0"/>
              <a:t>tables</a:t>
            </a:r>
            <a:r>
              <a:rPr lang="bg-BG" sz="2400" dirty="0" smtClean="0"/>
              <a:t>) за по-нататъшна употреба.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Пример: ако се анализира променлива, анализаторът трябва да разпознае </a:t>
            </a:r>
            <a:r>
              <a:rPr lang="bg-BG" sz="2000" dirty="0" err="1" smtClean="0"/>
              <a:t>токън</a:t>
            </a:r>
            <a:r>
              <a:rPr lang="bg-BG" sz="2000" dirty="0" smtClean="0"/>
              <a:t> „</a:t>
            </a:r>
            <a:r>
              <a:rPr lang="bg-BG" sz="2000" dirty="0" err="1" smtClean="0"/>
              <a:t>var</a:t>
            </a:r>
            <a:r>
              <a:rPr lang="bg-BG" sz="2000" dirty="0" smtClean="0"/>
              <a:t>“ и да асоциира следващата лексема като име на променлива в символната таблица.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Правилата могат да включват "запазени думи", които не могат да се използват като идентификатори.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Другите задачи на лексикалния анализатор включват отстраняването на празните символи и коментарите, обработката на директивите на </a:t>
            </a:r>
            <a:r>
              <a:rPr lang="bg-BG" sz="2400" dirty="0" err="1" smtClean="0"/>
              <a:t>препроцесор</a:t>
            </a:r>
            <a:r>
              <a:rPr lang="bg-BG" sz="2400" dirty="0" smtClean="0"/>
              <a:t>, и др.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278352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Синтактичен</a:t>
            </a:r>
            <a:r>
              <a:rPr lang="ru-RU" dirty="0" smtClean="0"/>
              <a:t> анализ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Основната задача на </a:t>
            </a: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синтактичния анализ </a:t>
            </a:r>
            <a:r>
              <a:rPr lang="bg-BG" sz="2800" dirty="0" smtClean="0"/>
              <a:t>(т.нар. </a:t>
            </a:r>
            <a:r>
              <a:rPr lang="bg-BG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parser</a:t>
            </a:r>
            <a:r>
              <a:rPr lang="bg-BG" sz="2800" dirty="0" smtClean="0"/>
              <a:t>) е да определи дали дадена серия от символи е коректна за езика.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Най-често това се свежда до проверка дали изреченията имат коректна форма.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Не всички синтактически коректни изречения, имат коректен </a:t>
            </a:r>
            <a:r>
              <a:rPr lang="bg-BG" sz="2000" dirty="0" err="1" smtClean="0"/>
              <a:t>семнатичен</a:t>
            </a:r>
            <a:r>
              <a:rPr lang="bg-BG" sz="2000" dirty="0" smtClean="0"/>
              <a:t> смисъл.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Граматиките без контекст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bg-BG" sz="2400" dirty="0" err="1" smtClean="0"/>
              <a:t>context-free</a:t>
            </a:r>
            <a:r>
              <a:rPr lang="bg-BG" sz="2400" dirty="0" smtClean="0"/>
              <a:t> </a:t>
            </a:r>
            <a:r>
              <a:rPr lang="bg-BG" sz="2400" dirty="0" err="1" smtClean="0"/>
              <a:t>grammars</a:t>
            </a:r>
            <a:r>
              <a:rPr lang="bg-BG" sz="2400" dirty="0" smtClean="0"/>
              <a:t> - CFG) и свързаните с тях техники за анализ са достатъчно мощни, за да бъдат използвани в процеса на синтактичен анализ.</a:t>
            </a:r>
          </a:p>
          <a:p>
            <a:pPr>
              <a:spcBef>
                <a:spcPts val="300"/>
              </a:spcBef>
            </a:pPr>
            <a:r>
              <a:rPr lang="bg-BG" sz="2800" dirty="0" smtClean="0"/>
              <a:t>В синтактичен анализ, дървото на анализа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bg-BG" sz="2800" dirty="0" err="1" smtClean="0"/>
              <a:t>parse</a:t>
            </a:r>
            <a:r>
              <a:rPr lang="bg-BG" sz="2800" dirty="0" smtClean="0"/>
              <a:t> </a:t>
            </a:r>
            <a:r>
              <a:rPr lang="bg-BG" sz="2800" dirty="0" err="1" smtClean="0"/>
              <a:t>tree</a:t>
            </a:r>
            <a:r>
              <a:rPr lang="bg-BG" sz="2800" dirty="0" smtClean="0"/>
              <a:t>) се използва за да разкрие структурата на изречението, но често съдържат излишна информация поради имплицитни дефиниции, 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 такива случаи се използват други конструкции за описание на изречението.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60961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Синтактичен</a:t>
            </a:r>
            <a:r>
              <a:rPr lang="ru-RU" dirty="0"/>
              <a:t> анализ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638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800" dirty="0" smtClean="0"/>
              <a:t>Реализация: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Процесът на разпознаване на </a:t>
            </a:r>
            <a:r>
              <a:rPr lang="bg-BG" sz="2400" dirty="0" err="1" smtClean="0"/>
              <a:t>токъните</a:t>
            </a:r>
            <a:r>
              <a:rPr lang="bg-BG" sz="2400" dirty="0" smtClean="0"/>
              <a:t> се състои в последователно подаване на символите през няколко последователни разпознавателя, докато някой от тези разпознаватели не каже, че е разпознал конкретен вид </a:t>
            </a:r>
            <a:r>
              <a:rPr lang="bg-BG" sz="2400" dirty="0" err="1" smtClean="0"/>
              <a:t>токън</a:t>
            </a:r>
            <a:r>
              <a:rPr lang="bg-BG" sz="24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Разпознавателите биват: на ключови думи, на идентификатори, на числови константи, на символни константи, на низови константи, на …</a:t>
            </a: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Всеки от разпознавателите има собствени правила за завършване.</a:t>
            </a:r>
          </a:p>
        </p:txBody>
      </p:sp>
    </p:spTree>
    <p:extLst>
      <p:ext uri="{BB962C8B-B14F-4D97-AF65-F5344CB8AC3E}">
        <p14:creationId xmlns:p14="http://schemas.microsoft.com/office/powerpoint/2010/main" val="176554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Семантичен анализ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Семантичният анализ </a:t>
            </a:r>
            <a:r>
              <a:rPr lang="bg-BG" altLang="en-US" sz="2800" dirty="0" smtClean="0"/>
              <a:t>е фазата, в която компилаторът добавя </a:t>
            </a:r>
            <a:r>
              <a:rPr lang="bg-BG" altLang="en-US" sz="2800" i="1" dirty="0" smtClean="0"/>
              <a:t>семантична информация</a:t>
            </a:r>
            <a:r>
              <a:rPr lang="bg-BG" altLang="en-US" sz="2800" dirty="0" smtClean="0"/>
              <a:t> към дървото на анализа и изгражда </a:t>
            </a:r>
            <a:r>
              <a:rPr lang="bg-BG" altLang="en-US" sz="2800" i="1" dirty="0" smtClean="0"/>
              <a:t>таблицата със символи</a:t>
            </a:r>
            <a:r>
              <a:rPr lang="bg-BG" altLang="en-US" sz="2800" dirty="0" smtClean="0"/>
              <a:t>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Извършват се семантични проверки и обработки като: 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статично свързване на променливи/функции/обекти (</a:t>
            </a:r>
            <a:r>
              <a:rPr lang="bg-BG" altLang="en-US" sz="2000" dirty="0" err="1" smtClean="0"/>
              <a:t>англ</a:t>
            </a:r>
            <a:r>
              <a:rPr lang="bg-BG" altLang="en-US" sz="2000" dirty="0" smtClean="0"/>
              <a:t>.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binding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bg-BG" altLang="en-US" sz="2000" dirty="0" smtClean="0"/>
              <a:t> – това процес на свързване на имена на променливи/функции/… с тяхната дефиниция.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проверка за променливите при присвояване (</a:t>
            </a:r>
            <a:r>
              <a:rPr lang="bg-BG" altLang="en-US" sz="2000" dirty="0" err="1" smtClean="0"/>
              <a:t>англ</a:t>
            </a:r>
            <a:r>
              <a:rPr lang="bg-BG" altLang="en-US" sz="2000" dirty="0" smtClean="0"/>
              <a:t>.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definite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bg-BG" altLang="en-US" sz="2000" dirty="0" smtClean="0"/>
              <a:t>) - проверка за инициализация на променливите преди използване (т.е. явно и неявно присвояване) 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проверка за типова коректност (</a:t>
            </a:r>
            <a:r>
              <a:rPr lang="bg-BG" altLang="en-US" sz="2000" dirty="0" err="1" smtClean="0"/>
              <a:t>англ</a:t>
            </a:r>
            <a:r>
              <a:rPr lang="bg-BG" altLang="en-US" sz="2000" dirty="0" smtClean="0"/>
              <a:t>.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checking</a:t>
            </a:r>
            <a:r>
              <a:rPr lang="bg-BG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bg-BG" altLang="en-US" sz="2000" dirty="0" smtClean="0"/>
              <a:t> – проверява се за допустимост на типа на програмния елемент в дадената синтактична конструкция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премахване на некоректни елементи – премахване на неправилен код (напр. безсмислени цикли и др.)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bg-BG" altLang="en-US" sz="2000" dirty="0" smtClean="0"/>
              <a:t>генерация на предупреждения за потенциална грешка. </a:t>
            </a:r>
            <a:endParaRPr lang="bg-BG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5272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Семантичен анализ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bg-BG" altLang="en-US" sz="2800" dirty="0" smtClean="0"/>
              <a:t>Семантичният анализ обикновено изисква напълно изградено дърво на анализа, т.е. тази фаза задължително започва след пълното завършване на синтактичния анализ.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Тази фаза логически предшества фазата на генериране на код, защото при успешно завършване се гарантира синтактичната и семантичната коректност на програмата.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altLang="en-US" sz="2400" dirty="0" smtClean="0"/>
              <a:t>Контекстно-свободните граматики не могат да изразят всички особености на семантичната валидност на променливи и на други класове идентификатори, което налага използването на други граматики за задачите на тази фаза – пример за такива граматики са „атрибутните граматики“ (</a:t>
            </a:r>
            <a:r>
              <a:rPr lang="bg-BG" altLang="en-US" sz="2400" dirty="0" err="1" smtClean="0"/>
              <a:t>англ</a:t>
            </a:r>
            <a:r>
              <a:rPr lang="bg-BG" altLang="en-US" sz="2400" dirty="0" smtClean="0"/>
              <a:t>. </a:t>
            </a:r>
            <a:r>
              <a:rPr lang="bg-BG" altLang="en-US" sz="2400" i="1" dirty="0" err="1" smtClean="0"/>
              <a:t>attribute</a:t>
            </a:r>
            <a:r>
              <a:rPr lang="bg-BG" altLang="en-US" sz="2400" i="1" dirty="0" smtClean="0"/>
              <a:t> </a:t>
            </a:r>
            <a:r>
              <a:rPr lang="bg-BG" altLang="en-US" sz="2400" i="1" dirty="0" err="1" smtClean="0"/>
              <a:t>grammars</a:t>
            </a:r>
            <a:r>
              <a:rPr lang="bg-BG" altLang="en-US" sz="2400" dirty="0" smtClean="0"/>
              <a:t>), които позволяват</a:t>
            </a:r>
            <a:r>
              <a:rPr lang="bg-BG" altLang="en-US" sz="2400" i="1" dirty="0" smtClean="0"/>
              <a:t> разпространяването (миграцията) </a:t>
            </a:r>
            <a:r>
              <a:rPr lang="bg-BG" altLang="en-US" sz="2400" dirty="0" smtClean="0"/>
              <a:t>на </a:t>
            </a:r>
            <a:r>
              <a:rPr lang="bg-BG" altLang="en-US" sz="2400" dirty="0" err="1" smtClean="0"/>
              <a:t>атрибитите</a:t>
            </a:r>
            <a:r>
              <a:rPr lang="bg-BG" altLang="en-US" sz="2400" dirty="0" smtClean="0"/>
              <a:t> между </a:t>
            </a:r>
            <a:r>
              <a:rPr lang="bg-BG" altLang="en-US" sz="2400" dirty="0" err="1" smtClean="0"/>
              <a:t>токъните</a:t>
            </a:r>
            <a:r>
              <a:rPr lang="bg-BG" altLang="en-US" sz="2400" dirty="0" smtClean="0"/>
              <a:t>.</a:t>
            </a:r>
            <a:endParaRPr lang="bg-BG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107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Оптимизацията </a:t>
            </a:r>
            <a:r>
              <a:rPr lang="bg-BG" sz="2800" dirty="0" smtClean="0"/>
              <a:t>на програмния код е метод за подобряване на качеството на кода и неговата ефективност.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400" dirty="0" smtClean="0"/>
              <a:t>Стремежът е програмата да стане по-малък размер, да </a:t>
            </a:r>
            <a:r>
              <a:rPr lang="bg-BG" sz="2400" dirty="0"/>
              <a:t>се изпълнява </a:t>
            </a:r>
            <a:r>
              <a:rPr lang="bg-BG" sz="2400" dirty="0" smtClean="0"/>
              <a:t>по-бързо , да се използва по-рационално някакъв ресурс (оперативна памет, дисково пространство</a:t>
            </a:r>
            <a:r>
              <a:rPr lang="bg-BG" sz="2400" dirty="0"/>
              <a:t>, </a:t>
            </a:r>
            <a:r>
              <a:rPr lang="bg-BG" sz="2400" dirty="0" smtClean="0"/>
              <a:t>пропускателна способност, …), да изпълнява по-малко I/O операции, както и много други възможности.</a:t>
            </a:r>
          </a:p>
          <a:p>
            <a:pPr lvl="2">
              <a:lnSpc>
                <a:spcPct val="80000"/>
              </a:lnSpc>
              <a:spcBef>
                <a:spcPts val="300"/>
              </a:spcBef>
            </a:pPr>
            <a:r>
              <a:rPr lang="bg-BG" sz="2000" dirty="0" smtClean="0"/>
              <a:t>Трябва да се намери „тясното място“ и то да се промени така, че да се получи нужния резултат</a:t>
            </a:r>
            <a:endParaRPr lang="en-US" sz="2000" dirty="0" smtClean="0"/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400" dirty="0" smtClean="0"/>
              <a:t>Обикновено оптимизацията иска компромиси – едни действия са за сметка на други (напр. оптимизацията по размер води най-често до по-бавни програми).</a:t>
            </a:r>
            <a:endParaRPr lang="bg-BG" dirty="0" smtClean="0"/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bg-BG" sz="2800" dirty="0" smtClean="0"/>
              <a:t>Основните изисквания към оптимизацията са две: 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400" dirty="0" smtClean="0"/>
              <a:t>Оптимизираната и </a:t>
            </a:r>
            <a:r>
              <a:rPr lang="bg-BG" sz="2400" dirty="0"/>
              <a:t>неоптимизираната версия трябва да има еднакви резултати от работата </a:t>
            </a:r>
            <a:r>
              <a:rPr lang="bg-BG" sz="2400" dirty="0" smtClean="0"/>
              <a:t>си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400" dirty="0" smtClean="0"/>
              <a:t>Странични ефекти от изпълненията </a:t>
            </a:r>
            <a:r>
              <a:rPr lang="bg-BG" sz="2400" dirty="0"/>
              <a:t>също трябва да са еднакви.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400" dirty="0" smtClean="0"/>
              <a:t>Изискванията може да не се спазят ако ползата от оптимизацията е по-важна от вероятните последици от промяна в поведението на програмата. </a:t>
            </a:r>
          </a:p>
        </p:txBody>
      </p:sp>
    </p:spTree>
    <p:extLst>
      <p:ext uri="{BB962C8B-B14F-4D97-AF65-F5344CB8AC3E}">
        <p14:creationId xmlns:p14="http://schemas.microsoft.com/office/powerpoint/2010/main" val="322700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bg-BG" sz="2600" dirty="0" smtClean="0"/>
              <a:t>В </a:t>
            </a:r>
            <a:r>
              <a:rPr lang="bg-BG" sz="2600" dirty="0"/>
              <a:t>компилаторите се използва два вида оптимизация: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/>
              <a:t>Оптимизация на високо ниво (т.нар. алгоритмична оптимизация) – това е оптимизация, която се управлява от програмиста чрез съответни опции, задавани при стартиране на компилатора.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/>
              <a:t>Оптимизация от ниско ниво (т.нар. оптимизация на изпълнимия код) – това е оптимизация, извършвана автоматично от компилатора върху асемблерния код, отчитайки спецификата на конкретната </a:t>
            </a:r>
            <a:r>
              <a:rPr lang="en-US" sz="2200" dirty="0"/>
              <a:t>ISA</a:t>
            </a:r>
            <a:r>
              <a:rPr lang="bg-BG" sz="2200" dirty="0" smtClean="0"/>
              <a:t>.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bg-BG" sz="2600" dirty="0" smtClean="0"/>
              <a:t>Основни принципи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smtClean="0"/>
              <a:t>Намаляване на излишъка: например, ако нещо вече е изчислено няма защо да се прави пак.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smtClean="0"/>
              <a:t>Компактност на кода – премахват се излишни изчисления и съхранение на междинни резултати.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smtClean="0"/>
              <a:t>Намаляване на преходите – това е особено важно при бързодействието, но увеличава паметта (пример: </a:t>
            </a:r>
            <a:r>
              <a:rPr lang="en-US" sz="2200" dirty="0" smtClean="0"/>
              <a:t>inline-</a:t>
            </a:r>
            <a:r>
              <a:rPr lang="bg-BG" sz="2200" dirty="0" smtClean="0"/>
              <a:t>функциите в </a:t>
            </a:r>
            <a:r>
              <a:rPr lang="en-US" sz="2200" dirty="0" smtClean="0"/>
              <a:t>C++)</a:t>
            </a:r>
            <a:endParaRPr lang="bg-BG" sz="2200" dirty="0" smtClean="0"/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err="1" smtClean="0"/>
              <a:t>Локалност</a:t>
            </a:r>
            <a:r>
              <a:rPr lang="bg-BG" sz="2200" dirty="0" smtClean="0"/>
              <a:t> – съседни операции би трябвало да използват „съседни“ данни.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smtClean="0"/>
              <a:t>Йерархия на паметта – най-често използваните трябва да са в регистрите.</a:t>
            </a:r>
          </a:p>
          <a:p>
            <a:pPr lvl="1">
              <a:lnSpc>
                <a:spcPct val="80000"/>
              </a:lnSpc>
              <a:spcBef>
                <a:spcPts val="300"/>
              </a:spcBef>
            </a:pPr>
            <a:r>
              <a:rPr lang="bg-BG" sz="2200" dirty="0" smtClean="0"/>
              <a:t>Паралелност – където е възможно кодът трябва да се изпълнява паралелно.</a:t>
            </a:r>
            <a:endParaRPr lang="bg-BG" sz="2200" dirty="0"/>
          </a:p>
        </p:txBody>
      </p:sp>
    </p:spTree>
    <p:extLst>
      <p:ext uri="{BB962C8B-B14F-4D97-AF65-F5344CB8AC3E}">
        <p14:creationId xmlns:p14="http://schemas.microsoft.com/office/powerpoint/2010/main" val="87927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 на алгоритмично ниво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600" dirty="0" smtClean="0"/>
              <a:t>Този вид оптимизация на програмата (</a:t>
            </a:r>
            <a:r>
              <a:rPr lang="bg-BG" sz="2600" dirty="0" err="1" smtClean="0"/>
              <a:t>англ</a:t>
            </a:r>
            <a:r>
              <a:rPr lang="bg-BG" sz="2600" dirty="0" smtClean="0"/>
              <a:t>. 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level optimization</a:t>
            </a:r>
            <a:r>
              <a:rPr lang="en-US" sz="2600" dirty="0" smtClean="0"/>
              <a:t>) </a:t>
            </a:r>
            <a:r>
              <a:rPr lang="bg-BG" sz="2600" dirty="0" smtClean="0"/>
              <a:t>е предназначена да подобри качеството и ефективността на програмния код на език от високо ниво. </a:t>
            </a:r>
            <a:endParaRPr lang="en-US" sz="2600" dirty="0" smtClean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Локални методи за оптимизация – тези методи реализират оптимизация само върху малка част от кода, поради което са по-лесни за реализация.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Глобални методи за оптимизация – тези методи реализират оптимизация на цялата програма, поради което много често са по-успешни.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600" dirty="0" smtClean="0"/>
              <a:t>Основни видове: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Оптимизация по съседство (</a:t>
            </a:r>
            <a:r>
              <a:rPr lang="bg-BG" sz="2200" dirty="0" err="1" smtClean="0"/>
              <a:t>англ</a:t>
            </a:r>
            <a:r>
              <a:rPr lang="bg-BG" sz="2200" dirty="0" smtClean="0"/>
              <a:t>. </a:t>
            </a:r>
            <a:r>
              <a:rPr lang="en-US" sz="2200" dirty="0" smtClean="0"/>
              <a:t>Peephole optimization)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Локална оптимизация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Вътрешно-процедурна оптимизация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err="1" smtClean="0"/>
              <a:t>Междупроцедурна</a:t>
            </a:r>
            <a:r>
              <a:rPr lang="bg-BG" sz="2200" dirty="0" smtClean="0"/>
              <a:t> оптимизация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Оптимизация на цикли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/>
              <a:t>Оптимизация на потока от данни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/>
              <a:t>Оптимизация по скорост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200" dirty="0" smtClean="0"/>
              <a:t>Оптимизация по размер</a:t>
            </a:r>
          </a:p>
        </p:txBody>
      </p:sp>
    </p:spTree>
    <p:extLst>
      <p:ext uri="{BB962C8B-B14F-4D97-AF65-F5344CB8AC3E}">
        <p14:creationId xmlns:p14="http://schemas.microsoft.com/office/powerpoint/2010/main" val="266169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 на алгоритмично ниво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86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400" dirty="0"/>
              <a:t>Оптимизация по съседство (</a:t>
            </a:r>
            <a:r>
              <a:rPr lang="bg-BG" sz="2400" dirty="0" err="1"/>
              <a:t>англ</a:t>
            </a:r>
            <a:r>
              <a:rPr lang="bg-BG" sz="2400" dirty="0"/>
              <a:t>. </a:t>
            </a:r>
            <a:r>
              <a:rPr lang="en-US" sz="2400" dirty="0"/>
              <a:t>Peephole optimization)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Това е локален вид оптимизация, която работи върху малка група инструкции и проверява дали не може да ги оптимизира, напр. да ги замени с по-малък брой операции, с по-бързи операции или други.</a:t>
            </a: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bg-BG" sz="1800" dirty="0" smtClean="0"/>
              <a:t>Пример: умножението на цяло число може да се замени с преместване на 1 разряд надясно.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Локална оптимизация (наричана и „блокова“)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В класическата си форма тя се извършва на ниво програмен блок – алгоритмите са по-лесни, защото няма </a:t>
            </a:r>
            <a:r>
              <a:rPr lang="bg-BG" sz="2000" dirty="0" err="1" smtClean="0"/>
              <a:t>извънблокови</a:t>
            </a:r>
            <a:r>
              <a:rPr lang="bg-BG" sz="2000" dirty="0" smtClean="0"/>
              <a:t> преходи.</a:t>
            </a:r>
          </a:p>
          <a:p>
            <a:pPr marL="347663" lvl="1" indent="-347663">
              <a:lnSpc>
                <a:spcPct val="100000"/>
              </a:lnSpc>
              <a:spcBef>
                <a:spcPts val="3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sz="2400" dirty="0"/>
              <a:t>Вътрешно-процедурна оптимизация (</a:t>
            </a:r>
            <a:r>
              <a:rPr lang="bg-BG" sz="2400" dirty="0" err="1"/>
              <a:t>англ</a:t>
            </a:r>
            <a:r>
              <a:rPr lang="bg-BG" sz="2400" dirty="0"/>
              <a:t>. </a:t>
            </a:r>
            <a:r>
              <a:rPr lang="en-US" sz="2400" dirty="0" err="1" smtClean="0"/>
              <a:t>Intraprocedural</a:t>
            </a:r>
            <a:r>
              <a:rPr lang="bg-BG" sz="2400" dirty="0" smtClean="0"/>
              <a:t> </a:t>
            </a:r>
            <a:r>
              <a:rPr lang="en-US" sz="2400" dirty="0" smtClean="0"/>
              <a:t>optimization</a:t>
            </a:r>
            <a:r>
              <a:rPr lang="bg-BG" sz="2400" dirty="0" smtClean="0"/>
              <a:t>)</a:t>
            </a:r>
            <a:endParaRPr lang="bg-BG" sz="2400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Това е глобален вид оптимизация, която работи върху една цяла компилативна единица (напр. подпрограма).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Използват се много повече ресурси, което може да даде по-добър краен резултат спрямо локалната (блокова) оптимизация, но по-сложна за реализация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При наличие на глобални данни може да не доведе до търсените резултати.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483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 на алгоритмично ниво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86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800" dirty="0"/>
              <a:t>Оптимизация </a:t>
            </a:r>
            <a:r>
              <a:rPr lang="bg-BG" sz="2800" dirty="0" smtClean="0"/>
              <a:t>по цикли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/>
              <a:t>Оптимизация чрез разделяне на диапазона на условието – един цикъл се разделя на няколко, чиито условия се явяват производни от главното </a:t>
            </a:r>
            <a:r>
              <a:rPr lang="bg-BG" sz="2400" dirty="0" smtClean="0"/>
              <a:t>условие</a:t>
            </a:r>
            <a:r>
              <a:rPr lang="en-US" sz="2400" dirty="0" smtClean="0"/>
              <a:t>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</a:t>
            </a:r>
            <a:r>
              <a:rPr lang="bg-BG" sz="2400" dirty="0"/>
              <a:t>чрез инверсия – замяна на цикъла от </a:t>
            </a:r>
            <a:r>
              <a:rPr lang="en-US" sz="2400" dirty="0"/>
              <a:t>While-Do (</a:t>
            </a:r>
            <a:r>
              <a:rPr lang="bg-BG" sz="2400" dirty="0"/>
              <a:t>цикъл с предусловие) на </a:t>
            </a:r>
            <a:r>
              <a:rPr lang="en-US" sz="2400" dirty="0"/>
              <a:t>Do-While</a:t>
            </a:r>
            <a:r>
              <a:rPr lang="bg-BG" sz="2400" dirty="0"/>
              <a:t> (цикъл с </a:t>
            </a:r>
            <a:r>
              <a:rPr lang="bg-BG" sz="2400" dirty="0" err="1"/>
              <a:t>послеусловие</a:t>
            </a:r>
            <a:r>
              <a:rPr lang="bg-BG" sz="2400" dirty="0"/>
              <a:t>).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/>
              <a:t>Оптимизация чрез обединяване – няколко последователни цикъла се обединяват в един общ.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/>
              <a:t>Оптимизация чрез разделяне на тялото – от един общ цикъл с голямо тяло се създават няколко по-малки, при което тези няколко нови цикъла се изпълняват сумарно по-бързо или с по-малко ресурси.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</a:t>
            </a:r>
            <a:r>
              <a:rPr lang="bg-BG" sz="2400" dirty="0"/>
              <a:t>чрез „понижаване на силата на операцията</a:t>
            </a:r>
            <a:r>
              <a:rPr lang="bg-BG" sz="2400" dirty="0" smtClean="0"/>
              <a:t>“.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endParaRPr lang="bg-BG" sz="2000" dirty="0" smtClean="0"/>
          </a:p>
        </p:txBody>
      </p:sp>
    </p:spTree>
    <p:extLst>
      <p:ext uri="{BB962C8B-B14F-4D97-AF65-F5344CB8AC3E}">
        <p14:creationId xmlns:p14="http://schemas.microsoft.com/office/powerpoint/2010/main" val="340680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 на алгоритмично ниво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864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bg-BG" sz="2800" dirty="0"/>
              <a:t>Оптимизация </a:t>
            </a:r>
            <a:r>
              <a:rPr lang="bg-BG" sz="2800" dirty="0" smtClean="0"/>
              <a:t>на потока на данните</a:t>
            </a:r>
            <a:endParaRPr lang="en-US" sz="2800" dirty="0"/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Извършва се съвместен анализ на потока на данните и графа на потока на командите (вкл. цикличните структури в графа).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чрез премахване на общи под-изрази – извършва се анализ за еднакви изрази и възможността им за замяна с една крайно стойност.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по константи – оптимизация на изразите, в които има константи, при което се намаляват изчисленията чрез обединяване на константите.</a:t>
            </a:r>
          </a:p>
          <a:p>
            <a:pPr lvl="2">
              <a:lnSpc>
                <a:spcPct val="100000"/>
              </a:lnSpc>
              <a:spcBef>
                <a:spcPts val="300"/>
              </a:spcBef>
            </a:pPr>
            <a:r>
              <a:rPr lang="bg-BG" sz="2000" dirty="0" smtClean="0"/>
              <a:t>Специален проблем – работа с константи и променливи от различни.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чрез премахване на безсмислени операции – пример е присвояване на стойност на променлива, която не се използва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bg-BG" sz="2400" dirty="0" smtClean="0"/>
              <a:t>Оптимизация </a:t>
            </a:r>
            <a:r>
              <a:rPr lang="bg-BG" sz="2400" dirty="0"/>
              <a:t>чрез „понижаване на силата на операцията“.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endParaRPr lang="bg-BG" dirty="0"/>
          </a:p>
        </p:txBody>
      </p:sp>
      <p:sp>
        <p:nvSpPr>
          <p:cNvPr id="7" name="TextBox 6"/>
          <p:cNvSpPr txBox="1"/>
          <p:nvPr/>
        </p:nvSpPr>
        <p:spPr>
          <a:xfrm>
            <a:off x="1903412" y="6097488"/>
            <a:ext cx="5105400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nn-NO" sz="2000" dirty="0">
                <a:solidFill>
                  <a:srgbClr val="452603"/>
                </a:solidFill>
                <a:latin typeface="Consolas" panose="020B0609020204030204" pitchFamily="49" charset="0"/>
              </a:rPr>
              <a:t>for (i=0; i &lt; 10; ++i) j = 17 * i;</a:t>
            </a:r>
            <a:endParaRPr lang="en-US" sz="2000" dirty="0">
              <a:solidFill>
                <a:srgbClr val="452603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50324" y="5867400"/>
            <a:ext cx="2391220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nn-NO" sz="2000" dirty="0" smtClean="0">
                <a:solidFill>
                  <a:srgbClr val="452603"/>
                </a:solidFill>
                <a:latin typeface="Consolas" panose="020B0609020204030204" pitchFamily="49" charset="0"/>
              </a:rPr>
              <a:t>  i = 10; </a:t>
            </a:r>
          </a:p>
          <a:p>
            <a:r>
              <a:rPr lang="nn-NO" sz="2000" dirty="0" smtClean="0">
                <a:solidFill>
                  <a:srgbClr val="452603"/>
                </a:solidFill>
                <a:latin typeface="Consolas" panose="020B0609020204030204" pitchFamily="49" charset="0"/>
              </a:rPr>
              <a:t>  j </a:t>
            </a:r>
            <a:r>
              <a:rPr lang="nn-NO" sz="2000" dirty="0">
                <a:solidFill>
                  <a:srgbClr val="452603"/>
                </a:solidFill>
                <a:latin typeface="Consolas" panose="020B0609020204030204" pitchFamily="49" charset="0"/>
              </a:rPr>
              <a:t>= 17 * i;</a:t>
            </a:r>
            <a:endParaRPr lang="en-US" sz="2000" dirty="0">
              <a:solidFill>
                <a:srgbClr val="452603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7618412" y="6221343"/>
            <a:ext cx="685800" cy="152400"/>
          </a:xfrm>
          <a:prstGeom prst="rightArrow">
            <a:avLst/>
          </a:prstGeom>
          <a:solidFill>
            <a:srgbClr val="E8A5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0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Програмен код -&gt; асемблерен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 lnSpcReduction="10000"/>
          </a:bodyPr>
          <a:lstStyle/>
          <a:p>
            <a:r>
              <a:rPr lang="bg-BG" sz="2800" dirty="0" smtClean="0"/>
              <a:t>Тази фаза обикновено се отъждествява с термина „компилация“, защото преобразува програмния код на език от високо ниво към асемблерен език за конкретен процесор</a:t>
            </a:r>
            <a:r>
              <a:rPr lang="en-US" sz="2800" dirty="0" smtClean="0"/>
              <a:t>. </a:t>
            </a:r>
          </a:p>
          <a:p>
            <a:pPr lvl="1"/>
            <a:r>
              <a:rPr lang="bg-BG" sz="2400" dirty="0" smtClean="0"/>
              <a:t>Това е машинно-зависима обработка, т.е. необходимо е правилното настройване на компилатора за да се получи изпълним код за съответния компютър</a:t>
            </a:r>
            <a:r>
              <a:rPr lang="en-US" sz="2400" dirty="0" smtClean="0"/>
              <a:t>. </a:t>
            </a:r>
          </a:p>
          <a:p>
            <a:r>
              <a:rPr lang="bg-BG" sz="2800" dirty="0" smtClean="0"/>
              <a:t>Асемблерните езици се различават много, защото съществуващите компютърни архитектури имат много различни философии на дизайн</a:t>
            </a:r>
            <a:r>
              <a:rPr lang="en-US" sz="2800" dirty="0" smtClean="0"/>
              <a:t>. </a:t>
            </a:r>
            <a:endParaRPr lang="en-US" sz="2800" dirty="0"/>
          </a:p>
          <a:p>
            <a:pPr lvl="1"/>
            <a:r>
              <a:rPr lang="bg-BG" sz="2400" dirty="0" smtClean="0"/>
              <a:t>Голямо разнообразие от фамилии архитектури: </a:t>
            </a:r>
            <a:r>
              <a:rPr lang="en-US" sz="2400" dirty="0" smtClean="0"/>
              <a:t>x86, </a:t>
            </a:r>
            <a:r>
              <a:rPr lang="bg-BG" sz="2400" dirty="0" smtClean="0"/>
              <a:t>А</a:t>
            </a:r>
            <a:r>
              <a:rPr lang="en-US" sz="2400" dirty="0" smtClean="0"/>
              <a:t>RM,</a:t>
            </a:r>
            <a:r>
              <a:rPr lang="bg-BG" sz="2400" dirty="0" smtClean="0"/>
              <a:t> </a:t>
            </a:r>
            <a:r>
              <a:rPr lang="en-US" sz="2400" dirty="0" smtClean="0"/>
              <a:t>PowerPC,</a:t>
            </a:r>
            <a:r>
              <a:rPr lang="bg-BG" sz="2400" dirty="0" smtClean="0"/>
              <a:t> </a:t>
            </a:r>
            <a:r>
              <a:rPr lang="en-US" sz="2400" dirty="0" smtClean="0"/>
              <a:t>Alpha</a:t>
            </a:r>
            <a:r>
              <a:rPr lang="bg-BG" sz="2400" dirty="0" smtClean="0"/>
              <a:t>, ..</a:t>
            </a:r>
            <a:r>
              <a:rPr lang="en-US" sz="2400" dirty="0" smtClean="0"/>
              <a:t>.</a:t>
            </a:r>
            <a:endParaRPr lang="bg-BG" sz="2400" dirty="0" smtClean="0"/>
          </a:p>
          <a:p>
            <a:pPr lvl="1"/>
            <a:r>
              <a:rPr lang="bg-BG" sz="2400" dirty="0" smtClean="0"/>
              <a:t>Голямо разнообразие от варианти на една фамилия: </a:t>
            </a:r>
            <a:r>
              <a:rPr lang="en-US" sz="2400" dirty="0" smtClean="0"/>
              <a:t>x</a:t>
            </a:r>
            <a:r>
              <a:rPr lang="bg-BG" sz="2400" dirty="0" smtClean="0"/>
              <a:t>86</a:t>
            </a:r>
            <a:r>
              <a:rPr lang="en-US" sz="2400" dirty="0" smtClean="0"/>
              <a:t> </a:t>
            </a:r>
            <a:r>
              <a:rPr lang="bg-BG" sz="2400" dirty="0" smtClean="0"/>
              <a:t>има варианти за 16, 32 и 64 битови процесори.</a:t>
            </a:r>
            <a:endParaRPr lang="en-US" sz="2400" dirty="0"/>
          </a:p>
          <a:p>
            <a:pPr lvl="1"/>
            <a:r>
              <a:rPr lang="bg-BG" sz="2400" dirty="0" smtClean="0"/>
              <a:t>Различни идеологии (т.е. философии) за изграждане на </a:t>
            </a:r>
            <a:r>
              <a:rPr lang="en-US" sz="2400" dirty="0" smtClean="0"/>
              <a:t>ISA </a:t>
            </a:r>
            <a:r>
              <a:rPr lang="bg-BG" sz="2400" dirty="0" smtClean="0"/>
              <a:t>за процесорите: </a:t>
            </a:r>
            <a:r>
              <a:rPr lang="en-US" sz="2400" i="1" dirty="0" smtClean="0"/>
              <a:t>x86</a:t>
            </a:r>
            <a:r>
              <a:rPr lang="en-US" sz="2400" dirty="0" smtClean="0"/>
              <a:t> </a:t>
            </a:r>
            <a:r>
              <a:rPr lang="bg-BG" sz="2400" dirty="0" smtClean="0"/>
              <a:t>е</a:t>
            </a:r>
            <a:r>
              <a:rPr lang="en-US" sz="2400" dirty="0"/>
              <a:t> </a:t>
            </a:r>
            <a:r>
              <a:rPr lang="bg-BG" sz="2400" dirty="0" smtClean="0"/>
              <a:t>вариант за </a:t>
            </a:r>
            <a:r>
              <a:rPr lang="en-US" sz="2400" i="1" dirty="0" smtClean="0"/>
              <a:t>CISC</a:t>
            </a:r>
            <a:r>
              <a:rPr lang="bg-BG" sz="2400" dirty="0" smtClean="0"/>
              <a:t>-подход</a:t>
            </a:r>
            <a:r>
              <a:rPr lang="en-US" sz="2400" dirty="0" smtClean="0"/>
              <a:t>, </a:t>
            </a:r>
            <a:r>
              <a:rPr lang="bg-BG" sz="2400" dirty="0" smtClean="0"/>
              <a:t>докато </a:t>
            </a:r>
            <a:r>
              <a:rPr lang="en-US" sz="2400" i="1" dirty="0" smtClean="0"/>
              <a:t>ARM</a:t>
            </a:r>
            <a:r>
              <a:rPr lang="en-US" sz="2400" dirty="0" smtClean="0"/>
              <a:t> </a:t>
            </a:r>
            <a:r>
              <a:rPr lang="bg-BG" sz="2400" dirty="0" smtClean="0"/>
              <a:t>е вариант на </a:t>
            </a:r>
            <a:r>
              <a:rPr lang="en-US" sz="2400" i="1" dirty="0" smtClean="0"/>
              <a:t>RISC</a:t>
            </a:r>
            <a:r>
              <a:rPr lang="bg-BG" sz="2400" dirty="0" smtClean="0"/>
              <a:t>-подход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40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Програмен код -&gt; асемблерен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663" lvl="1" indent="-347663">
              <a:spcBef>
                <a:spcPts val="14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Пример</a:t>
            </a:r>
            <a:r>
              <a:rPr lang="en-US" dirty="0" smtClean="0"/>
              <a:t>:</a:t>
            </a:r>
          </a:p>
          <a:p>
            <a:pPr marL="347663" lvl="1" indent="-347663">
              <a:spcBef>
                <a:spcPts val="14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dirty="0" smtClean="0"/>
              <a:t>Независимо от разнообразието, асемблерните програми имат подобна семантична структура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bg-BG" sz="2400" dirty="0" smtClean="0"/>
              <a:t>Асемблерните езици имат линейна семантична структура, поради което програмата има вида на списък от последователни инструкции</a:t>
            </a:r>
            <a:r>
              <a:rPr lang="en-US" sz="2400" dirty="0" smtClean="0"/>
              <a:t>. </a:t>
            </a:r>
          </a:p>
          <a:p>
            <a:r>
              <a:rPr lang="bg-BG" sz="2800" dirty="0" smtClean="0"/>
              <a:t>Сложността на тази фаза се състои във факта, че програмите на език от високо ниво имат вид, който е по-близък до дърво или граф, а не до последователен списък</a:t>
            </a:r>
            <a:r>
              <a:rPr lang="en-US" sz="2800" dirty="0" smtClean="0"/>
              <a:t>. </a:t>
            </a:r>
            <a:endParaRPr lang="bg-BG" sz="2800" dirty="0" smtClean="0"/>
          </a:p>
          <a:p>
            <a:r>
              <a:rPr lang="bg-BG" sz="2800" dirty="0" smtClean="0"/>
              <a:t>Оптимизация на кода</a:t>
            </a:r>
            <a:endParaRPr lang="en-US" sz="2800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212" y="990600"/>
            <a:ext cx="6169679" cy="581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833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Оптимизация от ниско ниво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altLang="en-US" sz="2800" dirty="0" smtClean="0"/>
              <a:t>Типични видове анализи са: 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Анализ на потока от операнди към/от паметта и регистрите - изграждат се последователностите на използването им за изграждане на вериги употреба-дефиниране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Анализ на зависимостта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Оптимизация на типа на достъпа (тип на адресирането, регистър / памет, …)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/>
              <a:t>Замяна на група инструкции с други </a:t>
            </a:r>
            <a:r>
              <a:rPr lang="bg-BG" altLang="en-US" sz="2400" dirty="0" smtClean="0"/>
              <a:t>инструкции.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Замяна на по-бавно </a:t>
            </a:r>
            <a:r>
              <a:rPr lang="bg-BG" altLang="en-US" sz="2400" dirty="0" err="1" smtClean="0"/>
              <a:t>изпълняеми</a:t>
            </a:r>
            <a:r>
              <a:rPr lang="bg-BG" altLang="en-US" sz="2400" dirty="0" smtClean="0"/>
              <a:t> инструкции с по-бързо </a:t>
            </a:r>
            <a:r>
              <a:rPr lang="bg-BG" altLang="en-US" sz="2400" dirty="0" err="1" smtClean="0"/>
              <a:t>изпълняеми</a:t>
            </a:r>
            <a:r>
              <a:rPr lang="bg-BG" altLang="en-US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Други.</a:t>
            </a:r>
            <a:endParaRPr lang="bg-BG" altLang="en-US" sz="2400" dirty="0"/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Пример – оптимизация на код за </a:t>
            </a:r>
            <a:r>
              <a:rPr lang="en-US" altLang="en-US" sz="2800" dirty="0" smtClean="0"/>
              <a:t>x86</a:t>
            </a:r>
            <a:r>
              <a:rPr lang="bg-BG" altLang="en-US" sz="2800" dirty="0" smtClean="0"/>
              <a:t> платформа</a:t>
            </a:r>
            <a:endParaRPr lang="bg-BG" altLang="en-US" sz="28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2" y="1905000"/>
            <a:ext cx="3733800" cy="347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0"/>
            <a:ext cx="3276601" cy="6826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Left Arrow 8"/>
          <p:cNvSpPr/>
          <p:nvPr/>
        </p:nvSpPr>
        <p:spPr>
          <a:xfrm>
            <a:off x="6780212" y="3048000"/>
            <a:ext cx="762000" cy="36512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5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Генерация на изпълним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r>
              <a:rPr lang="bg-BG" altLang="en-US" dirty="0"/>
              <a:t>Това е трансформация на асемблерния код в машинен код</a:t>
            </a:r>
            <a:r>
              <a:rPr lang="en-US" altLang="en-US" dirty="0"/>
              <a:t>. </a:t>
            </a:r>
            <a:endParaRPr lang="bg-BG" altLang="en-US" dirty="0"/>
          </a:p>
          <a:p>
            <a:pPr lvl="1"/>
            <a:r>
              <a:rPr lang="bg-BG" altLang="en-US" dirty="0"/>
              <a:t>Затова и процесът има название „асемблиране</a:t>
            </a:r>
            <a:r>
              <a:rPr lang="bg-BG" altLang="en-US" dirty="0" smtClean="0"/>
              <a:t>“.</a:t>
            </a:r>
          </a:p>
          <a:p>
            <a:pPr lvl="1"/>
            <a:r>
              <a:rPr lang="bg-BG" altLang="en-US" dirty="0" smtClean="0"/>
              <a:t>Полученият файл се нарича обектен код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bg-BG" altLang="en-US" dirty="0" smtClean="0"/>
          </a:p>
          <a:p>
            <a:pPr marL="347663" lvl="2" indent="-347663">
              <a:spcBef>
                <a:spcPts val="1400"/>
              </a:spcBef>
              <a:buSzPct val="70000"/>
              <a:buFont typeface="Wingdings" panose="05000000000000000000" pitchFamily="2" charset="2"/>
              <a:buChar char="Ä"/>
            </a:pPr>
            <a:r>
              <a:rPr lang="bg-BG" sz="3200" dirty="0" smtClean="0"/>
              <a:t>Преобразуването от асемблерен вид в машинен код е сравнително тривиална задача, защото двата вида имат еднакви структури (само лексикалната структура е различна)</a:t>
            </a:r>
            <a:r>
              <a:rPr lang="en-US" sz="3200" dirty="0" smtClean="0"/>
              <a:t>:</a:t>
            </a:r>
            <a:endParaRPr lang="bg-BG" sz="3200" dirty="0" smtClean="0"/>
          </a:p>
          <a:p>
            <a:pPr lvl="1"/>
            <a:r>
              <a:rPr lang="bg-BG" altLang="en-US" dirty="0" smtClean="0"/>
              <a:t>Основна разлика: асемблерната </a:t>
            </a:r>
            <a:r>
              <a:rPr lang="bg-BG" altLang="en-US" dirty="0"/>
              <a:t>програма все още е четима от програмистите, докато машинния код е практически </a:t>
            </a:r>
            <a:r>
              <a:rPr lang="bg-BG" altLang="en-US" dirty="0" err="1" smtClean="0"/>
              <a:t>нечитаем</a:t>
            </a:r>
            <a:r>
              <a:rPr lang="bg-BG" altLang="en-US" dirty="0" smtClean="0"/>
              <a:t>.</a:t>
            </a:r>
          </a:p>
          <a:p>
            <a:pPr lvl="2"/>
            <a:r>
              <a:rPr lang="bg-BG" altLang="en-US" dirty="0" smtClean="0"/>
              <a:t>Асемблерният код е текстов файл, докато обектният код е бинарен формат.</a:t>
            </a:r>
          </a:p>
          <a:p>
            <a:pPr lvl="1"/>
            <a:r>
              <a:rPr lang="bg-BG" altLang="en-US" dirty="0" smtClean="0"/>
              <a:t>Програмата, с която се извършва това се нарича „асемблер“.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47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Генерация на изпълним код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300"/>
              </a:spcBef>
            </a:pPr>
            <a:r>
              <a:rPr lang="bg-BG" dirty="0" smtClean="0"/>
              <a:t>Файлът с обектния код все още не е изпълним файл, защото той не съдържа достатъчно информация, за да укаже къде се намират конкретни библиотечни обекти/класове/функции.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Пример е използването на библиотечни функции (</a:t>
            </a:r>
            <a:r>
              <a:rPr lang="bg-BG" dirty="0" err="1" smtClean="0"/>
              <a:t>printf</a:t>
            </a:r>
            <a:r>
              <a:rPr lang="bg-BG" dirty="0" smtClean="0"/>
              <a:t>, </a:t>
            </a:r>
            <a:r>
              <a:rPr lang="bg-BG" dirty="0" err="1" smtClean="0"/>
              <a:t>scanf</a:t>
            </a:r>
            <a:r>
              <a:rPr lang="bg-BG" dirty="0" smtClean="0"/>
              <a:t>, … в C, C++, …), библиотечни класове (</a:t>
            </a:r>
            <a:r>
              <a:rPr lang="bg-BG" dirty="0" err="1" smtClean="0"/>
              <a:t>iostream</a:t>
            </a:r>
            <a:r>
              <a:rPr lang="bg-BG" dirty="0" smtClean="0"/>
              <a:t>  в C++). 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Ненамерените елементи до този момент имат „празен“ адрес, което казва че не се знае има ли ги.</a:t>
            </a:r>
          </a:p>
          <a:p>
            <a:pPr>
              <a:spcBef>
                <a:spcPts val="300"/>
              </a:spcBef>
            </a:pPr>
            <a:r>
              <a:rPr lang="bg-BG" dirty="0" smtClean="0"/>
              <a:t>Следващият процес е процес на „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свързване</a:t>
            </a:r>
            <a:r>
              <a:rPr lang="bg-BG" dirty="0" smtClean="0"/>
              <a:t>“ на външните програмни елементи, разположени в библиотечните файлове на компилатора, с техните извиквания в програмния код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Това се извършва от специален модул, наречен свързващ редактор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Linker</a:t>
            </a:r>
            <a:r>
              <a:rPr lang="bg-BG" dirty="0" smtClean="0"/>
              <a:t>) – той „намира“ къде във външните библиотеки са разположени тези елементи и може да намери адреса на функциите в тези библиотеки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С намерените адреси се попълват съответните празните адреси в файл с обектния код.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Всяка операционна система предоставя на програмистите редица библиотеки, които могат да се използват заедно с кода, който създават. 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Свързващите редактори зависят от конкретната </a:t>
            </a:r>
            <a:r>
              <a:rPr lang="bg-BG" dirty="0" err="1" smtClean="0"/>
              <a:t>операциона</a:t>
            </a:r>
            <a:r>
              <a:rPr lang="bg-BG" dirty="0" smtClean="0"/>
              <a:t> система.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5297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Стартиране на програмата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10200"/>
          </a:xfrm>
        </p:spPr>
        <p:txBody>
          <a:bodyPr>
            <a:normAutofit fontScale="92500" lnSpcReduction="10000"/>
          </a:bodyPr>
          <a:lstStyle/>
          <a:p>
            <a:r>
              <a:rPr lang="bg-BG" sz="2800" dirty="0" smtClean="0"/>
              <a:t>В този момент от създаването на изпълним файл ние все още не можем директно да изпълним програмата,а е необходима  допълнителна програма, която да модифицира двоичния код и така да произведе напълно работоспособен изпълним файл.</a:t>
            </a:r>
          </a:p>
          <a:p>
            <a:pPr lvl="1"/>
            <a:r>
              <a:rPr lang="bg-BG" sz="2400" dirty="0" smtClean="0"/>
              <a:t>Основен проблем: компилаторът не знае къде в оперативната памет ще се разположи стартираната програма и затова </a:t>
            </a:r>
            <a:r>
              <a:rPr lang="bg-BG" sz="2400" i="1" dirty="0" smtClean="0"/>
              <a:t>не може да зададе абсолютни адреси</a:t>
            </a:r>
            <a:r>
              <a:rPr lang="bg-BG" sz="2400" dirty="0" smtClean="0"/>
              <a:t> на елементите на програмата (променливи, функции, …), а използва 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относителни адреси</a:t>
            </a:r>
            <a:r>
              <a:rPr lang="en-US" sz="2400" dirty="0" smtClean="0"/>
              <a:t>. </a:t>
            </a:r>
          </a:p>
          <a:p>
            <a:r>
              <a:rPr lang="bg-BG" sz="2800" dirty="0" smtClean="0"/>
              <a:t>Програма</a:t>
            </a:r>
            <a:r>
              <a:rPr lang="en-US" sz="2800" dirty="0" smtClean="0"/>
              <a:t>ta, </a:t>
            </a:r>
            <a:r>
              <a:rPr lang="bg-BG" sz="2800" dirty="0" smtClean="0"/>
              <a:t>която променя относителните адреси на абсолютни и зарежда напълно готовата програма, се нарича „</a:t>
            </a: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зареждащ редактор</a:t>
            </a:r>
            <a:r>
              <a:rPr lang="bg-BG" sz="2800" dirty="0" smtClean="0"/>
              <a:t>“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en-US" sz="2800" dirty="0" smtClean="0"/>
              <a:t>Linking loader or Loader).</a:t>
            </a:r>
            <a:endParaRPr lang="bg-BG" sz="2800" dirty="0" smtClean="0"/>
          </a:p>
          <a:p>
            <a:pPr lvl="1"/>
            <a:r>
              <a:rPr lang="bg-BG" sz="2400" dirty="0" smtClean="0"/>
              <a:t>Тя получава началния абсолютен адрес от ОС (според заделената памет за програмата), сменя адресите на абсолютни и готовия бинарен файл се зарежда на определеното място.</a:t>
            </a:r>
          </a:p>
          <a:p>
            <a:pPr lvl="1"/>
            <a:r>
              <a:rPr lang="bg-BG" sz="2400" dirty="0" smtClean="0"/>
              <a:t>При успешно зареждане, на ОС получава абсолютния адрес на стартовата точка за дадената програма (това е мястото на първата инструкция от програмата, която трябва да се изпълни).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984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Как работи „на живо“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 последователни обработки и съответните резултати</a:t>
            </a:r>
            <a:r>
              <a:rPr lang="bg-BG" sz="2800" dirty="0"/>
              <a:t>.</a:t>
            </a:r>
            <a:endParaRPr lang="en-US" sz="2400" dirty="0" smtClean="0"/>
          </a:p>
        </p:txBody>
      </p:sp>
      <p:pic>
        <p:nvPicPr>
          <p:cNvPr id="1026" name="Picture 2" descr="Program life cycle IP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710" y="2019300"/>
            <a:ext cx="10439902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98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bg-BG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endParaRPr lang="bg-BG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bg-BG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Влияние на апаратната част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256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Въведение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Функционални нива в компютъра</a:t>
            </a:r>
          </a:p>
          <a:p>
            <a:pPr lvl="1"/>
            <a:r>
              <a:rPr lang="bg-BG" sz="2400" dirty="0" smtClean="0"/>
              <a:t>Компютърната система може да бъде представена като набор от слоеве, всеки от които осигурява някаква функционалност на горните слоеве. </a:t>
            </a:r>
          </a:p>
          <a:p>
            <a:pPr lvl="1"/>
            <a:r>
              <a:rPr lang="bg-BG" sz="2400" dirty="0" smtClean="0"/>
              <a:t>Същевременно слоят “скрива” реализационните си детайли зад някакъв интерфейс или набор от абстракции.</a:t>
            </a:r>
          </a:p>
          <a:p>
            <a:r>
              <a:rPr lang="bg-BG" sz="2800" dirty="0" smtClean="0"/>
              <a:t>Основни функционални нива:</a:t>
            </a:r>
            <a:endParaRPr lang="bg-BG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2" y="3084616"/>
            <a:ext cx="4973637" cy="3563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122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Компютърна система</a:t>
            </a:r>
            <a:r>
              <a:rPr lang="en-US" dirty="0"/>
              <a:t>: </a:t>
            </a:r>
            <a:r>
              <a:rPr lang="bg-BG" dirty="0"/>
              <a:t>Апаратна част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3000" dirty="0" smtClean="0"/>
              <a:t>Основните компоненти на апаратната част са: </a:t>
            </a:r>
          </a:p>
          <a:p>
            <a:pPr lvl="1">
              <a:spcBef>
                <a:spcPts val="300"/>
              </a:spcBef>
            </a:pPr>
            <a:r>
              <a:rPr lang="bg-BG" sz="2700" dirty="0" smtClean="0"/>
              <a:t>Централният процесор (</a:t>
            </a:r>
            <a:r>
              <a:rPr lang="bg-BG" sz="2700" dirty="0" err="1" smtClean="0"/>
              <a:t>англ</a:t>
            </a:r>
            <a:r>
              <a:rPr lang="bg-BG" sz="2700" dirty="0" smtClean="0"/>
              <a:t>. CPU) изпълнява инструкциите на програмите. 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Той има в себе си малък брой специфични запомнящи елементи, известни като </a:t>
            </a:r>
            <a:r>
              <a:rPr lang="bg-BG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регистрите</a:t>
            </a:r>
            <a:r>
              <a:rPr lang="bg-BG" sz="2200" dirty="0" smtClean="0"/>
              <a:t>, достъпът до които е много бърз.</a:t>
            </a:r>
          </a:p>
          <a:p>
            <a:pPr lvl="1">
              <a:spcBef>
                <a:spcPts val="300"/>
              </a:spcBef>
            </a:pPr>
            <a:r>
              <a:rPr lang="bg-BG" sz="2700" dirty="0" smtClean="0"/>
              <a:t>За да съхраняваме големи количества данни, които се изпълняват от дадена програма, се нуждаем от </a:t>
            </a:r>
            <a:r>
              <a:rPr lang="bg-BG" sz="27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Оперативната памет </a:t>
            </a:r>
            <a:r>
              <a:rPr lang="bg-BG" sz="2700" dirty="0" smtClean="0"/>
              <a:t>(</a:t>
            </a:r>
            <a:r>
              <a:rPr lang="bg-BG" sz="2700" dirty="0" err="1" smtClean="0"/>
              <a:t>англ</a:t>
            </a:r>
            <a:r>
              <a:rPr lang="bg-BG" sz="2700" dirty="0" smtClean="0"/>
              <a:t>. </a:t>
            </a:r>
            <a:r>
              <a:rPr lang="bg-BG" sz="2700" dirty="0" err="1" smtClean="0"/>
              <a:t>Main</a:t>
            </a:r>
            <a:r>
              <a:rPr lang="bg-BG" sz="2700" dirty="0" smtClean="0"/>
              <a:t> </a:t>
            </a:r>
            <a:r>
              <a:rPr lang="bg-BG" sz="2700" dirty="0" err="1" smtClean="0"/>
              <a:t>memory</a:t>
            </a:r>
            <a:r>
              <a:rPr lang="bg-BG" sz="2700" dirty="0" smtClean="0"/>
              <a:t>)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Тя се състои от голямо количества, но много по-бавни запомнящи елементи. 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Тя съхранява както инструкции в изпълняваните програмите, така и техните данни.</a:t>
            </a:r>
          </a:p>
          <a:p>
            <a:pPr lvl="1">
              <a:spcBef>
                <a:spcPts val="300"/>
              </a:spcBef>
            </a:pPr>
            <a:r>
              <a:rPr lang="bg-BG" sz="2700" dirty="0" smtClean="0"/>
              <a:t>Периферни устройства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Това включва голямо разнообразие от устройства: В/И устройства като клавиатура, мишка, монитор, принтер; мрежови контролери; външни запомнящи устройства като HDD, DVD, CD и други. </a:t>
            </a:r>
          </a:p>
        </p:txBody>
      </p:sp>
    </p:spTree>
    <p:extLst>
      <p:ext uri="{BB962C8B-B14F-4D97-AF65-F5344CB8AC3E}">
        <p14:creationId xmlns:p14="http://schemas.microsoft.com/office/powerpoint/2010/main" val="165728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Компютърна система</a:t>
            </a:r>
            <a:r>
              <a:rPr lang="en-US" dirty="0"/>
              <a:t>: </a:t>
            </a:r>
            <a:r>
              <a:rPr lang="bg-BG" dirty="0"/>
              <a:t>Интерфейси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6721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/>
              <a:t>Бързодействие</a:t>
            </a:r>
          </a:p>
          <a:p>
            <a:pPr lvl="1">
              <a:spcBef>
                <a:spcPts val="300"/>
              </a:spcBef>
            </a:pPr>
            <a:r>
              <a:rPr lang="bg-BG" sz="2400" dirty="0"/>
              <a:t>Обикновено, работата с оперативната памет е около 100 пъти по-бавна отколкото с регистрите на процесора; периферните устройства са между много по-бавни от оперативната памет.</a:t>
            </a:r>
          </a:p>
          <a:p>
            <a:pPr>
              <a:spcBef>
                <a:spcPts val="300"/>
              </a:spcBef>
            </a:pPr>
            <a:r>
              <a:rPr lang="bg-BG" sz="3000" dirty="0" smtClean="0"/>
              <a:t>Интерфейси</a:t>
            </a:r>
          </a:p>
          <a:p>
            <a:pPr lvl="1">
              <a:spcBef>
                <a:spcPts val="300"/>
              </a:spcBef>
            </a:pPr>
            <a:r>
              <a:rPr lang="bg-BG" sz="2600" dirty="0" smtClean="0"/>
              <a:t>Всички апаратни компоненти се свързват помежду си чрез система от шини (</a:t>
            </a:r>
            <a:r>
              <a:rPr lang="bg-BG" sz="2600" dirty="0" err="1" smtClean="0"/>
              <a:t>англ</a:t>
            </a:r>
            <a:r>
              <a:rPr lang="bg-BG" sz="2600" dirty="0" smtClean="0"/>
              <a:t>. </a:t>
            </a:r>
            <a:r>
              <a:rPr lang="bg-BG" sz="2600" dirty="0" err="1" smtClean="0"/>
              <a:t>Bus</a:t>
            </a:r>
            <a:r>
              <a:rPr lang="bg-BG" sz="2600" dirty="0" smtClean="0"/>
              <a:t>)</a:t>
            </a:r>
            <a:r>
              <a:rPr lang="bg-BG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bg-BG" sz="2600" dirty="0" smtClean="0"/>
              <a:t> 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Те осигуряват обмена на данните между апаратните устройства, предаването на инструкциите на програмата, както и предаването на други управляващи сигнали. </a:t>
            </a:r>
          </a:p>
          <a:p>
            <a:pPr lvl="1">
              <a:spcBef>
                <a:spcPts val="300"/>
              </a:spcBef>
            </a:pPr>
            <a:r>
              <a:rPr lang="bg-BG" sz="2600" dirty="0" smtClean="0"/>
              <a:t>На апаратно ниво свързването на апаратните компоненти чрез шините е доста по-сложно и няма пряко отношение към създаването на програмата.</a:t>
            </a:r>
          </a:p>
          <a:p>
            <a:pPr lvl="2">
              <a:spcBef>
                <a:spcPts val="300"/>
              </a:spcBef>
            </a:pPr>
            <a:r>
              <a:rPr lang="bg-BG" sz="2200" dirty="0" smtClean="0"/>
              <a:t>Изключение е разработката на системни програми.</a:t>
            </a:r>
            <a:endParaRPr lang="bg-BG" sz="22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09" y="2667000"/>
            <a:ext cx="4459603" cy="3999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12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8169" y="3886200"/>
            <a:ext cx="4567513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Изпълнение на програмата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altLang="en-US" sz="2600" dirty="0" smtClean="0"/>
              <a:t>Основната задача на програмата е от входните данни да получи след обработка резултат (изходни данни), така че те да подпомагат работата на потребителя</a:t>
            </a:r>
            <a:r>
              <a:rPr lang="en-US" altLang="en-US" sz="2600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bg-BG" altLang="en-US" sz="2200" dirty="0" smtClean="0"/>
              <a:t>Сегашните компютри с общо предназначение използват за целта поредица от инструкции, управляващи процеса на обработка на входните данни. Тези инструкции се наричат „</a:t>
            </a:r>
            <a:r>
              <a:rPr lang="bg-BG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програма</a:t>
            </a:r>
            <a:r>
              <a:rPr lang="bg-BG" altLang="en-US" sz="2200" dirty="0" smtClean="0"/>
              <a:t>“.</a:t>
            </a:r>
            <a:r>
              <a:rPr lang="en-US" altLang="en-US" sz="2200" dirty="0" smtClean="0"/>
              <a:t> </a:t>
            </a:r>
            <a:endParaRPr lang="en-US" altLang="en-US" sz="2200" dirty="0"/>
          </a:p>
          <a:p>
            <a:pPr lvl="1">
              <a:spcBef>
                <a:spcPts val="300"/>
              </a:spcBef>
            </a:pPr>
            <a:r>
              <a:rPr lang="bg-BG" altLang="en-US" sz="2200" dirty="0" smtClean="0"/>
              <a:t>Данните и инструкциите се съхраняват в паметта на компютъра.</a:t>
            </a:r>
            <a:r>
              <a:rPr lang="en-US" altLang="en-US" sz="2200" dirty="0" smtClean="0"/>
              <a:t>.</a:t>
            </a:r>
            <a:endParaRPr lang="en-US" altLang="en-US" sz="2200" dirty="0"/>
          </a:p>
          <a:p>
            <a:pPr>
              <a:spcBef>
                <a:spcPts val="300"/>
              </a:spcBef>
            </a:pPr>
            <a:r>
              <a:rPr lang="bg-BG" altLang="en-US" sz="2600" dirty="0" smtClean="0"/>
              <a:t>Инструкциите се изпълняват от процесора една по една в последователен режим. </a:t>
            </a:r>
          </a:p>
          <a:p>
            <a:pPr lvl="1">
              <a:spcBef>
                <a:spcPts val="300"/>
              </a:spcBef>
            </a:pPr>
            <a:r>
              <a:rPr lang="bg-BG" altLang="en-US" sz="2200" dirty="0" smtClean="0"/>
              <a:t>Тази обработка е известна </a:t>
            </a:r>
            <a:r>
              <a:rPr lang="bg-BG" altLang="en-US" sz="2200" dirty="0"/>
              <a:t>като „</a:t>
            </a:r>
            <a:r>
              <a:rPr lang="bg-BG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Цикъл на </a:t>
            </a:r>
            <a:r>
              <a:rPr lang="bg-BG" altLang="en-US" sz="2200" dirty="0" smtClean="0"/>
              <a:t/>
            </a:r>
            <a:br>
              <a:rPr lang="bg-BG" altLang="en-US" sz="2200" dirty="0" smtClean="0"/>
            </a:br>
            <a:r>
              <a:rPr lang="bg-BG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изпълнение на инструкция от процесора</a:t>
            </a:r>
            <a:r>
              <a:rPr lang="bg-BG" altLang="en-US" sz="2200" dirty="0" smtClean="0"/>
              <a:t>“.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690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en-US" dirty="0"/>
              <a:t>Изпълнение на програмата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dirty="0" smtClean="0"/>
              <a:t>Реалните дейности на процесора по изпълнение на обработките са „скрити“ от потребителя.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За задаване на определена обработка програмистите използват едно множество от т.нар. „машинни инструкции“, което позволява да се създаде „абстрактна обвивка“ на процесора:</a:t>
            </a:r>
            <a:r>
              <a:rPr lang="en-US" dirty="0" smtClean="0"/>
              <a:t> 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Базови математически функции</a:t>
            </a:r>
            <a:r>
              <a:rPr lang="en-US" dirty="0" smtClean="0"/>
              <a:t>: </a:t>
            </a:r>
            <a:r>
              <a:rPr lang="en-US" dirty="0"/>
              <a:t>add, subtract, multiply, divide.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Сравнения на стойности</a:t>
            </a:r>
            <a:r>
              <a:rPr lang="en-US" dirty="0" smtClean="0"/>
              <a:t>: </a:t>
            </a:r>
            <a:r>
              <a:rPr lang="en-US" dirty="0"/>
              <a:t>==, !=, &gt;, &gt;=, &lt;, &lt;=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Различни видове операнди: символи, цели и реални числа</a:t>
            </a:r>
            <a:r>
              <a:rPr lang="en-US" dirty="0" smtClean="0"/>
              <a:t>.</a:t>
            </a:r>
            <a:endParaRPr lang="en-US" dirty="0"/>
          </a:p>
          <a:p>
            <a:pPr lvl="2">
              <a:spcBef>
                <a:spcPts val="300"/>
              </a:spcBef>
            </a:pPr>
            <a:r>
              <a:rPr lang="bg-BG" dirty="0" smtClean="0"/>
              <a:t>Преходи:</a:t>
            </a:r>
            <a:r>
              <a:rPr lang="en-US" dirty="0" smtClean="0"/>
              <a:t> </a:t>
            </a:r>
            <a:r>
              <a:rPr lang="en-US" dirty="0"/>
              <a:t>branches, jumps, function calls.</a:t>
            </a:r>
          </a:p>
          <a:p>
            <a:pPr lvl="2">
              <a:spcBef>
                <a:spcPts val="300"/>
              </a:spcBef>
            </a:pPr>
            <a:r>
              <a:rPr lang="bg-BG" dirty="0" smtClean="0"/>
              <a:t>Допълнителни функции като привилегии </a:t>
            </a:r>
            <a:r>
              <a:rPr lang="en-US" dirty="0" smtClean="0"/>
              <a:t>(</a:t>
            </a:r>
            <a:r>
              <a:rPr lang="en-US" dirty="0"/>
              <a:t>user mode and kernel mode), </a:t>
            </a:r>
            <a:r>
              <a:rPr lang="bg-BG" dirty="0" smtClean="0"/>
              <a:t>защита на паметта, достъп до периферни устройства и т.н.</a:t>
            </a:r>
            <a:endParaRPr lang="en-US" dirty="0" smtClean="0"/>
          </a:p>
          <a:p>
            <a:pPr lvl="1">
              <a:spcBef>
                <a:spcPts val="300"/>
              </a:spcBef>
            </a:pPr>
            <a:r>
              <a:rPr lang="bg-BG" dirty="0" smtClean="0"/>
              <a:t>Всеки процесор има различен набор от инструкции</a:t>
            </a:r>
          </a:p>
          <a:p>
            <a:pPr lvl="2">
              <a:spcBef>
                <a:spcPts val="300"/>
              </a:spcBef>
            </a:pP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CPU's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set architecture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ISA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9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Изпълнение на програмата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dirty="0" smtClean="0"/>
              <a:t>Изпълнението на програмата определя необходимостта да се знае къде в паметта е разположена следващата инструкция за изпълнение.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В процесора има специален регистър, наречен „ Програмен брояч“ (</a:t>
            </a:r>
            <a:r>
              <a:rPr lang="bg-BG" dirty="0" err="1" smtClean="0"/>
              <a:t>англ</a:t>
            </a:r>
            <a:r>
              <a:rPr lang="bg-BG" dirty="0" smtClean="0"/>
              <a:t>.</a:t>
            </a:r>
            <a:r>
              <a:rPr lang="bg-BG" b="1" dirty="0" smtClean="0"/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- </a:t>
            </a:r>
            <a:r>
              <a:rPr lang="bg-BG" dirty="0" smtClean="0"/>
              <a:t> 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</a:t>
            </a:r>
            <a:r>
              <a:rPr lang="bg-BG" dirty="0" smtClean="0"/>
              <a:t>) в който се съхранява адреса на следващата инструкция за изпълнение.</a:t>
            </a:r>
          </a:p>
          <a:p>
            <a:pPr>
              <a:spcBef>
                <a:spcPts val="300"/>
              </a:spcBef>
            </a:pPr>
            <a:r>
              <a:rPr lang="bg-BG" dirty="0" smtClean="0"/>
              <a:t>Определяне на следваща инструкция за изпълнение: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При нормален поток на изпълнение, инструкциите са последователни, т.е. за достъп до следваща инструкция се </a:t>
            </a:r>
            <a:r>
              <a:rPr lang="bg-BG" dirty="0" err="1" smtClean="0"/>
              <a:t>инкрементира</a:t>
            </a:r>
            <a:r>
              <a:rPr lang="bg-BG" dirty="0" smtClean="0"/>
              <a:t> програмния брояч.</a:t>
            </a:r>
          </a:p>
          <a:p>
            <a:pPr lvl="1">
              <a:spcBef>
                <a:spcPts val="300"/>
              </a:spcBef>
            </a:pPr>
            <a:r>
              <a:rPr lang="bg-BG" dirty="0" smtClean="0"/>
              <a:t>При необходимост от преходи се използват специални инструкции, които зареждат в програмния брояч адреса на следващата инструкция. </a:t>
            </a:r>
          </a:p>
        </p:txBody>
      </p:sp>
    </p:spTree>
    <p:extLst>
      <p:ext uri="{BB962C8B-B14F-4D97-AF65-F5344CB8AC3E}">
        <p14:creationId xmlns:p14="http://schemas.microsoft.com/office/powerpoint/2010/main" val="353701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Основни видове памети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bg-BG" altLang="en-US" dirty="0"/>
              <a:t>Вътрешни памети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Random Access Memory (RAM)</a:t>
            </a:r>
          </a:p>
          <a:p>
            <a:pPr lvl="2"/>
            <a:r>
              <a:rPr lang="bg-BG" dirty="0"/>
              <a:t>Процесорът има достъп до всяка стойност на масива по всяко време, но достъпът е последователен.</a:t>
            </a:r>
            <a:r>
              <a:rPr lang="bg-BG" altLang="en-US" dirty="0"/>
              <a:t> </a:t>
            </a:r>
          </a:p>
          <a:p>
            <a:pPr lvl="1"/>
            <a:r>
              <a:rPr lang="en-US" altLang="en-US" dirty="0"/>
              <a:t>Read-Only Memory (ROM)</a:t>
            </a:r>
          </a:p>
          <a:p>
            <a:pPr>
              <a:spcBef>
                <a:spcPts val="600"/>
              </a:spcBef>
            </a:pPr>
            <a:r>
              <a:rPr lang="bg-BG" altLang="en-US" dirty="0"/>
              <a:t>Основни видове </a:t>
            </a:r>
            <a:r>
              <a:rPr lang="en-US" altLang="en-US" dirty="0"/>
              <a:t>RAM</a:t>
            </a:r>
          </a:p>
          <a:p>
            <a:pPr lvl="1"/>
            <a:r>
              <a:rPr lang="en-US" altLang="en-US" dirty="0" smtClean="0"/>
              <a:t>Static </a:t>
            </a:r>
            <a:r>
              <a:rPr lang="en-US" altLang="en-US" dirty="0"/>
              <a:t>RAM (SRAM</a:t>
            </a:r>
            <a:r>
              <a:rPr lang="en-US" altLang="en-US" dirty="0" smtClean="0"/>
              <a:t>) </a:t>
            </a:r>
            <a:r>
              <a:rPr lang="bg-BG" altLang="en-US" dirty="0" smtClean="0"/>
              <a:t>:</a:t>
            </a:r>
            <a:r>
              <a:rPr lang="en-US" altLang="en-US" dirty="0" smtClean="0"/>
              <a:t> </a:t>
            </a:r>
            <a:r>
              <a:rPr lang="bg-BG" altLang="en-US" dirty="0" smtClean="0"/>
              <a:t>след запис не се налага периодично обновяване.</a:t>
            </a:r>
            <a:endParaRPr lang="en-US" altLang="en-US" dirty="0"/>
          </a:p>
          <a:p>
            <a:pPr lvl="1"/>
            <a:r>
              <a:rPr lang="en-US" altLang="en-US" dirty="0" smtClean="0"/>
              <a:t>Dynamic </a:t>
            </a:r>
            <a:r>
              <a:rPr lang="en-US" altLang="en-US" dirty="0"/>
              <a:t>RAM (DRAM</a:t>
            </a:r>
            <a:r>
              <a:rPr lang="en-US" altLang="en-US" dirty="0" smtClean="0"/>
              <a:t>)</a:t>
            </a:r>
            <a:r>
              <a:rPr lang="bg-BG" altLang="en-US" dirty="0" smtClean="0"/>
              <a:t> : налага се </a:t>
            </a:r>
            <a:r>
              <a:rPr lang="bg-BG" altLang="en-US" dirty="0"/>
              <a:t>периодично </a:t>
            </a:r>
            <a:r>
              <a:rPr lang="bg-BG" altLang="en-US" dirty="0" smtClean="0"/>
              <a:t>обновяване.</a:t>
            </a:r>
            <a:endParaRPr lang="en-US" altLang="en-US" dirty="0"/>
          </a:p>
          <a:p>
            <a:pPr>
              <a:spcBef>
                <a:spcPts val="600"/>
              </a:spcBef>
            </a:pPr>
            <a:r>
              <a:rPr lang="bg-BG" altLang="en-US" dirty="0"/>
              <a:t>Основни видове </a:t>
            </a:r>
            <a:r>
              <a:rPr lang="en-US" altLang="en-US" dirty="0"/>
              <a:t>ROM</a:t>
            </a:r>
          </a:p>
          <a:p>
            <a:pPr lvl="1"/>
            <a:r>
              <a:rPr lang="bg-BG" altLang="en-US" dirty="0"/>
              <a:t>Програмируем </a:t>
            </a:r>
            <a:r>
              <a:rPr lang="en-US" altLang="en-US" dirty="0"/>
              <a:t>ROM (</a:t>
            </a:r>
            <a:r>
              <a:rPr lang="bg-BG" altLang="en-US" dirty="0" err="1"/>
              <a:t>англ</a:t>
            </a:r>
            <a:r>
              <a:rPr lang="bg-BG" altLang="en-US" dirty="0"/>
              <a:t>. </a:t>
            </a:r>
            <a:r>
              <a:rPr lang="en-US" altLang="en-US" dirty="0"/>
              <a:t>programmable read-only memory </a:t>
            </a:r>
            <a:r>
              <a:rPr lang="bg-BG" altLang="en-US" dirty="0"/>
              <a:t>- </a:t>
            </a:r>
            <a:r>
              <a:rPr lang="en-US" altLang="en-US" dirty="0"/>
              <a:t>PROM)</a:t>
            </a:r>
          </a:p>
          <a:p>
            <a:pPr lvl="1"/>
            <a:r>
              <a:rPr lang="bg-BG" altLang="en-US" dirty="0"/>
              <a:t>Изтриваем </a:t>
            </a:r>
            <a:r>
              <a:rPr lang="en-US" altLang="en-US" dirty="0"/>
              <a:t>PROM (</a:t>
            </a:r>
            <a:r>
              <a:rPr lang="bg-BG" altLang="en-US" dirty="0" err="1"/>
              <a:t>англ</a:t>
            </a:r>
            <a:r>
              <a:rPr lang="bg-BG" altLang="en-US" dirty="0"/>
              <a:t>. </a:t>
            </a:r>
            <a:r>
              <a:rPr lang="en-US" altLang="en-US" dirty="0"/>
              <a:t>erasable programmable read-only memory - EPROM)</a:t>
            </a:r>
          </a:p>
          <a:p>
            <a:pPr lvl="1"/>
            <a:r>
              <a:rPr lang="bg-BG" altLang="en-US" dirty="0"/>
              <a:t>Електрически изтриваем </a:t>
            </a:r>
            <a:r>
              <a:rPr lang="en-US" altLang="en-US" dirty="0" smtClean="0"/>
              <a:t>PROM</a:t>
            </a:r>
            <a:r>
              <a:rPr lang="bg-BG" altLang="en-US" dirty="0" smtClean="0"/>
              <a:t> </a:t>
            </a:r>
            <a:r>
              <a:rPr lang="en-US" altLang="en-US" dirty="0" smtClean="0"/>
              <a:t>(</a:t>
            </a:r>
            <a:r>
              <a:rPr lang="bg-BG" altLang="en-US" dirty="0" err="1" smtClean="0"/>
              <a:t>англ</a:t>
            </a:r>
            <a:r>
              <a:rPr lang="bg-BG" altLang="en-US" dirty="0"/>
              <a:t>. </a:t>
            </a:r>
            <a:r>
              <a:rPr lang="en-US" altLang="en-US" dirty="0"/>
              <a:t>electrically </a:t>
            </a:r>
            <a:r>
              <a:rPr lang="en-US" altLang="en-US" dirty="0" smtClean="0"/>
              <a:t>erasable</a:t>
            </a:r>
            <a:r>
              <a:rPr lang="bg-BG" altLang="en-US" dirty="0" smtClean="0"/>
              <a:t> </a:t>
            </a:r>
            <a:r>
              <a:rPr lang="en-US" altLang="en-US" dirty="0" smtClean="0"/>
              <a:t> </a:t>
            </a:r>
            <a:r>
              <a:rPr lang="en-US" altLang="en-US" dirty="0"/>
              <a:t>programmable read-only memory - EEPROM)</a:t>
            </a:r>
          </a:p>
        </p:txBody>
      </p:sp>
    </p:spTree>
    <p:extLst>
      <p:ext uri="{BB962C8B-B14F-4D97-AF65-F5344CB8AC3E}">
        <p14:creationId xmlns:p14="http://schemas.microsoft.com/office/powerpoint/2010/main" val="392033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Оперативна </a:t>
            </a:r>
            <a:r>
              <a:rPr lang="bg-BG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памет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>Оперативна памет</a:t>
            </a:r>
            <a:r>
              <a:rPr lang="en-US" altLang="en-US" dirty="0"/>
              <a:t> </a:t>
            </a:r>
            <a:r>
              <a:rPr lang="en-US" altLang="en-US" dirty="0" smtClean="0"/>
              <a:t>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main memory) </a:t>
            </a:r>
            <a:r>
              <a:rPr lang="bg-BG" altLang="en-US" dirty="0" smtClean="0"/>
              <a:t>е една от трите основни подсистеми на компютъра</a:t>
            </a:r>
            <a:r>
              <a:rPr lang="en-US" altLang="en-US" dirty="0" smtClean="0"/>
              <a:t>. </a:t>
            </a:r>
            <a:endParaRPr lang="bg-BG" altLang="en-US" dirty="0"/>
          </a:p>
          <a:p>
            <a:pPr lvl="1"/>
            <a:r>
              <a:rPr lang="bg-BG" altLang="en-US" dirty="0" smtClean="0"/>
              <a:t>Това е последователност от клетки за съхраняване на стойности.</a:t>
            </a:r>
          </a:p>
          <a:p>
            <a:pPr lvl="1"/>
            <a:r>
              <a:rPr lang="bg-BG" altLang="en-US" dirty="0" smtClean="0"/>
              <a:t>Всяка клетка има уникален цифров идентификатор, който е прието да се нарича „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 на клетката</a:t>
            </a:r>
            <a:r>
              <a:rPr lang="bg-BG" altLang="en-US" dirty="0" smtClean="0"/>
              <a:t>“</a:t>
            </a:r>
            <a:r>
              <a:rPr lang="en-US" altLang="en-US" dirty="0" smtClean="0"/>
              <a:t>. </a:t>
            </a:r>
            <a:endParaRPr lang="bg-BG" altLang="en-US" dirty="0" smtClean="0"/>
          </a:p>
          <a:p>
            <a:pPr lvl="2"/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</a:t>
            </a:r>
            <a:r>
              <a:rPr lang="bg-BG" altLang="en-US" dirty="0" smtClean="0"/>
              <a:t>! Изчислението на реалния адрес на клетката (т.нар „физически адрес“ зависи от различни допълнителни характеристики на компютъра).</a:t>
            </a:r>
          </a:p>
          <a:p>
            <a:pPr lvl="1"/>
            <a:endParaRPr lang="bg-BG" altLang="en-US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1" y="4080736"/>
            <a:ext cx="5310763" cy="2596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231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Свързване на процесора с оперативната памет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/>
          </a:bodyPr>
          <a:lstStyle/>
          <a:p>
            <a:r>
              <a:rPr lang="bg-BG" altLang="en-US" sz="2800" dirty="0" smtClean="0"/>
              <a:t>За връзка на процесора с оперативната памет се използват три групи от комуникационни линии, </a:t>
            </a:r>
            <a:r>
              <a:rPr lang="bg-BG" altLang="en-US" sz="2800" dirty="0"/>
              <a:t>наречени „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шини</a:t>
            </a:r>
            <a:r>
              <a:rPr lang="bg-BG" altLang="en-US" sz="2800" dirty="0" smtClean="0"/>
              <a:t>“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</a:t>
            </a:r>
            <a:r>
              <a:rPr lang="bg-BG" altLang="en-US" sz="2800" dirty="0" smtClean="0"/>
              <a:t>)</a:t>
            </a:r>
            <a:r>
              <a:rPr lang="en-US" altLang="en-US" sz="2800" dirty="0" smtClean="0"/>
              <a:t>: </a:t>
            </a:r>
          </a:p>
          <a:p>
            <a:pPr lvl="1"/>
            <a:r>
              <a:rPr lang="bg-BG" altLang="en-US" sz="2400" dirty="0" smtClean="0"/>
              <a:t>Шина за данни (</a:t>
            </a:r>
            <a:r>
              <a:rPr lang="en-US" altLang="en-US" sz="2400" dirty="0" smtClean="0"/>
              <a:t>data bus</a:t>
            </a:r>
            <a:r>
              <a:rPr lang="bg-BG" altLang="en-US" sz="2400" dirty="0" smtClean="0"/>
              <a:t>)</a:t>
            </a:r>
            <a:r>
              <a:rPr lang="en-US" altLang="en-US" sz="2400" dirty="0" smtClean="0"/>
              <a:t> </a:t>
            </a:r>
          </a:p>
          <a:p>
            <a:pPr lvl="1"/>
            <a:r>
              <a:rPr lang="bg-BG" altLang="en-US" sz="2400" dirty="0" smtClean="0"/>
              <a:t>Адресна шина (</a:t>
            </a:r>
            <a:r>
              <a:rPr lang="en-US" altLang="en-US" sz="2400" dirty="0" smtClean="0"/>
              <a:t>address bus</a:t>
            </a:r>
            <a:r>
              <a:rPr lang="bg-BG" altLang="en-US" sz="2400" dirty="0" smtClean="0"/>
              <a:t>)</a:t>
            </a:r>
            <a:endParaRPr lang="en-US" altLang="en-US" sz="2400" dirty="0" smtClean="0"/>
          </a:p>
          <a:p>
            <a:pPr lvl="1"/>
            <a:r>
              <a:rPr lang="bg-BG" altLang="en-US" sz="2400" dirty="0" smtClean="0"/>
              <a:t>Шина за управление (</a:t>
            </a:r>
            <a:r>
              <a:rPr lang="en-US" altLang="en-US" sz="2400" dirty="0" smtClean="0"/>
              <a:t>control bus</a:t>
            </a:r>
            <a:r>
              <a:rPr lang="bg-BG" altLang="en-US" sz="2400" dirty="0" smtClean="0"/>
              <a:t>).</a:t>
            </a:r>
          </a:p>
          <a:p>
            <a:r>
              <a:rPr lang="bg-BG" altLang="en-US" sz="2800" dirty="0" smtClean="0"/>
              <a:t>„</a:t>
            </a:r>
            <a:r>
              <a:rPr lang="bg-BG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Машинна дума</a:t>
            </a:r>
            <a:r>
              <a:rPr lang="bg-BG" altLang="en-US" sz="2800" dirty="0"/>
              <a:t>“ (</a:t>
            </a:r>
            <a:r>
              <a:rPr lang="bg-BG" altLang="en-US" sz="2800" dirty="0" err="1"/>
              <a:t>англ</a:t>
            </a:r>
            <a:r>
              <a:rPr lang="bg-BG" altLang="en-US" sz="2800" dirty="0"/>
              <a:t>. </a:t>
            </a:r>
            <a:r>
              <a:rPr lang="en-US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</a:t>
            </a:r>
            <a:r>
              <a:rPr lang="bg-BG" altLang="en-US" sz="2800" dirty="0"/>
              <a:t>)</a:t>
            </a:r>
            <a:r>
              <a:rPr lang="en-US" altLang="en-US" sz="2800" dirty="0"/>
              <a:t>. </a:t>
            </a:r>
            <a:endParaRPr lang="bg-BG" altLang="en-US" sz="2800" dirty="0"/>
          </a:p>
          <a:p>
            <a:pPr lvl="1"/>
            <a:r>
              <a:rPr lang="bg-BG" altLang="en-US" sz="2400" dirty="0" smtClean="0"/>
              <a:t>Предаването </a:t>
            </a:r>
            <a:r>
              <a:rPr lang="bg-BG" altLang="en-US" sz="2400" dirty="0"/>
              <a:t>на данни към/от оперативната памет се извършва на </a:t>
            </a:r>
            <a:r>
              <a:rPr lang="bg-BG" altLang="en-US" sz="2400" dirty="0" smtClean="0"/>
              <a:t>неделима групи </a:t>
            </a:r>
            <a:r>
              <a:rPr lang="bg-BG" altLang="en-US" sz="2400" dirty="0"/>
              <a:t>от </a:t>
            </a:r>
            <a:r>
              <a:rPr lang="bg-BG" altLang="en-US" sz="2400" dirty="0" smtClean="0"/>
              <a:t>битове, наречена „дума“ (винаги е кратна </a:t>
            </a:r>
            <a:r>
              <a:rPr lang="bg-BG" altLang="en-US" sz="2400" dirty="0"/>
              <a:t>на </a:t>
            </a:r>
            <a:r>
              <a:rPr lang="bg-BG" altLang="en-US" sz="2400" dirty="0" smtClean="0"/>
              <a:t>8 бита). </a:t>
            </a:r>
          </a:p>
          <a:p>
            <a:pPr lvl="2"/>
            <a:r>
              <a:rPr lang="bg-BG" altLang="en-US" sz="2000" dirty="0" smtClean="0"/>
              <a:t>За всеки процесор това е специфичен параметър. </a:t>
            </a:r>
          </a:p>
          <a:p>
            <a:pPr lvl="1"/>
            <a:r>
              <a:rPr lang="bg-BG" altLang="en-US" sz="2400" dirty="0" smtClean="0"/>
              <a:t>Най-често съвременните процесори използват </a:t>
            </a:r>
            <a:r>
              <a:rPr lang="en-US" altLang="en-US" sz="2400" dirty="0" smtClean="0"/>
              <a:t>8</a:t>
            </a:r>
            <a:r>
              <a:rPr lang="bg-BG" altLang="en-US" sz="2400" dirty="0" smtClean="0"/>
              <a:t>-,</a:t>
            </a:r>
            <a:r>
              <a:rPr lang="en-US" altLang="en-US" sz="2400" dirty="0" smtClean="0"/>
              <a:t> </a:t>
            </a:r>
            <a:r>
              <a:rPr lang="bg-BG" altLang="en-US" sz="2400" dirty="0" smtClean="0"/>
              <a:t>16-</a:t>
            </a:r>
            <a:r>
              <a:rPr lang="en-US" altLang="en-US" sz="2400" dirty="0" smtClean="0"/>
              <a:t>, 32</a:t>
            </a:r>
            <a:r>
              <a:rPr lang="bg-BG" altLang="en-US" sz="2400" dirty="0" smtClean="0"/>
              <a:t>- или </a:t>
            </a:r>
            <a:r>
              <a:rPr lang="en-US" altLang="en-US" sz="2400" dirty="0" smtClean="0"/>
              <a:t>64</a:t>
            </a:r>
            <a:r>
              <a:rPr lang="bg-BG" altLang="en-US" sz="2400" dirty="0" smtClean="0"/>
              <a:t>-битови думи</a:t>
            </a:r>
            <a:r>
              <a:rPr lang="en-US" altLang="en-US" sz="2400" dirty="0" smtClean="0"/>
              <a:t>. </a:t>
            </a:r>
            <a:endParaRPr lang="bg-BG" altLang="en-US" sz="2400" dirty="0"/>
          </a:p>
          <a:p>
            <a:pPr lvl="2"/>
            <a:r>
              <a:rPr lang="bg-BG" altLang="en-US" sz="2000" dirty="0" smtClean="0"/>
              <a:t>8-битовата дума се нарича </a:t>
            </a:r>
            <a:r>
              <a:rPr lang="bg-BG" altLang="en-US" sz="2000" dirty="0"/>
              <a:t>„</a:t>
            </a:r>
            <a:r>
              <a:rPr lang="bg-BG" altLang="en-US" sz="2000" dirty="0" smtClean="0"/>
              <a:t>байт“</a:t>
            </a:r>
            <a:r>
              <a:rPr lang="en-US" altLang="en-US" sz="2000" dirty="0" smtClean="0"/>
              <a:t>. </a:t>
            </a:r>
            <a:endParaRPr lang="bg-BG" altLang="en-US" sz="2000" dirty="0"/>
          </a:p>
          <a:p>
            <a:pPr lvl="2"/>
            <a:r>
              <a:rPr lang="en-US" altLang="en-US" sz="2000" dirty="0" smtClean="0"/>
              <a:t>16-</a:t>
            </a:r>
            <a:r>
              <a:rPr lang="bg-BG" altLang="en-US" sz="2000" dirty="0"/>
              <a:t>битовата дума се нарича </a:t>
            </a:r>
            <a:r>
              <a:rPr lang="bg-BG" altLang="en-US" sz="2000" dirty="0" smtClean="0"/>
              <a:t>„</a:t>
            </a:r>
            <a:r>
              <a:rPr lang="bg-BG" altLang="en-US" sz="2000" dirty="0" err="1" smtClean="0"/>
              <a:t>двубайтова</a:t>
            </a:r>
            <a:r>
              <a:rPr lang="bg-BG" altLang="en-US" sz="2000" dirty="0" smtClean="0"/>
              <a:t> дума“ (</a:t>
            </a:r>
            <a:r>
              <a:rPr lang="en-US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2-bytes word</a:t>
            </a:r>
            <a:r>
              <a:rPr lang="bg-BG" altLang="en-US" sz="2000" dirty="0" smtClean="0"/>
              <a:t>)</a:t>
            </a:r>
            <a:endParaRPr lang="en-US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en-US" altLang="en-US" sz="2000" dirty="0" smtClean="0"/>
              <a:t>32-</a:t>
            </a:r>
            <a:r>
              <a:rPr lang="bg-BG" altLang="en-US" sz="2000" dirty="0"/>
              <a:t>битовата дума се нарича </a:t>
            </a:r>
            <a:r>
              <a:rPr lang="bg-BG" altLang="en-US" sz="2000" dirty="0" smtClean="0"/>
              <a:t>„</a:t>
            </a:r>
            <a:r>
              <a:rPr lang="bg-BG" altLang="en-US" sz="2000" dirty="0" err="1" smtClean="0"/>
              <a:t>четирибайтова</a:t>
            </a:r>
            <a:r>
              <a:rPr lang="bg-BG" altLang="en-US" sz="2000" dirty="0" smtClean="0"/>
              <a:t> дума“ (</a:t>
            </a:r>
            <a:r>
              <a:rPr lang="en-US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4-bytes word</a:t>
            </a:r>
            <a:r>
              <a:rPr lang="bg-BG" altLang="en-US" sz="2000" dirty="0" smtClean="0"/>
              <a:t>)</a:t>
            </a:r>
            <a:endParaRPr lang="en-US" altLang="en-US" sz="2000" dirty="0"/>
          </a:p>
          <a:p>
            <a:pPr lvl="1"/>
            <a:endParaRPr lang="en-US" sz="2400" dirty="0"/>
          </a:p>
        </p:txBody>
      </p:sp>
      <p:pic>
        <p:nvPicPr>
          <p:cNvPr id="2050" name="Picture 2" descr="Figs/memcpuconnec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2" y="3581400"/>
            <a:ext cx="4248960" cy="293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67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Системни шини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10200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Адресна шина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bg-BG" dirty="0" smtClean="0"/>
              <a:t>Процесорът използва тази шина за да зададе адреса на клетката от паметта, с която иска да работи.</a:t>
            </a:r>
          </a:p>
          <a:p>
            <a:r>
              <a:rPr lang="bg-BG" dirty="0" smtClean="0"/>
              <a:t>Шина за управление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bg-BG" dirty="0" smtClean="0"/>
              <a:t>Използва се за подаване на управляващи сигнали от процесора към паметта и обратно:</a:t>
            </a:r>
          </a:p>
          <a:p>
            <a:pPr lvl="2"/>
            <a:r>
              <a:rPr lang="bg-BG" dirty="0" smtClean="0"/>
              <a:t>Процесорът подава сигнал за типа на операцията, която трябва да се стартира (дали е четене или запис).</a:t>
            </a:r>
          </a:p>
          <a:p>
            <a:pPr lvl="2"/>
            <a:r>
              <a:rPr lang="bg-BG" sz="2400" dirty="0" smtClean="0"/>
              <a:t>Паметта подава сигнали към процесора дали операциите са завършили успешно.</a:t>
            </a:r>
            <a:r>
              <a:rPr lang="bg-BG" dirty="0" smtClean="0"/>
              <a:t> </a:t>
            </a:r>
          </a:p>
          <a:p>
            <a:r>
              <a:rPr lang="bg-BG" dirty="0" smtClean="0"/>
              <a:t>Шина за данни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lvl="1"/>
            <a:r>
              <a:rPr lang="bg-BG" dirty="0" smtClean="0"/>
              <a:t>Използва се за предаване на данни и инструкции от паметта към процесора или обратно.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036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Адресно поле на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bg-BG" altLang="en-US" sz="3000" dirty="0" smtClean="0"/>
              <a:t>За да се осигури достъп до записаната стойност в клетка от паметта е необходимо да се знае </a:t>
            </a:r>
            <a:r>
              <a:rPr lang="bg-BG" alt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адреса</a:t>
            </a:r>
            <a:r>
              <a:rPr lang="bg-BG" altLang="en-US" sz="3000" dirty="0" smtClean="0"/>
              <a:t> на съответната клетка.</a:t>
            </a:r>
          </a:p>
          <a:p>
            <a:pPr lvl="1">
              <a:spcBef>
                <a:spcPts val="400"/>
              </a:spcBef>
            </a:pPr>
            <a:r>
              <a:rPr lang="bg-BG" altLang="en-US" sz="2600" dirty="0" smtClean="0"/>
              <a:t>На апаратно ниво, адресът е уникален идентификатор на съответната клетка</a:t>
            </a:r>
            <a:r>
              <a:rPr lang="en-US" altLang="en-US" sz="2600" dirty="0" smtClean="0"/>
              <a:t>. </a:t>
            </a:r>
            <a:endParaRPr lang="bg-BG" altLang="en-US" sz="2600" dirty="0" smtClean="0"/>
          </a:p>
          <a:p>
            <a:pPr lvl="2">
              <a:spcBef>
                <a:spcPts val="400"/>
              </a:spcBef>
            </a:pPr>
            <a:r>
              <a:rPr lang="bg-BG" altLang="en-US" sz="2200" dirty="0" smtClean="0"/>
              <a:t>За простота, адресите може да се разглеждат като двоични </a:t>
            </a:r>
            <a:r>
              <a:rPr lang="bg-BG" altLang="en-US" sz="2200" dirty="0" err="1" smtClean="0"/>
              <a:t>беззнакови</a:t>
            </a:r>
            <a:r>
              <a:rPr lang="bg-BG" altLang="en-US" sz="2200" dirty="0" smtClean="0"/>
              <a:t> цели числа (</a:t>
            </a:r>
            <a:r>
              <a:rPr lang="en-US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unsigned</a:t>
            </a:r>
            <a:r>
              <a:rPr lang="bg-BG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binary </a:t>
            </a:r>
            <a:r>
              <a:rPr lang="en-US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integers</a:t>
            </a:r>
            <a:r>
              <a:rPr lang="bg-BG" altLang="en-US" sz="2200" dirty="0" smtClean="0"/>
              <a:t>). В реални системи това може да е много по-сложен механизъм, зависещ от процесора и от операционната система.</a:t>
            </a:r>
            <a:endParaRPr lang="en-US" altLang="en-US" sz="2200" dirty="0"/>
          </a:p>
          <a:p>
            <a:pPr lvl="1">
              <a:spcBef>
                <a:spcPts val="400"/>
              </a:spcBef>
            </a:pPr>
            <a:r>
              <a:rPr lang="bg-BG" altLang="en-US" sz="2600" dirty="0"/>
              <a:t>Общият брой на всички уникални идентификатори на клетки от паметта, се нарича „адресно поле“</a:t>
            </a:r>
            <a:r>
              <a:rPr lang="en-US" altLang="en-US" sz="2600" dirty="0"/>
              <a:t> </a:t>
            </a:r>
            <a:r>
              <a:rPr lang="bg-BG" altLang="en-US" sz="2600" dirty="0"/>
              <a:t>(</a:t>
            </a:r>
            <a:r>
              <a:rPr lang="bg-BG" altLang="en-US" sz="2600" dirty="0" err="1"/>
              <a:t>англ</a:t>
            </a:r>
            <a:r>
              <a:rPr lang="bg-BG" altLang="en-US" sz="2600" dirty="0"/>
              <a:t>. </a:t>
            </a:r>
            <a:r>
              <a:rPr lang="en-US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space</a:t>
            </a:r>
            <a:r>
              <a:rPr lang="bg-BG" altLang="en-US" sz="2600" dirty="0"/>
              <a:t>).</a:t>
            </a:r>
            <a:r>
              <a:rPr lang="en-US" altLang="en-US" sz="2600" dirty="0"/>
              <a:t> </a:t>
            </a:r>
            <a:endParaRPr lang="bg-BG" altLang="en-US" sz="2600" dirty="0"/>
          </a:p>
          <a:p>
            <a:pPr lvl="2">
              <a:spcBef>
                <a:spcPts val="400"/>
              </a:spcBef>
            </a:pPr>
            <a:r>
              <a:rPr lang="bg-BG" altLang="en-US" sz="2200" dirty="0" smtClean="0"/>
              <a:t>Пример: При 64 </a:t>
            </a:r>
            <a:r>
              <a:rPr lang="en-US" altLang="en-US" sz="2200" dirty="0" smtClean="0"/>
              <a:t>K</a:t>
            </a:r>
            <a:r>
              <a:rPr lang="bg-BG" altLang="en-US" sz="2200" dirty="0" smtClean="0"/>
              <a:t>байта памет и 1 байт машинна дума, то е необходимо адресно поле със стойности на адресите в диапазона </a:t>
            </a:r>
            <a:r>
              <a:rPr lang="en-US" altLang="en-US" sz="2200" dirty="0" smtClean="0"/>
              <a:t>[0, 65535]</a:t>
            </a:r>
            <a:r>
              <a:rPr lang="bg-BG" altLang="en-US" sz="2200" dirty="0" smtClean="0"/>
              <a:t>.</a:t>
            </a:r>
            <a:endParaRPr lang="en-US" sz="2200" dirty="0"/>
          </a:p>
          <a:p>
            <a:pPr lvl="2">
              <a:spcBef>
                <a:spcPts val="400"/>
              </a:spcBef>
            </a:pPr>
            <a:r>
              <a:rPr lang="bg-BG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</a:t>
            </a:r>
            <a:r>
              <a:rPr lang="bg-BG" altLang="en-US" sz="2200" dirty="0" smtClean="0"/>
              <a:t>! На програмно ниво, адресът може да е идентификатор не само на една клетка, но и на група последователни клетки </a:t>
            </a:r>
          </a:p>
          <a:p>
            <a:pPr lvl="3">
              <a:spcBef>
                <a:spcPts val="400"/>
              </a:spcBef>
            </a:pPr>
            <a:r>
              <a:rPr lang="bg-BG" altLang="en-US" sz="1800" dirty="0" smtClean="0"/>
              <a:t>броят на клетки в този случай се определя от т.нар. „</a:t>
            </a:r>
            <a:r>
              <a:rPr lang="bg-BG" altLang="en-US" sz="1800" i="1" dirty="0" smtClean="0"/>
              <a:t>тип на данните“</a:t>
            </a:r>
            <a:r>
              <a:rPr lang="en-US" altLang="en-US" sz="1800" dirty="0" smtClean="0"/>
              <a:t>. </a:t>
            </a:r>
            <a:endParaRPr lang="bg-BG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31071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Адресно поле на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672150" cy="5410200"/>
          </a:xfrm>
        </p:spPr>
        <p:txBody>
          <a:bodyPr>
            <a:normAutofit fontScale="92500" lnSpcReduction="20000"/>
          </a:bodyPr>
          <a:lstStyle/>
          <a:p>
            <a:r>
              <a:rPr lang="bg-BG" altLang="en-US" dirty="0" smtClean="0"/>
              <a:t>Пример</a:t>
            </a:r>
            <a:r>
              <a:rPr lang="en-US" altLang="en-US" dirty="0" smtClean="0"/>
              <a:t> 1: 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Въпрос</a:t>
            </a:r>
            <a:r>
              <a:rPr lang="en-US" altLang="en-US" dirty="0" smtClean="0"/>
              <a:t>: </a:t>
            </a:r>
            <a:endParaRPr lang="bg-BG" altLang="en-US" dirty="0" smtClean="0"/>
          </a:p>
          <a:p>
            <a:pPr lvl="2"/>
            <a:r>
              <a:rPr lang="bg-BG" altLang="en-US" dirty="0" smtClean="0"/>
              <a:t>Колко бита трябва да е адресната шина за да се адресира всеки байт при </a:t>
            </a:r>
            <a:br>
              <a:rPr lang="bg-BG" altLang="en-US" dirty="0" smtClean="0"/>
            </a:br>
            <a:r>
              <a:rPr lang="bg-BG" altLang="en-US" dirty="0" smtClean="0"/>
              <a:t>32 </a:t>
            </a:r>
            <a:r>
              <a:rPr lang="bg-BG" altLang="en-US" dirty="0" err="1" smtClean="0"/>
              <a:t>Мбайта</a:t>
            </a:r>
            <a:r>
              <a:rPr lang="bg-BG" altLang="en-US" dirty="0" smtClean="0"/>
              <a:t> оперативна памет</a:t>
            </a:r>
            <a:r>
              <a:rPr lang="en-US" altLang="en-US" dirty="0" smtClean="0"/>
              <a:t>?</a:t>
            </a:r>
            <a:endParaRPr lang="en-US" altLang="en-US" dirty="0"/>
          </a:p>
          <a:p>
            <a:pPr lvl="1"/>
            <a:r>
              <a:rPr lang="bg-BG" altLang="en-US" dirty="0" smtClean="0"/>
              <a:t>Отговор</a:t>
            </a:r>
            <a:r>
              <a:rPr lang="en-US" altLang="en-US" dirty="0" smtClean="0"/>
              <a:t>: </a:t>
            </a:r>
          </a:p>
          <a:p>
            <a:pPr lvl="2"/>
            <a:r>
              <a:rPr lang="en-US" altLang="en-US" dirty="0" smtClean="0"/>
              <a:t>32 MB = 2</a:t>
            </a:r>
            <a:r>
              <a:rPr lang="en-US" altLang="en-US" baseline="30000" dirty="0" smtClean="0"/>
              <a:t>25</a:t>
            </a:r>
            <a:r>
              <a:rPr lang="en-US" altLang="en-US" dirty="0" smtClean="0"/>
              <a:t> </a:t>
            </a:r>
            <a:r>
              <a:rPr lang="bg-BG" altLang="en-US" dirty="0" smtClean="0"/>
              <a:t>байта</a:t>
            </a:r>
            <a:r>
              <a:rPr lang="en-US" altLang="en-US" dirty="0" smtClean="0"/>
              <a:t>. </a:t>
            </a:r>
            <a:r>
              <a:rPr lang="bg-BG" altLang="en-US" dirty="0" smtClean="0"/>
              <a:t>Следователно, размерът на адресната шина е  </a:t>
            </a:r>
            <a:br>
              <a:rPr lang="bg-BG" altLang="en-US" dirty="0" smtClean="0"/>
            </a:b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</a:t>
            </a:r>
            <a:r>
              <a:rPr lang="en-US" altLang="en-US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(2</a:t>
            </a:r>
            <a:r>
              <a:rPr lang="en-US" altLang="en-US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бита</a:t>
            </a:r>
            <a:r>
              <a:rPr lang="bg-BG" altLang="en-US" dirty="0" smtClean="0"/>
              <a:t> за да има достъп на ниво </a:t>
            </a:r>
            <a:r>
              <a:rPr lang="en-US" altLang="en-US" dirty="0" smtClean="0"/>
              <a:t>‘</a:t>
            </a:r>
            <a:r>
              <a:rPr lang="bg-BG" altLang="en-US" dirty="0" smtClean="0"/>
              <a:t>байт</a:t>
            </a:r>
            <a:r>
              <a:rPr lang="en-US" altLang="en-US" dirty="0" smtClean="0"/>
              <a:t>’.</a:t>
            </a:r>
            <a:endParaRPr lang="en-US" altLang="en-US" dirty="0"/>
          </a:p>
          <a:p>
            <a:r>
              <a:rPr lang="bg-BG" altLang="en-US" dirty="0"/>
              <a:t>Пример</a:t>
            </a:r>
            <a:r>
              <a:rPr lang="en-US" altLang="en-US" dirty="0"/>
              <a:t> 2</a:t>
            </a:r>
            <a:r>
              <a:rPr lang="en-US" altLang="en-US" dirty="0" smtClean="0"/>
              <a:t>: </a:t>
            </a:r>
            <a:endParaRPr lang="bg-BG" altLang="en-US" dirty="0"/>
          </a:p>
          <a:p>
            <a:pPr lvl="1"/>
            <a:r>
              <a:rPr lang="bg-BG" altLang="en-US" dirty="0" smtClean="0"/>
              <a:t>Въпрос</a:t>
            </a:r>
            <a:r>
              <a:rPr lang="en-US" altLang="en-US" dirty="0" smtClean="0"/>
              <a:t>: </a:t>
            </a:r>
            <a:endParaRPr lang="bg-BG" altLang="en-US" dirty="0" smtClean="0"/>
          </a:p>
          <a:p>
            <a:pPr lvl="2"/>
            <a:r>
              <a:rPr lang="bg-BG" altLang="en-US" dirty="0"/>
              <a:t>Колко бита трябва да е адресната шина за да се адресира 128 </a:t>
            </a:r>
            <a:r>
              <a:rPr lang="bg-BG" altLang="en-US" dirty="0" err="1"/>
              <a:t>Мбайта</a:t>
            </a:r>
            <a:r>
              <a:rPr lang="bg-BG" altLang="en-US" dirty="0"/>
              <a:t> оперативна </a:t>
            </a:r>
            <a:r>
              <a:rPr lang="bg-BG" altLang="en-US" dirty="0" smtClean="0"/>
              <a:t>памет при размер на машинната дума 8 байта</a:t>
            </a:r>
            <a:r>
              <a:rPr lang="en-US" altLang="en-US" dirty="0" smtClean="0"/>
              <a:t>?</a:t>
            </a:r>
            <a:endParaRPr lang="en-US" altLang="en-US" dirty="0"/>
          </a:p>
          <a:p>
            <a:pPr lvl="1"/>
            <a:r>
              <a:rPr lang="bg-BG" altLang="en-US" dirty="0" smtClean="0"/>
              <a:t>Отговор</a:t>
            </a:r>
            <a:r>
              <a:rPr lang="en-US" altLang="en-US" dirty="0" smtClean="0"/>
              <a:t>: </a:t>
            </a:r>
          </a:p>
          <a:p>
            <a:pPr lvl="2"/>
            <a:r>
              <a:rPr lang="en-US" altLang="en-US" dirty="0" smtClean="0"/>
              <a:t>128 MB</a:t>
            </a:r>
            <a:r>
              <a:rPr lang="bg-BG" altLang="en-US" dirty="0" smtClean="0"/>
              <a:t> = </a:t>
            </a:r>
            <a:r>
              <a:rPr lang="en-US" altLang="en-US" dirty="0" smtClean="0"/>
              <a:t>2</a:t>
            </a:r>
            <a:r>
              <a:rPr lang="en-US" altLang="en-US" baseline="30000" dirty="0" smtClean="0"/>
              <a:t>27</a:t>
            </a:r>
            <a:r>
              <a:rPr lang="bg-BG" altLang="en-US" baseline="30000" dirty="0" smtClean="0"/>
              <a:t> </a:t>
            </a:r>
            <a:r>
              <a:rPr lang="bg-BG" altLang="en-US" dirty="0" smtClean="0"/>
              <a:t>байта.</a:t>
            </a:r>
            <a:r>
              <a:rPr lang="en-US" altLang="en-US" dirty="0" smtClean="0"/>
              <a:t> </a:t>
            </a:r>
          </a:p>
          <a:p>
            <a:pPr lvl="2"/>
            <a:r>
              <a:rPr lang="en-US" altLang="en-US" dirty="0" smtClean="0"/>
              <a:t>8 = 2</a:t>
            </a:r>
            <a:r>
              <a:rPr lang="en-US" altLang="en-US" baseline="30000" dirty="0" smtClean="0"/>
              <a:t>3</a:t>
            </a:r>
            <a:r>
              <a:rPr lang="en-US" altLang="en-US" dirty="0"/>
              <a:t> </a:t>
            </a:r>
            <a:r>
              <a:rPr lang="bg-BG" altLang="en-US" dirty="0" smtClean="0"/>
              <a:t>байта</a:t>
            </a:r>
            <a:r>
              <a:rPr lang="en-US" altLang="en-US" dirty="0" smtClean="0"/>
              <a:t> </a:t>
            </a:r>
            <a:r>
              <a:rPr lang="en-US" altLang="en-US" dirty="0" smtClean="0">
                <a:latin typeface="Cambria Math"/>
                <a:ea typeface="Cambria Math"/>
              </a:rPr>
              <a:t>⇒ </a:t>
            </a:r>
            <a:r>
              <a:rPr lang="bg-BG" altLang="en-US" dirty="0"/>
              <a:t>оперативната памет има </a:t>
            </a:r>
            <a:r>
              <a:rPr lang="en-US" altLang="en-US" dirty="0" smtClean="0"/>
              <a:t>2</a:t>
            </a:r>
            <a:r>
              <a:rPr lang="en-US" altLang="en-US" baseline="30000" dirty="0" smtClean="0"/>
              <a:t>27 </a:t>
            </a:r>
            <a:r>
              <a:rPr lang="en-US" altLang="en-US" dirty="0" smtClean="0"/>
              <a:t>– 2</a:t>
            </a:r>
            <a:r>
              <a:rPr lang="en-US" altLang="en-US" baseline="30000" dirty="0" smtClean="0"/>
              <a:t>3 </a:t>
            </a:r>
            <a:r>
              <a:rPr lang="en-US" altLang="en-US" dirty="0" smtClean="0"/>
              <a:t>= 2</a:t>
            </a:r>
            <a:r>
              <a:rPr lang="en-US" altLang="en-US" baseline="30000" dirty="0" smtClean="0"/>
              <a:t>24</a:t>
            </a:r>
            <a:r>
              <a:rPr lang="en-US" altLang="en-US" dirty="0" smtClean="0"/>
              <a:t> </a:t>
            </a:r>
            <a:r>
              <a:rPr lang="bg-BG" altLang="en-US" dirty="0" smtClean="0"/>
              <a:t>думи</a:t>
            </a:r>
            <a:r>
              <a:rPr lang="en-US" altLang="en-US" dirty="0" smtClean="0"/>
              <a:t>. </a:t>
            </a:r>
          </a:p>
          <a:p>
            <a:pPr lvl="2"/>
            <a:r>
              <a:rPr lang="bg-BG" altLang="en-US" dirty="0" smtClean="0"/>
              <a:t>Следователно</a:t>
            </a:r>
            <a:r>
              <a:rPr lang="bg-BG" altLang="en-US" dirty="0"/>
              <a:t>, размерът на адресната шина е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</a:t>
            </a:r>
            <a:r>
              <a:rPr lang="en-US" altLang="en-US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(2</a:t>
            </a:r>
            <a:r>
              <a:rPr lang="en-US" altLang="en-US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 </a:t>
            </a:r>
            <a:r>
              <a:rPr lang="en-US" altLang="en-US" dirty="0" smtClean="0"/>
              <a:t>=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 bits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dirty="0"/>
              <a:t>за да има достъп на ниво </a:t>
            </a:r>
            <a:r>
              <a:rPr lang="en-US" altLang="en-US" dirty="0" smtClean="0"/>
              <a:t>‘</a:t>
            </a:r>
            <a:r>
              <a:rPr lang="bg-BG" altLang="en-US" dirty="0" smtClean="0"/>
              <a:t>машинна дума</a:t>
            </a:r>
            <a:r>
              <a:rPr lang="en-US" altLang="en-US" dirty="0" smtClean="0"/>
              <a:t>’</a:t>
            </a:r>
            <a:r>
              <a:rPr lang="bg-BG" altLang="en-US" dirty="0" smtClean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7740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Адресно поле </a:t>
            </a:r>
            <a:r>
              <a:rPr lang="en-US" altLang="en-US" dirty="0" smtClean="0"/>
              <a:t>vs. </a:t>
            </a:r>
            <a:r>
              <a:rPr lang="bg-BG" altLang="en-US" dirty="0" smtClean="0"/>
              <a:t>Машинна дума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 !</a:t>
            </a:r>
          </a:p>
          <a:p>
            <a:pPr lvl="1"/>
            <a:r>
              <a:rPr lang="bg-BG" sz="2400" dirty="0"/>
              <a:t>Тъй като при много съвременни процесорите големината на адресната шина и на шината за данни са еднакви, има объркване между понятията „адресно поле“ и „машинна дума“</a:t>
            </a:r>
          </a:p>
          <a:p>
            <a:r>
              <a:rPr lang="bg-BG" sz="2800" dirty="0" smtClean="0"/>
              <a:t>Терминът </a:t>
            </a:r>
            <a:r>
              <a:rPr lang="bg-BG" sz="2800" dirty="0"/>
              <a:t>„</a:t>
            </a:r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машинна дума</a:t>
            </a:r>
            <a:r>
              <a:rPr lang="bg-BG" sz="2800" dirty="0"/>
              <a:t>“ се използва за задаване на </a:t>
            </a:r>
            <a:r>
              <a:rPr lang="bg-BG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размера на данните</a:t>
            </a:r>
            <a:r>
              <a:rPr lang="bg-BG" sz="2800" dirty="0"/>
              <a:t>, които могат на един цикъл да се прехвърлят по шината за </a:t>
            </a:r>
            <a:r>
              <a:rPr lang="bg-BG" sz="2800" dirty="0" smtClean="0"/>
              <a:t>данни, но това не определя размерът на адресната шина</a:t>
            </a:r>
            <a:r>
              <a:rPr lang="en-US" sz="2800" dirty="0" smtClean="0"/>
              <a:t>.</a:t>
            </a:r>
            <a:r>
              <a:rPr lang="en-US" sz="2800" dirty="0"/>
              <a:t> </a:t>
            </a:r>
            <a:endParaRPr lang="bg-BG" sz="2800" dirty="0" smtClean="0"/>
          </a:p>
          <a:p>
            <a:pPr lvl="1"/>
            <a:r>
              <a:rPr lang="bg-BG" sz="2400" dirty="0" smtClean="0"/>
              <a:t>„32 битов процесор“ е термин, който показва големината на машинната дума, т.е. нормално четене в/запис от паметта се извършва на група от 32 бита, предавани по шината за данни. </a:t>
            </a:r>
          </a:p>
          <a:p>
            <a:pPr lvl="2"/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Внимание! </a:t>
            </a:r>
            <a:r>
              <a:rPr lang="bg-BG" sz="2000" dirty="0"/>
              <a:t>В „32-битов процесор“адресно поле може да бъде много по-голямо от </a:t>
            </a: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sz="2000" dirty="0" smtClean="0"/>
              <a:t>4 </a:t>
            </a:r>
            <a:r>
              <a:rPr lang="bg-BG" sz="2000" dirty="0"/>
              <a:t>гигабайта (2</a:t>
            </a:r>
            <a:r>
              <a:rPr lang="bg-BG" sz="2000" baseline="30000" dirty="0"/>
              <a:t>32</a:t>
            </a:r>
            <a:r>
              <a:rPr lang="bg-BG" sz="2000" dirty="0"/>
              <a:t> байта) 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140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Йерархия на компютърната памет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z="2800" dirty="0" smtClean="0"/>
              <a:t>Е</a:t>
            </a:r>
            <a:r>
              <a:rPr lang="bg-BG" sz="2800" dirty="0" smtClean="0"/>
              <a:t>дин от основните недостатъци на фон </a:t>
            </a:r>
            <a:r>
              <a:rPr lang="bg-BG" sz="2800" dirty="0" err="1" smtClean="0"/>
              <a:t>Ноймановата</a:t>
            </a:r>
            <a:r>
              <a:rPr lang="bg-BG" sz="2800" dirty="0" smtClean="0"/>
              <a:t> архитектура е факта, че шината за данни се явява място за поява на „задръстване“: </a:t>
            </a:r>
          </a:p>
          <a:p>
            <a:pPr lvl="1"/>
            <a:r>
              <a:rPr lang="bg-BG" sz="2400" dirty="0" smtClean="0"/>
              <a:t>Това е единственият път, чрез който процесорът може да получи необходимите инструкции и данни.</a:t>
            </a:r>
          </a:p>
          <a:p>
            <a:pPr lvl="1"/>
            <a:r>
              <a:rPr lang="bg-BG" sz="2400" dirty="0" smtClean="0"/>
              <a:t>На практика това е истински проблем при създаването на бързи компютри: процесорът е много по-бърз от паметта, а е твърде скъпо създаването на големи оперативни памети, имащи бързодействието на процесора. Това налага процесорът да „чака“ докато данните се прехвърлят по шината за данни.</a:t>
            </a:r>
          </a:p>
          <a:p>
            <a:r>
              <a:rPr lang="bg-BG" sz="2800" dirty="0" smtClean="0"/>
              <a:t>Едно от съществуващите решения е използване на памети от различен вид и бързодействие в различни моменти от работата на компютъра</a:t>
            </a:r>
            <a:r>
              <a:rPr lang="en-US" sz="2800" dirty="0" smtClean="0"/>
              <a:t>.</a:t>
            </a:r>
            <a:endParaRPr lang="en-US" sz="2800" dirty="0"/>
          </a:p>
          <a:p>
            <a:pPr lvl="1"/>
            <a:r>
              <a:rPr lang="bg-BG" sz="2400" dirty="0" smtClean="0"/>
              <a:t>Това е възможно, защото повечето програми имат свойството „</a:t>
            </a:r>
            <a:r>
              <a:rPr lang="bg-BG" sz="2400" dirty="0" err="1" smtClean="0"/>
              <a:t>локалност</a:t>
            </a:r>
            <a:r>
              <a:rPr lang="bg-BG" sz="2400" dirty="0" smtClean="0"/>
              <a:t> на разположението“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locality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</a:t>
            </a:r>
            <a:r>
              <a:rPr lang="bg-BG" sz="2400" dirty="0" smtClean="0"/>
              <a:t>)</a:t>
            </a:r>
            <a:r>
              <a:rPr lang="en-US" sz="2400" dirty="0" smtClean="0"/>
              <a:t>: </a:t>
            </a:r>
            <a:r>
              <a:rPr lang="bg-BG" sz="2400" dirty="0" smtClean="0"/>
              <a:t>в даден момент данните/инструкциите най-често се разполагат в съседни части от паметта</a:t>
            </a:r>
            <a:r>
              <a:rPr lang="en-US" sz="2400" dirty="0" smtClean="0"/>
              <a:t>. </a:t>
            </a:r>
            <a:endParaRPr lang="bg-BG" sz="2400" dirty="0" smtClean="0"/>
          </a:p>
          <a:p>
            <a:pPr lvl="1"/>
            <a:r>
              <a:rPr lang="bg-BG" sz="2400" dirty="0" smtClean="0"/>
              <a:t>Следователно, ако такъв участък от паметта се премести в друга памет, имаща по-голямо бързодействие, обработката ще е по-бърза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832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Йерархия на компютърната памет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sz="2800" dirty="0" smtClean="0"/>
              <a:t>В сегашното поколение компютри се използва три групи памет, разделени според бързодействието си на:</a:t>
            </a:r>
          </a:p>
          <a:p>
            <a:pPr lvl="1"/>
            <a:r>
              <a:rPr lang="bg-BG" sz="2400" dirty="0" smtClean="0"/>
              <a:t>Регистри за данни, разположени в процесора – те са с размер 1 машинна дума (обикновено са между </a:t>
            </a:r>
            <a:r>
              <a:rPr lang="en-US" sz="2400" dirty="0" smtClean="0"/>
              <a:t>8 </a:t>
            </a:r>
            <a:r>
              <a:rPr lang="bg-BG" sz="2400" dirty="0" smtClean="0"/>
              <a:t>и</a:t>
            </a:r>
            <a:r>
              <a:rPr lang="en-US" sz="2400" dirty="0" smtClean="0"/>
              <a:t> </a:t>
            </a:r>
            <a:r>
              <a:rPr lang="en-US" sz="2400" dirty="0"/>
              <a:t>64 </a:t>
            </a:r>
            <a:r>
              <a:rPr lang="bg-BG" sz="2400" dirty="0" smtClean="0"/>
              <a:t>на брой)</a:t>
            </a:r>
            <a:r>
              <a:rPr lang="en-US" sz="2400" dirty="0" smtClean="0"/>
              <a:t>.</a:t>
            </a:r>
            <a:endParaRPr lang="bg-BG" sz="2400" dirty="0" smtClean="0"/>
          </a:p>
          <a:p>
            <a:pPr lvl="1"/>
            <a:r>
              <a:rPr lang="bg-BG" sz="2400" dirty="0" smtClean="0"/>
              <a:t>Кеш-памет (</a:t>
            </a: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en-US" sz="2400" dirty="0" smtClean="0"/>
              <a:t>Cache memory</a:t>
            </a:r>
            <a:r>
              <a:rPr lang="bg-BG" sz="2400" dirty="0" smtClean="0"/>
              <a:t>)</a:t>
            </a:r>
            <a:endParaRPr lang="en-US" sz="2400" dirty="0"/>
          </a:p>
          <a:p>
            <a:pPr lvl="1"/>
            <a:r>
              <a:rPr lang="bg-BG" sz="2400" dirty="0" smtClean="0"/>
              <a:t>Оперативна памет – между 20 и 200 пъти по-бавна от регистрите на процесора.</a:t>
            </a:r>
            <a:endParaRPr lang="en-US" sz="2400" dirty="0"/>
          </a:p>
          <a:p>
            <a:r>
              <a:rPr lang="bg-BG" sz="2800" dirty="0" smtClean="0"/>
              <a:t>Как се използват тези памети ?</a:t>
            </a:r>
            <a:endParaRPr lang="en-US" sz="2800" dirty="0" smtClean="0"/>
          </a:p>
          <a:p>
            <a:pPr lvl="1"/>
            <a:r>
              <a:rPr lang="bg-BG" sz="2400" dirty="0" smtClean="0"/>
              <a:t>Ако се работи с повече данни, отколкото е броя на регистрите, процесорът чете/пише от/в оперативната памет</a:t>
            </a:r>
            <a:r>
              <a:rPr lang="en-US" sz="2400" dirty="0" smtClean="0"/>
              <a:t>.</a:t>
            </a:r>
          </a:p>
          <a:p>
            <a:pPr lvl="1"/>
            <a:r>
              <a:rPr lang="bg-BG" sz="2400" dirty="0"/>
              <a:t>Използвайки „</a:t>
            </a:r>
            <a:r>
              <a:rPr lang="bg-BG" sz="2400" dirty="0" err="1" smtClean="0"/>
              <a:t>локалността</a:t>
            </a:r>
            <a:r>
              <a:rPr lang="bg-BG" sz="2400" dirty="0" smtClean="0"/>
              <a:t> </a:t>
            </a:r>
            <a:r>
              <a:rPr lang="bg-BG" sz="2400" dirty="0"/>
              <a:t>на разположението“ </a:t>
            </a:r>
            <a:r>
              <a:rPr lang="bg-BG" sz="2400" dirty="0" smtClean="0"/>
              <a:t>най-често използваните данни и/или инструкции се преместват в кеш-паметта (бива от 1 и от 2 ниво)</a:t>
            </a:r>
            <a:r>
              <a:rPr lang="bg-BG" sz="2400" dirty="0"/>
              <a:t> </a:t>
            </a:r>
            <a:r>
              <a:rPr lang="bg-BG" sz="2400" dirty="0" smtClean="0"/>
              <a:t>– съществуват специални алгоритми за да се реши какво да е в кеша.</a:t>
            </a:r>
            <a:endParaRPr lang="en-US" sz="2000" dirty="0"/>
          </a:p>
          <a:p>
            <a:pPr lvl="1"/>
            <a:r>
              <a:rPr lang="bg-BG" sz="2400" dirty="0" smtClean="0"/>
              <a:t>Ако необходимите данни и инструкции ги няма в кеша, то тогава се извършва обръщение към оперативната памет.</a:t>
            </a:r>
            <a:r>
              <a:rPr lang="en-US" sz="2400" dirty="0" smtClean="0"/>
              <a:t> </a:t>
            </a: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012" y="3691854"/>
            <a:ext cx="6069200" cy="2978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711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Кеш-памет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24550" cy="5486400"/>
          </a:xfrm>
        </p:spPr>
        <p:txBody>
          <a:bodyPr>
            <a:normAutofit fontScale="92500"/>
          </a:bodyPr>
          <a:lstStyle/>
          <a:p>
            <a:r>
              <a:rPr lang="bg-BG" altLang="en-US" sz="2800" dirty="0" smtClean="0"/>
              <a:t>Тя е по-бавна от регистрите на процесора, но е по-бърза от оперативната памет</a:t>
            </a:r>
            <a:r>
              <a:rPr lang="en-US" altLang="en-US" sz="2800" dirty="0" smtClean="0"/>
              <a:t>. </a:t>
            </a:r>
          </a:p>
          <a:p>
            <a:pPr lvl="1"/>
            <a:r>
              <a:rPr lang="bg-BG" altLang="en-US" sz="2400" dirty="0" smtClean="0"/>
              <a:t>Нормално се разполага между процесора и оперативната памет</a:t>
            </a:r>
            <a:r>
              <a:rPr lang="en-US" altLang="en-US" sz="2400" dirty="0" smtClean="0"/>
              <a:t>.</a:t>
            </a:r>
            <a:endParaRPr lang="bg-BG" altLang="en-US" sz="2400" dirty="0" smtClean="0"/>
          </a:p>
          <a:p>
            <a:pPr lvl="1"/>
            <a:r>
              <a:rPr lang="bg-BG" altLang="en-US" sz="2400" dirty="0" smtClean="0"/>
              <a:t>Най-често се използва </a:t>
            </a:r>
            <a:r>
              <a:rPr lang="bg-BG" altLang="en-US" sz="2400" dirty="0" err="1" smtClean="0"/>
              <a:t>двунивова</a:t>
            </a:r>
            <a:r>
              <a:rPr lang="bg-BG" altLang="en-US" sz="2400" dirty="0" smtClean="0"/>
              <a:t> система на кеш-паметта</a:t>
            </a:r>
            <a:endParaRPr lang="en-US" altLang="en-US" sz="2400" dirty="0" smtClean="0"/>
          </a:p>
          <a:p>
            <a:r>
              <a:rPr lang="bg-BG" sz="2800" dirty="0" smtClean="0"/>
              <a:t>Кеш-памет „ниво 1“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 </a:t>
            </a:r>
            <a:r>
              <a:rPr lang="en-US" sz="2800" dirty="0" smtClean="0"/>
              <a:t>Level 1 cache</a:t>
            </a:r>
            <a:r>
              <a:rPr lang="bg-BG" sz="2800" dirty="0" smtClean="0"/>
              <a:t>)</a:t>
            </a:r>
            <a:endParaRPr lang="en-US" sz="2800" dirty="0" smtClean="0"/>
          </a:p>
          <a:p>
            <a:pPr lvl="1"/>
            <a:r>
              <a:rPr lang="bg-BG" sz="2400" dirty="0" smtClean="0"/>
              <a:t>Сега най-често се разполага в процесора и е 2-3 пъти по-бавна от регистрите.</a:t>
            </a:r>
          </a:p>
          <a:p>
            <a:pPr lvl="1"/>
            <a:r>
              <a:rPr lang="bg-BG" sz="2400" dirty="0" smtClean="0"/>
              <a:t>Размерът и е в диапазона между </a:t>
            </a:r>
            <a:r>
              <a:rPr lang="en-US" sz="2400" dirty="0" smtClean="0"/>
              <a:t>64K</a:t>
            </a:r>
            <a:r>
              <a:rPr lang="bg-BG" sz="2400" dirty="0" smtClean="0"/>
              <a:t> и </a:t>
            </a:r>
            <a:r>
              <a:rPr lang="en-US" sz="2400" dirty="0" smtClean="0"/>
              <a:t>256K </a:t>
            </a:r>
            <a:r>
              <a:rPr lang="bg-BG" sz="2400" dirty="0" smtClean="0"/>
              <a:t>байта</a:t>
            </a:r>
          </a:p>
          <a:p>
            <a:pPr lvl="1"/>
            <a:r>
              <a:rPr lang="bg-BG" sz="2400" dirty="0" smtClean="0"/>
              <a:t>В нея се съхраняват най-често използваните данни и части на програмата.</a:t>
            </a:r>
            <a:endParaRPr lang="en-US" sz="2400" dirty="0" smtClean="0"/>
          </a:p>
          <a:p>
            <a:r>
              <a:rPr lang="bg-BG" sz="2800" dirty="0"/>
              <a:t>Кеш-памет „ниво </a:t>
            </a:r>
            <a:r>
              <a:rPr lang="bg-BG" sz="2800" dirty="0" smtClean="0"/>
              <a:t>2“ (</a:t>
            </a:r>
            <a:r>
              <a:rPr lang="en-US" sz="2800" dirty="0" smtClean="0"/>
              <a:t>Level 2 cache</a:t>
            </a:r>
            <a:r>
              <a:rPr lang="bg-BG" sz="2800" dirty="0" smtClean="0"/>
              <a:t>)</a:t>
            </a:r>
            <a:endParaRPr lang="en-US" sz="2800" dirty="0"/>
          </a:p>
          <a:p>
            <a:pPr lvl="1"/>
            <a:r>
              <a:rPr lang="bg-BG" sz="2400" dirty="0"/>
              <a:t>Когато „</a:t>
            </a:r>
            <a:r>
              <a:rPr lang="bg-BG" sz="2400" dirty="0" smtClean="0"/>
              <a:t>кеш-ниво </a:t>
            </a:r>
            <a:r>
              <a:rPr lang="bg-BG" sz="2400" dirty="0"/>
              <a:t>1“ </a:t>
            </a:r>
            <a:r>
              <a:rPr lang="bg-BG" sz="2400" dirty="0" smtClean="0"/>
              <a:t>е много малък по обем, извън процесорът се слага нов и по-голям кеш</a:t>
            </a:r>
            <a:r>
              <a:rPr lang="en-US" sz="2400" dirty="0" smtClean="0"/>
              <a:t>, </a:t>
            </a:r>
            <a:r>
              <a:rPr lang="bg-BG" sz="2400" dirty="0" smtClean="0"/>
              <a:t>като обменът между двата кеша е по по-бърза шина за данни</a:t>
            </a:r>
            <a:r>
              <a:rPr lang="en-US" sz="2400" dirty="0" smtClean="0"/>
              <a:t>. </a:t>
            </a:r>
            <a:endParaRPr lang="en-US" sz="2400" dirty="0"/>
          </a:p>
          <a:p>
            <a:pPr lvl="1"/>
            <a:r>
              <a:rPr lang="bg-BG" sz="2400" dirty="0" smtClean="0"/>
              <a:t>Стандартно сега се използва кеш с обем между 1М и 16 М байта, но бързодействието му е между 20 и 30 пъти по-ниско от това на регистрите на процесора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098" name="Picture 2" descr="Figs/mem_hierarch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412" y="3657600"/>
            <a:ext cx="6896570" cy="263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14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Процесор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4102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altLang="en-US" sz="2800" dirty="0" smtClean="0"/>
              <a:t>Процесорът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dirty="0" smtClean="0"/>
              <a:t>Central </a:t>
            </a:r>
            <a:r>
              <a:rPr lang="en-US" altLang="en-US" sz="2800" dirty="0"/>
              <a:t>processing unit </a:t>
            </a:r>
            <a:r>
              <a:rPr lang="bg-BG" altLang="en-US" sz="2800" dirty="0" smtClean="0"/>
              <a:t>- </a:t>
            </a:r>
            <a:r>
              <a:rPr lang="en-US" altLang="en-US" sz="2800" dirty="0" smtClean="0"/>
              <a:t>CPU)</a:t>
            </a:r>
            <a:r>
              <a:rPr lang="bg-BG" altLang="en-US" sz="2800" dirty="0" smtClean="0"/>
              <a:t> има за задача да реализира различните видове обработки върху данните</a:t>
            </a:r>
            <a:r>
              <a:rPr lang="en-US" altLang="en-US" sz="2800" dirty="0" smtClean="0"/>
              <a:t>. </a:t>
            </a:r>
          </a:p>
          <a:p>
            <a:pPr lvl="1">
              <a:spcBef>
                <a:spcPts val="400"/>
              </a:spcBef>
            </a:pPr>
            <a:r>
              <a:rPr lang="en-US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en-US" sz="2400" dirty="0"/>
              <a:t>, 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out</a:t>
            </a:r>
            <a:r>
              <a:rPr lang="en-US" sz="2400" dirty="0"/>
              <a:t> </a:t>
            </a:r>
            <a:r>
              <a:rPr lang="bg-BG" sz="2400" dirty="0"/>
              <a:t>и</a:t>
            </a:r>
            <a:r>
              <a:rPr lang="en-US" sz="2400" dirty="0"/>
              <a:t> 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out</a:t>
            </a:r>
            <a:r>
              <a:rPr lang="en-US" sz="2400" dirty="0"/>
              <a:t> </a:t>
            </a:r>
            <a:r>
              <a:rPr lang="bg-BG" sz="2400" dirty="0" smtClean="0"/>
              <a:t>реализират потока на данни през шината за данни</a:t>
            </a:r>
            <a:r>
              <a:rPr lang="en-US" sz="2400" dirty="0" smtClean="0"/>
              <a:t>.</a:t>
            </a:r>
            <a:endParaRPr lang="en-US" sz="2400" dirty="0"/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Потокът от адреси (адресната шина) се реализира от изхода на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Counter</a:t>
            </a:r>
            <a:r>
              <a:rPr lang="en-US" sz="2400" dirty="0"/>
              <a:t> </a:t>
            </a:r>
            <a:r>
              <a:rPr lang="bg-BG" sz="2400" dirty="0" smtClean="0"/>
              <a:t>и на </a:t>
            </a:r>
            <a:r>
              <a:rPr lang="en-US" sz="2400" dirty="0" smtClean="0"/>
              <a:t>ALU</a:t>
            </a:r>
            <a:r>
              <a:rPr lang="bg-BG" sz="2400" dirty="0" smtClean="0"/>
              <a:t>, които влизат в </a:t>
            </a:r>
            <a:r>
              <a:rPr lang="bg-BG" sz="2400" dirty="0" err="1" smtClean="0"/>
              <a:t>мултиплексор</a:t>
            </a:r>
            <a:r>
              <a:rPr lang="bg-BG" sz="2400" dirty="0" smtClean="0"/>
              <a:t> 1 с име </a:t>
            </a:r>
            <a:r>
              <a:rPr lang="en-US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spcBef>
                <a:spcPts val="0"/>
              </a:spcBef>
            </a:pPr>
            <a:endParaRPr lang="en-US" altLang="en-US" sz="2800" dirty="0" smtClean="0"/>
          </a:p>
          <a:p>
            <a:pPr>
              <a:spcBef>
                <a:spcPts val="0"/>
              </a:spcBef>
            </a:pPr>
            <a:endParaRPr lang="en-US" altLang="en-US" sz="2800" dirty="0" smtClean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2" y="3581400"/>
            <a:ext cx="5758969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560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Процесор: Управляваща логика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Във всяка инструкция, изпълнявана от процесора има част, която е предназначена за обработка от „управляващата логика“ (</a:t>
            </a:r>
            <a:r>
              <a:rPr lang="bg-BG" sz="2800" dirty="0" err="1" smtClean="0"/>
              <a:t>англ</a:t>
            </a:r>
            <a:r>
              <a:rPr lang="bg-BG" sz="2800" dirty="0" smtClean="0"/>
              <a:t>.</a:t>
            </a:r>
            <a:r>
              <a:rPr lang="en-US" sz="2800" dirty="0" smtClean="0"/>
              <a:t> 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logic</a:t>
            </a:r>
            <a:r>
              <a:rPr lang="bg-BG" sz="2800" dirty="0" smtClean="0"/>
              <a:t>)</a:t>
            </a:r>
            <a:r>
              <a:rPr lang="en-US" sz="2800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Тя подава специални сигнали и така управлява работата на другите елементи на процесора (</a:t>
            </a:r>
            <a:r>
              <a:rPr lang="en-US" sz="2400" dirty="0" smtClean="0"/>
              <a:t>ALU</a:t>
            </a:r>
            <a:r>
              <a:rPr lang="bg-BG" sz="2400" dirty="0" smtClean="0"/>
              <a:t>, </a:t>
            </a:r>
            <a:r>
              <a:rPr lang="bg-BG" sz="2400" dirty="0" err="1" smtClean="0"/>
              <a:t>мултиплексори</a:t>
            </a:r>
            <a:r>
              <a:rPr lang="bg-BG" sz="2400" dirty="0" smtClean="0"/>
              <a:t>, …)</a:t>
            </a:r>
            <a:r>
              <a:rPr lang="en-US" sz="2400" dirty="0" smtClean="0"/>
              <a:t>.</a:t>
            </a:r>
            <a:endParaRPr lang="en-US" sz="2400" dirty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Тя следи другите части на процесора да работят коректно и в нужния момент</a:t>
            </a:r>
            <a:r>
              <a:rPr lang="en-US" sz="2400" dirty="0" smtClean="0"/>
              <a:t>.</a:t>
            </a:r>
            <a:endParaRPr lang="bg-BG" sz="2400" dirty="0" smtClean="0"/>
          </a:p>
          <a:p>
            <a:pPr>
              <a:spcBef>
                <a:spcPts val="300"/>
              </a:spcBef>
            </a:pPr>
            <a:r>
              <a:rPr lang="bg-BG" sz="2800" dirty="0" smtClean="0"/>
              <a:t>Управляващата логика включва</a:t>
            </a:r>
            <a:endParaRPr lang="en-US" sz="2800" dirty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Регистър на инструкцията (</a:t>
            </a:r>
            <a:r>
              <a:rPr lang="en-US" sz="2400" dirty="0" smtClean="0"/>
              <a:t>Instruction </a:t>
            </a:r>
            <a:r>
              <a:rPr lang="en-US" sz="2400" dirty="0"/>
              <a:t>Register </a:t>
            </a:r>
            <a:r>
              <a:rPr lang="bg-BG" sz="2400" dirty="0" smtClean="0"/>
              <a:t>- </a:t>
            </a:r>
            <a:r>
              <a:rPr lang="en-US" sz="2400" dirty="0" smtClean="0"/>
              <a:t>IR)</a:t>
            </a:r>
            <a:endParaRPr lang="bg-BG" sz="2400" dirty="0" smtClean="0"/>
          </a:p>
          <a:p>
            <a:pPr lvl="2">
              <a:spcBef>
                <a:spcPts val="300"/>
              </a:spcBef>
            </a:pPr>
            <a:r>
              <a:rPr lang="bg-BG" sz="2000" dirty="0" smtClean="0"/>
              <a:t>Тук се извършва декодирането на инструкцията.</a:t>
            </a:r>
            <a:r>
              <a:rPr lang="en-US" sz="2000" dirty="0"/>
              <a:t> </a:t>
            </a:r>
            <a:endParaRPr lang="bg-BG" sz="2000" dirty="0" smtClean="0"/>
          </a:p>
          <a:p>
            <a:pPr lvl="2">
              <a:spcBef>
                <a:spcPts val="300"/>
              </a:spcBef>
            </a:pPr>
            <a:r>
              <a:rPr lang="bg-BG" sz="2000" dirty="0" smtClean="0"/>
              <a:t>След декодирането на инструкцията започва същинското изпълнение</a:t>
            </a:r>
            <a:r>
              <a:rPr lang="en-US" sz="2000" dirty="0" smtClean="0"/>
              <a:t>.</a:t>
            </a:r>
            <a:endParaRPr lang="en-US" sz="2000" dirty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Програмен брояч (</a:t>
            </a:r>
            <a:r>
              <a:rPr lang="en-US" sz="2400" dirty="0"/>
              <a:t>Program Counter </a:t>
            </a:r>
            <a:r>
              <a:rPr lang="bg-BG" sz="2400" dirty="0" smtClean="0"/>
              <a:t>-</a:t>
            </a:r>
            <a:r>
              <a:rPr lang="en-US" sz="2400" dirty="0" smtClean="0"/>
              <a:t>PC)</a:t>
            </a:r>
            <a:r>
              <a:rPr lang="en-US" sz="2400" dirty="0"/>
              <a:t> </a:t>
            </a:r>
          </a:p>
          <a:p>
            <a:pPr lvl="2">
              <a:spcBef>
                <a:spcPts val="300"/>
              </a:spcBef>
            </a:pPr>
            <a:r>
              <a:rPr lang="en-US" sz="2000" dirty="0"/>
              <a:t>aka </a:t>
            </a:r>
            <a:r>
              <a:rPr lang="en-US" sz="2000" dirty="0" smtClean="0"/>
              <a:t>Instruction </a:t>
            </a:r>
            <a:r>
              <a:rPr lang="en-US" sz="2000" dirty="0"/>
              <a:t>Pointier (IP</a:t>
            </a:r>
            <a:r>
              <a:rPr lang="en-US" sz="2000" dirty="0" smtClean="0"/>
              <a:t>)</a:t>
            </a:r>
            <a:endParaRPr lang="bg-BG" sz="2000" dirty="0" smtClean="0"/>
          </a:p>
          <a:p>
            <a:pPr lvl="2">
              <a:spcBef>
                <a:spcPts val="300"/>
              </a:spcBef>
            </a:pPr>
            <a:r>
              <a:rPr lang="bg-BG" sz="2000" dirty="0" smtClean="0"/>
              <a:t>Съхранява адреса на следващата инструкция за изпълнение</a:t>
            </a:r>
            <a:endParaRPr lang="en-US" sz="2000" dirty="0" smtClean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Други</a:t>
            </a:r>
            <a:endParaRPr lang="bg-BG" sz="2000" dirty="0" smtClean="0"/>
          </a:p>
          <a:p>
            <a:pPr>
              <a:spcBef>
                <a:spcPts val="3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8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Аритметично-логическо устройство (АЛУ)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В процесорът АЛУ е подсистемата, която изпълнява зададената операция над операндите и така се получава изходния резултат.</a:t>
            </a:r>
          </a:p>
          <a:p>
            <a:pPr lvl="1">
              <a:spcBef>
                <a:spcPts val="300"/>
              </a:spcBef>
            </a:pPr>
            <a:r>
              <a:rPr lang="bg-BG" sz="2400" dirty="0" err="1" smtClean="0"/>
              <a:t>англ</a:t>
            </a:r>
            <a:r>
              <a:rPr lang="bg-BG" sz="2400" dirty="0" smtClean="0"/>
              <a:t>. </a:t>
            </a:r>
            <a:r>
              <a:rPr lang="en-US" sz="2400" dirty="0" smtClean="0"/>
              <a:t>Arithmetic </a:t>
            </a:r>
            <a:r>
              <a:rPr lang="en-US" sz="2400" dirty="0"/>
              <a:t>Logic Unit </a:t>
            </a:r>
            <a:r>
              <a:rPr lang="bg-BG" sz="2400" dirty="0" smtClean="0"/>
              <a:t>- </a:t>
            </a:r>
            <a:r>
              <a:rPr lang="en-US" sz="2400" dirty="0" smtClean="0"/>
              <a:t>ALU</a:t>
            </a:r>
            <a:endParaRPr lang="bg-BG" sz="2400" dirty="0" smtClean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За всяка операция, АЛУ получава управляващи сигнали от контролната логика</a:t>
            </a:r>
            <a:r>
              <a:rPr lang="en-US" sz="2400" dirty="0" smtClean="0"/>
              <a:t>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Входът на АЛУ се реализира от два </a:t>
            </a:r>
            <a:r>
              <a:rPr lang="bg-BG" sz="2400" dirty="0" err="1" smtClean="0"/>
              <a:t>мултиплексора</a:t>
            </a:r>
            <a:r>
              <a:rPr lang="bg-BG" sz="2400" dirty="0" smtClean="0"/>
              <a:t> </a:t>
            </a:r>
            <a:r>
              <a:rPr lang="en-US" sz="2400" dirty="0" smtClean="0"/>
              <a:t>(Mpx3 and Mpx4), </a:t>
            </a:r>
            <a:r>
              <a:rPr lang="bg-BG" sz="2400" dirty="0" smtClean="0"/>
              <a:t>които се управляват от контролната логика.</a:t>
            </a:r>
            <a:endParaRPr lang="en-US" sz="2400" dirty="0"/>
          </a:p>
          <a:p>
            <a:pPr>
              <a:spcBef>
                <a:spcPts val="300"/>
              </a:spcBef>
            </a:pPr>
            <a:r>
              <a:rPr lang="bg-BG" sz="2800" dirty="0" smtClean="0"/>
              <a:t>След изчисляването на резултата, той се записва както следва:</a:t>
            </a:r>
            <a:endParaRPr lang="en-US" sz="2800" dirty="0" smtClean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 някой от регистрите за данни на процесора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 брояча на командите – това е в случай, че има команда за преход</a:t>
            </a:r>
            <a:r>
              <a:rPr lang="en-US" sz="2400" dirty="0" smtClean="0"/>
              <a:t>. 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В оперативната памет – в този случай стойността на програмния брояч се </a:t>
            </a:r>
            <a:r>
              <a:rPr lang="bg-BG" sz="2400" dirty="0" err="1" smtClean="0"/>
              <a:t>инкрементира</a:t>
            </a:r>
            <a:r>
              <a:rPr lang="bg-BG" sz="2400" dirty="0" smtClean="0"/>
              <a:t>.</a:t>
            </a:r>
            <a:endParaRPr lang="en-US" sz="2400" dirty="0"/>
          </a:p>
          <a:p>
            <a:pPr>
              <a:spcBef>
                <a:spcPts val="300"/>
              </a:spcBef>
            </a:pPr>
            <a:r>
              <a:rPr lang="bg-BG" sz="2800" dirty="0" smtClean="0"/>
              <a:t>Формирането на резултат в АЛУ и записването му на избраното място е края на изпълнението на един цикъл на инструкция</a:t>
            </a:r>
            <a:r>
              <a:rPr lang="en-US" sz="2800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930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Аритметично-логическо устройство (АЛУ)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Входните операнди на АЛУ са с размера на машинната дума за дадения компютър</a:t>
            </a:r>
            <a:r>
              <a:rPr lang="en-US" dirty="0" smtClean="0"/>
              <a:t>.</a:t>
            </a:r>
          </a:p>
          <a:p>
            <a:pPr lvl="1"/>
            <a:r>
              <a:rPr lang="bg-BG" dirty="0" smtClean="0"/>
              <a:t>Размерът на машинната дума няма отношение към това, какво може да се изчисли с АЛУ</a:t>
            </a:r>
            <a:r>
              <a:rPr lang="en-US" dirty="0" smtClean="0"/>
              <a:t>.</a:t>
            </a:r>
            <a:endParaRPr lang="en-US" dirty="0"/>
          </a:p>
          <a:p>
            <a:pPr lvl="2"/>
            <a:r>
              <a:rPr lang="bg-BG" dirty="0" smtClean="0"/>
              <a:t>Компютър с по-малка машинна дума може да изчисли едно и също нещо като компютър с по-голяма дума, но заема повече време (необходими са повече машинни цикли)</a:t>
            </a:r>
            <a:r>
              <a:rPr lang="en-US" dirty="0" smtClean="0"/>
              <a:t>.</a:t>
            </a:r>
          </a:p>
          <a:p>
            <a:pPr lvl="1"/>
            <a:r>
              <a:rPr lang="bg-BG" dirty="0" smtClean="0"/>
              <a:t>Пример: събиране на две </a:t>
            </a:r>
            <a:r>
              <a:rPr lang="en-US" dirty="0" smtClean="0"/>
              <a:t>64 </a:t>
            </a:r>
            <a:r>
              <a:rPr lang="bg-BG" dirty="0" smtClean="0"/>
              <a:t>битови числа</a:t>
            </a:r>
            <a:r>
              <a:rPr lang="en-US" dirty="0" smtClean="0"/>
              <a:t>:</a:t>
            </a:r>
          </a:p>
          <a:p>
            <a:pPr lvl="2"/>
            <a:r>
              <a:rPr lang="bg-BG" dirty="0" smtClean="0"/>
              <a:t>При машинна дума от </a:t>
            </a:r>
            <a:r>
              <a:rPr lang="en-US" dirty="0" smtClean="0"/>
              <a:t>64</a:t>
            </a:r>
            <a:r>
              <a:rPr lang="bg-BG" dirty="0" smtClean="0"/>
              <a:t> бита, това е 1 действие в АЛУ</a:t>
            </a:r>
            <a:r>
              <a:rPr lang="en-US" dirty="0" smtClean="0"/>
              <a:t>.</a:t>
            </a:r>
            <a:endParaRPr lang="en-US" dirty="0"/>
          </a:p>
          <a:p>
            <a:pPr lvl="2"/>
            <a:r>
              <a:rPr lang="bg-BG" dirty="0"/>
              <a:t>При машинна дума от </a:t>
            </a:r>
            <a:r>
              <a:rPr lang="en-US" dirty="0" smtClean="0"/>
              <a:t>32 </a:t>
            </a:r>
            <a:r>
              <a:rPr lang="bg-BG" dirty="0"/>
              <a:t>бита, това </a:t>
            </a:r>
            <a:r>
              <a:rPr lang="bg-BG" dirty="0" smtClean="0"/>
              <a:t>са </a:t>
            </a:r>
            <a:r>
              <a:rPr lang="en-US" dirty="0" smtClean="0"/>
              <a:t>2 </a:t>
            </a:r>
            <a:r>
              <a:rPr lang="bg-BG" dirty="0" smtClean="0"/>
              <a:t>действия </a:t>
            </a:r>
            <a:r>
              <a:rPr lang="bg-BG" dirty="0"/>
              <a:t>в </a:t>
            </a:r>
            <a:r>
              <a:rPr lang="bg-BG" dirty="0" smtClean="0"/>
              <a:t>АЛУ.</a:t>
            </a:r>
            <a:endParaRPr lang="en-US" dirty="0"/>
          </a:p>
          <a:p>
            <a:pPr lvl="2"/>
            <a:r>
              <a:rPr lang="bg-BG" dirty="0"/>
              <a:t>При машинна дума от </a:t>
            </a:r>
            <a:r>
              <a:rPr lang="en-US" dirty="0" smtClean="0"/>
              <a:t>16 </a:t>
            </a:r>
            <a:r>
              <a:rPr lang="bg-BG" dirty="0"/>
              <a:t>бита, това са 4</a:t>
            </a:r>
            <a:r>
              <a:rPr lang="en-US" dirty="0" smtClean="0"/>
              <a:t> </a:t>
            </a:r>
            <a:r>
              <a:rPr lang="bg-BG" dirty="0" smtClean="0"/>
              <a:t>действия </a:t>
            </a:r>
            <a:r>
              <a:rPr lang="bg-BG" dirty="0"/>
              <a:t>в </a:t>
            </a:r>
            <a:r>
              <a:rPr lang="bg-BG" dirty="0" smtClean="0"/>
              <a:t>АЛУ.</a:t>
            </a:r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1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Процесор: Регистри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r>
              <a:rPr lang="bg-BG" altLang="en-US" sz="2800" dirty="0" smtClean="0"/>
              <a:t>Регистрите са самостоятелни запомнящи елементи в процесора, използвани за временно съхранение на данни и адреси</a:t>
            </a:r>
            <a:r>
              <a:rPr lang="en-US" altLang="en-US" sz="2800" dirty="0" smtClean="0"/>
              <a:t>. </a:t>
            </a:r>
            <a:endParaRPr lang="en-US" altLang="en-US" sz="2800" dirty="0"/>
          </a:p>
          <a:p>
            <a:pPr lvl="1"/>
            <a:r>
              <a:rPr lang="bg-BG" altLang="en-US" sz="2400" dirty="0" smtClean="0"/>
              <a:t>Съвременните процесори използват различен брой регистри</a:t>
            </a:r>
            <a:r>
              <a:rPr lang="en-US" altLang="en-US" sz="2400" dirty="0" smtClean="0"/>
              <a:t>. </a:t>
            </a:r>
            <a:endParaRPr lang="en-US" altLang="en-US" sz="2400" dirty="0"/>
          </a:p>
          <a:p>
            <a:r>
              <a:rPr lang="bg-BG" altLang="en-US" sz="2800" dirty="0" smtClean="0"/>
              <a:t>Най-често срещаните видове:</a:t>
            </a:r>
            <a:endParaRPr lang="bg-BG" altLang="en-US" sz="2800" dirty="0"/>
          </a:p>
          <a:p>
            <a:pPr lvl="1"/>
            <a:r>
              <a:rPr lang="bg-BG" altLang="en-US" sz="2400" dirty="0" smtClean="0"/>
              <a:t>Регистри за данни</a:t>
            </a:r>
            <a:endParaRPr lang="en-US" altLang="en-US" sz="2400" dirty="0" smtClean="0"/>
          </a:p>
          <a:p>
            <a:pPr lvl="2"/>
            <a:r>
              <a:rPr lang="bg-BG" altLang="en-US" sz="2000" dirty="0" smtClean="0"/>
              <a:t>Акумулатори</a:t>
            </a:r>
            <a:r>
              <a:rPr lang="en-US" altLang="en-US" sz="2000" dirty="0" smtClean="0"/>
              <a:t> </a:t>
            </a:r>
          </a:p>
          <a:p>
            <a:pPr lvl="2"/>
            <a:r>
              <a:rPr lang="bg-BG" altLang="en-US" sz="2000" dirty="0" smtClean="0"/>
              <a:t>Регистри с общо предназначение</a:t>
            </a:r>
            <a:endParaRPr lang="en-US" altLang="en-US" sz="2000" dirty="0"/>
          </a:p>
          <a:p>
            <a:pPr lvl="1"/>
            <a:r>
              <a:rPr lang="bg-BG" altLang="en-US" sz="2400" dirty="0" smtClean="0"/>
              <a:t>Управляващи регистри</a:t>
            </a:r>
            <a:endParaRPr lang="en-US" altLang="en-US" sz="2400" dirty="0"/>
          </a:p>
          <a:p>
            <a:pPr lvl="2"/>
            <a:r>
              <a:rPr lang="en-US" altLang="en-US" sz="2000" dirty="0"/>
              <a:t>Instruction register (IR)</a:t>
            </a:r>
          </a:p>
          <a:p>
            <a:pPr lvl="2"/>
            <a:r>
              <a:rPr lang="en-US" altLang="en-US" sz="2000" dirty="0"/>
              <a:t>Program counter (PC)</a:t>
            </a:r>
          </a:p>
          <a:p>
            <a:pPr lvl="1"/>
            <a:r>
              <a:rPr lang="bg-BG" sz="2400" dirty="0" smtClean="0"/>
              <a:t>Регист</a:t>
            </a:r>
            <a:r>
              <a:rPr lang="bg-BG" sz="2400" dirty="0"/>
              <a:t>ъ</a:t>
            </a:r>
            <a:r>
              <a:rPr lang="bg-BG" sz="2400" dirty="0" smtClean="0"/>
              <a:t>р за достъп до паметта</a:t>
            </a:r>
            <a:endParaRPr lang="en-US" sz="2400" dirty="0" smtClean="0"/>
          </a:p>
          <a:p>
            <a:pPr lvl="2"/>
            <a:r>
              <a:rPr lang="en-US" sz="2000" dirty="0" smtClean="0"/>
              <a:t>Memory </a:t>
            </a:r>
            <a:r>
              <a:rPr lang="en-US" sz="2000" dirty="0"/>
              <a:t>Data Register (MDR)</a:t>
            </a:r>
            <a:endParaRPr lang="en-US" altLang="en-US" sz="2000" dirty="0" smtClean="0"/>
          </a:p>
          <a:p>
            <a:pPr lvl="2"/>
            <a:r>
              <a:rPr lang="en-US" sz="2000" dirty="0"/>
              <a:t>Memory Address Register (MAR</a:t>
            </a:r>
            <a:r>
              <a:rPr lang="en-US" sz="2000" dirty="0" smtClean="0"/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912" y="2636194"/>
            <a:ext cx="5619750" cy="389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533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Входно/Изходна подсистема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altLang="en-US" sz="2800" dirty="0" smtClean="0"/>
              <a:t>В/И подсистема (</a:t>
            </a:r>
            <a:r>
              <a:rPr lang="bg-BG" altLang="en-US" sz="2800" dirty="0" err="1" smtClean="0"/>
              <a:t>англ</a:t>
            </a:r>
            <a:r>
              <a:rPr lang="bg-BG" altLang="en-US" sz="2800" dirty="0" smtClean="0"/>
              <a:t>. </a:t>
            </a:r>
            <a:r>
              <a:rPr lang="en-US" altLang="en-US" sz="2800" dirty="0" err="1"/>
              <a:t>Input/Output</a:t>
            </a:r>
            <a:r>
              <a:rPr lang="en-US" altLang="en-US" sz="2800" dirty="0"/>
              <a:t> </a:t>
            </a:r>
            <a:r>
              <a:rPr lang="en-US" altLang="en-US" sz="2800" dirty="0" smtClean="0"/>
              <a:t>subsystem</a:t>
            </a:r>
            <a:r>
              <a:rPr lang="bg-BG" altLang="en-US" sz="2800" dirty="0" smtClean="0"/>
              <a:t>) е третата основна част от един компютър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Тя включва разнообразни периферни устройства, обменящи данни и команди през системните шини с процесора и оперативната памет</a:t>
            </a:r>
            <a:r>
              <a:rPr lang="en-US" altLang="en-US" sz="2400" dirty="0" smtClean="0"/>
              <a:t>. </a:t>
            </a:r>
          </a:p>
          <a:p>
            <a:pPr>
              <a:spcBef>
                <a:spcPts val="300"/>
              </a:spcBef>
            </a:pPr>
            <a:r>
              <a:rPr lang="bg-BG" altLang="en-US" sz="2800" dirty="0" smtClean="0"/>
              <a:t>Две основни категории</a:t>
            </a:r>
            <a:r>
              <a:rPr lang="en-US" altLang="en-US" sz="2800" dirty="0" smtClean="0"/>
              <a:t>: </a:t>
            </a:r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Устройства за съхранение на данни</a:t>
            </a:r>
            <a:r>
              <a:rPr lang="en-US" altLang="en-US" sz="2400" dirty="0" smtClean="0"/>
              <a:t>:</a:t>
            </a:r>
            <a:endParaRPr lang="en-US" altLang="en-US" sz="2400" dirty="0"/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Използват се за съхранение на данни, които да се използват по-късно многократно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Те са </a:t>
            </a:r>
            <a:r>
              <a:rPr lang="bg-BG" altLang="en-US" sz="2000" dirty="0" err="1" smtClean="0"/>
              <a:t>енергонезависими</a:t>
            </a:r>
            <a:r>
              <a:rPr lang="bg-BG" altLang="en-US" sz="2000" dirty="0" smtClean="0"/>
              <a:t>, т.е. спирането на захранването не води до загуба на данни.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Те са по-евтини от оперативната памет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Най-разпространени сега са магнитните и оптичните запомнящи устройства</a:t>
            </a:r>
            <a:r>
              <a:rPr lang="en-US" altLang="en-US" sz="2000" dirty="0" smtClean="0"/>
              <a:t>.</a:t>
            </a:r>
            <a:endParaRPr lang="en-US" altLang="en-US" sz="2000" dirty="0"/>
          </a:p>
          <a:p>
            <a:pPr lvl="1">
              <a:spcBef>
                <a:spcPts val="300"/>
              </a:spcBef>
            </a:pPr>
            <a:r>
              <a:rPr lang="bg-BG" altLang="en-US" sz="2400" dirty="0" smtClean="0"/>
              <a:t>Други устройства</a:t>
            </a:r>
            <a:r>
              <a:rPr lang="en-US" altLang="en-US" sz="2400" dirty="0" smtClean="0"/>
              <a:t>: </a:t>
            </a:r>
            <a:endParaRPr lang="bg-BG" altLang="en-US" sz="2400" dirty="0" smtClean="0"/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Те не се използват за съхранение на данни, но осигуряват комуникацията с външния свят</a:t>
            </a:r>
            <a:r>
              <a:rPr lang="en-US" altLang="en-US" sz="2000" dirty="0" smtClean="0"/>
              <a:t>.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За въвеждане на данни от потребителя: Клавиатура, мишка, </a:t>
            </a:r>
            <a:r>
              <a:rPr lang="bg-BG" altLang="en-US" sz="2000" dirty="0" err="1" smtClean="0"/>
              <a:t>дигитайзер</a:t>
            </a:r>
            <a:r>
              <a:rPr lang="bg-BG" altLang="en-US" sz="2000" dirty="0" smtClean="0"/>
              <a:t>, </a:t>
            </a:r>
            <a:r>
              <a:rPr lang="en-US" altLang="en-US" sz="2000" dirty="0" smtClean="0"/>
              <a:t>…</a:t>
            </a:r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За извеждане на данни: монитор, тримерен </a:t>
            </a:r>
            <a:r>
              <a:rPr lang="bg-BG" altLang="en-US" sz="2000" dirty="0" err="1" smtClean="0"/>
              <a:t>визуализатор</a:t>
            </a:r>
            <a:r>
              <a:rPr lang="bg-BG" altLang="en-US" sz="2000" dirty="0" smtClean="0"/>
              <a:t>, принтер, плотер, …</a:t>
            </a:r>
            <a:endParaRPr lang="en-US" altLang="en-US" sz="2000" dirty="0"/>
          </a:p>
          <a:p>
            <a:pPr lvl="2">
              <a:spcBef>
                <a:spcPts val="300"/>
              </a:spcBef>
            </a:pPr>
            <a:r>
              <a:rPr lang="bg-BG" altLang="en-US" sz="2000" dirty="0" smtClean="0"/>
              <a:t>Комуникационни платки, </a:t>
            </a:r>
            <a:r>
              <a:rPr lang="bg-BG" altLang="en-US" sz="2000" dirty="0" err="1" smtClean="0"/>
              <a:t>тактилни</a:t>
            </a:r>
            <a:r>
              <a:rPr lang="bg-BG" altLang="en-US" sz="2000" dirty="0" smtClean="0"/>
              <a:t> системи, сензори, …</a:t>
            </a:r>
            <a:endParaRPr lang="en-US" altLang="en-US" sz="2000" dirty="0" smtClean="0"/>
          </a:p>
          <a:p>
            <a:pPr lvl="1">
              <a:spcBef>
                <a:spcPts val="300"/>
              </a:spcBef>
            </a:pPr>
            <a:endParaRPr lang="en-US" altLang="en-US" sz="2400" dirty="0"/>
          </a:p>
          <a:p>
            <a:pPr>
              <a:spcBef>
                <a:spcPts val="3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0891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Свързване на В/И устройства към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562600"/>
          </a:xfrm>
        </p:spPr>
        <p:txBody>
          <a:bodyPr>
            <a:noAutofit/>
          </a:bodyPr>
          <a:lstStyle/>
          <a:p>
            <a:pPr algn="just">
              <a:spcBef>
                <a:spcPts val="300"/>
              </a:spcBef>
            </a:pPr>
            <a:r>
              <a:rPr lang="bg-BG" altLang="en-US" sz="3000" dirty="0" smtClean="0"/>
              <a:t>Характерът на В/И устройства е такъв, че те не винаги могат да се свържат директно със системните шини от/към процесора и оперативната памет.</a:t>
            </a:r>
            <a:r>
              <a:rPr lang="en-US" altLang="en-US" sz="3000" dirty="0" smtClean="0"/>
              <a:t> </a:t>
            </a:r>
            <a:r>
              <a:rPr lang="bg-BG" altLang="en-US" sz="3000" dirty="0" smtClean="0"/>
              <a:t>Две са основните причини затова:</a:t>
            </a:r>
            <a:endParaRPr lang="en-US" altLang="en-US" sz="3000" dirty="0" smtClean="0"/>
          </a:p>
          <a:p>
            <a:pPr lvl="1" algn="just">
              <a:spcBef>
                <a:spcPts val="300"/>
              </a:spcBef>
            </a:pPr>
            <a:r>
              <a:rPr lang="bg-BG" altLang="en-US" sz="2600" dirty="0" smtClean="0"/>
              <a:t>Физически характер на работа на В/И устройство: има електро-механични, магнитни, оптични и много други видове, т.е. начинът на съхранение на информацията е много различен от този в процесора и оперативната памет</a:t>
            </a:r>
            <a:r>
              <a:rPr lang="en-US" altLang="en-US" sz="2600" dirty="0" smtClean="0"/>
              <a:t>. </a:t>
            </a:r>
          </a:p>
          <a:p>
            <a:pPr lvl="1" algn="just">
              <a:spcBef>
                <a:spcPts val="300"/>
              </a:spcBef>
            </a:pPr>
            <a:r>
              <a:rPr lang="bg-BG" altLang="en-US" sz="2600" dirty="0" smtClean="0"/>
              <a:t>Тяхното устройство и работа не зависи от машинната дума на компютъра, към който са свързани.</a:t>
            </a:r>
          </a:p>
          <a:p>
            <a:pPr lvl="1" algn="just">
              <a:spcBef>
                <a:spcPts val="300"/>
              </a:spcBef>
            </a:pPr>
            <a:r>
              <a:rPr lang="bg-BG" altLang="en-US" sz="2600" dirty="0" smtClean="0"/>
              <a:t>Много различен формат и скорост на трансфер на данни от/към тях</a:t>
            </a:r>
            <a:r>
              <a:rPr lang="en-US" altLang="en-US" sz="2600" dirty="0" smtClean="0"/>
              <a:t>. </a:t>
            </a:r>
          </a:p>
          <a:p>
            <a:pPr algn="just">
              <a:spcBef>
                <a:spcPts val="300"/>
              </a:spcBef>
            </a:pPr>
            <a:r>
              <a:rPr lang="bg-BG" altLang="en-US" sz="3000" dirty="0" smtClean="0"/>
              <a:t>Решението е в използване на междинно ниво, което играе роля на „</a:t>
            </a:r>
            <a:r>
              <a:rPr lang="bg-BG" altLang="en-US" sz="3000" dirty="0" err="1" smtClean="0"/>
              <a:t>адаптор</a:t>
            </a:r>
            <a:r>
              <a:rPr lang="bg-BG" altLang="en-US" sz="3000" dirty="0" smtClean="0"/>
              <a:t>“ между устройството и системните шини</a:t>
            </a:r>
            <a:r>
              <a:rPr lang="en-US" altLang="en-US" sz="3000" dirty="0" smtClean="0"/>
              <a:t>. </a:t>
            </a:r>
          </a:p>
          <a:p>
            <a:pPr lvl="1" algn="just">
              <a:spcBef>
                <a:spcPts val="300"/>
              </a:spcBef>
            </a:pPr>
            <a:r>
              <a:rPr lang="bg-BG" altLang="en-US" sz="2600" dirty="0" smtClean="0"/>
              <a:t>Използват се специализирани контролери или специализирани интерфейси</a:t>
            </a:r>
            <a:r>
              <a:rPr lang="en-US" altLang="en-US" sz="2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57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Свързване на В/И устройства към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562600"/>
          </a:xfrm>
        </p:spPr>
        <p:txBody>
          <a:bodyPr>
            <a:normAutofit/>
          </a:bodyPr>
          <a:lstStyle/>
          <a:p>
            <a:pPr algn="just"/>
            <a:r>
              <a:rPr lang="bg-BG" altLang="en-US" dirty="0" smtClean="0"/>
              <a:t>Директно свързване към системните шини</a:t>
            </a:r>
            <a:endParaRPr lang="en-US" altLang="en-US" dirty="0" smtClean="0"/>
          </a:p>
          <a:p>
            <a:pPr algn="just"/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121" y="2209800"/>
            <a:ext cx="8848979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460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Свързване на В/И устройства към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562600"/>
          </a:xfrm>
        </p:spPr>
        <p:txBody>
          <a:bodyPr>
            <a:normAutofit/>
          </a:bodyPr>
          <a:lstStyle/>
          <a:p>
            <a:pPr algn="just"/>
            <a:r>
              <a:rPr lang="bg-BG" altLang="en-US" dirty="0" smtClean="0"/>
              <a:t>Свързване през </a:t>
            </a:r>
            <a:r>
              <a:rPr lang="en-US" altLang="en-US" dirty="0" smtClean="0"/>
              <a:t>SCSI</a:t>
            </a:r>
            <a:r>
              <a:rPr lang="bg-BG" altLang="en-US" dirty="0" smtClean="0"/>
              <a:t>-контролер</a:t>
            </a:r>
          </a:p>
          <a:p>
            <a:pPr lvl="1" algn="just"/>
            <a:r>
              <a:rPr lang="en-US" dirty="0" smtClean="0"/>
              <a:t>SCSI - </a:t>
            </a:r>
            <a:r>
              <a:rPr lang="en-US" dirty="0"/>
              <a:t>Small Computer System Interface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2" y="2362200"/>
            <a:ext cx="8345487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882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Свързване на В/И устройства към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562600"/>
          </a:xfrm>
        </p:spPr>
        <p:txBody>
          <a:bodyPr>
            <a:normAutofit/>
          </a:bodyPr>
          <a:lstStyle/>
          <a:p>
            <a:pPr algn="just"/>
            <a:r>
              <a:rPr lang="bg-BG" altLang="en-US" dirty="0"/>
              <a:t>Свързване през </a:t>
            </a:r>
            <a:r>
              <a:rPr lang="en-US" altLang="en-US" dirty="0" smtClean="0"/>
              <a:t>FireWire</a:t>
            </a:r>
            <a:r>
              <a:rPr lang="bg-BG" altLang="en-US" dirty="0" smtClean="0"/>
              <a:t>-контролер</a:t>
            </a:r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212" y="1981200"/>
            <a:ext cx="830897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93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/>
              <a:t>Свързване на В/И устройства към компютъра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748350" cy="5562600"/>
          </a:xfrm>
        </p:spPr>
        <p:txBody>
          <a:bodyPr>
            <a:normAutofit/>
          </a:bodyPr>
          <a:lstStyle/>
          <a:p>
            <a:pPr algn="just"/>
            <a:r>
              <a:rPr lang="bg-BG" altLang="en-US" dirty="0"/>
              <a:t>Свързване през </a:t>
            </a:r>
            <a:r>
              <a:rPr lang="en-US" altLang="en-US" dirty="0" smtClean="0"/>
              <a:t>USB-</a:t>
            </a:r>
            <a:r>
              <a:rPr lang="bg-BG" altLang="en-US" dirty="0" smtClean="0"/>
              <a:t>контролер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516" y="1981200"/>
            <a:ext cx="6913157" cy="4736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2377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Адресиране на В/И устройства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altLang="en-US" dirty="0" smtClean="0"/>
              <a:t>Най-често при съвременните компютри се използва една и съща шина за четене и за запис на данни от/към оперативната памет и В/И устройства</a:t>
            </a:r>
            <a:r>
              <a:rPr lang="en-US" altLang="en-US" dirty="0" smtClean="0"/>
              <a:t>. </a:t>
            </a:r>
          </a:p>
          <a:p>
            <a:pPr lvl="1"/>
            <a:r>
              <a:rPr lang="bg-BG" altLang="en-US" dirty="0" smtClean="0"/>
              <a:t>Разликата между двата обмена е във вида на инструкцията – някои са насочени към работа само с оперативна памет, а други по подразбиране работят с В/И устройство</a:t>
            </a:r>
            <a:r>
              <a:rPr lang="en-US" altLang="en-US" dirty="0" smtClean="0"/>
              <a:t>. 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В по-старите системи се използва и друга организация, наречена „В/И канали“.</a:t>
            </a:r>
            <a:endParaRPr lang="en-US" altLang="en-US" dirty="0" smtClean="0"/>
          </a:p>
          <a:p>
            <a:r>
              <a:rPr lang="bg-BG" altLang="en-US" dirty="0" smtClean="0"/>
              <a:t>Два метода за адресиране на В/И устройства</a:t>
            </a:r>
            <a:r>
              <a:rPr lang="en-US" altLang="en-US" dirty="0" smtClean="0"/>
              <a:t>: </a:t>
            </a:r>
          </a:p>
          <a:p>
            <a:pPr lvl="1"/>
            <a:r>
              <a:rPr lang="bg-BG" altLang="en-US" dirty="0" smtClean="0"/>
              <a:t>С изолирано адресно пространство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Isolated I/O</a:t>
            </a:r>
            <a:r>
              <a:rPr lang="bg-BG" altLang="en-US" dirty="0" smtClean="0"/>
              <a:t>)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С припокриване на адресното пространство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Memory-mapped I/O</a:t>
            </a:r>
            <a:r>
              <a:rPr lang="bg-BG" altLang="en-US" dirty="0" smtClean="0"/>
              <a:t>)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Адресиране на В/И устройства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2" y="1295400"/>
            <a:ext cx="5410200" cy="517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12" y="1295400"/>
            <a:ext cx="3522386" cy="5179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90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В/И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В тази група операции влизат тези, които осигуряват трансфера на данни от/към периферните устройства към/от процесора и оперативната памет.</a:t>
            </a:r>
            <a:r>
              <a:rPr lang="en-US" altLang="en-US" dirty="0" smtClean="0"/>
              <a:t> </a:t>
            </a:r>
          </a:p>
          <a:p>
            <a:pPr lvl="1"/>
            <a:r>
              <a:rPr lang="bg-BG" altLang="en-US" dirty="0" smtClean="0"/>
              <a:t>Поради много по-бавната работа на В/И устройства спрямо производителността на процесора е необходимо да съществува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механизъм за синхронизация </a:t>
            </a:r>
            <a:r>
              <a:rPr lang="bg-BG" altLang="en-US" dirty="0" smtClean="0"/>
              <a:t>между тях. </a:t>
            </a:r>
          </a:p>
          <a:p>
            <a:r>
              <a:rPr lang="bg-BG" altLang="en-US" dirty="0" smtClean="0"/>
              <a:t>Използват се основно три метода за синхронизация</a:t>
            </a:r>
            <a:r>
              <a:rPr lang="en-US" altLang="en-US" dirty="0" smtClean="0"/>
              <a:t>:</a:t>
            </a:r>
          </a:p>
          <a:p>
            <a:pPr lvl="1"/>
            <a:r>
              <a:rPr lang="bg-BG" altLang="en-US" dirty="0" smtClean="0"/>
              <a:t>Програмируем В/И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programmed I/O</a:t>
            </a:r>
            <a:r>
              <a:rPr lang="bg-BG" altLang="en-US" dirty="0" smtClean="0"/>
              <a:t>)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Управления чрез прекъсвания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interrupt </a:t>
            </a:r>
            <a:r>
              <a:rPr lang="en-US" altLang="en-US" dirty="0"/>
              <a:t>driven </a:t>
            </a:r>
            <a:r>
              <a:rPr lang="en-US" altLang="en-US" dirty="0" smtClean="0"/>
              <a:t>I/O</a:t>
            </a:r>
            <a:r>
              <a:rPr lang="bg-BG" altLang="en-US" dirty="0" smtClean="0"/>
              <a:t>)</a:t>
            </a:r>
            <a:endParaRPr lang="en-US" altLang="en-US" dirty="0" smtClean="0"/>
          </a:p>
          <a:p>
            <a:pPr lvl="1"/>
            <a:r>
              <a:rPr lang="bg-BG" altLang="en-US" dirty="0" smtClean="0"/>
              <a:t>Директен достъп до паметта ( 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/>
              <a:t>direct </a:t>
            </a:r>
            <a:r>
              <a:rPr lang="en-US" altLang="en-US" dirty="0"/>
              <a:t>memory access </a:t>
            </a:r>
            <a:r>
              <a:rPr lang="bg-BG" altLang="en-US" dirty="0" smtClean="0"/>
              <a:t>- </a:t>
            </a:r>
            <a:r>
              <a:rPr lang="en-US" altLang="en-US" dirty="0" smtClean="0"/>
              <a:t>DMA)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6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В/И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/>
              <a:t>Програмируем В/И</a:t>
            </a:r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012" y="1066800"/>
            <a:ext cx="5905500" cy="554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06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В/И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/>
              <a:t>Управления чрез прекъсвания</a:t>
            </a:r>
            <a:endParaRPr lang="en-US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603" y="1905000"/>
            <a:ext cx="6227571" cy="467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76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В/И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en-US" dirty="0" smtClean="0"/>
              <a:t>Свързване на </a:t>
            </a:r>
            <a:r>
              <a:rPr lang="en-US" altLang="en-US" dirty="0" smtClean="0"/>
              <a:t>DMA </a:t>
            </a:r>
            <a:r>
              <a:rPr lang="bg-BG" altLang="en-US" dirty="0" smtClean="0"/>
              <a:t>към системната шина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412" y="1905000"/>
            <a:ext cx="8931275" cy="483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803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В/И операции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DMA </a:t>
            </a:r>
            <a:r>
              <a:rPr lang="bg-BG" altLang="en-US" dirty="0" smtClean="0"/>
              <a:t>вход/изход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2" y="1315172"/>
            <a:ext cx="5581650" cy="5292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70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Видове компютърни архитектури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altLang="en-US" dirty="0" smtClean="0"/>
              <a:t>Архитектурата и организацията на компютрите са претърпели много промени през последните десетилетия. </a:t>
            </a:r>
          </a:p>
          <a:p>
            <a:pPr lvl="1"/>
            <a:r>
              <a:rPr lang="bg-BG" altLang="en-US" dirty="0" smtClean="0"/>
              <a:t>Различен брой и вид на регистрите на процесора</a:t>
            </a:r>
          </a:p>
          <a:p>
            <a:pPr lvl="1"/>
            <a:r>
              <a:rPr lang="bg-BG" altLang="en-US" dirty="0" smtClean="0"/>
              <a:t>Различно множество на инструкциите на процесора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bg-BG" dirty="0" err="1" smtClean="0"/>
              <a:t>Instruction</a:t>
            </a:r>
            <a:r>
              <a:rPr lang="bg-BG" dirty="0" smtClean="0"/>
              <a:t> </a:t>
            </a:r>
            <a:r>
              <a:rPr lang="bg-BG" dirty="0" err="1" smtClean="0"/>
              <a:t>Set</a:t>
            </a:r>
            <a:r>
              <a:rPr lang="bg-BG" dirty="0" smtClean="0"/>
              <a:t> </a:t>
            </a:r>
            <a:r>
              <a:rPr lang="bg-BG" dirty="0" err="1" smtClean="0"/>
              <a:t>Architecture</a:t>
            </a:r>
            <a:r>
              <a:rPr lang="bg-BG" dirty="0" smtClean="0"/>
              <a:t> - ISA)</a:t>
            </a:r>
          </a:p>
          <a:p>
            <a:pPr lvl="2"/>
            <a:r>
              <a:rPr lang="bg-BG" dirty="0" smtClean="0"/>
              <a:t>Различни видове инструкции</a:t>
            </a:r>
          </a:p>
          <a:p>
            <a:pPr lvl="2"/>
            <a:r>
              <a:rPr lang="bg-BG" dirty="0" smtClean="0"/>
              <a:t>Различни формати на инструкциите</a:t>
            </a:r>
          </a:p>
          <a:p>
            <a:pPr lvl="2"/>
            <a:r>
              <a:rPr lang="bg-BG" altLang="en-US" dirty="0" smtClean="0"/>
              <a:t>Различни видове и брой на операндите в инструкциите.</a:t>
            </a:r>
            <a:endParaRPr lang="bg-BG" dirty="0" smtClean="0"/>
          </a:p>
          <a:p>
            <a:pPr lvl="1"/>
            <a:r>
              <a:rPr lang="bg-BG" altLang="en-US" dirty="0" smtClean="0"/>
              <a:t>Различен размер на машинната дума (т.е. на шината за данни)</a:t>
            </a:r>
          </a:p>
          <a:p>
            <a:r>
              <a:rPr lang="bg-BG" dirty="0" smtClean="0"/>
              <a:t>Избор на ISA</a:t>
            </a:r>
          </a:p>
          <a:p>
            <a:pPr lvl="1"/>
            <a:r>
              <a:rPr lang="bg-BG" dirty="0" smtClean="0"/>
              <a:t>Целта при разработването на ISA е да се направи процесор, който има достатъчно функционалност, така че програмистите да могат да пишат програми за него.</a:t>
            </a:r>
          </a:p>
          <a:p>
            <a:pPr lvl="1"/>
            <a:r>
              <a:rPr lang="bg-BG" dirty="0" smtClean="0"/>
              <a:t>Най-често се изискват базови математически действия, операции за сравнения, за условни и безусловни преходи, работа с различни данни и други.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174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Инструкции: формат и операнди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bg-BG" sz="2800" dirty="0" smtClean="0"/>
              <a:t>Всяка различна инструкция трябва да бъде кодирана по различен начин: операция; операнди; литерали; къде да се постави резултата; размер на данните, които се управляват; …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Можем ли да направим всички инструкции с еднакъв размер или някои инструкции ще бъдат с различни размери?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Ще има ли единен формат, т.е. лесно декодирането, или ще имаме няколко различни формата за инструкциите ?</a:t>
            </a:r>
          </a:p>
          <a:p>
            <a:pPr>
              <a:spcBef>
                <a:spcPts val="300"/>
              </a:spcBef>
            </a:pPr>
            <a:r>
              <a:rPr lang="bg-BG" sz="2800" dirty="0" smtClean="0"/>
              <a:t>Колко операнда ще има?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Инструкции с 1, с 2, с 3 или с повече операнди 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Ако имаме операции с различен брой операнди това осигурява богат набор от команди за програмиста, но реализацията им в процесора е много по-трудна.</a:t>
            </a:r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Друг подход е едно малко множество от команди. 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Това може да изисква да се комбинират 2 или повече инструкции, за да направи нещо конкретно</a:t>
            </a:r>
          </a:p>
          <a:p>
            <a:pPr lvl="2">
              <a:spcBef>
                <a:spcPts val="300"/>
              </a:spcBef>
            </a:pPr>
            <a:r>
              <a:rPr lang="bg-BG" sz="2000" dirty="0" smtClean="0"/>
              <a:t>Предимството е, че има по-малко битове, необходими за кодиране на операция, а и по-прост дизайн на процесора.</a:t>
            </a:r>
          </a:p>
          <a:p>
            <a:pPr>
              <a:spcBef>
                <a:spcPts val="300"/>
              </a:spcBef>
            </a:pP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404293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Архитектура „</a:t>
            </a:r>
            <a:r>
              <a:rPr lang="bg-BG" dirty="0" err="1"/>
              <a:t>Харвард</a:t>
            </a:r>
            <a:r>
              <a:rPr lang="bg-BG" dirty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334000"/>
          </a:xfrm>
        </p:spPr>
        <p:txBody>
          <a:bodyPr>
            <a:normAutofit lnSpcReduction="10000"/>
          </a:bodyPr>
          <a:lstStyle/>
          <a:p>
            <a:r>
              <a:rPr lang="bg-BG" altLang="en-US" dirty="0" smtClean="0"/>
              <a:t>Основният недостатък на архитектурата на фон </a:t>
            </a:r>
            <a:r>
              <a:rPr lang="bg-BG" altLang="en-US" dirty="0" err="1" smtClean="0"/>
              <a:t>Нойман</a:t>
            </a:r>
            <a:r>
              <a:rPr lang="bg-BG" altLang="en-US" dirty="0" smtClean="0"/>
              <a:t> е използването на една и съща шина за предаване на данни от/към процесора и за зареждане на последователните инструкции за изпълнение в процесора. </a:t>
            </a:r>
          </a:p>
          <a:p>
            <a:pPr lvl="1"/>
            <a:r>
              <a:rPr lang="bg-BG" altLang="en-US" dirty="0" smtClean="0"/>
              <a:t>Това изисква </a:t>
            </a:r>
            <a:r>
              <a:rPr lang="bg-BG" altLang="en-US" dirty="0" err="1" smtClean="0"/>
              <a:t>диспечиране</a:t>
            </a:r>
            <a:r>
              <a:rPr lang="bg-BG" altLang="en-US" dirty="0" smtClean="0"/>
              <a:t> на шината.</a:t>
            </a:r>
          </a:p>
          <a:p>
            <a:pPr lvl="1"/>
            <a:r>
              <a:rPr lang="bg-BG" altLang="en-US" dirty="0" smtClean="0"/>
              <a:t>Това води до поне два цикъла четене/запис „памет-процесор“: извличане на инструкция, последвано от извличане на данни.</a:t>
            </a:r>
          </a:p>
          <a:p>
            <a:pPr lvl="2"/>
            <a:r>
              <a:rPr lang="bg-BG" altLang="en-US" dirty="0" smtClean="0"/>
              <a:t>Това е в много случаи бавно и неоправдано.</a:t>
            </a:r>
          </a:p>
          <a:p>
            <a:r>
              <a:rPr lang="bg-BG" altLang="en-US" dirty="0" smtClean="0"/>
              <a:t>За решаване на този проблем в 70-те години на 20 век е предложена т.нар. „</a:t>
            </a:r>
            <a:r>
              <a:rPr lang="bg-BG" altLang="en-US" dirty="0" err="1" smtClean="0"/>
              <a:t>Харвадска</a:t>
            </a:r>
            <a:r>
              <a:rPr lang="bg-BG" altLang="en-US" dirty="0" smtClean="0"/>
              <a:t> архитектура“.</a:t>
            </a:r>
          </a:p>
          <a:p>
            <a:pPr lvl="1"/>
            <a:r>
              <a:rPr lang="bg-BG" altLang="en-US" dirty="0" smtClean="0"/>
              <a:t>Наименованието идва от архитектурата на компютъра </a:t>
            </a:r>
            <a:r>
              <a:rPr lang="en-US" altLang="en-US" dirty="0" smtClean="0"/>
              <a:t>“Harvard Mark”, </a:t>
            </a:r>
            <a:r>
              <a:rPr lang="bg-BG" altLang="en-US" dirty="0" smtClean="0"/>
              <a:t>в който е приложена за първи път.</a:t>
            </a:r>
          </a:p>
          <a:p>
            <a:pPr lvl="1"/>
            <a:endParaRPr lang="bg-BG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314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Архитектура „</a:t>
            </a:r>
            <a:r>
              <a:rPr lang="bg-BG" dirty="0" err="1" smtClean="0"/>
              <a:t>Харвард</a:t>
            </a:r>
            <a:r>
              <a:rPr lang="bg-BG" dirty="0" smtClean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Структурна разлика между </a:t>
            </a:r>
            <a:r>
              <a:rPr lang="bg-BG" dirty="0" err="1" smtClean="0"/>
              <a:t>Харвадска</a:t>
            </a:r>
            <a:r>
              <a:rPr lang="bg-BG" dirty="0" smtClean="0"/>
              <a:t> архитектура и архитектурата на фон </a:t>
            </a:r>
            <a:r>
              <a:rPr lang="bg-BG" dirty="0" err="1" smtClean="0"/>
              <a:t>Нойман</a:t>
            </a:r>
            <a:endParaRPr lang="bg-BG" dirty="0" smtClean="0"/>
          </a:p>
          <a:p>
            <a:pPr lvl="1"/>
            <a:r>
              <a:rPr lang="bg-BG" dirty="0" smtClean="0"/>
              <a:t>Основната разлика е в разделянето на паметта на две физически различни части: на памет за данни и памет </a:t>
            </a:r>
          </a:p>
          <a:p>
            <a:pPr lvl="2"/>
            <a:r>
              <a:rPr lang="bg-BG" dirty="0" smtClean="0"/>
              <a:t>Два комплекта адресни шини и шини за данни.</a:t>
            </a:r>
            <a:endParaRPr lang="en-US" dirty="0"/>
          </a:p>
        </p:txBody>
      </p:sp>
      <p:pic>
        <p:nvPicPr>
          <p:cNvPr id="4" name="Picture 3" descr="Harvard architecture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3623989"/>
            <a:ext cx="3134150" cy="301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Von Neumann architecture">
            <a:hlinkClick r:id="rId4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3645102"/>
            <a:ext cx="3429000" cy="31013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534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 „</a:t>
            </a:r>
            <a:r>
              <a:rPr lang="bg-BG" dirty="0" err="1"/>
              <a:t>Харвард</a:t>
            </a:r>
            <a:r>
              <a:rPr lang="bg-BG" dirty="0"/>
              <a:t>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Предимства и недостатъци</a:t>
            </a:r>
          </a:p>
          <a:p>
            <a:pPr lvl="1"/>
            <a:r>
              <a:rPr lang="bg-BG" sz="2400" dirty="0" smtClean="0"/>
              <a:t>Много по-прости инструкции.</a:t>
            </a:r>
          </a:p>
          <a:p>
            <a:pPr lvl="1"/>
            <a:r>
              <a:rPr lang="bg-BG" sz="2400" dirty="0" smtClean="0"/>
              <a:t>За един цикъл на системния часовник се прочитат данните и инструкцията.</a:t>
            </a:r>
          </a:p>
          <a:p>
            <a:pPr lvl="2"/>
            <a:r>
              <a:rPr lang="bg-BG" sz="2000" dirty="0" smtClean="0"/>
              <a:t>В много случаи това осигурява по-висока производителност.</a:t>
            </a:r>
          </a:p>
          <a:p>
            <a:pPr lvl="2"/>
            <a:r>
              <a:rPr lang="bg-BG" sz="2000" dirty="0" smtClean="0"/>
              <a:t>Използва се в процесорите за сигнални обработки (</a:t>
            </a:r>
            <a:r>
              <a:rPr lang="en-US" sz="2000" dirty="0" smtClean="0"/>
              <a:t>DSP – digital signal processors). </a:t>
            </a:r>
            <a:endParaRPr lang="bg-BG" sz="2000" dirty="0" smtClean="0"/>
          </a:p>
          <a:p>
            <a:pPr lvl="1"/>
            <a:r>
              <a:rPr lang="bg-BG" sz="2400" dirty="0" smtClean="0"/>
              <a:t>По-сложна за реализация технически</a:t>
            </a:r>
          </a:p>
          <a:p>
            <a:pPr lvl="2"/>
            <a:r>
              <a:rPr lang="bg-BG" sz="2000" dirty="0" smtClean="0"/>
              <a:t>По-сложно контролно устройства заради двете групи шини. </a:t>
            </a:r>
            <a:endParaRPr lang="en-US" sz="2000" dirty="0" smtClean="0"/>
          </a:p>
          <a:p>
            <a:r>
              <a:rPr lang="bg-BG" sz="2800" dirty="0" smtClean="0"/>
              <a:t>Архитектура „</a:t>
            </a:r>
            <a:r>
              <a:rPr lang="bg-BG" sz="2800" dirty="0" err="1" smtClean="0"/>
              <a:t>Харвард</a:t>
            </a:r>
            <a:r>
              <a:rPr lang="bg-BG" sz="2800" dirty="0" smtClean="0"/>
              <a:t> </a:t>
            </a:r>
            <a:r>
              <a:rPr lang="en-US" sz="2800" dirty="0" smtClean="0"/>
              <a:t>2”</a:t>
            </a:r>
          </a:p>
          <a:p>
            <a:pPr lvl="1"/>
            <a:r>
              <a:rPr lang="bg-BG" sz="2400" dirty="0" smtClean="0"/>
              <a:t>Това е модификация на класическата архитектура, като са добавени „полезни“ функции от архитектурата на фон </a:t>
            </a:r>
            <a:r>
              <a:rPr lang="bg-BG" sz="2400" dirty="0" err="1" smtClean="0"/>
              <a:t>Нойман</a:t>
            </a:r>
            <a:r>
              <a:rPr lang="bg-BG" sz="2400" dirty="0" smtClean="0"/>
              <a:t>.</a:t>
            </a:r>
          </a:p>
          <a:p>
            <a:pPr lvl="2"/>
            <a:r>
              <a:rPr lang="bg-BG" sz="2000" dirty="0" smtClean="0"/>
              <a:t>Връщане към една обща памет, но два различни пътя за извличане на данни и на инструкции от нея.</a:t>
            </a:r>
          </a:p>
          <a:p>
            <a:pPr lvl="2"/>
            <a:r>
              <a:rPr lang="bg-BG" sz="2000" dirty="0" smtClean="0"/>
              <a:t>Използват се отделни кеш-памети.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9802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„</a:t>
            </a:r>
            <a:r>
              <a:rPr lang="bg-BG" dirty="0" err="1"/>
              <a:t>Харвард</a:t>
            </a:r>
            <a:r>
              <a:rPr lang="bg-BG" dirty="0"/>
              <a:t> </a:t>
            </a:r>
            <a:r>
              <a:rPr lang="en-US" dirty="0"/>
              <a:t>2</a:t>
            </a:r>
            <a:r>
              <a:rPr lang="en-US" dirty="0" smtClean="0"/>
              <a:t>”</a:t>
            </a:r>
            <a:r>
              <a:rPr lang="bg-BG" dirty="0" smtClean="0"/>
              <a:t> архитектура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Различия с предходните архитектура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1812" y="1371600"/>
            <a:ext cx="3341413" cy="2632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1" y="1524000"/>
            <a:ext cx="3341413" cy="2632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24" y="3810000"/>
            <a:ext cx="3105222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4227512" y="3886200"/>
            <a:ext cx="838200" cy="609600"/>
          </a:xfrm>
          <a:prstGeom prst="straightConnector1">
            <a:avLst/>
          </a:prstGeom>
          <a:ln w="34925">
            <a:solidFill>
              <a:schemeClr val="tx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7464424" y="3810000"/>
            <a:ext cx="915988" cy="685800"/>
          </a:xfrm>
          <a:prstGeom prst="straightConnector1">
            <a:avLst/>
          </a:prstGeom>
          <a:ln w="34925">
            <a:solidFill>
              <a:schemeClr val="tx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5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/>
              <a:t>CISC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altLang="en-US" dirty="0" smtClean="0"/>
              <a:t>CISC е съкращение от </a:t>
            </a:r>
            <a:r>
              <a:rPr lang="bg-BG" altLang="en-US" dirty="0" err="1" smtClean="0"/>
              <a:t>Complex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Instruction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Set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Computer</a:t>
            </a:r>
            <a:r>
              <a:rPr lang="bg-BG" altLang="en-US" dirty="0" smtClean="0"/>
              <a:t>. </a:t>
            </a:r>
          </a:p>
          <a:p>
            <a:pPr lvl="1"/>
            <a:r>
              <a:rPr lang="bg-BG" altLang="en-US" dirty="0" smtClean="0"/>
              <a:t>Това е първоначално възникналата архитектура на компютъра.</a:t>
            </a:r>
          </a:p>
          <a:p>
            <a:pPr lvl="1"/>
            <a:r>
              <a:rPr lang="bg-BG" altLang="en-US" dirty="0" smtClean="0"/>
              <a:t>Стратегията на CISC архитектурите е да разполагат с голям набор от инструкции, включително и по-сложни. </a:t>
            </a:r>
          </a:p>
          <a:p>
            <a:pPr lvl="2"/>
            <a:r>
              <a:rPr lang="bg-BG" dirty="0" smtClean="0"/>
              <a:t>Дизайнерите искаха такова ISA, което да опакова инструкциите в колкото е възможно по-малко бита: създаде се набор от инструкции, с които  може да се направи всичко, а самите инструкции бяха реализирани да извършват сложни операции. </a:t>
            </a:r>
          </a:p>
          <a:p>
            <a:pPr lvl="2"/>
            <a:r>
              <a:rPr lang="bg-BG" dirty="0" smtClean="0"/>
              <a:t>В този случай процесорите са с по-малко регистри поради ограниченията за брой на транзисторите в чипа.</a:t>
            </a:r>
            <a:endParaRPr lang="bg-BG" altLang="en-US" dirty="0" smtClean="0"/>
          </a:p>
          <a:p>
            <a:pPr lvl="1"/>
            <a:r>
              <a:rPr lang="bg-BG" altLang="en-US" dirty="0" smtClean="0"/>
              <a:t>CISC се </a:t>
            </a:r>
            <a:r>
              <a:rPr lang="bg-BG" altLang="en-US" dirty="0" err="1" smtClean="0"/>
              <a:t>прозинася</a:t>
            </a:r>
            <a:r>
              <a:rPr lang="bg-BG" altLang="en-US" dirty="0" smtClean="0"/>
              <a:t> [</a:t>
            </a:r>
            <a:r>
              <a:rPr lang="bg-BG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sisk</a:t>
            </a:r>
            <a:r>
              <a:rPr lang="bg-BG" altLang="en-US" dirty="0" smtClean="0"/>
              <a:t>].</a:t>
            </a:r>
          </a:p>
          <a:p>
            <a:r>
              <a:rPr lang="bg-BG" altLang="en-US" dirty="0" smtClean="0"/>
              <a:t>Програмирането на компютри, базирани на CISC, е по-лесно, отколкото в други архитектури, защото с една инструкция може да се </a:t>
            </a:r>
            <a:r>
              <a:rPr lang="bg-BG" altLang="en-US" dirty="0" err="1" smtClean="0"/>
              <a:t>програмита</a:t>
            </a:r>
            <a:r>
              <a:rPr lang="bg-BG" altLang="en-US" dirty="0" smtClean="0"/>
              <a:t> и прости, и сложни операции. </a:t>
            </a:r>
          </a:p>
          <a:p>
            <a:pPr lvl="1"/>
            <a:r>
              <a:rPr lang="bg-BG" altLang="en-US" dirty="0" smtClean="0"/>
              <a:t>Поради това програмистите не трябва да създават свой набор от инструкции, за да реализират някоя сложна задача.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0956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/>
              <a:t>CISC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При по-малкото регистри и повече начини за достъп до паметта, а инструкциите на CISC предоставят голямо множество от режими за адресиране (някои много сложни) на клетките от паметта – някои от тези начини напомнят конструкции от високо ниво като указатели, едномерни и многомерни масиви, структури и обекти, свързани списъци и т.н.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За да се поддържат всички тези режими на адресиране, както и съответните  операнди, CISC инструкциите често са с променлива дължина и променлива продължителност на изпълнение.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Като резултат, броят на обръщенията към памети за изпълнение на една инструкция може да варира от 1 (извличане на инструкцията) до няколко: извличане на инструкция и на адрес на оператора, извличане на стойност по този адрес, използване на тази стойност като указател за извличане на друга стойност. Аналогично за втория операнд и за резултата.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92854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/>
              <a:t>RISC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 fontScale="92500" lnSpcReduction="10000"/>
          </a:bodyPr>
          <a:lstStyle/>
          <a:p>
            <a:r>
              <a:rPr lang="bg-BG" altLang="en-US" dirty="0" smtClean="0"/>
              <a:t>RISC е съкращение от </a:t>
            </a:r>
            <a:r>
              <a:rPr lang="bg-BG" altLang="en-US" dirty="0" err="1" smtClean="0"/>
              <a:t>Reduced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Instruction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Set</a:t>
            </a:r>
            <a:r>
              <a:rPr lang="bg-BG" altLang="en-US" dirty="0" smtClean="0"/>
              <a:t> </a:t>
            </a:r>
            <a:r>
              <a:rPr lang="bg-BG" altLang="en-US" dirty="0" err="1" smtClean="0"/>
              <a:t>Computer</a:t>
            </a:r>
            <a:r>
              <a:rPr lang="bg-BG" altLang="en-US" dirty="0" smtClean="0"/>
              <a:t>. </a:t>
            </a:r>
          </a:p>
          <a:p>
            <a:pPr lvl="1"/>
            <a:r>
              <a:rPr lang="bg-BG" altLang="en-US" dirty="0" smtClean="0"/>
              <a:t>Базовата стратегията на RISC архитектурата е да има малък набор от инструкции, които да правят минимален брой прости операции. </a:t>
            </a:r>
          </a:p>
          <a:p>
            <a:pPr lvl="1"/>
            <a:r>
              <a:rPr lang="bg-BG" altLang="en-US" dirty="0" smtClean="0"/>
              <a:t>RISC се произнася [</a:t>
            </a:r>
            <a:r>
              <a:rPr lang="bg-BG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</a:t>
            </a:r>
            <a:r>
              <a:rPr lang="bg-BG" altLang="en-US" dirty="0" smtClean="0"/>
              <a:t>].</a:t>
            </a:r>
          </a:p>
          <a:p>
            <a:r>
              <a:rPr lang="bg-BG" dirty="0" smtClean="0"/>
              <a:t>С по-прост набор от инструкции и опростен формат на инструкциите, транзисторите в чипа могат да се пренасочат от декодиране на инструкцията към подобряване на производителността на процесора:</a:t>
            </a:r>
          </a:p>
          <a:p>
            <a:pPr lvl="1"/>
            <a:r>
              <a:rPr lang="bg-BG" dirty="0" smtClean="0"/>
              <a:t>Въвежда се поточно изпълнение 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Pipelining</a:t>
            </a:r>
            <a:r>
              <a:rPr lang="bg-BG" dirty="0" smtClean="0"/>
              <a:t>), при което няколко инструкции могат да преминават през процесора едновременно, но на различни етапи на декодиране и изпълнение.</a:t>
            </a:r>
          </a:p>
          <a:p>
            <a:pPr lvl="2"/>
            <a:r>
              <a:rPr lang="bg-BG" dirty="0" smtClean="0"/>
              <a:t>Повече транзистори за създаване на кеш за данни и за инструкции в процесора</a:t>
            </a:r>
          </a:p>
          <a:p>
            <a:pPr lvl="1"/>
            <a:r>
              <a:rPr lang="bg-BG" dirty="0" smtClean="0"/>
              <a:t>Честотата на тактовия генератор на процесора може да се увеличи в резултат на опростените формати на операции и инструкции.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5701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/>
              <a:t>RISC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Типични характеристики на RISC архитектурата: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Унифициран формат на инструкциите (кодът на операцията е в една и съща битова позиция), т.е. по-малко време за декодиране;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Идентични регистри с общо предназначение, позволяващи използването на всеки регистър във всеки контекст, т.е. опростяване на компилатора - обикновено съществуват отделни регистри за операнди с плаваща запетая;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Прости режими на адресиране, като сложно адресиране се извършва чрез последователности от аритметични операции и/или операции за четене/запис;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При RISC архитектурата много рядко има инструкции за работа с комплекси числа или стрингови данни.</a:t>
            </a:r>
          </a:p>
          <a:p>
            <a:pPr lvl="1">
              <a:spcBef>
                <a:spcPts val="400"/>
              </a:spcBef>
            </a:pPr>
            <a:r>
              <a:rPr lang="bg-BG" altLang="en-US" sz="2400" dirty="0" smtClean="0"/>
              <a:t>Програмирането в RISC е по-трудно и отнема много време,, защото повечето от сложните инструкции се симулират с помощта на съществуващия набор от прости инструкции.</a:t>
            </a:r>
          </a:p>
          <a:p>
            <a:pPr>
              <a:spcBef>
                <a:spcPts val="400"/>
              </a:spcBef>
            </a:pP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48927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/>
              <a:t>RISC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Примери</a:t>
            </a:r>
            <a:r>
              <a:rPr lang="en-US" sz="2800" dirty="0" smtClean="0"/>
              <a:t>:</a:t>
            </a:r>
            <a:endParaRPr lang="en-US" sz="2800" dirty="0"/>
          </a:p>
          <a:p>
            <a:pPr lvl="1"/>
            <a:r>
              <a:rPr lang="en-US" sz="2400" dirty="0" smtClean="0"/>
              <a:t>ARM</a:t>
            </a:r>
            <a:r>
              <a:rPr lang="bg-BG" sz="2400" dirty="0" smtClean="0"/>
              <a:t> – използва се в устройства като </a:t>
            </a:r>
            <a:r>
              <a:rPr lang="en-US" sz="2400" dirty="0" smtClean="0"/>
              <a:t>Apple iPhone, iPod </a:t>
            </a:r>
            <a:r>
              <a:rPr lang="en-US" sz="2400" dirty="0"/>
              <a:t>and </a:t>
            </a:r>
            <a:r>
              <a:rPr lang="en-US" sz="2400" dirty="0" smtClean="0"/>
              <a:t>iPad, </a:t>
            </a:r>
            <a:r>
              <a:rPr lang="bg-BG" sz="2400" dirty="0" smtClean="0"/>
              <a:t>както и </a:t>
            </a:r>
            <a:r>
              <a:rPr lang="bg-BG" sz="2400" dirty="0" err="1" smtClean="0"/>
              <a:t>шри</a:t>
            </a:r>
            <a:r>
              <a:rPr lang="bg-BG" sz="2400" dirty="0" smtClean="0"/>
              <a:t> много </a:t>
            </a:r>
            <a:r>
              <a:rPr lang="en-US" sz="2400" dirty="0" smtClean="0"/>
              <a:t>Android</a:t>
            </a:r>
            <a:r>
              <a:rPr lang="bg-BG" sz="2400" dirty="0" smtClean="0"/>
              <a:t>-телефони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en-US" sz="2400" dirty="0" smtClean="0"/>
              <a:t>PowerPC</a:t>
            </a:r>
            <a:r>
              <a:rPr lang="bg-BG" sz="2400" dirty="0" smtClean="0"/>
              <a:t> – използва се в </a:t>
            </a:r>
            <a:r>
              <a:rPr lang="en-US" sz="2400" dirty="0" smtClean="0"/>
              <a:t>Nintendo </a:t>
            </a:r>
            <a:r>
              <a:rPr lang="en-US" sz="2400" dirty="0"/>
              <a:t>Wii, </a:t>
            </a:r>
            <a:r>
              <a:rPr lang="en-US" sz="2400" dirty="0" err="1" smtClean="0"/>
              <a:t>Gamecube</a:t>
            </a:r>
            <a:r>
              <a:rPr lang="bg-BG" sz="2400" dirty="0" smtClean="0"/>
              <a:t>, както и при мрежови устройства (</a:t>
            </a:r>
            <a:r>
              <a:rPr lang="en-US" sz="2400" dirty="0" smtClean="0"/>
              <a:t>switches</a:t>
            </a:r>
            <a:r>
              <a:rPr lang="bg-BG" sz="2400" dirty="0" smtClean="0"/>
              <a:t>,</a:t>
            </a:r>
            <a:r>
              <a:rPr lang="en-US" sz="2400" dirty="0" smtClean="0"/>
              <a:t> routers</a:t>
            </a:r>
            <a:r>
              <a:rPr lang="bg-BG" sz="2400" dirty="0" smtClean="0"/>
              <a:t>)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en-US" sz="2400" dirty="0"/>
              <a:t>Freescale's Power </a:t>
            </a:r>
            <a:r>
              <a:rPr lang="en-US" sz="2400" dirty="0" smtClean="0"/>
              <a:t>Architecture</a:t>
            </a:r>
            <a:r>
              <a:rPr lang="bg-BG" sz="2400" dirty="0" smtClean="0"/>
              <a:t> – използва се в </a:t>
            </a:r>
            <a:r>
              <a:rPr lang="en-US" sz="2400" dirty="0" smtClean="0"/>
              <a:t>Xbox </a:t>
            </a:r>
            <a:r>
              <a:rPr lang="en-US" sz="2400" dirty="0"/>
              <a:t>360 and </a:t>
            </a:r>
            <a:r>
              <a:rPr lang="en-US" sz="2400" dirty="0" err="1"/>
              <a:t>Playstation</a:t>
            </a:r>
            <a:r>
              <a:rPr lang="en-US" sz="2400" dirty="0"/>
              <a:t> 3.</a:t>
            </a:r>
          </a:p>
          <a:p>
            <a:pPr lvl="1"/>
            <a:r>
              <a:rPr lang="en-US" sz="2400" dirty="0" smtClean="0"/>
              <a:t>Atmel AVR</a:t>
            </a:r>
            <a:r>
              <a:rPr lang="bg-BG" sz="2400" dirty="0" smtClean="0"/>
              <a:t> – използва се в много вградени системи</a:t>
            </a:r>
            <a:r>
              <a:rPr lang="en-US" sz="2400" dirty="0" smtClean="0"/>
              <a:t>, </a:t>
            </a:r>
            <a:r>
              <a:rPr lang="bg-BG" sz="2400" dirty="0" smtClean="0"/>
              <a:t>например в автомобилна </a:t>
            </a:r>
            <a:r>
              <a:rPr lang="bg-BG" sz="2400" dirty="0" err="1" smtClean="0"/>
              <a:t>електорника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spcBef>
                <a:spcPts val="400"/>
              </a:spcBef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5571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bg-BG" dirty="0" smtClean="0"/>
              <a:t>MIPS е пример на архитектура от вид „четене/запис“ (</a:t>
            </a:r>
            <a:r>
              <a:rPr lang="bg-BG" dirty="0" err="1" smtClean="0"/>
              <a:t>англ</a:t>
            </a:r>
            <a:r>
              <a:rPr lang="bg-BG" dirty="0" smtClean="0"/>
              <a:t>. </a:t>
            </a:r>
            <a:r>
              <a:rPr lang="bg-BG" dirty="0" err="1" smtClean="0"/>
              <a:t>load</a:t>
            </a:r>
            <a:r>
              <a:rPr lang="bg-BG" dirty="0" smtClean="0"/>
              <a:t>/</a:t>
            </a:r>
            <a:r>
              <a:rPr lang="bg-BG" dirty="0" err="1" smtClean="0"/>
              <a:t>store</a:t>
            </a:r>
            <a:r>
              <a:rPr lang="bg-BG" dirty="0" smtClean="0"/>
              <a:t> </a:t>
            </a:r>
            <a:r>
              <a:rPr lang="bg-BG" dirty="0" err="1" smtClean="0"/>
              <a:t>architecture</a:t>
            </a:r>
            <a:r>
              <a:rPr lang="bg-BG" dirty="0" smtClean="0">
                <a:sym typeface="Wingdings" panose="05000000000000000000" pitchFamily="2" charset="2"/>
              </a:rPr>
              <a:t>):</a:t>
            </a:r>
            <a:r>
              <a:rPr lang="bg-BG" dirty="0" smtClean="0"/>
              <a:t> </a:t>
            </a:r>
          </a:p>
          <a:p>
            <a:pPr lvl="1"/>
            <a:r>
              <a:rPr lang="bg-BG" dirty="0" smtClean="0"/>
              <a:t>Данните трябва първо да бъдат заредени от паметта в регистрите, преди да могат да бъдат използвани.</a:t>
            </a:r>
          </a:p>
          <a:p>
            <a:pPr lvl="1"/>
            <a:r>
              <a:rPr lang="bg-BG" dirty="0" smtClean="0"/>
              <a:t>Резултатите се получават в регистрите и те трябва да се съхраняват в паметта, ако е необходимо.</a:t>
            </a:r>
          </a:p>
          <a:p>
            <a:r>
              <a:rPr lang="bg-BG" dirty="0" smtClean="0"/>
              <a:t>Архитектурата на MIPS прилага  философията на RISC.</a:t>
            </a:r>
          </a:p>
          <a:p>
            <a:pPr lvl="1"/>
            <a:r>
              <a:rPr lang="bg-BG" dirty="0" smtClean="0"/>
              <a:t>Еднакъв размер на шините за данни и за адреси (32 бита).</a:t>
            </a:r>
          </a:p>
          <a:p>
            <a:pPr lvl="1"/>
            <a:r>
              <a:rPr lang="bg-BG" dirty="0" smtClean="0"/>
              <a:t>MIPS поддържа 4 целочислени типа данни: 8-битови байтове, 16-битови полови думи, 32-битови думи и 64-битови двойни думи.</a:t>
            </a:r>
          </a:p>
          <a:p>
            <a:pPr lvl="1"/>
            <a:r>
              <a:rPr lang="bg-BG" dirty="0" smtClean="0"/>
              <a:t>Поддържат се и операнди с плаваща точка : 32-битови с единична точност и 64-битови с двойна точност.</a:t>
            </a:r>
          </a:p>
          <a:p>
            <a:pPr lvl="1"/>
            <a:r>
              <a:rPr lang="bg-BG" dirty="0" smtClean="0"/>
              <a:t>MIPS предоставя 32 универсални 32-битови регистри, въпреки че операционната система, асемблерът и библиотеките запазват някои от тях за специална употреба.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2110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MIPS </a:t>
            </a:r>
            <a:r>
              <a:rPr lang="bg-BG" sz="2800" dirty="0" smtClean="0"/>
              <a:t>поддържа следното множество от операции</a:t>
            </a:r>
            <a:r>
              <a:rPr lang="en-US" sz="2800" dirty="0" smtClean="0"/>
              <a:t>:</a:t>
            </a:r>
            <a:endParaRPr lang="en-US" sz="2800" dirty="0"/>
          </a:p>
          <a:p>
            <a:pPr lvl="1"/>
            <a:r>
              <a:rPr lang="bg-BG" sz="2400" dirty="0" smtClean="0"/>
              <a:t>Зареждане на стойности в регистрите (от паметта или от литерали)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bg-BG" sz="2400" dirty="0" smtClean="0"/>
              <a:t>Съхранение на регистрите в паметта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bg-BG" sz="2400" dirty="0" smtClean="0"/>
              <a:t>Целочислена аритметика</a:t>
            </a:r>
            <a:r>
              <a:rPr lang="en-US" sz="2400" dirty="0" smtClean="0"/>
              <a:t>: </a:t>
            </a:r>
            <a:r>
              <a:rPr lang="bg-BG" sz="2400" dirty="0" smtClean="0"/>
              <a:t>събиране, изваждане, умножение, деление с остатък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bg-BG" sz="2400" dirty="0" smtClean="0"/>
              <a:t>Аритметика с реални числа</a:t>
            </a:r>
            <a:r>
              <a:rPr lang="en-US" sz="2400" dirty="0" smtClean="0"/>
              <a:t>: </a:t>
            </a:r>
            <a:r>
              <a:rPr lang="bg-BG" sz="2400" dirty="0"/>
              <a:t>събиране, изваждане, умножение, деление</a:t>
            </a:r>
            <a:r>
              <a:rPr lang="en-US" sz="2400" dirty="0" smtClean="0"/>
              <a:t>.</a:t>
            </a:r>
            <a:endParaRPr lang="en-US" sz="2400" dirty="0"/>
          </a:p>
          <a:p>
            <a:pPr lvl="1"/>
            <a:r>
              <a:rPr lang="bg-BG" sz="2400" dirty="0" smtClean="0"/>
              <a:t>Логически операции</a:t>
            </a:r>
            <a:r>
              <a:rPr lang="en-US" sz="2400" dirty="0" smtClean="0"/>
              <a:t>: </a:t>
            </a:r>
            <a:r>
              <a:rPr lang="en-US" sz="2400" dirty="0"/>
              <a:t>AND, OR, NOR, exclusive OR (XOR).</a:t>
            </a:r>
          </a:p>
          <a:p>
            <a:pPr lvl="1"/>
            <a:r>
              <a:rPr lang="bg-BG" sz="2400" dirty="0" smtClean="0"/>
              <a:t>Битови премествания</a:t>
            </a:r>
            <a:r>
              <a:rPr lang="en-US" sz="2400" dirty="0" smtClean="0"/>
              <a:t>: </a:t>
            </a:r>
            <a:r>
              <a:rPr lang="en-US" sz="2400" dirty="0"/>
              <a:t>shift left, shift right.</a:t>
            </a:r>
          </a:p>
          <a:p>
            <a:pPr lvl="1"/>
            <a:r>
              <a:rPr lang="bg-BG" sz="2400" dirty="0" smtClean="0"/>
              <a:t>Сравнения</a:t>
            </a:r>
            <a:r>
              <a:rPr lang="en-US" sz="2400" dirty="0" smtClean="0"/>
              <a:t>: </a:t>
            </a:r>
            <a:r>
              <a:rPr lang="en-US" sz="2400" dirty="0"/>
              <a:t>==, !=, &lt;, &gt;, &lt;=, &gt;=</a:t>
            </a:r>
          </a:p>
          <a:p>
            <a:pPr lvl="1"/>
            <a:r>
              <a:rPr lang="bg-BG" sz="2400" dirty="0" smtClean="0"/>
              <a:t>Условни и безусловни преходи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bg-BG" sz="2800" dirty="0" smtClean="0"/>
              <a:t>Само три формата ма инструкциите, като и трите са с размер една машинна дума</a:t>
            </a:r>
            <a:r>
              <a:rPr lang="en-US" sz="2800" dirty="0" smtClean="0"/>
              <a:t> (</a:t>
            </a:r>
            <a:r>
              <a:rPr lang="en-US" sz="2800" dirty="0"/>
              <a:t>32 </a:t>
            </a:r>
            <a:r>
              <a:rPr lang="bg-BG" sz="2800" dirty="0" smtClean="0"/>
              <a:t>бита</a:t>
            </a:r>
            <a:r>
              <a:rPr lang="en-US" sz="2800" dirty="0" smtClean="0"/>
              <a:t>) : R-</a:t>
            </a:r>
            <a:r>
              <a:rPr lang="bg-BG" sz="2800" dirty="0" smtClean="0"/>
              <a:t>тип</a:t>
            </a:r>
            <a:r>
              <a:rPr lang="en-US" sz="2800" dirty="0" smtClean="0"/>
              <a:t>, I-</a:t>
            </a:r>
            <a:r>
              <a:rPr lang="bg-BG" sz="2800" dirty="0" smtClean="0"/>
              <a:t>тип</a:t>
            </a:r>
            <a:r>
              <a:rPr lang="en-US" sz="2800" dirty="0" smtClean="0"/>
              <a:t> </a:t>
            </a:r>
            <a:r>
              <a:rPr lang="bg-BG" sz="2800" dirty="0" smtClean="0"/>
              <a:t>и </a:t>
            </a:r>
            <a:r>
              <a:rPr lang="en-US" sz="2800" dirty="0" smtClean="0"/>
              <a:t>J-</a:t>
            </a:r>
            <a:r>
              <a:rPr lang="bg-BG" sz="2800" dirty="0" smtClean="0"/>
              <a:t>тип</a:t>
            </a:r>
            <a:r>
              <a:rPr lang="en-US" sz="2800" dirty="0" smtClean="0"/>
              <a:t>.</a:t>
            </a:r>
          </a:p>
          <a:p>
            <a:pPr lvl="1"/>
            <a:r>
              <a:rPr lang="ru-RU" sz="2400" dirty="0"/>
              <a:t>И трите </a:t>
            </a:r>
            <a:r>
              <a:rPr lang="ru-RU" sz="2400" dirty="0" err="1"/>
              <a:t>формати</a:t>
            </a:r>
            <a:r>
              <a:rPr lang="ru-RU" sz="2400" dirty="0"/>
              <a:t> </a:t>
            </a:r>
            <a:r>
              <a:rPr lang="ru-RU" sz="2400" dirty="0" err="1"/>
              <a:t>споделят</a:t>
            </a:r>
            <a:r>
              <a:rPr lang="ru-RU" sz="2400" dirty="0"/>
              <a:t> </a:t>
            </a:r>
            <a:r>
              <a:rPr lang="ru-RU" sz="2400" dirty="0" err="1"/>
              <a:t>едно</a:t>
            </a:r>
            <a:r>
              <a:rPr lang="ru-RU" sz="2400" dirty="0"/>
              <a:t> и </a:t>
            </a:r>
            <a:r>
              <a:rPr lang="ru-RU" sz="2400" dirty="0" err="1"/>
              <a:t>също</a:t>
            </a:r>
            <a:r>
              <a:rPr lang="ru-RU" sz="2400" dirty="0"/>
              <a:t> 6-битово оперативно поле, </a:t>
            </a:r>
            <a:r>
              <a:rPr lang="ru-RU" sz="2400" dirty="0" err="1"/>
              <a:t>така</a:t>
            </a:r>
            <a:r>
              <a:rPr lang="ru-RU" sz="2400" dirty="0"/>
              <a:t> че </a:t>
            </a:r>
            <a:r>
              <a:rPr lang="ru-RU" sz="2400" dirty="0" err="1"/>
              <a:t>различни</a:t>
            </a:r>
            <a:r>
              <a:rPr lang="ru-RU" sz="2400" dirty="0"/>
              <a:t> </a:t>
            </a:r>
            <a:r>
              <a:rPr lang="ru-RU" sz="2400" dirty="0" err="1"/>
              <a:t>стойности</a:t>
            </a:r>
            <a:r>
              <a:rPr lang="ru-RU" sz="2400" dirty="0"/>
              <a:t> тук определят </a:t>
            </a:r>
            <a:r>
              <a:rPr lang="ru-RU" sz="2400" dirty="0" err="1"/>
              <a:t>какъв</a:t>
            </a:r>
            <a:r>
              <a:rPr lang="ru-RU" sz="2400" dirty="0"/>
              <a:t> тип е всяка инструкция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0329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Конвейерна обработка (</a:t>
            </a:r>
            <a:r>
              <a:rPr lang="en-US" altLang="en-US" dirty="0" smtClean="0"/>
              <a:t>Pipelining</a:t>
            </a:r>
            <a:r>
              <a:rPr lang="bg-BG" alt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altLang="en-US" dirty="0" smtClean="0"/>
              <a:t>За всяка инструкция се извършват три базови обработки: извличане (</a:t>
            </a:r>
            <a:r>
              <a:rPr lang="bg-BG" altLang="en-US" dirty="0" err="1" smtClean="0"/>
              <a:t>fetch</a:t>
            </a:r>
            <a:r>
              <a:rPr lang="bg-BG" altLang="en-US" dirty="0" smtClean="0"/>
              <a:t>), декодиране и изпълнение. </a:t>
            </a:r>
          </a:p>
          <a:p>
            <a:pPr lvl="1"/>
            <a:r>
              <a:rPr lang="bg-BG" altLang="en-US" dirty="0" smtClean="0"/>
              <a:t>В началните години, процесорите са изисквали да завършват и трите фази на една инструкция, преди да започне следващата инструкция: трябва да завърши и последната фаза на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инструкция N</a:t>
            </a:r>
            <a:r>
              <a:rPr lang="bg-BG" altLang="en-US" dirty="0" smtClean="0"/>
              <a:t> преди да започне изпълнението на първата фаза на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инструкция N + 1</a:t>
            </a:r>
            <a:r>
              <a:rPr lang="bg-BG" altLang="en-US" dirty="0" smtClean="0"/>
              <a:t>. </a:t>
            </a:r>
          </a:p>
          <a:p>
            <a:r>
              <a:rPr lang="bg-BG" altLang="en-US" dirty="0" smtClean="0"/>
              <a:t>С развитието на архитектурите се достигна до идеята за </a:t>
            </a:r>
            <a:r>
              <a:rPr lang="bg-BG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потокова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обработка </a:t>
            </a:r>
            <a:r>
              <a:rPr lang="bg-BG" altLang="en-US" dirty="0" smtClean="0"/>
              <a:t>на инструкциите. </a:t>
            </a:r>
          </a:p>
          <a:p>
            <a:pPr lvl="1"/>
            <a:r>
              <a:rPr lang="bg-BG" altLang="en-US" dirty="0" smtClean="0"/>
              <a:t>Идеята е, че ако управляващият блок може да управлява изпълнението на две или три от фазите едновременно,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+ 1 </a:t>
            </a:r>
            <a:r>
              <a:rPr lang="bg-BG" altLang="en-US" dirty="0" smtClean="0"/>
              <a:t>инструкция може да започне преди </a:t>
            </a:r>
            <a:r>
              <a:rPr lang="bg-BG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инструкция </a:t>
            </a:r>
            <a:r>
              <a:rPr lang="bg-BG" altLang="en-US" dirty="0" smtClean="0"/>
              <a:t>да е приключила изпълнението си.</a:t>
            </a:r>
            <a:endParaRPr lang="bg-BG" altLang="en-US" dirty="0"/>
          </a:p>
        </p:txBody>
      </p:sp>
    </p:spTree>
    <p:extLst>
      <p:ext uri="{BB962C8B-B14F-4D97-AF65-F5344CB8AC3E}">
        <p14:creationId xmlns:p14="http://schemas.microsoft.com/office/powerpoint/2010/main" val="362008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Конвейерна обработка </a:t>
            </a:r>
            <a:r>
              <a:rPr lang="bg-BG" altLang="en-US" dirty="0"/>
              <a:t>(</a:t>
            </a:r>
            <a:r>
              <a:rPr lang="en-US" altLang="en-US" dirty="0"/>
              <a:t>Pipelining</a:t>
            </a:r>
            <a:r>
              <a:rPr lang="bg-BG" altLang="en-US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2" y="2362200"/>
            <a:ext cx="10424384" cy="392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27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altLang="en-US" dirty="0" smtClean="0"/>
              <a:t>Паралелна обработка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595950" cy="5410200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bg-BG" altLang="en-US" dirty="0" smtClean="0"/>
              <a:t>Традиционно компютърът има един контролен блок, едно АЛУ и една оперативна памет.</a:t>
            </a:r>
          </a:p>
          <a:p>
            <a:pPr>
              <a:spcBef>
                <a:spcPts val="600"/>
              </a:spcBef>
            </a:pPr>
            <a:r>
              <a:rPr lang="bg-BG" altLang="en-US" dirty="0" smtClean="0"/>
              <a:t>С развитието на технологиите спада в цената на компютърния хардуер, което позволи да се проектират компютри с множество управляващи устройства, множество АЛУ и множество памети. </a:t>
            </a:r>
          </a:p>
          <a:p>
            <a:pPr lvl="1" algn="just"/>
            <a:r>
              <a:rPr lang="bg-BG" altLang="en-US" dirty="0" smtClean="0"/>
              <a:t>Тази идея се нарича паралелна обработка (</a:t>
            </a:r>
            <a:r>
              <a:rPr lang="bg-BG" altLang="en-US" dirty="0" err="1" smtClean="0"/>
              <a:t>англ</a:t>
            </a:r>
            <a:r>
              <a:rPr lang="bg-BG" altLang="en-US" dirty="0" smtClean="0"/>
              <a:t>.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parallel processing</a:t>
            </a:r>
            <a:r>
              <a:rPr lang="bg-BG" altLang="en-US" dirty="0" smtClean="0"/>
              <a:t>). </a:t>
            </a:r>
          </a:p>
          <a:p>
            <a:pPr lvl="1" algn="just"/>
            <a:r>
              <a:rPr lang="bg-BG" altLang="en-US" dirty="0" smtClean="0"/>
              <a:t>Подобно на </a:t>
            </a:r>
            <a:r>
              <a:rPr lang="bg-BG" altLang="en-US" dirty="0" err="1" smtClean="0"/>
              <a:t>ковернота</a:t>
            </a:r>
            <a:r>
              <a:rPr lang="bg-BG" altLang="en-US" dirty="0" smtClean="0"/>
              <a:t> обработка, паралелната обработка има за цел да подобри производителността.</a:t>
            </a:r>
          </a:p>
        </p:txBody>
      </p:sp>
    </p:spTree>
    <p:extLst>
      <p:ext uri="{BB962C8B-B14F-4D97-AF65-F5344CB8AC3E}">
        <p14:creationId xmlns:p14="http://schemas.microsoft.com/office/powerpoint/2010/main" val="2493953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Класификация на </a:t>
            </a:r>
            <a:r>
              <a:rPr lang="bg-BG" dirty="0" err="1" smtClean="0"/>
              <a:t>Флин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Четирите групи архитектури, дефинирани от </a:t>
            </a:r>
            <a:r>
              <a:rPr lang="bg-BG" dirty="0" err="1" smtClean="0"/>
              <a:t>Flynn</a:t>
            </a:r>
            <a:r>
              <a:rPr lang="bg-BG" dirty="0" smtClean="0"/>
              <a:t>, се основават на броя потоците от паралелни инструкции и потоците от данни, налични в архитектурата.</a:t>
            </a:r>
          </a:p>
          <a:p>
            <a:pPr lvl="1"/>
            <a:r>
              <a:rPr lang="bg-BG" dirty="0" smtClean="0"/>
              <a:t>Предложена е от Michael J. </a:t>
            </a:r>
            <a:r>
              <a:rPr lang="bg-BG" dirty="0" err="1" smtClean="0"/>
              <a:t>Flynn</a:t>
            </a:r>
            <a:r>
              <a:rPr lang="bg-BG" dirty="0" smtClean="0"/>
              <a:t> през 1966</a:t>
            </a:r>
          </a:p>
          <a:p>
            <a:pPr lvl="1"/>
            <a:r>
              <a:rPr lang="bg-BG" dirty="0" smtClean="0"/>
              <a:t>Класификационната система е останала и е използвана като инструмент за проектиране на модерни процесори и техните функционалности.</a:t>
            </a:r>
            <a:endParaRPr lang="bg-BG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2" y="4419600"/>
            <a:ext cx="8720128" cy="221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82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bg-BG" sz="2800" dirty="0" err="1" smtClean="0"/>
              <a:t>Single</a:t>
            </a:r>
            <a:r>
              <a:rPr lang="bg-BG" sz="2800" dirty="0" smtClean="0"/>
              <a:t> </a:t>
            </a:r>
            <a:r>
              <a:rPr lang="bg-BG" sz="2800" dirty="0" err="1" smtClean="0"/>
              <a:t>Instruction</a:t>
            </a:r>
            <a:r>
              <a:rPr lang="bg-BG" sz="2800" dirty="0" smtClean="0"/>
              <a:t> </a:t>
            </a:r>
            <a:r>
              <a:rPr lang="bg-BG" sz="2800" dirty="0" err="1" smtClean="0"/>
              <a:t>Stream</a:t>
            </a:r>
            <a:r>
              <a:rPr lang="bg-BG" sz="2800" dirty="0" smtClean="0"/>
              <a:t> &amp; </a:t>
            </a:r>
            <a:r>
              <a:rPr lang="bg-BG" sz="2800" dirty="0" err="1" smtClean="0"/>
              <a:t>Single</a:t>
            </a:r>
            <a:r>
              <a:rPr lang="bg-BG" sz="2800" dirty="0" smtClean="0"/>
              <a:t> Data </a:t>
            </a:r>
            <a:r>
              <a:rPr lang="bg-BG" sz="2800" dirty="0" err="1" smtClean="0"/>
              <a:t>Stream</a:t>
            </a:r>
            <a:r>
              <a:rPr lang="bg-BG" sz="2800" dirty="0" smtClean="0"/>
              <a:t> (SISD)</a:t>
            </a:r>
          </a:p>
          <a:p>
            <a:pPr lvl="1" algn="just"/>
            <a:r>
              <a:rPr lang="bg-BG" sz="2400" dirty="0" smtClean="0"/>
              <a:t>Това е компютърна архитектура, в която един </a:t>
            </a:r>
            <a:r>
              <a:rPr lang="bg-BG" sz="2400" dirty="0" err="1" smtClean="0"/>
              <a:t>едноядрен</a:t>
            </a:r>
            <a:r>
              <a:rPr lang="bg-BG" sz="2400" dirty="0" smtClean="0"/>
              <a:t> процесор изпълнява един поток от инструкции за работа с данните, съхранявани в една памет. </a:t>
            </a:r>
          </a:p>
          <a:p>
            <a:pPr lvl="2" algn="just"/>
            <a:r>
              <a:rPr lang="bg-BG" sz="2000" dirty="0" smtClean="0"/>
              <a:t>Това е класическа фон </a:t>
            </a:r>
            <a:r>
              <a:rPr lang="bg-BG" sz="2000" dirty="0" err="1" smtClean="0"/>
              <a:t>Нойманова</a:t>
            </a:r>
            <a:r>
              <a:rPr lang="bg-BG" sz="2000" dirty="0" smtClean="0"/>
              <a:t> архитектура.</a:t>
            </a:r>
          </a:p>
          <a:p>
            <a:pPr lvl="1" algn="just"/>
            <a:r>
              <a:rPr lang="bg-BG" sz="2400" dirty="0" smtClean="0"/>
              <a:t>Това е последователен компютър, който не използва паралелизъм нито в инструкциите, нито в потоците от данни. </a:t>
            </a:r>
          </a:p>
          <a:p>
            <a:pPr lvl="2"/>
            <a:r>
              <a:rPr lang="bg-BG" sz="2000" dirty="0" smtClean="0"/>
              <a:t>Единичното контролно устройство извлича една </a:t>
            </a:r>
            <a:br>
              <a:rPr lang="bg-BG" sz="2000" dirty="0" smtClean="0"/>
            </a:br>
            <a:r>
              <a:rPr lang="bg-BG" sz="2000" dirty="0" smtClean="0"/>
              <a:t>инструкция от паметта. </a:t>
            </a:r>
          </a:p>
          <a:p>
            <a:pPr lvl="2"/>
            <a:r>
              <a:rPr lang="bg-BG" sz="2000" dirty="0" smtClean="0"/>
              <a:t>Контролното устройство генерира подходящи сигнали, </a:t>
            </a:r>
            <a:br>
              <a:rPr lang="bg-BG" sz="2000" dirty="0" smtClean="0"/>
            </a:br>
            <a:r>
              <a:rPr lang="bg-BG" sz="2000" dirty="0" smtClean="0"/>
              <a:t>за да може единичният процесор (PE) да обработи</a:t>
            </a:r>
            <a:br>
              <a:rPr lang="bg-BG" sz="2000" dirty="0" smtClean="0"/>
            </a:br>
            <a:r>
              <a:rPr lang="bg-BG" sz="2000" dirty="0" smtClean="0"/>
              <a:t>единичния поток от данни, т.е. една операция в даден </a:t>
            </a:r>
            <a:br>
              <a:rPr lang="bg-BG" sz="2000" dirty="0" smtClean="0"/>
            </a:br>
            <a:r>
              <a:rPr lang="bg-BG" sz="2000" dirty="0" smtClean="0"/>
              <a:t>момент.</a:t>
            </a:r>
          </a:p>
          <a:p>
            <a:pPr lvl="1"/>
            <a:r>
              <a:rPr lang="bg-BG" sz="2400" dirty="0" smtClean="0"/>
              <a:t>Примери: </a:t>
            </a:r>
          </a:p>
          <a:p>
            <a:pPr lvl="2"/>
            <a:r>
              <a:rPr lang="bg-BG" sz="2000" dirty="0" smtClean="0"/>
              <a:t>традиционните </a:t>
            </a:r>
            <a:r>
              <a:rPr lang="bg-BG" sz="2000" dirty="0" err="1" smtClean="0"/>
              <a:t>еднопроцесорни</a:t>
            </a:r>
            <a:r>
              <a:rPr lang="bg-BG" sz="2000" dirty="0" smtClean="0"/>
              <a:t> машини</a:t>
            </a:r>
          </a:p>
          <a:p>
            <a:pPr lvl="2"/>
            <a:r>
              <a:rPr lang="bg-BG" sz="2000" dirty="0" smtClean="0"/>
              <a:t>м</a:t>
            </a:r>
            <a:r>
              <a:rPr lang="en-US" sz="2000" dirty="0" smtClean="0"/>
              <a:t>e</a:t>
            </a:r>
            <a:r>
              <a:rPr lang="bg-BG" sz="2000" dirty="0" err="1" smtClean="0"/>
              <a:t>йнфрайми</a:t>
            </a:r>
            <a:endParaRPr lang="bg-BG" sz="2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 smtClean="0"/>
              <a:t>SISD</a:t>
            </a:r>
            <a:endParaRPr lang="en-US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212" y="3451995"/>
            <a:ext cx="3028950" cy="3020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881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Single Instruction Stream &amp; </a:t>
            </a:r>
            <a:r>
              <a:rPr lang="en-US" sz="2800" dirty="0" smtClean="0"/>
              <a:t>Multi Data Streams (SIMD)</a:t>
            </a:r>
          </a:p>
          <a:p>
            <a:pPr lvl="1" algn="just"/>
            <a:r>
              <a:rPr lang="bg-BG" sz="2400" dirty="0" smtClean="0"/>
              <a:t>Едновременно изпълнение на една инструкция върху няколко различни данни</a:t>
            </a:r>
            <a:r>
              <a:rPr lang="en-US" sz="2400" dirty="0" smtClean="0"/>
              <a:t>. </a:t>
            </a:r>
          </a:p>
          <a:p>
            <a:pPr lvl="2" algn="just"/>
            <a:r>
              <a:rPr lang="bg-BG" sz="2000" dirty="0" smtClean="0"/>
              <a:t>Това е особено подходящо за алгоритмите с естествен паралелизъм, например векторни или матрични изчисления</a:t>
            </a:r>
            <a:r>
              <a:rPr lang="en-US" sz="2000" dirty="0" smtClean="0"/>
              <a:t>,</a:t>
            </a:r>
            <a:r>
              <a:rPr lang="en-US" sz="2000" dirty="0"/>
              <a:t> </a:t>
            </a:r>
            <a:r>
              <a:rPr lang="bg-BG" sz="2000" dirty="0" smtClean="0"/>
              <a:t>обработка на изображения, метод на крайните елементи</a:t>
            </a:r>
            <a:r>
              <a:rPr lang="en-US" sz="1600" dirty="0" smtClean="0"/>
              <a:t>.</a:t>
            </a:r>
          </a:p>
          <a:p>
            <a:pPr lvl="1"/>
            <a:r>
              <a:rPr lang="bg-BG" sz="2400" dirty="0" smtClean="0"/>
              <a:t>Това е паралелизъм на ниво данни, но не е </a:t>
            </a:r>
            <a:br>
              <a:rPr lang="bg-BG" sz="2400" dirty="0" smtClean="0"/>
            </a:br>
            <a:r>
              <a:rPr lang="bg-BG" sz="2400" dirty="0" err="1" smtClean="0"/>
              <a:t>конкурентност</a:t>
            </a:r>
            <a:r>
              <a:rPr lang="en-US" sz="2400" dirty="0" smtClean="0"/>
              <a:t>: </a:t>
            </a:r>
          </a:p>
          <a:p>
            <a:pPr lvl="2"/>
            <a:r>
              <a:rPr lang="bg-BG" sz="2000" dirty="0" smtClean="0"/>
              <a:t>Има паралелни изчисление върху данни</a:t>
            </a:r>
            <a:r>
              <a:rPr lang="en-US" sz="2000" dirty="0" smtClean="0"/>
              <a:t>,</a:t>
            </a:r>
            <a:r>
              <a:rPr lang="bg-BG" sz="2000" dirty="0" smtClean="0"/>
              <a:t> но само една </a:t>
            </a:r>
            <a:br>
              <a:rPr lang="bg-BG" sz="2000" dirty="0" smtClean="0"/>
            </a:br>
            <a:r>
              <a:rPr lang="bg-BG" sz="2000" dirty="0" smtClean="0"/>
              <a:t>инструкция в дадения момент</a:t>
            </a:r>
            <a:r>
              <a:rPr lang="en-US" sz="1600" dirty="0" smtClean="0"/>
              <a:t>.</a:t>
            </a:r>
          </a:p>
          <a:p>
            <a:pPr lvl="1"/>
            <a:r>
              <a:rPr lang="bg-BG" sz="2400" dirty="0" smtClean="0"/>
              <a:t>Примери</a:t>
            </a:r>
            <a:r>
              <a:rPr lang="en-US" sz="2400" dirty="0" smtClean="0"/>
              <a:t>: </a:t>
            </a:r>
            <a:endParaRPr lang="en-US" sz="2400" dirty="0"/>
          </a:p>
          <a:p>
            <a:pPr lvl="2"/>
            <a:r>
              <a:rPr lang="bg-BG" sz="2000" dirty="0" smtClean="0"/>
              <a:t>Матрични процесори</a:t>
            </a:r>
            <a:r>
              <a:rPr lang="en-US" sz="2000" dirty="0"/>
              <a:t> </a:t>
            </a:r>
            <a:endParaRPr lang="en-US" sz="2000" dirty="0" smtClean="0"/>
          </a:p>
          <a:p>
            <a:pPr lvl="2"/>
            <a:r>
              <a:rPr lang="en-US" sz="2000" dirty="0" smtClean="0"/>
              <a:t>Graphics </a:t>
            </a:r>
            <a:r>
              <a:rPr lang="en-US" sz="2000" dirty="0"/>
              <a:t>processing </a:t>
            </a:r>
            <a:r>
              <a:rPr lang="en-US" sz="2000" dirty="0" smtClean="0"/>
              <a:t>unit (</a:t>
            </a:r>
            <a:r>
              <a:rPr lang="en-US" sz="2000" dirty="0"/>
              <a:t>GPU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 smtClean="0"/>
              <a:t>SIMD</a:t>
            </a:r>
            <a:endParaRPr lang="en-US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12" y="3200400"/>
            <a:ext cx="348615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82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05500" cy="5410200"/>
          </a:xfrm>
        </p:spPr>
        <p:txBody>
          <a:bodyPr>
            <a:normAutofit lnSpcReduction="10000"/>
          </a:bodyPr>
          <a:lstStyle/>
          <a:p>
            <a:pPr algn="just"/>
            <a:r>
              <a:rPr lang="bg-BG" sz="2800" dirty="0" err="1" smtClean="0"/>
              <a:t>Multi</a:t>
            </a:r>
            <a:r>
              <a:rPr lang="bg-BG" sz="2800" dirty="0" smtClean="0"/>
              <a:t> </a:t>
            </a:r>
            <a:r>
              <a:rPr lang="bg-BG" sz="2800" dirty="0" err="1" smtClean="0"/>
              <a:t>Instruction</a:t>
            </a:r>
            <a:r>
              <a:rPr lang="bg-BG" sz="2800" dirty="0" smtClean="0"/>
              <a:t> </a:t>
            </a:r>
            <a:r>
              <a:rPr lang="bg-BG" sz="2800" dirty="0" err="1" smtClean="0"/>
              <a:t>Streams</a:t>
            </a:r>
            <a:r>
              <a:rPr lang="bg-BG" sz="2800" dirty="0" smtClean="0"/>
              <a:t> &amp; </a:t>
            </a:r>
            <a:r>
              <a:rPr lang="bg-BG" sz="2800" dirty="0" err="1" smtClean="0"/>
              <a:t>Single</a:t>
            </a:r>
            <a:r>
              <a:rPr lang="bg-BG" sz="2800" dirty="0" smtClean="0"/>
              <a:t> Data </a:t>
            </a:r>
            <a:r>
              <a:rPr lang="bg-BG" sz="2800" dirty="0" err="1" smtClean="0"/>
              <a:t>Stream</a:t>
            </a:r>
            <a:r>
              <a:rPr lang="bg-BG" sz="2800" dirty="0" smtClean="0"/>
              <a:t> (MISD)</a:t>
            </a:r>
          </a:p>
          <a:p>
            <a:pPr lvl="1" algn="just"/>
            <a:r>
              <a:rPr lang="bg-BG" sz="2400" dirty="0" smtClean="0"/>
              <a:t>Това е вид паралелна изчислителна архитектура, където много функционални единици изпълняват различни операции на едни и същи данни.</a:t>
            </a:r>
            <a:r>
              <a:rPr lang="bg-BG" sz="2000" dirty="0" smtClean="0"/>
              <a:t> </a:t>
            </a:r>
          </a:p>
          <a:p>
            <a:pPr lvl="1" algn="just"/>
            <a:r>
              <a:rPr lang="bg-BG" sz="2400" dirty="0" smtClean="0"/>
              <a:t>Хетерогенните системи работят на един и същ поток от данни и трябва да се “споразумеят” за резултата. </a:t>
            </a:r>
          </a:p>
          <a:p>
            <a:pPr lvl="2"/>
            <a:r>
              <a:rPr lang="bg-BG" sz="2000" dirty="0" smtClean="0"/>
              <a:t>Това е необичайна архитектура, която обикновено </a:t>
            </a:r>
            <a:br>
              <a:rPr lang="bg-BG" sz="2000" dirty="0" smtClean="0"/>
            </a:br>
            <a:r>
              <a:rPr lang="bg-BG" sz="2000" dirty="0" smtClean="0"/>
              <a:t>се използва при системи с повишена устойчивост </a:t>
            </a:r>
            <a:br>
              <a:rPr lang="bg-BG" sz="2000" dirty="0" smtClean="0"/>
            </a:br>
            <a:r>
              <a:rPr lang="bg-BG" sz="2000" dirty="0" smtClean="0"/>
              <a:t>на откази (</a:t>
            </a:r>
            <a:r>
              <a:rPr lang="bg-BG" sz="2000" dirty="0" err="1" smtClean="0"/>
              <a:t>англ</a:t>
            </a:r>
            <a:r>
              <a:rPr lang="bg-BG" sz="2000" dirty="0" smtClean="0"/>
              <a:t>. </a:t>
            </a:r>
            <a:r>
              <a:rPr lang="bg-BG" sz="2000" dirty="0" err="1" smtClean="0"/>
              <a:t>fault</a:t>
            </a:r>
            <a:r>
              <a:rPr lang="bg-BG" sz="2000" dirty="0" smtClean="0"/>
              <a:t> </a:t>
            </a:r>
            <a:r>
              <a:rPr lang="bg-BG" sz="2000" dirty="0" err="1" smtClean="0"/>
              <a:t>tolerance</a:t>
            </a:r>
            <a:r>
              <a:rPr lang="bg-BG" sz="2000" dirty="0" smtClean="0"/>
              <a:t>). </a:t>
            </a:r>
          </a:p>
          <a:p>
            <a:pPr lvl="2"/>
            <a:r>
              <a:rPr lang="bg-BG" sz="2000" dirty="0" smtClean="0"/>
              <a:t>Някои автори слагат конвейерните машини към </a:t>
            </a:r>
            <a:br>
              <a:rPr lang="bg-BG" sz="2000" dirty="0" smtClean="0"/>
            </a:br>
            <a:r>
              <a:rPr lang="bg-BG" sz="2000" dirty="0" smtClean="0"/>
              <a:t>този вид архитектура.</a:t>
            </a:r>
          </a:p>
          <a:p>
            <a:pPr lvl="1"/>
            <a:r>
              <a:rPr lang="bg-BG" sz="2400" dirty="0" smtClean="0"/>
              <a:t>Примери: </a:t>
            </a:r>
          </a:p>
          <a:p>
            <a:pPr lvl="2"/>
            <a:r>
              <a:rPr lang="bg-BG" sz="2000" dirty="0" smtClean="0"/>
              <a:t>Не съществуват много случаи на тази архитектура, </a:t>
            </a:r>
            <a:br>
              <a:rPr lang="bg-BG" sz="2000" dirty="0" smtClean="0"/>
            </a:br>
            <a:r>
              <a:rPr lang="bg-BG" sz="2000" dirty="0" smtClean="0"/>
              <a:t>тъй като MIMD и SIMD често са по-подходящи за </a:t>
            </a:r>
            <a:br>
              <a:rPr lang="bg-BG" sz="2000" dirty="0" smtClean="0"/>
            </a:br>
            <a:r>
              <a:rPr lang="bg-BG" sz="2000" dirty="0" smtClean="0"/>
              <a:t>обработка на данни.</a:t>
            </a:r>
          </a:p>
          <a:p>
            <a:pPr lvl="2"/>
            <a:r>
              <a:rPr lang="bg-BG" sz="2000" dirty="0" smtClean="0"/>
              <a:t>Един важен пример за използване на MISD </a:t>
            </a:r>
            <a:br>
              <a:rPr lang="bg-BG" sz="2000" dirty="0" smtClean="0"/>
            </a:br>
            <a:r>
              <a:rPr lang="bg-BG" sz="2000" dirty="0" smtClean="0"/>
              <a:t>са компютрите за управление на полета на </a:t>
            </a:r>
            <a:br>
              <a:rPr lang="bg-BG" sz="2000" dirty="0" smtClean="0"/>
            </a:br>
            <a:r>
              <a:rPr lang="bg-BG" sz="2000" dirty="0" smtClean="0"/>
              <a:t>американската космическа совалка.</a:t>
            </a:r>
            <a:endParaRPr lang="bg-BG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 smtClean="0"/>
              <a:t>MISD</a:t>
            </a:r>
            <a:endParaRPr lang="en-US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012" y="3124200"/>
            <a:ext cx="348615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845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805500" cy="5410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Multi </a:t>
            </a:r>
            <a:r>
              <a:rPr lang="en-US" sz="2800" dirty="0" smtClean="0"/>
              <a:t>Instruction Streams </a:t>
            </a:r>
            <a:r>
              <a:rPr lang="en-US" sz="2800" dirty="0"/>
              <a:t>&amp; Multi Data Streams </a:t>
            </a:r>
            <a:r>
              <a:rPr lang="en-US" sz="2800" dirty="0" smtClean="0"/>
              <a:t>(MIMD)</a:t>
            </a:r>
          </a:p>
          <a:p>
            <a:pPr lvl="1"/>
            <a:r>
              <a:rPr lang="bg-BG" sz="2400" dirty="0" smtClean="0"/>
              <a:t>Множество автономни процесори едновременно изпълняващи различни инструкции за различни данни.</a:t>
            </a:r>
            <a:r>
              <a:rPr lang="bg-BG" sz="2000" dirty="0" smtClean="0"/>
              <a:t> </a:t>
            </a:r>
          </a:p>
          <a:p>
            <a:pPr lvl="2"/>
            <a:r>
              <a:rPr lang="bg-BG" sz="2000" dirty="0" smtClean="0"/>
              <a:t>Машините, използващи MIMD, имат няколко процесора, които функционират асинхронно и независимо. </a:t>
            </a:r>
          </a:p>
          <a:p>
            <a:pPr lvl="2"/>
            <a:r>
              <a:rPr lang="bg-BG" sz="2000" dirty="0" smtClean="0"/>
              <a:t>По всяко време, различни процесори могат да изпълняват различни инструкции върху различни данни. </a:t>
            </a:r>
          </a:p>
          <a:p>
            <a:pPr lvl="1"/>
            <a:r>
              <a:rPr lang="bg-BG" sz="2400" dirty="0" smtClean="0"/>
              <a:t>MIMD могат да бъдат групирани според това </a:t>
            </a:r>
            <a:br>
              <a:rPr lang="bg-BG" sz="2400" dirty="0" smtClean="0"/>
            </a:br>
            <a:r>
              <a:rPr lang="bg-BG" sz="2400" dirty="0" smtClean="0"/>
              <a:t>как процесорите имат достъп до паметта.</a:t>
            </a:r>
          </a:p>
          <a:p>
            <a:pPr lvl="2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memory: </a:t>
            </a:r>
            <a:r>
              <a:rPr lang="en-US" sz="2000" i="1" dirty="0" smtClean="0"/>
              <a:t>bus-based</a:t>
            </a:r>
            <a:r>
              <a:rPr lang="en-US" sz="2000" dirty="0" smtClean="0"/>
              <a:t>, </a:t>
            </a:r>
            <a:r>
              <a:rPr lang="en-US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extended</a:t>
            </a:r>
            <a:r>
              <a:rPr lang="en-US" sz="2000" dirty="0" smtClean="0"/>
              <a:t>, </a:t>
            </a:r>
            <a:r>
              <a:rPr lang="en-US" sz="2000" i="1" dirty="0" smtClean="0"/>
              <a:t>hierarchical</a:t>
            </a:r>
            <a:r>
              <a:rPr lang="en-US" sz="1800" dirty="0" smtClean="0"/>
              <a:t>. </a:t>
            </a:r>
          </a:p>
          <a:p>
            <a:pPr lvl="2"/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Distributed memory: </a:t>
            </a:r>
            <a:r>
              <a:rPr lang="bg-BG" sz="2000" dirty="0" smtClean="0"/>
              <a:t>взаимното </a:t>
            </a:r>
            <a:r>
              <a:rPr lang="bg-BG" sz="2000" dirty="0"/>
              <a:t>свързване </a:t>
            </a:r>
            <a:r>
              <a:rPr lang="bg-BG" sz="2000" dirty="0" smtClean="0"/>
              <a:t>може да се </a:t>
            </a:r>
            <a:br>
              <a:rPr lang="bg-BG" sz="2000" dirty="0" smtClean="0"/>
            </a:br>
            <a:r>
              <a:rPr lang="bg-BG" sz="2000" dirty="0" smtClean="0"/>
              <a:t>реализира като </a:t>
            </a:r>
            <a:r>
              <a:rPr lang="bg-BG" sz="2000" i="1" dirty="0" err="1" smtClean="0"/>
              <a:t>хиперкуб</a:t>
            </a:r>
            <a:r>
              <a:rPr lang="bg-BG" sz="2000" dirty="0" smtClean="0"/>
              <a:t> или </a:t>
            </a:r>
            <a:r>
              <a:rPr lang="bg-BG" sz="2000" i="1" dirty="0" smtClean="0"/>
              <a:t>мрежа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en-US" dirty="0" smtClean="0"/>
              <a:t>MIMD</a:t>
            </a:r>
            <a:endParaRPr lang="en-US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4579" y="3048000"/>
            <a:ext cx="348615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409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 smtClean="0"/>
          </a:p>
          <a:p>
            <a:pPr marL="0" indent="0" algn="ctr">
              <a:buNone/>
            </a:pPr>
            <a:r>
              <a:rPr lang="bg-BG" sz="4400" b="1" dirty="0" smtClean="0"/>
              <a:t>Въпроси</a:t>
            </a:r>
            <a:r>
              <a:rPr lang="en-US" sz="4400" b="1" dirty="0" smtClean="0"/>
              <a:t>?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64878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2787947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TS102787947</Template>
  <TotalTime>0</TotalTime>
  <Words>10418</Words>
  <Application>Microsoft Office PowerPoint</Application>
  <PresentationFormat>Custom</PresentationFormat>
  <Paragraphs>820</Paragraphs>
  <Slides>105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4" baseType="lpstr">
      <vt:lpstr>ＭＳ Ｐゴシック</vt:lpstr>
      <vt:lpstr>Arial</vt:lpstr>
      <vt:lpstr>Calibri</vt:lpstr>
      <vt:lpstr>Cambria Math</vt:lpstr>
      <vt:lpstr>Consolas</vt:lpstr>
      <vt:lpstr>Euphemia</vt:lpstr>
      <vt:lpstr>Wingdings</vt:lpstr>
      <vt:lpstr>TS102787947</vt:lpstr>
      <vt:lpstr>Visio</vt:lpstr>
      <vt:lpstr>Генерация на изпълним код</vt:lpstr>
      <vt:lpstr>Въведение</vt:lpstr>
      <vt:lpstr>Базови методи за транслация</vt:lpstr>
      <vt:lpstr>Компилация</vt:lpstr>
      <vt:lpstr>Компилация</vt:lpstr>
      <vt:lpstr>Интерпретация</vt:lpstr>
      <vt:lpstr>Хибриден подход</vt:lpstr>
      <vt:lpstr>Кой метод е по-добър?</vt:lpstr>
      <vt:lpstr>Кой метод е по-добър?</vt:lpstr>
      <vt:lpstr>„Just-in-time“ компилация</vt:lpstr>
      <vt:lpstr>„Just-in-time“ компилация</vt:lpstr>
      <vt:lpstr>„Just-in-time“ компилация</vt:lpstr>
      <vt:lpstr>„Just-in-time“ компилация</vt:lpstr>
      <vt:lpstr>„Ahead-of-time“ compilation</vt:lpstr>
      <vt:lpstr>„Ahead-of-time“ compilation</vt:lpstr>
      <vt:lpstr>Компилация на програми</vt:lpstr>
      <vt:lpstr>Компилаторът като програма</vt:lpstr>
      <vt:lpstr>„Front-End“ подсистема на компилатора</vt:lpstr>
      <vt:lpstr>„Back-End“ подсистема на компилатора</vt:lpstr>
      <vt:lpstr>Фази на компилацията</vt:lpstr>
      <vt:lpstr>Някои дефиниции</vt:lpstr>
      <vt:lpstr>Някои дефиниции</vt:lpstr>
      <vt:lpstr>Как работи „на живо“</vt:lpstr>
      <vt:lpstr>Етапи на работа: въвеждане на програмата</vt:lpstr>
      <vt:lpstr>Етапи на работа: предпроцесор</vt:lpstr>
      <vt:lpstr>Предпроцесор: макрогенерация</vt:lpstr>
      <vt:lpstr>Предпроцесор: вмъкване на код от файл </vt:lpstr>
      <vt:lpstr>Предпроцесор: условна компилация</vt:lpstr>
      <vt:lpstr>Лексикален и Синтактичен анализ</vt:lpstr>
      <vt:lpstr>Лексикален анализ </vt:lpstr>
      <vt:lpstr>Лексикален анализ </vt:lpstr>
      <vt:lpstr>Синтактичен анализ </vt:lpstr>
      <vt:lpstr>Синтактичен анализ </vt:lpstr>
      <vt:lpstr>Семантичен анализ</vt:lpstr>
      <vt:lpstr>Семантичен анализ</vt:lpstr>
      <vt:lpstr>Оптимизация</vt:lpstr>
      <vt:lpstr>Оптимизация</vt:lpstr>
      <vt:lpstr>Оптимизация на алгоритмично ниво</vt:lpstr>
      <vt:lpstr>Оптимизация на алгоритмично ниво</vt:lpstr>
      <vt:lpstr>Оптимизация на алгоритмично ниво</vt:lpstr>
      <vt:lpstr>Оптимизация на алгоритмично ниво</vt:lpstr>
      <vt:lpstr>Програмен код -&gt; асемблерен код</vt:lpstr>
      <vt:lpstr>Програмен код -&gt; асемблерен код</vt:lpstr>
      <vt:lpstr>Оптимизация от ниско ниво</vt:lpstr>
      <vt:lpstr>Генерация на изпълним код</vt:lpstr>
      <vt:lpstr>Генерация на изпълним код</vt:lpstr>
      <vt:lpstr>Стартиране на програмата</vt:lpstr>
      <vt:lpstr>Как работи „на живо“</vt:lpstr>
      <vt:lpstr>PowerPoint Presentation</vt:lpstr>
      <vt:lpstr>Въведение</vt:lpstr>
      <vt:lpstr>Компютърна система: Апаратна част</vt:lpstr>
      <vt:lpstr>Компютърна система: Интерфейси</vt:lpstr>
      <vt:lpstr>Изпълнение на програмата</vt:lpstr>
      <vt:lpstr>Изпълнение на програмата</vt:lpstr>
      <vt:lpstr>Изпълнение на програмата</vt:lpstr>
      <vt:lpstr>Основни видове памети</vt:lpstr>
      <vt:lpstr>Оперативна памет</vt:lpstr>
      <vt:lpstr>Свързване на процесора с оперативната памет</vt:lpstr>
      <vt:lpstr>Системни шини</vt:lpstr>
      <vt:lpstr>Адресно поле на компютъра</vt:lpstr>
      <vt:lpstr>Адресно поле на компютъра</vt:lpstr>
      <vt:lpstr>Адресно поле vs. Машинна дума</vt:lpstr>
      <vt:lpstr>Йерархия на компютърната памет</vt:lpstr>
      <vt:lpstr>Йерархия на компютърната памет</vt:lpstr>
      <vt:lpstr>Кеш-памет</vt:lpstr>
      <vt:lpstr>Процесор</vt:lpstr>
      <vt:lpstr>Процесор: Управляваща логика</vt:lpstr>
      <vt:lpstr>Аритметично-логическо устройство (АЛУ)</vt:lpstr>
      <vt:lpstr>Аритметично-логическо устройство (АЛУ)</vt:lpstr>
      <vt:lpstr>Процесор: Регистри</vt:lpstr>
      <vt:lpstr>Входно/Изходна подсистема</vt:lpstr>
      <vt:lpstr>Свързване на В/И устройства към компютъра</vt:lpstr>
      <vt:lpstr>Свързване на В/И устройства към компютъра</vt:lpstr>
      <vt:lpstr>Свързване на В/И устройства към компютъра</vt:lpstr>
      <vt:lpstr>Свързване на В/И устройства към компютъра</vt:lpstr>
      <vt:lpstr>Свързване на В/И устройства към компютъра</vt:lpstr>
      <vt:lpstr>Адресиране на В/И устройства</vt:lpstr>
      <vt:lpstr>Адресиране на В/И устройства</vt:lpstr>
      <vt:lpstr>В/И операции</vt:lpstr>
      <vt:lpstr>В/И операции</vt:lpstr>
      <vt:lpstr>В/И операции</vt:lpstr>
      <vt:lpstr>В/И операции</vt:lpstr>
      <vt:lpstr>В/И операции</vt:lpstr>
      <vt:lpstr>Видове компютърни архитектури</vt:lpstr>
      <vt:lpstr>Инструкции: формат и операнди</vt:lpstr>
      <vt:lpstr>Архитектура „Харвард“</vt:lpstr>
      <vt:lpstr>Архитектура „Харвард“</vt:lpstr>
      <vt:lpstr>Архитектура „Харвард“</vt:lpstr>
      <vt:lpstr>„Харвард 2” архитектура</vt:lpstr>
      <vt:lpstr>CISC</vt:lpstr>
      <vt:lpstr>CISC</vt:lpstr>
      <vt:lpstr>RISC</vt:lpstr>
      <vt:lpstr>RISC</vt:lpstr>
      <vt:lpstr>RISC</vt:lpstr>
      <vt:lpstr>MIPS</vt:lpstr>
      <vt:lpstr>MIPS</vt:lpstr>
      <vt:lpstr>Конвейерна обработка (Pipelining)</vt:lpstr>
      <vt:lpstr>Конвейерна обработка (Pipelining)</vt:lpstr>
      <vt:lpstr>Паралелна обработка</vt:lpstr>
      <vt:lpstr>Класификация на Флин</vt:lpstr>
      <vt:lpstr>SISD</vt:lpstr>
      <vt:lpstr>SIMD</vt:lpstr>
      <vt:lpstr>MISD</vt:lpstr>
      <vt:lpstr>MIMD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2014-02-04T07:26:08Z</dcterms:created>
  <dcterms:modified xsi:type="dcterms:W3CDTF">2023-02-28T06:06:12Z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