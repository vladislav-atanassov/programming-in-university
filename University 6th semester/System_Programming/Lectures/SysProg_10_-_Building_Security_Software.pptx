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94"/>
  </p:notesMasterIdLst>
  <p:handoutMasterIdLst>
    <p:handoutMasterId r:id="rId95"/>
  </p:handoutMasterIdLst>
  <p:sldIdLst>
    <p:sldId id="256" r:id="rId3"/>
    <p:sldId id="307" r:id="rId4"/>
    <p:sldId id="308" r:id="rId5"/>
    <p:sldId id="309" r:id="rId6"/>
    <p:sldId id="310" r:id="rId7"/>
    <p:sldId id="311" r:id="rId8"/>
    <p:sldId id="312" r:id="rId9"/>
    <p:sldId id="313" r:id="rId10"/>
    <p:sldId id="314" r:id="rId11"/>
    <p:sldId id="315" r:id="rId12"/>
    <p:sldId id="316" r:id="rId13"/>
    <p:sldId id="396" r:id="rId14"/>
    <p:sldId id="397" r:id="rId15"/>
    <p:sldId id="319" r:id="rId16"/>
    <p:sldId id="320" r:id="rId17"/>
    <p:sldId id="321" r:id="rId18"/>
    <p:sldId id="322" r:id="rId19"/>
    <p:sldId id="323"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40" r:id="rId37"/>
    <p:sldId id="341" r:id="rId38"/>
    <p:sldId id="342" r:id="rId39"/>
    <p:sldId id="343" r:id="rId40"/>
    <p:sldId id="344" r:id="rId41"/>
    <p:sldId id="345" r:id="rId42"/>
    <p:sldId id="346" r:id="rId43"/>
    <p:sldId id="347" r:id="rId44"/>
    <p:sldId id="348" r:id="rId45"/>
    <p:sldId id="349" r:id="rId46"/>
    <p:sldId id="350" r:id="rId47"/>
    <p:sldId id="351" r:id="rId48"/>
    <p:sldId id="352" r:id="rId49"/>
    <p:sldId id="353" r:id="rId50"/>
    <p:sldId id="354" r:id="rId51"/>
    <p:sldId id="355" r:id="rId52"/>
    <p:sldId id="356" r:id="rId53"/>
    <p:sldId id="357" r:id="rId54"/>
    <p:sldId id="358" r:id="rId55"/>
    <p:sldId id="359" r:id="rId56"/>
    <p:sldId id="360" r:id="rId57"/>
    <p:sldId id="361" r:id="rId58"/>
    <p:sldId id="362" r:id="rId59"/>
    <p:sldId id="363" r:id="rId60"/>
    <p:sldId id="364" r:id="rId61"/>
    <p:sldId id="365" r:id="rId62"/>
    <p:sldId id="366" r:id="rId63"/>
    <p:sldId id="367" r:id="rId64"/>
    <p:sldId id="368" r:id="rId65"/>
    <p:sldId id="369" r:id="rId66"/>
    <p:sldId id="370" r:id="rId67"/>
    <p:sldId id="371" r:id="rId68"/>
    <p:sldId id="372" r:id="rId69"/>
    <p:sldId id="373" r:id="rId70"/>
    <p:sldId id="374" r:id="rId71"/>
    <p:sldId id="375" r:id="rId72"/>
    <p:sldId id="376" r:id="rId73"/>
    <p:sldId id="377" r:id="rId74"/>
    <p:sldId id="378" r:id="rId75"/>
    <p:sldId id="379" r:id="rId76"/>
    <p:sldId id="380" r:id="rId77"/>
    <p:sldId id="381" r:id="rId78"/>
    <p:sldId id="382" r:id="rId79"/>
    <p:sldId id="383" r:id="rId80"/>
    <p:sldId id="384" r:id="rId81"/>
    <p:sldId id="385" r:id="rId82"/>
    <p:sldId id="386" r:id="rId83"/>
    <p:sldId id="387" r:id="rId84"/>
    <p:sldId id="388" r:id="rId85"/>
    <p:sldId id="389" r:id="rId86"/>
    <p:sldId id="398" r:id="rId87"/>
    <p:sldId id="399" r:id="rId88"/>
    <p:sldId id="400" r:id="rId89"/>
    <p:sldId id="394" r:id="rId90"/>
    <p:sldId id="401" r:id="rId91"/>
    <p:sldId id="395" r:id="rId92"/>
    <p:sldId id="306" r:id="rId93"/>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7009"/>
    <a:srgbClr val="000099"/>
    <a:srgbClr val="452603"/>
    <a:srgbClr val="F4DF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398" autoAdjust="0"/>
  </p:normalViewPr>
  <p:slideViewPr>
    <p:cSldViewPr showGuides="1">
      <p:cViewPr varScale="1">
        <p:scale>
          <a:sx n="88" d="100"/>
          <a:sy n="88" d="100"/>
        </p:scale>
        <p:origin x="108" y="444"/>
      </p:cViewPr>
      <p:guideLst>
        <p:guide orient="horz" pos="2160"/>
        <p:guide pos="3839"/>
        <p:guide pos="1007"/>
      </p:guideLst>
    </p:cSldViewPr>
  </p:slideViewPr>
  <p:notesTextViewPr>
    <p:cViewPr>
      <p:scale>
        <a:sx n="1" d="1"/>
        <a:sy n="1" d="1"/>
      </p:scale>
      <p:origin x="0" y="0"/>
    </p:cViewPr>
  </p:notesTextViewPr>
  <p:notesViewPr>
    <p:cSldViewPr showGuides="1">
      <p:cViewPr varScale="1">
        <p:scale>
          <a:sx n="83" d="100"/>
          <a:sy n="83" d="100"/>
        </p:scale>
        <p:origin x="-315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handoutMaster" Target="handoutMasters/handout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1.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4/4/2024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4/4/2024</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1</a:t>
            </a:fld>
            <a:endParaRPr lang="en-US"/>
          </a:p>
        </p:txBody>
      </p:sp>
    </p:spTree>
    <p:extLst>
      <p:ext uri="{BB962C8B-B14F-4D97-AF65-F5344CB8AC3E}">
        <p14:creationId xmlns:p14="http://schemas.microsoft.com/office/powerpoint/2010/main" val="4016698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Ransomware </a:t>
            </a:r>
            <a:r>
              <a:rPr lang="bg-BG" dirty="0" smtClean="0"/>
              <a:t> - </a:t>
            </a:r>
            <a:r>
              <a:rPr lang="ru-RU" dirty="0" smtClean="0"/>
              <a:t>зловреден софтуер (англ.</a:t>
            </a:r>
            <a:r>
              <a:rPr lang="en-US" baseline="0" dirty="0" smtClean="0"/>
              <a:t> malware</a:t>
            </a:r>
            <a:r>
              <a:rPr lang="ru-RU" dirty="0" smtClean="0"/>
              <a:t>), предназначен да </a:t>
            </a:r>
            <a:r>
              <a:rPr lang="bg-BG" dirty="0" smtClean="0"/>
              <a:t>ограничи</a:t>
            </a:r>
            <a:r>
              <a:rPr lang="en-US" dirty="0" smtClean="0"/>
              <a:t> </a:t>
            </a:r>
            <a:r>
              <a:rPr lang="ru-RU" dirty="0" smtClean="0"/>
              <a:t>достъпа на потребител до файловете в компютъра. Като криптират тези файлове и изискват заплащане на откуп за ключа за декриптиране, кибератаките поставят потребителите в положение, при което заплащането на откупа е най-лесният и евтин начин да си възвърнат достъпа до файловете. В някои варианти са добавени допълнителни функционалности - например кражба на данни - за да се стимулират допълнително жертвите на откупа да платят откупа.</a:t>
            </a:r>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1330782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xfrm>
            <a:off x="382588" y="685800"/>
            <a:ext cx="6092825" cy="3429000"/>
          </a:xfrm>
          <a:ln/>
        </p:spPr>
      </p:sp>
      <p:sp>
        <p:nvSpPr>
          <p:cNvPr id="82947"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Times" pitchFamily="18" charset="0"/>
            </a:endParaRPr>
          </a:p>
        </p:txBody>
      </p:sp>
    </p:spTree>
    <p:extLst>
      <p:ext uri="{BB962C8B-B14F-4D97-AF65-F5344CB8AC3E}">
        <p14:creationId xmlns:p14="http://schemas.microsoft.com/office/powerpoint/2010/main" val="3372902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xfrm>
            <a:off x="382588" y="685800"/>
            <a:ext cx="6092825" cy="3429000"/>
          </a:xfrm>
          <a:ln/>
        </p:spPr>
      </p:sp>
      <p:sp>
        <p:nvSpPr>
          <p:cNvPr id="83971" name="Notes Placeholder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dirty="0" smtClean="0">
              <a:latin typeface="Times" pitchFamily="18" charset="0"/>
            </a:endParaRPr>
          </a:p>
        </p:txBody>
      </p:sp>
    </p:spTree>
    <p:extLst>
      <p:ext uri="{BB962C8B-B14F-4D97-AF65-F5344CB8AC3E}">
        <p14:creationId xmlns:p14="http://schemas.microsoft.com/office/powerpoint/2010/main" val="7161446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bg-BG"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67</a:t>
            </a:fld>
            <a:endParaRPr lang="en-US"/>
          </a:p>
        </p:txBody>
      </p:sp>
    </p:spTree>
    <p:extLst>
      <p:ext uri="{BB962C8B-B14F-4D97-AF65-F5344CB8AC3E}">
        <p14:creationId xmlns:p14="http://schemas.microsoft.com/office/powerpoint/2010/main" val="424479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xfrm>
            <a:off x="1143000" y="685800"/>
            <a:ext cx="4572000" cy="3429000"/>
          </a:xfrm>
          <a:ln/>
        </p:spPr>
      </p:sp>
      <p:sp>
        <p:nvSpPr>
          <p:cNvPr id="8499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bg-BG" altLang="en-US" dirty="0" smtClean="0">
              <a:latin typeface="Times" pitchFamily="18" charset="0"/>
            </a:endParaRPr>
          </a:p>
        </p:txBody>
      </p:sp>
    </p:spTree>
    <p:extLst>
      <p:ext uri="{BB962C8B-B14F-4D97-AF65-F5344CB8AC3E}">
        <p14:creationId xmlns:p14="http://schemas.microsoft.com/office/powerpoint/2010/main" val="1038272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43000" y="685800"/>
            <a:ext cx="4572000" cy="3429000"/>
          </a:xfrm>
          <a:ln/>
        </p:spPr>
      </p:sp>
      <p:sp>
        <p:nvSpPr>
          <p:cNvPr id="86019"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bg-BG" altLang="en-US" smtClean="0">
                <a:latin typeface="Times" pitchFamily="18" charset="0"/>
              </a:rPr>
              <a:t>Първото е единственото предложение, което си струва да се вземе предвид - ако нападателят знае, че може да накара кода ви да се провали, той може да заобиколи механизмите за сигурност, тъй като вашият режим на провал е несигурен.</a:t>
            </a:r>
          </a:p>
        </p:txBody>
      </p:sp>
    </p:spTree>
    <p:extLst>
      <p:ext uri="{BB962C8B-B14F-4D97-AF65-F5344CB8AC3E}">
        <p14:creationId xmlns:p14="http://schemas.microsoft.com/office/powerpoint/2010/main" val="2987697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2588" y="685800"/>
            <a:ext cx="6092825" cy="3429000"/>
          </a:xfrm>
          <a:ln/>
        </p:spPr>
      </p:sp>
      <p:sp>
        <p:nvSpPr>
          <p:cNvPr id="819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bg-BG" altLang="en-US" dirty="0" smtClean="0">
              <a:latin typeface="Times" pitchFamily="18" charset="0"/>
            </a:endParaRPr>
          </a:p>
        </p:txBody>
      </p:sp>
    </p:spTree>
    <p:extLst>
      <p:ext uri="{BB962C8B-B14F-4D97-AF65-F5344CB8AC3E}">
        <p14:creationId xmlns:p14="http://schemas.microsoft.com/office/powerpoint/2010/main" val="35657734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382588" y="685800"/>
            <a:ext cx="6092825" cy="3429000"/>
          </a:xfrm>
          <a:ln/>
        </p:spPr>
      </p:sp>
      <p:sp>
        <p:nvSpPr>
          <p:cNvPr id="81923"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bg-BG" altLang="en-US" dirty="0" smtClean="0">
              <a:latin typeface="Times" pitchFamily="18" charset="0"/>
            </a:endParaRPr>
          </a:p>
        </p:txBody>
      </p:sp>
    </p:spTree>
    <p:extLst>
      <p:ext uri="{BB962C8B-B14F-4D97-AF65-F5344CB8AC3E}">
        <p14:creationId xmlns:p14="http://schemas.microsoft.com/office/powerpoint/2010/main" val="41785118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a:xfrm>
            <a:off x="1218883" y="0"/>
            <a:ext cx="609441"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1" name="Rectangle 10"/>
          <p:cNvSpPr/>
          <p:nvPr/>
        </p:nvSpPr>
        <p:spPr>
          <a:xfrm>
            <a:off x="0" y="0"/>
            <a:ext cx="1218883"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2" name="Rectangle 11"/>
          <p:cNvSpPr/>
          <p:nvPr/>
        </p:nvSpPr>
        <p:spPr>
          <a:xfrm>
            <a:off x="0" y="5638800"/>
            <a:ext cx="12188825" cy="1219200"/>
          </a:xfrm>
          <a:prstGeom prst="rect">
            <a:avLst/>
          </a:prstGeom>
          <a:solidFill>
            <a:schemeClr val="bg2">
              <a:lumMod val="50000"/>
              <a:alpha val="7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3" name="Straight Connector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0" y="5643132"/>
            <a:ext cx="1216152" cy="1214868"/>
          </a:xfrm>
          <a:prstGeom prst="rect">
            <a:avLst/>
          </a:prstGeom>
          <a:solidFill>
            <a:schemeClr val="bg2">
              <a:lumMod val="2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5" name="Straight Connector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2428669" y="1600200"/>
            <a:ext cx="8329031" cy="2680127"/>
          </a:xfrm>
        </p:spPr>
        <p:txBody>
          <a:bodyPr>
            <a:noAutofit/>
          </a:bodyPr>
          <a:lstStyle>
            <a:lvl1pPr>
              <a:defRPr sz="5400"/>
            </a:lvl1pPr>
          </a:lstStyle>
          <a:p>
            <a:r>
              <a:rPr lang="en-US" smtClean="0"/>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9371012" y="6195695"/>
            <a:ext cx="1600121" cy="365125"/>
          </a:xfrm>
          <a:prstGeom prst="rect">
            <a:avLst/>
          </a:prstGeom>
        </p:spPr>
        <p:txBody>
          <a:bodyPr/>
          <a:lstStyle>
            <a:lvl1pPr>
              <a:defRPr>
                <a:solidFill>
                  <a:schemeClr val="bg1"/>
                </a:solidFill>
              </a:defRPr>
            </a:lvl1pPr>
          </a:lstStyle>
          <a:p>
            <a:endParaRPr lang="en-US" dirty="0"/>
          </a:p>
        </p:txBody>
      </p:sp>
      <p:sp>
        <p:nvSpPr>
          <p:cNvPr id="5" name="Footer Placeholder 4"/>
          <p:cNvSpPr>
            <a:spLocks noGrp="1"/>
          </p:cNvSpPr>
          <p:nvPr>
            <p:ph type="ftr" sz="quarter" idx="11"/>
          </p:nvPr>
        </p:nvSpPr>
        <p:spPr>
          <a:xfrm>
            <a:off x="2284412" y="6172200"/>
            <a:ext cx="4953000" cy="431165"/>
          </a:xfrm>
          <a:prstGeom prst="rect">
            <a:avLst/>
          </a:prstGeom>
        </p:spPr>
        <p:txBody>
          <a:bodyPr/>
          <a:lstStyle>
            <a:lvl1pPr>
              <a:defRPr sz="2800" b="1">
                <a:solidFill>
                  <a:schemeClr val="bg1"/>
                </a:solidFill>
                <a:effectLst>
                  <a:outerShdw blurRad="38100" dist="38100" dir="2700000" algn="tl">
                    <a:srgbClr val="000000">
                      <a:alpha val="43137"/>
                    </a:srgbClr>
                  </a:outerShdw>
                </a:effectLst>
              </a:defRPr>
            </a:lvl1pPr>
          </a:lstStyle>
          <a:p>
            <a:r>
              <a:rPr lang="bg-BG" dirty="0" smtClean="0"/>
              <a:t>Системно програмиране</a:t>
            </a:r>
            <a:endParaRPr lang="en-US" dirty="0" smtClean="0"/>
          </a:p>
          <a:p>
            <a:endParaRPr lang="en-US" dirty="0"/>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7DC1BBB0-96F0-4077-A278-0F3FB5C104D3}" type="slidenum">
              <a:rPr/>
              <a:pPr/>
              <a:t>‹#›</a:t>
            </a:fld>
            <a:endParaRPr/>
          </a:p>
        </p:txBody>
      </p:sp>
      <p:pic>
        <p:nvPicPr>
          <p:cNvPr id="18" name="Picture 17"/>
          <p:cNvPicPr>
            <a:picLocks noChangeAspect="1"/>
          </p:cNvPicPr>
          <p:nvPr userDrawn="1"/>
        </p:nvPicPr>
        <p:blipFill>
          <a:blip r:embed="rId2"/>
          <a:stretch>
            <a:fillRect/>
          </a:stretch>
        </p:blipFill>
        <p:spPr>
          <a:xfrm>
            <a:off x="150812" y="5809005"/>
            <a:ext cx="906705" cy="906705"/>
          </a:xfrm>
          <a:prstGeom prst="rect">
            <a:avLst/>
          </a:prstGeom>
        </p:spPr>
      </p:pic>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a:xfrm>
            <a:off x="5180250" y="6356351"/>
            <a:ext cx="1218883" cy="365125"/>
          </a:xfrm>
          <a:prstGeom prst="rect">
            <a:avLst/>
          </a:prstGeom>
        </p:spPr>
        <p:txBody>
          <a:bodyPr/>
          <a:lstStyle/>
          <a:p>
            <a:fld id="{C2C6F8EA-316C-41DE-B9A4-EDCC3A85ED9A}" type="datetimeFigureOut">
              <a:rPr lang="en-US"/>
              <a:t>4/4/2024</a:t>
            </a:fld>
            <a:endParaRPr/>
          </a:p>
        </p:txBody>
      </p:sp>
      <p:sp>
        <p:nvSpPr>
          <p:cNvPr id="4" name="Footer Placeholder 3"/>
          <p:cNvSpPr>
            <a:spLocks noGrp="1"/>
          </p:cNvSpPr>
          <p:nvPr>
            <p:ph type="ftr" sz="quarter" idx="11"/>
          </p:nvPr>
        </p:nvSpPr>
        <p:spPr>
          <a:xfrm>
            <a:off x="6595933" y="6356351"/>
            <a:ext cx="3974065" cy="365125"/>
          </a:xfrm>
          <a:prstGeom prst="rect">
            <a:avLst/>
          </a:prstGeom>
        </p:spPr>
        <p:txBody>
          <a:bodyPr/>
          <a:lstStyle/>
          <a:p>
            <a:endParaRPr dirty="0"/>
          </a:p>
        </p:txBody>
      </p:sp>
      <p:sp>
        <p:nvSpPr>
          <p:cNvPr id="5" name="Slide Number Placeholder 4"/>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961812" y="0"/>
            <a:ext cx="227013" cy="6858000"/>
          </a:xfrm>
          <a:prstGeom prst="rect">
            <a:avLst/>
          </a:prstGeom>
          <a:solidFill>
            <a:schemeClr val="bg2">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a:xfrm>
            <a:off x="234715" y="0"/>
            <a:ext cx="448089" cy="6858000"/>
          </a:xfrm>
          <a:prstGeom prst="rect">
            <a:avLst/>
          </a:prstGeom>
          <a:solidFill>
            <a:schemeClr val="bg2">
              <a:lumMod val="50000"/>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a:xfrm>
            <a:off x="1" y="0"/>
            <a:ext cx="227011" cy="6858000"/>
          </a:xfrm>
          <a:prstGeom prst="rect">
            <a:avLst/>
          </a:prstGeom>
          <a:solidFill>
            <a:schemeClr val="bg2">
              <a:lumMod val="50000"/>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3" name="Rectangle 12"/>
          <p:cNvSpPr/>
          <p:nvPr/>
        </p:nvSpPr>
        <p:spPr>
          <a:xfrm>
            <a:off x="227013" y="4338"/>
            <a:ext cx="455791" cy="455910"/>
          </a:xfrm>
          <a:prstGeom prst="rect">
            <a:avLst/>
          </a:prstGeom>
          <a:solidFill>
            <a:schemeClr val="bg2">
              <a:lumMod val="2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bwMode="white">
          <a:xfrm flipV="1">
            <a:off x="227012" y="0"/>
            <a:ext cx="455792" cy="30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white">
          <a:xfrm>
            <a:off x="227013" y="460248"/>
            <a:ext cx="45579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227012" y="-3048"/>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912811" y="177800"/>
            <a:ext cx="10896541" cy="724915"/>
          </a:xfrm>
          <a:prstGeom prst="rect">
            <a:avLst/>
          </a:prstGeom>
        </p:spPr>
        <p:txBody>
          <a:bodyPr vert="horz" lIns="91440" tIns="45720" rIns="91440" bIns="45720" rtlCol="0" anchor="b">
            <a:normAutofit/>
          </a:bodyPr>
          <a:lstStyle/>
          <a:p>
            <a:r>
              <a:rPr lang="en-US" dirty="0" smtClean="0"/>
              <a:t>Click to edit Master title style</a:t>
            </a:r>
            <a:endParaRPr dirty="0"/>
          </a:p>
        </p:txBody>
      </p:sp>
      <p:sp>
        <p:nvSpPr>
          <p:cNvPr id="3" name="Text Placeholder 2"/>
          <p:cNvSpPr>
            <a:spLocks noGrp="1"/>
          </p:cNvSpPr>
          <p:nvPr>
            <p:ph type="body" idx="1"/>
          </p:nvPr>
        </p:nvSpPr>
        <p:spPr>
          <a:xfrm>
            <a:off x="908662" y="1143000"/>
            <a:ext cx="10900750" cy="5410200"/>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6" name="Slide Number Placeholder 5"/>
          <p:cNvSpPr>
            <a:spLocks noGrp="1"/>
          </p:cNvSpPr>
          <p:nvPr>
            <p:ph type="sldNum" sz="quarter" idx="4"/>
          </p:nvPr>
        </p:nvSpPr>
        <p:spPr>
          <a:xfrm>
            <a:off x="11541236" y="6629400"/>
            <a:ext cx="420576" cy="225552"/>
          </a:xfrm>
          <a:prstGeom prst="rect">
            <a:avLst/>
          </a:prstGeom>
        </p:spPr>
        <p:txBody>
          <a:bodyPr vert="horz" lIns="91440" tIns="45720" rIns="91440" bIns="45720" rtlCol="0" anchor="ctr"/>
          <a:lstStyle>
            <a:lvl1pPr algn="r">
              <a:defRPr sz="1000" cap="all" baseline="0">
                <a:solidFill>
                  <a:schemeClr val="tx1">
                    <a:lumMod val="60000"/>
                    <a:lumOff val="40000"/>
                  </a:schemeClr>
                </a:solidFill>
              </a:defRPr>
            </a:lvl1pPr>
          </a:lstStyle>
          <a:p>
            <a:fld id="{7DC1BBB0-96F0-4077-A278-0F3FB5C104D3}" type="slidenum">
              <a:rPr lang="en-US" smtClean="0"/>
              <a:pPr/>
              <a:t>‹#›</a:t>
            </a:fld>
            <a:endParaRPr lang="en-US" dirty="0"/>
          </a:p>
        </p:txBody>
      </p:sp>
      <p:pic>
        <p:nvPicPr>
          <p:cNvPr id="4" name="Picture 3"/>
          <p:cNvPicPr>
            <a:picLocks noChangeAspect="1"/>
          </p:cNvPicPr>
          <p:nvPr userDrawn="1"/>
        </p:nvPicPr>
        <p:blipFill>
          <a:blip r:embed="rId5"/>
          <a:stretch>
            <a:fillRect/>
          </a:stretch>
        </p:blipFill>
        <p:spPr>
          <a:xfrm>
            <a:off x="251739" y="34237"/>
            <a:ext cx="385848" cy="394821"/>
          </a:xfrm>
          <a:prstGeom prst="rect">
            <a:avLst/>
          </a:prstGeom>
        </p:spPr>
      </p:pic>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000" b="1" kern="1200">
          <a:solidFill>
            <a:schemeClr val="tx1">
              <a:lumMod val="75000"/>
            </a:schemeClr>
          </a:solidFill>
          <a:effectLst>
            <a:outerShdw blurRad="38100" dist="38100" dir="2700000" algn="tl">
              <a:srgbClr val="000000">
                <a:alpha val="43137"/>
              </a:srgbClr>
            </a:outerShdw>
          </a:effectLst>
          <a:latin typeface="Calibri" panose="020F0502020204030204" pitchFamily="34" charset="0"/>
          <a:ea typeface="+mj-ea"/>
          <a:cs typeface="+mj-cs"/>
        </a:defRPr>
      </a:lvl1pPr>
    </p:titleStyle>
    <p:bodyStyle>
      <a:lvl1pPr marL="347663" indent="-347663" algn="l" defTabSz="914400" rtl="0" eaLnBrk="1" latinLnBrk="0" hangingPunct="1">
        <a:lnSpc>
          <a:spcPct val="90000"/>
        </a:lnSpc>
        <a:spcBef>
          <a:spcPts val="1400"/>
        </a:spcBef>
        <a:buSzPct val="70000"/>
        <a:buFont typeface="Wingdings" panose="05000000000000000000" pitchFamily="2" charset="2"/>
        <a:buChar char="Ä"/>
        <a:defRPr sz="3200" kern="1200">
          <a:solidFill>
            <a:schemeClr val="tx2"/>
          </a:solidFill>
          <a:latin typeface="Calibri" panose="020F0502020204030204" pitchFamily="34" charset="0"/>
          <a:ea typeface="+mn-ea"/>
          <a:cs typeface="+mn-cs"/>
        </a:defRPr>
      </a:lvl1pPr>
      <a:lvl2pPr marL="741363" indent="-303213" algn="l" defTabSz="914400" rtl="0" eaLnBrk="1" latinLnBrk="0" hangingPunct="1">
        <a:lnSpc>
          <a:spcPct val="90000"/>
        </a:lnSpc>
        <a:spcBef>
          <a:spcPts val="600"/>
        </a:spcBef>
        <a:buSzPct val="80000"/>
        <a:buFont typeface="Wingdings" panose="05000000000000000000" pitchFamily="2" charset="2"/>
        <a:buChar char="ü"/>
        <a:defRPr sz="2800" kern="1200">
          <a:solidFill>
            <a:schemeClr val="tx2"/>
          </a:solidFill>
          <a:latin typeface="Calibri" panose="020F0502020204030204" pitchFamily="34" charset="0"/>
          <a:ea typeface="+mn-ea"/>
          <a:cs typeface="+mn-cs"/>
        </a:defRPr>
      </a:lvl2pPr>
      <a:lvl3pPr marL="1143000" indent="-300038" algn="l" defTabSz="914400" rtl="0" eaLnBrk="1" latinLnBrk="0" hangingPunct="1">
        <a:lnSpc>
          <a:spcPct val="90000"/>
        </a:lnSpc>
        <a:spcBef>
          <a:spcPts val="600"/>
        </a:spcBef>
        <a:buSzPct val="90000"/>
        <a:buFont typeface="Wingdings" panose="05000000000000000000" pitchFamily="2" charset="2"/>
        <a:buChar char="û"/>
        <a:defRPr sz="2400" kern="1200">
          <a:solidFill>
            <a:schemeClr val="tx2"/>
          </a:solidFill>
          <a:latin typeface="Calibri" panose="020F0502020204030204" pitchFamily="34" charset="0"/>
          <a:ea typeface="+mn-ea"/>
          <a:cs typeface="+mn-cs"/>
        </a:defRPr>
      </a:lvl3pPr>
      <a:lvl4pPr marL="1316038" indent="-192088" algn="l" defTabSz="914400" rtl="0" eaLnBrk="1" latinLnBrk="0" hangingPunct="1">
        <a:lnSpc>
          <a:spcPct val="90000"/>
        </a:lnSpc>
        <a:spcBef>
          <a:spcPts val="600"/>
        </a:spcBef>
        <a:buFont typeface="Arial" pitchFamily="34" charset="0"/>
        <a:buChar char="–"/>
        <a:defRPr sz="2000" kern="1200">
          <a:solidFill>
            <a:schemeClr val="tx2"/>
          </a:solidFill>
          <a:latin typeface="Calibri" panose="020F0502020204030204" pitchFamily="34" charset="0"/>
          <a:ea typeface="+mn-ea"/>
          <a:cs typeface="+mn-cs"/>
        </a:defRPr>
      </a:lvl4pPr>
      <a:lvl5pPr marL="1655763" indent="-192088" algn="l" defTabSz="914400" rtl="0" eaLnBrk="1" latinLnBrk="0" hangingPunct="1">
        <a:lnSpc>
          <a:spcPct val="90000"/>
        </a:lnSpc>
        <a:spcBef>
          <a:spcPts val="600"/>
        </a:spcBef>
        <a:buFont typeface="Euphemia" pitchFamily="34" charset="0"/>
        <a:buChar char="›"/>
        <a:defRPr sz="1800" kern="1200">
          <a:solidFill>
            <a:schemeClr val="tx2"/>
          </a:solidFill>
          <a:latin typeface="Calibri" panose="020F0502020204030204" pitchFamily="34" charset="0"/>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bg-BG" dirty="0" smtClean="0"/>
              <a:t>Системно програмиране: </a:t>
            </a:r>
            <a:r>
              <a:rPr lang="en-US" dirty="0" smtClean="0"/>
              <a:t>Security</a:t>
            </a:r>
            <a:endParaRPr lang="en-US" dirty="0"/>
          </a:p>
        </p:txBody>
      </p:sp>
      <p:sp>
        <p:nvSpPr>
          <p:cNvPr id="3" name="Subtitle 2"/>
          <p:cNvSpPr>
            <a:spLocks noGrp="1"/>
          </p:cNvSpPr>
          <p:nvPr>
            <p:ph type="subTitle" idx="1"/>
          </p:nvPr>
        </p:nvSpPr>
        <p:spPr/>
        <p:txBody>
          <a:bodyPr/>
          <a:lstStyle/>
          <a:p>
            <a:endParaRPr lang="en-US" dirty="0"/>
          </a:p>
        </p:txBody>
      </p:sp>
      <p:sp>
        <p:nvSpPr>
          <p:cNvPr id="6" name="Footer Placeholder 4"/>
          <p:cNvSpPr>
            <a:spLocks noGrp="1"/>
          </p:cNvSpPr>
          <p:nvPr>
            <p:ph type="ftr" sz="quarter" idx="11"/>
          </p:nvPr>
        </p:nvSpPr>
        <p:spPr>
          <a:xfrm>
            <a:off x="6475412" y="6329299"/>
            <a:ext cx="4736065" cy="507365"/>
          </a:xfrm>
          <a:prstGeom prst="rect">
            <a:avLst/>
          </a:prstGeom>
        </p:spPr>
        <p:txBody>
          <a:bodyPr/>
          <a:lstStyle>
            <a:lvl1pPr>
              <a:defRPr sz="2800" b="1">
                <a:solidFill>
                  <a:schemeClr val="bg1"/>
                </a:solidFill>
                <a:effectLst>
                  <a:outerShdw blurRad="38100" dist="38100" dir="2700000" algn="tl">
                    <a:srgbClr val="000000">
                      <a:alpha val="43137"/>
                    </a:srgbClr>
                  </a:outerShdw>
                </a:effectLst>
              </a:defRPr>
            </a:lvl1pPr>
          </a:lstStyle>
          <a:p>
            <a:pPr algn="r"/>
            <a:r>
              <a:rPr lang="bg-BG" dirty="0" smtClean="0"/>
              <a:t>Системно програмиране</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dirty="0" smtClean="0"/>
              <a:t>Как да разбираме сигурността?</a:t>
            </a:r>
          </a:p>
        </p:txBody>
      </p:sp>
      <p:sp>
        <p:nvSpPr>
          <p:cNvPr id="827395" name="Rectangle 3"/>
          <p:cNvSpPr>
            <a:spLocks noGrp="1" noChangeArrowheads="1"/>
          </p:cNvSpPr>
          <p:nvPr>
            <p:ph type="body" idx="1"/>
          </p:nvPr>
        </p:nvSpPr>
        <p:spPr/>
        <p:txBody>
          <a:bodyPr vert="horz" lIns="90840" tIns="44623" rIns="90840" bIns="44623" rtlCol="0">
            <a:normAutofit/>
          </a:bodyPr>
          <a:lstStyle/>
          <a:p>
            <a:pPr eaLnBrk="1" hangingPunct="1">
              <a:defRPr/>
            </a:pPr>
            <a:r>
              <a:rPr lang="en-US" sz="2800" dirty="0"/>
              <a:t>Уязвимостта в сигурността може да има сериозни последици за здравни организации, финансови институции, агенции за национална сигурност и др. </a:t>
            </a:r>
            <a:endParaRPr lang="en-US" sz="2800" dirty="0"/>
          </a:p>
          <a:p>
            <a:pPr lvl="1" eaLnBrk="1" hangingPunct="1">
              <a:defRPr/>
            </a:pPr>
            <a:r>
              <a:rPr lang="en-US" sz="2400" dirty="0"/>
              <a:t>Важно е тези проблеми да се идентифицират бързо и проактивно, за да се избегнат злонамерени атаки.</a:t>
            </a:r>
          </a:p>
          <a:p>
            <a:pPr lvl="1" eaLnBrk="1" hangingPunct="1">
              <a:defRPr/>
            </a:pPr>
            <a:r>
              <a:rPr lang="en-US" sz="2400" dirty="0"/>
              <a:t>Сигурен продукт</a:t>
            </a:r>
          </a:p>
          <a:p>
            <a:pPr lvl="2" eaLnBrk="1" hangingPunct="1">
              <a:defRPr/>
            </a:pPr>
            <a:r>
              <a:rPr lang="en-US" sz="2000" dirty="0"/>
              <a:t>Продукт, който защитава поверителността, целостта и наличността на информацията на клиентите, както и целостта и наличността на ресурсите за обработка, под контрола на собственика или администратора на системата. </a:t>
            </a:r>
          </a:p>
          <a:p>
            <a:pPr lvl="1" eaLnBrk="1" hangingPunct="1">
              <a:defRPr/>
            </a:pPr>
            <a:r>
              <a:rPr lang="en-US" sz="2400" dirty="0"/>
              <a:t>Уязвимост в сигурността</a:t>
            </a:r>
          </a:p>
          <a:p>
            <a:pPr lvl="2" eaLnBrk="1" hangingPunct="1">
              <a:defRPr/>
            </a:pPr>
            <a:r>
              <a:rPr lang="en-US" sz="2000" dirty="0"/>
              <a:t>Недостатък в продукт, който прави невъзможно - дори при правилно използване на продукта - да се предотврати възможността нападател да си присвои привилегии в системата на потребителя, да регулира работата ѝ, да компрометира данните в нея или да придобие </a:t>
            </a:r>
            <a:r>
              <a:rPr lang="en-US" sz="2000" dirty="0" err="1"/>
              <a:t>непозволено </a:t>
            </a:r>
            <a:r>
              <a:rPr lang="en-US" sz="2000" dirty="0"/>
              <a:t>доверие. </a:t>
            </a:r>
          </a:p>
        </p:txBody>
      </p:sp>
    </p:spTree>
    <p:extLst>
      <p:ext uri="{BB962C8B-B14F-4D97-AF65-F5344CB8AC3E}">
        <p14:creationId xmlns:p14="http://schemas.microsoft.com/office/powerpoint/2010/main" val="789609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dirty="0" smtClean="0"/>
              <a:t>Как да разбираме сигурността?</a:t>
            </a:r>
          </a:p>
        </p:txBody>
      </p:sp>
      <p:sp>
        <p:nvSpPr>
          <p:cNvPr id="827395" name="Rectangle 3"/>
          <p:cNvSpPr>
            <a:spLocks noGrp="1" noChangeArrowheads="1"/>
          </p:cNvSpPr>
          <p:nvPr>
            <p:ph type="body" idx="1"/>
          </p:nvPr>
        </p:nvSpPr>
        <p:spPr/>
        <p:txBody>
          <a:bodyPr vert="horz" lIns="90840" tIns="44623" rIns="90840" bIns="44623" rtlCol="0">
            <a:normAutofit/>
          </a:bodyPr>
          <a:lstStyle/>
          <a:p>
            <a:pPr eaLnBrk="1" hangingPunct="1">
              <a:defRPr/>
            </a:pPr>
            <a:endParaRPr lang="en-US" sz="1900" dirty="0"/>
          </a:p>
        </p:txBody>
      </p:sp>
      <p:pic>
        <p:nvPicPr>
          <p:cNvPr id="2050" name="Picture 2" descr="vectorial ver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1012" y="1143000"/>
            <a:ext cx="5389308" cy="53893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5034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dirty="0" smtClean="0"/>
              <a:t>Как да разбираме сигурността?</a:t>
            </a:r>
          </a:p>
        </p:txBody>
      </p:sp>
      <p:sp>
        <p:nvSpPr>
          <p:cNvPr id="827395" name="Rectangle 3"/>
          <p:cNvSpPr>
            <a:spLocks noGrp="1" noChangeArrowheads="1"/>
          </p:cNvSpPr>
          <p:nvPr>
            <p:ph type="body" idx="1"/>
          </p:nvPr>
        </p:nvSpPr>
        <p:spPr/>
        <p:txBody>
          <a:bodyPr vert="horz" lIns="90840" tIns="44623" rIns="90840" bIns="44623" rtlCol="0">
            <a:normAutofit/>
          </a:bodyPr>
          <a:lstStyle/>
          <a:p>
            <a:pPr eaLnBrk="1" hangingPunct="1">
              <a:defRPr/>
            </a:pPr>
            <a:endParaRPr lang="en-US" sz="1900" dirty="0"/>
          </a:p>
        </p:txBody>
      </p:sp>
      <p:pic>
        <p:nvPicPr>
          <p:cNvPr id="3074" name="Picture 2" descr="Understanding difference between Cyber Security &amp; Information Security -  CISO Platform - All Articles - CISO Platfor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4612" y="1168400"/>
            <a:ext cx="7696200" cy="5659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6282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Как да разбираме сигурността?</a:t>
            </a:r>
            <a:endParaRPr lang="bg-BG" dirty="0"/>
          </a:p>
        </p:txBody>
      </p:sp>
      <p:sp>
        <p:nvSpPr>
          <p:cNvPr id="3" name="Content Placeholder 2"/>
          <p:cNvSpPr>
            <a:spLocks noGrp="1"/>
          </p:cNvSpPr>
          <p:nvPr>
            <p:ph idx="1"/>
          </p:nvPr>
        </p:nvSpPr>
        <p:spPr>
          <a:xfrm>
            <a:off x="908662" y="1143000"/>
            <a:ext cx="10976950" cy="5410200"/>
          </a:xfrm>
        </p:spPr>
        <p:txBody>
          <a:bodyPr>
            <a:noAutofit/>
          </a:bodyPr>
          <a:lstStyle/>
          <a:p>
            <a:r>
              <a:rPr lang="en-US" sz="3000" dirty="0"/>
              <a:t>Определение</a:t>
            </a:r>
          </a:p>
          <a:p>
            <a:pPr lvl="1">
              <a:lnSpc>
                <a:spcPct val="100000"/>
              </a:lnSpc>
              <a:spcBef>
                <a:spcPts val="0"/>
              </a:spcBef>
            </a:pPr>
            <a:r>
              <a:rPr lang="en-US" sz="2700" dirty="0"/>
              <a:t>Софтуерната </a:t>
            </a:r>
            <a:r>
              <a:rPr lang="en-US" sz="2700" dirty="0"/>
              <a:t>сигурност се отнася до набор от практики, които помагат за защита на софтуерните приложения и цифровите решения от нападатели. </a:t>
            </a:r>
            <a:endParaRPr lang="en-US" sz="2700" dirty="0"/>
          </a:p>
          <a:p>
            <a:pPr lvl="2">
              <a:lnSpc>
                <a:spcPct val="100000"/>
              </a:lnSpc>
              <a:spcBef>
                <a:spcPts val="0"/>
              </a:spcBef>
            </a:pPr>
            <a:r>
              <a:rPr lang="en-US" sz="2200" dirty="0"/>
              <a:t>Разработчиците </a:t>
            </a:r>
            <a:r>
              <a:rPr lang="en-US" sz="2200" dirty="0"/>
              <a:t>включват тези техники в жизнения цикъл на разработката на софтуер и в процесите на тестване. </a:t>
            </a:r>
            <a:endParaRPr lang="en-US" sz="2200" dirty="0"/>
          </a:p>
          <a:p>
            <a:pPr lvl="2">
              <a:lnSpc>
                <a:spcPct val="100000"/>
              </a:lnSpc>
              <a:spcBef>
                <a:spcPts val="0"/>
              </a:spcBef>
            </a:pPr>
            <a:r>
              <a:rPr lang="en-US" sz="2200" dirty="0"/>
              <a:t>В резултат на това компаниите могат да гарантират, че техните цифрови решения са сигурни и могат да функционират в случай на злонамерена атака</a:t>
            </a:r>
            <a:r>
              <a:rPr lang="en-US" sz="2200" dirty="0"/>
              <a:t>.</a:t>
            </a:r>
          </a:p>
          <a:p>
            <a:pPr lvl="1">
              <a:lnSpc>
                <a:spcPct val="100000"/>
              </a:lnSpc>
              <a:spcBef>
                <a:spcPts val="0"/>
              </a:spcBef>
            </a:pPr>
            <a:r>
              <a:rPr lang="en-US" sz="2700" dirty="0"/>
              <a:t>Софтуерна сигурност срещу киберсигурност</a:t>
            </a:r>
          </a:p>
          <a:p>
            <a:pPr lvl="2">
              <a:lnSpc>
                <a:spcPct val="100000"/>
              </a:lnSpc>
              <a:spcBef>
                <a:spcPts val="0"/>
              </a:spcBef>
            </a:pPr>
            <a:r>
              <a:rPr lang="en-US" sz="2200" dirty="0" err="1" smtClean="0"/>
              <a:t>Софтуерната</a:t>
            </a:r>
            <a:r>
              <a:rPr lang="en-US" sz="2200" dirty="0" smtClean="0"/>
              <a:t> </a:t>
            </a:r>
            <a:r>
              <a:rPr lang="en-US" sz="2200" dirty="0"/>
              <a:t>сигурност защитава или предпазва софтуерните програми от злонамерени заплахи, като например вируси или зловреден софтуер.</a:t>
            </a:r>
          </a:p>
          <a:p>
            <a:pPr lvl="2">
              <a:lnSpc>
                <a:spcPct val="100000"/>
              </a:lnSpc>
              <a:spcBef>
                <a:spcPts val="0"/>
              </a:spcBef>
            </a:pPr>
            <a:r>
              <a:rPr lang="en-US" sz="2200" dirty="0"/>
              <a:t>Киберсигурността е много </a:t>
            </a:r>
            <a:r>
              <a:rPr lang="en-US" sz="2200" dirty="0"/>
              <a:t>по-широка: </a:t>
            </a:r>
            <a:r>
              <a:rPr lang="en-US" sz="2200" dirty="0"/>
              <a:t>киберсигурността защитава мрежи, системи и програми; заплахите от нея могат да включват атаки с </a:t>
            </a:r>
            <a:r>
              <a:rPr lang="en-US" sz="2200" dirty="0" err="1"/>
              <a:t>троянски</a:t>
            </a:r>
            <a:r>
              <a:rPr lang="en-US" sz="2200" dirty="0"/>
              <a:t> </a:t>
            </a:r>
            <a:r>
              <a:rPr lang="en-US" sz="2200" dirty="0" err="1" smtClean="0"/>
              <a:t>кон</a:t>
            </a:r>
            <a:r>
              <a:rPr lang="en-US" sz="2200" dirty="0" smtClean="0"/>
              <a:t> </a:t>
            </a:r>
            <a:r>
              <a:rPr lang="en-US" sz="2200" dirty="0"/>
              <a:t>и </a:t>
            </a:r>
            <a:r>
              <a:rPr lang="en-US" sz="2200" dirty="0" err="1" smtClean="0"/>
              <a:t>рансъмуер</a:t>
            </a:r>
            <a:r>
              <a:rPr lang="bg-BG" sz="2200" dirty="0" smtClean="0"/>
              <a:t> (англ. </a:t>
            </a:r>
            <a:r>
              <a:rPr lang="en-US" sz="2200" dirty="0" smtClean="0"/>
              <a:t>Ransomware</a:t>
            </a:r>
            <a:r>
              <a:rPr lang="bg-BG" sz="2200" dirty="0" smtClean="0"/>
              <a:t>)</a:t>
            </a:r>
            <a:r>
              <a:rPr lang="en-US" sz="2200" dirty="0" smtClean="0"/>
              <a:t>.</a:t>
            </a:r>
            <a:endParaRPr lang="en-US" sz="2200" dirty="0"/>
          </a:p>
          <a:p>
            <a:pPr lvl="2"/>
            <a:endParaRPr lang="bg-BG" dirty="0"/>
          </a:p>
        </p:txBody>
      </p:sp>
    </p:spTree>
    <p:extLst>
      <p:ext uri="{BB962C8B-B14F-4D97-AF65-F5344CB8AC3E}">
        <p14:creationId xmlns:p14="http://schemas.microsoft.com/office/powerpoint/2010/main" val="656064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Как да разбираме сигурността?</a:t>
            </a:r>
            <a:endParaRPr lang="bg-BG" dirty="0"/>
          </a:p>
        </p:txBody>
      </p:sp>
      <p:sp>
        <p:nvSpPr>
          <p:cNvPr id="4" name="Content Placeholder 3"/>
          <p:cNvSpPr>
            <a:spLocks noGrp="1"/>
          </p:cNvSpPr>
          <p:nvPr>
            <p:ph idx="1"/>
          </p:nvPr>
        </p:nvSpPr>
        <p:spPr/>
        <p:txBody>
          <a:bodyPr/>
          <a:lstStyle/>
          <a:p>
            <a:endParaRPr lang="bg-BG"/>
          </a:p>
        </p:txBody>
      </p:sp>
      <p:pic>
        <p:nvPicPr>
          <p:cNvPr id="1028" name="Picture 4" descr="Relationship between information security, cyber security, and national defense. By adding national defense to the figure in von Solms and van Niekerk [14], cyber defense is defin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3212" y="1503507"/>
            <a:ext cx="6825013" cy="46891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6975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smtClean="0"/>
              <a:t>Сигурност и качество</a:t>
            </a:r>
          </a:p>
        </p:txBody>
      </p:sp>
      <p:sp>
        <p:nvSpPr>
          <p:cNvPr id="835587" name="Rectangle 3"/>
          <p:cNvSpPr>
            <a:spLocks noGrp="1" noChangeArrowheads="1"/>
          </p:cNvSpPr>
          <p:nvPr>
            <p:ph type="body" idx="1"/>
          </p:nvPr>
        </p:nvSpPr>
        <p:spPr>
          <a:xfrm>
            <a:off x="1217612" y="1143000"/>
            <a:ext cx="10976400" cy="5410800"/>
          </a:xfrm>
        </p:spPr>
        <p:txBody>
          <a:bodyPr vert="horz" lIns="90840" tIns="44623" rIns="90840" bIns="44623" rtlCol="0">
            <a:normAutofit/>
          </a:bodyPr>
          <a:lstStyle/>
          <a:p>
            <a:pPr eaLnBrk="1" hangingPunct="1">
              <a:defRPr/>
            </a:pPr>
            <a:r>
              <a:rPr lang="en-US" sz="2800" dirty="0"/>
              <a:t>Сигурните продукти са качествени продукти </a:t>
            </a:r>
          </a:p>
          <a:p>
            <a:pPr lvl="1" eaLnBrk="1" hangingPunct="1">
              <a:defRPr/>
            </a:pPr>
            <a:r>
              <a:rPr lang="en-US" sz="2400" dirty="0"/>
              <a:t>Перфектният софтуер е оксиморон, както и перфектната сигурност. </a:t>
            </a:r>
          </a:p>
          <a:p>
            <a:pPr lvl="1" eaLnBrk="1" hangingPunct="1">
              <a:defRPr/>
            </a:pPr>
            <a:r>
              <a:rPr lang="en-US" sz="2400" dirty="0"/>
              <a:t>Говорим за софтуер, който е достатъчно сигурен и добър за средата, в която ще работи. </a:t>
            </a:r>
          </a:p>
          <a:p>
            <a:pPr lvl="1" eaLnBrk="1" hangingPunct="1">
              <a:defRPr/>
            </a:pPr>
            <a:r>
              <a:rPr lang="en-US" sz="2400" dirty="0"/>
              <a:t>Продукт, който не е подходящо защитен, е по-лош от конкурентните продукти. </a:t>
            </a:r>
          </a:p>
          <a:p>
            <a:pPr eaLnBrk="1" hangingPunct="1">
              <a:defRPr/>
            </a:pPr>
            <a:r>
              <a:rPr lang="en-US" sz="2800" dirty="0"/>
              <a:t>Сигурността също е подмножество на надеждността </a:t>
            </a:r>
          </a:p>
          <a:p>
            <a:pPr lvl="1" eaLnBrk="1" hangingPunct="1">
              <a:defRPr/>
            </a:pPr>
            <a:r>
              <a:rPr lang="en-US" sz="2400" dirty="0"/>
              <a:t>Това зависи от това какво потребителят разбира под сигурност.</a:t>
            </a:r>
          </a:p>
          <a:p>
            <a:pPr lvl="2" eaLnBrk="1" hangingPunct="1">
              <a:defRPr/>
            </a:pPr>
            <a:r>
              <a:rPr lang="en-US" dirty="0" smtClean="0"/>
              <a:t>Решението, което защитава секретни данни, не е задължително да бъде надеждно. </a:t>
            </a:r>
          </a:p>
          <a:p>
            <a:pPr lvl="2" eaLnBrk="1" hangingPunct="1">
              <a:defRPr/>
            </a:pPr>
            <a:r>
              <a:rPr lang="en-US" dirty="0" smtClean="0"/>
              <a:t>Ако системата се срине, но това стане по начин, който не разкрива данните, тя все още може да се счита за сигурна. </a:t>
            </a:r>
          </a:p>
        </p:txBody>
      </p:sp>
    </p:spTree>
    <p:extLst>
      <p:ext uri="{BB962C8B-B14F-4D97-AF65-F5344CB8AC3E}">
        <p14:creationId xmlns:p14="http://schemas.microsoft.com/office/powerpoint/2010/main" val="1246318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dirty="0" smtClean="0"/>
              <a:t>Перспектива за сигурност</a:t>
            </a:r>
          </a:p>
        </p:txBody>
      </p:sp>
      <p:sp>
        <p:nvSpPr>
          <p:cNvPr id="829443" name="Rectangle 3"/>
          <p:cNvSpPr>
            <a:spLocks noGrp="1" noChangeArrowheads="1"/>
          </p:cNvSpPr>
          <p:nvPr>
            <p:ph type="body" idx="1"/>
          </p:nvPr>
        </p:nvSpPr>
        <p:spPr>
          <a:xfrm>
            <a:off x="1065212" y="1219200"/>
            <a:ext cx="10515600" cy="5400000"/>
          </a:xfrm>
        </p:spPr>
        <p:txBody>
          <a:bodyPr vert="horz" lIns="90840" tIns="44623" rIns="90840" bIns="44623" rtlCol="0">
            <a:normAutofit/>
          </a:bodyPr>
          <a:lstStyle/>
          <a:p>
            <a:pPr>
              <a:spcBef>
                <a:spcPts val="600"/>
              </a:spcBef>
              <a:defRPr/>
            </a:pPr>
            <a:r>
              <a:rPr lang="en-US" dirty="0" smtClean="0"/>
              <a:t>Сигурността от гледна точка на разработчиците</a:t>
            </a:r>
          </a:p>
          <a:p>
            <a:pPr lvl="1">
              <a:defRPr/>
            </a:pPr>
            <a:r>
              <a:rPr lang="en-US" dirty="0" smtClean="0"/>
              <a:t>Тяхната задача е да създават приложения, които помагат на потребителите да се възползват максимално от компютърните си системи, без да се страхуват от загуба на данни или нарушаване на неприкосновеността на личния живот.</a:t>
            </a:r>
          </a:p>
          <a:p>
            <a:pPr lvl="1">
              <a:defRPr/>
            </a:pPr>
            <a:r>
              <a:rPr lang="en-US" dirty="0" smtClean="0"/>
              <a:t>Неуспехът в изграждането на сигурни системи води до повече работа за тях в дългосрочен план и до лоша репутация, което от своя страна може да доведе до загуба на продажби, тъй като клиентите преминават към конкурентен продукт, за който се смята, че има по-добра поддръжка на сигурността. </a:t>
            </a:r>
          </a:p>
          <a:p>
            <a:pPr lvl="1">
              <a:defRPr/>
            </a:pPr>
            <a:endParaRPr lang="en-US" dirty="0" smtClean="0"/>
          </a:p>
        </p:txBody>
      </p:sp>
    </p:spTree>
    <p:extLst>
      <p:ext uri="{BB962C8B-B14F-4D97-AF65-F5344CB8AC3E}">
        <p14:creationId xmlns:p14="http://schemas.microsoft.com/office/powerpoint/2010/main" val="2678890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dirty="0"/>
              <a:t>Перспектива за сигурност</a:t>
            </a:r>
            <a:endParaRPr lang="en-GB" dirty="0" smtClean="0"/>
          </a:p>
        </p:txBody>
      </p:sp>
      <p:sp>
        <p:nvSpPr>
          <p:cNvPr id="830467" name="Rectangle 3"/>
          <p:cNvSpPr>
            <a:spLocks noGrp="1" noChangeArrowheads="1"/>
          </p:cNvSpPr>
          <p:nvPr>
            <p:ph type="body" idx="1"/>
          </p:nvPr>
        </p:nvSpPr>
        <p:spPr>
          <a:xfrm>
            <a:off x="1065212" y="1295400"/>
            <a:ext cx="10439400" cy="5257800"/>
          </a:xfrm>
        </p:spPr>
        <p:txBody>
          <a:bodyPr vert="horz" lIns="90840" tIns="44623" rIns="90840" bIns="44623" rtlCol="0">
            <a:normAutofit lnSpcReduction="10000"/>
          </a:bodyPr>
          <a:lstStyle/>
          <a:p>
            <a:pPr>
              <a:spcBef>
                <a:spcPts val="600"/>
              </a:spcBef>
            </a:pPr>
            <a:r>
              <a:rPr lang="en-US" dirty="0"/>
              <a:t>Перспектива на крайните потребители</a:t>
            </a:r>
          </a:p>
          <a:p>
            <a:pPr lvl="1"/>
            <a:r>
              <a:rPr lang="en-US" dirty="0"/>
              <a:t>Те изискват приложения, които да работят както е обявено и както те очакват всеки път, когато ги стартират. </a:t>
            </a:r>
          </a:p>
          <a:p>
            <a:pPr lvl="2"/>
            <a:r>
              <a:rPr lang="en-US" dirty="0"/>
              <a:t>Хакнатите приложения не правят нито едното, нито другото. </a:t>
            </a:r>
          </a:p>
          <a:p>
            <a:pPr lvl="1"/>
            <a:r>
              <a:rPr lang="en-US" dirty="0"/>
              <a:t>Приложенията манипулират, съхраняват и, надяваме се, защитават поверителни потребителски и корпоративни данни. </a:t>
            </a:r>
          </a:p>
          <a:p>
            <a:pPr lvl="1"/>
            <a:r>
              <a:rPr lang="en-US" dirty="0"/>
              <a:t>Потребителите не искат да имат проблеми с поверителността (информация за кредитни карти, публикувана в интернет, хакнати медицински данни) и не искат да загубят данни (ако имат вируси). </a:t>
            </a:r>
          </a:p>
          <a:p>
            <a:pPr lvl="1"/>
            <a:r>
              <a:rPr lang="en-US" dirty="0"/>
              <a:t>Надеждните компютри не са маркетингов трик. Това е сериозен стремеж към по-голяма сигурност в ИКТ индустрията. </a:t>
            </a:r>
          </a:p>
        </p:txBody>
      </p:sp>
    </p:spTree>
    <p:extLst>
      <p:ext uri="{BB962C8B-B14F-4D97-AF65-F5344CB8AC3E}">
        <p14:creationId xmlns:p14="http://schemas.microsoft.com/office/powerpoint/2010/main" val="12679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dirty="0"/>
              <a:t>Перспектива за сигурност</a:t>
            </a:r>
            <a:endParaRPr lang="en-GB" dirty="0" smtClean="0"/>
          </a:p>
        </p:txBody>
      </p:sp>
      <p:sp>
        <p:nvSpPr>
          <p:cNvPr id="830467" name="Rectangle 3"/>
          <p:cNvSpPr>
            <a:spLocks noGrp="1" noChangeArrowheads="1"/>
          </p:cNvSpPr>
          <p:nvPr>
            <p:ph type="body" idx="1"/>
          </p:nvPr>
        </p:nvSpPr>
        <p:spPr>
          <a:xfrm>
            <a:off x="1065212" y="1143000"/>
            <a:ext cx="10363200" cy="5486400"/>
          </a:xfrm>
        </p:spPr>
        <p:txBody>
          <a:bodyPr vert="horz" lIns="90840" tIns="44623" rIns="90840" bIns="44623" rtlCol="0">
            <a:normAutofit/>
          </a:bodyPr>
          <a:lstStyle/>
          <a:p>
            <a:pPr eaLnBrk="1" hangingPunct="1">
              <a:defRPr/>
            </a:pPr>
            <a:r>
              <a:rPr lang="en-US" dirty="0" smtClean="0"/>
              <a:t>Най-важните </a:t>
            </a:r>
            <a:r>
              <a:rPr lang="en-US" dirty="0"/>
              <a:t>проблеми, свързани със сигурността на софтуера, </a:t>
            </a:r>
            <a:r>
              <a:rPr lang="en-US" dirty="0" smtClean="0"/>
              <a:t>пред </a:t>
            </a:r>
            <a:r>
              <a:rPr lang="en-US" dirty="0"/>
              <a:t>които са </a:t>
            </a:r>
            <a:r>
              <a:rPr lang="en-US" dirty="0" smtClean="0"/>
              <a:t>изправени </a:t>
            </a:r>
            <a:r>
              <a:rPr lang="en-US" dirty="0"/>
              <a:t>предприятията:</a:t>
            </a:r>
          </a:p>
          <a:p>
            <a:pPr lvl="1" eaLnBrk="1" hangingPunct="1">
              <a:defRPr/>
            </a:pPr>
            <a:r>
              <a:rPr lang="en-US" dirty="0" smtClean="0"/>
              <a:t>Фишинг</a:t>
            </a:r>
          </a:p>
          <a:p>
            <a:pPr lvl="2" eaLnBrk="1" hangingPunct="1">
              <a:defRPr/>
            </a:pPr>
            <a:r>
              <a:rPr lang="en-US" dirty="0" smtClean="0"/>
              <a:t>Фишингът </a:t>
            </a:r>
            <a:r>
              <a:rPr lang="en-US" dirty="0"/>
              <a:t>се случва, когато нападателят се представя за някой друг в опит да получи лична информация, например идентификационни данни за софтуер.</a:t>
            </a:r>
          </a:p>
          <a:p>
            <a:pPr lvl="1" eaLnBrk="1" hangingPunct="1">
              <a:defRPr/>
            </a:pPr>
            <a:r>
              <a:rPr lang="en-US" dirty="0"/>
              <a:t>Атаки на облачни услуги: </a:t>
            </a:r>
          </a:p>
          <a:p>
            <a:pPr lvl="2" eaLnBrk="1" hangingPunct="1">
              <a:defRPr/>
            </a:pPr>
            <a:r>
              <a:rPr lang="en-US" dirty="0"/>
              <a:t>Компаниите все повече разчитат на услуги в облака, за да поддържат отдалечени работници. </a:t>
            </a:r>
          </a:p>
          <a:p>
            <a:pPr lvl="2" eaLnBrk="1" hangingPunct="1">
              <a:defRPr/>
            </a:pPr>
            <a:r>
              <a:rPr lang="en-US" dirty="0"/>
              <a:t>Някои инфраструктури в облака имат уязвимости, от които хакерите могат да се възползват</a:t>
            </a:r>
            <a:r>
              <a:rPr lang="en-US" dirty="0" smtClean="0"/>
              <a:t>.</a:t>
            </a:r>
            <a:endParaRPr lang="en-US" dirty="0"/>
          </a:p>
        </p:txBody>
      </p:sp>
    </p:spTree>
    <p:extLst>
      <p:ext uri="{BB962C8B-B14F-4D97-AF65-F5344CB8AC3E}">
        <p14:creationId xmlns:p14="http://schemas.microsoft.com/office/powerpoint/2010/main" val="2935918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dirty="0"/>
              <a:t>Перспектива за сигурност</a:t>
            </a:r>
            <a:endParaRPr lang="en-GB" dirty="0" smtClean="0"/>
          </a:p>
        </p:txBody>
      </p:sp>
      <p:sp>
        <p:nvSpPr>
          <p:cNvPr id="830467" name="Rectangle 3"/>
          <p:cNvSpPr>
            <a:spLocks noGrp="1" noChangeArrowheads="1"/>
          </p:cNvSpPr>
          <p:nvPr>
            <p:ph type="body" idx="1"/>
          </p:nvPr>
        </p:nvSpPr>
        <p:spPr>
          <a:xfrm>
            <a:off x="1065212" y="1066800"/>
            <a:ext cx="10439400" cy="5562600"/>
          </a:xfrm>
        </p:spPr>
        <p:txBody>
          <a:bodyPr vert="horz" lIns="90840" tIns="44623" rIns="90840" bIns="44623" rtlCol="0">
            <a:normAutofit/>
          </a:bodyPr>
          <a:lstStyle/>
          <a:p>
            <a:pPr eaLnBrk="1" hangingPunct="1">
              <a:defRPr/>
            </a:pPr>
            <a:r>
              <a:rPr lang="en-US" dirty="0" smtClean="0"/>
              <a:t>Най-важните </a:t>
            </a:r>
            <a:r>
              <a:rPr lang="en-US" dirty="0"/>
              <a:t>проблеми, свързани със сигурността на софтуера, </a:t>
            </a:r>
            <a:r>
              <a:rPr lang="en-US" dirty="0" smtClean="0"/>
              <a:t>пред </a:t>
            </a:r>
            <a:r>
              <a:rPr lang="en-US" dirty="0"/>
              <a:t>които са </a:t>
            </a:r>
            <a:r>
              <a:rPr lang="en-US" dirty="0" smtClean="0"/>
              <a:t>изправени </a:t>
            </a:r>
            <a:r>
              <a:rPr lang="en-US" dirty="0"/>
              <a:t>предприятията:</a:t>
            </a:r>
          </a:p>
          <a:p>
            <a:pPr lvl="1" eaLnBrk="1" hangingPunct="1">
              <a:defRPr/>
            </a:pPr>
            <a:r>
              <a:rPr lang="en-US" dirty="0"/>
              <a:t>Атаки за разпределен отказ на услуга (</a:t>
            </a:r>
            <a:r>
              <a:rPr lang="en-US" dirty="0" err="1"/>
              <a:t>DDoS): </a:t>
            </a:r>
          </a:p>
          <a:p>
            <a:pPr lvl="2" eaLnBrk="1" hangingPunct="1">
              <a:defRPr/>
            </a:pPr>
            <a:r>
              <a:rPr lang="en-US" dirty="0" err="1"/>
              <a:t>DDoS </a:t>
            </a:r>
            <a:r>
              <a:rPr lang="en-US" dirty="0"/>
              <a:t>атаката се извършва, когато нападателят претоварва сървърите с пакети, което води до срив на софтуера.</a:t>
            </a:r>
          </a:p>
          <a:p>
            <a:pPr lvl="1" eaLnBrk="1" hangingPunct="1">
              <a:defRPr/>
            </a:pPr>
            <a:r>
              <a:rPr lang="en-US" dirty="0"/>
              <a:t>Атаки по веригата за доставки на </a:t>
            </a:r>
            <a:r>
              <a:rPr lang="en-US" dirty="0" smtClean="0"/>
              <a:t>софтуер: </a:t>
            </a:r>
          </a:p>
          <a:p>
            <a:pPr lvl="2" eaLnBrk="1" hangingPunct="1">
              <a:defRPr/>
            </a:pPr>
            <a:r>
              <a:rPr lang="en-US" dirty="0" smtClean="0"/>
              <a:t>Някои </a:t>
            </a:r>
            <a:r>
              <a:rPr lang="en-US" dirty="0"/>
              <a:t>части на софтуера са от решаващо значение за веригата за доставки в бизнеса, особено за електронната търговия. </a:t>
            </a:r>
            <a:endParaRPr lang="en-US" dirty="0" smtClean="0"/>
          </a:p>
          <a:p>
            <a:pPr lvl="2" eaLnBrk="1" hangingPunct="1">
              <a:defRPr/>
            </a:pPr>
            <a:r>
              <a:rPr lang="en-US" dirty="0"/>
              <a:t>Атака по веригата за доставки на софтуер се случва, когато хакери използват услуга на трета страна, за да получат достъп до данни за даден бизнес.</a:t>
            </a:r>
            <a:endParaRPr lang="en-US" dirty="0" smtClean="0"/>
          </a:p>
        </p:txBody>
      </p:sp>
    </p:spTree>
    <p:extLst>
      <p:ext uri="{BB962C8B-B14F-4D97-AF65-F5344CB8AC3E}">
        <p14:creationId xmlns:p14="http://schemas.microsoft.com/office/powerpoint/2010/main" val="3873868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Rot="1" noChangeArrowheads="1"/>
          </p:cNvSpPr>
          <p:nvPr>
            <p:ph type="title"/>
          </p:nvPr>
        </p:nvSpPr>
        <p:spPr/>
        <p:txBody>
          <a:bodyPr vert="horz" lIns="90840" tIns="44623" rIns="90840" bIns="44623" rtlCol="0" anchor="b">
            <a:normAutofit/>
          </a:bodyPr>
          <a:lstStyle/>
          <a:p>
            <a:pPr>
              <a:defRPr/>
            </a:pPr>
            <a:r>
              <a:rPr lang="bg-BG" sz="3800" dirty="0" smtClean="0"/>
              <a:t>Дилемата</a:t>
            </a:r>
            <a:r>
              <a:rPr lang="bg-BG" dirty="0" smtClean="0"/>
              <a:t> на защитника </a:t>
            </a:r>
            <a:endParaRPr lang="bg-BG" dirty="0" smtClean="0"/>
          </a:p>
        </p:txBody>
      </p:sp>
      <p:sp>
        <p:nvSpPr>
          <p:cNvPr id="830467" name="Rectangle 3"/>
          <p:cNvSpPr>
            <a:spLocks noGrp="1" noChangeArrowheads="1"/>
          </p:cNvSpPr>
          <p:nvPr>
            <p:ph type="body" idx="1"/>
          </p:nvPr>
        </p:nvSpPr>
        <p:spPr>
          <a:xfrm>
            <a:off x="1065212" y="1066800"/>
            <a:ext cx="10439400" cy="5562600"/>
          </a:xfrm>
        </p:spPr>
        <p:txBody>
          <a:bodyPr vert="horz" lIns="90840" tIns="44623" rIns="90840" bIns="44623" rtlCol="0">
            <a:normAutofit/>
          </a:bodyPr>
          <a:lstStyle/>
          <a:p>
            <a:pPr>
              <a:defRPr/>
            </a:pPr>
            <a:r>
              <a:rPr lang="bg-BG" dirty="0" smtClean="0"/>
              <a:t>Въпросът е поставен така: нападения се случват.</a:t>
            </a:r>
          </a:p>
          <a:p>
            <a:pPr lvl="1">
              <a:defRPr/>
            </a:pPr>
            <a:r>
              <a:rPr lang="bg-BG" dirty="0" smtClean="0"/>
              <a:t>След като софтуерът е инсталиран на компютър, особено на система, насочена към интернет, той се намира в състояние на защита. </a:t>
            </a:r>
          </a:p>
          <a:p>
            <a:pPr lvl="2">
              <a:defRPr/>
            </a:pPr>
            <a:r>
              <a:rPr lang="bg-BG" altLang="en-US" dirty="0" smtClean="0"/>
              <a:t>Кодът е отворен за потенциални атаки 24 часа в денонощието и 7 дни в седмицата от всяко кътче на земното кълбо и затова трябва да устои на атаките, така че защитените от системата ресурси да не бъдат компрометирани, повредени, изтрити или прегледани по злонамерен начин. </a:t>
            </a:r>
          </a:p>
          <a:p>
            <a:pPr lvl="1">
              <a:defRPr/>
            </a:pPr>
            <a:r>
              <a:rPr lang="bg-BG" dirty="0" smtClean="0"/>
              <a:t>Тази ситуация е изключително проблематична за всички потребители на компютърни системи. </a:t>
            </a:r>
          </a:p>
          <a:p>
            <a:pPr lvl="2">
              <a:defRPr/>
            </a:pPr>
            <a:r>
              <a:rPr lang="bg-BG" dirty="0" smtClean="0"/>
              <a:t>Това е предизвикателство и за производителите на софтуер, тъй като те произвеждат софтуер, който е потенциална точка за атака.</a:t>
            </a:r>
          </a:p>
          <a:p>
            <a:pPr lvl="1">
              <a:defRPr/>
            </a:pPr>
            <a:endParaRPr lang="bg-BG" dirty="0"/>
          </a:p>
        </p:txBody>
      </p:sp>
    </p:spTree>
    <p:extLst>
      <p:ext uri="{BB962C8B-B14F-4D97-AF65-F5344CB8AC3E}">
        <p14:creationId xmlns:p14="http://schemas.microsoft.com/office/powerpoint/2010/main" val="4111779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66" name="Rectangle 2"/>
          <p:cNvSpPr>
            <a:spLocks noGrp="1" noRot="1" noChangeArrowheads="1"/>
          </p:cNvSpPr>
          <p:nvPr>
            <p:ph type="title"/>
          </p:nvPr>
        </p:nvSpPr>
        <p:spPr/>
        <p:txBody>
          <a:bodyPr vert="horz" lIns="90840" tIns="44623" rIns="90840" bIns="44623" rtlCol="0" anchor="b">
            <a:normAutofit/>
          </a:bodyPr>
          <a:lstStyle/>
          <a:p>
            <a:pPr>
              <a:defRPr/>
            </a:pPr>
            <a:r>
              <a:rPr lang="bg-BG" sz="3800" dirty="0" smtClean="0"/>
              <a:t>Дилемата</a:t>
            </a:r>
            <a:r>
              <a:rPr lang="bg-BG" dirty="0" smtClean="0"/>
              <a:t> на защитника </a:t>
            </a:r>
            <a:endParaRPr lang="bg-BG" dirty="0" smtClean="0"/>
          </a:p>
        </p:txBody>
      </p:sp>
      <p:sp>
        <p:nvSpPr>
          <p:cNvPr id="830467" name="Rectangle 3"/>
          <p:cNvSpPr>
            <a:spLocks noGrp="1" noChangeArrowheads="1"/>
          </p:cNvSpPr>
          <p:nvPr>
            <p:ph type="body" idx="1"/>
          </p:nvPr>
        </p:nvSpPr>
        <p:spPr>
          <a:xfrm>
            <a:off x="1065212" y="1066800"/>
            <a:ext cx="10439400" cy="5562600"/>
          </a:xfrm>
        </p:spPr>
        <p:txBody>
          <a:bodyPr vert="horz" lIns="90840" tIns="44623" rIns="90840" bIns="44623" rtlCol="0">
            <a:normAutofit/>
          </a:bodyPr>
          <a:lstStyle/>
          <a:p>
            <a:pPr>
              <a:defRPr/>
            </a:pPr>
            <a:r>
              <a:rPr lang="bg-BG" dirty="0" smtClean="0"/>
              <a:t>Разработчиците на софтуер винаги са на опашката: </a:t>
            </a:r>
          </a:p>
          <a:p>
            <a:pPr lvl="1">
              <a:defRPr/>
            </a:pPr>
            <a:r>
              <a:rPr lang="bg-BG" dirty="0" smtClean="0"/>
              <a:t>Принцип № 1: </a:t>
            </a:r>
          </a:p>
          <a:p>
            <a:pPr lvl="2">
              <a:defRPr/>
            </a:pPr>
            <a:r>
              <a:rPr lang="bg-BG" dirty="0" smtClean="0"/>
              <a:t>Защитникът трябва да защитава всички точки, а нападателят може да избере най-слабата точка. </a:t>
            </a:r>
          </a:p>
          <a:p>
            <a:pPr lvl="1">
              <a:defRPr/>
            </a:pPr>
            <a:r>
              <a:rPr lang="bg-BG" dirty="0" smtClean="0"/>
              <a:t>Принцип № 2: </a:t>
            </a:r>
          </a:p>
          <a:p>
            <a:pPr lvl="2">
              <a:defRPr/>
            </a:pPr>
            <a:r>
              <a:rPr lang="bg-BG" dirty="0" smtClean="0"/>
              <a:t>Защитникът може да се защитава само от известни атаки, а нападателят може да търси неизвестни уязвимости. </a:t>
            </a:r>
          </a:p>
          <a:p>
            <a:pPr lvl="1">
              <a:defRPr/>
            </a:pPr>
            <a:r>
              <a:rPr lang="bg-BG" dirty="0" smtClean="0"/>
              <a:t>Принцип № 3: </a:t>
            </a:r>
          </a:p>
          <a:p>
            <a:pPr lvl="2">
              <a:defRPr/>
            </a:pPr>
            <a:r>
              <a:rPr lang="bg-BG" dirty="0" smtClean="0"/>
              <a:t>Защитникът трябва да бъде постоянно нащрек, а нападателят може да напада по желание. </a:t>
            </a:r>
          </a:p>
          <a:p>
            <a:pPr lvl="1">
              <a:defRPr/>
            </a:pPr>
            <a:r>
              <a:rPr lang="bg-BG" dirty="0" smtClean="0"/>
              <a:t>Принцип № 4: </a:t>
            </a:r>
          </a:p>
          <a:p>
            <a:pPr lvl="2">
              <a:defRPr/>
            </a:pPr>
            <a:r>
              <a:rPr lang="bg-BG" dirty="0" smtClean="0"/>
              <a:t>Защитникът трябва да играе по правилата, а нападателят може да играе мръсно.</a:t>
            </a:r>
            <a:endParaRPr lang="bg-BG" dirty="0"/>
          </a:p>
        </p:txBody>
      </p:sp>
    </p:spTree>
    <p:extLst>
      <p:ext uri="{BB962C8B-B14F-4D97-AF65-F5344CB8AC3E}">
        <p14:creationId xmlns:p14="http://schemas.microsoft.com/office/powerpoint/2010/main" val="4212571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rmAutofit/>
          </a:bodyPr>
          <a:lstStyle/>
          <a:p>
            <a:pPr marL="0" indent="0">
              <a:buNone/>
            </a:pPr>
            <a:r>
              <a:rPr lang="en-US" dirty="0"/>
              <a:t>#</a:t>
            </a:r>
            <a:r>
              <a:rPr lang="en-US" dirty="0" smtClean="0"/>
              <a:t>1</a:t>
            </a:r>
            <a:r>
              <a:rPr lang="bg-BG" dirty="0" smtClean="0"/>
              <a:t>.</a:t>
            </a:r>
            <a:r>
              <a:rPr lang="en-US" dirty="0" smtClean="0"/>
              <a:t> </a:t>
            </a:r>
            <a:r>
              <a:rPr lang="en-US" dirty="0"/>
              <a:t>Дефекти</a:t>
            </a:r>
            <a:endParaRPr lang="en-US" dirty="0"/>
          </a:p>
          <a:p>
            <a:pPr lvl="1"/>
            <a:r>
              <a:rPr lang="en-US" dirty="0"/>
              <a:t>Софтуерните </a:t>
            </a:r>
            <a:r>
              <a:rPr lang="en-US" dirty="0"/>
              <a:t>дефекти са </a:t>
            </a:r>
            <a:r>
              <a:rPr lang="en-US" dirty="0"/>
              <a:t>грешка или неизправност в софтуера и се срещат много често. </a:t>
            </a:r>
            <a:endParaRPr lang="en-US" dirty="0"/>
          </a:p>
          <a:p>
            <a:pPr lvl="2"/>
            <a:r>
              <a:rPr lang="en-US" dirty="0"/>
              <a:t>Някои дефекти ще доведат до </a:t>
            </a:r>
            <a:r>
              <a:rPr lang="en-US" dirty="0"/>
              <a:t>сериозни проблеми, като например кражба на информация, а други - до </a:t>
            </a:r>
            <a:r>
              <a:rPr lang="en-US" dirty="0"/>
              <a:t>срив на </a:t>
            </a:r>
            <a:r>
              <a:rPr lang="en-US" dirty="0"/>
              <a:t>системата</a:t>
            </a:r>
            <a:r>
              <a:rPr lang="en-US" dirty="0"/>
              <a:t>: някои </a:t>
            </a:r>
            <a:r>
              <a:rPr lang="en-US" dirty="0"/>
              <a:t>не толкова сериозни </a:t>
            </a:r>
            <a:r>
              <a:rPr lang="en-US" dirty="0"/>
              <a:t>дефекти ще </a:t>
            </a:r>
            <a:r>
              <a:rPr lang="en-US" dirty="0"/>
              <a:t>доведат до съобщения за грешки или неверни резултати. </a:t>
            </a:r>
            <a:endParaRPr lang="en-US" dirty="0"/>
          </a:p>
          <a:p>
            <a:pPr lvl="2"/>
            <a:r>
              <a:rPr lang="en-US" dirty="0"/>
              <a:t>Дефектите като </a:t>
            </a:r>
            <a:r>
              <a:rPr lang="en-US" dirty="0"/>
              <a:t>цяло водят до неочаквано поведение на софтуера. </a:t>
            </a:r>
            <a:r>
              <a:rPr lang="en-US" dirty="0"/>
              <a:t>Почти </a:t>
            </a:r>
            <a:r>
              <a:rPr lang="en-US" dirty="0"/>
              <a:t>всеки софтуер съдържа малки (или големи) </a:t>
            </a:r>
            <a:r>
              <a:rPr lang="en-US" dirty="0"/>
              <a:t>дефекти. </a:t>
            </a:r>
          </a:p>
          <a:p>
            <a:pPr lvl="2"/>
            <a:r>
              <a:rPr lang="en-US" dirty="0"/>
              <a:t>Ако не отстраните уязвимостите в сигурността, </a:t>
            </a:r>
            <a:r>
              <a:rPr lang="en-US" dirty="0"/>
              <a:t>хакерите </a:t>
            </a:r>
            <a:r>
              <a:rPr lang="en-US" dirty="0"/>
              <a:t>могат лесно да се възползват от някои софтуерни грешки и да причинят много вреди. </a:t>
            </a:r>
            <a:endParaRPr lang="en-US" dirty="0"/>
          </a:p>
          <a:p>
            <a:pPr lvl="2"/>
            <a:r>
              <a:rPr lang="en-US" dirty="0"/>
              <a:t>Макар че </a:t>
            </a:r>
            <a:r>
              <a:rPr lang="en-US" dirty="0"/>
              <a:t>обикновено е невъзможно да се достави софтуер с 0 грешки, важно е да се открият и отстранят всички сериозни грешки, особено тези, които биха могли да представляват риск за сигурността</a:t>
            </a:r>
            <a:r>
              <a:rPr lang="en-US" dirty="0"/>
              <a:t>.</a:t>
            </a:r>
            <a:endParaRPr lang="en-US" dirty="0"/>
          </a:p>
        </p:txBody>
      </p:sp>
    </p:spTree>
    <p:extLst>
      <p:ext uri="{BB962C8B-B14F-4D97-AF65-F5344CB8AC3E}">
        <p14:creationId xmlns:p14="http://schemas.microsoft.com/office/powerpoint/2010/main" val="488910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rmAutofit/>
          </a:bodyPr>
          <a:lstStyle/>
          <a:p>
            <a:pPr marL="0" indent="0">
              <a:buNone/>
            </a:pPr>
            <a:r>
              <a:rPr lang="en-US" dirty="0"/>
              <a:t>#</a:t>
            </a:r>
            <a:r>
              <a:rPr lang="en-US" dirty="0" smtClean="0"/>
              <a:t>2</a:t>
            </a:r>
            <a:r>
              <a:rPr lang="bg-BG" dirty="0" smtClean="0"/>
              <a:t>.</a:t>
            </a:r>
            <a:r>
              <a:rPr lang="en-US" dirty="0" smtClean="0"/>
              <a:t> </a:t>
            </a:r>
            <a:r>
              <a:rPr lang="en-US" dirty="0"/>
              <a:t>Излагане на </a:t>
            </a:r>
            <a:r>
              <a:rPr lang="en-US" dirty="0"/>
              <a:t>чувствителни данни</a:t>
            </a:r>
          </a:p>
          <a:p>
            <a:pPr lvl="1"/>
            <a:r>
              <a:rPr lang="en-US" dirty="0"/>
              <a:t>Чувствителните данни включват например номера на сметки, адреси, финансови данни, здравна информация, потребителски имена и пароли. </a:t>
            </a:r>
            <a:endParaRPr lang="en-US" dirty="0"/>
          </a:p>
          <a:p>
            <a:pPr lvl="2"/>
            <a:r>
              <a:rPr lang="en-US" dirty="0"/>
              <a:t>Всички </a:t>
            </a:r>
            <a:r>
              <a:rPr lang="en-US" dirty="0"/>
              <a:t>тези данни трябва да бъдат защитени, за да не попаднат в неподходящи ръце. </a:t>
            </a:r>
            <a:endParaRPr lang="en-US" dirty="0"/>
          </a:p>
          <a:p>
            <a:pPr lvl="1"/>
            <a:r>
              <a:rPr lang="en-US" dirty="0"/>
              <a:t>Личните </a:t>
            </a:r>
            <a:r>
              <a:rPr lang="en-US" dirty="0"/>
              <a:t>или чувствителните данни трябва да бъдат защитени с криптиране и контрол на достъпа, за да се предотврати достъпът на неупълномощени лица до тях. </a:t>
            </a:r>
            <a:endParaRPr lang="en-US" dirty="0"/>
          </a:p>
          <a:p>
            <a:pPr lvl="2"/>
            <a:r>
              <a:rPr lang="en-US" dirty="0"/>
              <a:t>Ако </a:t>
            </a:r>
            <a:r>
              <a:rPr lang="en-US" dirty="0"/>
              <a:t>софтуерът не успее да защити тези лични данни поради уязвимости в сигурността, хакерите, които получат достъп до тази информация, могат да я използват за извършване на измами и други престъпления.</a:t>
            </a:r>
          </a:p>
        </p:txBody>
      </p:sp>
    </p:spTree>
    <p:extLst>
      <p:ext uri="{BB962C8B-B14F-4D97-AF65-F5344CB8AC3E}">
        <p14:creationId xmlns:p14="http://schemas.microsoft.com/office/powerpoint/2010/main" val="3723381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rmAutofit/>
          </a:bodyPr>
          <a:lstStyle/>
          <a:p>
            <a:pPr marL="0" indent="0">
              <a:buNone/>
            </a:pPr>
            <a:r>
              <a:rPr lang="en-US" dirty="0"/>
              <a:t>#</a:t>
            </a:r>
            <a:r>
              <a:rPr lang="en-US" dirty="0" smtClean="0"/>
              <a:t>3</a:t>
            </a:r>
            <a:r>
              <a:rPr lang="bg-BG" dirty="0" smtClean="0"/>
              <a:t>.</a:t>
            </a:r>
            <a:r>
              <a:rPr lang="en-US" dirty="0" smtClean="0"/>
              <a:t> </a:t>
            </a:r>
            <a:r>
              <a:rPr lang="en-US" dirty="0"/>
              <a:t>Недостатъци при инжектиране</a:t>
            </a:r>
          </a:p>
          <a:p>
            <a:pPr lvl="1"/>
            <a:r>
              <a:rPr lang="en-US" dirty="0"/>
              <a:t>Дефектите на инжектиране водят до инжектиране на злонамерен код от кибернетични нападатели в приложението. </a:t>
            </a:r>
            <a:endParaRPr lang="en-US" dirty="0"/>
          </a:p>
          <a:p>
            <a:pPr lvl="1"/>
            <a:r>
              <a:rPr lang="en-US" dirty="0"/>
              <a:t>Този </a:t>
            </a:r>
            <a:r>
              <a:rPr lang="en-US" dirty="0"/>
              <a:t>вид уязвимост в сигурността на софтуера се появява, когато заедно със заявка или команда към интерпретатора се изпращат недоверени данни, които от своя страна карат целевата система да изпълнява неочаквани команди. </a:t>
            </a:r>
            <a:endParaRPr lang="en-US" dirty="0"/>
          </a:p>
          <a:p>
            <a:pPr lvl="1"/>
            <a:r>
              <a:rPr lang="en-US" dirty="0"/>
              <a:t>Този </a:t>
            </a:r>
            <a:r>
              <a:rPr lang="en-US" dirty="0"/>
              <a:t>вид атака може да доведе и до това, че хакери ще получат достъп до защитени данни, съхранявани в базата данни, без да имат нужната </a:t>
            </a:r>
            <a:r>
              <a:rPr lang="en-US" dirty="0"/>
              <a:t>оторизация.</a:t>
            </a:r>
            <a:endParaRPr lang="en-US" sz="1800" dirty="0"/>
          </a:p>
        </p:txBody>
      </p:sp>
    </p:spTree>
    <p:extLst>
      <p:ext uri="{BB962C8B-B14F-4D97-AF65-F5344CB8AC3E}">
        <p14:creationId xmlns:p14="http://schemas.microsoft.com/office/powerpoint/2010/main" val="90667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rmAutofit/>
          </a:bodyPr>
          <a:lstStyle/>
          <a:p>
            <a:pPr marL="0" indent="0">
              <a:buNone/>
            </a:pPr>
            <a:r>
              <a:rPr lang="en-US" sz="2800" dirty="0"/>
              <a:t>#</a:t>
            </a:r>
            <a:r>
              <a:rPr lang="en-US" sz="2800" dirty="0" smtClean="0"/>
              <a:t>4</a:t>
            </a:r>
            <a:r>
              <a:rPr lang="bg-BG" sz="2800" dirty="0" smtClean="0"/>
              <a:t>.</a:t>
            </a:r>
            <a:r>
              <a:rPr lang="en-US" sz="2800" dirty="0" smtClean="0"/>
              <a:t> </a:t>
            </a:r>
            <a:r>
              <a:rPr lang="en-US" dirty="0"/>
              <a:t>Препълване на </a:t>
            </a:r>
            <a:r>
              <a:rPr lang="en-US" dirty="0"/>
              <a:t>буфера</a:t>
            </a:r>
          </a:p>
          <a:p>
            <a:pPr lvl="1"/>
            <a:r>
              <a:rPr lang="en-US" dirty="0"/>
              <a:t>Това </a:t>
            </a:r>
            <a:r>
              <a:rPr lang="en-US" dirty="0"/>
              <a:t>се случва, когато се прави опит да се съхранят данни, които са твърде големи за отделеното място в паметта. </a:t>
            </a:r>
            <a:endParaRPr lang="en-US" dirty="0"/>
          </a:p>
          <a:p>
            <a:pPr lvl="2"/>
            <a:r>
              <a:rPr lang="en-US" dirty="0"/>
              <a:t>Тази уязвимост е по-често срещана в софтуер, написан на </a:t>
            </a:r>
            <a:r>
              <a:rPr lang="en-US" dirty="0"/>
              <a:t/>
            </a:r>
            <a:br>
              <a:rPr lang="en-US" dirty="0"/>
            </a:br>
            <a:r>
              <a:rPr lang="en-US" b="1" dirty="0"/>
              <a:t>C </a:t>
            </a:r>
            <a:r>
              <a:rPr lang="en-US" dirty="0"/>
              <a:t>и </a:t>
            </a:r>
            <a:r>
              <a:rPr lang="en-US" b="1" dirty="0"/>
              <a:t>C++</a:t>
            </a:r>
            <a:r>
              <a:rPr lang="en-US" dirty="0"/>
              <a:t>. </a:t>
            </a:r>
          </a:p>
          <a:p>
            <a:pPr lvl="1"/>
            <a:r>
              <a:rPr lang="en-US" dirty="0"/>
              <a:t>Атакуващите </a:t>
            </a:r>
            <a:r>
              <a:rPr lang="en-US" dirty="0"/>
              <a:t>могат да използват тази грешка в кодирането на софтуера, при която се презаписва капацитетът за съхранение на програмата, за да поемат контрола или да получат достъп до вашата система. </a:t>
            </a:r>
            <a:endParaRPr lang="en-US" dirty="0"/>
          </a:p>
          <a:p>
            <a:pPr lvl="1"/>
            <a:r>
              <a:rPr lang="en-US" dirty="0"/>
              <a:t>Много </a:t>
            </a:r>
            <a:r>
              <a:rPr lang="en-US" dirty="0"/>
              <a:t>езици за програмиране имат автоматична защита срещу атаки за препълване на буфера.</a:t>
            </a:r>
          </a:p>
        </p:txBody>
      </p:sp>
    </p:spTree>
    <p:extLst>
      <p:ext uri="{BB962C8B-B14F-4D97-AF65-F5344CB8AC3E}">
        <p14:creationId xmlns:p14="http://schemas.microsoft.com/office/powerpoint/2010/main" val="396683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rmAutofit/>
          </a:bodyPr>
          <a:lstStyle/>
          <a:p>
            <a:pPr marL="0" indent="0">
              <a:buNone/>
            </a:pPr>
            <a:r>
              <a:rPr lang="en-US" dirty="0"/>
              <a:t>#5. Неправилно конфигуриране на сигурността</a:t>
            </a:r>
          </a:p>
          <a:p>
            <a:pPr lvl="1"/>
            <a:r>
              <a:rPr lang="bg-BG" dirty="0" smtClean="0"/>
              <a:t>Този проблем </a:t>
            </a:r>
            <a:r>
              <a:rPr lang="en-US" dirty="0" smtClean="0"/>
              <a:t>е </a:t>
            </a:r>
            <a:r>
              <a:rPr lang="en-US" dirty="0"/>
              <a:t>резултат от непълни конфигурации и конфигурации по подразбиране, които не са сигурни. </a:t>
            </a:r>
          </a:p>
          <a:p>
            <a:pPr lvl="2"/>
            <a:r>
              <a:rPr lang="en-US" dirty="0"/>
              <a:t>Това е един </a:t>
            </a:r>
            <a:r>
              <a:rPr lang="en-US" dirty="0"/>
              <a:t>от най-често срещаните проблеми при </a:t>
            </a:r>
            <a:r>
              <a:rPr lang="en-US" dirty="0"/>
              <a:t>разработването на </a:t>
            </a:r>
            <a:r>
              <a:rPr lang="en-US" dirty="0"/>
              <a:t>софтуер. </a:t>
            </a:r>
            <a:endParaRPr lang="en-US" dirty="0"/>
          </a:p>
          <a:p>
            <a:pPr lvl="2"/>
            <a:r>
              <a:rPr lang="en-US" dirty="0" err="1" smtClean="0"/>
              <a:t>Например</a:t>
            </a:r>
            <a:r>
              <a:rPr lang="bg-BG" dirty="0" smtClean="0"/>
              <a:t>,</a:t>
            </a:r>
            <a:r>
              <a:rPr lang="en-US" dirty="0" smtClean="0"/>
              <a:t> </a:t>
            </a:r>
            <a:r>
              <a:rPr lang="en-US" i="1" dirty="0"/>
              <a:t>отворено хранилище в облака или неправилно конфигурирани HTTP заглавия</a:t>
            </a:r>
            <a:r>
              <a:rPr lang="en-US" dirty="0"/>
              <a:t>. </a:t>
            </a:r>
            <a:endParaRPr lang="en-US" dirty="0"/>
          </a:p>
          <a:p>
            <a:pPr lvl="1"/>
            <a:r>
              <a:rPr lang="en-US" dirty="0"/>
              <a:t>За да </a:t>
            </a:r>
            <a:r>
              <a:rPr lang="en-US" dirty="0"/>
              <a:t>избегнете този вид слабости в сигурността на софтуера, трябва да се уверите, че сте конфигурирали правилно операционната система, рамковите системи и приложенията си. </a:t>
            </a:r>
            <a:endParaRPr lang="en-US" dirty="0"/>
          </a:p>
          <a:p>
            <a:pPr lvl="2"/>
            <a:r>
              <a:rPr lang="en-US" dirty="0"/>
              <a:t>Освен това </a:t>
            </a:r>
            <a:r>
              <a:rPr lang="en-US" dirty="0"/>
              <a:t>всичко това трябва да се актуализира, когато е необходимо.</a:t>
            </a:r>
          </a:p>
        </p:txBody>
      </p:sp>
    </p:spTree>
    <p:extLst>
      <p:ext uri="{BB962C8B-B14F-4D97-AF65-F5344CB8AC3E}">
        <p14:creationId xmlns:p14="http://schemas.microsoft.com/office/powerpoint/2010/main" val="2836248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Autofit/>
          </a:bodyPr>
          <a:lstStyle/>
          <a:p>
            <a:pPr marL="0" indent="0">
              <a:buNone/>
            </a:pPr>
            <a:r>
              <a:rPr lang="en-US" dirty="0"/>
              <a:t>#6. Нарушен контрол на достъпа</a:t>
            </a:r>
          </a:p>
          <a:p>
            <a:pPr lvl="1"/>
            <a:r>
              <a:rPr lang="en-US" dirty="0"/>
              <a:t>Това може да </a:t>
            </a:r>
            <a:r>
              <a:rPr lang="en-US" dirty="0"/>
              <a:t>доведе до сериозни слабости в софтуера. </a:t>
            </a:r>
            <a:endParaRPr lang="en-US" dirty="0"/>
          </a:p>
          <a:p>
            <a:pPr lvl="2"/>
            <a:r>
              <a:rPr lang="en-US" dirty="0"/>
              <a:t>Например, ако имате панел на администратора на уебсайта си, искате да ограничите тази област, така че само потребителите на администратора да имат достъп до нея. </a:t>
            </a:r>
            <a:endParaRPr lang="en-US" dirty="0"/>
          </a:p>
          <a:p>
            <a:pPr lvl="1"/>
            <a:r>
              <a:rPr lang="en-US" dirty="0"/>
              <a:t>Ако </a:t>
            </a:r>
            <a:r>
              <a:rPr lang="en-US" dirty="0"/>
              <a:t>тези ограничения не се прилагат правилно, хакери и други неупълномощени лица могат лесно да се възползват от тази уязвимост и да получат достъп до чувствителни данни или да придобият контрол над вашата </a:t>
            </a:r>
            <a:r>
              <a:rPr lang="en-US" dirty="0"/>
              <a:t>система.</a:t>
            </a:r>
          </a:p>
          <a:p>
            <a:pPr marL="0" lvl="1" indent="0">
              <a:buClr>
                <a:schemeClr val="bg2"/>
              </a:buClr>
              <a:buNone/>
            </a:pPr>
            <a:r>
              <a:rPr lang="en-US" dirty="0" smtClean="0"/>
              <a:t> </a:t>
            </a:r>
            <a:endParaRPr lang="en-US" dirty="0"/>
          </a:p>
        </p:txBody>
      </p:sp>
    </p:spTree>
    <p:extLst>
      <p:ext uri="{BB962C8B-B14F-4D97-AF65-F5344CB8AC3E}">
        <p14:creationId xmlns:p14="http://schemas.microsoft.com/office/powerpoint/2010/main" val="101613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rmAutofit/>
          </a:bodyPr>
          <a:lstStyle/>
          <a:p>
            <a:pPr marL="0" lvl="1" indent="0">
              <a:buClr>
                <a:schemeClr val="bg2"/>
              </a:buClr>
              <a:buNone/>
            </a:pPr>
            <a:r>
              <a:rPr lang="bg-BG" sz="3200" dirty="0" smtClean="0"/>
              <a:t>#7. Несигурна </a:t>
            </a:r>
            <a:r>
              <a:rPr lang="bg-BG" sz="3200" dirty="0" err="1" smtClean="0"/>
              <a:t>десериализация</a:t>
            </a:r>
            <a:endParaRPr lang="bg-BG" sz="3200" dirty="0" smtClean="0"/>
          </a:p>
          <a:p>
            <a:pPr lvl="1"/>
            <a:r>
              <a:rPr lang="bg-BG" dirty="0" smtClean="0"/>
              <a:t>При този тип уязвимост за осъществяване на атаки се използват ненадеждни данни.</a:t>
            </a:r>
          </a:p>
          <a:p>
            <a:pPr lvl="2"/>
            <a:r>
              <a:rPr lang="bg-BG" dirty="0" smtClean="0"/>
              <a:t>Несигурната </a:t>
            </a:r>
            <a:r>
              <a:rPr lang="bg-BG" dirty="0" err="1" smtClean="0"/>
              <a:t>десериализация</a:t>
            </a:r>
            <a:r>
              <a:rPr lang="bg-BG" dirty="0" smtClean="0"/>
              <a:t> е слабост в сигурността, която се използва от хакерите за извършване на атаки с инжектиране и </a:t>
            </a:r>
            <a:r>
              <a:rPr lang="bg-BG" dirty="0" err="1" smtClean="0"/>
              <a:t>DDoS</a:t>
            </a:r>
            <a:r>
              <a:rPr lang="bg-BG" dirty="0" smtClean="0"/>
              <a:t> атаки. </a:t>
            </a:r>
          </a:p>
          <a:p>
            <a:pPr marL="0" lvl="1" indent="0">
              <a:buClr>
                <a:schemeClr val="bg2"/>
              </a:buClr>
              <a:buNone/>
            </a:pPr>
            <a:r>
              <a:rPr lang="en-US" sz="3200" dirty="0" smtClean="0"/>
              <a:t>#</a:t>
            </a:r>
            <a:r>
              <a:rPr lang="en-US" sz="3200" dirty="0"/>
              <a:t>8. </a:t>
            </a:r>
            <a:r>
              <a:rPr lang="bg-BG" sz="3200" dirty="0" smtClean="0"/>
              <a:t>Повредено</a:t>
            </a:r>
            <a:r>
              <a:rPr lang="en-US" sz="3200" dirty="0" smtClean="0"/>
              <a:t>/</a:t>
            </a:r>
            <a:r>
              <a:rPr lang="en-US" sz="3200" dirty="0" err="1" smtClean="0"/>
              <a:t>липсващо</a:t>
            </a:r>
            <a:r>
              <a:rPr lang="en-US" sz="3200" dirty="0" smtClean="0"/>
              <a:t> </a:t>
            </a:r>
            <a:r>
              <a:rPr lang="en-US" sz="3200" dirty="0"/>
              <a:t>удостоверяване</a:t>
            </a:r>
          </a:p>
          <a:p>
            <a:pPr lvl="1"/>
            <a:r>
              <a:rPr lang="en-US" dirty="0"/>
              <a:t>Слабостите в управлението на сесиите и удостоверенията водят до нарушено удостоверяване, което означава, че нападателят може да компрометира пароли или друга информация, за да получи достъп до акаунта на потребителя</a:t>
            </a:r>
            <a:r>
              <a:rPr lang="en-US" dirty="0"/>
              <a:t>.</a:t>
            </a:r>
          </a:p>
          <a:p>
            <a:pPr lvl="1"/>
            <a:r>
              <a:rPr lang="en-US" dirty="0"/>
              <a:t> Неправилното прилагане на удостоверяването и управлението на сесиите може да доведе до този вид уязвимост на софтуера.</a:t>
            </a:r>
            <a:endParaRPr lang="en-US" sz="1800" dirty="0"/>
          </a:p>
        </p:txBody>
      </p:sp>
    </p:spTree>
    <p:extLst>
      <p:ext uri="{BB962C8B-B14F-4D97-AF65-F5344CB8AC3E}">
        <p14:creationId xmlns:p14="http://schemas.microsoft.com/office/powerpoint/2010/main" val="2754263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a:xfrm>
            <a:off x="908662" y="1143000"/>
            <a:ext cx="10976950" cy="5410200"/>
          </a:xfrm>
        </p:spPr>
        <p:txBody>
          <a:bodyPr>
            <a:noAutofit/>
          </a:bodyPr>
          <a:lstStyle/>
          <a:p>
            <a:pPr marL="0" indent="0">
              <a:lnSpc>
                <a:spcPct val="100000"/>
              </a:lnSpc>
              <a:spcBef>
                <a:spcPts val="0"/>
              </a:spcBef>
              <a:buNone/>
            </a:pPr>
            <a:r>
              <a:rPr lang="en-US" sz="3000" dirty="0"/>
              <a:t>#9. </a:t>
            </a:r>
            <a:r>
              <a:rPr lang="en-US" sz="3000" dirty="0"/>
              <a:t>Неясни изисквания</a:t>
            </a:r>
          </a:p>
          <a:p>
            <a:pPr lvl="1">
              <a:lnSpc>
                <a:spcPct val="100000"/>
              </a:lnSpc>
              <a:spcBef>
                <a:spcPts val="0"/>
              </a:spcBef>
            </a:pPr>
            <a:r>
              <a:rPr lang="en-US" sz="2700" dirty="0"/>
              <a:t>Понастоящем в </a:t>
            </a:r>
            <a:r>
              <a:rPr lang="en-US" sz="2700" dirty="0"/>
              <a:t>съществуващите рамки за сигурност няма конкретни изисквания за прилагане на инструменти за сигурност и стандарти за процесите. </a:t>
            </a:r>
            <a:endParaRPr lang="en-US" sz="2700" dirty="0"/>
          </a:p>
          <a:p>
            <a:pPr lvl="2">
              <a:lnSpc>
                <a:spcPct val="100000"/>
              </a:lnSpc>
              <a:spcBef>
                <a:spcPts val="0"/>
              </a:spcBef>
            </a:pPr>
            <a:r>
              <a:rPr lang="en-US" sz="2300" dirty="0"/>
              <a:t>Това е въпрос на политика и насоки. </a:t>
            </a:r>
          </a:p>
          <a:p>
            <a:pPr lvl="2">
              <a:lnSpc>
                <a:spcPct val="100000"/>
              </a:lnSpc>
              <a:spcBef>
                <a:spcPts val="0"/>
              </a:spcBef>
            </a:pPr>
            <a:r>
              <a:rPr lang="en-US" sz="2300" dirty="0"/>
              <a:t>Повечето </a:t>
            </a:r>
            <a:r>
              <a:rPr lang="en-US" sz="2300" dirty="0"/>
              <a:t>рамки определят насоки, които са изцяло концептуални</a:t>
            </a:r>
            <a:r>
              <a:rPr lang="en-US" sz="2300" dirty="0"/>
              <a:t>.</a:t>
            </a:r>
          </a:p>
          <a:p>
            <a:pPr marL="0" lvl="2" indent="0">
              <a:lnSpc>
                <a:spcPct val="100000"/>
              </a:lnSpc>
              <a:spcBef>
                <a:spcPts val="0"/>
              </a:spcBef>
              <a:buClr>
                <a:schemeClr val="bg2"/>
              </a:buClr>
              <a:buSzPct val="70000"/>
              <a:buNone/>
            </a:pPr>
            <a:r>
              <a:rPr lang="en-US" sz="3000" dirty="0"/>
              <a:t>#10. Вината </a:t>
            </a:r>
            <a:r>
              <a:rPr lang="en-US" sz="3000" dirty="0"/>
              <a:t>е без значение</a:t>
            </a:r>
          </a:p>
          <a:p>
            <a:pPr lvl="1">
              <a:lnSpc>
                <a:spcPct val="100000"/>
              </a:lnSpc>
              <a:spcBef>
                <a:spcPts val="0"/>
              </a:spcBef>
            </a:pPr>
            <a:r>
              <a:rPr lang="en-US" sz="2700" dirty="0"/>
              <a:t>Понастоящем за </a:t>
            </a:r>
            <a:r>
              <a:rPr lang="en-US" sz="2700" dirty="0"/>
              <a:t>повечето организации сигурността е свързана с размера на екипа по сигурността и сертификатите, които притежава.</a:t>
            </a:r>
          </a:p>
          <a:p>
            <a:pPr lvl="2">
              <a:lnSpc>
                <a:spcPct val="100000"/>
              </a:lnSpc>
              <a:spcBef>
                <a:spcPts val="0"/>
              </a:spcBef>
            </a:pPr>
            <a:r>
              <a:rPr lang="en-US" sz="2300" dirty="0"/>
              <a:t>Този подход е погрешен. </a:t>
            </a:r>
            <a:endParaRPr lang="en-US" sz="2300" dirty="0"/>
          </a:p>
          <a:p>
            <a:pPr lvl="2">
              <a:lnSpc>
                <a:spcPct val="100000"/>
              </a:lnSpc>
              <a:spcBef>
                <a:spcPts val="0"/>
              </a:spcBef>
            </a:pPr>
            <a:r>
              <a:rPr lang="en-US" sz="2300" dirty="0"/>
              <a:t>Сигурността </a:t>
            </a:r>
            <a:r>
              <a:rPr lang="en-US" sz="2300" dirty="0"/>
              <a:t>не е свързана с размера на екипа, скъпите инструменти или </a:t>
            </a:r>
            <a:r>
              <a:rPr lang="en-US" sz="2300" dirty="0"/>
              <a:t>събраните </a:t>
            </a:r>
            <a:r>
              <a:rPr lang="en-US" sz="2300" dirty="0"/>
              <a:t>сертификати</a:t>
            </a:r>
            <a:r>
              <a:rPr lang="en-US" sz="2300" dirty="0"/>
              <a:t>: сигурността </a:t>
            </a:r>
            <a:r>
              <a:rPr lang="en-US" sz="2300" dirty="0"/>
              <a:t>е свързана с уязвимостите, които имате, и риска за организацията, който тези уязвимости създават. </a:t>
            </a:r>
          </a:p>
        </p:txBody>
      </p:sp>
    </p:spTree>
    <p:extLst>
      <p:ext uri="{BB962C8B-B14F-4D97-AF65-F5344CB8AC3E}">
        <p14:creationId xmlns:p14="http://schemas.microsoft.com/office/powerpoint/2010/main" val="816093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Autofit/>
          </a:bodyPr>
          <a:lstStyle/>
          <a:p>
            <a:pPr marL="0" indent="0">
              <a:buNone/>
            </a:pPr>
            <a:r>
              <a:rPr lang="en-US" dirty="0"/>
              <a:t>#11. </a:t>
            </a:r>
            <a:r>
              <a:rPr lang="en-US" dirty="0"/>
              <a:t>Несъгласувано управление</a:t>
            </a:r>
          </a:p>
          <a:p>
            <a:pPr lvl="1" indent="-342900"/>
            <a:r>
              <a:rPr lang="en-US" dirty="0"/>
              <a:t>Този проблем възниква, когато на отделни организации се поставят отделни цели, за които да работят. </a:t>
            </a:r>
            <a:endParaRPr lang="en-US" dirty="0"/>
          </a:p>
          <a:p>
            <a:pPr lvl="2" indent="-342900"/>
            <a:r>
              <a:rPr lang="en-US" dirty="0"/>
              <a:t>Например, </a:t>
            </a:r>
            <a:r>
              <a:rPr lang="en-US" dirty="0"/>
              <a:t>продуктовата организация работи за определяне на датата на пускане, докато организацията по сигурността се опитва да гарантира, че новата версия е сигурна. </a:t>
            </a:r>
          </a:p>
          <a:p>
            <a:pPr lvl="1"/>
            <a:r>
              <a:rPr lang="en-US" dirty="0"/>
              <a:t>Вместо да си сътрудничат, за да минимизират рисковете, които създават уязвимостите, екипите работят, за да гарантират изпълнението на собствената си индивидуална задача. </a:t>
            </a:r>
            <a:endParaRPr lang="en-US" dirty="0"/>
          </a:p>
          <a:p>
            <a:pPr lvl="2"/>
            <a:r>
              <a:rPr lang="en-US" dirty="0"/>
              <a:t>Проблемът тук е, че хората оценяват успеха си въз основа на това дали индивидуалната им задача е изпълнена или не. </a:t>
            </a:r>
            <a:endParaRPr lang="en-US" dirty="0"/>
          </a:p>
          <a:p>
            <a:pPr lvl="2"/>
            <a:r>
              <a:rPr lang="en-US" dirty="0"/>
              <a:t>При </a:t>
            </a:r>
            <a:r>
              <a:rPr lang="en-US" dirty="0"/>
              <a:t>този сценарий някой, например разработчик, има по-голям професионален стимул да пуска код по-бързо, отколкото да пуска сигурен код.</a:t>
            </a:r>
            <a:endParaRPr lang="en-US" sz="1400" dirty="0"/>
          </a:p>
        </p:txBody>
      </p:sp>
    </p:spTree>
    <p:extLst>
      <p:ext uri="{BB962C8B-B14F-4D97-AF65-F5344CB8AC3E}">
        <p14:creationId xmlns:p14="http://schemas.microsoft.com/office/powerpoint/2010/main" val="59081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Често срещани уязвимости на софтуера </a:t>
            </a:r>
          </a:p>
        </p:txBody>
      </p:sp>
      <p:sp>
        <p:nvSpPr>
          <p:cNvPr id="3" name="Content Placeholder 2"/>
          <p:cNvSpPr>
            <a:spLocks noGrp="1"/>
          </p:cNvSpPr>
          <p:nvPr>
            <p:ph idx="1"/>
          </p:nvPr>
        </p:nvSpPr>
        <p:spPr/>
        <p:txBody>
          <a:bodyPr>
            <a:normAutofit/>
          </a:bodyPr>
          <a:lstStyle/>
          <a:p>
            <a:pPr marL="0" indent="0">
              <a:buNone/>
            </a:pPr>
            <a:r>
              <a:rPr lang="en-US" dirty="0"/>
              <a:t>#12. </a:t>
            </a:r>
            <a:r>
              <a:rPr lang="en-US" dirty="0"/>
              <a:t>Справям се по-добре</a:t>
            </a:r>
          </a:p>
          <a:p>
            <a:pPr lvl="1"/>
            <a:r>
              <a:rPr lang="en-US" dirty="0"/>
              <a:t>Сигурността не е въпрос на умения или работна етика, а на начина, по който подхождаме към сигурността на софтуера. </a:t>
            </a:r>
            <a:endParaRPr lang="en-US" dirty="0"/>
          </a:p>
          <a:p>
            <a:pPr lvl="2"/>
            <a:r>
              <a:rPr lang="en-US" dirty="0"/>
              <a:t>Не трябва да разчитате само на инструменти за справяне с уязвимостите.</a:t>
            </a:r>
          </a:p>
          <a:p>
            <a:pPr lvl="1" indent="-342900"/>
            <a:r>
              <a:rPr lang="en-US" dirty="0"/>
              <a:t>В крайна сметка обаче отговорността за подобряване на сигурността не пада само върху екипите по сигурността, а върху всички разработчици</a:t>
            </a:r>
            <a:r>
              <a:rPr lang="en-US" dirty="0"/>
              <a:t>. </a:t>
            </a:r>
            <a:endParaRPr lang="en-US" dirty="0"/>
          </a:p>
          <a:p>
            <a:pPr lvl="2" indent="-342900"/>
            <a:r>
              <a:rPr lang="en-US" dirty="0" err="1"/>
              <a:t>Подобряването</a:t>
            </a:r>
            <a:r>
              <a:rPr lang="en-US" dirty="0"/>
              <a:t> </a:t>
            </a:r>
            <a:r>
              <a:rPr lang="en-US" dirty="0" err="1"/>
              <a:t>на</a:t>
            </a:r>
            <a:r>
              <a:rPr lang="en-US" dirty="0"/>
              <a:t> </a:t>
            </a:r>
            <a:r>
              <a:rPr lang="en-US" dirty="0"/>
              <a:t>сигурността на софтуера изисква сътрудничество.</a:t>
            </a:r>
            <a:endParaRPr lang="en-US" sz="500" dirty="0"/>
          </a:p>
        </p:txBody>
      </p:sp>
    </p:spTree>
    <p:extLst>
      <p:ext uri="{BB962C8B-B14F-4D97-AF65-F5344CB8AC3E}">
        <p14:creationId xmlns:p14="http://schemas.microsoft.com/office/powerpoint/2010/main" val="1520652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p:cNvSpPr>
            <a:spLocks noGrp="1" noRot="1" noChangeArrowheads="1"/>
          </p:cNvSpPr>
          <p:nvPr>
            <p:ph type="title"/>
          </p:nvPr>
        </p:nvSpPr>
        <p:spPr/>
        <p:txBody>
          <a:bodyPr/>
          <a:lstStyle/>
          <a:p>
            <a:pPr eaLnBrk="1" hangingPunct="1">
              <a:defRPr/>
            </a:pPr>
            <a:r>
              <a:rPr lang="en-US" dirty="0" smtClean="0"/>
              <a:t>Как се създават сигурни приложения?</a:t>
            </a:r>
          </a:p>
        </p:txBody>
      </p:sp>
      <p:sp>
        <p:nvSpPr>
          <p:cNvPr id="844803" name="Rectangle 3"/>
          <p:cNvSpPr>
            <a:spLocks noGrp="1" noChangeArrowheads="1"/>
          </p:cNvSpPr>
          <p:nvPr>
            <p:ph type="body" idx="1"/>
          </p:nvPr>
        </p:nvSpPr>
        <p:spPr>
          <a:xfrm>
            <a:off x="1065212" y="1143000"/>
            <a:ext cx="10515600" cy="5486400"/>
          </a:xfrm>
        </p:spPr>
        <p:txBody>
          <a:bodyPr>
            <a:noAutofit/>
          </a:bodyPr>
          <a:lstStyle/>
          <a:p>
            <a:pPr eaLnBrk="1" hangingPunct="1">
              <a:spcBef>
                <a:spcPts val="0"/>
              </a:spcBef>
              <a:defRPr/>
            </a:pPr>
            <a:r>
              <a:rPr lang="en-US" dirty="0"/>
              <a:t>Създаването на сигурен софтуер е групово усилие. </a:t>
            </a:r>
            <a:endParaRPr lang="en-US" dirty="0"/>
          </a:p>
          <a:p>
            <a:pPr lvl="1" eaLnBrk="1" hangingPunct="1">
              <a:spcBef>
                <a:spcPts val="0"/>
              </a:spcBef>
              <a:defRPr/>
            </a:pPr>
            <a:r>
              <a:rPr lang="en-US" dirty="0"/>
              <a:t>Всички </a:t>
            </a:r>
            <a:r>
              <a:rPr lang="en-US" dirty="0"/>
              <a:t>заинтересовани страни в разработването на софтуер, от разработчиците до ръководителите, трябва да разберат как практиките за софтуерна сигурност им носят полза. </a:t>
            </a:r>
            <a:endParaRPr lang="en-US" dirty="0"/>
          </a:p>
          <a:p>
            <a:pPr lvl="1" eaLnBrk="1" hangingPunct="1">
              <a:spcBef>
                <a:spcPts val="0"/>
              </a:spcBef>
              <a:defRPr/>
            </a:pPr>
            <a:r>
              <a:rPr lang="en-US" dirty="0"/>
              <a:t>Те </a:t>
            </a:r>
            <a:r>
              <a:rPr lang="en-US" dirty="0"/>
              <a:t>трябва също така да разбират рисковете от неизпълнението им </a:t>
            </a:r>
            <a:r>
              <a:rPr lang="en-US" dirty="0"/>
              <a:t>и да </a:t>
            </a:r>
            <a:r>
              <a:rPr lang="en-US" dirty="0"/>
              <a:t>разпределят подходящи ресурси за задачите по сигурността</a:t>
            </a:r>
            <a:r>
              <a:rPr lang="en-US" dirty="0"/>
              <a:t>.</a:t>
            </a:r>
          </a:p>
          <a:p>
            <a:pPr eaLnBrk="1" hangingPunct="1">
              <a:spcBef>
                <a:spcPts val="0"/>
              </a:spcBef>
              <a:defRPr/>
            </a:pPr>
            <a:r>
              <a:rPr lang="en-US" sz="2800" dirty="0"/>
              <a:t>Най-добри практики за сигурност на софтуера</a:t>
            </a:r>
          </a:p>
          <a:p>
            <a:pPr lvl="1" eaLnBrk="1" hangingPunct="1">
              <a:spcBef>
                <a:spcPts val="0"/>
              </a:spcBef>
              <a:defRPr/>
            </a:pPr>
            <a:r>
              <a:rPr lang="en-US" sz="2400" dirty="0"/>
              <a:t>Злонамерените потребители често се насочват към уязвими области на софтуера, за да получат достъп, да използват или да унищожат различни програми. </a:t>
            </a:r>
            <a:endParaRPr lang="en-US" sz="2400" dirty="0"/>
          </a:p>
          <a:p>
            <a:pPr lvl="2" eaLnBrk="1" hangingPunct="1">
              <a:spcBef>
                <a:spcPts val="0"/>
              </a:spcBef>
              <a:defRPr/>
            </a:pPr>
            <a:r>
              <a:rPr lang="en-US" sz="1800" dirty="0"/>
              <a:t>Разработването на сигурен софтуер </a:t>
            </a:r>
            <a:r>
              <a:rPr lang="en-US" sz="1800" dirty="0"/>
              <a:t>обаче </a:t>
            </a:r>
            <a:r>
              <a:rPr lang="en-US" sz="1800" dirty="0"/>
              <a:t>може да помогне за предотвратяването на тези събития. </a:t>
            </a:r>
            <a:endParaRPr lang="en-US" sz="1800" dirty="0"/>
          </a:p>
          <a:p>
            <a:pPr lvl="1" eaLnBrk="1" hangingPunct="1">
              <a:spcBef>
                <a:spcPts val="0"/>
              </a:spcBef>
              <a:defRPr/>
            </a:pPr>
            <a:r>
              <a:rPr lang="en-US" sz="2400" dirty="0"/>
              <a:t>Ето </a:t>
            </a:r>
            <a:r>
              <a:rPr lang="en-US" sz="2400" dirty="0"/>
              <a:t>няколко ключови най-добри практики за внедряване, осигуряване и подобряване на сигурността на софтуера.</a:t>
            </a:r>
            <a:endParaRPr lang="en-US" sz="2400" dirty="0"/>
          </a:p>
        </p:txBody>
      </p:sp>
    </p:spTree>
    <p:extLst>
      <p:ext uri="{BB962C8B-B14F-4D97-AF65-F5344CB8AC3E}">
        <p14:creationId xmlns:p14="http://schemas.microsoft.com/office/powerpoint/2010/main" val="3225756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p:cNvSpPr>
            <a:spLocks noGrp="1" noRot="1" noChangeArrowheads="1"/>
          </p:cNvSpPr>
          <p:nvPr>
            <p:ph type="title"/>
          </p:nvPr>
        </p:nvSpPr>
        <p:spPr/>
        <p:txBody>
          <a:bodyPr/>
          <a:lstStyle/>
          <a:p>
            <a:pPr eaLnBrk="1" hangingPunct="1">
              <a:defRPr/>
            </a:pPr>
            <a:r>
              <a:rPr lang="en-US" dirty="0" smtClean="0"/>
              <a:t>Как се създават сигурни приложения?</a:t>
            </a:r>
          </a:p>
        </p:txBody>
      </p:sp>
      <p:sp>
        <p:nvSpPr>
          <p:cNvPr id="844803" name="Rectangle 3"/>
          <p:cNvSpPr>
            <a:spLocks noGrp="1" noChangeArrowheads="1"/>
          </p:cNvSpPr>
          <p:nvPr>
            <p:ph type="body" idx="1"/>
          </p:nvPr>
        </p:nvSpPr>
        <p:spPr>
          <a:xfrm>
            <a:off x="1065212" y="1143000"/>
            <a:ext cx="10515600" cy="5562600"/>
          </a:xfrm>
        </p:spPr>
        <p:txBody>
          <a:bodyPr>
            <a:normAutofit/>
          </a:bodyPr>
          <a:lstStyle/>
          <a:p>
            <a:pPr eaLnBrk="1" hangingPunct="1">
              <a:defRPr/>
            </a:pPr>
            <a:r>
              <a:rPr lang="en-US" dirty="0"/>
              <a:t>Решението се състои от 4 части: </a:t>
            </a:r>
          </a:p>
          <a:p>
            <a:pPr lvl="1" eaLnBrk="1" hangingPunct="1">
              <a:defRPr/>
            </a:pPr>
            <a:r>
              <a:rPr lang="en-US" dirty="0"/>
              <a:t>Дизайнът</a:t>
            </a:r>
          </a:p>
          <a:p>
            <a:pPr lvl="1" eaLnBrk="1" hangingPunct="1">
              <a:defRPr/>
            </a:pPr>
            <a:r>
              <a:rPr lang="en-US" dirty="0"/>
              <a:t>Кодирането</a:t>
            </a:r>
          </a:p>
          <a:p>
            <a:pPr lvl="1" eaLnBrk="1" hangingPunct="1">
              <a:defRPr/>
            </a:pPr>
            <a:r>
              <a:rPr lang="en-US" dirty="0"/>
              <a:t>Тестването</a:t>
            </a:r>
          </a:p>
          <a:p>
            <a:pPr lvl="1" eaLnBrk="1" hangingPunct="1">
              <a:defRPr/>
            </a:pPr>
            <a:r>
              <a:rPr lang="en-US" dirty="0"/>
              <a:t>Документацията </a:t>
            </a:r>
          </a:p>
          <a:p>
            <a:pPr eaLnBrk="1" hangingPunct="1">
              <a:defRPr/>
            </a:pPr>
            <a:r>
              <a:rPr lang="en-US" dirty="0"/>
              <a:t>Всички тези аспекти са важни за осигуряването на сигурни системи и е наложително специалистите да възприемат дисциплиниран процес, който включва тези аспекти</a:t>
            </a:r>
            <a:r>
              <a:rPr lang="en-US" sz="2400" dirty="0"/>
              <a:t>. </a:t>
            </a:r>
          </a:p>
          <a:p>
            <a:pPr lvl="1" eaLnBrk="1" hangingPunct="1">
              <a:defRPr/>
            </a:pPr>
            <a:r>
              <a:rPr lang="en-US" dirty="0"/>
              <a:t>Простото добавяне на няколко "добри идеи" или шепа "най-добри практики" и контролни списъци към лош процес на разработка ще доведе до незначително по-сигурни продукти. </a:t>
            </a:r>
          </a:p>
        </p:txBody>
      </p:sp>
    </p:spTree>
    <p:extLst>
      <p:ext uri="{BB962C8B-B14F-4D97-AF65-F5344CB8AC3E}">
        <p14:creationId xmlns:p14="http://schemas.microsoft.com/office/powerpoint/2010/main" val="1725543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p:cNvSpPr>
            <a:spLocks noGrp="1" noRot="1" noChangeArrowheads="1"/>
          </p:cNvSpPr>
          <p:nvPr>
            <p:ph type="title"/>
          </p:nvPr>
        </p:nvSpPr>
        <p:spPr/>
        <p:txBody>
          <a:bodyPr>
            <a:normAutofit/>
          </a:bodyPr>
          <a:lstStyle/>
          <a:p>
            <a:pPr eaLnBrk="1" hangingPunct="1">
              <a:defRPr/>
            </a:pPr>
            <a:r>
              <a:rPr lang="en-US" dirty="0" err="1" smtClean="0"/>
              <a:t>Проактивната</a:t>
            </a:r>
            <a:r>
              <a:rPr lang="en-US" dirty="0" smtClean="0"/>
              <a:t> </a:t>
            </a:r>
            <a:r>
              <a:rPr lang="en-US" dirty="0" err="1" smtClean="0"/>
              <a:t>сигурност</a:t>
            </a:r>
            <a:r>
              <a:rPr lang="bg-BG" dirty="0" smtClean="0"/>
              <a:t>: </a:t>
            </a:r>
            <a:r>
              <a:rPr lang="en-US" dirty="0" err="1" smtClean="0"/>
              <a:t>Процес</a:t>
            </a:r>
            <a:r>
              <a:rPr lang="en-US" dirty="0" smtClean="0"/>
              <a:t> </a:t>
            </a:r>
            <a:r>
              <a:rPr lang="en-US" dirty="0" err="1" smtClean="0"/>
              <a:t>на</a:t>
            </a:r>
            <a:r>
              <a:rPr lang="en-US" dirty="0" smtClean="0"/>
              <a:t> </a:t>
            </a:r>
            <a:r>
              <a:rPr lang="en-US" dirty="0" err="1" smtClean="0"/>
              <a:t>разработка</a:t>
            </a:r>
            <a:r>
              <a:rPr lang="en-US" dirty="0" smtClean="0"/>
              <a:t> </a:t>
            </a:r>
          </a:p>
        </p:txBody>
      </p:sp>
      <p:sp>
        <p:nvSpPr>
          <p:cNvPr id="845827" name="Rectangle 3"/>
          <p:cNvSpPr>
            <a:spLocks noGrp="1" noChangeArrowheads="1"/>
          </p:cNvSpPr>
          <p:nvPr>
            <p:ph type="body" idx="1"/>
          </p:nvPr>
        </p:nvSpPr>
        <p:spPr>
          <a:xfrm>
            <a:off x="989012" y="1066800"/>
            <a:ext cx="10668000" cy="5562600"/>
          </a:xfrm>
        </p:spPr>
        <p:txBody>
          <a:bodyPr>
            <a:normAutofit/>
          </a:bodyPr>
          <a:lstStyle/>
          <a:p>
            <a:pPr eaLnBrk="1" hangingPunct="1">
              <a:defRPr/>
            </a:pPr>
            <a:r>
              <a:rPr lang="en-US" dirty="0"/>
              <a:t>Защо хората предпочитат да не изграждат сигурни системи? </a:t>
            </a:r>
          </a:p>
          <a:p>
            <a:pPr lvl="1" eaLnBrk="1" hangingPunct="1">
              <a:defRPr/>
            </a:pPr>
            <a:r>
              <a:rPr lang="en-US" dirty="0"/>
              <a:t>Сигурността е скучна.</a:t>
            </a:r>
          </a:p>
          <a:p>
            <a:pPr lvl="1" eaLnBrk="1" hangingPunct="1">
              <a:defRPr/>
            </a:pPr>
            <a:r>
              <a:rPr lang="en-US" dirty="0"/>
              <a:t>Сигурността често се разглежда като фактор, който пречи на функционалността, като нещо, което пречи.</a:t>
            </a:r>
          </a:p>
          <a:p>
            <a:pPr lvl="1" eaLnBrk="1" hangingPunct="1">
              <a:defRPr/>
            </a:pPr>
            <a:r>
              <a:rPr lang="en-US" dirty="0"/>
              <a:t>Сигурността е трудна за измерване.</a:t>
            </a:r>
          </a:p>
          <a:p>
            <a:pPr lvl="1" eaLnBrk="1" hangingPunct="1">
              <a:defRPr/>
            </a:pPr>
            <a:r>
              <a:rPr lang="en-US" dirty="0"/>
              <a:t>Сигурността обикновено не е основното умение или интерес на дизайнерите и разработчиците, които създават продукта.</a:t>
            </a:r>
          </a:p>
          <a:p>
            <a:pPr lvl="1" eaLnBrk="1" hangingPunct="1">
              <a:defRPr/>
            </a:pPr>
            <a:r>
              <a:rPr lang="en-US" dirty="0"/>
              <a:t>Сигурността означава да не правите нещо вълнуващо и ново.</a:t>
            </a:r>
          </a:p>
          <a:p>
            <a:pPr eaLnBrk="1" hangingPunct="1">
              <a:buFont typeface="Wingdings" pitchFamily="2" charset="2"/>
              <a:buNone/>
              <a:defRPr/>
            </a:pPr>
            <a:endParaRPr lang="en-US" sz="2400" dirty="0"/>
          </a:p>
        </p:txBody>
      </p:sp>
    </p:spTree>
    <p:extLst>
      <p:ext uri="{BB962C8B-B14F-4D97-AF65-F5344CB8AC3E}">
        <p14:creationId xmlns:p14="http://schemas.microsoft.com/office/powerpoint/2010/main" val="4290354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p:cNvSpPr>
            <a:spLocks noGrp="1" noRot="1" noChangeArrowheads="1"/>
          </p:cNvSpPr>
          <p:nvPr>
            <p:ph type="title"/>
          </p:nvPr>
        </p:nvSpPr>
        <p:spPr/>
        <p:txBody>
          <a:bodyPr>
            <a:normAutofit/>
          </a:bodyPr>
          <a:lstStyle/>
          <a:p>
            <a:pPr eaLnBrk="1" hangingPunct="1">
              <a:defRPr/>
            </a:pPr>
            <a:r>
              <a:rPr lang="en-US" dirty="0" err="1" smtClean="0"/>
              <a:t>Проактивната</a:t>
            </a:r>
            <a:r>
              <a:rPr lang="en-US" dirty="0" smtClean="0"/>
              <a:t> </a:t>
            </a:r>
            <a:r>
              <a:rPr lang="en-US" dirty="0" err="1" smtClean="0"/>
              <a:t>сигурност</a:t>
            </a:r>
            <a:r>
              <a:rPr lang="bg-BG" dirty="0" smtClean="0"/>
              <a:t>: </a:t>
            </a:r>
            <a:r>
              <a:rPr lang="en-US" dirty="0" err="1" smtClean="0"/>
              <a:t>Процес</a:t>
            </a:r>
            <a:r>
              <a:rPr lang="en-US" dirty="0" smtClean="0"/>
              <a:t> </a:t>
            </a:r>
            <a:r>
              <a:rPr lang="en-US" dirty="0" err="1" smtClean="0"/>
              <a:t>на</a:t>
            </a:r>
            <a:r>
              <a:rPr lang="en-US" dirty="0" smtClean="0"/>
              <a:t> </a:t>
            </a:r>
            <a:r>
              <a:rPr lang="en-US" dirty="0" err="1" smtClean="0"/>
              <a:t>разработка</a:t>
            </a:r>
            <a:r>
              <a:rPr lang="en-US" dirty="0" smtClean="0"/>
              <a:t> </a:t>
            </a:r>
          </a:p>
        </p:txBody>
      </p:sp>
      <p:sp>
        <p:nvSpPr>
          <p:cNvPr id="846851" name="Rectangle 3"/>
          <p:cNvSpPr>
            <a:spLocks noGrp="1" noChangeArrowheads="1"/>
          </p:cNvSpPr>
          <p:nvPr>
            <p:ph type="body" idx="1"/>
          </p:nvPr>
        </p:nvSpPr>
        <p:spPr>
          <a:xfrm>
            <a:off x="989012" y="1066800"/>
            <a:ext cx="10515600" cy="5562600"/>
          </a:xfrm>
        </p:spPr>
        <p:txBody>
          <a:bodyPr>
            <a:normAutofit/>
          </a:bodyPr>
          <a:lstStyle/>
          <a:p>
            <a:pPr eaLnBrk="1" hangingPunct="1">
              <a:defRPr/>
            </a:pPr>
            <a:r>
              <a:rPr lang="bg-BG" dirty="0" smtClean="0"/>
              <a:t>Колкото повече функции са включени в продукта, толкова повече са потенциалните пропуски в сигурността му. </a:t>
            </a:r>
          </a:p>
          <a:p>
            <a:pPr lvl="1" eaLnBrk="1" hangingPunct="1">
              <a:defRPr/>
            </a:pPr>
            <a:r>
              <a:rPr lang="bg-BG" dirty="0" smtClean="0"/>
              <a:t>Атакуващите също използват функции, а по-богатият набор от функции им дава повече възможности за работа. </a:t>
            </a:r>
          </a:p>
          <a:p>
            <a:pPr lvl="1" eaLnBrk="1" hangingPunct="1">
              <a:defRPr/>
            </a:pPr>
            <a:r>
              <a:rPr lang="bg-BG" dirty="0" smtClean="0"/>
              <a:t>Новите функции (по своята същност) са по-рискови от доказаните, широко използвани и по-зрели функционалности, но креативността (и продуктивността) на много разработчици се стимулира от нови предизвикателства и нови функции или нови начини за изпълнение на стари функции. </a:t>
            </a:r>
            <a:endParaRPr lang="bg-BG" dirty="0"/>
          </a:p>
        </p:txBody>
      </p:sp>
    </p:spTree>
    <p:extLst>
      <p:ext uri="{BB962C8B-B14F-4D97-AF65-F5344CB8AC3E}">
        <p14:creationId xmlns:p14="http://schemas.microsoft.com/office/powerpoint/2010/main" val="576859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090" name="Rectangle 2"/>
          <p:cNvSpPr>
            <a:spLocks noGrp="1" noRot="1" noChangeArrowheads="1"/>
          </p:cNvSpPr>
          <p:nvPr>
            <p:ph type="title"/>
          </p:nvPr>
        </p:nvSpPr>
        <p:spPr/>
        <p:txBody>
          <a:bodyPr/>
          <a:lstStyle/>
          <a:p>
            <a:pPr eaLnBrk="1" hangingPunct="1">
              <a:defRPr/>
            </a:pPr>
            <a:r>
              <a:rPr lang="en-US" smtClean="0"/>
              <a:t>Сигурност на етапа на проектиране</a:t>
            </a:r>
            <a:endParaRPr lang="bg-BG" smtClean="0"/>
          </a:p>
        </p:txBody>
      </p:sp>
      <p:sp>
        <p:nvSpPr>
          <p:cNvPr id="857091" name="Rectangle 3"/>
          <p:cNvSpPr>
            <a:spLocks noGrp="1" noChangeArrowheads="1"/>
          </p:cNvSpPr>
          <p:nvPr>
            <p:ph type="body" idx="1"/>
          </p:nvPr>
        </p:nvSpPr>
        <p:spPr>
          <a:xfrm>
            <a:off x="1065212" y="1066800"/>
            <a:ext cx="10591800" cy="5410200"/>
          </a:xfrm>
        </p:spPr>
        <p:txBody>
          <a:bodyPr>
            <a:normAutofit/>
          </a:bodyPr>
          <a:lstStyle/>
          <a:p>
            <a:pPr>
              <a:spcBef>
                <a:spcPts val="0"/>
              </a:spcBef>
              <a:defRPr/>
            </a:pPr>
            <a:r>
              <a:rPr lang="en-US" sz="2800" dirty="0"/>
              <a:t>#</a:t>
            </a:r>
            <a:r>
              <a:rPr lang="bg-BG" sz="2800" dirty="0" smtClean="0"/>
              <a:t>1: </a:t>
            </a:r>
            <a:r>
              <a:rPr lang="en-US" sz="2800" dirty="0" err="1" smtClean="0"/>
              <a:t>Въпроси</a:t>
            </a:r>
            <a:r>
              <a:rPr lang="en-US" sz="2800" dirty="0" smtClean="0"/>
              <a:t> </a:t>
            </a:r>
            <a:r>
              <a:rPr lang="en-US" sz="2800" dirty="0"/>
              <a:t>за сигурността по време на интервютата </a:t>
            </a:r>
          </a:p>
          <a:p>
            <a:pPr>
              <a:spcBef>
                <a:spcPts val="0"/>
              </a:spcBef>
              <a:defRPr/>
            </a:pPr>
            <a:r>
              <a:rPr lang="en-US" sz="2800" dirty="0" smtClean="0"/>
              <a:t>#2</a:t>
            </a:r>
            <a:r>
              <a:rPr lang="bg-BG" sz="2800" dirty="0" smtClean="0"/>
              <a:t>: </a:t>
            </a:r>
            <a:r>
              <a:rPr lang="en-US" sz="2800" dirty="0" err="1" smtClean="0"/>
              <a:t>Определяне</a:t>
            </a:r>
            <a:r>
              <a:rPr lang="en-US" sz="2800" dirty="0" smtClean="0"/>
              <a:t> </a:t>
            </a:r>
            <a:r>
              <a:rPr lang="en-US" sz="2800" dirty="0"/>
              <a:t>на целите за сигурност на продукта </a:t>
            </a:r>
          </a:p>
          <a:p>
            <a:pPr>
              <a:spcBef>
                <a:spcPts val="0"/>
              </a:spcBef>
              <a:defRPr/>
            </a:pPr>
            <a:r>
              <a:rPr lang="en-US" sz="2800" dirty="0" smtClean="0"/>
              <a:t>#3</a:t>
            </a:r>
            <a:r>
              <a:rPr lang="bg-BG" sz="2800" dirty="0" smtClean="0"/>
              <a:t>: </a:t>
            </a:r>
            <a:r>
              <a:rPr lang="en-US" sz="2800" dirty="0" err="1" smtClean="0"/>
              <a:t>Сигурността</a:t>
            </a:r>
            <a:r>
              <a:rPr lang="en-US" sz="2800" dirty="0" smtClean="0"/>
              <a:t> </a:t>
            </a:r>
            <a:r>
              <a:rPr lang="en-US" sz="2800" dirty="0"/>
              <a:t>е </a:t>
            </a:r>
            <a:r>
              <a:rPr lang="en-US" sz="2800" dirty="0"/>
              <a:t>характеристика на продукта </a:t>
            </a:r>
          </a:p>
          <a:p>
            <a:pPr>
              <a:spcBef>
                <a:spcPts val="0"/>
              </a:spcBef>
              <a:defRPr/>
            </a:pPr>
            <a:r>
              <a:rPr lang="en-US" sz="2800" dirty="0" smtClean="0"/>
              <a:t>#4</a:t>
            </a:r>
            <a:r>
              <a:rPr lang="bg-BG" sz="2800" dirty="0" smtClean="0"/>
              <a:t>: </a:t>
            </a:r>
            <a:r>
              <a:rPr lang="en-US" sz="2800" dirty="0" err="1" smtClean="0"/>
              <a:t>Отделяне</a:t>
            </a:r>
            <a:r>
              <a:rPr lang="en-US" sz="2800" dirty="0" smtClean="0"/>
              <a:t> </a:t>
            </a:r>
            <a:r>
              <a:rPr lang="en-US" sz="2800" dirty="0"/>
              <a:t>на време за сигурност </a:t>
            </a:r>
          </a:p>
          <a:p>
            <a:pPr>
              <a:spcBef>
                <a:spcPts val="0"/>
              </a:spcBef>
              <a:defRPr/>
            </a:pPr>
            <a:r>
              <a:rPr lang="en-US" sz="2800" dirty="0" smtClean="0"/>
              <a:t>#5</a:t>
            </a:r>
            <a:r>
              <a:rPr lang="bg-BG" sz="2800" dirty="0" smtClean="0"/>
              <a:t>: </a:t>
            </a:r>
            <a:r>
              <a:rPr lang="en-US" sz="2800" dirty="0" err="1" smtClean="0"/>
              <a:t>Моделирането</a:t>
            </a:r>
            <a:r>
              <a:rPr lang="en-US" sz="2800" dirty="0" smtClean="0"/>
              <a:t> </a:t>
            </a:r>
            <a:r>
              <a:rPr lang="en-US" sz="2800" dirty="0"/>
              <a:t>на заплахите води до сигурен дизайн </a:t>
            </a:r>
          </a:p>
          <a:p>
            <a:pPr lvl="1">
              <a:spcBef>
                <a:spcPts val="0"/>
              </a:spcBef>
              <a:defRPr/>
            </a:pPr>
            <a:r>
              <a:rPr lang="en-US" sz="2400" dirty="0"/>
              <a:t>Без модели на заплахите не можете да изградите сигурни системи, защото осигуряването на сигурността на системите изисква да разберете заплахите. </a:t>
            </a:r>
          </a:p>
          <a:p>
            <a:pPr>
              <a:spcBef>
                <a:spcPts val="0"/>
              </a:spcBef>
              <a:defRPr/>
            </a:pPr>
            <a:r>
              <a:rPr lang="en-US" sz="2800" dirty="0" smtClean="0"/>
              <a:t>#6</a:t>
            </a:r>
            <a:r>
              <a:rPr lang="bg-BG" sz="2800" dirty="0" smtClean="0"/>
              <a:t>: </a:t>
            </a:r>
            <a:r>
              <a:rPr lang="en-US" sz="2800" dirty="0" err="1" smtClean="0"/>
              <a:t>Изграждане</a:t>
            </a:r>
            <a:r>
              <a:rPr lang="en-US" sz="2800" dirty="0" smtClean="0"/>
              <a:t> </a:t>
            </a:r>
            <a:r>
              <a:rPr lang="en-US" sz="2800" dirty="0"/>
              <a:t>на планове за прекратяване на експлоатацията на несигурни функции </a:t>
            </a:r>
          </a:p>
          <a:p>
            <a:pPr lvl="1">
              <a:spcBef>
                <a:spcPts val="0"/>
              </a:spcBef>
              <a:defRPr/>
            </a:pPr>
            <a:r>
              <a:rPr lang="en-US" sz="2400" dirty="0"/>
              <a:t>"Софтуерът никога не умира; той просто става несигурен." </a:t>
            </a:r>
          </a:p>
          <a:p>
            <a:pPr>
              <a:spcBef>
                <a:spcPts val="0"/>
              </a:spcBef>
              <a:defRPr/>
            </a:pPr>
            <a:r>
              <a:rPr lang="en-US" sz="2800" dirty="0" smtClean="0"/>
              <a:t>#7</a:t>
            </a:r>
            <a:r>
              <a:rPr lang="bg-BG" sz="2800" dirty="0" smtClean="0"/>
              <a:t>: Проследяемост н</a:t>
            </a:r>
            <a:r>
              <a:rPr lang="en-US" sz="2800" dirty="0" smtClean="0"/>
              <a:t>а </a:t>
            </a:r>
            <a:r>
              <a:rPr lang="en-US" sz="2800" dirty="0" err="1" smtClean="0"/>
              <a:t>грешки</a:t>
            </a:r>
            <a:r>
              <a:rPr lang="bg-BG" sz="2800" dirty="0" smtClean="0"/>
              <a:t>те</a:t>
            </a:r>
            <a:r>
              <a:rPr lang="en-US" sz="2800" dirty="0" smtClean="0"/>
              <a:t> </a:t>
            </a:r>
            <a:endParaRPr lang="en-US" sz="2800" dirty="0"/>
          </a:p>
          <a:p>
            <a:pPr>
              <a:spcBef>
                <a:spcPts val="0"/>
              </a:spcBef>
              <a:defRPr/>
            </a:pPr>
            <a:r>
              <a:rPr lang="en-US" sz="2800" dirty="0" smtClean="0"/>
              <a:t>#8</a:t>
            </a:r>
            <a:r>
              <a:rPr lang="bg-BG" sz="2800" dirty="0" smtClean="0"/>
              <a:t>: </a:t>
            </a:r>
            <a:r>
              <a:rPr lang="en-US" sz="2800" dirty="0" err="1" smtClean="0"/>
              <a:t>Преглед</a:t>
            </a:r>
            <a:r>
              <a:rPr lang="en-US" sz="2800" dirty="0" smtClean="0"/>
              <a:t> </a:t>
            </a:r>
            <a:r>
              <a:rPr lang="en-US" sz="2800" dirty="0"/>
              <a:t>на екипа по сигурността </a:t>
            </a:r>
          </a:p>
        </p:txBody>
      </p:sp>
    </p:spTree>
    <p:extLst>
      <p:ext uri="{BB962C8B-B14F-4D97-AF65-F5344CB8AC3E}">
        <p14:creationId xmlns:p14="http://schemas.microsoft.com/office/powerpoint/2010/main" val="545353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Rot="1" noChangeArrowheads="1"/>
          </p:cNvSpPr>
          <p:nvPr>
            <p:ph type="title"/>
          </p:nvPr>
        </p:nvSpPr>
        <p:spPr/>
        <p:txBody>
          <a:bodyPr/>
          <a:lstStyle/>
          <a:p>
            <a:pPr eaLnBrk="1" hangingPunct="1">
              <a:defRPr/>
            </a:pPr>
            <a:r>
              <a:rPr lang="en-US" smtClean="0"/>
              <a:t>Определяне на целите за сигурност на продукта</a:t>
            </a:r>
            <a:endParaRPr lang="bg-BG" smtClean="0"/>
          </a:p>
        </p:txBody>
      </p:sp>
      <p:sp>
        <p:nvSpPr>
          <p:cNvPr id="861187" name="Rectangle 3"/>
          <p:cNvSpPr>
            <a:spLocks noGrp="1" noChangeArrowheads="1"/>
          </p:cNvSpPr>
          <p:nvPr>
            <p:ph type="body" idx="1"/>
          </p:nvPr>
        </p:nvSpPr>
        <p:spPr/>
        <p:txBody>
          <a:bodyPr>
            <a:normAutofit lnSpcReduction="10000"/>
          </a:bodyPr>
          <a:lstStyle/>
          <a:p>
            <a:pPr eaLnBrk="1" hangingPunct="1">
              <a:defRPr/>
            </a:pPr>
            <a:r>
              <a:rPr lang="en-US" sz="2800" dirty="0"/>
              <a:t>Изискванията за сигурност и контролът трябва да отразяват бизнес стойността на съответните информационни активи и потенциалните щети за бизнеса, които могат да възникнат в резултат на провал или липса на сигурност.</a:t>
            </a:r>
          </a:p>
          <a:p>
            <a:pPr lvl="1" eaLnBrk="1" hangingPunct="1">
              <a:defRPr/>
            </a:pPr>
            <a:r>
              <a:rPr lang="en-US" sz="2400" dirty="0"/>
              <a:t>Помага ли тази функция за сигурност или допълнение за намаляване на заплахите, които засягат някоя от нашите личности?</a:t>
            </a:r>
          </a:p>
          <a:p>
            <a:pPr lvl="1" eaLnBrk="1" hangingPunct="1">
              <a:defRPr/>
            </a:pPr>
            <a:r>
              <a:rPr lang="en-US" sz="2400" dirty="0"/>
              <a:t>Коя е аудиторията на приложението?</a:t>
            </a:r>
          </a:p>
          <a:p>
            <a:pPr lvl="1" eaLnBrk="1" hangingPunct="1">
              <a:defRPr/>
            </a:pPr>
            <a:r>
              <a:rPr lang="en-US" sz="2400" dirty="0"/>
              <a:t>Какво означава сигурността за аудиторията</a:t>
            </a:r>
            <a:r>
              <a:rPr lang="en-US" sz="2400" dirty="0"/>
              <a:t>? </a:t>
            </a:r>
            <a:endParaRPr lang="bg-BG" sz="2400" dirty="0" smtClean="0"/>
          </a:p>
          <a:p>
            <a:pPr lvl="2">
              <a:defRPr/>
            </a:pPr>
            <a:r>
              <a:rPr lang="en-US" sz="2000" dirty="0" err="1" smtClean="0"/>
              <a:t>Различава</a:t>
            </a:r>
            <a:r>
              <a:rPr lang="en-US" sz="2000" dirty="0" smtClean="0"/>
              <a:t> </a:t>
            </a:r>
            <a:r>
              <a:rPr lang="en-US" sz="2000" dirty="0"/>
              <a:t>ли се тя за различните членове на аудиторията</a:t>
            </a:r>
            <a:r>
              <a:rPr lang="en-US" sz="2000" dirty="0"/>
              <a:t>? </a:t>
            </a:r>
            <a:endParaRPr lang="bg-BG" sz="2000" dirty="0" smtClean="0"/>
          </a:p>
          <a:p>
            <a:pPr lvl="2">
              <a:defRPr/>
            </a:pPr>
            <a:r>
              <a:rPr lang="en-US" sz="2000" dirty="0" err="1" smtClean="0"/>
              <a:t>Различни</a:t>
            </a:r>
            <a:r>
              <a:rPr lang="en-US" sz="2000" dirty="0" smtClean="0"/>
              <a:t> </a:t>
            </a:r>
            <a:r>
              <a:rPr lang="en-US" sz="2000" dirty="0"/>
              <a:t>ли са изискванията за сигурност при различните клиенти?</a:t>
            </a:r>
          </a:p>
          <a:p>
            <a:pPr lvl="1" eaLnBrk="1" hangingPunct="1">
              <a:defRPr/>
            </a:pPr>
            <a:r>
              <a:rPr lang="en-US" sz="2400" dirty="0"/>
              <a:t>Къде ще се изпълнява приложението</a:t>
            </a:r>
            <a:r>
              <a:rPr lang="en-US" sz="2400" dirty="0"/>
              <a:t>? </a:t>
            </a:r>
            <a:endParaRPr lang="bg-BG" sz="2400" dirty="0" smtClean="0"/>
          </a:p>
          <a:p>
            <a:pPr lvl="2">
              <a:defRPr/>
            </a:pPr>
            <a:r>
              <a:rPr lang="en-US" sz="2000" dirty="0" smtClean="0"/>
              <a:t>В </a:t>
            </a:r>
            <a:r>
              <a:rPr lang="en-US" sz="2000" dirty="0"/>
              <a:t>интернет</a:t>
            </a:r>
            <a:r>
              <a:rPr lang="en-US" sz="2000" dirty="0"/>
              <a:t>? </a:t>
            </a:r>
            <a:endParaRPr lang="bg-BG" sz="2000" dirty="0" smtClean="0"/>
          </a:p>
          <a:p>
            <a:pPr lvl="2">
              <a:defRPr/>
            </a:pPr>
            <a:r>
              <a:rPr lang="en-US" sz="2000" dirty="0" err="1" smtClean="0"/>
              <a:t>Зад</a:t>
            </a:r>
            <a:r>
              <a:rPr lang="en-US" sz="2000" dirty="0" smtClean="0"/>
              <a:t> </a:t>
            </a:r>
            <a:r>
              <a:rPr lang="en-US" sz="2000" dirty="0"/>
              <a:t>защитна стена</a:t>
            </a:r>
            <a:r>
              <a:rPr lang="en-US" sz="2000" dirty="0"/>
              <a:t>? </a:t>
            </a:r>
            <a:endParaRPr lang="bg-BG" sz="2000" dirty="0" smtClean="0"/>
          </a:p>
          <a:p>
            <a:pPr lvl="2">
              <a:defRPr/>
            </a:pPr>
            <a:r>
              <a:rPr lang="en-US" sz="2000" dirty="0" err="1" smtClean="0"/>
              <a:t>На</a:t>
            </a:r>
            <a:r>
              <a:rPr lang="en-US" sz="2000" dirty="0" smtClean="0"/>
              <a:t> </a:t>
            </a:r>
            <a:r>
              <a:rPr lang="en-US" sz="2000" dirty="0"/>
              <a:t>мобилен телефон?</a:t>
            </a:r>
          </a:p>
          <a:p>
            <a:pPr lvl="1" eaLnBrk="1" hangingPunct="1">
              <a:defRPr/>
            </a:pPr>
            <a:r>
              <a:rPr lang="en-US" sz="2400" dirty="0"/>
              <a:t>Какво се опитвате да защитите?</a:t>
            </a:r>
          </a:p>
        </p:txBody>
      </p:sp>
    </p:spTree>
    <p:extLst>
      <p:ext uri="{BB962C8B-B14F-4D97-AF65-F5344CB8AC3E}">
        <p14:creationId xmlns:p14="http://schemas.microsoft.com/office/powerpoint/2010/main" val="1855496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Rot="1" noChangeArrowheads="1"/>
          </p:cNvSpPr>
          <p:nvPr>
            <p:ph type="title"/>
          </p:nvPr>
        </p:nvSpPr>
        <p:spPr/>
        <p:txBody>
          <a:bodyPr/>
          <a:lstStyle/>
          <a:p>
            <a:pPr eaLnBrk="1" hangingPunct="1">
              <a:defRPr/>
            </a:pPr>
            <a:r>
              <a:rPr lang="en-US" smtClean="0"/>
              <a:t>Определяне на целите за сигурност на продукта</a:t>
            </a:r>
            <a:endParaRPr lang="bg-BG" smtClean="0"/>
          </a:p>
        </p:txBody>
      </p:sp>
      <p:sp>
        <p:nvSpPr>
          <p:cNvPr id="926723" name="Rectangle 3"/>
          <p:cNvSpPr>
            <a:spLocks noGrp="1" noChangeArrowheads="1"/>
          </p:cNvSpPr>
          <p:nvPr>
            <p:ph type="body" idx="1"/>
          </p:nvPr>
        </p:nvSpPr>
        <p:spPr/>
        <p:txBody>
          <a:bodyPr>
            <a:normAutofit/>
          </a:bodyPr>
          <a:lstStyle/>
          <a:p>
            <a:pPr eaLnBrk="1" hangingPunct="1">
              <a:defRPr/>
            </a:pPr>
            <a:r>
              <a:rPr lang="en-US" sz="2800" dirty="0"/>
              <a:t>Изискванията за сигурност и контролът трябва да отразяват бизнес стойността на съответните информационни активи и потенциалните щети за бизнеса, които могат да възникнат в резултат на провал или липса на сигурност.</a:t>
            </a:r>
          </a:p>
          <a:p>
            <a:pPr lvl="1" eaLnBrk="1" hangingPunct="1">
              <a:defRPr/>
            </a:pPr>
            <a:r>
              <a:rPr lang="en-US" sz="2400" dirty="0"/>
              <a:t>Какви са последиците за потребителите, ако обектите, които защитавате, бъдат компрометирани?</a:t>
            </a:r>
          </a:p>
          <a:p>
            <a:pPr lvl="1" eaLnBrk="1" hangingPunct="1">
              <a:defRPr/>
            </a:pPr>
            <a:r>
              <a:rPr lang="en-US" sz="2400" dirty="0"/>
              <a:t>Кой ще управлява приложението? Потребителят или корпоративен ИТ администратор?</a:t>
            </a:r>
          </a:p>
          <a:p>
            <a:pPr lvl="1" eaLnBrk="1" hangingPunct="1">
              <a:defRPr/>
            </a:pPr>
            <a:r>
              <a:rPr lang="en-US" sz="2400" dirty="0"/>
              <a:t>Какви са комуникационните нужди на продукта? Вътрешен ли е продуктът за организацията, външен ли е, или и двете?</a:t>
            </a:r>
          </a:p>
          <a:p>
            <a:pPr lvl="1" eaLnBrk="1" hangingPunct="1">
              <a:defRPr/>
            </a:pPr>
            <a:r>
              <a:rPr lang="en-US" sz="2400" dirty="0"/>
              <a:t>Какви инфраструктурни услуги за сигурност вече предоставят операционната система и средата, които можете да използвате?</a:t>
            </a:r>
          </a:p>
          <a:p>
            <a:pPr lvl="1" eaLnBrk="1" hangingPunct="1">
              <a:defRPr/>
            </a:pPr>
            <a:r>
              <a:rPr lang="en-US" sz="2400" dirty="0"/>
              <a:t>Как потребителят трябва да бъде защитен от собствените си действия?</a:t>
            </a:r>
          </a:p>
        </p:txBody>
      </p:sp>
    </p:spTree>
    <p:extLst>
      <p:ext uri="{BB962C8B-B14F-4D97-AF65-F5344CB8AC3E}">
        <p14:creationId xmlns:p14="http://schemas.microsoft.com/office/powerpoint/2010/main" val="2586550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234" name="Rectangle 2"/>
          <p:cNvSpPr>
            <a:spLocks noGrp="1" noRot="1" noChangeArrowheads="1"/>
          </p:cNvSpPr>
          <p:nvPr>
            <p:ph type="title"/>
          </p:nvPr>
        </p:nvSpPr>
        <p:spPr/>
        <p:txBody>
          <a:bodyPr/>
          <a:lstStyle/>
          <a:p>
            <a:pPr eaLnBrk="1" hangingPunct="1">
              <a:defRPr/>
            </a:pPr>
            <a:r>
              <a:rPr lang="en-US" smtClean="0"/>
              <a:t>Сигурността е характеристика на продукта </a:t>
            </a:r>
          </a:p>
        </p:txBody>
      </p:sp>
      <p:sp>
        <p:nvSpPr>
          <p:cNvPr id="863235" name="Rectangle 3"/>
          <p:cNvSpPr>
            <a:spLocks noGrp="1" noChangeArrowheads="1"/>
          </p:cNvSpPr>
          <p:nvPr>
            <p:ph type="body" idx="1"/>
          </p:nvPr>
        </p:nvSpPr>
        <p:spPr/>
        <p:txBody>
          <a:bodyPr/>
          <a:lstStyle/>
          <a:p>
            <a:pPr eaLnBrk="1" hangingPunct="1">
              <a:lnSpc>
                <a:spcPct val="90000"/>
              </a:lnSpc>
              <a:defRPr/>
            </a:pPr>
            <a:r>
              <a:rPr lang="en-US" dirty="0" smtClean="0"/>
              <a:t>Сигурността е функция, както и всяка друга функция на продукта. </a:t>
            </a:r>
          </a:p>
          <a:p>
            <a:pPr lvl="1" eaLnBrk="1" hangingPunct="1">
              <a:lnSpc>
                <a:spcPct val="90000"/>
              </a:lnSpc>
              <a:defRPr/>
            </a:pPr>
            <a:r>
              <a:rPr lang="en-US" dirty="0" smtClean="0"/>
              <a:t>Не разглеждайте сигурността като някакъв мъгляв аспект от разработването на продукта. </a:t>
            </a:r>
          </a:p>
          <a:p>
            <a:pPr lvl="1" eaLnBrk="1" hangingPunct="1">
              <a:lnSpc>
                <a:spcPct val="90000"/>
              </a:lnSpc>
              <a:defRPr/>
            </a:pPr>
            <a:r>
              <a:rPr lang="en-US" dirty="0" smtClean="0"/>
              <a:t>Не третирайте сигурността като фонова задача, която се добавя само когато е удобно да се направи. </a:t>
            </a:r>
          </a:p>
          <a:p>
            <a:pPr eaLnBrk="1" hangingPunct="1">
              <a:lnSpc>
                <a:spcPct val="90000"/>
              </a:lnSpc>
              <a:defRPr/>
            </a:pPr>
            <a:r>
              <a:rPr lang="en-US" dirty="0" smtClean="0"/>
              <a:t>Проектиране на сигурността във всеки аспект на приложението. </a:t>
            </a:r>
          </a:p>
          <a:p>
            <a:pPr lvl="1" eaLnBrk="1" hangingPunct="1">
              <a:lnSpc>
                <a:spcPct val="90000"/>
              </a:lnSpc>
              <a:defRPr/>
            </a:pPr>
            <a:r>
              <a:rPr lang="en-US" dirty="0" smtClean="0"/>
              <a:t>Всички функционални спецификации на продукта трябва да включват раздел, в който се описват последиците за сигурността на всяка функция. </a:t>
            </a:r>
          </a:p>
        </p:txBody>
      </p:sp>
    </p:spTree>
    <p:extLst>
      <p:ext uri="{BB962C8B-B14F-4D97-AF65-F5344CB8AC3E}">
        <p14:creationId xmlns:p14="http://schemas.microsoft.com/office/powerpoint/2010/main" val="1826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Rectangle 2"/>
          <p:cNvSpPr>
            <a:spLocks noGrp="1" noRot="1" noChangeArrowheads="1"/>
          </p:cNvSpPr>
          <p:nvPr>
            <p:ph type="title"/>
          </p:nvPr>
        </p:nvSpPr>
        <p:spPr/>
        <p:txBody>
          <a:bodyPr/>
          <a:lstStyle/>
          <a:p>
            <a:pPr eaLnBrk="1" hangingPunct="1">
              <a:defRPr/>
            </a:pPr>
            <a:r>
              <a:rPr lang="en-US" smtClean="0"/>
              <a:t>Сигурността е характеристика на продукта </a:t>
            </a:r>
          </a:p>
        </p:txBody>
      </p:sp>
      <p:sp>
        <p:nvSpPr>
          <p:cNvPr id="865283" name="Rectangle 3"/>
          <p:cNvSpPr>
            <a:spLocks noGrp="1" noChangeArrowheads="1"/>
          </p:cNvSpPr>
          <p:nvPr>
            <p:ph type="body" idx="1"/>
          </p:nvPr>
        </p:nvSpPr>
        <p:spPr/>
        <p:txBody>
          <a:bodyPr/>
          <a:lstStyle/>
          <a:p>
            <a:pPr eaLnBrk="1" hangingPunct="1">
              <a:lnSpc>
                <a:spcPct val="90000"/>
              </a:lnSpc>
              <a:buFont typeface="Wingdings" pitchFamily="2" charset="2"/>
              <a:buNone/>
              <a:defRPr/>
            </a:pPr>
            <a:r>
              <a:rPr lang="en-US" u="sng" smtClean="0"/>
              <a:t>Пример:</a:t>
            </a:r>
            <a:endParaRPr lang="en-US" smtClean="0"/>
          </a:p>
          <a:p>
            <a:pPr lvl="1" eaLnBrk="1" hangingPunct="1">
              <a:lnSpc>
                <a:spcPct val="90000"/>
              </a:lnSpc>
              <a:defRPr/>
            </a:pPr>
            <a:r>
              <a:rPr lang="en-US" smtClean="0"/>
              <a:t>По-късното добавяне на сигурност е по-скоро обвиване на съществуващите функции със сигурност, отколкото проектиране на функции с оглед на сигурността.</a:t>
            </a:r>
          </a:p>
          <a:p>
            <a:pPr lvl="1" eaLnBrk="1" hangingPunct="1">
              <a:lnSpc>
                <a:spcPct val="90000"/>
              </a:lnSpc>
              <a:defRPr/>
            </a:pPr>
            <a:r>
              <a:rPr lang="en-US" smtClean="0"/>
              <a:t>Допълнителното добавяне на всяка функция, включително за сигурност, е скъпо.</a:t>
            </a:r>
          </a:p>
          <a:p>
            <a:pPr lvl="1" eaLnBrk="1" hangingPunct="1">
              <a:lnSpc>
                <a:spcPct val="90000"/>
              </a:lnSpc>
              <a:defRPr/>
            </a:pPr>
            <a:r>
              <a:rPr lang="en-US" smtClean="0"/>
              <a:t>Добавянето на защита може да промени начина, по който сте приложили функциите. Това също може да бъде скъпо.</a:t>
            </a:r>
          </a:p>
          <a:p>
            <a:pPr lvl="1" eaLnBrk="1" hangingPunct="1">
              <a:lnSpc>
                <a:spcPct val="90000"/>
              </a:lnSpc>
              <a:defRPr/>
            </a:pPr>
            <a:r>
              <a:rPr lang="en-US" smtClean="0"/>
              <a:t>Добавянето на сигурност може да промени интерфейса на приложението, което може да наруши кода, който разчита на текущия интерфейс.</a:t>
            </a:r>
          </a:p>
        </p:txBody>
      </p:sp>
    </p:spTree>
    <p:extLst>
      <p:ext uri="{BB962C8B-B14F-4D97-AF65-F5344CB8AC3E}">
        <p14:creationId xmlns:p14="http://schemas.microsoft.com/office/powerpoint/2010/main" val="66276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Rot="1" noChangeArrowheads="1"/>
          </p:cNvSpPr>
          <p:nvPr>
            <p:ph type="title"/>
          </p:nvPr>
        </p:nvSpPr>
        <p:spPr/>
        <p:txBody>
          <a:bodyPr/>
          <a:lstStyle/>
          <a:p>
            <a:pPr eaLnBrk="1" hangingPunct="1">
              <a:defRPr/>
            </a:pPr>
            <a:r>
              <a:rPr lang="en-US" smtClean="0"/>
              <a:t>Сигурността е характеристика на продукта </a:t>
            </a:r>
          </a:p>
        </p:txBody>
      </p:sp>
      <p:sp>
        <p:nvSpPr>
          <p:cNvPr id="866307" name="Rectangle 3"/>
          <p:cNvSpPr>
            <a:spLocks noGrp="1" noChangeArrowheads="1"/>
          </p:cNvSpPr>
          <p:nvPr>
            <p:ph type="body" idx="1"/>
          </p:nvPr>
        </p:nvSpPr>
        <p:spPr/>
        <p:txBody>
          <a:bodyPr>
            <a:noAutofit/>
          </a:bodyPr>
          <a:lstStyle/>
          <a:p>
            <a:pPr eaLnBrk="1" hangingPunct="1">
              <a:defRPr/>
            </a:pPr>
            <a:r>
              <a:rPr lang="en-US" sz="2800" dirty="0"/>
              <a:t>Трябва да сте реалисти и прагматици, когато определяте кои грешки да отстраните и кои да не отстранявате преди изпращането. </a:t>
            </a:r>
          </a:p>
          <a:p>
            <a:pPr lvl="1" eaLnBrk="1" hangingPunct="1">
              <a:defRPr/>
            </a:pPr>
            <a:r>
              <a:rPr lang="en-US" sz="2400" dirty="0"/>
              <a:t>В идеалния свят всички проблеми, включително тези със сигурността, биха били отстранени, преди да пуснете продукта за потребителите. </a:t>
            </a:r>
          </a:p>
          <a:p>
            <a:pPr lvl="1" eaLnBrk="1" hangingPunct="1">
              <a:defRPr/>
            </a:pPr>
            <a:r>
              <a:rPr lang="en-US" sz="2400" dirty="0"/>
              <a:t>В реалния свят това не е толкова просто. </a:t>
            </a:r>
          </a:p>
          <a:p>
            <a:pPr eaLnBrk="1" hangingPunct="1">
              <a:defRPr/>
            </a:pPr>
            <a:r>
              <a:rPr lang="en-US" sz="2800" dirty="0"/>
              <a:t>Сигурността е само част, макар и много важна, от компромисите, които се правят при проектирането и разработването на дадено приложение</a:t>
            </a:r>
            <a:r>
              <a:rPr lang="en-US" sz="2400" dirty="0"/>
              <a:t>. </a:t>
            </a:r>
          </a:p>
          <a:p>
            <a:pPr lvl="1" eaLnBrk="1" hangingPunct="1">
              <a:defRPr/>
            </a:pPr>
            <a:r>
              <a:rPr lang="en-US" sz="2400" dirty="0"/>
              <a:t>Когато се решава как да се отстрани даден недостатък, трябва да се оценят много други критерии. </a:t>
            </a:r>
          </a:p>
          <a:p>
            <a:pPr lvl="1" eaLnBrk="1" hangingPunct="1">
              <a:defRPr/>
            </a:pPr>
            <a:r>
              <a:rPr lang="en-US" sz="2400" dirty="0"/>
              <a:t>Другите въпроси включват, но не се ограничават до въздействието на регресията, достъпността за хора с увреждания, проблемите с внедряването, глобализацията, производителността, стабилността и надеждността, мащабируемостта, обратната съвместимост и поддръжката. </a:t>
            </a:r>
          </a:p>
        </p:txBody>
      </p:sp>
    </p:spTree>
    <p:extLst>
      <p:ext uri="{BB962C8B-B14F-4D97-AF65-F5344CB8AC3E}">
        <p14:creationId xmlns:p14="http://schemas.microsoft.com/office/powerpoint/2010/main" val="3767942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p:cNvSpPr>
            <a:spLocks noGrp="1" noRot="1" noChangeArrowheads="1"/>
          </p:cNvSpPr>
          <p:nvPr>
            <p:ph type="title"/>
          </p:nvPr>
        </p:nvSpPr>
        <p:spPr/>
        <p:txBody>
          <a:bodyPr/>
          <a:lstStyle/>
          <a:p>
            <a:pPr eaLnBrk="1" hangingPunct="1">
              <a:defRPr/>
            </a:pPr>
            <a:r>
              <a:rPr lang="en-US" smtClean="0"/>
              <a:t>Сигурността е характеристика на продукта </a:t>
            </a:r>
          </a:p>
        </p:txBody>
      </p:sp>
      <p:sp>
        <p:nvSpPr>
          <p:cNvPr id="867331" name="Rectangle 3"/>
          <p:cNvSpPr>
            <a:spLocks noGrp="1" noChangeArrowheads="1"/>
          </p:cNvSpPr>
          <p:nvPr>
            <p:ph type="body" idx="1"/>
          </p:nvPr>
        </p:nvSpPr>
        <p:spPr/>
        <p:txBody>
          <a:bodyPr>
            <a:normAutofit/>
          </a:bodyPr>
          <a:lstStyle/>
          <a:p>
            <a:pPr eaLnBrk="1" hangingPunct="1">
              <a:defRPr/>
            </a:pPr>
            <a:r>
              <a:rPr lang="en-US" dirty="0"/>
              <a:t>Никога не можете да доставите безупречен софтуер, освен ако не искате да платите милиони долари за продукта си. </a:t>
            </a:r>
          </a:p>
          <a:p>
            <a:pPr lvl="1" eaLnBrk="1" hangingPunct="1">
              <a:defRPr/>
            </a:pPr>
            <a:r>
              <a:rPr lang="en-US" dirty="0"/>
              <a:t>Ако доставяхте безупречен софтуер, разработката му щеше да ви отнеме толкова много време, че вероятно щеше да е остарял, преди да се появи по рафтовете. </a:t>
            </a:r>
          </a:p>
          <a:p>
            <a:pPr eaLnBrk="1" hangingPunct="1">
              <a:defRPr/>
            </a:pPr>
            <a:r>
              <a:rPr lang="en-US" dirty="0"/>
              <a:t>Въпреки това софтуерът, който доставяте, трябва да е софтуер, който прави това, за което сте го програмирали, и само това. </a:t>
            </a:r>
          </a:p>
          <a:p>
            <a:pPr lvl="1" eaLnBrk="1" hangingPunct="1">
              <a:defRPr/>
            </a:pPr>
            <a:r>
              <a:rPr lang="en-US" dirty="0"/>
              <a:t>Това не означава, че софтуерът не страда от грешки; това означава, че той не проявява поведение, което би могло да направи системата открита за атака. </a:t>
            </a:r>
          </a:p>
        </p:txBody>
      </p:sp>
    </p:spTree>
    <p:extLst>
      <p:ext uri="{BB962C8B-B14F-4D97-AF65-F5344CB8AC3E}">
        <p14:creationId xmlns:p14="http://schemas.microsoft.com/office/powerpoint/2010/main" val="1665492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Rot="1" noChangeArrowheads="1"/>
          </p:cNvSpPr>
          <p:nvPr>
            <p:ph type="title"/>
          </p:nvPr>
        </p:nvSpPr>
        <p:spPr/>
        <p:txBody>
          <a:bodyPr/>
          <a:lstStyle/>
          <a:p>
            <a:pPr eaLnBrk="1" hangingPunct="1">
              <a:defRPr/>
            </a:pPr>
            <a:r>
              <a:rPr lang="en-US" smtClean="0"/>
              <a:t>Сигурността е характеристика на продукта </a:t>
            </a:r>
          </a:p>
        </p:txBody>
      </p:sp>
      <p:sp>
        <p:nvSpPr>
          <p:cNvPr id="868355" name="Rectangle 3"/>
          <p:cNvSpPr>
            <a:spLocks noGrp="1" noChangeArrowheads="1"/>
          </p:cNvSpPr>
          <p:nvPr>
            <p:ph type="body" idx="1"/>
          </p:nvPr>
        </p:nvSpPr>
        <p:spPr>
          <a:xfrm>
            <a:off x="989012" y="1066800"/>
            <a:ext cx="10591800" cy="5562600"/>
          </a:xfrm>
        </p:spPr>
        <p:txBody>
          <a:bodyPr>
            <a:noAutofit/>
          </a:bodyPr>
          <a:lstStyle/>
          <a:p>
            <a:pPr eaLnBrk="1" hangingPunct="1">
              <a:spcBef>
                <a:spcPts val="0"/>
              </a:spcBef>
              <a:defRPr/>
            </a:pPr>
            <a:r>
              <a:rPr lang="en-US" sz="3000" dirty="0"/>
              <a:t>Трябва да поправяте грешки, които има смисъл да се поправят. </a:t>
            </a:r>
          </a:p>
          <a:p>
            <a:pPr lvl="1" eaLnBrk="1" hangingPunct="1">
              <a:spcBef>
                <a:spcPts val="0"/>
              </a:spcBef>
              <a:defRPr/>
            </a:pPr>
            <a:r>
              <a:rPr lang="en-US" sz="2700" dirty="0"/>
              <a:t>Някои от тях можете да поправите в текущата версия, но други може да поправите в следващата версия, за да можете да уведомите клиентите си за предстоящата промяна. </a:t>
            </a:r>
          </a:p>
          <a:p>
            <a:pPr eaLnBrk="1" hangingPunct="1">
              <a:spcBef>
                <a:spcPts val="0"/>
              </a:spcBef>
              <a:defRPr/>
            </a:pPr>
            <a:r>
              <a:rPr lang="en-US" sz="3000" dirty="0"/>
              <a:t>Трябва да определите толерантността си към дефекти още в началото на процеса. </a:t>
            </a:r>
          </a:p>
          <a:p>
            <a:pPr lvl="1" eaLnBrk="1" hangingPunct="1">
              <a:spcBef>
                <a:spcPts val="0"/>
              </a:spcBef>
              <a:defRPr/>
            </a:pPr>
            <a:r>
              <a:rPr lang="en-US" sz="2700" dirty="0"/>
              <a:t>Поставете високи очаквания и ниска толерантност към дефекти. </a:t>
            </a:r>
          </a:p>
          <a:p>
            <a:pPr lvl="2" eaLnBrk="1" hangingPunct="1">
              <a:spcBef>
                <a:spcPts val="0"/>
              </a:spcBef>
              <a:defRPr/>
            </a:pPr>
            <a:r>
              <a:rPr lang="en-US" sz="2300" dirty="0"/>
              <a:t>Не можете да знаете предварително всички бъдещи заплахи, затова трябва да спазвате определени най-добри практики. </a:t>
            </a:r>
          </a:p>
          <a:p>
            <a:pPr lvl="1" eaLnBrk="1" hangingPunct="1">
              <a:spcBef>
                <a:spcPts val="0"/>
              </a:spcBef>
              <a:defRPr/>
            </a:pPr>
            <a:r>
              <a:rPr lang="en-US" sz="2700" dirty="0"/>
              <a:t>Намаляването на повърхността за атаки ще намали броя на грешките, които могат да доведат до сериозни проблеми със сигурността. </a:t>
            </a:r>
          </a:p>
          <a:p>
            <a:pPr lvl="2" eaLnBrk="1" hangingPunct="1">
              <a:spcBef>
                <a:spcPts val="0"/>
              </a:spcBef>
              <a:defRPr/>
            </a:pPr>
            <a:r>
              <a:rPr lang="en-US" sz="2300" dirty="0"/>
              <a:t>Не можете да доставите перфектен софтуер, но можете лесно да повишите драстично летвата за грешки с някои подобрения в процеса.</a:t>
            </a:r>
          </a:p>
        </p:txBody>
      </p:sp>
    </p:spTree>
    <p:extLst>
      <p:ext uri="{BB962C8B-B14F-4D97-AF65-F5344CB8AC3E}">
        <p14:creationId xmlns:p14="http://schemas.microsoft.com/office/powerpoint/2010/main" val="1022359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p:cNvSpPr>
            <a:spLocks noGrp="1" noRot="1" noChangeArrowheads="1"/>
          </p:cNvSpPr>
          <p:nvPr>
            <p:ph type="title"/>
          </p:nvPr>
        </p:nvSpPr>
        <p:spPr/>
        <p:txBody>
          <a:bodyPr/>
          <a:lstStyle/>
          <a:p>
            <a:pPr eaLnBrk="1" hangingPunct="1">
              <a:defRPr/>
            </a:pPr>
            <a:r>
              <a:rPr lang="en-US" smtClean="0"/>
              <a:t>Сигурност във фаза на разработка</a:t>
            </a:r>
            <a:endParaRPr lang="bg-BG" smtClean="0"/>
          </a:p>
        </p:txBody>
      </p:sp>
      <p:sp>
        <p:nvSpPr>
          <p:cNvPr id="869379" name="Rectangle 3"/>
          <p:cNvSpPr>
            <a:spLocks noGrp="1" noChangeArrowheads="1"/>
          </p:cNvSpPr>
          <p:nvPr>
            <p:ph type="body" idx="1"/>
          </p:nvPr>
        </p:nvSpPr>
        <p:spPr/>
        <p:txBody>
          <a:bodyPr/>
          <a:lstStyle/>
          <a:p>
            <a:pPr eaLnBrk="1" hangingPunct="1">
              <a:defRPr/>
            </a:pPr>
            <a:r>
              <a:rPr lang="en-US" sz="2800"/>
              <a:t>Определете кой може да проверява нов код </a:t>
            </a:r>
          </a:p>
          <a:p>
            <a:pPr eaLnBrk="1" hangingPunct="1">
              <a:defRPr/>
            </a:pPr>
            <a:r>
              <a:rPr lang="en-US" sz="2800"/>
              <a:t>Партньорска проверка на сигурността на новия код </a:t>
            </a:r>
          </a:p>
          <a:p>
            <a:pPr eaLnBrk="1" hangingPunct="1">
              <a:defRPr/>
            </a:pPr>
            <a:r>
              <a:rPr lang="en-US" sz="2800"/>
              <a:t>Определяне на насоки за безопасно кодиране </a:t>
            </a:r>
          </a:p>
          <a:p>
            <a:pPr eaLnBrk="1" hangingPunct="1">
              <a:defRPr/>
            </a:pPr>
            <a:r>
              <a:rPr lang="en-US" sz="2800"/>
              <a:t>Преглед на стари дефекти </a:t>
            </a:r>
          </a:p>
          <a:p>
            <a:pPr eaLnBrk="1" hangingPunct="1">
              <a:defRPr/>
            </a:pPr>
            <a:r>
              <a:rPr lang="en-US" sz="2800"/>
              <a:t>Външен преглед на сигурността </a:t>
            </a:r>
          </a:p>
          <a:p>
            <a:pPr eaLnBrk="1" hangingPunct="1">
              <a:defRPr/>
            </a:pPr>
            <a:r>
              <a:rPr lang="en-US" sz="2800"/>
              <a:t>Натиск за сигурност </a:t>
            </a:r>
          </a:p>
          <a:p>
            <a:pPr eaLnBrk="1" hangingPunct="1">
              <a:defRPr/>
            </a:pPr>
            <a:r>
              <a:rPr lang="en-US" sz="2800"/>
              <a:t>Внимавайте за броя на грешките си </a:t>
            </a:r>
          </a:p>
          <a:p>
            <a:pPr eaLnBrk="1" hangingPunct="1">
              <a:defRPr/>
            </a:pPr>
            <a:r>
              <a:rPr lang="en-US" sz="2800"/>
              <a:t>Проследяване на метриките на грешки </a:t>
            </a:r>
          </a:p>
        </p:txBody>
      </p:sp>
    </p:spTree>
    <p:extLst>
      <p:ext uri="{BB962C8B-B14F-4D97-AF65-F5344CB8AC3E}">
        <p14:creationId xmlns:p14="http://schemas.microsoft.com/office/powerpoint/2010/main" val="1716836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Внедряване на софтуерна сигурност</a:t>
            </a:r>
            <a:endParaRPr lang="bg-BG" dirty="0"/>
          </a:p>
        </p:txBody>
      </p:sp>
      <p:sp>
        <p:nvSpPr>
          <p:cNvPr id="3" name="Content Placeholder 2"/>
          <p:cNvSpPr>
            <a:spLocks noGrp="1"/>
          </p:cNvSpPr>
          <p:nvPr>
            <p:ph idx="1"/>
          </p:nvPr>
        </p:nvSpPr>
        <p:spPr/>
        <p:txBody>
          <a:bodyPr>
            <a:noAutofit/>
          </a:bodyPr>
          <a:lstStyle/>
          <a:p>
            <a:pPr>
              <a:spcBef>
                <a:spcPts val="0"/>
              </a:spcBef>
            </a:pPr>
            <a:r>
              <a:rPr lang="en-US" dirty="0"/>
              <a:t>Важно е да се прилагат най-добрите практики за сигурност. Ето няколко примера:</a:t>
            </a:r>
          </a:p>
          <a:p>
            <a:pPr lvl="1">
              <a:spcBef>
                <a:spcPts val="0"/>
              </a:spcBef>
            </a:pPr>
            <a:r>
              <a:rPr lang="en-US" dirty="0"/>
              <a:t>Прилагане на </a:t>
            </a:r>
            <a:r>
              <a:rPr lang="en-US" dirty="0"/>
              <a:t>най-малката привилегия: </a:t>
            </a:r>
            <a:endParaRPr lang="en-US" dirty="0"/>
          </a:p>
          <a:p>
            <a:pPr lvl="2">
              <a:spcBef>
                <a:spcPts val="0"/>
              </a:spcBef>
            </a:pPr>
            <a:r>
              <a:rPr lang="en-US" dirty="0"/>
              <a:t>Най-малките </a:t>
            </a:r>
            <a:r>
              <a:rPr lang="en-US" dirty="0"/>
              <a:t>привилегии се отнасят до практиката на предоставяне на ограничен достъп на потребителите на софтуер до дадена програма. </a:t>
            </a:r>
            <a:endParaRPr lang="en-US" dirty="0"/>
          </a:p>
          <a:p>
            <a:pPr lvl="2">
              <a:spcBef>
                <a:spcPts val="0"/>
              </a:spcBef>
            </a:pPr>
            <a:r>
              <a:rPr lang="en-US" dirty="0"/>
              <a:t>Хакерът няма да може да получи достъп до функции, права и контроли, които потребителят няма, което помага да се сведе до минимум въздействието на атаката.</a:t>
            </a:r>
          </a:p>
          <a:p>
            <a:pPr lvl="1">
              <a:spcBef>
                <a:spcPts val="0"/>
              </a:spcBef>
            </a:pPr>
            <a:r>
              <a:rPr lang="en-US" dirty="0"/>
              <a:t>Криптиране на софтуерни данни: </a:t>
            </a:r>
            <a:endParaRPr lang="en-US" dirty="0"/>
          </a:p>
          <a:p>
            <a:pPr lvl="2">
              <a:spcBef>
                <a:spcPts val="0"/>
              </a:spcBef>
            </a:pPr>
            <a:r>
              <a:rPr lang="en-US" dirty="0"/>
              <a:t>Криптирането на </a:t>
            </a:r>
            <a:r>
              <a:rPr lang="en-US" dirty="0"/>
              <a:t>данни </a:t>
            </a:r>
            <a:r>
              <a:rPr lang="en-US" dirty="0"/>
              <a:t>превръща четимите данни в нечетим, защитен формат. </a:t>
            </a:r>
            <a:endParaRPr lang="en-US" dirty="0"/>
          </a:p>
          <a:p>
            <a:pPr lvl="2">
              <a:spcBef>
                <a:spcPts val="0"/>
              </a:spcBef>
            </a:pPr>
            <a:r>
              <a:rPr lang="en-US" dirty="0"/>
              <a:t>Ако </a:t>
            </a:r>
            <a:r>
              <a:rPr lang="en-US" dirty="0"/>
              <a:t>хакер получи достъп до тази информация, той няма да може да я използва, ако не разполага с ключа за криптиране. </a:t>
            </a:r>
            <a:endParaRPr lang="en-US" dirty="0"/>
          </a:p>
          <a:p>
            <a:pPr lvl="2">
              <a:spcBef>
                <a:spcPts val="0"/>
              </a:spcBef>
            </a:pPr>
            <a:r>
              <a:rPr lang="en-US" dirty="0"/>
              <a:t>Уверете се, че криптирате всички софтуерни данни в състояние на покой и при пренос</a:t>
            </a:r>
            <a:r>
              <a:rPr lang="en-US" dirty="0"/>
              <a:t>.</a:t>
            </a:r>
            <a:endParaRPr lang="en-US" dirty="0"/>
          </a:p>
        </p:txBody>
      </p:sp>
    </p:spTree>
    <p:extLst>
      <p:ext uri="{BB962C8B-B14F-4D97-AF65-F5344CB8AC3E}">
        <p14:creationId xmlns:p14="http://schemas.microsoft.com/office/powerpoint/2010/main" val="394076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Внедряване на софтуерна сигурност</a:t>
            </a:r>
            <a:endParaRPr lang="bg-BG" dirty="0"/>
          </a:p>
        </p:txBody>
      </p:sp>
      <p:sp>
        <p:nvSpPr>
          <p:cNvPr id="3" name="Content Placeholder 2"/>
          <p:cNvSpPr>
            <a:spLocks noGrp="1"/>
          </p:cNvSpPr>
          <p:nvPr>
            <p:ph idx="1"/>
          </p:nvPr>
        </p:nvSpPr>
        <p:spPr/>
        <p:txBody>
          <a:bodyPr>
            <a:normAutofit lnSpcReduction="10000"/>
          </a:bodyPr>
          <a:lstStyle/>
          <a:p>
            <a:r>
              <a:rPr lang="en-US" dirty="0"/>
              <a:t>Важно е да се прилагат най-добрите практики за сигурност</a:t>
            </a:r>
            <a:r>
              <a:rPr lang="en-US" dirty="0"/>
              <a:t>. </a:t>
            </a:r>
            <a:endParaRPr lang="bg-BG" dirty="0" smtClean="0"/>
          </a:p>
          <a:p>
            <a:r>
              <a:rPr lang="bg-BG" dirty="0" smtClean="0"/>
              <a:t>П</a:t>
            </a:r>
            <a:r>
              <a:rPr lang="en-US" dirty="0" err="1" smtClean="0"/>
              <a:t>ример</a:t>
            </a:r>
            <a:r>
              <a:rPr lang="bg-BG" dirty="0" smtClean="0"/>
              <a:t>и</a:t>
            </a:r>
            <a:r>
              <a:rPr lang="en-US" dirty="0" smtClean="0"/>
              <a:t>:</a:t>
            </a:r>
            <a:endParaRPr lang="en-US" dirty="0"/>
          </a:p>
          <a:p>
            <a:pPr lvl="1"/>
            <a:r>
              <a:rPr lang="en-US" dirty="0"/>
              <a:t>Автоматизиране на </a:t>
            </a:r>
            <a:r>
              <a:rPr lang="en-US" dirty="0"/>
              <a:t>задачите по сигурността на софтуера: </a:t>
            </a:r>
            <a:endParaRPr lang="en-US" dirty="0"/>
          </a:p>
          <a:p>
            <a:pPr lvl="2"/>
            <a:r>
              <a:rPr lang="en-US" dirty="0"/>
              <a:t>Трудно е да се следи цялата ви инфраструктура за уязвимости. </a:t>
            </a:r>
            <a:endParaRPr lang="en-US" dirty="0"/>
          </a:p>
          <a:p>
            <a:pPr lvl="2"/>
            <a:r>
              <a:rPr lang="en-US" dirty="0"/>
              <a:t>Помислете дали да не </a:t>
            </a:r>
            <a:r>
              <a:rPr lang="en-US" dirty="0"/>
              <a:t>инвестирате в софтуер за сигурност, който изпълнява тези задачи вместо вас. </a:t>
            </a:r>
            <a:endParaRPr lang="en-US" dirty="0"/>
          </a:p>
          <a:p>
            <a:pPr lvl="2"/>
            <a:r>
              <a:rPr lang="en-US" dirty="0"/>
              <a:t>С </a:t>
            </a:r>
            <a:r>
              <a:rPr lang="en-US" dirty="0"/>
              <a:t>автоматизацията можете да намалите човешките грешки и да увеличите обхвата на протокола за сигурност.</a:t>
            </a:r>
          </a:p>
          <a:p>
            <a:pPr lvl="1"/>
            <a:r>
              <a:rPr lang="en-US" dirty="0"/>
              <a:t>Провеждане на </a:t>
            </a:r>
            <a:r>
              <a:rPr lang="en-US" dirty="0"/>
              <a:t>обучение на служителите: </a:t>
            </a:r>
            <a:endParaRPr lang="en-US" dirty="0"/>
          </a:p>
          <a:p>
            <a:pPr lvl="2"/>
            <a:r>
              <a:rPr lang="en-US" dirty="0"/>
              <a:t>Всички </a:t>
            </a:r>
            <a:r>
              <a:rPr lang="en-US" dirty="0"/>
              <a:t>служители трябва да са наясно с важността на софтуерната сигурност и да знаят как да защитят себе си и своите данни. </a:t>
            </a:r>
            <a:endParaRPr lang="en-US" dirty="0"/>
          </a:p>
          <a:p>
            <a:pPr lvl="2"/>
            <a:r>
              <a:rPr lang="en-US" dirty="0"/>
              <a:t>Екипите по сигурността на </a:t>
            </a:r>
            <a:r>
              <a:rPr lang="en-US" dirty="0"/>
              <a:t>софтуера </a:t>
            </a:r>
            <a:r>
              <a:rPr lang="en-US" dirty="0"/>
              <a:t>могат да организират редовни обучения, за да поддържат всички в течение.</a:t>
            </a:r>
            <a:endParaRPr lang="bg-BG" dirty="0"/>
          </a:p>
        </p:txBody>
      </p:sp>
    </p:spTree>
    <p:extLst>
      <p:ext uri="{BB962C8B-B14F-4D97-AF65-F5344CB8AC3E}">
        <p14:creationId xmlns:p14="http://schemas.microsoft.com/office/powerpoint/2010/main" val="3462334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Внедряване на софтуерна сигурност</a:t>
            </a:r>
            <a:endParaRPr lang="bg-BG" dirty="0"/>
          </a:p>
        </p:txBody>
      </p:sp>
      <p:sp>
        <p:nvSpPr>
          <p:cNvPr id="3" name="Content Placeholder 2"/>
          <p:cNvSpPr>
            <a:spLocks noGrp="1"/>
          </p:cNvSpPr>
          <p:nvPr>
            <p:ph idx="1"/>
          </p:nvPr>
        </p:nvSpPr>
        <p:spPr/>
        <p:txBody>
          <a:bodyPr vert="horz" lIns="91440" tIns="45720" rIns="91440" bIns="45720" rtlCol="0">
            <a:normAutofit/>
          </a:bodyPr>
          <a:lstStyle/>
          <a:p>
            <a:r>
              <a:rPr lang="en-US" dirty="0"/>
              <a:t>Важно е да се прилагат най-добрите практики за сигурност. </a:t>
            </a:r>
            <a:endParaRPr lang="bg-BG" dirty="0"/>
          </a:p>
          <a:p>
            <a:r>
              <a:rPr lang="bg-BG" dirty="0"/>
              <a:t>П</a:t>
            </a:r>
            <a:r>
              <a:rPr lang="en-US" dirty="0" err="1"/>
              <a:t>ример</a:t>
            </a:r>
            <a:r>
              <a:rPr lang="bg-BG" dirty="0"/>
              <a:t>и</a:t>
            </a:r>
            <a:r>
              <a:rPr lang="en-US" dirty="0"/>
              <a:t>:</a:t>
            </a:r>
            <a:endParaRPr lang="en-US" dirty="0"/>
          </a:p>
          <a:p>
            <a:pPr lvl="1"/>
            <a:r>
              <a:rPr lang="en-US" dirty="0"/>
              <a:t>Въведете </a:t>
            </a:r>
            <a:r>
              <a:rPr lang="en-US" dirty="0"/>
              <a:t>двуфакторно удостоверяване: </a:t>
            </a:r>
            <a:endParaRPr lang="en-US" dirty="0"/>
          </a:p>
          <a:p>
            <a:pPr lvl="2"/>
            <a:r>
              <a:rPr lang="en-US" dirty="0"/>
              <a:t>Този </a:t>
            </a:r>
            <a:r>
              <a:rPr lang="en-US" dirty="0"/>
              <a:t>протокол за сигурност изисква потребителят да предостави две части от информацията, за да влезе в своя акаунт, например като изпрати текстово съобщение на телефона си. </a:t>
            </a:r>
            <a:endParaRPr lang="en-US" dirty="0"/>
          </a:p>
          <a:p>
            <a:pPr lvl="2"/>
            <a:r>
              <a:rPr lang="en-US" dirty="0"/>
              <a:t>Хакерът няма да може да получи достъп до системата, дори ако разполага с един набор от идентификационни данни</a:t>
            </a:r>
            <a:r>
              <a:rPr lang="en-US" dirty="0"/>
              <a:t>.</a:t>
            </a:r>
            <a:endParaRPr lang="en-US" dirty="0"/>
          </a:p>
        </p:txBody>
      </p:sp>
    </p:spTree>
    <p:extLst>
      <p:ext uri="{BB962C8B-B14F-4D97-AF65-F5344CB8AC3E}">
        <p14:creationId xmlns:p14="http://schemas.microsoft.com/office/powerpoint/2010/main" val="658868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Rot="1" noChangeArrowheads="1"/>
          </p:cNvSpPr>
          <p:nvPr>
            <p:ph type="title"/>
          </p:nvPr>
        </p:nvSpPr>
        <p:spPr/>
        <p:txBody>
          <a:bodyPr/>
          <a:lstStyle/>
          <a:p>
            <a:pPr eaLnBrk="1" hangingPunct="1">
              <a:defRPr/>
            </a:pPr>
            <a:r>
              <a:rPr lang="en-US" smtClean="0"/>
              <a:t>Сигурност Push</a:t>
            </a:r>
            <a:endParaRPr lang="bg-BG" smtClean="0"/>
          </a:p>
        </p:txBody>
      </p:sp>
      <p:sp>
        <p:nvSpPr>
          <p:cNvPr id="870403" name="Rectangle 3"/>
          <p:cNvSpPr>
            <a:spLocks noGrp="1" noChangeArrowheads="1"/>
          </p:cNvSpPr>
          <p:nvPr>
            <p:ph type="body" idx="1"/>
          </p:nvPr>
        </p:nvSpPr>
        <p:spPr>
          <a:xfrm>
            <a:off x="1065212" y="1066800"/>
            <a:ext cx="10744140" cy="5562600"/>
          </a:xfrm>
        </p:spPr>
        <p:txBody>
          <a:bodyPr>
            <a:normAutofit fontScale="92500" lnSpcReduction="10000"/>
          </a:bodyPr>
          <a:lstStyle/>
          <a:p>
            <a:pPr>
              <a:lnSpc>
                <a:spcPct val="110000"/>
              </a:lnSpc>
              <a:spcBef>
                <a:spcPts val="0"/>
              </a:spcBef>
              <a:defRPr/>
            </a:pPr>
            <a:r>
              <a:rPr lang="en-US" sz="2800" dirty="0"/>
              <a:t>Целите на тези мерки за сигурност включват следното:</a:t>
            </a:r>
          </a:p>
          <a:p>
            <a:pPr lvl="1">
              <a:lnSpc>
                <a:spcPct val="110000"/>
              </a:lnSpc>
              <a:spcBef>
                <a:spcPts val="0"/>
              </a:spcBef>
              <a:defRPr/>
            </a:pPr>
            <a:r>
              <a:rPr lang="en-US" sz="2400" dirty="0"/>
              <a:t>Повишаване на осведомеността за сигурността на всички членове на екипа.</a:t>
            </a:r>
          </a:p>
          <a:p>
            <a:pPr lvl="1">
              <a:lnSpc>
                <a:spcPct val="110000"/>
              </a:lnSpc>
              <a:spcBef>
                <a:spcPts val="0"/>
              </a:spcBef>
              <a:defRPr/>
            </a:pPr>
            <a:r>
              <a:rPr lang="en-US" sz="2400" dirty="0"/>
              <a:t>Намиране и отстраняване на проблеми в кода, а в някои случаи и в дизайна на продукта.</a:t>
            </a:r>
          </a:p>
          <a:p>
            <a:pPr lvl="1">
              <a:lnSpc>
                <a:spcPct val="110000"/>
              </a:lnSpc>
              <a:spcBef>
                <a:spcPts val="0"/>
              </a:spcBef>
              <a:defRPr/>
            </a:pPr>
            <a:r>
              <a:rPr lang="en-US" sz="2400" dirty="0"/>
              <a:t>Отървете се от някои лоши навици.</a:t>
            </a:r>
          </a:p>
          <a:p>
            <a:pPr lvl="1">
              <a:lnSpc>
                <a:spcPct val="110000"/>
              </a:lnSpc>
              <a:spcBef>
                <a:spcPts val="0"/>
              </a:spcBef>
              <a:defRPr/>
            </a:pPr>
            <a:r>
              <a:rPr lang="en-US" sz="2400" dirty="0"/>
              <a:t>Изграждане на критична маса от служители по сигурността в екипа.</a:t>
            </a:r>
          </a:p>
          <a:p>
            <a:pPr>
              <a:lnSpc>
                <a:spcPct val="110000"/>
              </a:lnSpc>
              <a:spcBef>
                <a:spcPts val="0"/>
              </a:spcBef>
              <a:defRPr/>
            </a:pPr>
            <a:r>
              <a:rPr lang="en-US" sz="2800" dirty="0"/>
              <a:t>Най-добрите </a:t>
            </a:r>
            <a:r>
              <a:rPr lang="en-US" sz="2800" dirty="0" smtClean="0"/>
              <a:t>практики </a:t>
            </a:r>
          </a:p>
          <a:p>
            <a:pPr lvl="1">
              <a:lnSpc>
                <a:spcPct val="110000"/>
              </a:lnSpc>
              <a:spcBef>
                <a:spcPts val="0"/>
              </a:spcBef>
              <a:defRPr/>
            </a:pPr>
            <a:r>
              <a:rPr lang="en-US" sz="2400" dirty="0"/>
              <a:t>Първо извършете моделиране на заплахите. </a:t>
            </a:r>
          </a:p>
          <a:p>
            <a:pPr lvl="1">
              <a:lnSpc>
                <a:spcPct val="110000"/>
              </a:lnSpc>
              <a:spcBef>
                <a:spcPts val="0"/>
              </a:spcBef>
              <a:defRPr/>
            </a:pPr>
            <a:r>
              <a:rPr lang="en-US" sz="2400" dirty="0"/>
              <a:t>Поддържайте потока от информация. </a:t>
            </a:r>
          </a:p>
          <a:p>
            <a:pPr lvl="1">
              <a:lnSpc>
                <a:spcPct val="110000"/>
              </a:lnSpc>
              <a:spcBef>
                <a:spcPts val="0"/>
              </a:spcBef>
              <a:defRPr/>
            </a:pPr>
            <a:r>
              <a:rPr lang="en-US" sz="2400" dirty="0"/>
              <a:t>Създайте основен екип по сигурността, който се събира всеки ден, за да разглежда грешки и проблеми и да търси модели на уязвимост. </a:t>
            </a:r>
          </a:p>
          <a:p>
            <a:pPr lvl="1">
              <a:lnSpc>
                <a:spcPct val="110000"/>
              </a:lnSpc>
              <a:spcBef>
                <a:spcPts val="0"/>
              </a:spcBef>
              <a:defRPr/>
            </a:pPr>
            <a:r>
              <a:rPr lang="en-US" sz="2400" dirty="0"/>
              <a:t>Същият екип трябва да има пощенски списък или някакъв електронен механизъм за обсъждане, който да позволява на всички членове на екипа да задават въпроси, свързани със сигурността. </a:t>
            </a:r>
          </a:p>
          <a:p>
            <a:pPr lvl="1">
              <a:lnSpc>
                <a:spcPct val="110000"/>
              </a:lnSpc>
              <a:spcBef>
                <a:spcPts val="0"/>
              </a:spcBef>
              <a:defRPr/>
            </a:pPr>
            <a:r>
              <a:rPr lang="en-US" sz="2400" dirty="0"/>
              <a:t>Представете награди за най-добри грешки, най-много намерени грешки и т.н.</a:t>
            </a:r>
          </a:p>
        </p:txBody>
      </p:sp>
    </p:spTree>
    <p:extLst>
      <p:ext uri="{BB962C8B-B14F-4D97-AF65-F5344CB8AC3E}">
        <p14:creationId xmlns:p14="http://schemas.microsoft.com/office/powerpoint/2010/main" val="3349721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Rectangle 2"/>
          <p:cNvSpPr>
            <a:spLocks noGrp="1" noRot="1" noChangeArrowheads="1"/>
          </p:cNvSpPr>
          <p:nvPr>
            <p:ph type="title"/>
          </p:nvPr>
        </p:nvSpPr>
        <p:spPr/>
        <p:txBody>
          <a:bodyPr/>
          <a:lstStyle/>
          <a:p>
            <a:pPr eaLnBrk="1" hangingPunct="1">
              <a:defRPr/>
            </a:pPr>
            <a:r>
              <a:rPr lang="en-US" smtClean="0"/>
              <a:t>Сигурност във фазата на изпитване</a:t>
            </a:r>
            <a:endParaRPr lang="bg-BG" smtClean="0"/>
          </a:p>
        </p:txBody>
      </p:sp>
      <p:sp>
        <p:nvSpPr>
          <p:cNvPr id="872451" name="Rectangle 3"/>
          <p:cNvSpPr>
            <a:spLocks noGrp="1" noChangeArrowheads="1"/>
          </p:cNvSpPr>
          <p:nvPr>
            <p:ph type="body" idx="1"/>
          </p:nvPr>
        </p:nvSpPr>
        <p:spPr>
          <a:xfrm>
            <a:off x="912811" y="990600"/>
            <a:ext cx="10668001" cy="5638800"/>
          </a:xfrm>
        </p:spPr>
        <p:txBody>
          <a:bodyPr>
            <a:noAutofit/>
          </a:bodyPr>
          <a:lstStyle/>
          <a:p>
            <a:pPr eaLnBrk="1" hangingPunct="1">
              <a:spcBef>
                <a:spcPts val="0"/>
              </a:spcBef>
              <a:defRPr/>
            </a:pPr>
            <a:r>
              <a:rPr lang="en-US" sz="2800" dirty="0"/>
              <a:t>Тестването на сигурността е толкова важно. </a:t>
            </a:r>
          </a:p>
          <a:p>
            <a:pPr lvl="1" eaLnBrk="1" hangingPunct="1">
              <a:spcBef>
                <a:spcPts val="0"/>
              </a:spcBef>
              <a:defRPr/>
            </a:pPr>
            <a:r>
              <a:rPr lang="en-US" sz="2400" dirty="0"/>
              <a:t>Подобно на всички останали членове на екипа, които се стремят към сигурна разработка, тестерите трябва да бъдат научени как действат нападателите и да усвоят същите техники за сигурност като разработчиците. </a:t>
            </a:r>
          </a:p>
          <a:p>
            <a:pPr eaLnBrk="1" hangingPunct="1">
              <a:spcBef>
                <a:spcPts val="0"/>
              </a:spcBef>
              <a:defRPr/>
            </a:pPr>
            <a:r>
              <a:rPr lang="en-US" sz="2800" dirty="0"/>
              <a:t>Тестването често неправилно се разглежда като начин за "тестване" на сигурността. </a:t>
            </a:r>
          </a:p>
          <a:p>
            <a:pPr lvl="1" eaLnBrk="1" hangingPunct="1">
              <a:spcBef>
                <a:spcPts val="0"/>
              </a:spcBef>
              <a:defRPr/>
            </a:pPr>
            <a:r>
              <a:rPr lang="en-US" sz="2400" dirty="0"/>
              <a:t>Ролята на тестовете за сигурност е да проверят дали дизайнът и кодът на системата могат да устоят на атака. </a:t>
            </a:r>
          </a:p>
          <a:p>
            <a:pPr eaLnBrk="1" hangingPunct="1">
              <a:spcBef>
                <a:spcPts val="0"/>
              </a:spcBef>
              <a:defRPr/>
            </a:pPr>
            <a:r>
              <a:rPr lang="en-US" sz="2800" dirty="0"/>
              <a:t>Определянето на това, че функциите работят, както е обявено, все още е изключително важна част от процеса, но сигурният продукт няма други "функции", които биха могли да доведат до уязвимости в сигурността. </a:t>
            </a:r>
          </a:p>
          <a:p>
            <a:pPr lvl="1" eaLnBrk="1" hangingPunct="1">
              <a:spcBef>
                <a:spcPts val="0"/>
              </a:spcBef>
              <a:defRPr/>
            </a:pPr>
            <a:r>
              <a:rPr lang="en-US" sz="2400" dirty="0"/>
              <a:t>Добрият тестер по сигурността търси и използва тези допълнителни възможности. </a:t>
            </a:r>
          </a:p>
        </p:txBody>
      </p:sp>
    </p:spTree>
    <p:extLst>
      <p:ext uri="{BB962C8B-B14F-4D97-AF65-F5344CB8AC3E}">
        <p14:creationId xmlns:p14="http://schemas.microsoft.com/office/powerpoint/2010/main" val="1138955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Тестване на сигурността на </a:t>
            </a:r>
            <a:r>
              <a:rPr lang="en-US" dirty="0"/>
              <a:t>софтуера</a:t>
            </a:r>
            <a:endParaRPr lang="bg-BG" dirty="0"/>
          </a:p>
        </p:txBody>
      </p:sp>
      <p:sp>
        <p:nvSpPr>
          <p:cNvPr id="3" name="Content Placeholder 2"/>
          <p:cNvSpPr>
            <a:spLocks noGrp="1"/>
          </p:cNvSpPr>
          <p:nvPr>
            <p:ph idx="1"/>
          </p:nvPr>
        </p:nvSpPr>
        <p:spPr/>
        <p:txBody>
          <a:bodyPr>
            <a:noAutofit/>
          </a:bodyPr>
          <a:lstStyle/>
          <a:p>
            <a:pPr>
              <a:spcBef>
                <a:spcPts val="0"/>
              </a:spcBef>
            </a:pPr>
            <a:r>
              <a:rPr lang="en-US" sz="2800" dirty="0"/>
              <a:t>Статично тестване на сигурността на приложенията: </a:t>
            </a:r>
            <a:endParaRPr lang="en-US" sz="2800" dirty="0"/>
          </a:p>
          <a:p>
            <a:pPr lvl="1">
              <a:spcBef>
                <a:spcPts val="0"/>
              </a:spcBef>
            </a:pPr>
            <a:r>
              <a:rPr lang="en-US" sz="2400" dirty="0"/>
              <a:t>Този </a:t>
            </a:r>
            <a:r>
              <a:rPr lang="en-US" sz="2400" dirty="0"/>
              <a:t>инструмент изследва изходния код в състояние на покой и маркира уязвимости, които разработчиците трябва да отстранят.</a:t>
            </a:r>
          </a:p>
          <a:p>
            <a:pPr>
              <a:spcBef>
                <a:spcPts val="0"/>
              </a:spcBef>
            </a:pPr>
            <a:r>
              <a:rPr lang="en-US" sz="2800" dirty="0"/>
              <a:t>Динамично тестване на сигурността на приложенията: </a:t>
            </a:r>
            <a:endParaRPr lang="en-US" sz="2800" dirty="0"/>
          </a:p>
          <a:p>
            <a:pPr lvl="1">
              <a:spcBef>
                <a:spcPts val="0"/>
              </a:spcBef>
            </a:pPr>
            <a:r>
              <a:rPr lang="en-US" sz="2400" dirty="0"/>
              <a:t>Този </a:t>
            </a:r>
            <a:r>
              <a:rPr lang="en-US" sz="2400" dirty="0"/>
              <a:t>инструмент изследва кода на дадено приложение, докато то работи, и открива слабости в софтуера.</a:t>
            </a:r>
          </a:p>
          <a:p>
            <a:pPr>
              <a:spcBef>
                <a:spcPts val="0"/>
              </a:spcBef>
            </a:pPr>
            <a:r>
              <a:rPr lang="en-US" sz="2800" dirty="0"/>
              <a:t>Анализ на </a:t>
            </a:r>
            <a:r>
              <a:rPr lang="en-US" sz="2800" dirty="0"/>
              <a:t>състава на софтуера </a:t>
            </a:r>
          </a:p>
          <a:p>
            <a:pPr lvl="1">
              <a:spcBef>
                <a:spcPts val="0"/>
              </a:spcBef>
            </a:pPr>
            <a:r>
              <a:rPr lang="en-US" sz="2400" dirty="0"/>
              <a:t>Този </a:t>
            </a:r>
            <a:r>
              <a:rPr lang="en-US" sz="2400" dirty="0"/>
              <a:t>инструмент проверява за уязвимости спрямо насоките за управление на даден софтуер. Анализът на състава на софтуера е особено ценен за софтуер с отворен код.</a:t>
            </a:r>
          </a:p>
          <a:p>
            <a:pPr>
              <a:spcBef>
                <a:spcPts val="0"/>
              </a:spcBef>
            </a:pPr>
            <a:r>
              <a:rPr lang="en-US" sz="2800" dirty="0"/>
              <a:t>Тестване на </a:t>
            </a:r>
            <a:r>
              <a:rPr lang="en-US" sz="2800" dirty="0"/>
              <a:t>сигурността на мобилни приложения </a:t>
            </a:r>
          </a:p>
          <a:p>
            <a:pPr lvl="1">
              <a:spcBef>
                <a:spcPts val="0"/>
              </a:spcBef>
            </a:pPr>
            <a:r>
              <a:rPr lang="en-US" sz="2400" dirty="0"/>
              <a:t>Този </a:t>
            </a:r>
            <a:r>
              <a:rPr lang="en-US" sz="2400" dirty="0"/>
              <a:t>инструмент анализира мобилния код, за да идентифицира конкретни уязвимости, които могат да доведат до уникални рискове за сигурността, като например неправилно използване на платформата и несигурно съхранение на данни.</a:t>
            </a:r>
            <a:endParaRPr lang="bg-BG" sz="2400" dirty="0"/>
          </a:p>
        </p:txBody>
      </p:sp>
    </p:spTree>
    <p:extLst>
      <p:ext uri="{BB962C8B-B14F-4D97-AF65-F5344CB8AC3E}">
        <p14:creationId xmlns:p14="http://schemas.microsoft.com/office/powerpoint/2010/main" val="2895396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Rectangle 2"/>
          <p:cNvSpPr>
            <a:spLocks noGrp="1" noRot="1" noChangeArrowheads="1"/>
          </p:cNvSpPr>
          <p:nvPr>
            <p:ph type="title"/>
          </p:nvPr>
        </p:nvSpPr>
        <p:spPr/>
        <p:txBody>
          <a:bodyPr/>
          <a:lstStyle/>
          <a:p>
            <a:pPr eaLnBrk="1" hangingPunct="1">
              <a:defRPr/>
            </a:pPr>
            <a:r>
              <a:rPr lang="en-US" smtClean="0"/>
              <a:t>Сигурност във фазите на поддръжка</a:t>
            </a:r>
          </a:p>
        </p:txBody>
      </p:sp>
      <p:sp>
        <p:nvSpPr>
          <p:cNvPr id="873475" name="Rectangle 3"/>
          <p:cNvSpPr>
            <a:spLocks noGrp="1" noChangeArrowheads="1"/>
          </p:cNvSpPr>
          <p:nvPr>
            <p:ph type="body" idx="1"/>
          </p:nvPr>
        </p:nvSpPr>
        <p:spPr>
          <a:xfrm>
            <a:off x="989012" y="1143000"/>
            <a:ext cx="10591800" cy="5486400"/>
          </a:xfrm>
        </p:spPr>
        <p:txBody>
          <a:bodyPr>
            <a:normAutofit/>
          </a:bodyPr>
          <a:lstStyle/>
          <a:p>
            <a:pPr>
              <a:spcBef>
                <a:spcPts val="0"/>
              </a:spcBef>
              <a:defRPr/>
            </a:pPr>
            <a:r>
              <a:rPr lang="en-US" dirty="0" smtClean="0"/>
              <a:t>Как разбирате кога сте готови? </a:t>
            </a:r>
          </a:p>
          <a:p>
            <a:pPr lvl="1">
              <a:spcBef>
                <a:spcPts val="0"/>
              </a:spcBef>
              <a:defRPr/>
            </a:pPr>
            <a:r>
              <a:rPr lang="en-US" dirty="0" smtClean="0"/>
              <a:t>Работата е приключена, когато няма известни уязвимости в сигурността, които да компрометират целите за сигурност, определени по време на фазата на проектиране. </a:t>
            </a:r>
          </a:p>
          <a:p>
            <a:pPr lvl="1">
              <a:spcBef>
                <a:spcPts val="0"/>
              </a:spcBef>
              <a:defRPr/>
            </a:pPr>
            <a:r>
              <a:rPr lang="en-US" dirty="0" smtClean="0"/>
              <a:t>С наближаването на изпращането става все по-трудно да се отстраняват каквито и да било проблеми, без да се нарушава графикът. </a:t>
            </a:r>
          </a:p>
          <a:p>
            <a:pPr lvl="2">
              <a:spcBef>
                <a:spcPts val="0"/>
              </a:spcBef>
              <a:defRPr/>
            </a:pPr>
            <a:r>
              <a:rPr lang="en-US" sz="2000" dirty="0"/>
              <a:t>Ако откриете сериозен проблем със сигурността, може да се наложи да промените графика, за да се приспособите към проблема. </a:t>
            </a:r>
          </a:p>
          <a:p>
            <a:pPr lvl="1">
              <a:spcBef>
                <a:spcPts val="0"/>
              </a:spcBef>
              <a:defRPr/>
            </a:pPr>
            <a:r>
              <a:rPr lang="en-US" dirty="0" smtClean="0"/>
              <a:t>Помислете за добавяне на списък с известни проблеми със сигурността във файл readme, но имайте предвид, че хората често не четат файлове readme. </a:t>
            </a:r>
          </a:p>
        </p:txBody>
      </p:sp>
    </p:spTree>
    <p:extLst>
      <p:ext uri="{BB962C8B-B14F-4D97-AF65-F5344CB8AC3E}">
        <p14:creationId xmlns:p14="http://schemas.microsoft.com/office/powerpoint/2010/main" val="4149776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Rectangle 2"/>
          <p:cNvSpPr>
            <a:spLocks noGrp="1" noRot="1" noChangeArrowheads="1"/>
          </p:cNvSpPr>
          <p:nvPr>
            <p:ph type="title"/>
          </p:nvPr>
        </p:nvSpPr>
        <p:spPr/>
        <p:txBody>
          <a:bodyPr/>
          <a:lstStyle/>
          <a:p>
            <a:pPr eaLnBrk="1" hangingPunct="1">
              <a:defRPr/>
            </a:pPr>
            <a:r>
              <a:rPr lang="en-US" smtClean="0"/>
              <a:t>Сигурност във фазите на поддръжка</a:t>
            </a:r>
          </a:p>
        </p:txBody>
      </p:sp>
      <p:sp>
        <p:nvSpPr>
          <p:cNvPr id="874499" name="Rectangle 3"/>
          <p:cNvSpPr>
            <a:spLocks noGrp="1" noChangeArrowheads="1"/>
          </p:cNvSpPr>
          <p:nvPr>
            <p:ph type="body" idx="1"/>
          </p:nvPr>
        </p:nvSpPr>
        <p:spPr>
          <a:xfrm>
            <a:off x="1065212" y="1066800"/>
            <a:ext cx="10439400" cy="5562600"/>
          </a:xfrm>
        </p:spPr>
        <p:txBody>
          <a:bodyPr>
            <a:normAutofit/>
          </a:bodyPr>
          <a:lstStyle/>
          <a:p>
            <a:pPr eaLnBrk="1" hangingPunct="1">
              <a:lnSpc>
                <a:spcPct val="90000"/>
              </a:lnSpc>
              <a:defRPr/>
            </a:pPr>
            <a:r>
              <a:rPr lang="en-US" dirty="0" smtClean="0"/>
              <a:t>Процес на реагиране  </a:t>
            </a:r>
          </a:p>
          <a:p>
            <a:pPr lvl="1" eaLnBrk="1" hangingPunct="1">
              <a:lnSpc>
                <a:spcPct val="90000"/>
              </a:lnSpc>
              <a:defRPr/>
            </a:pPr>
            <a:r>
              <a:rPr lang="en-US" dirty="0" smtClean="0"/>
              <a:t>Прост факт е, че след като изпратите кода си, в него ще бъдат открити пропуски в сигурността. </a:t>
            </a:r>
          </a:p>
          <a:p>
            <a:pPr lvl="1" eaLnBrk="1" hangingPunct="1">
              <a:lnSpc>
                <a:spcPct val="90000"/>
              </a:lnSpc>
              <a:defRPr/>
            </a:pPr>
            <a:r>
              <a:rPr lang="en-US" dirty="0" smtClean="0"/>
              <a:t>Вие ще откриете някои вътрешни недостатъци, а външни организации ще открият други. </a:t>
            </a:r>
          </a:p>
          <a:p>
            <a:pPr lvl="2" eaLnBrk="1" hangingPunct="1">
              <a:lnSpc>
                <a:spcPct val="90000"/>
              </a:lnSpc>
              <a:defRPr/>
            </a:pPr>
            <a:r>
              <a:rPr lang="en-US" sz="2000" dirty="0"/>
              <a:t>След като откриете недостатък, трябва да го подложите на стандартен триаж, по време на който да определите каква е сериозността на недостатъка, как най-добре да го отстраните и как да изпратите поправката на клиентите. </a:t>
            </a:r>
          </a:p>
          <a:p>
            <a:pPr lvl="2" eaLnBrk="1" hangingPunct="1">
              <a:lnSpc>
                <a:spcPct val="90000"/>
              </a:lnSpc>
              <a:defRPr/>
            </a:pPr>
            <a:r>
              <a:rPr lang="en-US" sz="2000" dirty="0"/>
              <a:t>Ако не потърсите свързани проблеми, не само ще трябва да отстранявате повече проблеми, когато те бъдат открити, но и ще направите лоша услуга на клиентите си. </a:t>
            </a:r>
          </a:p>
          <a:p>
            <a:pPr lvl="1" eaLnBrk="1" hangingPunct="1">
              <a:lnSpc>
                <a:spcPct val="90000"/>
              </a:lnSpc>
              <a:defRPr/>
            </a:pPr>
            <a:r>
              <a:rPr lang="en-US" dirty="0" smtClean="0"/>
              <a:t>Постъпете правилно и поправете всички свързани проблеми, а не само грешката с единичния модул.</a:t>
            </a:r>
          </a:p>
        </p:txBody>
      </p:sp>
    </p:spTree>
    <p:extLst>
      <p:ext uri="{BB962C8B-B14F-4D97-AF65-F5344CB8AC3E}">
        <p14:creationId xmlns:p14="http://schemas.microsoft.com/office/powerpoint/2010/main" val="2732962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Подобряване на </a:t>
            </a:r>
            <a:r>
              <a:rPr lang="en-US" dirty="0"/>
              <a:t>сигурността на софтуера</a:t>
            </a:r>
            <a:endParaRPr lang="bg-BG" dirty="0"/>
          </a:p>
        </p:txBody>
      </p:sp>
      <p:sp>
        <p:nvSpPr>
          <p:cNvPr id="3" name="Content Placeholder 2"/>
          <p:cNvSpPr>
            <a:spLocks noGrp="1"/>
          </p:cNvSpPr>
          <p:nvPr>
            <p:ph idx="1"/>
          </p:nvPr>
        </p:nvSpPr>
        <p:spPr>
          <a:xfrm>
            <a:off x="1065212" y="1066800"/>
            <a:ext cx="10439400" cy="5410200"/>
          </a:xfrm>
        </p:spPr>
        <p:txBody>
          <a:bodyPr>
            <a:normAutofit fontScale="85000" lnSpcReduction="20000"/>
          </a:bodyPr>
          <a:lstStyle/>
          <a:p>
            <a:pPr>
              <a:lnSpc>
                <a:spcPct val="120000"/>
              </a:lnSpc>
              <a:spcBef>
                <a:spcPts val="0"/>
              </a:spcBef>
            </a:pPr>
            <a:r>
              <a:rPr lang="en-US" dirty="0"/>
              <a:t>Разработването на сигурен софтуер е непрекъснат процес. </a:t>
            </a:r>
          </a:p>
          <a:p>
            <a:pPr lvl="1">
              <a:lnSpc>
                <a:spcPct val="120000"/>
              </a:lnSpc>
              <a:spcBef>
                <a:spcPts val="0"/>
              </a:spcBef>
            </a:pPr>
            <a:r>
              <a:rPr lang="en-US" dirty="0"/>
              <a:t>Всички нови функции, инструменти и софтуер трябва да се придържат към протокола за сигурност и да не съдържат уязвимости. </a:t>
            </a:r>
          </a:p>
          <a:p>
            <a:pPr>
              <a:lnSpc>
                <a:spcPct val="120000"/>
              </a:lnSpc>
              <a:spcBef>
                <a:spcPts val="0"/>
              </a:spcBef>
            </a:pPr>
            <a:r>
              <a:rPr lang="en-US" dirty="0"/>
              <a:t>За да се </a:t>
            </a:r>
            <a:r>
              <a:rPr lang="en-US" dirty="0"/>
              <a:t>гарантира и подобри сигурността на софтуера, е важно:</a:t>
            </a:r>
          </a:p>
          <a:p>
            <a:pPr lvl="1">
              <a:lnSpc>
                <a:spcPct val="120000"/>
              </a:lnSpc>
              <a:spcBef>
                <a:spcPts val="0"/>
              </a:spcBef>
            </a:pPr>
            <a:r>
              <a:rPr lang="en-US" dirty="0"/>
              <a:t>Внедряване на подобрения в сигурността в жизнения цикъл на разработката.</a:t>
            </a:r>
          </a:p>
          <a:p>
            <a:pPr lvl="1">
              <a:lnSpc>
                <a:spcPct val="120000"/>
              </a:lnSpc>
              <a:spcBef>
                <a:spcPts val="0"/>
              </a:spcBef>
            </a:pPr>
            <a:r>
              <a:rPr lang="en-US" dirty="0"/>
              <a:t>Прилагане на най-добрите практики за сигурност при проектирането и разработването на нови функции.</a:t>
            </a:r>
          </a:p>
          <a:p>
            <a:pPr lvl="1">
              <a:lnSpc>
                <a:spcPct val="120000"/>
              </a:lnSpc>
              <a:spcBef>
                <a:spcPts val="0"/>
              </a:spcBef>
            </a:pPr>
            <a:r>
              <a:rPr lang="en-US" dirty="0"/>
              <a:t>Извършвайте редовно тестване на приложенията, за да идентифицирате потенциални слабости.</a:t>
            </a:r>
          </a:p>
          <a:p>
            <a:pPr lvl="1">
              <a:lnSpc>
                <a:spcPct val="120000"/>
              </a:lnSpc>
              <a:spcBef>
                <a:spcPts val="0"/>
              </a:spcBef>
            </a:pPr>
            <a:r>
              <a:rPr lang="en-US" dirty="0"/>
              <a:t>Поправяйте или коригирайте уязвимост веднага щом някой я открие.</a:t>
            </a:r>
          </a:p>
          <a:p>
            <a:pPr lvl="1">
              <a:lnSpc>
                <a:spcPct val="120000"/>
              </a:lnSpc>
              <a:spcBef>
                <a:spcPts val="0"/>
              </a:spcBef>
            </a:pPr>
            <a:r>
              <a:rPr lang="en-US" dirty="0"/>
              <a:t>Редовно актуализирайте протокола за сигурност, за да изпреварите развиващите се заплахи за сигурността на софтуера.</a:t>
            </a:r>
            <a:endParaRPr lang="bg-BG" dirty="0"/>
          </a:p>
        </p:txBody>
      </p:sp>
    </p:spTree>
    <p:extLst>
      <p:ext uri="{BB962C8B-B14F-4D97-AF65-F5344CB8AC3E}">
        <p14:creationId xmlns:p14="http://schemas.microsoft.com/office/powerpoint/2010/main" val="48343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bg-BG" smtClean="0"/>
              <a:t>SD </a:t>
            </a:r>
            <a:r>
              <a:rPr lang="bg-BG" baseline="30000" smtClean="0"/>
              <a:t>3</a:t>
            </a:r>
            <a:endParaRPr lang="en-US" smtClean="0"/>
          </a:p>
        </p:txBody>
      </p:sp>
      <p:sp>
        <p:nvSpPr>
          <p:cNvPr id="876547" name="Rectangle 3"/>
          <p:cNvSpPr>
            <a:spLocks noGrp="1" noChangeArrowheads="1"/>
          </p:cNvSpPr>
          <p:nvPr>
            <p:ph type="body" idx="1"/>
          </p:nvPr>
        </p:nvSpPr>
        <p:spPr/>
        <p:txBody>
          <a:bodyPr vert="horz" lIns="90840" tIns="44623" rIns="90840" bIns="44623" rtlCol="0">
            <a:normAutofit fontScale="85000" lnSpcReduction="20000"/>
          </a:bodyPr>
          <a:lstStyle/>
          <a:p>
            <a:pPr eaLnBrk="1" hangingPunct="1">
              <a:lnSpc>
                <a:spcPct val="120000"/>
              </a:lnSpc>
              <a:spcBef>
                <a:spcPts val="0"/>
              </a:spcBef>
              <a:defRPr/>
            </a:pPr>
            <a:r>
              <a:rPr lang="bg-BG" dirty="0" smtClean="0"/>
              <a:t>Защо е нужен нов подход за създаване на сигурност в ПО?</a:t>
            </a:r>
          </a:p>
          <a:p>
            <a:pPr lvl="1">
              <a:lnSpc>
                <a:spcPct val="120000"/>
              </a:lnSpc>
              <a:spcBef>
                <a:spcPts val="0"/>
              </a:spcBef>
              <a:defRPr/>
            </a:pPr>
            <a:r>
              <a:rPr lang="bg-BG" altLang="en-US" dirty="0"/>
              <a:t>Може да създадете много добре проектирано и написано приложение, но ако е трудно да се внедри и администрира, може да е трудно да се поддържа сигурността на приложението при появата на нови заплахи. </a:t>
            </a:r>
            <a:endParaRPr lang="en-US" altLang="en-US" dirty="0"/>
          </a:p>
          <a:p>
            <a:pPr eaLnBrk="1" hangingPunct="1">
              <a:lnSpc>
                <a:spcPct val="120000"/>
              </a:lnSpc>
              <a:spcBef>
                <a:spcPts val="0"/>
              </a:spcBef>
              <a:defRPr/>
            </a:pPr>
            <a:r>
              <a:rPr lang="en-US" dirty="0" smtClean="0"/>
              <a:t>SD</a:t>
            </a:r>
            <a:r>
              <a:rPr lang="en-US" baseline="30000" dirty="0" smtClean="0"/>
              <a:t>3</a:t>
            </a:r>
            <a:r>
              <a:rPr lang="en-US" dirty="0" smtClean="0"/>
              <a:t> </a:t>
            </a:r>
            <a:r>
              <a:rPr lang="bg-BG" dirty="0" smtClean="0"/>
              <a:t>на </a:t>
            </a:r>
            <a:r>
              <a:rPr lang="en-US" dirty="0" smtClean="0"/>
              <a:t>Microsoft</a:t>
            </a:r>
            <a:endParaRPr lang="bg-BG" dirty="0" smtClean="0"/>
          </a:p>
          <a:p>
            <a:pPr lvl="1">
              <a:lnSpc>
                <a:spcPct val="120000"/>
              </a:lnSpc>
              <a:spcBef>
                <a:spcPts val="0"/>
              </a:spcBef>
              <a:defRPr/>
            </a:pPr>
            <a:r>
              <a:rPr lang="bg-BG" dirty="0" smtClean="0"/>
              <a:t>Сигурно </a:t>
            </a:r>
            <a:r>
              <a:rPr lang="bg-BG" dirty="0" smtClean="0"/>
              <a:t>по </a:t>
            </a:r>
            <a:r>
              <a:rPr lang="bg-BG" dirty="0"/>
              <a:t>дизайн </a:t>
            </a:r>
            <a:endParaRPr lang="en-US" dirty="0"/>
          </a:p>
          <a:p>
            <a:pPr lvl="2">
              <a:lnSpc>
                <a:spcPct val="120000"/>
              </a:lnSpc>
              <a:spcBef>
                <a:spcPts val="0"/>
              </a:spcBef>
              <a:defRPr/>
            </a:pPr>
            <a:r>
              <a:rPr lang="bg-BG" dirty="0" smtClean="0"/>
              <a:t>Ако дадена система е защитена по проект, това означава, че сте предприели подходящи стъпки, за да се уверите, че цялостният дизайн на продукта е надежден от самото начало</a:t>
            </a:r>
            <a:r>
              <a:rPr lang="bg-BG" dirty="0"/>
              <a:t>. </a:t>
            </a:r>
            <a:endParaRPr lang="en-US" dirty="0"/>
          </a:p>
          <a:p>
            <a:pPr lvl="1">
              <a:lnSpc>
                <a:spcPct val="120000"/>
              </a:lnSpc>
              <a:spcBef>
                <a:spcPts val="0"/>
              </a:spcBef>
              <a:defRPr/>
            </a:pPr>
            <a:r>
              <a:rPr lang="bg-BG" dirty="0" smtClean="0"/>
              <a:t>Сигурност по подразбиране </a:t>
            </a:r>
            <a:endParaRPr lang="en-US" dirty="0" smtClean="0"/>
          </a:p>
          <a:p>
            <a:pPr lvl="2">
              <a:lnSpc>
                <a:spcPct val="120000"/>
              </a:lnSpc>
              <a:spcBef>
                <a:spcPts val="0"/>
              </a:spcBef>
              <a:defRPr/>
            </a:pPr>
            <a:r>
              <a:rPr lang="bg-BG" dirty="0" smtClean="0"/>
              <a:t>Целта на "сигурно по подразбиране" е да се достави продукт, който е достатъчно сигурен още от самото начало. </a:t>
            </a:r>
            <a:endParaRPr lang="en-US" dirty="0" smtClean="0"/>
          </a:p>
          <a:p>
            <a:pPr lvl="1">
              <a:lnSpc>
                <a:spcPct val="120000"/>
              </a:lnSpc>
              <a:spcBef>
                <a:spcPts val="0"/>
              </a:spcBef>
              <a:defRPr/>
            </a:pPr>
            <a:r>
              <a:rPr lang="bg-BG" dirty="0" smtClean="0"/>
              <a:t>Сигурност при внедряване </a:t>
            </a:r>
            <a:endParaRPr lang="en-US" dirty="0" smtClean="0"/>
          </a:p>
          <a:p>
            <a:pPr lvl="2">
              <a:lnSpc>
                <a:spcPct val="120000"/>
              </a:lnSpc>
              <a:spcBef>
                <a:spcPts val="0"/>
              </a:spcBef>
              <a:defRPr/>
            </a:pPr>
            <a:r>
              <a:rPr lang="bg-BG" dirty="0" smtClean="0"/>
              <a:t>Сигурност при внедряване означава, че системата може да се поддържа, след като потребителите инсталират продукта. </a:t>
            </a:r>
            <a:endParaRPr lang="en-US" dirty="0" smtClean="0"/>
          </a:p>
        </p:txBody>
      </p:sp>
    </p:spTree>
    <p:extLst>
      <p:ext uri="{BB962C8B-B14F-4D97-AF65-F5344CB8AC3E}">
        <p14:creationId xmlns:p14="http://schemas.microsoft.com/office/powerpoint/2010/main" val="612303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bg-BG" smtClean="0"/>
              <a:t>Сигурно по дизайн </a:t>
            </a:r>
            <a:endParaRPr lang="en-US" smtClean="0"/>
          </a:p>
        </p:txBody>
      </p:sp>
      <p:sp>
        <p:nvSpPr>
          <p:cNvPr id="877571" name="Rectangle 3"/>
          <p:cNvSpPr>
            <a:spLocks noGrp="1" noChangeArrowheads="1"/>
          </p:cNvSpPr>
          <p:nvPr>
            <p:ph type="body" idx="1"/>
          </p:nvPr>
        </p:nvSpPr>
        <p:spPr>
          <a:xfrm>
            <a:off x="989012" y="1143000"/>
            <a:ext cx="10515600" cy="5410200"/>
          </a:xfrm>
        </p:spPr>
        <p:txBody>
          <a:bodyPr vert="horz" lIns="90840" tIns="44623" rIns="90840" bIns="44623" rtlCol="0">
            <a:normAutofit/>
          </a:bodyPr>
          <a:lstStyle/>
          <a:p>
            <a:pPr eaLnBrk="1" hangingPunct="1">
              <a:defRPr/>
            </a:pPr>
            <a:r>
              <a:rPr lang="bg-BG" dirty="0" smtClean="0"/>
              <a:t>Алгоритъм на работа</a:t>
            </a:r>
            <a:r>
              <a:rPr lang="bg-BG" dirty="0" smtClean="0"/>
              <a:t>: </a:t>
            </a:r>
            <a:endParaRPr lang="en-US" dirty="0" smtClean="0"/>
          </a:p>
          <a:p>
            <a:pPr lvl="1" eaLnBrk="1" hangingPunct="1">
              <a:defRPr/>
            </a:pPr>
            <a:r>
              <a:rPr lang="bg-BG" dirty="0" smtClean="0"/>
              <a:t>Назначете лице, което да отговаря за проблемите със сигурността. </a:t>
            </a:r>
            <a:endParaRPr lang="en-US" dirty="0" smtClean="0"/>
          </a:p>
          <a:p>
            <a:pPr lvl="2" eaLnBrk="1" hangingPunct="1">
              <a:defRPr/>
            </a:pPr>
            <a:r>
              <a:rPr lang="bg-BG" sz="2000" dirty="0"/>
              <a:t>Това е лицето, което подписва, че продуктът е сигурен. </a:t>
            </a:r>
            <a:endParaRPr lang="en-US" sz="2000" dirty="0"/>
          </a:p>
          <a:p>
            <a:pPr lvl="1" eaLnBrk="1" hangingPunct="1">
              <a:defRPr/>
            </a:pPr>
            <a:r>
              <a:rPr lang="bg-BG" dirty="0" smtClean="0"/>
              <a:t>Изисквайте обучение за целия персонал. </a:t>
            </a:r>
            <a:endParaRPr lang="en-US" dirty="0" smtClean="0"/>
          </a:p>
          <a:p>
            <a:pPr lvl="1" eaLnBrk="1" hangingPunct="1">
              <a:defRPr/>
            </a:pPr>
            <a:r>
              <a:rPr lang="bg-BG" dirty="0" smtClean="0"/>
              <a:t>Уверете се, че моделите на заплахите са налице към момента на приключване на фазата на проектиране. </a:t>
            </a:r>
            <a:endParaRPr lang="en-US" dirty="0" smtClean="0"/>
          </a:p>
          <a:p>
            <a:pPr lvl="1" eaLnBrk="1" hangingPunct="1">
              <a:defRPr/>
            </a:pPr>
            <a:r>
              <a:rPr lang="bg-BG" dirty="0" smtClean="0"/>
              <a:t>Придържайте се към насоките за дизайн и кодиране. </a:t>
            </a:r>
            <a:endParaRPr lang="en-US" dirty="0" smtClean="0"/>
          </a:p>
          <a:p>
            <a:pPr lvl="1" eaLnBrk="1" hangingPunct="1">
              <a:defRPr/>
            </a:pPr>
            <a:r>
              <a:rPr lang="bg-BG" dirty="0" smtClean="0"/>
              <a:t>Коригирайте всички грешки, които се отклоняват от указанията, възможно най-скоро. </a:t>
            </a:r>
            <a:endParaRPr lang="en-US" dirty="0" smtClean="0"/>
          </a:p>
          <a:p>
            <a:pPr lvl="2" eaLnBrk="1" hangingPunct="1">
              <a:defRPr/>
            </a:pPr>
            <a:r>
              <a:rPr lang="bg-BG" sz="2000" dirty="0"/>
              <a:t>Ако кодът има недостатък, той е недостатък, независимо от възрастта му</a:t>
            </a:r>
            <a:r>
              <a:rPr lang="en-US" sz="2000" dirty="0"/>
              <a:t>: </a:t>
            </a:r>
            <a:r>
              <a:rPr lang="bg-BG" sz="2000" dirty="0"/>
              <a:t>нападателите не се интересуват дали кодът е стар или нов. </a:t>
            </a:r>
            <a:endParaRPr lang="en-US" sz="2000" dirty="0"/>
          </a:p>
        </p:txBody>
      </p:sp>
    </p:spTree>
    <p:extLst>
      <p:ext uri="{BB962C8B-B14F-4D97-AF65-F5344CB8AC3E}">
        <p14:creationId xmlns:p14="http://schemas.microsoft.com/office/powerpoint/2010/main" val="3665080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594"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bg-BG" smtClean="0"/>
              <a:t>Сигурно по дизайн </a:t>
            </a:r>
            <a:endParaRPr lang="en-US" smtClean="0"/>
          </a:p>
        </p:txBody>
      </p:sp>
      <p:sp>
        <p:nvSpPr>
          <p:cNvPr id="878595" name="Rectangle 3"/>
          <p:cNvSpPr>
            <a:spLocks noGrp="1" noChangeArrowheads="1"/>
          </p:cNvSpPr>
          <p:nvPr>
            <p:ph type="body" idx="1"/>
          </p:nvPr>
        </p:nvSpPr>
        <p:spPr/>
        <p:txBody>
          <a:bodyPr vert="horz" lIns="90840" tIns="44623" rIns="90840" bIns="44623" rtlCol="0">
            <a:normAutofit/>
          </a:bodyPr>
          <a:lstStyle/>
          <a:p>
            <a:pPr>
              <a:defRPr/>
            </a:pPr>
            <a:r>
              <a:rPr lang="bg-BG" dirty="0"/>
              <a:t>Алгоритъм на работа : </a:t>
            </a:r>
            <a:endParaRPr lang="en-US" dirty="0" smtClean="0"/>
          </a:p>
          <a:p>
            <a:pPr lvl="1" eaLnBrk="1" hangingPunct="1">
              <a:defRPr/>
            </a:pPr>
            <a:r>
              <a:rPr lang="bg-BG" dirty="0" smtClean="0"/>
              <a:t>Уверете се, че насоките се развиват. </a:t>
            </a:r>
            <a:endParaRPr lang="en-US" dirty="0" smtClean="0"/>
          </a:p>
          <a:p>
            <a:pPr lvl="2" eaLnBrk="1" hangingPunct="1">
              <a:defRPr/>
            </a:pPr>
            <a:r>
              <a:rPr lang="bg-BG" dirty="0" smtClean="0"/>
              <a:t>Заплахите за сигурността не са статични; трябва да актуализирате документите с насоки, когато научите нови уязвимости и нови най-добри практики за тяхното намаляване.</a:t>
            </a:r>
            <a:endParaRPr lang="en-US" dirty="0" smtClean="0"/>
          </a:p>
          <a:p>
            <a:pPr lvl="1" eaLnBrk="1" hangingPunct="1">
              <a:defRPr/>
            </a:pPr>
            <a:r>
              <a:rPr lang="bg-BG" dirty="0" smtClean="0"/>
              <a:t>Разработване на регресионни тестове за всички предварително отстранени уязвимости. </a:t>
            </a:r>
            <a:endParaRPr lang="en-US" dirty="0" smtClean="0"/>
          </a:p>
          <a:p>
            <a:pPr lvl="2" eaLnBrk="1" hangingPunct="1">
              <a:defRPr/>
            </a:pPr>
            <a:r>
              <a:rPr lang="bg-BG" dirty="0" smtClean="0"/>
              <a:t>Това е пример за учене от минали грешки. </a:t>
            </a:r>
            <a:endParaRPr lang="en-US" dirty="0" smtClean="0"/>
          </a:p>
          <a:p>
            <a:pPr lvl="1" eaLnBrk="1" hangingPunct="1">
              <a:defRPr/>
            </a:pPr>
            <a:r>
              <a:rPr lang="bg-BG" dirty="0" smtClean="0"/>
              <a:t>Опростете кода и опростете модела си за сигурност. </a:t>
            </a:r>
            <a:endParaRPr lang="en-US" dirty="0" smtClean="0"/>
          </a:p>
          <a:p>
            <a:pPr lvl="1" eaLnBrk="1" hangingPunct="1">
              <a:defRPr/>
            </a:pPr>
            <a:r>
              <a:rPr lang="bg-BG" dirty="0" smtClean="0"/>
              <a:t>Извършвайте анализ на проникването, преди да изпратите. </a:t>
            </a:r>
            <a:endParaRPr lang="en-US" dirty="0" smtClean="0"/>
          </a:p>
        </p:txBody>
      </p:sp>
    </p:spTree>
    <p:extLst>
      <p:ext uri="{BB962C8B-B14F-4D97-AF65-F5344CB8AC3E}">
        <p14:creationId xmlns:p14="http://schemas.microsoft.com/office/powerpoint/2010/main" val="1863182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618"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bg-BG" smtClean="0"/>
              <a:t>Сигурност по подразбиране</a:t>
            </a:r>
            <a:endParaRPr lang="en-US" smtClean="0"/>
          </a:p>
        </p:txBody>
      </p:sp>
      <p:sp>
        <p:nvSpPr>
          <p:cNvPr id="879619" name="Rectangle 3"/>
          <p:cNvSpPr>
            <a:spLocks noGrp="1" noChangeArrowheads="1"/>
          </p:cNvSpPr>
          <p:nvPr>
            <p:ph type="body" idx="1"/>
          </p:nvPr>
        </p:nvSpPr>
        <p:spPr/>
        <p:txBody>
          <a:bodyPr vert="horz" lIns="90840" tIns="44623" rIns="90840" bIns="44623" rtlCol="0">
            <a:normAutofit lnSpcReduction="10000"/>
          </a:bodyPr>
          <a:lstStyle/>
          <a:p>
            <a:pPr eaLnBrk="1" hangingPunct="1">
              <a:lnSpc>
                <a:spcPct val="90000"/>
              </a:lnSpc>
              <a:defRPr/>
            </a:pPr>
            <a:r>
              <a:rPr lang="bg-BG" dirty="0" smtClean="0"/>
              <a:t>Не инсталирайте всички функции и възможности по подразбиране. </a:t>
            </a:r>
            <a:endParaRPr lang="en-US" dirty="0" smtClean="0"/>
          </a:p>
          <a:p>
            <a:pPr lvl="1" eaLnBrk="1" hangingPunct="1">
              <a:lnSpc>
                <a:spcPct val="90000"/>
              </a:lnSpc>
              <a:defRPr/>
            </a:pPr>
            <a:r>
              <a:rPr lang="bg-BG" dirty="0" smtClean="0"/>
              <a:t>Прилагайте само онези функции, които се използват от повечето потребители, и осигурете лесен механизъм за активиране на други функции.</a:t>
            </a:r>
          </a:p>
          <a:p>
            <a:pPr eaLnBrk="1" hangingPunct="1">
              <a:lnSpc>
                <a:spcPct val="90000"/>
              </a:lnSpc>
              <a:defRPr/>
            </a:pPr>
            <a:r>
              <a:rPr lang="bg-BG" dirty="0" smtClean="0"/>
              <a:t>Разрешете най-малката привилегия в приложението си; </a:t>
            </a:r>
            <a:endParaRPr lang="en-US" dirty="0" smtClean="0"/>
          </a:p>
          <a:p>
            <a:pPr lvl="1" eaLnBrk="1" hangingPunct="1">
              <a:lnSpc>
                <a:spcPct val="90000"/>
              </a:lnSpc>
              <a:defRPr/>
            </a:pPr>
            <a:r>
              <a:rPr lang="bg-BG" dirty="0" smtClean="0"/>
              <a:t>Не изисквайте кодът ви да се използва от членове на групата на локалните администратори или администраторите на домейни, когато не изисква такива повишени възможности. </a:t>
            </a:r>
          </a:p>
          <a:p>
            <a:pPr eaLnBrk="1" hangingPunct="1">
              <a:lnSpc>
                <a:spcPct val="90000"/>
              </a:lnSpc>
              <a:defRPr/>
            </a:pPr>
            <a:r>
              <a:rPr lang="bg-BG" dirty="0" smtClean="0"/>
              <a:t>Прилагане на подходяща защита на ресурсите. </a:t>
            </a:r>
            <a:endParaRPr lang="en-US" dirty="0" smtClean="0"/>
          </a:p>
          <a:p>
            <a:pPr lvl="1" eaLnBrk="1" hangingPunct="1">
              <a:lnSpc>
                <a:spcPct val="90000"/>
              </a:lnSpc>
              <a:defRPr/>
            </a:pPr>
            <a:r>
              <a:rPr lang="bg-BG" dirty="0" smtClean="0"/>
              <a:t>Чувствителните данни и критичните ресурси трябва да бъдат защитени от атаки. </a:t>
            </a:r>
            <a:endParaRPr lang="en-US" dirty="0" smtClean="0"/>
          </a:p>
        </p:txBody>
      </p:sp>
    </p:spTree>
    <p:extLst>
      <p:ext uri="{BB962C8B-B14F-4D97-AF65-F5344CB8AC3E}">
        <p14:creationId xmlns:p14="http://schemas.microsoft.com/office/powerpoint/2010/main" val="3188737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bg-BG" smtClean="0"/>
              <a:t>Сигурност при внедряване</a:t>
            </a:r>
            <a:endParaRPr lang="en-US" smtClean="0"/>
          </a:p>
        </p:txBody>
      </p:sp>
      <p:sp>
        <p:nvSpPr>
          <p:cNvPr id="880643" name="Rectangle 3"/>
          <p:cNvSpPr>
            <a:spLocks noGrp="1" noChangeArrowheads="1"/>
          </p:cNvSpPr>
          <p:nvPr>
            <p:ph type="body" idx="1"/>
          </p:nvPr>
        </p:nvSpPr>
        <p:spPr>
          <a:xfrm>
            <a:off x="836612" y="1143000"/>
            <a:ext cx="10744200" cy="5486400"/>
          </a:xfrm>
        </p:spPr>
        <p:txBody>
          <a:bodyPr vert="horz" lIns="90840" tIns="44623" rIns="90840" bIns="44623" rtlCol="0">
            <a:noAutofit/>
          </a:bodyPr>
          <a:lstStyle/>
          <a:p>
            <a:pPr eaLnBrk="1" hangingPunct="1">
              <a:lnSpc>
                <a:spcPct val="80000"/>
              </a:lnSpc>
              <a:defRPr/>
            </a:pPr>
            <a:r>
              <a:rPr lang="bg-BG" sz="3000" dirty="0"/>
              <a:t>Уверете се, че приложението предлага начин за администриране на функциите за сигурност.</a:t>
            </a:r>
            <a:endParaRPr lang="en-US" sz="3000" dirty="0"/>
          </a:p>
          <a:p>
            <a:pPr lvl="1" eaLnBrk="1" hangingPunct="1">
              <a:lnSpc>
                <a:spcPct val="80000"/>
              </a:lnSpc>
              <a:defRPr/>
            </a:pPr>
            <a:r>
              <a:rPr lang="bg-BG" sz="2700" dirty="0"/>
              <a:t>Това включва възможността да се знае на какво ниво на </a:t>
            </a:r>
            <a:r>
              <a:rPr lang="bg-BG" sz="2700" dirty="0" err="1"/>
              <a:t>патчинг</a:t>
            </a:r>
            <a:r>
              <a:rPr lang="bg-BG" sz="2700" dirty="0"/>
              <a:t> е системата.</a:t>
            </a:r>
          </a:p>
          <a:p>
            <a:pPr eaLnBrk="1" hangingPunct="1">
              <a:lnSpc>
                <a:spcPct val="80000"/>
              </a:lnSpc>
              <a:defRPr/>
            </a:pPr>
            <a:r>
              <a:rPr lang="bg-BG" sz="3000" dirty="0"/>
              <a:t>Създайте качествени кръпки за сигурност възможно най-скоро. </a:t>
            </a:r>
            <a:endParaRPr lang="en-US" sz="3000" dirty="0"/>
          </a:p>
          <a:p>
            <a:pPr lvl="1" eaLnBrk="1" hangingPunct="1">
              <a:lnSpc>
                <a:spcPct val="80000"/>
              </a:lnSpc>
              <a:defRPr/>
            </a:pPr>
            <a:r>
              <a:rPr lang="bg-BG" sz="2700" dirty="0"/>
              <a:t>Ако в кода ви бъде открита уязвимост в сигурността, трябва да извършите поправката възможно най-бързо, но не прекалено бързо</a:t>
            </a:r>
            <a:r>
              <a:rPr lang="en-US" sz="2700" dirty="0"/>
              <a:t>.</a:t>
            </a:r>
          </a:p>
          <a:p>
            <a:pPr eaLnBrk="1" hangingPunct="1">
              <a:lnSpc>
                <a:spcPct val="80000"/>
              </a:lnSpc>
              <a:defRPr/>
            </a:pPr>
            <a:r>
              <a:rPr lang="bg-BG" sz="3000" dirty="0"/>
              <a:t>Предоставяне на информация на потребителя, за да може той да разбере как да използва системата по сигурен начин. </a:t>
            </a:r>
            <a:endParaRPr lang="en-US" sz="3000" dirty="0"/>
          </a:p>
          <a:p>
            <a:pPr lvl="1" eaLnBrk="1" hangingPunct="1">
              <a:lnSpc>
                <a:spcPct val="80000"/>
              </a:lnSpc>
              <a:defRPr/>
            </a:pPr>
            <a:r>
              <a:rPr lang="bg-BG" sz="2700" dirty="0"/>
              <a:t>Това може да стане чрез онлайн помощ, документация или указания на екрана.</a:t>
            </a:r>
            <a:endParaRPr lang="en-US" sz="2700" dirty="0"/>
          </a:p>
        </p:txBody>
      </p:sp>
    </p:spTree>
    <p:extLst>
      <p:ext uri="{BB962C8B-B14F-4D97-AF65-F5344CB8AC3E}">
        <p14:creationId xmlns:p14="http://schemas.microsoft.com/office/powerpoint/2010/main" val="85799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Rot="1" noChangeArrowheads="1"/>
          </p:cNvSpPr>
          <p:nvPr>
            <p:ph type="title"/>
          </p:nvPr>
        </p:nvSpPr>
        <p:spPr/>
        <p:txBody>
          <a:bodyPr/>
          <a:lstStyle/>
          <a:p>
            <a:pPr eaLnBrk="1" hangingPunct="1">
              <a:defRPr/>
            </a:pPr>
            <a:r>
              <a:rPr lang="bg-BG" smtClean="0"/>
              <a:t>Принципи на сигурността</a:t>
            </a:r>
          </a:p>
        </p:txBody>
      </p:sp>
      <p:sp>
        <p:nvSpPr>
          <p:cNvPr id="881667" name="Rectangle 3"/>
          <p:cNvSpPr>
            <a:spLocks noGrp="1" noChangeArrowheads="1"/>
          </p:cNvSpPr>
          <p:nvPr>
            <p:ph type="body" idx="1"/>
          </p:nvPr>
        </p:nvSpPr>
        <p:spPr/>
        <p:txBody>
          <a:bodyPr>
            <a:normAutofit/>
          </a:bodyPr>
          <a:lstStyle/>
          <a:p>
            <a:pPr eaLnBrk="1" hangingPunct="1">
              <a:defRPr/>
            </a:pPr>
            <a:r>
              <a:rPr lang="bg-BG" dirty="0"/>
              <a:t>Сигурността е дисциплина, която всеки софтуерен дизайнер, разработчик и тестер трябва да познава.</a:t>
            </a:r>
            <a:endParaRPr lang="en-US" dirty="0"/>
          </a:p>
          <a:p>
            <a:pPr lvl="1" eaLnBrk="1" hangingPunct="1">
              <a:defRPr/>
            </a:pPr>
            <a:r>
              <a:rPr lang="bg-BG" dirty="0"/>
              <a:t>Сигурността не е нещо, което може да се изолира в определена област на кода. </a:t>
            </a:r>
            <a:endParaRPr lang="en-US" dirty="0"/>
          </a:p>
          <a:p>
            <a:pPr lvl="1" eaLnBrk="1" hangingPunct="1">
              <a:defRPr/>
            </a:pPr>
            <a:r>
              <a:rPr lang="en-US" dirty="0"/>
              <a:t>Тя е подобна на </a:t>
            </a:r>
            <a:r>
              <a:rPr lang="bg-BG" dirty="0"/>
              <a:t>производителността, мащабируемостта, управляемостта и четливостта на кода.</a:t>
            </a:r>
            <a:endParaRPr lang="en-US" dirty="0"/>
          </a:p>
          <a:p>
            <a:pPr eaLnBrk="1" hangingPunct="1">
              <a:defRPr/>
            </a:pPr>
            <a:r>
              <a:rPr lang="bg-BG" dirty="0"/>
              <a:t>Ако се придържате към принципите за сигурност на проектирането и прилагате надежден процес на разработка, наистина можете да изградите сигурни системи</a:t>
            </a:r>
            <a:r>
              <a:rPr lang="en-US" dirty="0"/>
              <a:t>.</a:t>
            </a:r>
            <a:endParaRPr lang="bg-BG" dirty="0"/>
          </a:p>
        </p:txBody>
      </p:sp>
    </p:spTree>
    <p:extLst>
      <p:ext uri="{BB962C8B-B14F-4D97-AF65-F5344CB8AC3E}">
        <p14:creationId xmlns:p14="http://schemas.microsoft.com/office/powerpoint/2010/main" val="3691722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Rot="1" noChangeArrowheads="1"/>
          </p:cNvSpPr>
          <p:nvPr>
            <p:ph type="title"/>
          </p:nvPr>
        </p:nvSpPr>
        <p:spPr/>
        <p:txBody>
          <a:bodyPr/>
          <a:lstStyle/>
          <a:p>
            <a:pPr eaLnBrk="1" hangingPunct="1">
              <a:defRPr/>
            </a:pPr>
            <a:r>
              <a:rPr lang="bg-BG" smtClean="0"/>
              <a:t>Принципи за сигурност на </a:t>
            </a:r>
            <a:r>
              <a:rPr lang="en-US" smtClean="0"/>
              <a:t>дизайна</a:t>
            </a:r>
          </a:p>
        </p:txBody>
      </p:sp>
      <p:sp>
        <p:nvSpPr>
          <p:cNvPr id="882691" name="Rectangle 3"/>
          <p:cNvSpPr>
            <a:spLocks noGrp="1" noChangeArrowheads="1"/>
          </p:cNvSpPr>
          <p:nvPr>
            <p:ph type="body" idx="1"/>
          </p:nvPr>
        </p:nvSpPr>
        <p:spPr/>
        <p:txBody>
          <a:bodyPr/>
          <a:lstStyle/>
          <a:p>
            <a:pPr eaLnBrk="1" hangingPunct="1">
              <a:defRPr/>
            </a:pPr>
            <a:r>
              <a:rPr lang="bg-BG" smtClean="0"/>
              <a:t>Учете се от грешките</a:t>
            </a:r>
          </a:p>
          <a:p>
            <a:pPr eaLnBrk="1" hangingPunct="1">
              <a:defRPr/>
            </a:pPr>
            <a:r>
              <a:rPr lang="bg-BG" smtClean="0"/>
              <a:t>Минимизиране на повърхността на атаката</a:t>
            </a:r>
          </a:p>
          <a:p>
            <a:pPr eaLnBrk="1" hangingPunct="1">
              <a:defRPr/>
            </a:pPr>
            <a:r>
              <a:rPr lang="bg-BG" smtClean="0"/>
              <a:t>Използване на защита в дълбочина</a:t>
            </a:r>
          </a:p>
          <a:p>
            <a:pPr eaLnBrk="1" hangingPunct="1">
              <a:defRPr/>
            </a:pPr>
            <a:r>
              <a:rPr lang="bg-BG" smtClean="0"/>
              <a:t>Използване на най-малката привилегия</a:t>
            </a:r>
          </a:p>
          <a:p>
            <a:pPr eaLnBrk="1" hangingPunct="1">
              <a:defRPr/>
            </a:pPr>
            <a:r>
              <a:rPr lang="bg-BG" smtClean="0"/>
              <a:t>Използване на сигурни настройки по подразбиране</a:t>
            </a:r>
          </a:p>
          <a:p>
            <a:pPr eaLnBrk="1" hangingPunct="1">
              <a:defRPr/>
            </a:pPr>
            <a:r>
              <a:rPr lang="bg-BG" smtClean="0"/>
              <a:t>Не забравяйте, че обратната съвместимост винаги ще ви донесе огорчение</a:t>
            </a:r>
          </a:p>
          <a:p>
            <a:pPr eaLnBrk="1" hangingPunct="1">
              <a:defRPr/>
            </a:pPr>
            <a:r>
              <a:rPr lang="bg-BG" smtClean="0"/>
              <a:t>Допускане, че външните системи са несигурни</a:t>
            </a:r>
          </a:p>
        </p:txBody>
      </p:sp>
    </p:spTree>
    <p:extLst>
      <p:ext uri="{BB962C8B-B14F-4D97-AF65-F5344CB8AC3E}">
        <p14:creationId xmlns:p14="http://schemas.microsoft.com/office/powerpoint/2010/main" val="3299868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Rot="1" noChangeArrowheads="1"/>
          </p:cNvSpPr>
          <p:nvPr>
            <p:ph type="title"/>
          </p:nvPr>
        </p:nvSpPr>
        <p:spPr/>
        <p:txBody>
          <a:bodyPr/>
          <a:lstStyle/>
          <a:p>
            <a:pPr eaLnBrk="1" hangingPunct="1">
              <a:defRPr/>
            </a:pPr>
            <a:r>
              <a:rPr lang="bg-BG" smtClean="0"/>
              <a:t>Принципи за сигурност на </a:t>
            </a:r>
            <a:r>
              <a:rPr lang="en-US" smtClean="0"/>
              <a:t>дизайна</a:t>
            </a:r>
          </a:p>
        </p:txBody>
      </p:sp>
      <p:sp>
        <p:nvSpPr>
          <p:cNvPr id="883715" name="Rectangle 3"/>
          <p:cNvSpPr>
            <a:spLocks noGrp="1" noChangeArrowheads="1"/>
          </p:cNvSpPr>
          <p:nvPr>
            <p:ph type="body" idx="1"/>
          </p:nvPr>
        </p:nvSpPr>
        <p:spPr/>
        <p:txBody>
          <a:bodyPr>
            <a:normAutofit/>
          </a:bodyPr>
          <a:lstStyle/>
          <a:p>
            <a:pPr eaLnBrk="1" hangingPunct="1">
              <a:defRPr/>
            </a:pPr>
            <a:r>
              <a:rPr lang="bg-BG" dirty="0"/>
              <a:t>Планирайте провал</a:t>
            </a:r>
          </a:p>
          <a:p>
            <a:pPr eaLnBrk="1" hangingPunct="1">
              <a:defRPr/>
            </a:pPr>
            <a:r>
              <a:rPr lang="bg-BG" dirty="0"/>
              <a:t>Преминаване към защитен режим</a:t>
            </a:r>
          </a:p>
          <a:p>
            <a:pPr eaLnBrk="1" hangingPunct="1">
              <a:defRPr/>
            </a:pPr>
            <a:r>
              <a:rPr lang="bg-BG" dirty="0"/>
              <a:t>Не забравяйте, че функциите за сигурност != сигурни функции</a:t>
            </a:r>
          </a:p>
          <a:p>
            <a:pPr eaLnBrk="1" hangingPunct="1">
              <a:defRPr/>
            </a:pPr>
            <a:r>
              <a:rPr lang="bg-BG" dirty="0"/>
              <a:t>Никога не разчитайте само на сигурността чрез неяснота</a:t>
            </a:r>
          </a:p>
          <a:p>
            <a:pPr eaLnBrk="1" hangingPunct="1">
              <a:defRPr/>
            </a:pPr>
            <a:r>
              <a:rPr lang="bg-BG" dirty="0"/>
              <a:t>Не смесвайте код и данни</a:t>
            </a:r>
          </a:p>
          <a:p>
            <a:pPr eaLnBrk="1" hangingPunct="1">
              <a:defRPr/>
            </a:pPr>
            <a:r>
              <a:rPr lang="bg-BG" dirty="0"/>
              <a:t>Коригирайте правилно проблемите със сигурността</a:t>
            </a:r>
          </a:p>
          <a:p>
            <a:pPr eaLnBrk="1" hangingPunct="1">
              <a:defRPr/>
            </a:pPr>
            <a:r>
              <a:rPr lang="bg-BG" dirty="0"/>
              <a:t>Могат да се включат и много други мъдри думи.</a:t>
            </a:r>
          </a:p>
        </p:txBody>
      </p:sp>
    </p:spTree>
    <p:extLst>
      <p:ext uri="{BB962C8B-B14F-4D97-AF65-F5344CB8AC3E}">
        <p14:creationId xmlns:p14="http://schemas.microsoft.com/office/powerpoint/2010/main" val="237174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Rot="1" noChangeArrowheads="1"/>
          </p:cNvSpPr>
          <p:nvPr>
            <p:ph type="title"/>
          </p:nvPr>
        </p:nvSpPr>
        <p:spPr/>
        <p:txBody>
          <a:bodyPr/>
          <a:lstStyle/>
          <a:p>
            <a:pPr eaLnBrk="1" hangingPunct="1">
              <a:defRPr/>
            </a:pPr>
            <a:r>
              <a:rPr lang="bg-BG" smtClean="0"/>
              <a:t>Учете се от грешките </a:t>
            </a:r>
          </a:p>
        </p:txBody>
      </p:sp>
      <p:sp>
        <p:nvSpPr>
          <p:cNvPr id="884739" name="Rectangle 3"/>
          <p:cNvSpPr>
            <a:spLocks noGrp="1" noChangeArrowheads="1"/>
          </p:cNvSpPr>
          <p:nvPr>
            <p:ph type="body" idx="1"/>
          </p:nvPr>
        </p:nvSpPr>
        <p:spPr/>
        <p:txBody>
          <a:bodyPr/>
          <a:lstStyle/>
          <a:p>
            <a:pPr eaLnBrk="1" hangingPunct="1">
              <a:defRPr/>
            </a:pPr>
            <a:r>
              <a:rPr lang="en-US" dirty="0" smtClean="0"/>
              <a:t>В </a:t>
            </a:r>
            <a:r>
              <a:rPr lang="bg-BG" dirty="0" smtClean="0"/>
              <a:t>света на сигурността </a:t>
            </a:r>
            <a:r>
              <a:rPr lang="en-US" dirty="0" err="1" smtClean="0"/>
              <a:t>много</a:t>
            </a:r>
            <a:r>
              <a:rPr lang="en-US" dirty="0" smtClean="0"/>
              <a:t> </a:t>
            </a:r>
            <a:r>
              <a:rPr lang="en-US" dirty="0" err="1" smtClean="0"/>
              <a:t>хора</a:t>
            </a:r>
            <a:r>
              <a:rPr lang="en-US" dirty="0" smtClean="0"/>
              <a:t> </a:t>
            </a:r>
            <a:r>
              <a:rPr lang="bg-BG" dirty="0" smtClean="0"/>
              <a:t>не се учат лесно от грешките си. </a:t>
            </a:r>
            <a:endParaRPr lang="en-US" dirty="0" smtClean="0"/>
          </a:p>
          <a:p>
            <a:pPr eaLnBrk="1" hangingPunct="1">
              <a:defRPr/>
            </a:pPr>
            <a:r>
              <a:rPr lang="bg-BG" dirty="0" smtClean="0"/>
              <a:t>Подхождайте към всяка грешка като към възможност за обучение.</a:t>
            </a:r>
            <a:endParaRPr lang="en-US" dirty="0" smtClean="0"/>
          </a:p>
          <a:p>
            <a:pPr lvl="1" eaLnBrk="1" hangingPunct="1">
              <a:defRPr/>
            </a:pPr>
            <a:r>
              <a:rPr lang="bg-BG" dirty="0" smtClean="0"/>
              <a:t>За съжаление, в бързината за пускане на продуктите на пазара екипите за разработка обикновено пренебрегват тази важна стъпка и така се повтарят едни и същи грешки в сигурността.</a:t>
            </a:r>
            <a:endParaRPr lang="en-US" dirty="0" smtClean="0"/>
          </a:p>
          <a:p>
            <a:pPr eaLnBrk="1" hangingPunct="1">
              <a:defRPr/>
            </a:pPr>
            <a:r>
              <a:rPr lang="bg-BG" dirty="0" smtClean="0"/>
              <a:t>Неуспехът да се поучите от грешка увеличава вероятността отново да допуснете същата скъпоструваща грешка.</a:t>
            </a:r>
          </a:p>
        </p:txBody>
      </p:sp>
    </p:spTree>
    <p:extLst>
      <p:ext uri="{BB962C8B-B14F-4D97-AF65-F5344CB8AC3E}">
        <p14:creationId xmlns:p14="http://schemas.microsoft.com/office/powerpoint/2010/main" val="1461125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6786" name="Rectangle 2"/>
          <p:cNvSpPr>
            <a:spLocks noGrp="1" noRot="1" noChangeArrowheads="1"/>
          </p:cNvSpPr>
          <p:nvPr>
            <p:ph type="title"/>
          </p:nvPr>
        </p:nvSpPr>
        <p:spPr/>
        <p:txBody>
          <a:bodyPr/>
          <a:lstStyle/>
          <a:p>
            <a:pPr eaLnBrk="1" hangingPunct="1">
              <a:defRPr/>
            </a:pPr>
            <a:r>
              <a:rPr lang="bg-BG" smtClean="0"/>
              <a:t>Учете се от грешките </a:t>
            </a:r>
          </a:p>
        </p:txBody>
      </p:sp>
      <p:sp>
        <p:nvSpPr>
          <p:cNvPr id="886787" name="Rectangle 3"/>
          <p:cNvSpPr>
            <a:spLocks noGrp="1" noChangeArrowheads="1"/>
          </p:cNvSpPr>
          <p:nvPr>
            <p:ph type="body" idx="1"/>
          </p:nvPr>
        </p:nvSpPr>
        <p:spPr/>
        <p:txBody>
          <a:bodyPr/>
          <a:lstStyle/>
          <a:p>
            <a:pPr eaLnBrk="1" hangingPunct="1">
              <a:defRPr/>
            </a:pPr>
            <a:r>
              <a:rPr lang="bg-BG" dirty="0" smtClean="0"/>
              <a:t>Задавайте въпроси като тези:</a:t>
            </a:r>
          </a:p>
          <a:p>
            <a:pPr lvl="1" eaLnBrk="1" hangingPunct="1">
              <a:defRPr/>
            </a:pPr>
            <a:r>
              <a:rPr lang="bg-BG" dirty="0" smtClean="0"/>
              <a:t>Как е възникнала грешката в сигурността?</a:t>
            </a:r>
          </a:p>
          <a:p>
            <a:pPr lvl="1" eaLnBrk="1" hangingPunct="1">
              <a:defRPr/>
            </a:pPr>
            <a:r>
              <a:rPr lang="bg-BG" dirty="0" smtClean="0"/>
              <a:t>Възпроизвежда ли се същата грешка в други области на кода?</a:t>
            </a:r>
          </a:p>
          <a:p>
            <a:pPr lvl="1" eaLnBrk="1" hangingPunct="1">
              <a:defRPr/>
            </a:pPr>
            <a:r>
              <a:rPr lang="bg-BG" dirty="0" smtClean="0"/>
              <a:t>Как бихме могли да предотвратим появата на тази грешка?</a:t>
            </a:r>
          </a:p>
          <a:p>
            <a:pPr lvl="1" eaLnBrk="1" hangingPunct="1">
              <a:defRPr/>
            </a:pPr>
            <a:r>
              <a:rPr lang="bg-BG" dirty="0" smtClean="0"/>
              <a:t>Как да гарантираме, че подобна грешка няма да се случи в бъдеще?</a:t>
            </a:r>
          </a:p>
          <a:p>
            <a:pPr lvl="1" eaLnBrk="1" hangingPunct="1">
              <a:defRPr/>
            </a:pPr>
            <a:r>
              <a:rPr lang="bg-BG" dirty="0" smtClean="0"/>
              <a:t>Трябва ли да актуализираме инструментите за обучение или анализ?</a:t>
            </a:r>
          </a:p>
        </p:txBody>
      </p:sp>
    </p:spTree>
    <p:extLst>
      <p:ext uri="{BB962C8B-B14F-4D97-AF65-F5344CB8AC3E}">
        <p14:creationId xmlns:p14="http://schemas.microsoft.com/office/powerpoint/2010/main" val="365146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Rectangle 2"/>
          <p:cNvSpPr>
            <a:spLocks noGrp="1" noRot="1" noChangeArrowheads="1"/>
          </p:cNvSpPr>
          <p:nvPr>
            <p:ph type="title"/>
          </p:nvPr>
        </p:nvSpPr>
        <p:spPr/>
        <p:txBody>
          <a:bodyPr/>
          <a:lstStyle/>
          <a:p>
            <a:pPr eaLnBrk="1" hangingPunct="1">
              <a:defRPr/>
            </a:pPr>
            <a:r>
              <a:rPr lang="bg-BG" smtClean="0"/>
              <a:t>Учете се от грешките </a:t>
            </a:r>
          </a:p>
        </p:txBody>
      </p:sp>
      <p:sp>
        <p:nvSpPr>
          <p:cNvPr id="887811" name="Rectangle 3"/>
          <p:cNvSpPr>
            <a:spLocks noGrp="1" noChangeArrowheads="1"/>
          </p:cNvSpPr>
          <p:nvPr>
            <p:ph type="body" idx="1"/>
          </p:nvPr>
        </p:nvSpPr>
        <p:spPr>
          <a:xfrm>
            <a:off x="989012" y="1066800"/>
            <a:ext cx="10515600" cy="5562600"/>
          </a:xfrm>
        </p:spPr>
        <p:txBody>
          <a:bodyPr>
            <a:normAutofit fontScale="85000" lnSpcReduction="10000"/>
          </a:bodyPr>
          <a:lstStyle/>
          <a:p>
            <a:pPr eaLnBrk="1" hangingPunct="1">
              <a:lnSpc>
                <a:spcPct val="120000"/>
              </a:lnSpc>
              <a:spcBef>
                <a:spcPts val="0"/>
              </a:spcBef>
              <a:defRPr/>
            </a:pPr>
            <a:r>
              <a:rPr lang="bg-BG" dirty="0" smtClean="0"/>
              <a:t>Как се справяме с проблема след като е възникнал пробив в сигурността?</a:t>
            </a:r>
            <a:endParaRPr lang="en-US" dirty="0" smtClean="0"/>
          </a:p>
          <a:p>
            <a:pPr lvl="1" eaLnBrk="1" hangingPunct="1">
              <a:lnSpc>
                <a:spcPct val="120000"/>
              </a:lnSpc>
              <a:spcBef>
                <a:spcPts val="0"/>
              </a:spcBef>
              <a:defRPr/>
            </a:pPr>
            <a:r>
              <a:rPr lang="bg-BG" dirty="0" smtClean="0"/>
              <a:t>Процесът започва с попълване на документ, който </a:t>
            </a:r>
            <a:r>
              <a:rPr lang="bg-BG" dirty="0" smtClean="0"/>
              <a:t>разработчиците анализират, </a:t>
            </a:r>
            <a:r>
              <a:rPr lang="bg-BG" dirty="0" smtClean="0"/>
              <a:t>за да определи какво може да се </a:t>
            </a:r>
            <a:r>
              <a:rPr lang="bg-BG" dirty="0" smtClean="0"/>
              <a:t>научи от случилото се. </a:t>
            </a:r>
            <a:endParaRPr lang="en-US" dirty="0" smtClean="0"/>
          </a:p>
          <a:p>
            <a:pPr lvl="1" eaLnBrk="1" hangingPunct="1">
              <a:lnSpc>
                <a:spcPct val="120000"/>
              </a:lnSpc>
              <a:spcBef>
                <a:spcPts val="0"/>
              </a:spcBef>
              <a:defRPr/>
            </a:pPr>
            <a:r>
              <a:rPr lang="bg-BG" dirty="0" smtClean="0"/>
              <a:t>Документът включва следните полета:  </a:t>
            </a:r>
            <a:endParaRPr lang="en-US" dirty="0" smtClean="0"/>
          </a:p>
          <a:p>
            <a:pPr lvl="2" eaLnBrk="1" hangingPunct="1">
              <a:lnSpc>
                <a:spcPct val="120000"/>
              </a:lnSpc>
              <a:spcBef>
                <a:spcPts val="0"/>
              </a:spcBef>
              <a:defRPr/>
            </a:pPr>
            <a:r>
              <a:rPr lang="bg-BG" dirty="0"/>
              <a:t>Име на продукта</a:t>
            </a:r>
          </a:p>
          <a:p>
            <a:pPr lvl="2" eaLnBrk="1" hangingPunct="1">
              <a:lnSpc>
                <a:spcPct val="120000"/>
              </a:lnSpc>
              <a:spcBef>
                <a:spcPts val="0"/>
              </a:spcBef>
              <a:defRPr/>
            </a:pPr>
            <a:r>
              <a:rPr lang="bg-BG" dirty="0"/>
              <a:t>Версия на продукта</a:t>
            </a:r>
          </a:p>
          <a:p>
            <a:pPr lvl="2" eaLnBrk="1" hangingPunct="1">
              <a:lnSpc>
                <a:spcPct val="120000"/>
              </a:lnSpc>
              <a:spcBef>
                <a:spcPts val="0"/>
              </a:spcBef>
              <a:defRPr/>
            </a:pPr>
            <a:r>
              <a:rPr lang="bg-BG" dirty="0"/>
              <a:t>Лице/лица за контакт</a:t>
            </a:r>
          </a:p>
          <a:p>
            <a:pPr lvl="2" eaLnBrk="1" hangingPunct="1">
              <a:lnSpc>
                <a:spcPct val="120000"/>
              </a:lnSpc>
              <a:spcBef>
                <a:spcPts val="0"/>
              </a:spcBef>
              <a:defRPr/>
            </a:pPr>
            <a:r>
              <a:rPr lang="bg-BG" dirty="0"/>
              <a:t>Номера на базата данни за грешки</a:t>
            </a:r>
          </a:p>
          <a:p>
            <a:pPr lvl="2" eaLnBrk="1" hangingPunct="1">
              <a:lnSpc>
                <a:spcPct val="120000"/>
              </a:lnSpc>
              <a:spcBef>
                <a:spcPts val="0"/>
              </a:spcBef>
              <a:defRPr/>
            </a:pPr>
            <a:r>
              <a:rPr lang="bg-BG" dirty="0"/>
              <a:t>Описание на уязвимостта</a:t>
            </a:r>
          </a:p>
          <a:p>
            <a:pPr lvl="2" eaLnBrk="1" hangingPunct="1">
              <a:lnSpc>
                <a:spcPct val="120000"/>
              </a:lnSpc>
              <a:spcBef>
                <a:spcPts val="0"/>
              </a:spcBef>
              <a:defRPr/>
            </a:pPr>
            <a:r>
              <a:rPr lang="bg-BG" dirty="0"/>
              <a:t>Последици от уязвимостта</a:t>
            </a:r>
          </a:p>
          <a:p>
            <a:pPr lvl="2" eaLnBrk="1" hangingPunct="1">
              <a:lnSpc>
                <a:spcPct val="120000"/>
              </a:lnSpc>
              <a:spcBef>
                <a:spcPts val="0"/>
              </a:spcBef>
              <a:defRPr/>
            </a:pPr>
            <a:r>
              <a:rPr lang="bg-BG" dirty="0"/>
              <a:t>Дали проблемът съществува в инсталацията по подразбиране на продукта</a:t>
            </a:r>
          </a:p>
          <a:p>
            <a:pPr lvl="2" eaLnBrk="1" hangingPunct="1">
              <a:lnSpc>
                <a:spcPct val="120000"/>
              </a:lnSpc>
              <a:spcBef>
                <a:spcPts val="0"/>
              </a:spcBef>
              <a:defRPr/>
            </a:pPr>
            <a:r>
              <a:rPr lang="bg-BG" dirty="0"/>
              <a:t>Какво биха могли да направят дизайнерите, разработчиците или тестващите, за да предотвратят този недостатък?</a:t>
            </a:r>
          </a:p>
          <a:p>
            <a:pPr lvl="2" eaLnBrk="1" hangingPunct="1">
              <a:lnSpc>
                <a:spcPct val="120000"/>
              </a:lnSpc>
              <a:spcBef>
                <a:spcPts val="0"/>
              </a:spcBef>
              <a:defRPr/>
            </a:pPr>
            <a:r>
              <a:rPr lang="bg-BG" dirty="0"/>
              <a:t>Подробности за поправките, включително разлики в кода, ако е необходимо</a:t>
            </a:r>
          </a:p>
        </p:txBody>
      </p:sp>
    </p:spTree>
    <p:extLst>
      <p:ext uri="{BB962C8B-B14F-4D97-AF65-F5344CB8AC3E}">
        <p14:creationId xmlns:p14="http://schemas.microsoft.com/office/powerpoint/2010/main" val="3760903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834" name="Rectangle 2"/>
          <p:cNvSpPr>
            <a:spLocks noGrp="1" noRot="1" noChangeArrowheads="1"/>
          </p:cNvSpPr>
          <p:nvPr>
            <p:ph type="title"/>
          </p:nvPr>
        </p:nvSpPr>
        <p:spPr/>
        <p:txBody>
          <a:bodyPr/>
          <a:lstStyle/>
          <a:p>
            <a:pPr eaLnBrk="1" hangingPunct="1">
              <a:defRPr/>
            </a:pPr>
            <a:r>
              <a:rPr lang="bg-BG" smtClean="0"/>
              <a:t>Минимизиране на повърхността на атаката </a:t>
            </a:r>
          </a:p>
        </p:txBody>
      </p:sp>
      <p:sp>
        <p:nvSpPr>
          <p:cNvPr id="888835" name="Rectangle 3"/>
          <p:cNvSpPr>
            <a:spLocks noGrp="1" noChangeArrowheads="1"/>
          </p:cNvSpPr>
          <p:nvPr>
            <p:ph type="body" idx="1"/>
          </p:nvPr>
        </p:nvSpPr>
        <p:spPr/>
        <p:txBody>
          <a:bodyPr/>
          <a:lstStyle/>
          <a:p>
            <a:pPr eaLnBrk="1" hangingPunct="1">
              <a:defRPr/>
            </a:pPr>
            <a:r>
              <a:rPr lang="bg-BG" dirty="0" smtClean="0"/>
              <a:t>Когато </a:t>
            </a:r>
            <a:r>
              <a:rPr lang="bg-BG" dirty="0" smtClean="0"/>
              <a:t>се инсталират по-голямо количество от кодове за сигурност и/или се анализират множество мрежови </a:t>
            </a:r>
            <a:r>
              <a:rPr lang="bg-BG" dirty="0" smtClean="0"/>
              <a:t>протоколи, бързо </a:t>
            </a:r>
            <a:r>
              <a:rPr lang="bg-BG" dirty="0" smtClean="0"/>
              <a:t>се достига до разбирането, </a:t>
            </a:r>
            <a:r>
              <a:rPr lang="bg-BG" dirty="0" smtClean="0"/>
              <a:t>че атакуващите имат повече потенциални точки за </a:t>
            </a:r>
            <a:r>
              <a:rPr lang="bg-BG" dirty="0" smtClean="0"/>
              <a:t>влизане когато софтуерът използва повече интерфейсни точки с заобикалящия го свят. </a:t>
            </a:r>
            <a:endParaRPr lang="en-US" dirty="0" smtClean="0"/>
          </a:p>
          <a:p>
            <a:pPr lvl="1">
              <a:defRPr/>
            </a:pPr>
            <a:r>
              <a:rPr lang="bg-BG" dirty="0" smtClean="0"/>
              <a:t>Основно правило: Важно </a:t>
            </a:r>
            <a:r>
              <a:rPr lang="bg-BG" dirty="0" smtClean="0"/>
              <a:t>е да </a:t>
            </a:r>
            <a:r>
              <a:rPr lang="bg-BG" dirty="0" smtClean="0"/>
              <a:t>се сведат </a:t>
            </a:r>
            <a:r>
              <a:rPr lang="bg-BG" dirty="0" smtClean="0"/>
              <a:t>до минимум тези входни точки и да </a:t>
            </a:r>
            <a:r>
              <a:rPr lang="bg-BG" dirty="0" smtClean="0"/>
              <a:t>се позволи </a:t>
            </a:r>
            <a:r>
              <a:rPr lang="bg-BG" dirty="0" smtClean="0"/>
              <a:t>на потребителите да активират функционалността, когато имат нужда от нея. </a:t>
            </a:r>
          </a:p>
        </p:txBody>
      </p:sp>
    </p:spTree>
    <p:extLst>
      <p:ext uri="{BB962C8B-B14F-4D97-AF65-F5344CB8AC3E}">
        <p14:creationId xmlns:p14="http://schemas.microsoft.com/office/powerpoint/2010/main" val="1812594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9858" name="Rectangle 2"/>
          <p:cNvSpPr>
            <a:spLocks noGrp="1" noRot="1" noChangeArrowheads="1"/>
          </p:cNvSpPr>
          <p:nvPr>
            <p:ph type="title"/>
          </p:nvPr>
        </p:nvSpPr>
        <p:spPr/>
        <p:txBody>
          <a:bodyPr/>
          <a:lstStyle/>
          <a:p>
            <a:pPr eaLnBrk="1" hangingPunct="1">
              <a:defRPr/>
            </a:pPr>
            <a:r>
              <a:rPr lang="bg-BG" smtClean="0"/>
              <a:t>Повърхност на атака на </a:t>
            </a:r>
            <a:r>
              <a:rPr lang="en-US" smtClean="0"/>
              <a:t>приложението </a:t>
            </a:r>
          </a:p>
        </p:txBody>
      </p:sp>
      <p:sp>
        <p:nvSpPr>
          <p:cNvPr id="889859" name="Rectangle 3"/>
          <p:cNvSpPr>
            <a:spLocks noGrp="1" noChangeArrowheads="1"/>
          </p:cNvSpPr>
          <p:nvPr>
            <p:ph type="body" idx="1"/>
          </p:nvPr>
        </p:nvSpPr>
        <p:spPr>
          <a:xfrm>
            <a:off x="1065212" y="990600"/>
            <a:ext cx="10439400" cy="5715000"/>
          </a:xfrm>
        </p:spPr>
        <p:txBody>
          <a:bodyPr>
            <a:normAutofit/>
          </a:bodyPr>
          <a:lstStyle/>
          <a:p>
            <a:pPr eaLnBrk="1" hangingPunct="1">
              <a:lnSpc>
                <a:spcPct val="100000"/>
              </a:lnSpc>
              <a:spcBef>
                <a:spcPts val="0"/>
              </a:spcBef>
              <a:defRPr/>
            </a:pPr>
            <a:r>
              <a:rPr lang="bg-BG" sz="2800" dirty="0" smtClean="0"/>
              <a:t>Трябва да отчетете следните елементи, които се отнасят до вашата кандидатура: </a:t>
            </a:r>
          </a:p>
          <a:p>
            <a:pPr lvl="1" eaLnBrk="1" hangingPunct="1">
              <a:lnSpc>
                <a:spcPct val="100000"/>
              </a:lnSpc>
              <a:spcBef>
                <a:spcPts val="0"/>
              </a:spcBef>
              <a:defRPr/>
            </a:pPr>
            <a:r>
              <a:rPr lang="bg-BG" sz="2400" dirty="0" smtClean="0"/>
              <a:t>Брой отворени </a:t>
            </a:r>
            <a:r>
              <a:rPr lang="bg-BG" sz="2400" dirty="0" err="1" smtClean="0"/>
              <a:t>сокети</a:t>
            </a:r>
            <a:r>
              <a:rPr lang="bg-BG" sz="2400" dirty="0" smtClean="0"/>
              <a:t> (TCP и UDP)</a:t>
            </a:r>
          </a:p>
          <a:p>
            <a:pPr lvl="1" eaLnBrk="1" hangingPunct="1">
              <a:lnSpc>
                <a:spcPct val="100000"/>
              </a:lnSpc>
              <a:spcBef>
                <a:spcPts val="0"/>
              </a:spcBef>
              <a:defRPr/>
            </a:pPr>
            <a:r>
              <a:rPr lang="bg-BG" sz="2400" dirty="0" smtClean="0"/>
              <a:t>Брой отворени именувани канали (</a:t>
            </a:r>
            <a:r>
              <a:rPr lang="en-US" sz="2400" dirty="0" smtClean="0"/>
              <a:t>named pipes)</a:t>
            </a:r>
            <a:endParaRPr lang="bg-BG" sz="2400" dirty="0" smtClean="0"/>
          </a:p>
          <a:p>
            <a:pPr lvl="1" eaLnBrk="1" hangingPunct="1">
              <a:lnSpc>
                <a:spcPct val="100000"/>
              </a:lnSpc>
              <a:spcBef>
                <a:spcPts val="0"/>
              </a:spcBef>
              <a:defRPr/>
            </a:pPr>
            <a:r>
              <a:rPr lang="bg-BG" sz="2400" dirty="0" smtClean="0"/>
              <a:t>Брой на отворените крайни точки за отдалечено извикване на процедури (RPC)</a:t>
            </a:r>
          </a:p>
          <a:p>
            <a:pPr lvl="1" eaLnBrk="1" hangingPunct="1">
              <a:lnSpc>
                <a:spcPct val="100000"/>
              </a:lnSpc>
              <a:spcBef>
                <a:spcPts val="0"/>
              </a:spcBef>
              <a:defRPr/>
            </a:pPr>
            <a:r>
              <a:rPr lang="bg-BG" sz="2400" dirty="0" smtClean="0"/>
              <a:t>Брой услуги</a:t>
            </a:r>
          </a:p>
          <a:p>
            <a:pPr lvl="1" eaLnBrk="1" hangingPunct="1">
              <a:lnSpc>
                <a:spcPct val="100000"/>
              </a:lnSpc>
              <a:spcBef>
                <a:spcPts val="0"/>
              </a:spcBef>
              <a:defRPr/>
            </a:pPr>
            <a:r>
              <a:rPr lang="bg-BG" sz="2400" dirty="0" smtClean="0"/>
              <a:t>Брой на услугите, изпълнявани по подразбиране</a:t>
            </a:r>
          </a:p>
          <a:p>
            <a:pPr lvl="1" eaLnBrk="1" hangingPunct="1">
              <a:lnSpc>
                <a:spcPct val="100000"/>
              </a:lnSpc>
              <a:spcBef>
                <a:spcPts val="0"/>
              </a:spcBef>
              <a:defRPr/>
            </a:pPr>
            <a:r>
              <a:rPr lang="bg-BG" sz="2400" dirty="0" smtClean="0"/>
              <a:t>Брой услуги, работещи с повишени привилегии</a:t>
            </a:r>
          </a:p>
          <a:p>
            <a:pPr lvl="1" eaLnBrk="1" hangingPunct="1">
              <a:lnSpc>
                <a:spcPct val="100000"/>
              </a:lnSpc>
              <a:spcBef>
                <a:spcPts val="0"/>
              </a:spcBef>
              <a:defRPr/>
            </a:pPr>
            <a:r>
              <a:rPr lang="bg-BG" sz="2400" dirty="0" smtClean="0"/>
              <a:t>Брой ISAPI филтри и приложения</a:t>
            </a:r>
          </a:p>
          <a:p>
            <a:pPr lvl="1" eaLnBrk="1" hangingPunct="1">
              <a:lnSpc>
                <a:spcPct val="100000"/>
              </a:lnSpc>
              <a:spcBef>
                <a:spcPts val="0"/>
              </a:spcBef>
              <a:defRPr/>
            </a:pPr>
            <a:r>
              <a:rPr lang="bg-BG" sz="2400" dirty="0" smtClean="0"/>
              <a:t>Брой </a:t>
            </a:r>
            <a:r>
              <a:rPr lang="en-US" sz="2400" dirty="0" smtClean="0"/>
              <a:t>WEB-</a:t>
            </a:r>
            <a:r>
              <a:rPr lang="bg-BG" sz="2400" dirty="0" smtClean="0"/>
              <a:t>страници с динамично съдържание</a:t>
            </a:r>
          </a:p>
          <a:p>
            <a:pPr lvl="1" eaLnBrk="1" hangingPunct="1">
              <a:lnSpc>
                <a:spcPct val="100000"/>
              </a:lnSpc>
              <a:spcBef>
                <a:spcPts val="0"/>
              </a:spcBef>
              <a:defRPr/>
            </a:pPr>
            <a:r>
              <a:rPr lang="bg-BG" sz="2400" dirty="0" smtClean="0"/>
              <a:t>Брой акаунти, които работят с администраторски права</a:t>
            </a:r>
          </a:p>
          <a:p>
            <a:pPr lvl="1" eaLnBrk="1" hangingPunct="1">
              <a:lnSpc>
                <a:spcPct val="100000"/>
              </a:lnSpc>
              <a:spcBef>
                <a:spcPts val="0"/>
              </a:spcBef>
              <a:defRPr/>
            </a:pPr>
            <a:r>
              <a:rPr lang="bg-BG" sz="2400" dirty="0" smtClean="0"/>
              <a:t>Брой на файловете, директориите и ключовете на регистъра със слаби списъци за контрол на достъпа (ACL)</a:t>
            </a:r>
            <a:endParaRPr lang="bg-BG" sz="2400" dirty="0"/>
          </a:p>
        </p:txBody>
      </p:sp>
    </p:spTree>
    <p:extLst>
      <p:ext uri="{BB962C8B-B14F-4D97-AF65-F5344CB8AC3E}">
        <p14:creationId xmlns:p14="http://schemas.microsoft.com/office/powerpoint/2010/main" val="1237521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Rot="1" noChangeArrowheads="1"/>
          </p:cNvSpPr>
          <p:nvPr>
            <p:ph type="title"/>
          </p:nvPr>
        </p:nvSpPr>
        <p:spPr/>
        <p:txBody>
          <a:bodyPr>
            <a:normAutofit fontScale="90000"/>
          </a:bodyPr>
          <a:lstStyle/>
          <a:p>
            <a:pPr eaLnBrk="1" hangingPunct="1">
              <a:defRPr/>
            </a:pPr>
            <a:r>
              <a:rPr lang="bg-BG" dirty="0" smtClean="0"/>
              <a:t>Използване на защитени настройки по подразбиране </a:t>
            </a:r>
          </a:p>
        </p:txBody>
      </p:sp>
      <p:sp>
        <p:nvSpPr>
          <p:cNvPr id="890883" name="Rectangle 3"/>
          <p:cNvSpPr>
            <a:spLocks noGrp="1" noChangeArrowheads="1"/>
          </p:cNvSpPr>
          <p:nvPr>
            <p:ph type="body" idx="1"/>
          </p:nvPr>
        </p:nvSpPr>
        <p:spPr>
          <a:xfrm>
            <a:off x="989012" y="1066800"/>
            <a:ext cx="10591800" cy="5562600"/>
          </a:xfrm>
        </p:spPr>
        <p:txBody>
          <a:bodyPr>
            <a:normAutofit/>
          </a:bodyPr>
          <a:lstStyle/>
          <a:p>
            <a:pPr eaLnBrk="1" hangingPunct="1">
              <a:defRPr/>
            </a:pPr>
            <a:r>
              <a:rPr lang="bg-BG" sz="2800" dirty="0"/>
              <a:t>Използването на сигурни настройки по подразбиране е една от най-трудните, но важни цели за разработчика на приложения. </a:t>
            </a:r>
            <a:endParaRPr lang="en-US" sz="2800" dirty="0"/>
          </a:p>
          <a:p>
            <a:pPr lvl="1" eaLnBrk="1" hangingPunct="1">
              <a:defRPr/>
            </a:pPr>
            <a:r>
              <a:rPr lang="bg-BG" sz="2400" dirty="0"/>
              <a:t>Трябва да изберете подходящите функции за вашите потребители и да се уверите, че тези функции са сигурни. </a:t>
            </a:r>
            <a:endParaRPr lang="en-US" sz="2400" dirty="0"/>
          </a:p>
          <a:p>
            <a:pPr lvl="1" eaLnBrk="1" hangingPunct="1">
              <a:defRPr/>
            </a:pPr>
            <a:r>
              <a:rPr lang="bg-BG" sz="2400" dirty="0"/>
              <a:t>По-рядко използваните функции трябва да са изключени по подразбиране, за да се намали потенциалната опасност за сигурността. </a:t>
            </a:r>
            <a:endParaRPr lang="en-US" sz="2400" dirty="0"/>
          </a:p>
          <a:p>
            <a:pPr lvl="2" eaLnBrk="1" hangingPunct="1">
              <a:defRPr/>
            </a:pPr>
            <a:r>
              <a:rPr lang="bg-BG" sz="2000" dirty="0"/>
              <a:t>Ако дадена функция не работи, тя не може да бъде уязвима за атака. </a:t>
            </a:r>
            <a:endParaRPr lang="en-US" sz="2000" dirty="0"/>
          </a:p>
          <a:p>
            <a:pPr eaLnBrk="1" hangingPunct="1">
              <a:defRPr/>
            </a:pPr>
            <a:r>
              <a:rPr lang="en-US" sz="2800" dirty="0"/>
              <a:t>Принцип на Парето (правилото 80-20)</a:t>
            </a:r>
          </a:p>
          <a:p>
            <a:pPr lvl="1" eaLnBrk="1" hangingPunct="1">
              <a:defRPr/>
            </a:pPr>
            <a:r>
              <a:rPr lang="en-US" altLang="en-US" sz="2400" dirty="0"/>
              <a:t>Кои 20% от продукта се използват от 80% от потребителите? </a:t>
            </a:r>
          </a:p>
          <a:p>
            <a:pPr lvl="1" eaLnBrk="1" hangingPunct="1">
              <a:defRPr/>
            </a:pPr>
            <a:r>
              <a:rPr lang="en-US" altLang="en-US" sz="2400" dirty="0"/>
              <a:t>Комплектът от функции за 20 % е включен по подразбиране, а комплектът от функции за 80 % е изключен по подразбиране с прости инструкции и опции в менюто за активиране на функциите. </a:t>
            </a:r>
          </a:p>
          <a:p>
            <a:pPr lvl="1" eaLnBrk="1" hangingPunct="1">
              <a:defRPr/>
            </a:pPr>
            <a:endParaRPr lang="en-US" sz="2400" dirty="0"/>
          </a:p>
        </p:txBody>
      </p:sp>
    </p:spTree>
    <p:extLst>
      <p:ext uri="{BB962C8B-B14F-4D97-AF65-F5344CB8AC3E}">
        <p14:creationId xmlns:p14="http://schemas.microsoft.com/office/powerpoint/2010/main" val="198319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2930" name="Rectangle 2"/>
          <p:cNvSpPr>
            <a:spLocks noGrp="1" noRot="1" noChangeArrowheads="1"/>
          </p:cNvSpPr>
          <p:nvPr>
            <p:ph type="title"/>
          </p:nvPr>
        </p:nvSpPr>
        <p:spPr/>
        <p:txBody>
          <a:bodyPr>
            <a:normAutofit fontScale="90000"/>
          </a:bodyPr>
          <a:lstStyle/>
          <a:p>
            <a:pPr eaLnBrk="1" hangingPunct="1">
              <a:defRPr/>
            </a:pPr>
            <a:r>
              <a:rPr lang="bg-BG" smtClean="0"/>
              <a:t>Използване на защитени настройки по подразбиране </a:t>
            </a:r>
          </a:p>
        </p:txBody>
      </p:sp>
      <p:sp>
        <p:nvSpPr>
          <p:cNvPr id="892931" name="Rectangle 3"/>
          <p:cNvSpPr>
            <a:spLocks noGrp="1" noChangeArrowheads="1"/>
          </p:cNvSpPr>
          <p:nvPr>
            <p:ph type="body" idx="1"/>
          </p:nvPr>
        </p:nvSpPr>
        <p:spPr>
          <a:xfrm>
            <a:off x="1065212" y="1066800"/>
            <a:ext cx="10668000" cy="5638800"/>
          </a:xfrm>
        </p:spPr>
        <p:txBody>
          <a:bodyPr>
            <a:normAutofit/>
          </a:bodyPr>
          <a:lstStyle/>
          <a:p>
            <a:pPr eaLnBrk="1" hangingPunct="1">
              <a:defRPr/>
            </a:pPr>
            <a:r>
              <a:rPr lang="en-US" sz="2800" dirty="0"/>
              <a:t>Изключването на функциите по подразбиране има и отрицателна страна: </a:t>
            </a:r>
          </a:p>
          <a:p>
            <a:pPr lvl="1" eaLnBrk="1" hangingPunct="1">
              <a:defRPr/>
            </a:pPr>
            <a:r>
              <a:rPr lang="en-US" sz="2400" dirty="0"/>
              <a:t>Програмите за настройка, които разчитат на вашата функция, може да не успеят да се справят, ако приемат, че приложението ви е стартирано. </a:t>
            </a:r>
          </a:p>
          <a:p>
            <a:pPr lvl="2" eaLnBrk="1" hangingPunct="1">
              <a:defRPr/>
            </a:pPr>
            <a:r>
              <a:rPr lang="en-US" sz="2000" dirty="0"/>
              <a:t>Не използвайте това като извинение, за да включите отново функцията. </a:t>
            </a:r>
          </a:p>
          <a:p>
            <a:pPr lvl="1" eaLnBrk="1" hangingPunct="1">
              <a:defRPr/>
            </a:pPr>
            <a:r>
              <a:rPr lang="en-US" sz="2400" dirty="0"/>
              <a:t>Истинското решение на проблема е да го разрешите в инструмента за настройка на зависимата програма. </a:t>
            </a:r>
          </a:p>
          <a:p>
            <a:pPr eaLnBrk="1" hangingPunct="1">
              <a:defRPr/>
            </a:pPr>
            <a:r>
              <a:rPr lang="en-US" sz="2800" dirty="0"/>
              <a:t>Друга причина да не се разрешават функции по подразбиране няма нищо общо със сигурността: производителността. </a:t>
            </a:r>
          </a:p>
          <a:p>
            <a:pPr lvl="1" eaLnBrk="1" hangingPunct="1">
              <a:defRPr/>
            </a:pPr>
            <a:r>
              <a:rPr lang="en-US" sz="2400" dirty="0"/>
              <a:t>Повече функции означават повече използвана памет; повече използвана памет води до повече страници на диска, което води до влошаване на производителността.</a:t>
            </a:r>
          </a:p>
        </p:txBody>
      </p:sp>
    </p:spTree>
    <p:extLst>
      <p:ext uri="{BB962C8B-B14F-4D97-AF65-F5344CB8AC3E}">
        <p14:creationId xmlns:p14="http://schemas.microsoft.com/office/powerpoint/2010/main" val="3406325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p:cNvSpPr>
            <a:spLocks noGrp="1" noRot="1" noChangeArrowheads="1"/>
          </p:cNvSpPr>
          <p:nvPr>
            <p:ph type="title"/>
          </p:nvPr>
        </p:nvSpPr>
        <p:spPr/>
        <p:txBody>
          <a:bodyPr>
            <a:normAutofit fontScale="90000"/>
          </a:bodyPr>
          <a:lstStyle/>
          <a:p>
            <a:pPr eaLnBrk="1" hangingPunct="1">
              <a:defRPr/>
            </a:pPr>
            <a:r>
              <a:rPr lang="bg-BG" smtClean="0"/>
              <a:t>Използване на защитени настройки по подразбиране </a:t>
            </a:r>
          </a:p>
        </p:txBody>
      </p:sp>
      <p:sp>
        <p:nvSpPr>
          <p:cNvPr id="893955" name="Rectangle 3"/>
          <p:cNvSpPr>
            <a:spLocks noGrp="1" noChangeArrowheads="1"/>
          </p:cNvSpPr>
          <p:nvPr>
            <p:ph type="body" idx="1"/>
          </p:nvPr>
        </p:nvSpPr>
        <p:spPr>
          <a:xfrm>
            <a:off x="1065212" y="1066800"/>
            <a:ext cx="10591800" cy="5562600"/>
          </a:xfrm>
        </p:spPr>
        <p:txBody>
          <a:bodyPr/>
          <a:lstStyle/>
          <a:p>
            <a:pPr eaLnBrk="1" hangingPunct="1">
              <a:defRPr/>
            </a:pPr>
            <a:r>
              <a:rPr lang="bg-BG" dirty="0" smtClean="0"/>
              <a:t>Когато разрешите повече функции по подразбиране, увеличавате възможността за нарушаване на сигурността, </a:t>
            </a:r>
            <a:r>
              <a:rPr lang="en-US" dirty="0" smtClean="0"/>
              <a:t/>
            </a:r>
            <a:br>
              <a:rPr lang="en-US" dirty="0" smtClean="0"/>
            </a:br>
            <a:r>
              <a:rPr lang="bg-BG" dirty="0" smtClean="0"/>
              <a:t>затова сведете набора от разрешени функции до минимум. </a:t>
            </a:r>
            <a:endParaRPr lang="en-US" dirty="0" smtClean="0"/>
          </a:p>
          <a:p>
            <a:pPr lvl="1" eaLnBrk="1" hangingPunct="1">
              <a:defRPr/>
            </a:pPr>
            <a:r>
              <a:rPr lang="bg-BG" dirty="0" smtClean="0"/>
              <a:t>Освен ако не можете да докажете, че потребителите ви ще изпитат огромни неудобства от изключването на дадена функция, оставете я изключена и осигурете лесен механизъм за активиране на функцията, ако е необходима. </a:t>
            </a:r>
            <a:endParaRPr lang="en-US" dirty="0" smtClean="0"/>
          </a:p>
        </p:txBody>
      </p:sp>
    </p:spTree>
    <p:extLst>
      <p:ext uri="{BB962C8B-B14F-4D97-AF65-F5344CB8AC3E}">
        <p14:creationId xmlns:p14="http://schemas.microsoft.com/office/powerpoint/2010/main" val="1672692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Rot="1" noChangeArrowheads="1"/>
          </p:cNvSpPr>
          <p:nvPr>
            <p:ph type="title"/>
          </p:nvPr>
        </p:nvSpPr>
        <p:spPr/>
        <p:txBody>
          <a:bodyPr/>
          <a:lstStyle/>
          <a:p>
            <a:pPr eaLnBrk="1" hangingPunct="1">
              <a:defRPr/>
            </a:pPr>
            <a:r>
              <a:rPr lang="bg-BG" smtClean="0"/>
              <a:t>Използване на защита в дълбочина </a:t>
            </a:r>
          </a:p>
        </p:txBody>
      </p:sp>
      <p:sp>
        <p:nvSpPr>
          <p:cNvPr id="894979" name="Rectangle 3"/>
          <p:cNvSpPr>
            <a:spLocks noGrp="1" noChangeArrowheads="1"/>
          </p:cNvSpPr>
          <p:nvPr>
            <p:ph type="body" idx="1"/>
          </p:nvPr>
        </p:nvSpPr>
        <p:spPr/>
        <p:txBody>
          <a:bodyPr/>
          <a:lstStyle/>
          <a:p>
            <a:pPr eaLnBrk="1" hangingPunct="1">
              <a:defRPr/>
            </a:pPr>
            <a:r>
              <a:rPr lang="bg-BG" smtClean="0"/>
              <a:t>Принципът "защита в дълбочина" е ясен: </a:t>
            </a:r>
            <a:endParaRPr lang="en-US" smtClean="0"/>
          </a:p>
          <a:p>
            <a:pPr lvl="1" eaLnBrk="1" hangingPunct="1">
              <a:defRPr/>
            </a:pPr>
            <a:r>
              <a:rPr lang="bg-BG" smtClean="0"/>
              <a:t>вашето приложение е последният компонент и</a:t>
            </a:r>
            <a:endParaRPr lang="en-US" smtClean="0"/>
          </a:p>
          <a:p>
            <a:pPr lvl="1" eaLnBrk="1" hangingPunct="1">
              <a:defRPr/>
            </a:pPr>
            <a:r>
              <a:rPr lang="bg-BG" smtClean="0"/>
              <a:t>всеки защитен механизъм, който ви предпазва, е унищожен</a:t>
            </a:r>
            <a:r>
              <a:rPr lang="en-US" smtClean="0"/>
              <a:t>.</a:t>
            </a:r>
          </a:p>
          <a:p>
            <a:pPr lvl="1" eaLnBrk="1" hangingPunct="1">
              <a:defRPr/>
            </a:pPr>
            <a:r>
              <a:rPr lang="bg-BG" smtClean="0"/>
              <a:t>Трябва да се защитите</a:t>
            </a:r>
            <a:r>
              <a:rPr lang="en-US" smtClean="0"/>
              <a:t>!</a:t>
            </a:r>
          </a:p>
          <a:p>
            <a:pPr eaLnBrk="1" hangingPunct="1">
              <a:defRPr/>
            </a:pPr>
            <a:r>
              <a:rPr lang="bg-BG" smtClean="0"/>
              <a:t>Винаги бъдете готови да защитите приложението си от атака, защото защитните функции могат да бъдат унищожени. </a:t>
            </a:r>
            <a:endParaRPr lang="en-US" smtClean="0"/>
          </a:p>
          <a:p>
            <a:pPr lvl="1" eaLnBrk="1" hangingPunct="1">
              <a:defRPr/>
            </a:pPr>
            <a:r>
              <a:rPr lang="bg-BG" smtClean="0"/>
              <a:t>Никога не се отказвайте. </a:t>
            </a:r>
          </a:p>
        </p:txBody>
      </p:sp>
    </p:spTree>
    <p:extLst>
      <p:ext uri="{BB962C8B-B14F-4D97-AF65-F5344CB8AC3E}">
        <p14:creationId xmlns:p14="http://schemas.microsoft.com/office/powerpoint/2010/main" val="382842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Rot="1" noChangeArrowheads="1"/>
          </p:cNvSpPr>
          <p:nvPr>
            <p:ph type="title"/>
          </p:nvPr>
        </p:nvSpPr>
        <p:spPr/>
        <p:txBody>
          <a:bodyPr/>
          <a:lstStyle/>
          <a:p>
            <a:pPr eaLnBrk="1" hangingPunct="1">
              <a:defRPr/>
            </a:pPr>
            <a:r>
              <a:rPr lang="bg-BG" smtClean="0"/>
              <a:t>Използване на защита в дълбочина </a:t>
            </a:r>
          </a:p>
        </p:txBody>
      </p:sp>
      <p:sp>
        <p:nvSpPr>
          <p:cNvPr id="896003" name="Rectangle 3"/>
          <p:cNvSpPr>
            <a:spLocks noGrp="1" noChangeArrowheads="1"/>
          </p:cNvSpPr>
          <p:nvPr>
            <p:ph type="body" idx="1"/>
          </p:nvPr>
        </p:nvSpPr>
        <p:spPr/>
        <p:txBody>
          <a:bodyPr/>
          <a:lstStyle/>
          <a:p>
            <a:pPr eaLnBrk="1" hangingPunct="1">
              <a:defRPr/>
            </a:pPr>
            <a:r>
              <a:rPr lang="bg-BG" dirty="0" smtClean="0"/>
              <a:t>За съжаление голяма част от софтуера е проектиран и написан по начин, който води до пълен компромис при пробив на защитната стена. </a:t>
            </a:r>
            <a:endParaRPr lang="en-US" dirty="0" smtClean="0"/>
          </a:p>
          <a:p>
            <a:pPr eaLnBrk="1" hangingPunct="1">
              <a:defRPr/>
            </a:pPr>
            <a:r>
              <a:rPr lang="bg-BG" dirty="0" smtClean="0"/>
              <a:t>Днес това не е достатъчно. </a:t>
            </a:r>
            <a:endParaRPr lang="en-US" dirty="0" smtClean="0"/>
          </a:p>
          <a:p>
            <a:pPr lvl="1" eaLnBrk="1" hangingPunct="1">
              <a:defRPr/>
            </a:pPr>
            <a:r>
              <a:rPr lang="bg-BG" dirty="0" smtClean="0"/>
              <a:t>Това, че някой защитен механизъм е бил компрометиран, не ви дава право да признаете поражението си.</a:t>
            </a:r>
            <a:endParaRPr lang="en-US" dirty="0" smtClean="0"/>
          </a:p>
          <a:p>
            <a:pPr eaLnBrk="1" hangingPunct="1">
              <a:defRPr/>
            </a:pPr>
            <a:r>
              <a:rPr lang="bg-BG" dirty="0" smtClean="0"/>
              <a:t>Не разчитайте, че други системи ще ви защитят. </a:t>
            </a:r>
            <a:endParaRPr lang="en-US" dirty="0" smtClean="0"/>
          </a:p>
          <a:p>
            <a:pPr lvl="1" eaLnBrk="1" hangingPunct="1">
              <a:defRPr/>
            </a:pPr>
            <a:r>
              <a:rPr lang="bg-BG" dirty="0" smtClean="0"/>
              <a:t>Това е същността на защитата в дълбочина: на определен етап трябва да се защитите. </a:t>
            </a:r>
            <a:endParaRPr lang="en-US" dirty="0" smtClean="0"/>
          </a:p>
        </p:txBody>
      </p:sp>
    </p:spTree>
    <p:extLst>
      <p:ext uri="{BB962C8B-B14F-4D97-AF65-F5344CB8AC3E}">
        <p14:creationId xmlns:p14="http://schemas.microsoft.com/office/powerpoint/2010/main" val="4285228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Grp="1" noRot="1" noChangeArrowheads="1"/>
          </p:cNvSpPr>
          <p:nvPr>
            <p:ph type="title"/>
          </p:nvPr>
        </p:nvSpPr>
        <p:spPr/>
        <p:txBody>
          <a:bodyPr/>
          <a:lstStyle/>
          <a:p>
            <a:pPr eaLnBrk="1" hangingPunct="1">
              <a:defRPr/>
            </a:pPr>
            <a:r>
              <a:rPr lang="bg-BG" smtClean="0"/>
              <a:t>Използване на защита в дълбочина </a:t>
            </a:r>
          </a:p>
        </p:txBody>
      </p:sp>
      <p:sp>
        <p:nvSpPr>
          <p:cNvPr id="897027" name="Rectangle 3"/>
          <p:cNvSpPr>
            <a:spLocks noGrp="1" noChangeArrowheads="1"/>
          </p:cNvSpPr>
          <p:nvPr>
            <p:ph type="body" idx="1"/>
          </p:nvPr>
        </p:nvSpPr>
        <p:spPr/>
        <p:txBody>
          <a:bodyPr>
            <a:normAutofit lnSpcReduction="10000"/>
          </a:bodyPr>
          <a:lstStyle/>
          <a:p>
            <a:pPr eaLnBrk="1" hangingPunct="1">
              <a:lnSpc>
                <a:spcPct val="90000"/>
              </a:lnSpc>
              <a:defRPr/>
            </a:pPr>
            <a:r>
              <a:rPr lang="bg-BG" smtClean="0"/>
              <a:t>Поставете се на борба, защото софтуерът се проваля, хардуерът се проваля и хората се провалят. </a:t>
            </a:r>
            <a:endParaRPr lang="en-US" smtClean="0"/>
          </a:p>
          <a:p>
            <a:pPr lvl="1" eaLnBrk="1" hangingPunct="1">
              <a:lnSpc>
                <a:spcPct val="90000"/>
              </a:lnSpc>
              <a:defRPr/>
            </a:pPr>
            <a:r>
              <a:rPr lang="bg-BG" smtClean="0"/>
              <a:t>Хората създават софтуер, хората имат недостатъци и следователно софтуерът е недостатъчен. </a:t>
            </a:r>
            <a:endParaRPr lang="en-US" smtClean="0"/>
          </a:p>
          <a:p>
            <a:pPr eaLnBrk="1" hangingPunct="1">
              <a:lnSpc>
                <a:spcPct val="90000"/>
              </a:lnSpc>
              <a:defRPr/>
            </a:pPr>
            <a:r>
              <a:rPr lang="bg-BG" smtClean="0"/>
              <a:t>Трябва да приемете, че ще възникнат грешки, които ще доведат до уязвимости в сигурността. </a:t>
            </a:r>
            <a:endParaRPr lang="en-US" smtClean="0"/>
          </a:p>
          <a:p>
            <a:pPr lvl="1" eaLnBrk="1" hangingPunct="1">
              <a:lnSpc>
                <a:spcPct val="90000"/>
              </a:lnSpc>
              <a:defRPr/>
            </a:pPr>
            <a:r>
              <a:rPr lang="bg-BG" smtClean="0"/>
              <a:t>Това означава, че единственият защитен слой пред вас вероятно ще бъде компрометиран, така че какви са плановете ви, ако той бъде разрушен? </a:t>
            </a:r>
            <a:endParaRPr lang="en-US" smtClean="0"/>
          </a:p>
          <a:p>
            <a:pPr eaLnBrk="1" hangingPunct="1">
              <a:lnSpc>
                <a:spcPct val="90000"/>
              </a:lnSpc>
              <a:defRPr/>
            </a:pPr>
            <a:r>
              <a:rPr lang="bg-BG" smtClean="0"/>
              <a:t>Защитата в дълбочина спомага за намаляване на вероятността от възникване на единична точка на отказ в системата. </a:t>
            </a:r>
          </a:p>
        </p:txBody>
      </p:sp>
    </p:spTree>
    <p:extLst>
      <p:ext uri="{BB962C8B-B14F-4D97-AF65-F5344CB8AC3E}">
        <p14:creationId xmlns:p14="http://schemas.microsoft.com/office/powerpoint/2010/main" val="2731307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Rot="1" noChangeArrowheads="1"/>
          </p:cNvSpPr>
          <p:nvPr>
            <p:ph type="title"/>
          </p:nvPr>
        </p:nvSpPr>
        <p:spPr/>
        <p:txBody>
          <a:bodyPr/>
          <a:lstStyle/>
          <a:p>
            <a:pPr eaLnBrk="1" hangingPunct="1">
              <a:defRPr/>
            </a:pPr>
            <a:r>
              <a:rPr lang="bg-BG" smtClean="0"/>
              <a:t>Използване на най-малките привилегии</a:t>
            </a:r>
          </a:p>
        </p:txBody>
      </p:sp>
      <p:sp>
        <p:nvSpPr>
          <p:cNvPr id="898051" name="Rectangle 3"/>
          <p:cNvSpPr>
            <a:spLocks noGrp="1" noChangeArrowheads="1"/>
          </p:cNvSpPr>
          <p:nvPr>
            <p:ph type="body" idx="1"/>
          </p:nvPr>
        </p:nvSpPr>
        <p:spPr/>
        <p:txBody>
          <a:bodyPr/>
          <a:lstStyle/>
          <a:p>
            <a:pPr eaLnBrk="1" hangingPunct="1">
              <a:lnSpc>
                <a:spcPct val="90000"/>
              </a:lnSpc>
              <a:defRPr/>
            </a:pPr>
            <a:r>
              <a:rPr lang="bg-BG" dirty="0" smtClean="0"/>
              <a:t>Всички приложения трябва да се изпълняват с най-малките привилегии, необходими за изпълнение на работата, и не повече. </a:t>
            </a:r>
          </a:p>
          <a:p>
            <a:pPr lvl="1" eaLnBrk="1" hangingPunct="1">
              <a:lnSpc>
                <a:spcPct val="90000"/>
              </a:lnSpc>
              <a:defRPr/>
            </a:pPr>
            <a:r>
              <a:rPr lang="bg-BG" dirty="0" smtClean="0"/>
              <a:t>Влезли сте в компютъра си като член на групата на локалните администратори, нали? </a:t>
            </a:r>
          </a:p>
          <a:p>
            <a:pPr eaLnBrk="1" hangingPunct="1">
              <a:lnSpc>
                <a:spcPct val="90000"/>
              </a:lnSpc>
              <a:defRPr/>
            </a:pPr>
            <a:r>
              <a:rPr lang="bg-BG" dirty="0" smtClean="0"/>
              <a:t>Причината за работа с най-малките привилегии е съвсем проста. </a:t>
            </a:r>
          </a:p>
          <a:p>
            <a:pPr lvl="1" eaLnBrk="1" hangingPunct="1">
              <a:lnSpc>
                <a:spcPct val="90000"/>
              </a:lnSpc>
              <a:defRPr/>
            </a:pPr>
            <a:r>
              <a:rPr lang="bg-BG" dirty="0" smtClean="0"/>
              <a:t>Ако в кода бъде открита уязвимост в сигурността и нападателят може да инжектира код в процеса, да накара кода да изпълнява чувствителни задачи или да стартира троянски кон или вирус, злонамереният код ще се изпълнява със същите привилегии като компрометирания процес. </a:t>
            </a:r>
            <a:endParaRPr lang="bg-BG" dirty="0" smtClean="0"/>
          </a:p>
        </p:txBody>
      </p:sp>
    </p:spTree>
    <p:extLst>
      <p:ext uri="{BB962C8B-B14F-4D97-AF65-F5344CB8AC3E}">
        <p14:creationId xmlns:p14="http://schemas.microsoft.com/office/powerpoint/2010/main" val="1369791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Rot="1" noChangeArrowheads="1"/>
          </p:cNvSpPr>
          <p:nvPr>
            <p:ph type="title"/>
          </p:nvPr>
        </p:nvSpPr>
        <p:spPr/>
        <p:txBody>
          <a:bodyPr/>
          <a:lstStyle/>
          <a:p>
            <a:pPr eaLnBrk="1" hangingPunct="1">
              <a:defRPr/>
            </a:pPr>
            <a:r>
              <a:rPr lang="bg-BG" smtClean="0"/>
              <a:t>Използване на най-малките привилегии</a:t>
            </a:r>
          </a:p>
        </p:txBody>
      </p:sp>
      <p:sp>
        <p:nvSpPr>
          <p:cNvPr id="899075" name="Rectangle 3"/>
          <p:cNvSpPr>
            <a:spLocks noGrp="1" noChangeArrowheads="1"/>
          </p:cNvSpPr>
          <p:nvPr>
            <p:ph type="body" idx="1"/>
          </p:nvPr>
        </p:nvSpPr>
        <p:spPr/>
        <p:txBody>
          <a:bodyPr>
            <a:normAutofit lnSpcReduction="10000"/>
          </a:bodyPr>
          <a:lstStyle/>
          <a:p>
            <a:pPr eaLnBrk="1" hangingPunct="1">
              <a:lnSpc>
                <a:spcPct val="90000"/>
              </a:lnSpc>
              <a:defRPr/>
            </a:pPr>
            <a:r>
              <a:rPr lang="bg-BG" smtClean="0"/>
              <a:t>Когато създавате приложението си, запишете до какви ресурси трябва да има достъп и какви специални задачи трябва да изпълнява. </a:t>
            </a:r>
            <a:endParaRPr lang="en-US" smtClean="0"/>
          </a:p>
          <a:p>
            <a:pPr lvl="1" eaLnBrk="1" hangingPunct="1">
              <a:lnSpc>
                <a:spcPct val="90000"/>
              </a:lnSpc>
              <a:defRPr/>
            </a:pPr>
            <a:r>
              <a:rPr lang="bg-BG" smtClean="0"/>
              <a:t>файлове и данни от регистъра</a:t>
            </a:r>
            <a:endParaRPr lang="en-US" smtClean="0"/>
          </a:p>
          <a:p>
            <a:pPr lvl="1" eaLnBrk="1" hangingPunct="1">
              <a:lnSpc>
                <a:spcPct val="90000"/>
              </a:lnSpc>
              <a:defRPr/>
            </a:pPr>
            <a:r>
              <a:rPr lang="bg-BG" smtClean="0"/>
              <a:t>възможност за влизане в системата с потребителски акаунти, отстраняване на грешки в процесите или архивиране на данни.</a:t>
            </a:r>
            <a:endParaRPr lang="en-US" smtClean="0"/>
          </a:p>
          <a:p>
            <a:pPr eaLnBrk="1" hangingPunct="1">
              <a:lnSpc>
                <a:spcPct val="90000"/>
              </a:lnSpc>
              <a:defRPr/>
            </a:pPr>
            <a:r>
              <a:rPr lang="bg-BG" smtClean="0"/>
              <a:t>Можете да определите дали потребителят трябва да работи като администратор, за да използва вашето приложение. </a:t>
            </a:r>
            <a:endParaRPr lang="en-US" smtClean="0"/>
          </a:p>
          <a:p>
            <a:pPr lvl="1" eaLnBrk="1" hangingPunct="1">
              <a:lnSpc>
                <a:spcPct val="90000"/>
              </a:lnSpc>
              <a:defRPr/>
            </a:pPr>
            <a:r>
              <a:rPr lang="bg-BG" smtClean="0"/>
              <a:t>Ако приложението ви не може да се стартира, ако потребителят (или идентичността на процеса на услугата) не е администраторски или системен акаунт, установете причината. </a:t>
            </a:r>
          </a:p>
        </p:txBody>
      </p:sp>
    </p:spTree>
    <p:extLst>
      <p:ext uri="{BB962C8B-B14F-4D97-AF65-F5344CB8AC3E}">
        <p14:creationId xmlns:p14="http://schemas.microsoft.com/office/powerpoint/2010/main" val="2352190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Rot="1" noChangeArrowheads="1"/>
          </p:cNvSpPr>
          <p:nvPr>
            <p:ph type="title"/>
          </p:nvPr>
        </p:nvSpPr>
        <p:spPr/>
        <p:txBody>
          <a:bodyPr/>
          <a:lstStyle/>
          <a:p>
            <a:pPr eaLnBrk="1" hangingPunct="1">
              <a:defRPr/>
            </a:pPr>
            <a:r>
              <a:rPr lang="bg-BG" dirty="0" smtClean="0"/>
              <a:t>Обратна съвместимост</a:t>
            </a:r>
          </a:p>
        </p:txBody>
      </p:sp>
      <p:sp>
        <p:nvSpPr>
          <p:cNvPr id="901123" name="Rectangle 3"/>
          <p:cNvSpPr>
            <a:spLocks noGrp="1" noChangeArrowheads="1"/>
          </p:cNvSpPr>
          <p:nvPr>
            <p:ph type="body" idx="1"/>
          </p:nvPr>
        </p:nvSpPr>
        <p:spPr/>
        <p:txBody>
          <a:bodyPr>
            <a:normAutofit fontScale="92500" lnSpcReduction="10000"/>
          </a:bodyPr>
          <a:lstStyle/>
          <a:p>
            <a:pPr>
              <a:defRPr/>
            </a:pPr>
            <a:r>
              <a:rPr lang="ru-RU" dirty="0"/>
              <a:t>Обратна съвместимост (известна също като низходяща </a:t>
            </a:r>
            <a:r>
              <a:rPr lang="ru-RU" dirty="0" smtClean="0"/>
              <a:t>съвместимост)</a:t>
            </a:r>
          </a:p>
          <a:p>
            <a:pPr lvl="1">
              <a:defRPr/>
            </a:pPr>
            <a:r>
              <a:rPr lang="ru-RU" dirty="0" smtClean="0"/>
              <a:t>Това е термин, описващ възможността хардуерна </a:t>
            </a:r>
            <a:r>
              <a:rPr lang="ru-RU" dirty="0"/>
              <a:t>или софтуерна </a:t>
            </a:r>
            <a:r>
              <a:rPr lang="ru-RU" dirty="0" smtClean="0"/>
              <a:t>система да може </a:t>
            </a:r>
            <a:r>
              <a:rPr lang="ru-RU" dirty="0"/>
              <a:t>успешно да използва интерфейси и данни от по-ранни версии на системата или с други </a:t>
            </a:r>
            <a:r>
              <a:rPr lang="ru-RU" dirty="0" smtClean="0"/>
              <a:t>подобни системи</a:t>
            </a:r>
            <a:r>
              <a:rPr lang="ru-RU" dirty="0"/>
              <a:t>.</a:t>
            </a:r>
            <a:endParaRPr lang="bg-BG" dirty="0" smtClean="0"/>
          </a:p>
          <a:p>
            <a:pPr eaLnBrk="1" hangingPunct="1">
              <a:defRPr/>
            </a:pPr>
            <a:r>
              <a:rPr lang="bg-BG" dirty="0" smtClean="0"/>
              <a:t>Обратната съвместимост е още една причина да доставяте сигурни продукти със сигурни настройки по подразбиране.</a:t>
            </a:r>
          </a:p>
          <a:p>
            <a:pPr lvl="1" eaLnBrk="1" hangingPunct="1">
              <a:defRPr/>
            </a:pPr>
            <a:r>
              <a:rPr lang="bg-BG" dirty="0" smtClean="0"/>
              <a:t>Обратната съвместимост винаги ще ви притеснява </a:t>
            </a:r>
          </a:p>
          <a:p>
            <a:pPr lvl="1" eaLnBrk="1" hangingPunct="1">
              <a:defRPr/>
            </a:pPr>
            <a:r>
              <a:rPr lang="bg-BG" dirty="0" smtClean="0"/>
              <a:t>Бъдете готови да се сблъскате с много проблеми, свързани с надграждането и обратната съвместимост, ако трябва да промените критични функции от съображения за сигурност.  </a:t>
            </a:r>
          </a:p>
          <a:p>
            <a:pPr eaLnBrk="1" hangingPunct="1">
              <a:defRPr/>
            </a:pPr>
            <a:r>
              <a:rPr lang="bg-BG" dirty="0" smtClean="0"/>
              <a:t>Един добър подход към този проблем е да направите версиите, които ще приемате, </a:t>
            </a:r>
            <a:r>
              <a:rPr lang="bg-BG" dirty="0" err="1" smtClean="0"/>
              <a:t>конфигурируеми</a:t>
            </a:r>
            <a:r>
              <a:rPr lang="bg-BG" dirty="0" smtClean="0"/>
              <a:t>. </a:t>
            </a:r>
            <a:endParaRPr lang="bg-BG" dirty="0" smtClean="0"/>
          </a:p>
        </p:txBody>
      </p:sp>
    </p:spTree>
    <p:extLst>
      <p:ext uri="{BB962C8B-B14F-4D97-AF65-F5344CB8AC3E}">
        <p14:creationId xmlns:p14="http://schemas.microsoft.com/office/powerpoint/2010/main" val="356965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Rot="1" noChangeArrowheads="1"/>
          </p:cNvSpPr>
          <p:nvPr>
            <p:ph type="title"/>
          </p:nvPr>
        </p:nvSpPr>
        <p:spPr/>
        <p:txBody>
          <a:bodyPr/>
          <a:lstStyle/>
          <a:p>
            <a:pPr eaLnBrk="1" hangingPunct="1">
              <a:defRPr/>
            </a:pPr>
            <a:r>
              <a:rPr lang="bg-BG" dirty="0" err="1" smtClean="0"/>
              <a:t>Външни </a:t>
            </a:r>
            <a:r>
              <a:rPr lang="bg-BG" dirty="0" smtClean="0"/>
              <a:t>системи </a:t>
            </a:r>
            <a:r>
              <a:rPr lang="en-US" dirty="0" err="1" smtClean="0"/>
              <a:t>и </a:t>
            </a:r>
            <a:r>
              <a:rPr lang="bg-BG" dirty="0" smtClean="0"/>
              <a:t>сигурност </a:t>
            </a:r>
          </a:p>
        </p:txBody>
      </p:sp>
      <p:sp>
        <p:nvSpPr>
          <p:cNvPr id="902147" name="Rectangle 3"/>
          <p:cNvSpPr>
            <a:spLocks noGrp="1" noChangeArrowheads="1"/>
          </p:cNvSpPr>
          <p:nvPr>
            <p:ph type="body" idx="1"/>
          </p:nvPr>
        </p:nvSpPr>
        <p:spPr/>
        <p:txBody>
          <a:bodyPr/>
          <a:lstStyle/>
          <a:p>
            <a:pPr eaLnBrk="1" hangingPunct="1">
              <a:defRPr/>
            </a:pPr>
            <a:r>
              <a:rPr lang="bg-BG" dirty="0" err="1"/>
              <a:t>Предположението, че външните системи са несигурни, е свързано със защитата в дълбочина.</a:t>
            </a:r>
            <a:endParaRPr lang="en-US" dirty="0"/>
          </a:p>
          <a:p>
            <a:pPr lvl="1" eaLnBrk="1" hangingPunct="1">
              <a:defRPr/>
            </a:pPr>
            <a:r>
              <a:rPr lang="bg-BG" dirty="0" err="1"/>
              <a:t>Предположението всъщност е една от вашите защити</a:t>
            </a:r>
            <a:r>
              <a:rPr lang="bg-BG" dirty="0"/>
              <a:t>. </a:t>
            </a:r>
            <a:endParaRPr lang="en-US" dirty="0"/>
          </a:p>
          <a:p>
            <a:pPr eaLnBrk="1" hangingPunct="1">
              <a:defRPr/>
            </a:pPr>
            <a:r>
              <a:rPr lang="bg-BG" dirty="0" err="1" smtClean="0"/>
              <a:t>Това е особено важно, когато приемате данни от потребители</a:t>
            </a:r>
            <a:r>
              <a:rPr lang="bg-BG" dirty="0" smtClean="0"/>
              <a:t>. </a:t>
            </a:r>
            <a:endParaRPr lang="en-US" dirty="0" smtClean="0"/>
          </a:p>
          <a:p>
            <a:pPr lvl="1" eaLnBrk="1" hangingPunct="1">
              <a:defRPr/>
            </a:pPr>
            <a:r>
              <a:rPr lang="bg-BG" dirty="0" err="1" smtClean="0"/>
              <a:t>Докато не докажете обратното</a:t>
            </a:r>
            <a:r>
              <a:rPr lang="bg-BG" dirty="0" smtClean="0"/>
              <a:t>, </a:t>
            </a:r>
            <a:r>
              <a:rPr lang="bg-BG" dirty="0" err="1" smtClean="0"/>
              <a:t>всички външни дразнители могат да бъдат атака</a:t>
            </a:r>
            <a:r>
              <a:rPr lang="bg-BG" dirty="0" smtClean="0"/>
              <a:t>. </a:t>
            </a:r>
          </a:p>
          <a:p>
            <a:pPr eaLnBrk="1" hangingPunct="1">
              <a:defRPr/>
            </a:pPr>
            <a:r>
              <a:rPr lang="bg-BG" dirty="0" err="1" smtClean="0"/>
              <a:t>Считайте, че всички данни, които получавате от система, върху която нямате пълен контрол, са несигурни и </a:t>
            </a:r>
            <a:r>
              <a:rPr lang="bg-BG" dirty="0" smtClean="0"/>
              <a:t>представляват </a:t>
            </a:r>
            <a:r>
              <a:rPr lang="bg-BG" dirty="0" err="1" smtClean="0"/>
              <a:t>източник на атаки</a:t>
            </a:r>
            <a:r>
              <a:rPr lang="bg-BG" dirty="0" smtClean="0"/>
              <a:t>. </a:t>
            </a:r>
            <a:endParaRPr lang="en-US" dirty="0" smtClean="0"/>
          </a:p>
        </p:txBody>
      </p:sp>
    </p:spTree>
    <p:extLst>
      <p:ext uri="{BB962C8B-B14F-4D97-AF65-F5344CB8AC3E}">
        <p14:creationId xmlns:p14="http://schemas.microsoft.com/office/powerpoint/2010/main" val="2273312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170" name="Rectangle 2"/>
          <p:cNvSpPr>
            <a:spLocks noGrp="1" noRot="1" noChangeArrowheads="1"/>
          </p:cNvSpPr>
          <p:nvPr>
            <p:ph type="title"/>
          </p:nvPr>
        </p:nvSpPr>
        <p:spPr/>
        <p:txBody>
          <a:bodyPr/>
          <a:lstStyle/>
          <a:p>
            <a:pPr eaLnBrk="1" hangingPunct="1">
              <a:defRPr/>
            </a:pPr>
            <a:r>
              <a:rPr lang="bg-BG" dirty="0" err="1"/>
              <a:t>Външни </a:t>
            </a:r>
            <a:r>
              <a:rPr lang="bg-BG" dirty="0"/>
              <a:t>системи </a:t>
            </a:r>
            <a:r>
              <a:rPr lang="en-US" dirty="0" err="1"/>
              <a:t>и </a:t>
            </a:r>
            <a:r>
              <a:rPr lang="bg-BG" dirty="0"/>
              <a:t>сигурност </a:t>
            </a:r>
            <a:endParaRPr lang="bg-BG" dirty="0" smtClean="0"/>
          </a:p>
        </p:txBody>
      </p:sp>
      <p:sp>
        <p:nvSpPr>
          <p:cNvPr id="903171" name="Rectangle 3"/>
          <p:cNvSpPr>
            <a:spLocks noGrp="1" noChangeArrowheads="1"/>
          </p:cNvSpPr>
          <p:nvPr>
            <p:ph type="body" idx="1"/>
          </p:nvPr>
        </p:nvSpPr>
        <p:spPr>
          <a:xfrm>
            <a:off x="989012" y="1066800"/>
            <a:ext cx="10668000" cy="5562600"/>
          </a:xfrm>
        </p:spPr>
        <p:txBody>
          <a:bodyPr>
            <a:normAutofit/>
          </a:bodyPr>
          <a:lstStyle/>
          <a:p>
            <a:pPr eaLnBrk="1" hangingPunct="1">
              <a:defRPr/>
            </a:pPr>
            <a:r>
              <a:rPr lang="bg-BG" dirty="0" smtClean="0"/>
              <a:t>Външните сървъри също могат да бъдат потенциална точка на атака. </a:t>
            </a:r>
          </a:p>
          <a:p>
            <a:pPr lvl="1" eaLnBrk="1" hangingPunct="1">
              <a:defRPr/>
            </a:pPr>
            <a:r>
              <a:rPr lang="bg-BG" dirty="0" smtClean="0"/>
              <a:t>Клиентите могат да бъдат пренасочени по няколко начина към грешен сървър. </a:t>
            </a:r>
          </a:p>
          <a:p>
            <a:pPr lvl="1" eaLnBrk="1" hangingPunct="1">
              <a:defRPr/>
            </a:pPr>
            <a:r>
              <a:rPr lang="bg-BG" dirty="0" smtClean="0"/>
              <a:t>Не предполагайте, че вашето приложение винаги ще комуникира с приложение, което ограничава командите, които потребителят може да изпълнява от потребителския интерфейс или уеб базираната клиентска част на вашето приложение. </a:t>
            </a:r>
          </a:p>
          <a:p>
            <a:pPr eaLnBrk="1" hangingPunct="1">
              <a:defRPr/>
            </a:pPr>
            <a:r>
              <a:rPr lang="bg-BG" dirty="0" smtClean="0"/>
              <a:t>Когато пишете код от страна на клиента, не предполагайте, че имате работа само с добре поддържан сървър. </a:t>
            </a:r>
            <a:endParaRPr lang="bg-BG" dirty="0"/>
          </a:p>
        </p:txBody>
      </p:sp>
    </p:spTree>
    <p:extLst>
      <p:ext uri="{BB962C8B-B14F-4D97-AF65-F5344CB8AC3E}">
        <p14:creationId xmlns:p14="http://schemas.microsoft.com/office/powerpoint/2010/main" val="1011350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Rot="1" noChangeArrowheads="1"/>
          </p:cNvSpPr>
          <p:nvPr>
            <p:ph type="title"/>
          </p:nvPr>
        </p:nvSpPr>
        <p:spPr/>
        <p:txBody>
          <a:bodyPr/>
          <a:lstStyle/>
          <a:p>
            <a:pPr eaLnBrk="1" hangingPunct="1">
              <a:defRPr/>
            </a:pPr>
            <a:r>
              <a:rPr lang="bg-BG" dirty="0" err="1"/>
              <a:t>Външни </a:t>
            </a:r>
            <a:r>
              <a:rPr lang="bg-BG" dirty="0"/>
              <a:t>системи </a:t>
            </a:r>
            <a:r>
              <a:rPr lang="en-US" dirty="0" err="1"/>
              <a:t>и </a:t>
            </a:r>
            <a:r>
              <a:rPr lang="bg-BG" dirty="0"/>
              <a:t>сигурност </a:t>
            </a:r>
            <a:endParaRPr lang="bg-BG" dirty="0" smtClean="0"/>
          </a:p>
        </p:txBody>
      </p:sp>
      <p:sp>
        <p:nvSpPr>
          <p:cNvPr id="904195" name="Rectangle 3"/>
          <p:cNvSpPr>
            <a:spLocks noGrp="1" noChangeArrowheads="1"/>
          </p:cNvSpPr>
          <p:nvPr>
            <p:ph type="body" idx="1"/>
          </p:nvPr>
        </p:nvSpPr>
        <p:spPr>
          <a:xfrm>
            <a:off x="1065212" y="1066800"/>
            <a:ext cx="10515600" cy="5486400"/>
          </a:xfrm>
        </p:spPr>
        <p:txBody>
          <a:bodyPr>
            <a:normAutofit/>
          </a:bodyPr>
          <a:lstStyle/>
          <a:p>
            <a:pPr eaLnBrk="1" hangingPunct="1">
              <a:defRPr/>
            </a:pPr>
            <a:r>
              <a:rPr lang="bg-BG" sz="2800" dirty="0" smtClean="0"/>
              <a:t>Много сървърни атаки се възползват от лекотата на изпращане на злонамерени данни към сървъра, като заобикалят изцяло клиента. </a:t>
            </a:r>
          </a:p>
          <a:p>
            <a:pPr lvl="1" eaLnBrk="1" hangingPunct="1">
              <a:defRPr/>
            </a:pPr>
            <a:r>
              <a:rPr lang="bg-BG" sz="2400" dirty="0" smtClean="0"/>
              <a:t>Същият проблем съществува и в обратната посока - клиенти, компрометирани от нелоялни сървъри.</a:t>
            </a:r>
          </a:p>
          <a:p>
            <a:pPr eaLnBrk="1" hangingPunct="1">
              <a:defRPr/>
            </a:pPr>
            <a:r>
              <a:rPr lang="bg-BG" sz="2800" dirty="0" smtClean="0"/>
              <a:t>Един от продуктите на декомпозицията на вашето приложение на ключови компоненти ще бъде списък с доверени и недоверени източници на данни.</a:t>
            </a:r>
          </a:p>
          <a:p>
            <a:pPr eaLnBrk="1" hangingPunct="1">
              <a:defRPr/>
            </a:pPr>
            <a:r>
              <a:rPr lang="bg-BG" sz="2800" dirty="0" smtClean="0"/>
              <a:t>Бъдете много предпазливи по отношение на данните, които постъпват в надеждния ви процес от ненадежден източник. </a:t>
            </a:r>
          </a:p>
          <a:p>
            <a:pPr lvl="1" eaLnBrk="1" hangingPunct="1">
              <a:defRPr/>
            </a:pPr>
            <a:r>
              <a:rPr lang="bg-BG" sz="2400" dirty="0" smtClean="0"/>
              <a:t>Бяхте предупредени! </a:t>
            </a:r>
          </a:p>
          <a:p>
            <a:pPr eaLnBrk="1" hangingPunct="1">
              <a:defRPr/>
            </a:pPr>
            <a:endParaRPr lang="bg-BG" sz="2800" dirty="0"/>
          </a:p>
        </p:txBody>
      </p:sp>
    </p:spTree>
    <p:extLst>
      <p:ext uri="{BB962C8B-B14F-4D97-AF65-F5344CB8AC3E}">
        <p14:creationId xmlns:p14="http://schemas.microsoft.com/office/powerpoint/2010/main" val="1741703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Rot="1" noChangeArrowheads="1"/>
          </p:cNvSpPr>
          <p:nvPr>
            <p:ph type="title"/>
          </p:nvPr>
        </p:nvSpPr>
        <p:spPr/>
        <p:txBody>
          <a:bodyPr/>
          <a:lstStyle/>
          <a:p>
            <a:pPr eaLnBrk="1" hangingPunct="1">
              <a:defRPr/>
            </a:pPr>
            <a:r>
              <a:rPr lang="bg-BG" smtClean="0"/>
              <a:t>Преминаване към защитен режим</a:t>
            </a:r>
          </a:p>
        </p:txBody>
      </p:sp>
      <p:sp>
        <p:nvSpPr>
          <p:cNvPr id="907267" name="Rectangle 3"/>
          <p:cNvSpPr>
            <a:spLocks noGrp="1" noChangeArrowheads="1"/>
          </p:cNvSpPr>
          <p:nvPr>
            <p:ph type="body" idx="1"/>
          </p:nvPr>
        </p:nvSpPr>
        <p:spPr/>
        <p:txBody>
          <a:bodyPr/>
          <a:lstStyle/>
          <a:p>
            <a:pPr eaLnBrk="1" hangingPunct="1">
              <a:defRPr/>
            </a:pPr>
            <a:r>
              <a:rPr lang="bg-BG" altLang="en-US" sz="2800" dirty="0" err="1"/>
              <a:t>Първото предложение е единственото, което си заслужава да </a:t>
            </a:r>
            <a:r>
              <a:rPr lang="bg-BG" altLang="en-US" sz="2800" dirty="0" err="1"/>
              <a:t>бъде разгледано</a:t>
            </a:r>
            <a:r>
              <a:rPr lang="en-US" altLang="en-US" sz="2800" dirty="0"/>
              <a:t>: </a:t>
            </a:r>
            <a:r>
              <a:rPr lang="bg-BG" altLang="en-US" sz="2800" dirty="0"/>
              <a:t>Ако </a:t>
            </a:r>
            <a:r>
              <a:rPr lang="bg-BG" altLang="en-US" sz="2800" dirty="0" err="1"/>
              <a:t>нападателят знае, че може да накара кода ви да се провали</a:t>
            </a:r>
            <a:r>
              <a:rPr lang="bg-BG" altLang="en-US" sz="2800" dirty="0"/>
              <a:t>, </a:t>
            </a:r>
            <a:r>
              <a:rPr lang="bg-BG" altLang="en-US" sz="2800" dirty="0" err="1"/>
              <a:t>той може да заобиколи механизмите за сигурност, тъй като вашият режим на провал е несигурен</a:t>
            </a:r>
            <a:r>
              <a:rPr lang="bg-BG" altLang="en-US" sz="2800" dirty="0"/>
              <a:t>.</a:t>
            </a:r>
          </a:p>
          <a:p>
            <a:pPr eaLnBrk="1" hangingPunct="1">
              <a:defRPr/>
            </a:pPr>
            <a:r>
              <a:rPr lang="bg-BG" sz="2800" dirty="0" err="1"/>
              <a:t>Какво се случва, когато се провалите</a:t>
            </a:r>
            <a:r>
              <a:rPr lang="bg-BG" sz="2800" dirty="0"/>
              <a:t>? </a:t>
            </a:r>
            <a:endParaRPr lang="en-US" sz="2800" dirty="0"/>
          </a:p>
          <a:p>
            <a:pPr lvl="1" eaLnBrk="1" hangingPunct="1">
              <a:defRPr/>
            </a:pPr>
            <a:r>
              <a:rPr lang="bg-BG" sz="2400" dirty="0" err="1"/>
              <a:t>Можете да се провалите сигурно или несигурно</a:t>
            </a:r>
            <a:r>
              <a:rPr lang="bg-BG" sz="2400" dirty="0"/>
              <a:t>. </a:t>
            </a:r>
            <a:endParaRPr lang="en-US" sz="2400" dirty="0"/>
          </a:p>
          <a:p>
            <a:pPr lvl="2" eaLnBrk="1" hangingPunct="1">
              <a:defRPr/>
            </a:pPr>
            <a:r>
              <a:rPr lang="bg-BG" sz="2000" dirty="0" err="1"/>
              <a:t>Преминаването към защитен режим означава, че приложението не е разкрило никакви данни, които не биха били разкрити при обичайни обстоятелства</a:t>
            </a:r>
            <a:r>
              <a:rPr lang="bg-BG" sz="2000" dirty="0"/>
              <a:t>, </a:t>
            </a:r>
            <a:r>
              <a:rPr lang="bg-BG" sz="2000" dirty="0" err="1"/>
              <a:t>че данните все още не могат да бъдат подправени и т.н. </a:t>
            </a:r>
            <a:endParaRPr lang="en-US" sz="2000" dirty="0"/>
          </a:p>
          <a:p>
            <a:pPr lvl="2" eaLnBrk="1" hangingPunct="1">
              <a:defRPr/>
            </a:pPr>
            <a:r>
              <a:rPr lang="en-US" sz="2000" dirty="0"/>
              <a:t>Преминаването към </a:t>
            </a:r>
            <a:r>
              <a:rPr lang="bg-BG" sz="2000" dirty="0" err="1"/>
              <a:t>несигурен режим означава, че приложението разкрива повече, отколкото трябва, или че данните му могат да бъдат подправени </a:t>
            </a:r>
            <a:r>
              <a:rPr lang="bg-BG" sz="2000" dirty="0"/>
              <a:t>(</a:t>
            </a:r>
            <a:r>
              <a:rPr lang="bg-BG" sz="2000" dirty="0" err="1"/>
              <a:t>или по-лошо)</a:t>
            </a:r>
            <a:r>
              <a:rPr lang="bg-BG" sz="2000" dirty="0"/>
              <a:t>.</a:t>
            </a:r>
          </a:p>
        </p:txBody>
      </p:sp>
    </p:spTree>
    <p:extLst>
      <p:ext uri="{BB962C8B-B14F-4D97-AF65-F5344CB8AC3E}">
        <p14:creationId xmlns:p14="http://schemas.microsoft.com/office/powerpoint/2010/main" val="159893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Rot="1" noChangeArrowheads="1"/>
          </p:cNvSpPr>
          <p:nvPr>
            <p:ph type="title"/>
          </p:nvPr>
        </p:nvSpPr>
        <p:spPr/>
        <p:txBody>
          <a:bodyPr/>
          <a:lstStyle/>
          <a:p>
            <a:pPr eaLnBrk="1" hangingPunct="1">
              <a:defRPr/>
            </a:pPr>
            <a:r>
              <a:rPr lang="bg-BG" smtClean="0"/>
              <a:t>Преминаване към защитен режим</a:t>
            </a:r>
          </a:p>
        </p:txBody>
      </p:sp>
      <p:sp>
        <p:nvSpPr>
          <p:cNvPr id="909315" name="Rectangle 3"/>
          <p:cNvSpPr>
            <a:spLocks noGrp="1" noChangeArrowheads="1"/>
          </p:cNvSpPr>
          <p:nvPr>
            <p:ph type="body" idx="1"/>
          </p:nvPr>
        </p:nvSpPr>
        <p:spPr/>
        <p:txBody>
          <a:bodyPr/>
          <a:lstStyle/>
          <a:p>
            <a:pPr eaLnBrk="1" hangingPunct="1">
              <a:defRPr/>
            </a:pPr>
            <a:r>
              <a:rPr lang="bg-BG" smtClean="0"/>
              <a:t>Когато не успеете да се справите, не публикувайте огромни количества информация, в която да обясните защо е възникнала грешката. </a:t>
            </a:r>
            <a:endParaRPr lang="en-US" smtClean="0"/>
          </a:p>
          <a:p>
            <a:pPr lvl="1" eaLnBrk="1" hangingPunct="1">
              <a:defRPr/>
            </a:pPr>
            <a:r>
              <a:rPr lang="bg-BG" smtClean="0"/>
              <a:t>Предоставете на потребителя малко информация, достатъчна, за да разбере, че заявката е неуспешна</a:t>
            </a:r>
            <a:r>
              <a:rPr lang="en-US" smtClean="0"/>
              <a:t>.</a:t>
            </a:r>
          </a:p>
          <a:p>
            <a:pPr lvl="1" eaLnBrk="1" hangingPunct="1">
              <a:defRPr/>
            </a:pPr>
            <a:r>
              <a:rPr lang="bg-BG" smtClean="0"/>
              <a:t>Регистрирайте подробностите в някой защитен регистрационен файл, например в дневника на събитията на Windows. </a:t>
            </a:r>
            <a:endParaRPr lang="en-US" smtClean="0"/>
          </a:p>
          <a:p>
            <a:pPr eaLnBrk="1" hangingPunct="1">
              <a:defRPr/>
            </a:pPr>
            <a:r>
              <a:rPr lang="bg-BG" smtClean="0"/>
              <a:t>Златното правило при сигурен отказ е да отказвате по подразбиране и да разрешавате само след като сте проверили условията за разрешаване. </a:t>
            </a:r>
          </a:p>
        </p:txBody>
      </p:sp>
    </p:spTree>
    <p:extLst>
      <p:ext uri="{BB962C8B-B14F-4D97-AF65-F5344CB8AC3E}">
        <p14:creationId xmlns:p14="http://schemas.microsoft.com/office/powerpoint/2010/main" val="1591921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Rot="1" noChangeArrowheads="1"/>
          </p:cNvSpPr>
          <p:nvPr>
            <p:ph type="title"/>
          </p:nvPr>
        </p:nvSpPr>
        <p:spPr/>
        <p:txBody>
          <a:bodyPr/>
          <a:lstStyle/>
          <a:p>
            <a:pPr eaLnBrk="1" hangingPunct="1">
              <a:defRPr/>
            </a:pPr>
            <a:r>
              <a:rPr lang="bg-BG" sz="3800" dirty="0" err="1"/>
              <a:t>Сигурност чрез неяснота</a:t>
            </a:r>
            <a:endParaRPr lang="bg-BG" sz="3800" dirty="0"/>
          </a:p>
        </p:txBody>
      </p:sp>
      <p:sp>
        <p:nvSpPr>
          <p:cNvPr id="917507" name="Rectangle 3"/>
          <p:cNvSpPr>
            <a:spLocks noGrp="1" noChangeArrowheads="1"/>
          </p:cNvSpPr>
          <p:nvPr>
            <p:ph type="body" idx="1"/>
          </p:nvPr>
        </p:nvSpPr>
        <p:spPr/>
        <p:txBody>
          <a:bodyPr/>
          <a:lstStyle/>
          <a:p>
            <a:pPr eaLnBrk="1" hangingPunct="1">
              <a:defRPr/>
            </a:pPr>
            <a:r>
              <a:rPr lang="bg-BG" dirty="0" smtClean="0"/>
              <a:t>Винаги предполагайте, че нападателят знае всичко, което знаете вие </a:t>
            </a:r>
            <a:r>
              <a:rPr lang="en-US" dirty="0" smtClean="0"/>
              <a:t>- </a:t>
            </a:r>
            <a:r>
              <a:rPr lang="bg-BG" dirty="0" smtClean="0"/>
              <a:t>предполагайте, че нападателят има достъп до целия изходен код и всички проекти.</a:t>
            </a:r>
            <a:endParaRPr lang="en-US" dirty="0" smtClean="0"/>
          </a:p>
          <a:p>
            <a:pPr lvl="1" eaLnBrk="1" hangingPunct="1">
              <a:defRPr/>
            </a:pPr>
            <a:r>
              <a:rPr lang="bg-BG" dirty="0" smtClean="0"/>
              <a:t>Дори и това да не е вярно, за нападателя е тривиално лесно да определи скритата информация. </a:t>
            </a:r>
            <a:endParaRPr lang="en-US" dirty="0" smtClean="0"/>
          </a:p>
          <a:p>
            <a:pPr eaLnBrk="1" hangingPunct="1">
              <a:defRPr/>
            </a:pPr>
            <a:r>
              <a:rPr lang="bg-BG" dirty="0" smtClean="0"/>
              <a:t>Неяснотата е полезна защита, стига да не е единствената ви защита. </a:t>
            </a:r>
            <a:endParaRPr lang="en-US" dirty="0" smtClean="0"/>
          </a:p>
          <a:p>
            <a:pPr lvl="1" eaLnBrk="1" hangingPunct="1">
              <a:defRPr/>
            </a:pPr>
            <a:r>
              <a:rPr lang="bg-BG" dirty="0" smtClean="0"/>
              <a:t>Съвсем основателно е да използвате неяснотата като малка част от цялостната </a:t>
            </a:r>
            <a:r>
              <a:rPr lang="bg-BG" dirty="0" err="1" smtClean="0"/>
              <a:t>стратегия за </a:t>
            </a:r>
            <a:r>
              <a:rPr lang="bg-BG" dirty="0" smtClean="0"/>
              <a:t>защита в дълбочина.</a:t>
            </a:r>
            <a:endParaRPr lang="en-US" dirty="0" smtClean="0"/>
          </a:p>
          <a:p>
            <a:pPr lvl="1" eaLnBrk="1" hangingPunct="1">
              <a:defRPr/>
            </a:pPr>
            <a:r>
              <a:rPr lang="bg-BG" dirty="0" err="1"/>
              <a:t>Никога не </a:t>
            </a:r>
            <a:r>
              <a:rPr lang="bg-BG" dirty="0" err="1" smtClean="0"/>
              <a:t>разчитайте само </a:t>
            </a:r>
            <a:r>
              <a:rPr lang="bg-BG" dirty="0" err="1"/>
              <a:t>на </a:t>
            </a:r>
            <a:r>
              <a:rPr lang="bg-BG" dirty="0" err="1" smtClean="0"/>
              <a:t>сигурността чрез скритост</a:t>
            </a:r>
            <a:r>
              <a:rPr lang="en-US" dirty="0" smtClean="0"/>
              <a:t>.</a:t>
            </a:r>
            <a:endParaRPr lang="bg-BG" dirty="0" smtClean="0"/>
          </a:p>
        </p:txBody>
      </p:sp>
    </p:spTree>
    <p:extLst>
      <p:ext uri="{BB962C8B-B14F-4D97-AF65-F5344CB8AC3E}">
        <p14:creationId xmlns:p14="http://schemas.microsoft.com/office/powerpoint/2010/main" val="3227240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530" name="Rectangle 2"/>
          <p:cNvSpPr>
            <a:spLocks noGrp="1" noRot="1" noChangeArrowheads="1"/>
          </p:cNvSpPr>
          <p:nvPr>
            <p:ph type="title"/>
          </p:nvPr>
        </p:nvSpPr>
        <p:spPr/>
        <p:txBody>
          <a:bodyPr/>
          <a:lstStyle/>
          <a:p>
            <a:pPr eaLnBrk="1" hangingPunct="1">
              <a:defRPr/>
            </a:pPr>
            <a:r>
              <a:rPr lang="bg-BG" smtClean="0"/>
              <a:t>Не смесвайте код и данни </a:t>
            </a:r>
          </a:p>
        </p:txBody>
      </p:sp>
      <p:sp>
        <p:nvSpPr>
          <p:cNvPr id="918531" name="Rectangle 3"/>
          <p:cNvSpPr>
            <a:spLocks noGrp="1" noChangeArrowheads="1"/>
          </p:cNvSpPr>
          <p:nvPr>
            <p:ph type="body" idx="1"/>
          </p:nvPr>
        </p:nvSpPr>
        <p:spPr>
          <a:xfrm>
            <a:off x="1065212" y="1066800"/>
            <a:ext cx="10515600" cy="5562600"/>
          </a:xfrm>
        </p:spPr>
        <p:txBody>
          <a:bodyPr>
            <a:normAutofit lnSpcReduction="10000"/>
          </a:bodyPr>
          <a:lstStyle/>
          <a:p>
            <a:pPr eaLnBrk="1" hangingPunct="1">
              <a:lnSpc>
                <a:spcPct val="90000"/>
              </a:lnSpc>
              <a:defRPr/>
            </a:pPr>
            <a:r>
              <a:rPr lang="bg-BG" dirty="0" smtClean="0"/>
              <a:t>Потребителите очакват високо интерактивни уеб страници и приложения, но смесването на код и данни е труден въпрос. </a:t>
            </a:r>
          </a:p>
          <a:p>
            <a:pPr eaLnBrk="1" hangingPunct="1">
              <a:lnSpc>
                <a:spcPct val="90000"/>
              </a:lnSpc>
              <a:defRPr/>
            </a:pPr>
            <a:r>
              <a:rPr lang="bg-BG" dirty="0" smtClean="0"/>
              <a:t>Данните са си данни, а след като добавите код към тях, тези "данни" стават опасни. </a:t>
            </a:r>
          </a:p>
          <a:p>
            <a:pPr lvl="1" eaLnBrk="1" hangingPunct="1">
              <a:lnSpc>
                <a:spcPct val="90000"/>
              </a:lnSpc>
              <a:defRPr/>
            </a:pPr>
            <a:r>
              <a:rPr lang="bg-BG" dirty="0" smtClean="0"/>
              <a:t>Погледнете броя на вирусните проблеми, които идват чрез електронна поща, тъй като съобщението за електронна поща смесва данни (съобщението за електронна поща) и код (под формата на скрипт и прикачени файлове). </a:t>
            </a:r>
          </a:p>
          <a:p>
            <a:pPr lvl="1" eaLnBrk="1" hangingPunct="1">
              <a:lnSpc>
                <a:spcPct val="90000"/>
              </a:lnSpc>
              <a:defRPr/>
            </a:pPr>
            <a:r>
              <a:rPr lang="bg-BG" dirty="0" smtClean="0"/>
              <a:t>Разгледайте проблемите със сигурността на уебстраниците, като например грешки при </a:t>
            </a:r>
            <a:r>
              <a:rPr lang="bg-BG" dirty="0" err="1" smtClean="0"/>
              <a:t>скриптиране</a:t>
            </a:r>
            <a:r>
              <a:rPr lang="bg-BG" dirty="0" smtClean="0"/>
              <a:t> на различни сайтове, които съществуват поради смесването на HTML данни и </a:t>
            </a:r>
            <a:r>
              <a:rPr lang="bg-BG" dirty="0" err="1" smtClean="0"/>
              <a:t>JavaScript</a:t>
            </a:r>
            <a:r>
              <a:rPr lang="bg-BG" dirty="0" smtClean="0"/>
              <a:t> код. </a:t>
            </a:r>
            <a:endParaRPr lang="bg-BG" dirty="0" smtClean="0"/>
          </a:p>
        </p:txBody>
      </p:sp>
    </p:spTree>
    <p:extLst>
      <p:ext uri="{BB962C8B-B14F-4D97-AF65-F5344CB8AC3E}">
        <p14:creationId xmlns:p14="http://schemas.microsoft.com/office/powerpoint/2010/main" val="1526536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Rot="1" noChangeArrowheads="1"/>
          </p:cNvSpPr>
          <p:nvPr>
            <p:ph type="title"/>
          </p:nvPr>
        </p:nvSpPr>
        <p:spPr/>
        <p:txBody>
          <a:bodyPr/>
          <a:lstStyle/>
          <a:p>
            <a:pPr eaLnBrk="1" hangingPunct="1">
              <a:defRPr/>
            </a:pPr>
            <a:r>
              <a:rPr lang="bg-BG" smtClean="0"/>
              <a:t>Не смесвайте код и данни </a:t>
            </a:r>
          </a:p>
        </p:txBody>
      </p:sp>
      <p:sp>
        <p:nvSpPr>
          <p:cNvPr id="919555" name="Rectangle 3"/>
          <p:cNvSpPr>
            <a:spLocks noGrp="1" noChangeArrowheads="1"/>
          </p:cNvSpPr>
          <p:nvPr>
            <p:ph type="body" idx="1"/>
          </p:nvPr>
        </p:nvSpPr>
        <p:spPr/>
        <p:txBody>
          <a:bodyPr/>
          <a:lstStyle/>
          <a:p>
            <a:pPr eaLnBrk="1" hangingPunct="1">
              <a:defRPr/>
            </a:pPr>
            <a:r>
              <a:rPr lang="bg-BG" sz="2800" dirty="0" smtClean="0"/>
              <a:t>Обединяването на код и данни е изключително мощно, но в действителност комбинацията от код и данни води до </a:t>
            </a:r>
            <a:r>
              <a:rPr lang="bg-BG" sz="2800" dirty="0" err="1" smtClean="0"/>
              <a:t>експлойти</a:t>
            </a:r>
            <a:r>
              <a:rPr lang="bg-BG" sz="2800" dirty="0" smtClean="0"/>
              <a:t> в областта на сигурността. </a:t>
            </a:r>
          </a:p>
          <a:p>
            <a:pPr lvl="1" eaLnBrk="1" hangingPunct="1">
              <a:defRPr/>
            </a:pPr>
            <a:r>
              <a:rPr lang="bg-BG" sz="2400" dirty="0" smtClean="0"/>
              <a:t>Ако приложението ви поддържа смесване на код и данни, трябва по подразбиране да не разрешавате изпълнението на код и да позволите на потребителя да определи политиката. </a:t>
            </a:r>
          </a:p>
          <a:p>
            <a:pPr lvl="1" eaLnBrk="1" hangingPunct="1">
              <a:defRPr/>
            </a:pPr>
            <a:r>
              <a:rPr lang="bg-BG" sz="2400" dirty="0" smtClean="0"/>
              <a:t>Макросите не се изпълняват изобщо, а потребителят решава дали ще позволи изпълнението на </a:t>
            </a:r>
            <a:r>
              <a:rPr lang="bg-BG" sz="2400" dirty="0" err="1" smtClean="0"/>
              <a:t>макрокода</a:t>
            </a:r>
            <a:r>
              <a:rPr lang="bg-BG" sz="2400" dirty="0" smtClean="0"/>
              <a:t>. </a:t>
            </a:r>
          </a:p>
          <a:p>
            <a:pPr eaLnBrk="1" hangingPunct="1">
              <a:defRPr/>
            </a:pPr>
            <a:r>
              <a:rPr lang="bg-BG" sz="2800" dirty="0" smtClean="0"/>
              <a:t>Ако откриете грешка в кода за сигурност или проблем в дизайна, поправете я и потърсете подобни проблеми в други части на приложението. </a:t>
            </a:r>
          </a:p>
          <a:p>
            <a:pPr lvl="1" eaLnBrk="1" hangingPunct="1">
              <a:defRPr/>
            </a:pPr>
            <a:r>
              <a:rPr lang="bg-BG" sz="2400" dirty="0" smtClean="0"/>
              <a:t>Ще намерите още подобни. </a:t>
            </a:r>
            <a:endParaRPr lang="bg-BG" sz="2400" dirty="0"/>
          </a:p>
        </p:txBody>
      </p:sp>
    </p:spTree>
    <p:extLst>
      <p:ext uri="{BB962C8B-B14F-4D97-AF65-F5344CB8AC3E}">
        <p14:creationId xmlns:p14="http://schemas.microsoft.com/office/powerpoint/2010/main" val="865268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Rot="1" noChangeArrowheads="1"/>
          </p:cNvSpPr>
          <p:nvPr>
            <p:ph type="title"/>
          </p:nvPr>
        </p:nvSpPr>
        <p:spPr/>
        <p:txBody>
          <a:bodyPr>
            <a:normAutofit fontScale="90000"/>
          </a:bodyPr>
          <a:lstStyle/>
          <a:p>
            <a:pPr eaLnBrk="1" hangingPunct="1">
              <a:defRPr/>
            </a:pPr>
            <a:r>
              <a:rPr lang="bg-BG" smtClean="0"/>
              <a:t>Правилно отстраняване на проблеми със сигурността </a:t>
            </a:r>
          </a:p>
        </p:txBody>
      </p:sp>
      <p:sp>
        <p:nvSpPr>
          <p:cNvPr id="920579" name="Rectangle 3"/>
          <p:cNvSpPr>
            <a:spLocks noGrp="1" noChangeArrowheads="1"/>
          </p:cNvSpPr>
          <p:nvPr>
            <p:ph type="body" idx="1"/>
          </p:nvPr>
        </p:nvSpPr>
        <p:spPr/>
        <p:txBody>
          <a:bodyPr>
            <a:normAutofit/>
          </a:bodyPr>
          <a:lstStyle/>
          <a:p>
            <a:pPr eaLnBrk="1" hangingPunct="1">
              <a:defRPr/>
            </a:pPr>
            <a:r>
              <a:rPr lang="bg-BG" dirty="0" smtClean="0"/>
              <a:t>Недостатъците в сигурността са като хлебарките: виждате една в кухнята и се отървавате от нея. </a:t>
            </a:r>
          </a:p>
          <a:p>
            <a:pPr lvl="1" eaLnBrk="1" hangingPunct="1">
              <a:defRPr/>
            </a:pPr>
            <a:r>
              <a:rPr lang="bg-BG" dirty="0" smtClean="0"/>
              <a:t>Проблемът е, че това същество има много братя, сестри, внуци, братовчеди, племенници, племеннички и т.н. </a:t>
            </a:r>
          </a:p>
          <a:p>
            <a:pPr lvl="1" eaLnBrk="1" hangingPunct="1">
              <a:defRPr/>
            </a:pPr>
            <a:r>
              <a:rPr lang="bg-BG" dirty="0" smtClean="0"/>
              <a:t>Човекът, който пише кода, вероятно е допуснал същата грешка и другаде. </a:t>
            </a:r>
          </a:p>
          <a:p>
            <a:pPr eaLnBrk="1" hangingPunct="1">
              <a:lnSpc>
                <a:spcPct val="90000"/>
              </a:lnSpc>
              <a:defRPr/>
            </a:pPr>
            <a:r>
              <a:rPr lang="bg-BG" dirty="0" smtClean="0"/>
              <a:t>Ако се сблъскате с често срещан модел на дефекти, предприемете стъпки за добавяне на защитни механизми, които намаляват класа на проблемите, а не просто да решавате проблемите на парче.</a:t>
            </a:r>
          </a:p>
          <a:p>
            <a:pPr lvl="1" eaLnBrk="1" hangingPunct="1">
              <a:lnSpc>
                <a:spcPct val="90000"/>
              </a:lnSpc>
              <a:defRPr/>
            </a:pPr>
            <a:r>
              <a:rPr lang="bg-BG" dirty="0" smtClean="0"/>
              <a:t>Когато извършвате поправка, правете това открито. </a:t>
            </a:r>
            <a:endParaRPr lang="bg-BG" dirty="0"/>
          </a:p>
        </p:txBody>
      </p:sp>
    </p:spTree>
    <p:extLst>
      <p:ext uri="{BB962C8B-B14F-4D97-AF65-F5344CB8AC3E}">
        <p14:creationId xmlns:p14="http://schemas.microsoft.com/office/powerpoint/2010/main" val="372591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Rot="1" noChangeArrowheads="1"/>
          </p:cNvSpPr>
          <p:nvPr>
            <p:ph type="title"/>
          </p:nvPr>
        </p:nvSpPr>
        <p:spPr/>
        <p:txBody>
          <a:bodyPr>
            <a:normAutofit fontScale="90000"/>
          </a:bodyPr>
          <a:lstStyle/>
          <a:p>
            <a:pPr eaLnBrk="1" hangingPunct="1">
              <a:defRPr/>
            </a:pPr>
            <a:r>
              <a:rPr lang="bg-BG" smtClean="0"/>
              <a:t>Правилно отстраняване на проблеми със сигурността </a:t>
            </a:r>
          </a:p>
        </p:txBody>
      </p:sp>
      <p:sp>
        <p:nvSpPr>
          <p:cNvPr id="921603" name="Rectangle 3"/>
          <p:cNvSpPr>
            <a:spLocks noGrp="1" noChangeArrowheads="1"/>
          </p:cNvSpPr>
          <p:nvPr>
            <p:ph type="body" idx="1"/>
          </p:nvPr>
        </p:nvSpPr>
        <p:spPr/>
        <p:txBody>
          <a:bodyPr/>
          <a:lstStyle/>
          <a:p>
            <a:pPr eaLnBrk="1" hangingPunct="1">
              <a:lnSpc>
                <a:spcPct val="90000"/>
              </a:lnSpc>
              <a:defRPr/>
            </a:pPr>
            <a:r>
              <a:rPr lang="bg-BG" sz="2800" dirty="0" smtClean="0"/>
              <a:t>Ако откриете грешка в сигурността, направете поправката възможно най-близо до мястото на уязвимостта. </a:t>
            </a:r>
          </a:p>
          <a:p>
            <a:pPr eaLnBrk="1" hangingPunct="1">
              <a:lnSpc>
                <a:spcPct val="90000"/>
              </a:lnSpc>
              <a:defRPr/>
            </a:pPr>
            <a:r>
              <a:rPr lang="bg-BG" sz="2800" dirty="0" smtClean="0"/>
              <a:t>Ако има фундаментална причина за съществуването на даден недостатък в сигурността, отстранете причината за проблема. </a:t>
            </a:r>
          </a:p>
          <a:p>
            <a:pPr lvl="1" eaLnBrk="1" hangingPunct="1">
              <a:lnSpc>
                <a:spcPct val="90000"/>
              </a:lnSpc>
              <a:defRPr/>
            </a:pPr>
            <a:r>
              <a:rPr lang="bg-BG" sz="2400" dirty="0" smtClean="0"/>
              <a:t>Не го закърпвайте. </a:t>
            </a:r>
          </a:p>
          <a:p>
            <a:pPr lvl="1" eaLnBrk="1" hangingPunct="1">
              <a:lnSpc>
                <a:spcPct val="90000"/>
              </a:lnSpc>
              <a:defRPr/>
            </a:pPr>
            <a:r>
              <a:rPr lang="bg-BG" sz="2400" dirty="0" smtClean="0"/>
              <a:t>С течение на времето поправките се превръщат в по-голям проблем, тъй като често въвеждат грешки при регресия. </a:t>
            </a:r>
          </a:p>
          <a:p>
            <a:pPr lvl="2" eaLnBrk="1" hangingPunct="1">
              <a:lnSpc>
                <a:spcPct val="90000"/>
              </a:lnSpc>
              <a:defRPr/>
            </a:pPr>
            <a:r>
              <a:rPr lang="bg-BG" sz="2000" dirty="0" smtClean="0"/>
              <a:t>"Лекувайте проблема, а не симптомите." </a:t>
            </a:r>
          </a:p>
          <a:p>
            <a:pPr eaLnBrk="1" hangingPunct="1">
              <a:lnSpc>
                <a:spcPct val="90000"/>
              </a:lnSpc>
              <a:defRPr/>
            </a:pPr>
            <a:r>
              <a:rPr lang="bg-BG" sz="2800" dirty="0" smtClean="0"/>
              <a:t> Не давайте толкова много подробности, че нападателят да може да компрометира системи с дефекти.</a:t>
            </a:r>
          </a:p>
          <a:p>
            <a:pPr lvl="1" eaLnBrk="1" hangingPunct="1">
              <a:lnSpc>
                <a:spcPct val="90000"/>
              </a:lnSpc>
              <a:defRPr/>
            </a:pPr>
            <a:r>
              <a:rPr lang="bg-BG" sz="2400" dirty="0" smtClean="0"/>
              <a:t>Прикрийте един недостатък и светът ще си представи най-лошото.</a:t>
            </a:r>
          </a:p>
          <a:p>
            <a:pPr eaLnBrk="1" hangingPunct="1">
              <a:lnSpc>
                <a:spcPct val="90000"/>
              </a:lnSpc>
              <a:defRPr/>
            </a:pPr>
            <a:endParaRPr lang="bg-BG" sz="2800" dirty="0"/>
          </a:p>
        </p:txBody>
      </p:sp>
    </p:spTree>
    <p:extLst>
      <p:ext uri="{BB962C8B-B14F-4D97-AF65-F5344CB8AC3E}">
        <p14:creationId xmlns:p14="http://schemas.microsoft.com/office/powerpoint/2010/main" val="1084368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Rot="1" noChangeArrowheads="1"/>
          </p:cNvSpPr>
          <p:nvPr>
            <p:ph type="title"/>
          </p:nvPr>
        </p:nvSpPr>
        <p:spPr/>
        <p:txBody>
          <a:bodyPr/>
          <a:lstStyle/>
          <a:p>
            <a:pPr eaLnBrk="1" hangingPunct="1">
              <a:defRPr/>
            </a:pPr>
            <a:r>
              <a:rPr lang="bg-BG" dirty="0" smtClean="0"/>
              <a:t>Нелепи оправдания, които сме чували </a:t>
            </a:r>
          </a:p>
        </p:txBody>
      </p:sp>
      <p:sp>
        <p:nvSpPr>
          <p:cNvPr id="923651" name="Rectangle 3"/>
          <p:cNvSpPr>
            <a:spLocks noGrp="1" noChangeArrowheads="1"/>
          </p:cNvSpPr>
          <p:nvPr>
            <p:ph type="body" idx="1"/>
          </p:nvPr>
        </p:nvSpPr>
        <p:spPr/>
        <p:txBody>
          <a:bodyPr/>
          <a:lstStyle/>
          <a:p>
            <a:pPr eaLnBrk="1" hangingPunct="1">
              <a:defRPr/>
            </a:pPr>
            <a:r>
              <a:rPr lang="bg-BG" smtClean="0"/>
              <a:t>Никой няма да го направи!</a:t>
            </a:r>
          </a:p>
          <a:p>
            <a:pPr eaLnBrk="1" hangingPunct="1">
              <a:defRPr/>
            </a:pPr>
            <a:r>
              <a:rPr lang="bg-BG" smtClean="0"/>
              <a:t>Защо някой би го направил?</a:t>
            </a:r>
          </a:p>
          <a:p>
            <a:pPr eaLnBrk="1" hangingPunct="1">
              <a:defRPr/>
            </a:pPr>
            <a:r>
              <a:rPr lang="bg-BG" smtClean="0"/>
              <a:t>Никога не сме били нападани.</a:t>
            </a:r>
          </a:p>
          <a:p>
            <a:pPr eaLnBrk="1" hangingPunct="1">
              <a:defRPr/>
            </a:pPr>
            <a:r>
              <a:rPr lang="bg-BG" smtClean="0"/>
              <a:t>Ние сме сигурни </a:t>
            </a:r>
            <a:r>
              <a:rPr lang="en-US" smtClean="0"/>
              <a:t>- </a:t>
            </a:r>
            <a:r>
              <a:rPr lang="bg-BG" smtClean="0"/>
              <a:t>използваме криптография.</a:t>
            </a:r>
          </a:p>
          <a:p>
            <a:pPr eaLnBrk="1" hangingPunct="1">
              <a:defRPr/>
            </a:pPr>
            <a:r>
              <a:rPr lang="bg-BG" smtClean="0"/>
              <a:t>Ние сме сигурни </a:t>
            </a:r>
            <a:r>
              <a:rPr lang="en-US" smtClean="0"/>
              <a:t>- </a:t>
            </a:r>
            <a:r>
              <a:rPr lang="bg-BG" smtClean="0"/>
              <a:t>използваме ACL.</a:t>
            </a:r>
          </a:p>
          <a:p>
            <a:pPr eaLnBrk="1" hangingPunct="1">
              <a:defRPr/>
            </a:pPr>
            <a:r>
              <a:rPr lang="bg-BG" smtClean="0"/>
              <a:t>Ние сме сигурни </a:t>
            </a:r>
            <a:r>
              <a:rPr lang="en-US" smtClean="0"/>
              <a:t>- </a:t>
            </a:r>
            <a:r>
              <a:rPr lang="bg-BG" smtClean="0"/>
              <a:t>използваме защитна стена.</a:t>
            </a:r>
          </a:p>
          <a:p>
            <a:pPr eaLnBrk="1" hangingPunct="1">
              <a:defRPr/>
            </a:pPr>
            <a:r>
              <a:rPr lang="bg-BG" smtClean="0"/>
              <a:t>Прегледахме кода и няма грешки в сигурността.</a:t>
            </a:r>
          </a:p>
        </p:txBody>
      </p:sp>
    </p:spTree>
    <p:extLst>
      <p:ext uri="{BB962C8B-B14F-4D97-AF65-F5344CB8AC3E}">
        <p14:creationId xmlns:p14="http://schemas.microsoft.com/office/powerpoint/2010/main" val="3259529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Rot="1" noChangeArrowheads="1"/>
          </p:cNvSpPr>
          <p:nvPr>
            <p:ph type="title"/>
          </p:nvPr>
        </p:nvSpPr>
        <p:spPr/>
        <p:txBody>
          <a:bodyPr/>
          <a:lstStyle/>
          <a:p>
            <a:pPr eaLnBrk="1" hangingPunct="1">
              <a:defRPr/>
            </a:pPr>
            <a:r>
              <a:rPr lang="bg-BG" dirty="0" err="1" smtClean="0"/>
              <a:t>Нелепи оправдания, които сме </a:t>
            </a:r>
            <a:r>
              <a:rPr lang="bg-BG" dirty="0" smtClean="0"/>
              <a:t>чували </a:t>
            </a:r>
          </a:p>
        </p:txBody>
      </p:sp>
      <p:sp>
        <p:nvSpPr>
          <p:cNvPr id="924675" name="Rectangle 3"/>
          <p:cNvSpPr>
            <a:spLocks noGrp="1" noChangeArrowheads="1"/>
          </p:cNvSpPr>
          <p:nvPr>
            <p:ph type="body" idx="1"/>
          </p:nvPr>
        </p:nvSpPr>
        <p:spPr/>
        <p:txBody>
          <a:bodyPr/>
          <a:lstStyle/>
          <a:p>
            <a:pPr eaLnBrk="1" hangingPunct="1">
              <a:defRPr/>
            </a:pPr>
            <a:r>
              <a:rPr lang="bg-BG" smtClean="0"/>
              <a:t>Знаем, че това е настройката по подразбиране, но администраторът може да я изключи.</a:t>
            </a:r>
          </a:p>
          <a:p>
            <a:pPr eaLnBrk="1" hangingPunct="1">
              <a:defRPr/>
            </a:pPr>
            <a:r>
              <a:rPr lang="bg-BG" smtClean="0"/>
              <a:t>Ако не работим като администратор, нещата се развалят.</a:t>
            </a:r>
          </a:p>
          <a:p>
            <a:pPr eaLnBrk="1" hangingPunct="1">
              <a:defRPr/>
            </a:pPr>
            <a:r>
              <a:rPr lang="bg-BG" smtClean="0"/>
              <a:t>Но ние ще се измъкнем от графика.</a:t>
            </a:r>
          </a:p>
          <a:p>
            <a:pPr eaLnBrk="1" hangingPunct="1">
              <a:defRPr/>
            </a:pPr>
            <a:r>
              <a:rPr lang="bg-BG" smtClean="0"/>
              <a:t>Не може да се използва.</a:t>
            </a:r>
          </a:p>
          <a:p>
            <a:pPr eaLnBrk="1" hangingPunct="1">
              <a:defRPr/>
            </a:pPr>
            <a:r>
              <a:rPr lang="bg-BG" smtClean="0"/>
              <a:t>Но това е начинът, по който винаги сме го правили.</a:t>
            </a:r>
          </a:p>
          <a:p>
            <a:pPr eaLnBrk="1" hangingPunct="1">
              <a:defRPr/>
            </a:pPr>
            <a:r>
              <a:rPr lang="bg-BG" smtClean="0"/>
              <a:t>Само ако имахме по-добри инструменти...</a:t>
            </a:r>
          </a:p>
        </p:txBody>
      </p:sp>
    </p:spTree>
    <p:extLst>
      <p:ext uri="{BB962C8B-B14F-4D97-AF65-F5344CB8AC3E}">
        <p14:creationId xmlns:p14="http://schemas.microsoft.com/office/powerpoint/2010/main" val="965170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562"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smtClean="0"/>
              <a:t>Защо се нуждаете от култура на сигурността?</a:t>
            </a:r>
          </a:p>
        </p:txBody>
      </p:sp>
      <p:sp>
        <p:nvSpPr>
          <p:cNvPr id="834563" name="Rectangle 3"/>
          <p:cNvSpPr>
            <a:spLocks noGrp="1" noChangeArrowheads="1"/>
          </p:cNvSpPr>
          <p:nvPr>
            <p:ph type="body" idx="1"/>
          </p:nvPr>
        </p:nvSpPr>
        <p:spPr>
          <a:xfrm>
            <a:off x="1065212" y="1066800"/>
            <a:ext cx="10591800" cy="5638800"/>
          </a:xfrm>
        </p:spPr>
        <p:txBody>
          <a:bodyPr vert="horz" lIns="90840" tIns="44623" rIns="90840" bIns="44623" rtlCol="0">
            <a:normAutofit/>
          </a:bodyPr>
          <a:lstStyle/>
          <a:p>
            <a:pPr eaLnBrk="1" hangingPunct="1">
              <a:lnSpc>
                <a:spcPct val="90000"/>
              </a:lnSpc>
              <a:defRPr/>
            </a:pPr>
            <a:r>
              <a:rPr lang="en-US" sz="2800" dirty="0"/>
              <a:t>Сигурните продукти са качествени продукти</a:t>
            </a:r>
          </a:p>
          <a:p>
            <a:pPr eaLnBrk="1" hangingPunct="1">
              <a:lnSpc>
                <a:spcPct val="90000"/>
              </a:lnSpc>
              <a:defRPr/>
            </a:pPr>
            <a:r>
              <a:rPr lang="en-US" sz="2800" dirty="0"/>
              <a:t>Медиите и конкуренцията ви скачат по въпросите на сигурността </a:t>
            </a:r>
          </a:p>
          <a:p>
            <a:pPr lvl="1" eaLnBrk="1" hangingPunct="1">
              <a:lnSpc>
                <a:spcPct val="90000"/>
              </a:lnSpc>
              <a:defRPr/>
            </a:pPr>
            <a:r>
              <a:rPr lang="en-US" sz="2400" dirty="0"/>
              <a:t>Ужасно е да четете рецензия за продукта си, в която се обсъжда слабостта в сигурността на кода, който току-що сте написали. </a:t>
            </a:r>
          </a:p>
          <a:p>
            <a:pPr lvl="1" eaLnBrk="1" hangingPunct="1">
              <a:lnSpc>
                <a:spcPct val="90000"/>
              </a:lnSpc>
              <a:defRPr/>
            </a:pPr>
            <a:r>
              <a:rPr lang="en-US" sz="2400" dirty="0"/>
              <a:t>Още по-лошо е да прочетете за сериозна уязвимост в сигурността на кода, който сте написали.</a:t>
            </a:r>
          </a:p>
          <a:p>
            <a:pPr eaLnBrk="1" hangingPunct="1">
              <a:lnSpc>
                <a:spcPct val="90000"/>
              </a:lnSpc>
              <a:defRPr/>
            </a:pPr>
            <a:r>
              <a:rPr lang="en-US" sz="2800" dirty="0"/>
              <a:t>Хората се отдръпват от продукти, които не работят както е обявено </a:t>
            </a:r>
          </a:p>
          <a:p>
            <a:pPr eaLnBrk="1" hangingPunct="1">
              <a:lnSpc>
                <a:spcPct val="90000"/>
              </a:lnSpc>
              <a:defRPr/>
            </a:pPr>
            <a:r>
              <a:rPr lang="en-US" sz="2800" dirty="0"/>
              <a:t>Не бъдете жертва</a:t>
            </a:r>
          </a:p>
          <a:p>
            <a:pPr eaLnBrk="1" hangingPunct="1">
              <a:lnSpc>
                <a:spcPct val="90000"/>
              </a:lnSpc>
              <a:defRPr/>
            </a:pPr>
            <a:r>
              <a:rPr lang="en-US" sz="2800" dirty="0"/>
              <a:t>Отстраняването на уязвимости в сигурността е скъпо.</a:t>
            </a:r>
          </a:p>
        </p:txBody>
      </p:sp>
    </p:spTree>
    <p:extLst>
      <p:ext uri="{BB962C8B-B14F-4D97-AF65-F5344CB8AC3E}">
        <p14:creationId xmlns:p14="http://schemas.microsoft.com/office/powerpoint/2010/main" val="1827877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smtClean="0"/>
              <a:t>Нападателите</a:t>
            </a:r>
          </a:p>
        </p:txBody>
      </p:sp>
      <p:sp>
        <p:nvSpPr>
          <p:cNvPr id="831491" name="Rectangle 3"/>
          <p:cNvSpPr>
            <a:spLocks noGrp="1" noChangeArrowheads="1"/>
          </p:cNvSpPr>
          <p:nvPr>
            <p:ph type="body" idx="1"/>
          </p:nvPr>
        </p:nvSpPr>
        <p:spPr>
          <a:xfrm>
            <a:off x="989012" y="1066800"/>
            <a:ext cx="10515600" cy="5562600"/>
          </a:xfrm>
        </p:spPr>
        <p:txBody>
          <a:bodyPr vert="horz" lIns="90840" tIns="44623" rIns="90840" bIns="44623" rtlCol="0">
            <a:normAutofit/>
          </a:bodyPr>
          <a:lstStyle/>
          <a:p>
            <a:pPr eaLnBrk="1" hangingPunct="1">
              <a:lnSpc>
                <a:spcPct val="80000"/>
              </a:lnSpc>
              <a:defRPr/>
            </a:pPr>
            <a:r>
              <a:rPr lang="en-US" sz="2800" dirty="0"/>
              <a:t>Бели шапки:</a:t>
            </a:r>
          </a:p>
          <a:p>
            <a:pPr lvl="1" eaLnBrk="1" hangingPunct="1">
              <a:lnSpc>
                <a:spcPct val="80000"/>
              </a:lnSpc>
              <a:defRPr/>
            </a:pPr>
            <a:r>
              <a:rPr lang="en-US" sz="2400" dirty="0"/>
              <a:t>Те са висококвалифицирани и много умни:</a:t>
            </a:r>
          </a:p>
          <a:p>
            <a:pPr lvl="1" eaLnBrk="1" hangingPunct="1">
              <a:lnSpc>
                <a:spcPct val="80000"/>
              </a:lnSpc>
              <a:defRPr/>
            </a:pPr>
            <a:r>
              <a:rPr lang="en-US" sz="2400" dirty="0"/>
              <a:t>Те имат задълбочени компютърни познания и достатъчно свободно време. </a:t>
            </a:r>
          </a:p>
          <a:p>
            <a:pPr lvl="1" eaLnBrk="1" hangingPunct="1">
              <a:lnSpc>
                <a:spcPct val="80000"/>
              </a:lnSpc>
              <a:defRPr/>
            </a:pPr>
            <a:r>
              <a:rPr lang="en-US" sz="2400" dirty="0"/>
              <a:t>Те разполагат с време и енергия, за да изследват и анализират компютърни приложения за уязвимости в сигурността. </a:t>
            </a:r>
          </a:p>
          <a:p>
            <a:pPr lvl="1" eaLnBrk="1" hangingPunct="1">
              <a:lnSpc>
                <a:spcPct val="80000"/>
              </a:lnSpc>
              <a:defRPr/>
            </a:pPr>
            <a:r>
              <a:rPr lang="en-US" sz="2400" dirty="0"/>
              <a:t>Те са добри момчета и най-добрите от тях работят в тясно сътрудничество с доставчиците на софтуер, за да открият и отстранят сериозни проблеми със сигурността, преди доставчикът да издаде бюлетин за сигурност, който да подтикне потребителите да предприемат действия за намаляване на риска, като например прилагане на софтуерна поправка или промяна на настройка. </a:t>
            </a:r>
          </a:p>
          <a:p>
            <a:pPr lvl="1" eaLnBrk="1" hangingPunct="1">
              <a:lnSpc>
                <a:spcPct val="80000"/>
              </a:lnSpc>
              <a:defRPr/>
            </a:pPr>
            <a:r>
              <a:rPr lang="en-US" sz="2400" dirty="0"/>
              <a:t>Този подход помага да се предотврати опасността интернет общността да остане беззащитна, ако грешката в сигурността бъде открита първо от вандали, които организират широкомащабни атаки. </a:t>
            </a:r>
          </a:p>
        </p:txBody>
      </p:sp>
    </p:spTree>
    <p:extLst>
      <p:ext uri="{BB962C8B-B14F-4D97-AF65-F5344CB8AC3E}">
        <p14:creationId xmlns:p14="http://schemas.microsoft.com/office/powerpoint/2010/main" val="1489981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GB" smtClean="0"/>
              <a:t>Нападателите</a:t>
            </a:r>
          </a:p>
        </p:txBody>
      </p:sp>
      <p:sp>
        <p:nvSpPr>
          <p:cNvPr id="832515" name="Rectangle 3"/>
          <p:cNvSpPr>
            <a:spLocks noGrp="1" noChangeArrowheads="1"/>
          </p:cNvSpPr>
          <p:nvPr>
            <p:ph type="body" idx="1"/>
          </p:nvPr>
        </p:nvSpPr>
        <p:spPr>
          <a:xfrm>
            <a:off x="1065212" y="990600"/>
            <a:ext cx="10363200" cy="5715000"/>
          </a:xfrm>
        </p:spPr>
        <p:txBody>
          <a:bodyPr vert="horz" lIns="90840" tIns="44623" rIns="90840" bIns="44623" rtlCol="0">
            <a:normAutofit/>
          </a:bodyPr>
          <a:lstStyle/>
          <a:p>
            <a:pPr eaLnBrk="1" hangingPunct="1">
              <a:defRPr/>
            </a:pPr>
            <a:r>
              <a:rPr lang="en-US" dirty="0" smtClean="0"/>
              <a:t>Сценарий за деца:</a:t>
            </a:r>
          </a:p>
          <a:p>
            <a:pPr lvl="1" eaLnBrk="1" hangingPunct="1">
              <a:defRPr/>
            </a:pPr>
            <a:r>
              <a:rPr lang="en-US" dirty="0" smtClean="0"/>
              <a:t>Те са просто глупави вандали. </a:t>
            </a:r>
          </a:p>
          <a:p>
            <a:pPr lvl="1" eaLnBrk="1" hangingPunct="1">
              <a:defRPr/>
            </a:pPr>
            <a:r>
              <a:rPr lang="en-US" dirty="0" smtClean="0"/>
              <a:t>Те имат малко познания за сигурността и могат да атакуват несигурни системи само с помощта на скриптове, написани от по-запознати атакуващи, които намират, документират и пишат код за експлойт за намерените грешки в сигурността. </a:t>
            </a:r>
          </a:p>
          <a:p>
            <a:pPr lvl="1" eaLnBrk="1" hangingPunct="1">
              <a:defRPr/>
            </a:pPr>
            <a:r>
              <a:rPr lang="en-US" dirty="0" smtClean="0"/>
              <a:t>Експлойтът (често наричан </a:t>
            </a:r>
            <a:r>
              <a:rPr lang="en-US" dirty="0" err="1" smtClean="0"/>
              <a:t>sploit) </a:t>
            </a:r>
            <a:r>
              <a:rPr lang="en-US" dirty="0" smtClean="0"/>
              <a:t>е начин за проникване в дадена система. </a:t>
            </a:r>
          </a:p>
        </p:txBody>
      </p:sp>
    </p:spTree>
    <p:extLst>
      <p:ext uri="{BB962C8B-B14F-4D97-AF65-F5344CB8AC3E}">
        <p14:creationId xmlns:p14="http://schemas.microsoft.com/office/powerpoint/2010/main" val="3283019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Rot="1" noChangeArrowheads="1"/>
          </p:cNvSpPr>
          <p:nvPr>
            <p:ph type="title"/>
          </p:nvPr>
        </p:nvSpPr>
        <p:spPr>
          <a:xfrm>
            <a:off x="1063624" y="228600"/>
            <a:ext cx="10896541" cy="724915"/>
          </a:xfrm>
        </p:spPr>
        <p:txBody>
          <a:bodyPr vert="horz" lIns="90840" tIns="44623" rIns="90840" bIns="44623" rtlCol="0" anchor="b">
            <a:normAutofit/>
          </a:bodyPr>
          <a:lstStyle/>
          <a:p>
            <a:pPr eaLnBrk="1" hangingPunct="1">
              <a:defRPr/>
            </a:pPr>
            <a:r>
              <a:rPr lang="en-US" sz="3800" dirty="0" err="1"/>
              <a:t>Уязвимостите</a:t>
            </a:r>
            <a:r>
              <a:rPr lang="en-US" sz="3800" dirty="0"/>
              <a:t> </a:t>
            </a:r>
            <a:r>
              <a:rPr lang="bg-BG" sz="3800" dirty="0" smtClean="0"/>
              <a:t>са </a:t>
            </a:r>
            <a:r>
              <a:rPr lang="en-US" sz="3800" dirty="0" err="1" smtClean="0"/>
              <a:t>скъпи</a:t>
            </a:r>
            <a:r>
              <a:rPr lang="en-US" sz="3800" dirty="0" smtClean="0"/>
              <a:t> </a:t>
            </a:r>
            <a:r>
              <a:rPr lang="en-US" sz="3800" dirty="0"/>
              <a:t>за отстраняване</a:t>
            </a:r>
          </a:p>
        </p:txBody>
      </p:sp>
      <p:sp>
        <p:nvSpPr>
          <p:cNvPr id="836611" name="Rectangle 3"/>
          <p:cNvSpPr>
            <a:spLocks noGrp="1" noChangeArrowheads="1"/>
          </p:cNvSpPr>
          <p:nvPr>
            <p:ph type="body" idx="1"/>
          </p:nvPr>
        </p:nvSpPr>
        <p:spPr>
          <a:xfrm>
            <a:off x="1065212" y="1143000"/>
            <a:ext cx="10515600" cy="5486400"/>
          </a:xfrm>
        </p:spPr>
        <p:txBody>
          <a:bodyPr vert="horz" lIns="90840" tIns="44623" rIns="90840" bIns="44623" rtlCol="0">
            <a:normAutofit fontScale="92500" lnSpcReduction="10000"/>
          </a:bodyPr>
          <a:lstStyle/>
          <a:p>
            <a:pPr eaLnBrk="1" hangingPunct="1">
              <a:defRPr/>
            </a:pPr>
            <a:r>
              <a:rPr lang="en-US" sz="2600" dirty="0"/>
              <a:t>Цената на координацията на поправката. </a:t>
            </a:r>
          </a:p>
          <a:p>
            <a:pPr lvl="1" eaLnBrk="1" hangingPunct="1">
              <a:defRPr/>
            </a:pPr>
            <a:r>
              <a:rPr lang="en-US" sz="2300" dirty="0"/>
              <a:t>Някой трябва да изготви план за извършване на поправката.</a:t>
            </a:r>
          </a:p>
          <a:p>
            <a:pPr eaLnBrk="1" hangingPunct="1">
              <a:defRPr/>
            </a:pPr>
            <a:r>
              <a:rPr lang="en-US" sz="2600" dirty="0"/>
              <a:t>Разходите на разработчиците за намиране на уязвимия код.</a:t>
            </a:r>
          </a:p>
          <a:p>
            <a:pPr eaLnBrk="1" hangingPunct="1">
              <a:defRPr/>
            </a:pPr>
            <a:r>
              <a:rPr lang="en-US" sz="2600" dirty="0"/>
              <a:t>Разходите на разработчиците за поправяне на кода.</a:t>
            </a:r>
          </a:p>
          <a:p>
            <a:pPr eaLnBrk="1" hangingPunct="1">
              <a:defRPr/>
            </a:pPr>
            <a:r>
              <a:rPr lang="en-US" sz="2600" dirty="0"/>
              <a:t>Разходите за тестери, които да тестват поправката.</a:t>
            </a:r>
          </a:p>
          <a:p>
            <a:pPr eaLnBrk="1" hangingPunct="1">
              <a:defRPr/>
            </a:pPr>
            <a:r>
              <a:rPr lang="en-US" sz="2600" dirty="0"/>
              <a:t>Разходите за тестване на настройката на поправката.</a:t>
            </a:r>
          </a:p>
          <a:p>
            <a:pPr eaLnBrk="1" hangingPunct="1">
              <a:defRPr/>
            </a:pPr>
            <a:r>
              <a:rPr lang="en-US" sz="2600" dirty="0"/>
              <a:t>Разходите за създаване и тестване на международни версии.</a:t>
            </a:r>
          </a:p>
          <a:p>
            <a:pPr eaLnBrk="1" hangingPunct="1">
              <a:defRPr/>
            </a:pPr>
            <a:r>
              <a:rPr lang="en-US" sz="2600" dirty="0"/>
              <a:t>Разходите за цифрово подписване на поправката, ако поддържате подписан код, например Authenticode.</a:t>
            </a:r>
          </a:p>
          <a:p>
            <a:pPr eaLnBrk="1" hangingPunct="1">
              <a:defRPr/>
            </a:pPr>
            <a:r>
              <a:rPr lang="en-US" sz="2600" dirty="0"/>
              <a:t>Разходите за публикуване на поправката на вашия уебсайт.</a:t>
            </a:r>
          </a:p>
          <a:p>
            <a:pPr eaLnBrk="1" hangingPunct="1">
              <a:defRPr/>
            </a:pPr>
            <a:r>
              <a:rPr lang="en-US" sz="2600" dirty="0"/>
              <a:t>Разходите за изготвяне на подкрепящата документация.</a:t>
            </a:r>
          </a:p>
          <a:p>
            <a:pPr eaLnBrk="1" hangingPunct="1">
              <a:defRPr/>
            </a:pPr>
            <a:r>
              <a:rPr lang="en-US" sz="2600" dirty="0"/>
              <a:t>Разходите за справяне с лошите връзки с обществеността</a:t>
            </a:r>
            <a:r>
              <a:rPr lang="en-US" sz="2600" dirty="0"/>
              <a:t>.</a:t>
            </a:r>
            <a:endParaRPr lang="en-US" sz="2600" dirty="0"/>
          </a:p>
        </p:txBody>
      </p:sp>
    </p:spTree>
    <p:extLst>
      <p:ext uri="{BB962C8B-B14F-4D97-AF65-F5344CB8AC3E}">
        <p14:creationId xmlns:p14="http://schemas.microsoft.com/office/powerpoint/2010/main" val="396429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Rot="1" noChangeArrowheads="1"/>
          </p:cNvSpPr>
          <p:nvPr>
            <p:ph type="title"/>
          </p:nvPr>
        </p:nvSpPr>
        <p:spPr/>
        <p:txBody>
          <a:bodyPr vert="horz" lIns="90840" tIns="44623" rIns="90840" bIns="44623" rtlCol="0" anchor="b">
            <a:normAutofit/>
          </a:bodyPr>
          <a:lstStyle/>
          <a:p>
            <a:pPr eaLnBrk="1" hangingPunct="1">
              <a:defRPr/>
            </a:pPr>
            <a:r>
              <a:rPr lang="en-US" sz="3800" dirty="0" err="1"/>
              <a:t>Уязвимостите</a:t>
            </a:r>
            <a:r>
              <a:rPr lang="en-US" sz="3800" dirty="0"/>
              <a:t> </a:t>
            </a:r>
            <a:r>
              <a:rPr lang="en-US" sz="3800" dirty="0" err="1" smtClean="0"/>
              <a:t>са</a:t>
            </a:r>
            <a:r>
              <a:rPr lang="en-US" sz="3800" dirty="0" smtClean="0"/>
              <a:t> </a:t>
            </a:r>
            <a:r>
              <a:rPr lang="en-US" sz="3800" dirty="0" err="1" smtClean="0"/>
              <a:t>скъпи</a:t>
            </a:r>
            <a:r>
              <a:rPr lang="en-US" sz="3800" dirty="0" smtClean="0"/>
              <a:t> </a:t>
            </a:r>
            <a:r>
              <a:rPr lang="en-US" sz="3800" dirty="0" err="1"/>
              <a:t>за</a:t>
            </a:r>
            <a:r>
              <a:rPr lang="en-US" sz="3800" dirty="0"/>
              <a:t> </a:t>
            </a:r>
            <a:r>
              <a:rPr lang="en-US" sz="3800" dirty="0" err="1"/>
              <a:t>отстраняване</a:t>
            </a:r>
            <a:endParaRPr lang="en-US" sz="3800" dirty="0"/>
          </a:p>
        </p:txBody>
      </p:sp>
      <p:sp>
        <p:nvSpPr>
          <p:cNvPr id="837635" name="Rectangle 3"/>
          <p:cNvSpPr>
            <a:spLocks noGrp="1" noChangeArrowheads="1"/>
          </p:cNvSpPr>
          <p:nvPr>
            <p:ph type="body" idx="1"/>
          </p:nvPr>
        </p:nvSpPr>
        <p:spPr>
          <a:xfrm>
            <a:off x="989012" y="990600"/>
            <a:ext cx="10591800" cy="5638800"/>
          </a:xfrm>
        </p:spPr>
        <p:txBody>
          <a:bodyPr vert="horz" lIns="90840" tIns="44623" rIns="90840" bIns="44623" rtlCol="0">
            <a:normAutofit/>
          </a:bodyPr>
          <a:lstStyle/>
          <a:p>
            <a:pPr eaLnBrk="1" hangingPunct="1">
              <a:defRPr/>
            </a:pPr>
            <a:r>
              <a:rPr lang="en-US" sz="2600" dirty="0"/>
              <a:t>Разходи за трафик и изтегляне, ако плащате на доставчик на интернет услуги за хостване на поправки за вас.</a:t>
            </a:r>
          </a:p>
          <a:p>
            <a:pPr eaLnBrk="1" hangingPunct="1">
              <a:defRPr/>
            </a:pPr>
            <a:r>
              <a:rPr lang="en-US" sz="2600" dirty="0"/>
              <a:t>Цената на загубената производителност. </a:t>
            </a:r>
          </a:p>
          <a:p>
            <a:pPr lvl="1" eaLnBrk="1" hangingPunct="1">
              <a:defRPr/>
            </a:pPr>
            <a:r>
              <a:rPr lang="en-US" sz="2300" dirty="0"/>
              <a:t>Има голяма вероятност всички, които участват в този процес, да работят върху нов код. </a:t>
            </a:r>
          </a:p>
          <a:p>
            <a:pPr lvl="1" eaLnBrk="1" hangingPunct="1">
              <a:defRPr/>
            </a:pPr>
            <a:r>
              <a:rPr lang="en-US" sz="2300" dirty="0"/>
              <a:t>Работата по поправката е загубено време.</a:t>
            </a:r>
          </a:p>
          <a:p>
            <a:pPr eaLnBrk="1" hangingPunct="1">
              <a:defRPr/>
            </a:pPr>
            <a:r>
              <a:rPr lang="en-US" sz="2600" dirty="0"/>
              <a:t>Разходите на клиентите ви за прилагане на поправката. </a:t>
            </a:r>
          </a:p>
          <a:p>
            <a:pPr lvl="1" eaLnBrk="1" hangingPunct="1">
              <a:defRPr/>
            </a:pPr>
            <a:r>
              <a:rPr lang="en-US" sz="2300" dirty="0"/>
              <a:t>Възможно е да се наложи да стартират поправката на непроизводствен сървър, за да проверят дали тя работи по план. </a:t>
            </a:r>
          </a:p>
          <a:p>
            <a:pPr lvl="1" eaLnBrk="1" hangingPunct="1">
              <a:defRPr/>
            </a:pPr>
            <a:r>
              <a:rPr lang="en-US" sz="2300" dirty="0"/>
              <a:t>Още веднъж, хората, които тестват и прилагат поправката, обикновено работят нещо продуктивно!</a:t>
            </a:r>
          </a:p>
          <a:p>
            <a:pPr eaLnBrk="1" hangingPunct="1">
              <a:defRPr/>
            </a:pPr>
            <a:r>
              <a:rPr lang="en-US" sz="2600" dirty="0"/>
              <a:t>Потенциалните разходи за загубени приходи от вероятни клиенти, които решават да отложат или да спрат да използват вашия продукт.</a:t>
            </a:r>
          </a:p>
        </p:txBody>
      </p:sp>
    </p:spTree>
    <p:extLst>
      <p:ext uri="{BB962C8B-B14F-4D97-AF65-F5344CB8AC3E}">
        <p14:creationId xmlns:p14="http://schemas.microsoft.com/office/powerpoint/2010/main" val="1851563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Rot="1" noChangeArrowheads="1"/>
          </p:cNvSpPr>
          <p:nvPr>
            <p:ph type="title"/>
          </p:nvPr>
        </p:nvSpPr>
        <p:spPr/>
        <p:txBody>
          <a:bodyPr vert="horz" lIns="90840" tIns="44623" rIns="90840" bIns="44623" rtlCol="0" anchor="b">
            <a:normAutofit/>
          </a:bodyPr>
          <a:lstStyle/>
          <a:p>
            <a:pPr>
              <a:defRPr/>
            </a:pPr>
            <a:r>
              <a:rPr lang="en-US" sz="3600" dirty="0" err="1"/>
              <a:t>Въвеждане</a:t>
            </a:r>
            <a:r>
              <a:rPr lang="en-US" sz="3600" dirty="0"/>
              <a:t> </a:t>
            </a:r>
            <a:r>
              <a:rPr lang="en-US" sz="3600" dirty="0" err="1"/>
              <a:t>на</a:t>
            </a:r>
            <a:r>
              <a:rPr lang="en-US" sz="3600" dirty="0"/>
              <a:t> </a:t>
            </a:r>
            <a:r>
              <a:rPr lang="en-US" sz="3600" dirty="0" err="1"/>
              <a:t>култура</a:t>
            </a:r>
            <a:r>
              <a:rPr lang="en-US" sz="3600" dirty="0"/>
              <a:t> </a:t>
            </a:r>
            <a:r>
              <a:rPr lang="en-US" sz="3600" dirty="0" err="1"/>
              <a:t>на</a:t>
            </a:r>
            <a:r>
              <a:rPr lang="en-US" sz="3600" dirty="0"/>
              <a:t> </a:t>
            </a:r>
            <a:r>
              <a:rPr lang="en-US" sz="3600" dirty="0" err="1"/>
              <a:t>сигурност</a:t>
            </a:r>
            <a:endParaRPr lang="en-US" sz="3800" dirty="0"/>
          </a:p>
        </p:txBody>
      </p:sp>
      <p:sp>
        <p:nvSpPr>
          <p:cNvPr id="837635" name="Rectangle 3"/>
          <p:cNvSpPr>
            <a:spLocks noGrp="1" noChangeArrowheads="1"/>
          </p:cNvSpPr>
          <p:nvPr>
            <p:ph type="body" idx="1"/>
          </p:nvPr>
        </p:nvSpPr>
        <p:spPr>
          <a:xfrm>
            <a:off x="989012" y="990600"/>
            <a:ext cx="10591800" cy="5638800"/>
          </a:xfrm>
        </p:spPr>
        <p:txBody>
          <a:bodyPr vert="horz" lIns="90840" tIns="44623" rIns="90840" bIns="44623" rtlCol="0">
            <a:normAutofit fontScale="70000" lnSpcReduction="20000"/>
          </a:bodyPr>
          <a:lstStyle/>
          <a:p>
            <a:pPr>
              <a:lnSpc>
                <a:spcPct val="120000"/>
              </a:lnSpc>
              <a:spcBef>
                <a:spcPts val="0"/>
              </a:spcBef>
              <a:defRPr/>
            </a:pPr>
            <a:r>
              <a:rPr lang="bg-BG" dirty="0" smtClean="0"/>
              <a:t>"</a:t>
            </a:r>
            <a:r>
              <a:rPr lang="bg-BG" i="1" dirty="0" smtClean="0"/>
              <a:t>Сигурността е основен приоритет</a:t>
            </a:r>
            <a:r>
              <a:rPr lang="bg-BG" dirty="0" smtClean="0"/>
              <a:t>" трябва да бъде корпоративна повеля:</a:t>
            </a:r>
          </a:p>
          <a:p>
            <a:pPr lvl="1">
              <a:lnSpc>
                <a:spcPct val="120000"/>
              </a:lnSpc>
              <a:spcBef>
                <a:spcPts val="0"/>
              </a:spcBef>
              <a:defRPr/>
            </a:pPr>
            <a:r>
              <a:rPr lang="bg-BG" dirty="0" smtClean="0"/>
              <a:t>Необходимостта от доставка на сигурен софтуер е по-голяма от всякога. </a:t>
            </a:r>
          </a:p>
          <a:p>
            <a:pPr lvl="1">
              <a:lnSpc>
                <a:spcPct val="120000"/>
              </a:lnSpc>
              <a:spcBef>
                <a:spcPts val="0"/>
              </a:spcBef>
              <a:defRPr/>
            </a:pPr>
            <a:r>
              <a:rPr lang="bg-BG" dirty="0" smtClean="0"/>
              <a:t>Потребителите изискват от вас да създавате сигурни приложения - те смятат, че такива системи са право, а не привилегия. </a:t>
            </a:r>
          </a:p>
          <a:p>
            <a:pPr lvl="1">
              <a:lnSpc>
                <a:spcPct val="120000"/>
              </a:lnSpc>
              <a:spcBef>
                <a:spcPts val="0"/>
              </a:spcBef>
              <a:defRPr/>
            </a:pPr>
            <a:r>
              <a:rPr lang="bg-BG" dirty="0" smtClean="0"/>
              <a:t>Служителите по продажбите на конкурента ще прошепнат на потенциалните ви клиенти, че вашият код е рисков и опасен. </a:t>
            </a:r>
          </a:p>
          <a:p>
            <a:pPr>
              <a:lnSpc>
                <a:spcPct val="120000"/>
              </a:lnSpc>
              <a:spcBef>
                <a:spcPts val="0"/>
              </a:spcBef>
              <a:defRPr/>
            </a:pPr>
            <a:r>
              <a:rPr lang="bg-BG" dirty="0" smtClean="0"/>
              <a:t>Най-доброто място за въвеждане на култура на сигурност в нашата компания е на върха, което може да е трудна работа</a:t>
            </a:r>
            <a:r>
              <a:rPr lang="bg-BG" sz="2400" dirty="0" smtClean="0"/>
              <a:t>: </a:t>
            </a:r>
          </a:p>
          <a:p>
            <a:pPr lvl="1">
              <a:lnSpc>
                <a:spcPct val="120000"/>
              </a:lnSpc>
              <a:spcBef>
                <a:spcPts val="0"/>
              </a:spcBef>
              <a:defRPr/>
            </a:pPr>
            <a:r>
              <a:rPr lang="bg-BG" dirty="0" smtClean="0"/>
              <a:t>Трябва да покажем какво е крайното въздействие върху вашата компания, а сигурността обикновено се смята за нещо, което "пречи" и струва пари, а финансовата възвръщаемост е малка или никаква. </a:t>
            </a:r>
          </a:p>
          <a:p>
            <a:pPr lvl="1">
              <a:lnSpc>
                <a:spcPct val="120000"/>
              </a:lnSpc>
              <a:spcBef>
                <a:spcPts val="0"/>
              </a:spcBef>
              <a:defRPr/>
            </a:pPr>
            <a:r>
              <a:rPr lang="bg-BG" dirty="0" smtClean="0"/>
              <a:t>Представянето на идеята за създаване на сигурни продукти пред ръководството изисква такт, а понякога и подривна дейност. </a:t>
            </a:r>
          </a:p>
          <a:p>
            <a:pPr>
              <a:lnSpc>
                <a:spcPct val="120000"/>
              </a:lnSpc>
              <a:spcBef>
                <a:spcPts val="0"/>
              </a:spcBef>
              <a:defRPr/>
            </a:pPr>
            <a:r>
              <a:rPr lang="bg-BG" dirty="0" smtClean="0"/>
              <a:t>Две идеи:</a:t>
            </a:r>
          </a:p>
          <a:p>
            <a:pPr lvl="1">
              <a:lnSpc>
                <a:spcPct val="120000"/>
              </a:lnSpc>
              <a:spcBef>
                <a:spcPts val="0"/>
              </a:spcBef>
              <a:defRPr/>
            </a:pPr>
            <a:r>
              <a:rPr lang="bg-BG" dirty="0" smtClean="0"/>
              <a:t>Накарайте шефа да изпрати имейл </a:t>
            </a:r>
          </a:p>
          <a:p>
            <a:pPr lvl="1">
              <a:lnSpc>
                <a:spcPct val="120000"/>
              </a:lnSpc>
              <a:spcBef>
                <a:spcPts val="0"/>
              </a:spcBef>
              <a:defRPr/>
            </a:pPr>
            <a:r>
              <a:rPr lang="bg-BG" dirty="0" smtClean="0"/>
              <a:t>Номинирайте специалист по сигурността</a:t>
            </a:r>
            <a:endParaRPr lang="bg-BG" dirty="0"/>
          </a:p>
        </p:txBody>
      </p:sp>
    </p:spTree>
    <p:extLst>
      <p:ext uri="{BB962C8B-B14F-4D97-AF65-F5344CB8AC3E}">
        <p14:creationId xmlns:p14="http://schemas.microsoft.com/office/powerpoint/2010/main" val="204105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Rot="1" noChangeArrowheads="1"/>
          </p:cNvSpPr>
          <p:nvPr>
            <p:ph type="title"/>
          </p:nvPr>
        </p:nvSpPr>
        <p:spPr/>
        <p:txBody>
          <a:bodyPr vert="horz" lIns="90840" tIns="44623" rIns="90840" bIns="44623" rtlCol="0" anchor="b">
            <a:normAutofit/>
          </a:bodyPr>
          <a:lstStyle/>
          <a:p>
            <a:pPr>
              <a:defRPr/>
            </a:pPr>
            <a:r>
              <a:rPr lang="bg-BG" sz="3600" dirty="0" smtClean="0"/>
              <a:t>Шефът изпраща имейл</a:t>
            </a:r>
            <a:endParaRPr lang="bg-BG" sz="3800" dirty="0"/>
          </a:p>
        </p:txBody>
      </p:sp>
      <p:sp>
        <p:nvSpPr>
          <p:cNvPr id="837635" name="Rectangle 3"/>
          <p:cNvSpPr>
            <a:spLocks noGrp="1" noChangeArrowheads="1"/>
          </p:cNvSpPr>
          <p:nvPr>
            <p:ph type="body" idx="1"/>
          </p:nvPr>
        </p:nvSpPr>
        <p:spPr>
          <a:xfrm>
            <a:off x="989012" y="990600"/>
            <a:ext cx="10591800" cy="5638800"/>
          </a:xfrm>
        </p:spPr>
        <p:txBody>
          <a:bodyPr vert="horz" lIns="90840" tIns="44623" rIns="90840" bIns="44623" rtlCol="0">
            <a:normAutofit/>
          </a:bodyPr>
          <a:lstStyle/>
          <a:p>
            <a:pPr>
              <a:defRPr/>
            </a:pPr>
            <a:r>
              <a:rPr lang="bg-BG" sz="2800" dirty="0" smtClean="0"/>
              <a:t>Шефът изпраща имейл или бележка до съответните членове на екипа, в която обяснява защо сигурността е основен приоритет на компанията. </a:t>
            </a:r>
          </a:p>
          <a:p>
            <a:pPr>
              <a:defRPr/>
            </a:pPr>
            <a:r>
              <a:rPr lang="bg-BG" sz="2800" dirty="0" smtClean="0"/>
              <a:t>Електронното писмо трябва да е целенасочено и трудно за разбиране. </a:t>
            </a:r>
          </a:p>
          <a:p>
            <a:pPr lvl="1">
              <a:defRPr/>
            </a:pPr>
            <a:r>
              <a:rPr lang="bg-BG" sz="2400" dirty="0" smtClean="0"/>
              <a:t>Посланието му трябва да бъде просто: сигурността е основен приоритет. </a:t>
            </a:r>
          </a:p>
          <a:p>
            <a:pPr>
              <a:defRPr/>
            </a:pPr>
            <a:r>
              <a:rPr lang="bg-BG" sz="2800" dirty="0" smtClean="0"/>
              <a:t>Чудесни неща могат да се случат, когато подобно послание идва от върха.</a:t>
            </a:r>
          </a:p>
          <a:p>
            <a:pPr lvl="1">
              <a:defRPr/>
            </a:pPr>
            <a:r>
              <a:rPr lang="bg-BG" sz="2400" dirty="0" smtClean="0"/>
              <a:t>Разбира се, това не означава, че в продукта няма да се появят грешки в сигурността. </a:t>
            </a:r>
            <a:endParaRPr lang="bg-BG" sz="2400" dirty="0"/>
          </a:p>
        </p:txBody>
      </p:sp>
    </p:spTree>
    <p:extLst>
      <p:ext uri="{BB962C8B-B14F-4D97-AF65-F5344CB8AC3E}">
        <p14:creationId xmlns:p14="http://schemas.microsoft.com/office/powerpoint/2010/main" val="362831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Rot="1" noChangeArrowheads="1"/>
          </p:cNvSpPr>
          <p:nvPr>
            <p:ph type="title"/>
          </p:nvPr>
        </p:nvSpPr>
        <p:spPr/>
        <p:txBody>
          <a:bodyPr vert="horz" lIns="90840" tIns="44623" rIns="90840" bIns="44623" rtlCol="0" anchor="b">
            <a:normAutofit/>
          </a:bodyPr>
          <a:lstStyle/>
          <a:p>
            <a:pPr>
              <a:defRPr/>
            </a:pPr>
            <a:r>
              <a:rPr lang="bg-BG" sz="3600" dirty="0" smtClean="0"/>
              <a:t>Евангелист по сигурността</a:t>
            </a:r>
            <a:endParaRPr lang="bg-BG" sz="3800" dirty="0"/>
          </a:p>
        </p:txBody>
      </p:sp>
      <p:sp>
        <p:nvSpPr>
          <p:cNvPr id="837635" name="Rectangle 3"/>
          <p:cNvSpPr>
            <a:spLocks noGrp="1" noChangeArrowheads="1"/>
          </p:cNvSpPr>
          <p:nvPr>
            <p:ph type="body" idx="1"/>
          </p:nvPr>
        </p:nvSpPr>
        <p:spPr>
          <a:xfrm>
            <a:off x="989012" y="990600"/>
            <a:ext cx="10591800" cy="5638800"/>
          </a:xfrm>
        </p:spPr>
        <p:txBody>
          <a:bodyPr vert="horz" lIns="90840" tIns="44623" rIns="90840" bIns="44623" rtlCol="0">
            <a:normAutofit/>
          </a:bodyPr>
          <a:lstStyle/>
          <a:p>
            <a:pPr>
              <a:defRPr/>
            </a:pPr>
            <a:r>
              <a:rPr lang="bg-BG" sz="2800" dirty="0" smtClean="0"/>
              <a:t>Това са хора, които разбират, че компютърната сигурност е важна за компанията и за клиентите. </a:t>
            </a:r>
          </a:p>
          <a:p>
            <a:pPr>
              <a:defRPr/>
            </a:pPr>
            <a:r>
              <a:rPr lang="bg-BG" sz="2800" dirty="0" smtClean="0"/>
              <a:t>Тези хора ще бъдат координатор по всички въпроси, свързани със сигурността. </a:t>
            </a:r>
          </a:p>
          <a:p>
            <a:pPr>
              <a:defRPr/>
            </a:pPr>
            <a:r>
              <a:rPr lang="bg-BG" sz="2800" dirty="0" smtClean="0"/>
              <a:t>Основните цели на евангелиста или евангелистите по сигурността са:</a:t>
            </a:r>
          </a:p>
          <a:p>
            <a:pPr lvl="1">
              <a:defRPr/>
            </a:pPr>
            <a:r>
              <a:rPr lang="bg-BG" sz="2400" dirty="0" smtClean="0"/>
              <a:t>Бъдете в крак с проблемите на сигурността в индустрията.</a:t>
            </a:r>
          </a:p>
          <a:p>
            <a:pPr lvl="1">
              <a:defRPr/>
            </a:pPr>
            <a:r>
              <a:rPr lang="bg-BG" sz="2400" dirty="0" smtClean="0"/>
              <a:t>Проведете интервюта с хора, за да създадете компетентен екип по сигурността.</a:t>
            </a:r>
          </a:p>
          <a:p>
            <a:pPr lvl="1">
              <a:defRPr/>
            </a:pPr>
            <a:r>
              <a:rPr lang="bg-BG" sz="2400" dirty="0" smtClean="0"/>
              <a:t>Осигуряване на постоянно обучение по сигурността. </a:t>
            </a:r>
          </a:p>
          <a:p>
            <a:pPr lvl="2">
              <a:defRPr/>
            </a:pPr>
            <a:r>
              <a:rPr lang="bg-BG" sz="1800" dirty="0" smtClean="0"/>
              <a:t>Раздайте награди за най-сигурен код или най-добро отстраняване на грешка в сигурността. </a:t>
            </a:r>
          </a:p>
          <a:p>
            <a:pPr lvl="1">
              <a:defRPr/>
            </a:pPr>
            <a:r>
              <a:rPr lang="bg-BG" sz="2400" dirty="0" smtClean="0"/>
              <a:t>Осигуряване на </a:t>
            </a:r>
            <a:r>
              <a:rPr lang="bg-BG" sz="2400" dirty="0" err="1" smtClean="0"/>
              <a:t>триаж</a:t>
            </a:r>
            <a:r>
              <a:rPr lang="bg-BG" sz="2400" dirty="0" smtClean="0"/>
              <a:t> на грешки в сигурността.</a:t>
            </a:r>
            <a:endParaRPr lang="bg-BG" sz="2400" dirty="0"/>
          </a:p>
        </p:txBody>
      </p:sp>
    </p:spTree>
    <p:extLst>
      <p:ext uri="{BB962C8B-B14F-4D97-AF65-F5344CB8AC3E}">
        <p14:creationId xmlns:p14="http://schemas.microsoft.com/office/powerpoint/2010/main" val="1444265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2" name="Rectangle 2"/>
          <p:cNvSpPr>
            <a:spLocks noGrp="1" noRot="1" noChangeArrowheads="1"/>
          </p:cNvSpPr>
          <p:nvPr>
            <p:ph type="title"/>
          </p:nvPr>
        </p:nvSpPr>
        <p:spPr/>
        <p:txBody>
          <a:bodyPr/>
          <a:lstStyle/>
          <a:p>
            <a:pPr eaLnBrk="1" hangingPunct="1">
              <a:defRPr/>
            </a:pPr>
            <a:r>
              <a:rPr lang="en-US" smtClean="0"/>
              <a:t>Ролята на образованието</a:t>
            </a:r>
            <a:endParaRPr lang="bg-BG" smtClean="0"/>
          </a:p>
        </p:txBody>
      </p:sp>
      <p:sp>
        <p:nvSpPr>
          <p:cNvPr id="849923" name="Rectangle 3"/>
          <p:cNvSpPr>
            <a:spLocks noGrp="1" noChangeArrowheads="1"/>
          </p:cNvSpPr>
          <p:nvPr>
            <p:ph type="body" idx="1"/>
          </p:nvPr>
        </p:nvSpPr>
        <p:spPr/>
        <p:txBody>
          <a:bodyPr/>
          <a:lstStyle/>
          <a:p>
            <a:pPr eaLnBrk="1" hangingPunct="1">
              <a:lnSpc>
                <a:spcPct val="80000"/>
              </a:lnSpc>
              <a:defRPr/>
            </a:pPr>
            <a:r>
              <a:rPr lang="en-US" sz="2800"/>
              <a:t>Основните теми са :</a:t>
            </a:r>
          </a:p>
          <a:p>
            <a:pPr lvl="1" eaLnBrk="1" hangingPunct="1">
              <a:lnSpc>
                <a:spcPct val="80000"/>
              </a:lnSpc>
              <a:defRPr/>
            </a:pPr>
            <a:r>
              <a:rPr lang="en-US" sz="2400"/>
              <a:t>Какво трябва да научат новите ИТ специалисти?</a:t>
            </a:r>
          </a:p>
          <a:p>
            <a:pPr lvl="1" eaLnBrk="1" hangingPunct="1">
              <a:lnSpc>
                <a:spcPct val="80000"/>
              </a:lnSpc>
              <a:defRPr/>
            </a:pPr>
            <a:r>
              <a:rPr lang="en-US" sz="2400"/>
              <a:t>Съпротива срещу задължителното обучение </a:t>
            </a:r>
          </a:p>
          <a:p>
            <a:pPr lvl="1" eaLnBrk="1" hangingPunct="1">
              <a:lnSpc>
                <a:spcPct val="80000"/>
              </a:lnSpc>
              <a:defRPr/>
            </a:pPr>
            <a:r>
              <a:rPr lang="en-US" sz="2400"/>
              <a:t>Текущо обучение </a:t>
            </a:r>
          </a:p>
          <a:p>
            <a:pPr lvl="1" eaLnBrk="1" hangingPunct="1">
              <a:lnSpc>
                <a:spcPct val="80000"/>
              </a:lnSpc>
              <a:defRPr/>
            </a:pPr>
            <a:r>
              <a:rPr lang="en-US" sz="2400"/>
              <a:t>Усъвършенстване на науката за сигурността </a:t>
            </a:r>
          </a:p>
          <a:p>
            <a:pPr lvl="1" eaLnBrk="1" hangingPunct="1">
              <a:lnSpc>
                <a:spcPct val="80000"/>
              </a:lnSpc>
              <a:defRPr/>
            </a:pPr>
            <a:r>
              <a:rPr lang="en-US" sz="2400"/>
              <a:t>Образованието доказва заблудата за повече очи </a:t>
            </a:r>
          </a:p>
          <a:p>
            <a:pPr eaLnBrk="1" hangingPunct="1">
              <a:lnSpc>
                <a:spcPct val="80000"/>
              </a:lnSpc>
              <a:defRPr/>
            </a:pPr>
            <a:r>
              <a:rPr lang="en-US" sz="2800"/>
              <a:t>Обучението за сигурност има два аспекта:</a:t>
            </a:r>
          </a:p>
          <a:p>
            <a:pPr lvl="1" eaLnBrk="1" hangingPunct="1">
              <a:lnSpc>
                <a:spcPct val="80000"/>
              </a:lnSpc>
              <a:defRPr/>
            </a:pPr>
            <a:r>
              <a:rPr lang="en-US" sz="2400"/>
              <a:t>Първата е да научите хората на проблемите на сигурността, за да могат да прегледат текущия си продукт и да открият и отстранят грешки в сигурността. </a:t>
            </a:r>
          </a:p>
          <a:p>
            <a:pPr lvl="1" eaLnBrk="1" hangingPunct="1">
              <a:lnSpc>
                <a:spcPct val="80000"/>
              </a:lnSpc>
              <a:defRPr/>
            </a:pPr>
            <a:r>
              <a:rPr lang="en-US" sz="2400"/>
              <a:t>Въпреки това крайната и безспорно най-важна цел на обучението по сигурност е да се научат хората да не внасят грешки в сигурността на продукта на първо място! </a:t>
            </a:r>
          </a:p>
          <a:p>
            <a:pPr eaLnBrk="1" hangingPunct="1">
              <a:lnSpc>
                <a:spcPct val="80000"/>
              </a:lnSpc>
              <a:defRPr/>
            </a:pPr>
            <a:r>
              <a:rPr lang="en-US" sz="2800"/>
              <a:t>Шепа знаещи хора са по-ефективни от армия глупаци</a:t>
            </a:r>
            <a:r>
              <a:rPr lang="bg-BG" sz="3600"/>
              <a:t>. </a:t>
            </a:r>
            <a:endParaRPr lang="en-US" sz="2800"/>
          </a:p>
        </p:txBody>
      </p:sp>
    </p:spTree>
    <p:extLst>
      <p:ext uri="{BB962C8B-B14F-4D97-AF65-F5344CB8AC3E}">
        <p14:creationId xmlns:p14="http://schemas.microsoft.com/office/powerpoint/2010/main" val="2154477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p:cNvSpPr>
            <a:spLocks noGrp="1" noRot="1" noChangeArrowheads="1"/>
          </p:cNvSpPr>
          <p:nvPr>
            <p:ph type="title"/>
          </p:nvPr>
        </p:nvSpPr>
        <p:spPr/>
        <p:txBody>
          <a:bodyPr/>
          <a:lstStyle/>
          <a:p>
            <a:pPr eaLnBrk="1" hangingPunct="1">
              <a:defRPr/>
            </a:pPr>
            <a:r>
              <a:rPr lang="en-US" smtClean="0"/>
              <a:t>Съпротива срещу задължителното обучение</a:t>
            </a:r>
          </a:p>
        </p:txBody>
      </p:sp>
      <p:sp>
        <p:nvSpPr>
          <p:cNvPr id="852995" name="Rectangle 3"/>
          <p:cNvSpPr>
            <a:spLocks noGrp="1" noChangeArrowheads="1"/>
          </p:cNvSpPr>
          <p:nvPr>
            <p:ph type="body" idx="1"/>
          </p:nvPr>
        </p:nvSpPr>
        <p:spPr>
          <a:xfrm>
            <a:off x="908662" y="1143000"/>
            <a:ext cx="10672150" cy="5410200"/>
          </a:xfrm>
        </p:spPr>
        <p:txBody>
          <a:bodyPr>
            <a:normAutofit fontScale="92500" lnSpcReduction="20000"/>
          </a:bodyPr>
          <a:lstStyle/>
          <a:p>
            <a:pPr>
              <a:lnSpc>
                <a:spcPct val="100000"/>
              </a:lnSpc>
              <a:defRPr/>
            </a:pPr>
            <a:r>
              <a:rPr lang="bg-BG" altLang="en-US" dirty="0" smtClean="0"/>
              <a:t>Факт !</a:t>
            </a:r>
          </a:p>
          <a:p>
            <a:pPr lvl="1">
              <a:lnSpc>
                <a:spcPct val="100000"/>
              </a:lnSpc>
              <a:defRPr/>
            </a:pPr>
            <a:r>
              <a:rPr lang="bg-BG" altLang="en-US" dirty="0" smtClean="0"/>
              <a:t>Непрекъснато, даже всяка седмица се появяват нови заплахи за сигурността или варианти на заплахи, които могат да направят привидно сигурни продукти уязвими за атаки. </a:t>
            </a:r>
          </a:p>
          <a:p>
            <a:pPr>
              <a:lnSpc>
                <a:spcPct val="100000"/>
              </a:lnSpc>
              <a:defRPr/>
            </a:pPr>
            <a:r>
              <a:rPr lang="bg-BG" altLang="en-US" dirty="0" smtClean="0"/>
              <a:t>Трябва да планирате постоянно обучение за екипите си за разработка. </a:t>
            </a:r>
          </a:p>
          <a:p>
            <a:pPr lvl="1">
              <a:defRPr/>
            </a:pPr>
            <a:r>
              <a:rPr lang="bg-BG" altLang="en-US" sz="3000" dirty="0" smtClean="0"/>
              <a:t>Пример: екипът участва ежемесечно в обучение за запознаване с най-новите проблеми със сигурността и причините за тях, както и да ги научи как да намалят заплахите. </a:t>
            </a:r>
          </a:p>
          <a:p>
            <a:pPr>
              <a:lnSpc>
                <a:spcPct val="110000"/>
              </a:lnSpc>
              <a:defRPr/>
            </a:pPr>
            <a:r>
              <a:rPr lang="bg-BG" altLang="en-US" dirty="0" smtClean="0"/>
              <a:t>Препоръчително е участието на гост-лектори, които могат по-задълбочено да разгледат сигурност в конкретна област на софтуера, т.е. да предложат експертни познания за специфични характеристики на продуктите.</a:t>
            </a:r>
            <a:endParaRPr lang="bg-BG" altLang="en-US" dirty="0"/>
          </a:p>
        </p:txBody>
      </p:sp>
    </p:spTree>
    <p:extLst>
      <p:ext uri="{BB962C8B-B14F-4D97-AF65-F5344CB8AC3E}">
        <p14:creationId xmlns:p14="http://schemas.microsoft.com/office/powerpoint/2010/main" val="282363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Rectangle 2"/>
          <p:cNvSpPr>
            <a:spLocks noGrp="1" noRot="1" noChangeArrowheads="1"/>
          </p:cNvSpPr>
          <p:nvPr>
            <p:ph type="title"/>
          </p:nvPr>
        </p:nvSpPr>
        <p:spPr/>
        <p:txBody>
          <a:bodyPr/>
          <a:lstStyle/>
          <a:p>
            <a:pPr eaLnBrk="1" hangingPunct="1">
              <a:defRPr/>
            </a:pPr>
            <a:r>
              <a:rPr lang="en-US" smtClean="0"/>
              <a:t>Съпротива срещу задължителното обучение</a:t>
            </a:r>
          </a:p>
        </p:txBody>
      </p:sp>
      <p:sp>
        <p:nvSpPr>
          <p:cNvPr id="852995" name="Rectangle 3"/>
          <p:cNvSpPr>
            <a:spLocks noGrp="1" noChangeArrowheads="1"/>
          </p:cNvSpPr>
          <p:nvPr>
            <p:ph type="body" idx="1"/>
          </p:nvPr>
        </p:nvSpPr>
        <p:spPr>
          <a:xfrm>
            <a:off x="908662" y="1143000"/>
            <a:ext cx="10748350" cy="5410200"/>
          </a:xfrm>
        </p:spPr>
        <p:txBody>
          <a:bodyPr>
            <a:normAutofit lnSpcReduction="10000"/>
          </a:bodyPr>
          <a:lstStyle/>
          <a:p>
            <a:pPr eaLnBrk="1" hangingPunct="1">
              <a:defRPr/>
            </a:pPr>
            <a:r>
              <a:rPr lang="bg-BG" dirty="0" smtClean="0"/>
              <a:t>Основен проблем: Дали задължителното обучение няма да има негативен оттенък </a:t>
            </a:r>
            <a:r>
              <a:rPr lang="bg-BG" dirty="0" smtClean="0"/>
              <a:t>екипа </a:t>
            </a:r>
            <a:r>
              <a:rPr lang="bg-BG" dirty="0" smtClean="0"/>
              <a:t>и затова да бъде посрещнато зле, а участието да има деструктивен характер. </a:t>
            </a:r>
          </a:p>
          <a:p>
            <a:pPr lvl="1">
              <a:defRPr/>
            </a:pPr>
            <a:r>
              <a:rPr lang="bg-BG" dirty="0" smtClean="0"/>
              <a:t>Грешим!</a:t>
            </a:r>
          </a:p>
          <a:p>
            <a:pPr lvl="2">
              <a:defRPr/>
            </a:pPr>
            <a:r>
              <a:rPr lang="bg-BG" dirty="0" smtClean="0"/>
              <a:t>Повечето организации за разработване на софтуер са пълни с маниаци или силно мотивирани хора, които обичат или се стремят активно да научават нови неща. </a:t>
            </a:r>
          </a:p>
          <a:p>
            <a:pPr lvl="2">
              <a:defRPr/>
            </a:pPr>
            <a:r>
              <a:rPr lang="bg-BG" dirty="0"/>
              <a:t>Ако дадете на един силно мотивиран човек възможност да научи нещо по зададена тема (напр. сигурност), той/тя ще участва активно в процеса. </a:t>
            </a:r>
          </a:p>
          <a:p>
            <a:pPr lvl="2">
              <a:defRPr/>
            </a:pPr>
            <a:r>
              <a:rPr lang="bg-BG" dirty="0" smtClean="0"/>
              <a:t>Повечето </a:t>
            </a:r>
            <a:r>
              <a:rPr lang="bg-BG" dirty="0"/>
              <a:t>маниаци са запалени по това, което правят, и обичат да провеждат състезания, за да видят кой може да напише най-бързия, най-стегнатия и най-малкия код</a:t>
            </a:r>
            <a:r>
              <a:rPr lang="bg-BG" sz="1600" dirty="0"/>
              <a:t>. </a:t>
            </a:r>
          </a:p>
        </p:txBody>
      </p:sp>
    </p:spTree>
    <p:extLst>
      <p:ext uri="{BB962C8B-B14F-4D97-AF65-F5344CB8AC3E}">
        <p14:creationId xmlns:p14="http://schemas.microsoft.com/office/powerpoint/2010/main" val="331082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endParaRPr lang="en-US" sz="4400" b="1" dirty="0" smtClean="0"/>
          </a:p>
          <a:p>
            <a:pPr marL="0" indent="0" algn="ctr">
              <a:buNone/>
            </a:pPr>
            <a:endParaRPr lang="en-US" sz="4400" b="1" dirty="0"/>
          </a:p>
          <a:p>
            <a:pPr marL="0" indent="0" algn="ctr">
              <a:buNone/>
            </a:pPr>
            <a:endParaRPr lang="en-US" sz="4400" b="1" dirty="0" smtClean="0"/>
          </a:p>
          <a:p>
            <a:pPr marL="0" indent="0" algn="ctr">
              <a:buNone/>
            </a:pPr>
            <a:r>
              <a:rPr lang="bg-BG" sz="4400" b="1" dirty="0" smtClean="0"/>
              <a:t>Въпроси</a:t>
            </a:r>
            <a:r>
              <a:rPr lang="en-US" sz="4400" b="1" dirty="0" smtClean="0"/>
              <a:t>?</a:t>
            </a:r>
            <a:endParaRPr lang="en-US" sz="4400" b="1" dirty="0"/>
          </a:p>
        </p:txBody>
      </p:sp>
    </p:spTree>
    <p:extLst>
      <p:ext uri="{BB962C8B-B14F-4D97-AF65-F5344CB8AC3E}">
        <p14:creationId xmlns:p14="http://schemas.microsoft.com/office/powerpoint/2010/main" val="6487862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heme/theme1.xml><?xml version="1.0" encoding="utf-8"?>
<a:theme xmlns:a="http://schemas.openxmlformats.org/drawingml/2006/main" name="TS102787947">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F20C675A-9AD3-40BB-AC57-0E9EFA3E4F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TS102787947</Template>
  <TotalTime>0</TotalTime>
  <Words>8491</Words>
  <Application>Microsoft Office PowerPoint</Application>
  <PresentationFormat>Custom</PresentationFormat>
  <Paragraphs>639</Paragraphs>
  <Slides>91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91</vt:i4>
      </vt:variant>
    </vt:vector>
  </HeadingPairs>
  <TitlesOfParts>
    <vt:vector size="97" baseType="lpstr">
      <vt:lpstr>Arial</vt:lpstr>
      <vt:lpstr>Calibri</vt:lpstr>
      <vt:lpstr>Euphemia</vt:lpstr>
      <vt:lpstr>Times</vt:lpstr>
      <vt:lpstr>Wingdings</vt:lpstr>
      <vt:lpstr>TS102787947</vt:lpstr>
      <vt:lpstr>Системно програмиране: Security</vt:lpstr>
      <vt:lpstr>Как да разбираме сигурността?</vt:lpstr>
      <vt:lpstr>Как да разбираме сигурността?</vt:lpstr>
      <vt:lpstr>Как да разбираме сигурността?</vt:lpstr>
      <vt:lpstr>Как да разбираме сигурността?</vt:lpstr>
      <vt:lpstr>Как да разбираме сигурността?</vt:lpstr>
      <vt:lpstr>Сигурност и качество</vt:lpstr>
      <vt:lpstr>Перспектива за сигурност</vt:lpstr>
      <vt:lpstr>Перспектива за сигурност</vt:lpstr>
      <vt:lpstr>Перспектива за сигурност</vt:lpstr>
      <vt:lpstr>Перспектива за сигурност</vt:lpstr>
      <vt:lpstr>Дилемата на защитника </vt:lpstr>
      <vt:lpstr>Дилемата на защитника </vt:lpstr>
      <vt:lpstr>Често срещани уязвимости на софтуера </vt:lpstr>
      <vt:lpstr>Често срещани уязвимости на софтуера </vt:lpstr>
      <vt:lpstr>Често срещани уязвимости на софтуера </vt:lpstr>
      <vt:lpstr>Често срещани уязвимости на софтуера </vt:lpstr>
      <vt:lpstr>Често срещани уязвимости на софтуера </vt:lpstr>
      <vt:lpstr>Често срещани уязвимости на софтуера </vt:lpstr>
      <vt:lpstr>Често срещани уязвимости на софтуера </vt:lpstr>
      <vt:lpstr>Често срещани уязвимости на софтуера </vt:lpstr>
      <vt:lpstr>Често срещани уязвимости на софтуера </vt:lpstr>
      <vt:lpstr>Често срещани уязвимости на софтуера </vt:lpstr>
      <vt:lpstr>Как се създават сигурни приложения?</vt:lpstr>
      <vt:lpstr>Как се създават сигурни приложения?</vt:lpstr>
      <vt:lpstr>Проактивната сигурност: Процес на разработка </vt:lpstr>
      <vt:lpstr>Проактивната сигурност: Процес на разработка </vt:lpstr>
      <vt:lpstr>Сигурност на етапа на проектиране</vt:lpstr>
      <vt:lpstr>Определяне на целите за сигурност на продукта</vt:lpstr>
      <vt:lpstr>Определяне на целите за сигурност на продукта</vt:lpstr>
      <vt:lpstr>Сигурността е характеристика на продукта </vt:lpstr>
      <vt:lpstr>Сигурността е характеристика на продукта </vt:lpstr>
      <vt:lpstr>Сигурността е характеристика на продукта </vt:lpstr>
      <vt:lpstr>Сигурността е характеристика на продукта </vt:lpstr>
      <vt:lpstr>Сигурността е характеристика на продукта </vt:lpstr>
      <vt:lpstr>Сигурност във фаза на разработка</vt:lpstr>
      <vt:lpstr>Внедряване на софтуерна сигурност</vt:lpstr>
      <vt:lpstr>Внедряване на софтуерна сигурност</vt:lpstr>
      <vt:lpstr>Внедряване на софтуерна сигурност</vt:lpstr>
      <vt:lpstr>Сигурност Push</vt:lpstr>
      <vt:lpstr>Сигурност във фазата на изпитване</vt:lpstr>
      <vt:lpstr>Тестване на сигурността на софтуера</vt:lpstr>
      <vt:lpstr>Сигурност във фазите на поддръжка</vt:lpstr>
      <vt:lpstr>Сигурност във фазите на поддръжка</vt:lpstr>
      <vt:lpstr>Подобряване на сигурността на софтуера</vt:lpstr>
      <vt:lpstr>SD 3</vt:lpstr>
      <vt:lpstr>Сигурно по дизайн </vt:lpstr>
      <vt:lpstr>Сигурно по дизайн </vt:lpstr>
      <vt:lpstr>Сигурност по подразбиране</vt:lpstr>
      <vt:lpstr>Сигурност при внедряване</vt:lpstr>
      <vt:lpstr>Принципи на сигурността</vt:lpstr>
      <vt:lpstr>Принципи за сигурност на дизайна</vt:lpstr>
      <vt:lpstr>Принципи за сигурност на дизайна</vt:lpstr>
      <vt:lpstr>Учете се от грешките </vt:lpstr>
      <vt:lpstr>Учете се от грешките </vt:lpstr>
      <vt:lpstr>Учете се от грешките </vt:lpstr>
      <vt:lpstr>Минимизиране на повърхността на атаката </vt:lpstr>
      <vt:lpstr>Повърхност на атака на приложението </vt:lpstr>
      <vt:lpstr>Използване на защитени настройки по подразбиране </vt:lpstr>
      <vt:lpstr>Използване на защитени настройки по подразбиране </vt:lpstr>
      <vt:lpstr>Използване на защитени настройки по подразбиране </vt:lpstr>
      <vt:lpstr>Използване на защита в дълбочина </vt:lpstr>
      <vt:lpstr>Използване на защита в дълбочина </vt:lpstr>
      <vt:lpstr>Използване на защита в дълбочина </vt:lpstr>
      <vt:lpstr>Използване на най-малките привилегии</vt:lpstr>
      <vt:lpstr>Използване на най-малките привилегии</vt:lpstr>
      <vt:lpstr>Обратна съвместимост</vt:lpstr>
      <vt:lpstr>Външни системи и сигурност </vt:lpstr>
      <vt:lpstr>Външни системи и сигурност </vt:lpstr>
      <vt:lpstr>Външни системи и сигурност </vt:lpstr>
      <vt:lpstr>Преминаване към защитен режим</vt:lpstr>
      <vt:lpstr>Преминаване към защитен режим</vt:lpstr>
      <vt:lpstr>Сигурност чрез неяснота</vt:lpstr>
      <vt:lpstr>Не смесвайте код и данни </vt:lpstr>
      <vt:lpstr>Не смесвайте код и данни </vt:lpstr>
      <vt:lpstr>Правилно отстраняване на проблеми със сигурността </vt:lpstr>
      <vt:lpstr>Правилно отстраняване на проблеми със сигурността </vt:lpstr>
      <vt:lpstr>Нелепи оправдания, които сме чували </vt:lpstr>
      <vt:lpstr>Нелепи оправдания, които сме чували </vt:lpstr>
      <vt:lpstr>Защо се нуждаете от култура на сигурността?</vt:lpstr>
      <vt:lpstr>Нападателите</vt:lpstr>
      <vt:lpstr>Нападателите</vt:lpstr>
      <vt:lpstr>Уязвимостите са скъпи за отстраняване</vt:lpstr>
      <vt:lpstr>Уязвимостите са скъпи за отстраняване</vt:lpstr>
      <vt:lpstr>Въвеждане на култура на сигурност</vt:lpstr>
      <vt:lpstr>Шефът изпраща имейл</vt:lpstr>
      <vt:lpstr>Евангелист по сигурността</vt:lpstr>
      <vt:lpstr>Ролята на образованието</vt:lpstr>
      <vt:lpstr>Съпротива срещу задължителното обучение</vt:lpstr>
      <vt:lpstr>Съпротива срещу задължителното обучение</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2014-02-04T07:26:08Z</dcterms:created>
  <dcterms:modified xsi:type="dcterms:W3CDTF">2024-04-04T07:38:22Z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TC027879479991</vt:lpwstr>
  </property>
</Properties>
</file>