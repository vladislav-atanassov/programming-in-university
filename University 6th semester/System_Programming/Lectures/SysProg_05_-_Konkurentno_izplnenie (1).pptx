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106"/>
  </p:notesMasterIdLst>
  <p:handoutMasterIdLst>
    <p:handoutMasterId r:id="rId107"/>
  </p:handoutMasterIdLst>
  <p:sldIdLst>
    <p:sldId id="256" r:id="rId3"/>
    <p:sldId id="336" r:id="rId4"/>
    <p:sldId id="337" r:id="rId5"/>
    <p:sldId id="338" r:id="rId6"/>
    <p:sldId id="339" r:id="rId7"/>
    <p:sldId id="340" r:id="rId8"/>
    <p:sldId id="412" r:id="rId9"/>
    <p:sldId id="341" r:id="rId10"/>
    <p:sldId id="342" r:id="rId11"/>
    <p:sldId id="343" r:id="rId12"/>
    <p:sldId id="344" r:id="rId13"/>
    <p:sldId id="345" r:id="rId14"/>
    <p:sldId id="346" r:id="rId15"/>
    <p:sldId id="347" r:id="rId16"/>
    <p:sldId id="348" r:id="rId17"/>
    <p:sldId id="349" r:id="rId18"/>
    <p:sldId id="350" r:id="rId19"/>
    <p:sldId id="351" r:id="rId20"/>
    <p:sldId id="352" r:id="rId21"/>
    <p:sldId id="353" r:id="rId22"/>
    <p:sldId id="354" r:id="rId23"/>
    <p:sldId id="355" r:id="rId24"/>
    <p:sldId id="356" r:id="rId25"/>
    <p:sldId id="357" r:id="rId26"/>
    <p:sldId id="358" r:id="rId27"/>
    <p:sldId id="359" r:id="rId28"/>
    <p:sldId id="362" r:id="rId29"/>
    <p:sldId id="363" r:id="rId30"/>
    <p:sldId id="364" r:id="rId31"/>
    <p:sldId id="407" r:id="rId32"/>
    <p:sldId id="360" r:id="rId33"/>
    <p:sldId id="361" r:id="rId34"/>
    <p:sldId id="365" r:id="rId35"/>
    <p:sldId id="366" r:id="rId36"/>
    <p:sldId id="367" r:id="rId37"/>
    <p:sldId id="368" r:id="rId38"/>
    <p:sldId id="369" r:id="rId39"/>
    <p:sldId id="370" r:id="rId40"/>
    <p:sldId id="371" r:id="rId41"/>
    <p:sldId id="372" r:id="rId42"/>
    <p:sldId id="373" r:id="rId43"/>
    <p:sldId id="374" r:id="rId44"/>
    <p:sldId id="375" r:id="rId45"/>
    <p:sldId id="376" r:id="rId46"/>
    <p:sldId id="377" r:id="rId47"/>
    <p:sldId id="378" r:id="rId48"/>
    <p:sldId id="379" r:id="rId49"/>
    <p:sldId id="380" r:id="rId50"/>
    <p:sldId id="408" r:id="rId51"/>
    <p:sldId id="409" r:id="rId52"/>
    <p:sldId id="381" r:id="rId53"/>
    <p:sldId id="410" r:id="rId54"/>
    <p:sldId id="411" r:id="rId55"/>
    <p:sldId id="382" r:id="rId56"/>
    <p:sldId id="383" r:id="rId57"/>
    <p:sldId id="384" r:id="rId58"/>
    <p:sldId id="385" r:id="rId59"/>
    <p:sldId id="386" r:id="rId60"/>
    <p:sldId id="387" r:id="rId61"/>
    <p:sldId id="388" r:id="rId62"/>
    <p:sldId id="389" r:id="rId63"/>
    <p:sldId id="390" r:id="rId64"/>
    <p:sldId id="391" r:id="rId65"/>
    <p:sldId id="392" r:id="rId66"/>
    <p:sldId id="393" r:id="rId67"/>
    <p:sldId id="394" r:id="rId68"/>
    <p:sldId id="395" r:id="rId69"/>
    <p:sldId id="396" r:id="rId70"/>
    <p:sldId id="397" r:id="rId71"/>
    <p:sldId id="398" r:id="rId72"/>
    <p:sldId id="399" r:id="rId73"/>
    <p:sldId id="400" r:id="rId74"/>
    <p:sldId id="401" r:id="rId75"/>
    <p:sldId id="402" r:id="rId76"/>
    <p:sldId id="403" r:id="rId77"/>
    <p:sldId id="404" r:id="rId78"/>
    <p:sldId id="406" r:id="rId79"/>
    <p:sldId id="307" r:id="rId80"/>
    <p:sldId id="308" r:id="rId81"/>
    <p:sldId id="309" r:id="rId82"/>
    <p:sldId id="310" r:id="rId83"/>
    <p:sldId id="311" r:id="rId84"/>
    <p:sldId id="312" r:id="rId85"/>
    <p:sldId id="313" r:id="rId86"/>
    <p:sldId id="314" r:id="rId87"/>
    <p:sldId id="315" r:id="rId88"/>
    <p:sldId id="316" r:id="rId89"/>
    <p:sldId id="317" r:id="rId90"/>
    <p:sldId id="318" r:id="rId91"/>
    <p:sldId id="319" r:id="rId92"/>
    <p:sldId id="320" r:id="rId93"/>
    <p:sldId id="321" r:id="rId94"/>
    <p:sldId id="322" r:id="rId95"/>
    <p:sldId id="323" r:id="rId96"/>
    <p:sldId id="324" r:id="rId97"/>
    <p:sldId id="325" r:id="rId98"/>
    <p:sldId id="326" r:id="rId99"/>
    <p:sldId id="327" r:id="rId100"/>
    <p:sldId id="328" r:id="rId101"/>
    <p:sldId id="330" r:id="rId102"/>
    <p:sldId id="334" r:id="rId103"/>
    <p:sldId id="335" r:id="rId104"/>
    <p:sldId id="306" r:id="rId10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009"/>
    <a:srgbClr val="000099"/>
    <a:srgbClr val="452603"/>
    <a:srgbClr val="F4DF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398" autoAdjust="0"/>
  </p:normalViewPr>
  <p:slideViewPr>
    <p:cSldViewPr showGuides="1">
      <p:cViewPr varScale="1">
        <p:scale>
          <a:sx n="104" d="100"/>
          <a:sy n="104" d="100"/>
        </p:scale>
        <p:origin x="228" y="108"/>
      </p:cViewPr>
      <p:guideLst>
        <p:guide orient="horz" pos="2160"/>
        <p:guide pos="3839"/>
        <p:guide pos="1007"/>
      </p:guideLst>
    </p:cSldViewPr>
  </p:slideViewPr>
  <p:notesTextViewPr>
    <p:cViewPr>
      <p:scale>
        <a:sx n="1" d="1"/>
        <a:sy n="1" d="1"/>
      </p:scale>
      <p:origin x="0" y="0"/>
    </p:cViewPr>
  </p:notesTextViewPr>
  <p:notesViewPr>
    <p:cSldViewPr showGuides="1">
      <p:cViewPr varScale="1">
        <p:scale>
          <a:sx n="83" d="100"/>
          <a:sy n="83" d="100"/>
        </p:scale>
        <p:origin x="-315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handoutMaster" Target="handoutMasters/handoutMaster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presProps" Target="pres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viewProps" Target="view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3/9/2023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3/9/2023</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4016698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a:t>
            </a:fld>
            <a:endParaRPr lang="en-US"/>
          </a:p>
        </p:txBody>
      </p:sp>
    </p:spTree>
    <p:extLst>
      <p:ext uri="{BB962C8B-B14F-4D97-AF65-F5344CB8AC3E}">
        <p14:creationId xmlns:p14="http://schemas.microsoft.com/office/powerpoint/2010/main" val="4178642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bg-BG" sz="1200" dirty="0" err="1" smtClean="0"/>
              <a:t>Диспечиране</a:t>
            </a:r>
            <a:r>
              <a:rPr lang="bg-BG" sz="1200" dirty="0" smtClean="0"/>
              <a:t> -&gt; </a:t>
            </a:r>
            <a:r>
              <a:rPr lang="bg-BG" sz="1200" dirty="0" err="1" smtClean="0"/>
              <a:t>англ</a:t>
            </a:r>
            <a:r>
              <a:rPr lang="bg-BG" sz="1200" dirty="0" smtClean="0"/>
              <a:t>. </a:t>
            </a:r>
            <a:r>
              <a:rPr lang="en-US" sz="1200" dirty="0" err="1" smtClean="0"/>
              <a:t>Sheduling</a:t>
            </a:r>
            <a:endParaRPr lang="bg-BG" sz="1200" dirty="0" smtClean="0"/>
          </a:p>
          <a:p>
            <a:r>
              <a:rPr lang="bg-BG" sz="1200" dirty="0" smtClean="0"/>
              <a:t>В 99% от случаите терминът ‚</a:t>
            </a:r>
            <a:r>
              <a:rPr lang="bg-BG" sz="1200" dirty="0" err="1" smtClean="0"/>
              <a:t>процес‘</a:t>
            </a:r>
            <a:r>
              <a:rPr lang="bg-BG" sz="1200" dirty="0" smtClean="0"/>
              <a:t> и терминът ‚</a:t>
            </a:r>
            <a:r>
              <a:rPr lang="bg-BG" sz="1200" dirty="0" err="1" smtClean="0"/>
              <a:t>задача‘</a:t>
            </a:r>
            <a:r>
              <a:rPr lang="bg-BG" sz="1200" dirty="0" smtClean="0"/>
              <a:t> са</a:t>
            </a:r>
            <a:r>
              <a:rPr lang="bg-BG" sz="1200" baseline="0" dirty="0" smtClean="0"/>
              <a:t> еквивалентни</a:t>
            </a:r>
            <a:endParaRPr lang="bg-BG" sz="1200" dirty="0" smtClean="0"/>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1457115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bg-BG" sz="1200" dirty="0" smtClean="0"/>
              <a:t>основните принципи са еднакви</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518210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3923174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1242930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439735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bg-BG" sz="1200" dirty="0" smtClean="0"/>
              <a:t>основните принципи са еднакви</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1784038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13</a:t>
            </a:fld>
            <a:endParaRPr lang="en-US"/>
          </a:p>
        </p:txBody>
      </p:sp>
    </p:spTree>
    <p:extLst>
      <p:ext uri="{BB962C8B-B14F-4D97-AF65-F5344CB8AC3E}">
        <p14:creationId xmlns:p14="http://schemas.microsoft.com/office/powerpoint/2010/main" val="3680180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165906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15</a:t>
            </a:fld>
            <a:endParaRPr lang="en-US"/>
          </a:p>
        </p:txBody>
      </p:sp>
    </p:spTree>
    <p:extLst>
      <p:ext uri="{BB962C8B-B14F-4D97-AF65-F5344CB8AC3E}">
        <p14:creationId xmlns:p14="http://schemas.microsoft.com/office/powerpoint/2010/main" val="2196621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16</a:t>
            </a:fld>
            <a:endParaRPr lang="en-US"/>
          </a:p>
        </p:txBody>
      </p:sp>
    </p:spTree>
    <p:extLst>
      <p:ext uri="{BB962C8B-B14F-4D97-AF65-F5344CB8AC3E}">
        <p14:creationId xmlns:p14="http://schemas.microsoft.com/office/powerpoint/2010/main" val="3739982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17</a:t>
            </a:fld>
            <a:endParaRPr lang="en-US"/>
          </a:p>
        </p:txBody>
      </p:sp>
    </p:spTree>
    <p:extLst>
      <p:ext uri="{BB962C8B-B14F-4D97-AF65-F5344CB8AC3E}">
        <p14:creationId xmlns:p14="http://schemas.microsoft.com/office/powerpoint/2010/main" val="2211245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CPU - central processing unit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1098017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CPU - central processing unit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19</a:t>
            </a:fld>
            <a:endParaRPr lang="en-US"/>
          </a:p>
        </p:txBody>
      </p:sp>
    </p:spTree>
    <p:extLst>
      <p:ext uri="{BB962C8B-B14F-4D97-AF65-F5344CB8AC3E}">
        <p14:creationId xmlns:p14="http://schemas.microsoft.com/office/powerpoint/2010/main" val="1202678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Междупроцесовата комуникация (МПК) -&gt; англ. </a:t>
            </a:r>
            <a:r>
              <a:rPr lang="en-US" dirty="0" smtClean="0"/>
              <a:t>Inter-processes communicate</a:t>
            </a:r>
            <a:r>
              <a:rPr lang="bg-BG" dirty="0" smtClean="0"/>
              <a:t> </a:t>
            </a:r>
            <a:r>
              <a:rPr lang="ru-RU" dirty="0" smtClean="0"/>
              <a:t>(IPC)</a:t>
            </a:r>
            <a:endParaRPr lang="bg-BG" dirty="0" smtClean="0"/>
          </a:p>
          <a:p>
            <a:endParaRPr lang="bg-BG" sz="1200" dirty="0" smtClean="0"/>
          </a:p>
        </p:txBody>
      </p:sp>
      <p:sp>
        <p:nvSpPr>
          <p:cNvPr id="4" name="Slide Number Placeholder 3"/>
          <p:cNvSpPr>
            <a:spLocks noGrp="1"/>
          </p:cNvSpPr>
          <p:nvPr>
            <p:ph type="sldNum" sz="quarter" idx="10"/>
          </p:nvPr>
        </p:nvSpPr>
        <p:spPr/>
        <p:txBody>
          <a:bodyPr/>
          <a:lstStyle/>
          <a:p>
            <a:fld id="{841221E5-7225-48EB-A4EE-420E7BFCF705}" type="slidenum">
              <a:rPr lang="en-US" smtClean="0"/>
              <a:pPr/>
              <a:t>20</a:t>
            </a:fld>
            <a:endParaRPr lang="en-US"/>
          </a:p>
        </p:txBody>
      </p:sp>
    </p:spTree>
    <p:extLst>
      <p:ext uri="{BB962C8B-B14F-4D97-AF65-F5344CB8AC3E}">
        <p14:creationId xmlns:p14="http://schemas.microsoft.com/office/powerpoint/2010/main" val="2909175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err="1" smtClean="0"/>
              <a:t>Междупроцесовата</a:t>
            </a:r>
            <a:r>
              <a:rPr lang="ru-RU" dirty="0" smtClean="0"/>
              <a:t> </a:t>
            </a:r>
            <a:r>
              <a:rPr lang="ru-RU" dirty="0" err="1" smtClean="0"/>
              <a:t>комуникация</a:t>
            </a:r>
            <a:r>
              <a:rPr lang="ru-RU" dirty="0" smtClean="0"/>
              <a:t> -&gt; англ. </a:t>
            </a:r>
            <a:r>
              <a:rPr lang="en-US" dirty="0" smtClean="0"/>
              <a:t>Inter-processes communicate</a:t>
            </a:r>
            <a:r>
              <a:rPr lang="bg-BG" dirty="0" smtClean="0"/>
              <a:t> </a:t>
            </a:r>
            <a:r>
              <a:rPr lang="ru-RU" dirty="0" smtClean="0"/>
              <a:t>(IPC)</a:t>
            </a:r>
            <a:endParaRPr lang="bg-BG" dirty="0" smtClean="0"/>
          </a:p>
          <a:p>
            <a:endParaRPr lang="bg-BG" sz="1200" dirty="0" smtClean="0"/>
          </a:p>
        </p:txBody>
      </p:sp>
      <p:sp>
        <p:nvSpPr>
          <p:cNvPr id="4" name="Slide Number Placeholder 3"/>
          <p:cNvSpPr>
            <a:spLocks noGrp="1"/>
          </p:cNvSpPr>
          <p:nvPr>
            <p:ph type="sldNum" sz="quarter" idx="10"/>
          </p:nvPr>
        </p:nvSpPr>
        <p:spPr/>
        <p:txBody>
          <a:bodyPr/>
          <a:lstStyle/>
          <a:p>
            <a:fld id="{841221E5-7225-48EB-A4EE-420E7BFCF705}" type="slidenum">
              <a:rPr lang="en-US" smtClean="0"/>
              <a:pPr/>
              <a:t>21</a:t>
            </a:fld>
            <a:endParaRPr lang="en-US"/>
          </a:p>
        </p:txBody>
      </p:sp>
    </p:spTree>
    <p:extLst>
      <p:ext uri="{BB962C8B-B14F-4D97-AF65-F5344CB8AC3E}">
        <p14:creationId xmlns:p14="http://schemas.microsoft.com/office/powerpoint/2010/main" val="35460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sz="1200" dirty="0" smtClean="0"/>
          </a:p>
        </p:txBody>
      </p:sp>
      <p:sp>
        <p:nvSpPr>
          <p:cNvPr id="4" name="Slide Number Placeholder 3"/>
          <p:cNvSpPr>
            <a:spLocks noGrp="1"/>
          </p:cNvSpPr>
          <p:nvPr>
            <p:ph type="sldNum" sz="quarter" idx="10"/>
          </p:nvPr>
        </p:nvSpPr>
        <p:spPr/>
        <p:txBody>
          <a:bodyPr/>
          <a:lstStyle/>
          <a:p>
            <a:fld id="{841221E5-7225-48EB-A4EE-420E7BFCF705}" type="slidenum">
              <a:rPr lang="en-US" smtClean="0"/>
              <a:pPr/>
              <a:t>22</a:t>
            </a:fld>
            <a:endParaRPr lang="en-US"/>
          </a:p>
        </p:txBody>
      </p:sp>
    </p:spTree>
    <p:extLst>
      <p:ext uri="{BB962C8B-B14F-4D97-AF65-F5344CB8AC3E}">
        <p14:creationId xmlns:p14="http://schemas.microsoft.com/office/powerpoint/2010/main" val="637866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sz="1200" dirty="0" smtClean="0"/>
          </a:p>
        </p:txBody>
      </p:sp>
      <p:sp>
        <p:nvSpPr>
          <p:cNvPr id="4" name="Slide Number Placeholder 3"/>
          <p:cNvSpPr>
            <a:spLocks noGrp="1"/>
          </p:cNvSpPr>
          <p:nvPr>
            <p:ph type="sldNum" sz="quarter" idx="10"/>
          </p:nvPr>
        </p:nvSpPr>
        <p:spPr/>
        <p:txBody>
          <a:bodyPr/>
          <a:lstStyle/>
          <a:p>
            <a:fld id="{841221E5-7225-48EB-A4EE-420E7BFCF705}" type="slidenum">
              <a:rPr lang="en-US" smtClean="0"/>
              <a:pPr/>
              <a:t>23</a:t>
            </a:fld>
            <a:endParaRPr lang="en-US"/>
          </a:p>
        </p:txBody>
      </p:sp>
    </p:spTree>
    <p:extLst>
      <p:ext uri="{BB962C8B-B14F-4D97-AF65-F5344CB8AC3E}">
        <p14:creationId xmlns:p14="http://schemas.microsoft.com/office/powerpoint/2010/main" val="1227495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sz="1200" dirty="0" smtClean="0"/>
          </a:p>
        </p:txBody>
      </p:sp>
      <p:sp>
        <p:nvSpPr>
          <p:cNvPr id="4" name="Slide Number Placeholder 3"/>
          <p:cNvSpPr>
            <a:spLocks noGrp="1"/>
          </p:cNvSpPr>
          <p:nvPr>
            <p:ph type="sldNum" sz="quarter" idx="10"/>
          </p:nvPr>
        </p:nvSpPr>
        <p:spPr/>
        <p:txBody>
          <a:bodyPr/>
          <a:lstStyle/>
          <a:p>
            <a:fld id="{841221E5-7225-48EB-A4EE-420E7BFCF705}" type="slidenum">
              <a:rPr lang="en-US" smtClean="0"/>
              <a:pPr/>
              <a:t>24</a:t>
            </a:fld>
            <a:endParaRPr lang="en-US"/>
          </a:p>
        </p:txBody>
      </p:sp>
    </p:spTree>
    <p:extLst>
      <p:ext uri="{BB962C8B-B14F-4D97-AF65-F5344CB8AC3E}">
        <p14:creationId xmlns:p14="http://schemas.microsoft.com/office/powerpoint/2010/main" val="515069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25</a:t>
            </a:fld>
            <a:endParaRPr lang="en-US"/>
          </a:p>
        </p:txBody>
      </p:sp>
    </p:spTree>
    <p:extLst>
      <p:ext uri="{BB962C8B-B14F-4D97-AF65-F5344CB8AC3E}">
        <p14:creationId xmlns:p14="http://schemas.microsoft.com/office/powerpoint/2010/main" val="587770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bg-BG" dirty="0" smtClean="0"/>
              <a:t>„</a:t>
            </a:r>
            <a:r>
              <a:rPr lang="en-US" i="1" dirty="0" smtClean="0">
                <a:effectLst>
                  <a:outerShdw blurRad="38100" dist="38100" dir="2700000" algn="tl">
                    <a:srgbClr val="000000">
                      <a:alpha val="43137"/>
                    </a:srgbClr>
                  </a:outerShdw>
                </a:effectLst>
              </a:rPr>
              <a:t>hang </a:t>
            </a:r>
            <a:r>
              <a:rPr lang="bg-BG" smtClean="0"/>
              <a:t>“ - в</a:t>
            </a:r>
            <a:r>
              <a:rPr lang="ru-RU" smtClean="0"/>
              <a:t> </a:t>
            </a:r>
            <a:r>
              <a:rPr lang="ru-RU" dirty="0" err="1" smtClean="0"/>
              <a:t>сървърна</a:t>
            </a:r>
            <a:r>
              <a:rPr lang="ru-RU" dirty="0" smtClean="0"/>
              <a:t> среда </a:t>
            </a:r>
            <a:r>
              <a:rPr lang="ru-RU" dirty="0" err="1" smtClean="0"/>
              <a:t>това</a:t>
            </a:r>
            <a:r>
              <a:rPr lang="ru-RU" dirty="0" smtClean="0"/>
              <a:t> е </a:t>
            </a:r>
            <a:r>
              <a:rPr lang="ru-RU" dirty="0" err="1" smtClean="0"/>
              <a:t>опасност</a:t>
            </a:r>
            <a:r>
              <a:rPr lang="ru-RU" dirty="0" smtClean="0"/>
              <a:t>, </a:t>
            </a:r>
            <a:r>
              <a:rPr lang="ru-RU" dirty="0" err="1" smtClean="0"/>
              <a:t>която</a:t>
            </a:r>
            <a:r>
              <a:rPr lang="ru-RU" dirty="0" smtClean="0"/>
              <a:t> </a:t>
            </a:r>
            <a:r>
              <a:rPr lang="ru-RU" dirty="0" err="1" smtClean="0"/>
              <a:t>прави</a:t>
            </a:r>
            <a:r>
              <a:rPr lang="ru-RU" dirty="0" smtClean="0"/>
              <a:t> </a:t>
            </a:r>
            <a:r>
              <a:rPr lang="ru-RU" dirty="0" err="1" smtClean="0"/>
              <a:t>цялата</a:t>
            </a:r>
            <a:r>
              <a:rPr lang="ru-RU" dirty="0" smtClean="0"/>
              <a:t> среда </a:t>
            </a:r>
            <a:r>
              <a:rPr lang="ru-RU" dirty="0" err="1" smtClean="0"/>
              <a:t>неприемливо</a:t>
            </a:r>
            <a:r>
              <a:rPr lang="ru-RU" dirty="0" smtClean="0"/>
              <a:t> </a:t>
            </a:r>
            <a:r>
              <a:rPr lang="ru-RU" dirty="0" err="1" smtClean="0"/>
              <a:t>крехка</a:t>
            </a:r>
            <a:r>
              <a:rPr lang="ru-RU" dirty="0" smtClean="0"/>
              <a:t>.</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26</a:t>
            </a:fld>
            <a:endParaRPr lang="en-US"/>
          </a:p>
        </p:txBody>
      </p:sp>
    </p:spTree>
    <p:extLst>
      <p:ext uri="{BB962C8B-B14F-4D97-AF65-F5344CB8AC3E}">
        <p14:creationId xmlns:p14="http://schemas.microsoft.com/office/powerpoint/2010/main" val="4255320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39</a:t>
            </a:fld>
            <a:endParaRPr lang="en-US"/>
          </a:p>
        </p:txBody>
      </p:sp>
    </p:spTree>
    <p:extLst>
      <p:ext uri="{BB962C8B-B14F-4D97-AF65-F5344CB8AC3E}">
        <p14:creationId xmlns:p14="http://schemas.microsoft.com/office/powerpoint/2010/main" val="29795105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44</a:t>
            </a:fld>
            <a:endParaRPr lang="en-US"/>
          </a:p>
        </p:txBody>
      </p:sp>
    </p:spTree>
    <p:extLst>
      <p:ext uri="{BB962C8B-B14F-4D97-AF65-F5344CB8AC3E}">
        <p14:creationId xmlns:p14="http://schemas.microsoft.com/office/powerpoint/2010/main" val="3995376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ru-RU" dirty="0" err="1" smtClean="0"/>
              <a:t>По-трудно</a:t>
            </a:r>
            <a:r>
              <a:rPr lang="ru-RU" dirty="0" smtClean="0"/>
              <a:t> се </a:t>
            </a:r>
            <a:r>
              <a:rPr lang="ru-RU" dirty="0" err="1" smtClean="0"/>
              <a:t>реализира</a:t>
            </a:r>
            <a:r>
              <a:rPr lang="ru-RU" dirty="0" smtClean="0"/>
              <a:t> </a:t>
            </a:r>
            <a:r>
              <a:rPr lang="ru-RU" dirty="0" err="1" smtClean="0"/>
              <a:t>правилно</a:t>
            </a:r>
            <a:r>
              <a:rPr lang="ru-RU" dirty="0" smtClean="0"/>
              <a:t> и </a:t>
            </a:r>
            <a:r>
              <a:rPr lang="ru-RU" dirty="0" err="1" smtClean="0"/>
              <a:t>ефективно</a:t>
            </a:r>
            <a:r>
              <a:rPr lang="ru-RU" dirty="0" smtClean="0"/>
              <a:t>.</a:t>
            </a:r>
            <a:endParaRPr lang="en-GB" dirty="0" smtClean="0"/>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55</a:t>
            </a:fld>
            <a:endParaRPr lang="en-US"/>
          </a:p>
        </p:txBody>
      </p:sp>
    </p:spTree>
    <p:extLst>
      <p:ext uri="{BB962C8B-B14F-4D97-AF65-F5344CB8AC3E}">
        <p14:creationId xmlns:p14="http://schemas.microsoft.com/office/powerpoint/2010/main" val="10831629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ru-RU" dirty="0" err="1" smtClean="0"/>
              <a:t>По-трудно</a:t>
            </a:r>
            <a:r>
              <a:rPr lang="ru-RU" dirty="0" smtClean="0"/>
              <a:t> се </a:t>
            </a:r>
            <a:r>
              <a:rPr lang="ru-RU" dirty="0" err="1" smtClean="0"/>
              <a:t>реализира</a:t>
            </a:r>
            <a:r>
              <a:rPr lang="ru-RU" dirty="0" smtClean="0"/>
              <a:t> </a:t>
            </a:r>
            <a:r>
              <a:rPr lang="ru-RU" dirty="0" err="1" smtClean="0"/>
              <a:t>правилно</a:t>
            </a:r>
            <a:r>
              <a:rPr lang="ru-RU" dirty="0" smtClean="0"/>
              <a:t> и </a:t>
            </a:r>
            <a:r>
              <a:rPr lang="ru-RU" dirty="0" err="1" smtClean="0"/>
              <a:t>ефективно</a:t>
            </a:r>
            <a:r>
              <a:rPr lang="ru-RU" dirty="0" smtClean="0"/>
              <a:t>.</a:t>
            </a:r>
            <a:endParaRPr lang="en-GB" dirty="0" smtClean="0"/>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57</a:t>
            </a:fld>
            <a:endParaRPr lang="en-US"/>
          </a:p>
        </p:txBody>
      </p:sp>
    </p:spTree>
    <p:extLst>
      <p:ext uri="{BB962C8B-B14F-4D97-AF65-F5344CB8AC3E}">
        <p14:creationId xmlns:p14="http://schemas.microsoft.com/office/powerpoint/2010/main" val="13487103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ru-RU" dirty="0" err="1" smtClean="0"/>
              <a:t>По-трудно</a:t>
            </a:r>
            <a:r>
              <a:rPr lang="ru-RU" dirty="0" smtClean="0"/>
              <a:t> се </a:t>
            </a:r>
            <a:r>
              <a:rPr lang="ru-RU" dirty="0" err="1" smtClean="0"/>
              <a:t>реализира</a:t>
            </a:r>
            <a:r>
              <a:rPr lang="ru-RU" dirty="0" smtClean="0"/>
              <a:t> </a:t>
            </a:r>
            <a:r>
              <a:rPr lang="ru-RU" dirty="0" err="1" smtClean="0"/>
              <a:t>правилно</a:t>
            </a:r>
            <a:r>
              <a:rPr lang="ru-RU" dirty="0" smtClean="0"/>
              <a:t> и </a:t>
            </a:r>
            <a:r>
              <a:rPr lang="ru-RU" dirty="0" err="1" smtClean="0"/>
              <a:t>ефективно</a:t>
            </a:r>
            <a:r>
              <a:rPr lang="ru-RU" dirty="0" smtClean="0"/>
              <a:t>.</a:t>
            </a:r>
            <a:endParaRPr lang="en-GB" smtClean="0"/>
          </a:p>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58</a:t>
            </a:fld>
            <a:endParaRPr lang="en-US"/>
          </a:p>
        </p:txBody>
      </p:sp>
    </p:spTree>
    <p:extLst>
      <p:ext uri="{BB962C8B-B14F-4D97-AF65-F5344CB8AC3E}">
        <p14:creationId xmlns:p14="http://schemas.microsoft.com/office/powerpoint/2010/main" val="3711882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bg-BG" dirty="0" smtClean="0"/>
              <a:t>Много по-структурирано решение от семафорите.</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61</a:t>
            </a:fld>
            <a:endParaRPr lang="en-US"/>
          </a:p>
        </p:txBody>
      </p:sp>
    </p:spTree>
    <p:extLst>
      <p:ext uri="{BB962C8B-B14F-4D97-AF65-F5344CB8AC3E}">
        <p14:creationId xmlns:p14="http://schemas.microsoft.com/office/powerpoint/2010/main" val="6904223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63</a:t>
            </a:fld>
            <a:endParaRPr lang="en-US"/>
          </a:p>
        </p:txBody>
      </p:sp>
    </p:spTree>
    <p:extLst>
      <p:ext uri="{BB962C8B-B14F-4D97-AF65-F5344CB8AC3E}">
        <p14:creationId xmlns:p14="http://schemas.microsoft.com/office/powerpoint/2010/main" val="38796065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79</a:t>
            </a:fld>
            <a:endParaRPr lang="en-US"/>
          </a:p>
        </p:txBody>
      </p:sp>
    </p:spTree>
    <p:extLst>
      <p:ext uri="{BB962C8B-B14F-4D97-AF65-F5344CB8AC3E}">
        <p14:creationId xmlns:p14="http://schemas.microsoft.com/office/powerpoint/2010/main" val="1799154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bg-BG" sz="2400" i="1" dirty="0" err="1" smtClean="0">
                <a:effectLst>
                  <a:outerShdw blurRad="38100" dist="38100" dir="2700000" algn="tl">
                    <a:srgbClr val="000000">
                      <a:alpha val="43137"/>
                    </a:srgbClr>
                  </a:outerShdw>
                </a:effectLst>
              </a:rPr>
              <a:t>Message-Oriented</a:t>
            </a:r>
            <a:r>
              <a:rPr lang="bg-BG" sz="2400" i="1" dirty="0" smtClean="0">
                <a:effectLst>
                  <a:outerShdw blurRad="38100" dist="38100" dir="2700000" algn="tl">
                    <a:srgbClr val="000000">
                      <a:alpha val="43137"/>
                    </a:srgbClr>
                  </a:outerShdw>
                </a:effectLst>
              </a:rPr>
              <a:t> </a:t>
            </a:r>
            <a:r>
              <a:rPr lang="bg-BG" sz="2400" i="1" dirty="0" err="1" smtClean="0">
                <a:effectLst>
                  <a:outerShdw blurRad="38100" dist="38100" dir="2700000" algn="tl">
                    <a:srgbClr val="000000">
                      <a:alpha val="43137"/>
                    </a:srgbClr>
                  </a:outerShdw>
                </a:effectLst>
              </a:rPr>
              <a:t>Middleware</a:t>
            </a:r>
            <a:r>
              <a:rPr lang="bg-BG" sz="2400" i="1" dirty="0" smtClean="0">
                <a:effectLst>
                  <a:outerShdw blurRad="38100" dist="38100" dir="2700000" algn="tl">
                    <a:srgbClr val="000000">
                      <a:alpha val="43137"/>
                    </a:srgbClr>
                  </a:outerShdw>
                </a:effectLst>
              </a:rPr>
              <a:t> (MOM)</a:t>
            </a:r>
            <a:r>
              <a:rPr lang="bg-BG" sz="2400" dirty="0" smtClean="0"/>
              <a:t>.</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81</a:t>
            </a:fld>
            <a:endParaRPr lang="en-US"/>
          </a:p>
        </p:txBody>
      </p:sp>
    </p:spTree>
    <p:extLst>
      <p:ext uri="{BB962C8B-B14F-4D97-AF65-F5344CB8AC3E}">
        <p14:creationId xmlns:p14="http://schemas.microsoft.com/office/powerpoint/2010/main" val="41420976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RPC</a:t>
            </a:r>
            <a:r>
              <a:rPr lang="bg-BG" dirty="0" smtClean="0"/>
              <a:t> - </a:t>
            </a:r>
            <a:r>
              <a:rPr lang="en-US" dirty="0" smtClean="0"/>
              <a:t>Remote Procedure Calls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90</a:t>
            </a:fld>
            <a:endParaRPr lang="en-US"/>
          </a:p>
        </p:txBody>
      </p:sp>
    </p:spTree>
    <p:extLst>
      <p:ext uri="{BB962C8B-B14F-4D97-AF65-F5344CB8AC3E}">
        <p14:creationId xmlns:p14="http://schemas.microsoft.com/office/powerpoint/2010/main" val="266770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Java</a:t>
            </a:r>
            <a:r>
              <a:rPr lang="en-US" baseline="0" dirty="0" smtClean="0"/>
              <a:t> RMI: proxy == skeleton</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96</a:t>
            </a:fld>
            <a:endParaRPr lang="en-US"/>
          </a:p>
        </p:txBody>
      </p:sp>
    </p:spTree>
    <p:extLst>
      <p:ext uri="{BB962C8B-B14F-4D97-AF65-F5344CB8AC3E}">
        <p14:creationId xmlns:p14="http://schemas.microsoft.com/office/powerpoint/2010/main" val="36923389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paradigm is the basis of the Object Management Group’s CORBA (Common Object Request Broker Architecture) architecture. </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97</a:t>
            </a:fld>
            <a:endParaRPr lang="en-US"/>
          </a:p>
        </p:txBody>
      </p:sp>
    </p:spTree>
    <p:extLst>
      <p:ext uri="{BB962C8B-B14F-4D97-AF65-F5344CB8AC3E}">
        <p14:creationId xmlns:p14="http://schemas.microsoft.com/office/powerpoint/2010/main" val="25607502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dirty="0" smtClean="0"/>
              <a:t>Various semantics associated with multicast service:</a:t>
            </a:r>
          </a:p>
          <a:p>
            <a:pPr lvl="1"/>
            <a:r>
              <a:rPr lang="en-US" sz="2400" dirty="0" smtClean="0"/>
              <a:t>Reliable, FIFO, causal, atomic ordered </a:t>
            </a:r>
            <a:r>
              <a:rPr lang="en-US" sz="2400" dirty="0" err="1" smtClean="0"/>
              <a:t>muticast</a:t>
            </a:r>
            <a:r>
              <a:rPr lang="en-US" sz="2400" dirty="0" smtClean="0"/>
              <a:t>, … (discussed later)</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102</a:t>
            </a:fld>
            <a:endParaRPr lang="en-US"/>
          </a:p>
        </p:txBody>
      </p:sp>
    </p:spTree>
    <p:extLst>
      <p:ext uri="{BB962C8B-B14F-4D97-AF65-F5344CB8AC3E}">
        <p14:creationId xmlns:p14="http://schemas.microsoft.com/office/powerpoint/2010/main" val="4679049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a:xfrm>
            <a:off x="1218883" y="0"/>
            <a:ext cx="609441"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1" name="Rectangle 10"/>
          <p:cNvSpPr/>
          <p:nvPr/>
        </p:nvSpPr>
        <p:spPr>
          <a:xfrm>
            <a:off x="0" y="0"/>
            <a:ext cx="1218883"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2" name="Rectangle 11"/>
          <p:cNvSpPr/>
          <p:nvPr/>
        </p:nvSpPr>
        <p:spPr>
          <a:xfrm>
            <a:off x="0" y="5638800"/>
            <a:ext cx="12188825" cy="1219200"/>
          </a:xfrm>
          <a:prstGeom prst="rect">
            <a:avLst/>
          </a:prstGeom>
          <a:solidFill>
            <a:schemeClr val="bg2">
              <a:lumMod val="50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3" name="Straight Connector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0" y="5643132"/>
            <a:ext cx="1216152" cy="1214868"/>
          </a:xfrm>
          <a:prstGeom prst="rect">
            <a:avLst/>
          </a:prstGeom>
          <a:solidFill>
            <a:schemeClr val="bg2">
              <a:lumMod val="2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5" name="Straight Connector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2428669" y="1600200"/>
            <a:ext cx="8329031" cy="2680127"/>
          </a:xfrm>
        </p:spPr>
        <p:txBody>
          <a:bodyPr>
            <a:noAutofit/>
          </a:bodyPr>
          <a:lstStyle>
            <a:lvl1pPr>
              <a:defRPr sz="5400"/>
            </a:lvl1pPr>
          </a:lstStyle>
          <a:p>
            <a:r>
              <a:rPr lang="en-US" smtClean="0"/>
              <a:t>Click to edit Master title style</a:t>
            </a:r>
            <a:endParaRPr/>
          </a:p>
        </p:txBody>
      </p:sp>
      <p:sp>
        <p:nvSpPr>
          <p:cNvPr id="3" name="Subtitle 2"/>
          <p:cNvSpPr>
            <a:spLocks noGrp="1"/>
          </p:cNvSpPr>
          <p:nvPr>
            <p:ph type="subTitle" idx="1"/>
          </p:nvPr>
        </p:nvSpPr>
        <p:spPr>
          <a:xfrm>
            <a:off x="2428669" y="4344915"/>
            <a:ext cx="7516442"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9371012" y="6195695"/>
            <a:ext cx="1600121" cy="365125"/>
          </a:xfrm>
          <a:prstGeom prst="rect">
            <a:avLst/>
          </a:prstGeom>
        </p:spPr>
        <p:txBody>
          <a:bodyPr/>
          <a:lstStyle>
            <a:lvl1pPr>
              <a:defRPr>
                <a:solidFill>
                  <a:schemeClr val="bg1"/>
                </a:solidFill>
              </a:defRPr>
            </a:lvl1pPr>
          </a:lstStyle>
          <a:p>
            <a:endParaRPr lang="en-US" dirty="0"/>
          </a:p>
        </p:txBody>
      </p:sp>
      <p:sp>
        <p:nvSpPr>
          <p:cNvPr id="5" name="Footer Placeholder 4"/>
          <p:cNvSpPr>
            <a:spLocks noGrp="1"/>
          </p:cNvSpPr>
          <p:nvPr>
            <p:ph type="ftr" sz="quarter" idx="11"/>
          </p:nvPr>
        </p:nvSpPr>
        <p:spPr>
          <a:xfrm>
            <a:off x="2284412" y="6172200"/>
            <a:ext cx="4953000" cy="431165"/>
          </a:xfrm>
          <a:prstGeom prst="rect">
            <a:avLst/>
          </a:prstGeom>
        </p:spPr>
        <p:txBody>
          <a:bodyPr/>
          <a:lstStyle>
            <a:lvl1pPr>
              <a:defRPr sz="2800" b="1">
                <a:solidFill>
                  <a:schemeClr val="bg1"/>
                </a:solidFill>
                <a:effectLst>
                  <a:outerShdw blurRad="38100" dist="38100" dir="2700000" algn="tl">
                    <a:srgbClr val="000000">
                      <a:alpha val="43137"/>
                    </a:srgbClr>
                  </a:outerShdw>
                </a:effectLst>
              </a:defRPr>
            </a:lvl1pPr>
          </a:lstStyle>
          <a:p>
            <a:r>
              <a:rPr lang="bg-BG" dirty="0" smtClean="0"/>
              <a:t>Системно програмиране</a:t>
            </a:r>
            <a:endParaRPr lang="en-US" dirty="0" smtClean="0"/>
          </a:p>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a:pPr/>
              <a:t>‹#›</a:t>
            </a:fld>
            <a:endParaRPr/>
          </a:p>
        </p:txBody>
      </p:sp>
      <p:pic>
        <p:nvPicPr>
          <p:cNvPr id="18" name="Picture 17"/>
          <p:cNvPicPr>
            <a:picLocks noChangeAspect="1"/>
          </p:cNvPicPr>
          <p:nvPr userDrawn="1"/>
        </p:nvPicPr>
        <p:blipFill>
          <a:blip r:embed="rId2"/>
          <a:stretch>
            <a:fillRect/>
          </a:stretch>
        </p:blipFill>
        <p:spPr>
          <a:xfrm>
            <a:off x="150812" y="5809005"/>
            <a:ext cx="906705" cy="906705"/>
          </a:xfrm>
          <a:prstGeom prst="rect">
            <a:avLst/>
          </a:prstGeom>
        </p:spPr>
      </p:pic>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3/9/2023</a:t>
            </a:fld>
            <a:endParaRPr/>
          </a:p>
        </p:txBody>
      </p:sp>
      <p:sp>
        <p:nvSpPr>
          <p:cNvPr id="4" name="Footer Placeholder 3"/>
          <p:cNvSpPr>
            <a:spLocks noGrp="1"/>
          </p:cNvSpPr>
          <p:nvPr>
            <p:ph type="ftr" sz="quarter" idx="11"/>
          </p:nvPr>
        </p:nvSpPr>
        <p:spPr>
          <a:xfrm>
            <a:off x="6595933" y="6356351"/>
            <a:ext cx="3974065" cy="365125"/>
          </a:xfrm>
          <a:prstGeom prst="rect">
            <a:avLst/>
          </a:prstGeom>
        </p:spPr>
        <p:txBody>
          <a:bodyPr/>
          <a:lstStyle/>
          <a:p>
            <a:endParaRPr dirty="0"/>
          </a:p>
        </p:txBody>
      </p:sp>
      <p:sp>
        <p:nvSpPr>
          <p:cNvPr id="5" name="Slide Number Placeholder 4"/>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961812" y="0"/>
            <a:ext cx="227013" cy="6858000"/>
          </a:xfrm>
          <a:prstGeom prst="rect">
            <a:avLst/>
          </a:prstGeom>
          <a:solidFill>
            <a:schemeClr val="bg2">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a:xfrm>
            <a:off x="234715" y="0"/>
            <a:ext cx="448089" cy="6858000"/>
          </a:xfrm>
          <a:prstGeom prst="rect">
            <a:avLst/>
          </a:prstGeom>
          <a:solidFill>
            <a:schemeClr val="bg2">
              <a:lumMod val="50000"/>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a:xfrm>
            <a:off x="1" y="0"/>
            <a:ext cx="227011" cy="6858000"/>
          </a:xfrm>
          <a:prstGeom prst="rect">
            <a:avLst/>
          </a:prstGeom>
          <a:solidFill>
            <a:schemeClr val="bg2">
              <a:lumMod val="50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3" name="Rectangle 12"/>
          <p:cNvSpPr/>
          <p:nvPr/>
        </p:nvSpPr>
        <p:spPr>
          <a:xfrm>
            <a:off x="227013" y="4338"/>
            <a:ext cx="455791" cy="455910"/>
          </a:xfrm>
          <a:prstGeom prst="rect">
            <a:avLst/>
          </a:prstGeom>
          <a:solidFill>
            <a:schemeClr val="bg2">
              <a:lumMod val="2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4" name="Straight Connector 13"/>
          <p:cNvCxnSpPr/>
          <p:nvPr/>
        </p:nvCxnSpPr>
        <p:spPr bwMode="white">
          <a:xfrm flipV="1">
            <a:off x="227012" y="0"/>
            <a:ext cx="455792" cy="304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white">
          <a:xfrm>
            <a:off x="227013" y="460248"/>
            <a:ext cx="45579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227012" y="-3048"/>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912811" y="177800"/>
            <a:ext cx="10896541" cy="724915"/>
          </a:xfrm>
          <a:prstGeom prst="rect">
            <a:avLst/>
          </a:prstGeom>
        </p:spPr>
        <p:txBody>
          <a:bodyPr vert="horz" lIns="91440" tIns="45720" rIns="91440" bIns="45720" rtlCol="0" anchor="b">
            <a:normAutofit/>
          </a:bodyPr>
          <a:lstStyle/>
          <a:p>
            <a:r>
              <a:rPr lang="en-US" dirty="0" smtClean="0"/>
              <a:t>Click to edit Master title style</a:t>
            </a:r>
            <a:endParaRPr dirty="0"/>
          </a:p>
        </p:txBody>
      </p:sp>
      <p:sp>
        <p:nvSpPr>
          <p:cNvPr id="3" name="Text Placeholder 2"/>
          <p:cNvSpPr>
            <a:spLocks noGrp="1"/>
          </p:cNvSpPr>
          <p:nvPr>
            <p:ph type="body" idx="1"/>
          </p:nvPr>
        </p:nvSpPr>
        <p:spPr>
          <a:xfrm>
            <a:off x="908662" y="1143000"/>
            <a:ext cx="10900750" cy="54102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6" name="Slide Number Placeholder 5"/>
          <p:cNvSpPr>
            <a:spLocks noGrp="1"/>
          </p:cNvSpPr>
          <p:nvPr>
            <p:ph type="sldNum" sz="quarter" idx="4"/>
          </p:nvPr>
        </p:nvSpPr>
        <p:spPr>
          <a:xfrm>
            <a:off x="11541236" y="6629400"/>
            <a:ext cx="420576" cy="225552"/>
          </a:xfrm>
          <a:prstGeom prst="rect">
            <a:avLst/>
          </a:prstGeom>
        </p:spPr>
        <p:txBody>
          <a:bodyPr vert="horz" lIns="91440" tIns="45720" rIns="91440" bIns="45720" rtlCol="0" anchor="ctr"/>
          <a:lstStyle>
            <a:lvl1pPr algn="r">
              <a:defRPr sz="1000" cap="all" baseline="0">
                <a:solidFill>
                  <a:schemeClr val="tx1">
                    <a:lumMod val="60000"/>
                    <a:lumOff val="40000"/>
                  </a:schemeClr>
                </a:solidFill>
              </a:defRPr>
            </a:lvl1pPr>
          </a:lstStyle>
          <a:p>
            <a:fld id="{7DC1BBB0-96F0-4077-A278-0F3FB5C104D3}" type="slidenum">
              <a:rPr lang="en-US" smtClean="0"/>
              <a:pPr/>
              <a:t>‹#›</a:t>
            </a:fld>
            <a:endParaRPr lang="en-US" dirty="0"/>
          </a:p>
        </p:txBody>
      </p:sp>
      <p:pic>
        <p:nvPicPr>
          <p:cNvPr id="4" name="Picture 3"/>
          <p:cNvPicPr>
            <a:picLocks noChangeAspect="1"/>
          </p:cNvPicPr>
          <p:nvPr userDrawn="1"/>
        </p:nvPicPr>
        <p:blipFill>
          <a:blip r:embed="rId5"/>
          <a:stretch>
            <a:fillRect/>
          </a:stretch>
        </p:blipFill>
        <p:spPr>
          <a:xfrm>
            <a:off x="251739" y="34237"/>
            <a:ext cx="385848" cy="394821"/>
          </a:xfrm>
          <a:prstGeom prst="rect">
            <a:avLst/>
          </a:prstGeom>
        </p:spPr>
      </p:pic>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000" b="1" kern="1200">
          <a:solidFill>
            <a:schemeClr val="tx1">
              <a:lumMod val="75000"/>
            </a:schemeClr>
          </a:solidFill>
          <a:effectLst>
            <a:outerShdw blurRad="38100" dist="38100" dir="2700000" algn="tl">
              <a:srgbClr val="000000">
                <a:alpha val="43137"/>
              </a:srgbClr>
            </a:outerShdw>
          </a:effectLst>
          <a:latin typeface="Calibri" panose="020F0502020204030204" pitchFamily="34" charset="0"/>
          <a:ea typeface="+mj-ea"/>
          <a:cs typeface="+mj-cs"/>
        </a:defRPr>
      </a:lvl1pPr>
    </p:titleStyle>
    <p:bodyStyle>
      <a:lvl1pPr marL="347663" indent="-347663" algn="l" defTabSz="914400" rtl="0" eaLnBrk="1" latinLnBrk="0" hangingPunct="1">
        <a:lnSpc>
          <a:spcPct val="90000"/>
        </a:lnSpc>
        <a:spcBef>
          <a:spcPts val="1400"/>
        </a:spcBef>
        <a:buSzPct val="70000"/>
        <a:buFont typeface="Wingdings" panose="05000000000000000000" pitchFamily="2" charset="2"/>
        <a:buChar char="Ä"/>
        <a:defRPr sz="3200" kern="1200">
          <a:solidFill>
            <a:schemeClr val="tx2"/>
          </a:solidFill>
          <a:latin typeface="Calibri" panose="020F0502020204030204" pitchFamily="34" charset="0"/>
          <a:ea typeface="+mn-ea"/>
          <a:cs typeface="+mn-cs"/>
        </a:defRPr>
      </a:lvl1pPr>
      <a:lvl2pPr marL="741363" indent="-303213" algn="l" defTabSz="914400" rtl="0" eaLnBrk="1" latinLnBrk="0" hangingPunct="1">
        <a:lnSpc>
          <a:spcPct val="90000"/>
        </a:lnSpc>
        <a:spcBef>
          <a:spcPts val="600"/>
        </a:spcBef>
        <a:buSzPct val="80000"/>
        <a:buFont typeface="Wingdings" panose="05000000000000000000" pitchFamily="2" charset="2"/>
        <a:buChar char="ü"/>
        <a:defRPr sz="2800" kern="1200">
          <a:solidFill>
            <a:schemeClr val="tx2"/>
          </a:solidFill>
          <a:latin typeface="Calibri" panose="020F0502020204030204" pitchFamily="34" charset="0"/>
          <a:ea typeface="+mn-ea"/>
          <a:cs typeface="+mn-cs"/>
        </a:defRPr>
      </a:lvl2pPr>
      <a:lvl3pPr marL="1143000" indent="-300038" algn="l" defTabSz="914400" rtl="0" eaLnBrk="1" latinLnBrk="0" hangingPunct="1">
        <a:lnSpc>
          <a:spcPct val="90000"/>
        </a:lnSpc>
        <a:spcBef>
          <a:spcPts val="600"/>
        </a:spcBef>
        <a:buSzPct val="90000"/>
        <a:buFont typeface="Wingdings" panose="05000000000000000000" pitchFamily="2" charset="2"/>
        <a:buChar char="û"/>
        <a:defRPr sz="2400" kern="1200">
          <a:solidFill>
            <a:schemeClr val="tx2"/>
          </a:solidFill>
          <a:latin typeface="Calibri" panose="020F0502020204030204" pitchFamily="34" charset="0"/>
          <a:ea typeface="+mn-ea"/>
          <a:cs typeface="+mn-cs"/>
        </a:defRPr>
      </a:lvl3pPr>
      <a:lvl4pPr marL="1316038" indent="-192088" algn="l" defTabSz="914400" rtl="0" eaLnBrk="1" latinLnBrk="0" hangingPunct="1">
        <a:lnSpc>
          <a:spcPct val="90000"/>
        </a:lnSpc>
        <a:spcBef>
          <a:spcPts val="600"/>
        </a:spcBef>
        <a:buFont typeface="Arial" pitchFamily="34" charset="0"/>
        <a:buChar char="–"/>
        <a:defRPr sz="2000" kern="1200">
          <a:solidFill>
            <a:schemeClr val="tx2"/>
          </a:solidFill>
          <a:latin typeface="Calibri" panose="020F0502020204030204" pitchFamily="34" charset="0"/>
          <a:ea typeface="+mn-ea"/>
          <a:cs typeface="+mn-cs"/>
        </a:defRPr>
      </a:lvl4pPr>
      <a:lvl5pPr marL="1655763" indent="-192088" algn="l" defTabSz="914400" rtl="0" eaLnBrk="1" latinLnBrk="0" hangingPunct="1">
        <a:lnSpc>
          <a:spcPct val="90000"/>
        </a:lnSpc>
        <a:spcBef>
          <a:spcPts val="600"/>
        </a:spcBef>
        <a:buFont typeface="Euphemia" pitchFamily="34" charset="0"/>
        <a:buChar char="›"/>
        <a:defRPr sz="1800" kern="1200">
          <a:solidFill>
            <a:schemeClr val="tx2"/>
          </a:solidFill>
          <a:latin typeface="Calibri" panose="020F0502020204030204" pitchFamily="34" charset="0"/>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bg-BG" dirty="0" smtClean="0"/>
              <a:t>Конкурентен модел на работа</a:t>
            </a:r>
            <a:endParaRPr lang="en-US" dirty="0"/>
          </a:p>
        </p:txBody>
      </p:sp>
      <p:sp>
        <p:nvSpPr>
          <p:cNvPr id="3" name="Subtitle 2"/>
          <p:cNvSpPr>
            <a:spLocks noGrp="1"/>
          </p:cNvSpPr>
          <p:nvPr>
            <p:ph type="subTitle" idx="1"/>
          </p:nvPr>
        </p:nvSpPr>
        <p:spPr/>
        <p:txBody>
          <a:bodyPr/>
          <a:lstStyle/>
          <a:p>
            <a:endParaRPr lang="bg-BG" dirty="0" smtClean="0"/>
          </a:p>
          <a:p>
            <a:pPr algn="r"/>
            <a:r>
              <a:rPr lang="bg-BG" sz="3600" dirty="0" smtClean="0">
                <a:effectLst>
                  <a:outerShdw blurRad="38100" dist="38100" dir="2700000" algn="tl">
                    <a:srgbClr val="000000">
                      <a:alpha val="43137"/>
                    </a:srgbClr>
                  </a:outerShdw>
                </a:effectLst>
              </a:rPr>
              <a:t>Процеси </a:t>
            </a:r>
            <a:r>
              <a:rPr lang="bg-BG" sz="3600" dirty="0">
                <a:effectLst>
                  <a:outerShdw blurRad="38100" dist="38100" dir="2700000" algn="tl">
                    <a:srgbClr val="000000">
                      <a:alpha val="43137"/>
                    </a:srgbClr>
                  </a:outerShdw>
                </a:effectLst>
              </a:rPr>
              <a:t>и Ресурси </a:t>
            </a:r>
            <a:endParaRPr lang="en-US" sz="3600" dirty="0">
              <a:effectLst>
                <a:outerShdw blurRad="38100" dist="38100" dir="2700000" algn="tl">
                  <a:srgbClr val="000000">
                    <a:alpha val="43137"/>
                  </a:srgbClr>
                </a:outerShdw>
              </a:effectLst>
            </a:endParaRPr>
          </a:p>
        </p:txBody>
      </p:sp>
      <p:sp>
        <p:nvSpPr>
          <p:cNvPr id="6" name="Footer Placeholder 4"/>
          <p:cNvSpPr>
            <a:spLocks noGrp="1"/>
          </p:cNvSpPr>
          <p:nvPr>
            <p:ph type="ftr" sz="quarter" idx="11"/>
          </p:nvPr>
        </p:nvSpPr>
        <p:spPr>
          <a:xfrm>
            <a:off x="6475412" y="6329299"/>
            <a:ext cx="4736065" cy="507365"/>
          </a:xfrm>
          <a:prstGeom prst="rect">
            <a:avLst/>
          </a:prstGeom>
        </p:spPr>
        <p:txBody>
          <a:bodyPr/>
          <a:lstStyle>
            <a:lvl1pPr>
              <a:defRPr sz="2800" b="1">
                <a:solidFill>
                  <a:schemeClr val="bg1"/>
                </a:solidFill>
                <a:effectLst>
                  <a:outerShdw blurRad="38100" dist="38100" dir="2700000" algn="tl">
                    <a:srgbClr val="000000">
                      <a:alpha val="43137"/>
                    </a:srgbClr>
                  </a:outerShdw>
                </a:effectLst>
              </a:defRPr>
            </a:lvl1pPr>
          </a:lstStyle>
          <a:p>
            <a:pPr algn="r"/>
            <a:r>
              <a:rPr lang="bg-BG" dirty="0" smtClean="0"/>
              <a:t>Системно програмиране</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Въведение</a:t>
            </a:r>
            <a:endParaRPr lang="en-US" dirty="0"/>
          </a:p>
        </p:txBody>
      </p:sp>
      <p:sp>
        <p:nvSpPr>
          <p:cNvPr id="3" name="Content Placeholder 2"/>
          <p:cNvSpPr>
            <a:spLocks noGrp="1"/>
          </p:cNvSpPr>
          <p:nvPr>
            <p:ph idx="1"/>
          </p:nvPr>
        </p:nvSpPr>
        <p:spPr>
          <a:xfrm>
            <a:off x="908662" y="1143000"/>
            <a:ext cx="10748350" cy="5486400"/>
          </a:xfrm>
        </p:spPr>
        <p:txBody>
          <a:bodyPr>
            <a:noAutofit/>
          </a:bodyPr>
          <a:lstStyle/>
          <a:p>
            <a:pPr>
              <a:lnSpc>
                <a:spcPct val="85000"/>
              </a:lnSpc>
              <a:spcBef>
                <a:spcPts val="300"/>
              </a:spcBef>
            </a:pPr>
            <a:r>
              <a:rPr lang="bg-BG" sz="2800" dirty="0" smtClean="0"/>
              <a:t>Основната функция на ОС е да осигури среда, в която да могат да се стартират потребителски програми.</a:t>
            </a:r>
          </a:p>
          <a:p>
            <a:pPr lvl="1">
              <a:lnSpc>
                <a:spcPct val="85000"/>
              </a:lnSpc>
              <a:spcBef>
                <a:spcPts val="300"/>
              </a:spcBef>
            </a:pPr>
            <a:r>
              <a:rPr lang="bg-BG" sz="2400" dirty="0" smtClean="0"/>
              <a:t>ОС трябва да предоставя рамка за изпълнение на програмата, набор от услуги (например управление на паметта, управление на файлове, ...) и интерфейс към тези услуги.</a:t>
            </a:r>
          </a:p>
          <a:p>
            <a:pPr>
              <a:lnSpc>
                <a:spcPct val="85000"/>
              </a:lnSpc>
              <a:spcBef>
                <a:spcPts val="300"/>
              </a:spcBef>
            </a:pPr>
            <a:r>
              <a:rPr lang="bg-BG" sz="2800" dirty="0" smtClean="0"/>
              <a:t>Тази ограничена форма на изпълнение на програмата с достъп до услугите на операционната система е известна като </a:t>
            </a:r>
            <a:r>
              <a:rPr lang="en-US" sz="2800" dirty="0" smtClean="0"/>
              <a:t>‘</a:t>
            </a:r>
            <a:r>
              <a:rPr lang="bg-BG" sz="2800" i="1" dirty="0" smtClean="0">
                <a:effectLst>
                  <a:outerShdw blurRad="38100" dist="38100" dir="2700000" algn="tl">
                    <a:srgbClr val="000000">
                      <a:alpha val="43137"/>
                    </a:srgbClr>
                  </a:outerShdw>
                </a:effectLst>
              </a:rPr>
              <a:t>процес</a:t>
            </a:r>
            <a:r>
              <a:rPr lang="en-US" sz="2800" i="1" dirty="0" smtClean="0">
                <a:effectLst>
                  <a:outerShdw blurRad="38100" dist="38100" dir="2700000" algn="tl">
                    <a:srgbClr val="000000">
                      <a:alpha val="43137"/>
                    </a:srgbClr>
                  </a:outerShdw>
                </a:effectLst>
              </a:rPr>
              <a:t>’</a:t>
            </a:r>
            <a:r>
              <a:rPr lang="bg-BG" sz="2800" dirty="0" smtClean="0"/>
              <a:t>.</a:t>
            </a:r>
          </a:p>
          <a:p>
            <a:pPr lvl="1">
              <a:lnSpc>
                <a:spcPct val="85000"/>
              </a:lnSpc>
              <a:spcBef>
                <a:spcPts val="300"/>
              </a:spcBef>
            </a:pPr>
            <a:r>
              <a:rPr lang="bg-BG" sz="2400" dirty="0" smtClean="0"/>
              <a:t>Процесът е последователност от компютърни инструкции, изпълнявани в ограничена среда. Това включва:</a:t>
            </a:r>
          </a:p>
          <a:p>
            <a:pPr lvl="2">
              <a:lnSpc>
                <a:spcPct val="85000"/>
              </a:lnSpc>
              <a:spcBef>
                <a:spcPts val="300"/>
              </a:spcBef>
            </a:pPr>
            <a:r>
              <a:rPr lang="bg-BG" sz="2000" dirty="0" smtClean="0"/>
              <a:t>Адресно пространство: то е защитено, така че други процеси да не могат да се намесват.</a:t>
            </a:r>
          </a:p>
          <a:p>
            <a:pPr lvl="2">
              <a:lnSpc>
                <a:spcPct val="85000"/>
              </a:lnSpc>
              <a:spcBef>
                <a:spcPts val="300"/>
              </a:spcBef>
            </a:pPr>
            <a:r>
              <a:rPr lang="bg-BG" sz="2000" dirty="0" smtClean="0"/>
              <a:t>Набор регистри на процесора</a:t>
            </a:r>
          </a:p>
          <a:p>
            <a:pPr lvl="2">
              <a:lnSpc>
                <a:spcPct val="85000"/>
              </a:lnSpc>
              <a:spcBef>
                <a:spcPts val="300"/>
              </a:spcBef>
            </a:pPr>
            <a:r>
              <a:rPr lang="bg-BG" sz="2000" dirty="0" smtClean="0"/>
              <a:t>Възможност за извикване на системни повиквания: процесът може да получи услуги от ОС.</a:t>
            </a:r>
          </a:p>
          <a:p>
            <a:pPr>
              <a:lnSpc>
                <a:spcPct val="85000"/>
              </a:lnSpc>
              <a:spcBef>
                <a:spcPts val="300"/>
              </a:spcBef>
            </a:pPr>
            <a:r>
              <a:rPr lang="bg-BG" sz="2800" dirty="0" smtClean="0"/>
              <a:t>Тази среда често е известна като ‘</a:t>
            </a:r>
            <a:r>
              <a:rPr lang="bg-BG" sz="2800" i="1" dirty="0" smtClean="0">
                <a:effectLst>
                  <a:outerShdw blurRad="38100" dist="38100" dir="2700000" algn="tl">
                    <a:srgbClr val="000000">
                      <a:alpha val="43137"/>
                    </a:srgbClr>
                  </a:outerShdw>
                </a:effectLst>
              </a:rPr>
              <a:t>контекст на </a:t>
            </a:r>
            <a:r>
              <a:rPr lang="bg-BG" sz="2800" i="1" dirty="0" err="1" smtClean="0">
                <a:effectLst>
                  <a:outerShdw blurRad="38100" dist="38100" dir="2700000" algn="tl">
                    <a:srgbClr val="000000">
                      <a:alpha val="43137"/>
                    </a:srgbClr>
                  </a:outerShdw>
                </a:effectLst>
              </a:rPr>
              <a:t>процеса’</a:t>
            </a:r>
            <a:r>
              <a:rPr lang="bg-BG" sz="2800" dirty="0" smtClean="0"/>
              <a:t>.</a:t>
            </a:r>
            <a:endParaRPr lang="bg-BG" sz="2400" dirty="0"/>
          </a:p>
        </p:txBody>
      </p:sp>
    </p:spTree>
    <p:extLst>
      <p:ext uri="{BB962C8B-B14F-4D97-AF65-F5344CB8AC3E}">
        <p14:creationId xmlns:p14="http://schemas.microsoft.com/office/powerpoint/2010/main" val="1598785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Въведение</a:t>
            </a:r>
            <a:endParaRPr lang="bg-BG" dirty="0"/>
          </a:p>
        </p:txBody>
      </p:sp>
      <p:sp>
        <p:nvSpPr>
          <p:cNvPr id="3" name="Content Placeholder 2"/>
          <p:cNvSpPr>
            <a:spLocks noGrp="1"/>
          </p:cNvSpPr>
          <p:nvPr>
            <p:ph idx="1"/>
          </p:nvPr>
        </p:nvSpPr>
        <p:spPr>
          <a:xfrm>
            <a:off x="908662" y="1143000"/>
            <a:ext cx="10748350" cy="5486400"/>
          </a:xfrm>
        </p:spPr>
        <p:txBody>
          <a:bodyPr>
            <a:noAutofit/>
          </a:bodyPr>
          <a:lstStyle/>
          <a:p>
            <a:pPr>
              <a:lnSpc>
                <a:spcPct val="85000"/>
              </a:lnSpc>
              <a:spcBef>
                <a:spcPts val="300"/>
              </a:spcBef>
            </a:pPr>
            <a:r>
              <a:rPr lang="bg-BG" sz="2800" dirty="0" smtClean="0"/>
              <a:t>В случай на компютър с един процесор във всеки момент от времето процесорът </a:t>
            </a:r>
            <a:r>
              <a:rPr lang="bg-BG" sz="2800" dirty="0"/>
              <a:t>може да използва се </a:t>
            </a:r>
            <a:r>
              <a:rPr lang="bg-BG" sz="2800" dirty="0" smtClean="0"/>
              <a:t>само един процес (т.е. процесът се „изпълнява“ върху процесора).</a:t>
            </a:r>
          </a:p>
          <a:p>
            <a:pPr lvl="1">
              <a:lnSpc>
                <a:spcPct val="85000"/>
              </a:lnSpc>
              <a:spcBef>
                <a:spcPts val="300"/>
              </a:spcBef>
            </a:pPr>
            <a:r>
              <a:rPr lang="bg-BG" sz="2400" dirty="0" smtClean="0"/>
              <a:t>Процесорът активно изпълнява инструкции на този процес.</a:t>
            </a:r>
          </a:p>
          <a:p>
            <a:pPr>
              <a:lnSpc>
                <a:spcPct val="85000"/>
              </a:lnSpc>
              <a:spcBef>
                <a:spcPts val="300"/>
              </a:spcBef>
            </a:pPr>
            <a:r>
              <a:rPr lang="bg-BG" sz="2800" dirty="0" smtClean="0"/>
              <a:t>При повечето ОС съществува и т.нар. „</a:t>
            </a:r>
            <a:r>
              <a:rPr lang="bg-BG" sz="2800" dirty="0" err="1" smtClean="0"/>
              <a:t>многозадачен</a:t>
            </a:r>
            <a:r>
              <a:rPr lang="bg-BG" sz="2800" dirty="0" smtClean="0"/>
              <a:t> режим“  </a:t>
            </a:r>
          </a:p>
          <a:p>
            <a:pPr lvl="1">
              <a:lnSpc>
                <a:spcPct val="85000"/>
              </a:lnSpc>
              <a:spcBef>
                <a:spcPts val="300"/>
              </a:spcBef>
            </a:pPr>
            <a:r>
              <a:rPr lang="bg-BG" sz="2400" dirty="0" smtClean="0"/>
              <a:t>При него ОС гарантира, че всички процеси, т.е. заредени в паметта </a:t>
            </a:r>
            <a:r>
              <a:rPr lang="bg-BG" sz="2400" dirty="0"/>
              <a:t>програма</a:t>
            </a:r>
            <a:r>
              <a:rPr lang="bg-BG" sz="2400" dirty="0" smtClean="0"/>
              <a:t>, могат да работят и не си пречат взаимно.</a:t>
            </a:r>
          </a:p>
          <a:p>
            <a:pPr lvl="1">
              <a:lnSpc>
                <a:spcPct val="85000"/>
              </a:lnSpc>
              <a:spcBef>
                <a:spcPts val="300"/>
              </a:spcBef>
            </a:pPr>
            <a:r>
              <a:rPr lang="bg-BG" sz="2400" dirty="0" err="1" smtClean="0"/>
              <a:t>Многозадачността</a:t>
            </a:r>
            <a:r>
              <a:rPr lang="bg-BG" sz="2400" dirty="0" smtClean="0"/>
              <a:t> решава проблема </a:t>
            </a:r>
            <a:r>
              <a:rPr lang="bg-BG" sz="2400" dirty="0"/>
              <a:t> </a:t>
            </a:r>
            <a:r>
              <a:rPr lang="bg-BG" sz="2400" dirty="0" smtClean="0"/>
              <a:t>„1 процесор &lt;-&gt; </a:t>
            </a:r>
            <a:r>
              <a:rPr lang="en-US" sz="2400" dirty="0" smtClean="0"/>
              <a:t>N </a:t>
            </a:r>
            <a:r>
              <a:rPr lang="bg-BG" sz="2400" dirty="0" smtClean="0"/>
              <a:t>задачи“</a:t>
            </a:r>
            <a:r>
              <a:rPr lang="en-US" sz="2400" dirty="0" smtClean="0"/>
              <a:t> </a:t>
            </a:r>
            <a:r>
              <a:rPr lang="bg-BG" sz="2400" dirty="0" smtClean="0"/>
              <a:t>чрез алгоритми за </a:t>
            </a:r>
            <a:r>
              <a:rPr lang="bg-BG" sz="2400" dirty="0" err="1" smtClean="0"/>
              <a:t>диспечиране</a:t>
            </a:r>
            <a:r>
              <a:rPr lang="bg-BG" sz="2400" dirty="0" smtClean="0"/>
              <a:t>.</a:t>
            </a:r>
          </a:p>
          <a:p>
            <a:pPr lvl="2">
              <a:lnSpc>
                <a:spcPct val="85000"/>
              </a:lnSpc>
              <a:spcBef>
                <a:spcPts val="300"/>
              </a:spcBef>
            </a:pPr>
            <a:r>
              <a:rPr lang="bg-BG" sz="2000" dirty="0" smtClean="0"/>
              <a:t>Това е планиране коя задача се изпълнява в даден момент, кога да се прекрати изпълнението и коя е следващата задача, която ще се изпълнява.</a:t>
            </a:r>
          </a:p>
          <a:p>
            <a:pPr lvl="1">
              <a:lnSpc>
                <a:spcPct val="85000"/>
              </a:lnSpc>
              <a:spcBef>
                <a:spcPts val="300"/>
              </a:spcBef>
            </a:pPr>
            <a:r>
              <a:rPr lang="bg-BG" sz="2400" dirty="0" smtClean="0"/>
              <a:t>Актът за пренасочване на процесор от една задача към друга се нарича </a:t>
            </a:r>
            <a:r>
              <a:rPr lang="bg-BG" sz="2400" i="1" dirty="0" smtClean="0">
                <a:effectLst>
                  <a:outerShdw blurRad="38100" dist="38100" dir="2700000" algn="tl">
                    <a:srgbClr val="000000">
                      <a:alpha val="43137"/>
                    </a:srgbClr>
                  </a:outerShdw>
                </a:effectLst>
              </a:rPr>
              <a:t>контекстно </a:t>
            </a:r>
            <a:r>
              <a:rPr lang="bg-BG" sz="2400" i="1" dirty="0" err="1" smtClean="0">
                <a:effectLst>
                  <a:outerShdw blurRad="38100" dist="38100" dir="2700000" algn="tl">
                    <a:srgbClr val="000000">
                      <a:alpha val="43137"/>
                    </a:srgbClr>
                  </a:outerShdw>
                </a:effectLst>
              </a:rPr>
              <a:t>превкючване</a:t>
            </a:r>
            <a:r>
              <a:rPr lang="bg-BG" sz="2400" dirty="0" smtClean="0"/>
              <a:t>.</a:t>
            </a:r>
          </a:p>
          <a:p>
            <a:pPr>
              <a:lnSpc>
                <a:spcPct val="85000"/>
              </a:lnSpc>
              <a:spcBef>
                <a:spcPts val="300"/>
              </a:spcBef>
            </a:pPr>
            <a:r>
              <a:rPr lang="bg-BG" sz="2800" dirty="0" smtClean="0"/>
              <a:t>Илюзията за паралелизъм се постига, когато времената между контекстните превключвания са много малки.</a:t>
            </a:r>
            <a:endParaRPr lang="bg-BG" sz="2400" dirty="0"/>
          </a:p>
        </p:txBody>
      </p:sp>
    </p:spTree>
    <p:extLst>
      <p:ext uri="{BB962C8B-B14F-4D97-AF65-F5344CB8AC3E}">
        <p14:creationId xmlns:p14="http://schemas.microsoft.com/office/powerpoint/2010/main" val="2188354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smtClean="0"/>
              <a:t>Конкурентност</a:t>
            </a:r>
            <a:endParaRPr lang="en-US" dirty="0"/>
          </a:p>
        </p:txBody>
      </p:sp>
      <p:sp>
        <p:nvSpPr>
          <p:cNvPr id="3" name="Content Placeholder 2"/>
          <p:cNvSpPr>
            <a:spLocks noGrp="1"/>
          </p:cNvSpPr>
          <p:nvPr>
            <p:ph idx="1"/>
          </p:nvPr>
        </p:nvSpPr>
        <p:spPr>
          <a:xfrm>
            <a:off x="908662" y="1143000"/>
            <a:ext cx="10900750" cy="5486400"/>
          </a:xfrm>
        </p:spPr>
        <p:txBody>
          <a:bodyPr>
            <a:noAutofit/>
          </a:bodyPr>
          <a:lstStyle/>
          <a:p>
            <a:pPr>
              <a:lnSpc>
                <a:spcPct val="100000"/>
              </a:lnSpc>
              <a:spcBef>
                <a:spcPts val="0"/>
              </a:spcBef>
            </a:pPr>
            <a:r>
              <a:rPr lang="bg-BG" sz="2800" dirty="0" smtClean="0"/>
              <a:t>Какво означава терминът „</a:t>
            </a:r>
            <a:r>
              <a:rPr lang="bg-BG" sz="2800" dirty="0" err="1" smtClean="0"/>
              <a:t>Конкурентност</a:t>
            </a:r>
            <a:r>
              <a:rPr lang="bg-BG" sz="2800" dirty="0" smtClean="0"/>
              <a:t>“?</a:t>
            </a:r>
          </a:p>
          <a:p>
            <a:pPr lvl="1">
              <a:lnSpc>
                <a:spcPct val="100000"/>
              </a:lnSpc>
              <a:spcBef>
                <a:spcPts val="0"/>
              </a:spcBef>
            </a:pPr>
            <a:r>
              <a:rPr lang="bg-BG" sz="2400" dirty="0" smtClean="0"/>
              <a:t>Императивната програма в класическата си форма има една управляваща верига за контрол на работата на програмата.</a:t>
            </a:r>
          </a:p>
          <a:p>
            <a:pPr lvl="2">
              <a:lnSpc>
                <a:spcPct val="100000"/>
              </a:lnSpc>
              <a:spcBef>
                <a:spcPts val="0"/>
              </a:spcBef>
            </a:pPr>
            <a:r>
              <a:rPr lang="bg-BG" sz="2000" dirty="0" smtClean="0"/>
              <a:t>Изпълнението на програмния код, управляван от тази нишка за контрол, се нарича </a:t>
            </a:r>
            <a:r>
              <a:rPr lang="bg-BG" sz="2000" dirty="0" smtClean="0">
                <a:effectLst>
                  <a:outerShdw blurRad="38100" dist="38100" dir="2700000" algn="tl">
                    <a:srgbClr val="000000">
                      <a:alpha val="43137"/>
                    </a:srgbClr>
                  </a:outerShdw>
                </a:effectLst>
              </a:rPr>
              <a:t>процес</a:t>
            </a:r>
            <a:r>
              <a:rPr lang="bg-BG" sz="2000" dirty="0" smtClean="0"/>
              <a:t>.</a:t>
            </a:r>
          </a:p>
          <a:p>
            <a:pPr lvl="1">
              <a:lnSpc>
                <a:spcPct val="100000"/>
              </a:lnSpc>
              <a:spcBef>
                <a:spcPts val="0"/>
              </a:spcBef>
            </a:pPr>
            <a:r>
              <a:rPr lang="bg-BG" sz="2400" dirty="0" smtClean="0"/>
              <a:t>При програма, реализираща конкурентно програмиране, има множество нишки за управление на изпълнението.</a:t>
            </a:r>
          </a:p>
          <a:p>
            <a:pPr lvl="2">
              <a:lnSpc>
                <a:spcPct val="100000"/>
              </a:lnSpc>
              <a:spcBef>
                <a:spcPts val="0"/>
              </a:spcBef>
            </a:pPr>
            <a:r>
              <a:rPr lang="bg-BG" sz="2000" dirty="0" smtClean="0"/>
              <a:t>Следователно, те могат да се изпълняват като паралелни процеси.</a:t>
            </a:r>
          </a:p>
          <a:p>
            <a:pPr>
              <a:lnSpc>
                <a:spcPct val="100000"/>
              </a:lnSpc>
              <a:spcBef>
                <a:spcPts val="0"/>
              </a:spcBef>
            </a:pPr>
            <a:r>
              <a:rPr lang="bg-BG" sz="2800" dirty="0" err="1" smtClean="0"/>
              <a:t>Конкурентност</a:t>
            </a:r>
            <a:r>
              <a:rPr lang="bg-BG" sz="2800" dirty="0" smtClean="0"/>
              <a:t> на изпълнението съществува  само ако има поне две едновременно изпълнявани задачи на един процесор</a:t>
            </a:r>
          </a:p>
          <a:p>
            <a:pPr lvl="1">
              <a:lnSpc>
                <a:spcPct val="100000"/>
              </a:lnSpc>
              <a:spcBef>
                <a:spcPts val="0"/>
              </a:spcBef>
            </a:pPr>
            <a:r>
              <a:rPr lang="bg-BG" sz="2400" dirty="0" smtClean="0"/>
              <a:t>Всяка от тях периодически „заема“ процесора и след това го „губи“ за сметка на другите задачи.</a:t>
            </a:r>
          </a:p>
          <a:p>
            <a:pPr lvl="1">
              <a:lnSpc>
                <a:spcPct val="100000"/>
              </a:lnSpc>
              <a:spcBef>
                <a:spcPts val="0"/>
              </a:spcBef>
            </a:pPr>
            <a:r>
              <a:rPr lang="bg-BG" sz="2400" dirty="0" smtClean="0"/>
              <a:t>Конкурентните </a:t>
            </a:r>
            <a:r>
              <a:rPr lang="bg-BG" sz="2400" dirty="0"/>
              <a:t>програми се основават на абстракции, които са подобни на логическите абстракции в операционните системи:</a:t>
            </a:r>
          </a:p>
          <a:p>
            <a:pPr lvl="2">
              <a:lnSpc>
                <a:spcPct val="100000"/>
              </a:lnSpc>
              <a:spcBef>
                <a:spcPts val="0"/>
              </a:spcBef>
            </a:pPr>
            <a:r>
              <a:rPr lang="bg-BG" sz="2000" dirty="0" smtClean="0"/>
              <a:t>процеси</a:t>
            </a:r>
            <a:r>
              <a:rPr lang="bg-BG" sz="2000" dirty="0"/>
              <a:t>, нишки, </a:t>
            </a:r>
            <a:r>
              <a:rPr lang="bg-BG" sz="2000" dirty="0" smtClean="0"/>
              <a:t>ресурси и </a:t>
            </a:r>
            <a:r>
              <a:rPr lang="bg-BG" sz="2000" dirty="0"/>
              <a:t>т.н.</a:t>
            </a:r>
          </a:p>
        </p:txBody>
      </p:sp>
    </p:spTree>
    <p:extLst>
      <p:ext uri="{BB962C8B-B14F-4D97-AF65-F5344CB8AC3E}">
        <p14:creationId xmlns:p14="http://schemas.microsoft.com/office/powerpoint/2010/main" val="3095357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pPr>
              <a:spcBef>
                <a:spcPts val="600"/>
              </a:spcBef>
            </a:pPr>
            <a:r>
              <a:rPr lang="bg-BG" dirty="0" smtClean="0"/>
              <a:t>Конкурентно </a:t>
            </a:r>
            <a:r>
              <a:rPr lang="bg-BG" dirty="0" err="1" smtClean="0"/>
              <a:t>vs</a:t>
            </a:r>
            <a:r>
              <a:rPr lang="bg-BG" dirty="0"/>
              <a:t>. </a:t>
            </a:r>
            <a:r>
              <a:rPr lang="bg-BG" dirty="0" smtClean="0"/>
              <a:t>Паралелно програмиране</a:t>
            </a:r>
            <a:endParaRPr lang="bg-BG" dirty="0"/>
          </a:p>
        </p:txBody>
      </p:sp>
      <p:sp>
        <p:nvSpPr>
          <p:cNvPr id="3" name="Content Placeholder 2"/>
          <p:cNvSpPr>
            <a:spLocks noGrp="1"/>
          </p:cNvSpPr>
          <p:nvPr>
            <p:ph idx="1"/>
          </p:nvPr>
        </p:nvSpPr>
        <p:spPr/>
        <p:txBody>
          <a:bodyPr>
            <a:normAutofit/>
          </a:bodyPr>
          <a:lstStyle/>
          <a:p>
            <a:r>
              <a:rPr lang="bg-BG" sz="2800" dirty="0" smtClean="0"/>
              <a:t>Основни разлики:</a:t>
            </a:r>
          </a:p>
          <a:p>
            <a:pPr lvl="1"/>
            <a:r>
              <a:rPr lang="bg-BG" sz="2400" dirty="0" smtClean="0"/>
              <a:t>По броя необходими процесори</a:t>
            </a:r>
          </a:p>
          <a:p>
            <a:pPr lvl="2"/>
            <a:r>
              <a:rPr lang="bg-BG" sz="2000" dirty="0" smtClean="0"/>
              <a:t>Паралелизмът е, когато задачите се изпълняват едновременно, защото всяка се изпълнява на самостоятелен процесор</a:t>
            </a:r>
            <a:r>
              <a:rPr lang="bg-BG" sz="1600" dirty="0" smtClean="0"/>
              <a:t>.</a:t>
            </a:r>
          </a:p>
          <a:p>
            <a:pPr lvl="2"/>
            <a:r>
              <a:rPr lang="bg-BG" sz="2000" dirty="0" err="1" smtClean="0"/>
              <a:t>Конкурентността</a:t>
            </a:r>
            <a:r>
              <a:rPr lang="bg-BG" sz="2000" dirty="0" smtClean="0"/>
              <a:t> е когато две задачи могат да се стартират, изпълнят и завършат в припокриващи се периоди от време върху един процесор – това е симулиране на паралелност.</a:t>
            </a:r>
          </a:p>
          <a:p>
            <a:pPr lvl="1"/>
            <a:r>
              <a:rPr lang="bg-BG" sz="2400" dirty="0" smtClean="0"/>
              <a:t>По характера на изчисленията</a:t>
            </a:r>
          </a:p>
          <a:p>
            <a:pPr lvl="2"/>
            <a:r>
              <a:rPr lang="bg-BG" sz="2000" dirty="0"/>
              <a:t>Паралелността е едновременно изпълнение на едно и също (или свързани) изчисления.</a:t>
            </a:r>
          </a:p>
          <a:p>
            <a:pPr lvl="2"/>
            <a:r>
              <a:rPr lang="bg-BG" sz="2000" dirty="0" err="1" smtClean="0"/>
              <a:t>Конкурентността</a:t>
            </a:r>
            <a:r>
              <a:rPr lang="bg-BG" sz="2000" dirty="0" smtClean="0"/>
              <a:t> е </a:t>
            </a:r>
            <a:r>
              <a:rPr lang="bg-BG" sz="2000" dirty="0" err="1" smtClean="0"/>
              <a:t>псевдопаралелно</a:t>
            </a:r>
            <a:r>
              <a:rPr lang="bg-BG" sz="2000" dirty="0" smtClean="0"/>
              <a:t> изпълнение на независими изчисления.</a:t>
            </a:r>
          </a:p>
          <a:p>
            <a:pPr lvl="1"/>
            <a:r>
              <a:rPr lang="bg-BG" sz="2400" dirty="0" smtClean="0"/>
              <a:t>Приложението може да бъде както конкурентно, така и паралелно</a:t>
            </a:r>
          </a:p>
          <a:p>
            <a:pPr lvl="2"/>
            <a:r>
              <a:rPr lang="bg-BG" sz="2000" dirty="0" smtClean="0"/>
              <a:t>Когато броят</a:t>
            </a:r>
            <a:r>
              <a:rPr lang="en-US" sz="2000" dirty="0" smtClean="0"/>
              <a:t> </a:t>
            </a:r>
            <a:r>
              <a:rPr lang="bg-BG" sz="2000" dirty="0" smtClean="0"/>
              <a:t>на изпълняваните задачи е по-голям от броя на съществуващите процесори.</a:t>
            </a:r>
            <a:endParaRPr lang="bg-BG" dirty="0" smtClean="0"/>
          </a:p>
        </p:txBody>
      </p:sp>
    </p:spTree>
    <p:extLst>
      <p:ext uri="{BB962C8B-B14F-4D97-AF65-F5344CB8AC3E}">
        <p14:creationId xmlns:p14="http://schemas.microsoft.com/office/powerpoint/2010/main" val="232427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pPr>
              <a:spcBef>
                <a:spcPts val="600"/>
              </a:spcBef>
            </a:pPr>
            <a:r>
              <a:rPr lang="bg-BG" dirty="0"/>
              <a:t>Паралелно </a:t>
            </a:r>
            <a:r>
              <a:rPr lang="bg-BG" dirty="0" err="1"/>
              <a:t>vs</a:t>
            </a:r>
            <a:r>
              <a:rPr lang="bg-BG" dirty="0"/>
              <a:t>. Разпределено програмиране</a:t>
            </a:r>
          </a:p>
        </p:txBody>
      </p:sp>
      <p:sp>
        <p:nvSpPr>
          <p:cNvPr id="3" name="Content Placeholder 2"/>
          <p:cNvSpPr>
            <a:spLocks noGrp="1"/>
          </p:cNvSpPr>
          <p:nvPr>
            <p:ph idx="1"/>
          </p:nvPr>
        </p:nvSpPr>
        <p:spPr/>
        <p:txBody>
          <a:bodyPr>
            <a:normAutofit/>
          </a:bodyPr>
          <a:lstStyle/>
          <a:p>
            <a:r>
              <a:rPr lang="bg-BG" sz="2800" dirty="0" smtClean="0"/>
              <a:t>Общи критерий:</a:t>
            </a:r>
          </a:p>
          <a:p>
            <a:pPr lvl="1"/>
            <a:r>
              <a:rPr lang="bg-BG" sz="2400" dirty="0" smtClean="0"/>
              <a:t>При </a:t>
            </a:r>
            <a:r>
              <a:rPr lang="bg-BG" sz="2400" dirty="0" smtClean="0">
                <a:effectLst>
                  <a:outerShdw blurRad="38100" dist="38100" dir="2700000" algn="tl">
                    <a:srgbClr val="000000">
                      <a:alpha val="43137"/>
                    </a:srgbClr>
                  </a:outerShdw>
                </a:effectLst>
              </a:rPr>
              <a:t>паралелното </a:t>
            </a:r>
            <a:r>
              <a:rPr lang="bg-BG" sz="2400" dirty="0" smtClean="0"/>
              <a:t>програмиране всички процесори могат да имат достъп до споделена памет, за да обменят информация между процесорите.</a:t>
            </a:r>
          </a:p>
          <a:p>
            <a:pPr lvl="1"/>
            <a:r>
              <a:rPr lang="bg-BG" sz="2400" dirty="0" smtClean="0"/>
              <a:t>При </a:t>
            </a:r>
            <a:r>
              <a:rPr lang="bg-BG" sz="2400" dirty="0" smtClean="0">
                <a:effectLst>
                  <a:outerShdw blurRad="38100" dist="38100" dir="2700000" algn="tl">
                    <a:srgbClr val="000000">
                      <a:alpha val="43137"/>
                    </a:srgbClr>
                  </a:outerShdw>
                </a:effectLst>
              </a:rPr>
              <a:t>разпределеното </a:t>
            </a:r>
            <a:r>
              <a:rPr lang="bg-BG" sz="2400" dirty="0" smtClean="0"/>
              <a:t>програмиране всеки процесор има своя собствена памет (разпределена памет).</a:t>
            </a:r>
          </a:p>
          <a:p>
            <a:pPr lvl="2"/>
            <a:r>
              <a:rPr lang="bg-BG" sz="2000" dirty="0" smtClean="0"/>
              <a:t>Информацията се обменя чрез предаване на съобщения между процесорите.</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5812" y="3886200"/>
            <a:ext cx="3048000" cy="2399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6412" y="4768899"/>
            <a:ext cx="4038600" cy="1090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193427" y="6357901"/>
            <a:ext cx="2247988" cy="369332"/>
          </a:xfrm>
          <a:prstGeom prst="rect">
            <a:avLst/>
          </a:prstGeom>
        </p:spPr>
        <p:txBody>
          <a:bodyPr wrap="none">
            <a:spAutoFit/>
          </a:bodyPr>
          <a:lstStyle/>
          <a:p>
            <a:r>
              <a:rPr lang="bg-BG" b="1" i="1" dirty="0" smtClean="0">
                <a:solidFill>
                  <a:schemeClr val="tx2"/>
                </a:solidFill>
                <a:latin typeface="Calibri" panose="020F0502020204030204" pitchFamily="34" charset="0"/>
                <a:cs typeface="Calibri" panose="020F0502020204030204" pitchFamily="34" charset="0"/>
              </a:rPr>
              <a:t>Разпределен подход</a:t>
            </a:r>
          </a:p>
        </p:txBody>
      </p:sp>
      <p:sp>
        <p:nvSpPr>
          <p:cNvPr id="7" name="Rectangle 6"/>
          <p:cNvSpPr/>
          <p:nvPr/>
        </p:nvSpPr>
        <p:spPr>
          <a:xfrm>
            <a:off x="7923212" y="6357532"/>
            <a:ext cx="2146229" cy="369332"/>
          </a:xfrm>
          <a:prstGeom prst="rect">
            <a:avLst/>
          </a:prstGeom>
        </p:spPr>
        <p:txBody>
          <a:bodyPr wrap="none">
            <a:spAutoFit/>
          </a:bodyPr>
          <a:lstStyle/>
          <a:p>
            <a:r>
              <a:rPr lang="bg-BG" b="1" i="1" dirty="0" smtClean="0">
                <a:solidFill>
                  <a:schemeClr val="tx2"/>
                </a:solidFill>
                <a:latin typeface="Calibri" panose="020F0502020204030204" pitchFamily="34" charset="0"/>
                <a:cs typeface="Calibri" panose="020F0502020204030204" pitchFamily="34" charset="0"/>
              </a:rPr>
              <a:t>Паралелна работа</a:t>
            </a:r>
            <a:endParaRPr lang="en-US" b="1" i="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529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pPr>
              <a:spcBef>
                <a:spcPts val="600"/>
              </a:spcBef>
            </a:pPr>
            <a:r>
              <a:rPr lang="bg-BG" dirty="0"/>
              <a:t>Конкурентно </a:t>
            </a:r>
            <a:r>
              <a:rPr lang="bg-BG" dirty="0" err="1"/>
              <a:t>vs</a:t>
            </a:r>
            <a:r>
              <a:rPr lang="bg-BG" dirty="0"/>
              <a:t>. Паралелно </a:t>
            </a:r>
            <a:r>
              <a:rPr lang="bg-BG" dirty="0" err="1"/>
              <a:t>vs</a:t>
            </a:r>
            <a:r>
              <a:rPr lang="bg-BG" dirty="0"/>
              <a:t>. </a:t>
            </a:r>
            <a:r>
              <a:rPr lang="bg-BG" dirty="0" smtClean="0"/>
              <a:t>Разпределено</a:t>
            </a:r>
            <a:endParaRPr lang="bg-BG" dirty="0"/>
          </a:p>
        </p:txBody>
      </p:sp>
      <p:sp>
        <p:nvSpPr>
          <p:cNvPr id="3" name="Content Placeholder 2"/>
          <p:cNvSpPr>
            <a:spLocks noGrp="1"/>
          </p:cNvSpPr>
          <p:nvPr>
            <p:ph idx="1"/>
          </p:nvPr>
        </p:nvSpPr>
        <p:spPr/>
        <p:txBody>
          <a:bodyPr>
            <a:normAutofit/>
          </a:bodyPr>
          <a:lstStyle/>
          <a:p>
            <a:r>
              <a:rPr lang="bg-BG" sz="2800" dirty="0" smtClean="0"/>
              <a:t>Кога?</a:t>
            </a:r>
            <a:endParaRPr lang="bg-BG" sz="2800" dirty="0" smtClean="0"/>
          </a:p>
          <a:p>
            <a:pPr lvl="1"/>
            <a:r>
              <a:rPr lang="bg-BG" sz="2400" dirty="0" smtClean="0"/>
              <a:t>Конкурентното програмиране е приложимо за всички случаи, в които група подзадачи могат да се изпълнят както последователно, така и паралелно.</a:t>
            </a:r>
          </a:p>
          <a:p>
            <a:pPr lvl="2"/>
            <a:r>
              <a:rPr lang="bg-BG" sz="2000" dirty="0" err="1" smtClean="0"/>
              <a:t>Квазипаралелността</a:t>
            </a:r>
            <a:r>
              <a:rPr lang="bg-BG" sz="2000" dirty="0" smtClean="0"/>
              <a:t> не е проблем за качеството на извършване на работата.</a:t>
            </a:r>
            <a:endParaRPr lang="bg-BG" sz="2000" dirty="0" smtClean="0"/>
          </a:p>
          <a:p>
            <a:pPr lvl="1"/>
            <a:r>
              <a:rPr lang="bg-BG" sz="2400" dirty="0" smtClean="0"/>
              <a:t>Паралелното програмиране е задължително когато изчислителният модел изисква задължително </a:t>
            </a:r>
            <a:r>
              <a:rPr lang="bg-BG" sz="2400" dirty="0" smtClean="0"/>
              <a:t>подзадачи да се изпълнят едновременно.</a:t>
            </a:r>
          </a:p>
          <a:p>
            <a:pPr lvl="2"/>
            <a:r>
              <a:rPr lang="bg-BG" sz="2000" dirty="0" smtClean="0"/>
              <a:t>Пример: По едни и същи данни да се намери оптималното поведение в конкретния момент</a:t>
            </a:r>
            <a:r>
              <a:rPr lang="bg-BG" sz="2000" dirty="0" smtClean="0"/>
              <a:t>.</a:t>
            </a:r>
          </a:p>
          <a:p>
            <a:pPr lvl="2"/>
            <a:r>
              <a:rPr lang="bg-BG" sz="2000" dirty="0" smtClean="0"/>
              <a:t>Пример: Сигурност чрез дублиране на изчисленията (напр. 2 от 3).</a:t>
            </a:r>
            <a:endParaRPr lang="bg-BG" sz="2000" dirty="0" smtClean="0"/>
          </a:p>
          <a:p>
            <a:pPr lvl="1"/>
            <a:r>
              <a:rPr lang="bg-BG" sz="2400" dirty="0" smtClean="0"/>
              <a:t>Разпределеното програмиране е особено подходящо когато:</a:t>
            </a:r>
          </a:p>
          <a:p>
            <a:pPr lvl="2"/>
            <a:r>
              <a:rPr lang="bg-BG" sz="2000" dirty="0" smtClean="0"/>
              <a:t>Трябва да се използват ресурси, разположени на физически различни компютри и не е препоръчително/възможно тези ресурси да се „съберат“ на един компютър.</a:t>
            </a:r>
          </a:p>
          <a:p>
            <a:pPr lvl="2"/>
            <a:r>
              <a:rPr lang="bg-BG" sz="2000" dirty="0"/>
              <a:t>Единичната </a:t>
            </a:r>
            <a:r>
              <a:rPr lang="bg-BG" sz="2000" dirty="0" smtClean="0"/>
              <a:t>изчислителна мощност не е достатъчна и отделните компютри имат хетерогенна по характер среда за работа на задачите (хардуер + ОС).</a:t>
            </a:r>
            <a:endParaRPr lang="bg-BG" sz="2000" dirty="0"/>
          </a:p>
        </p:txBody>
      </p:sp>
    </p:spTree>
    <p:extLst>
      <p:ext uri="{BB962C8B-B14F-4D97-AF65-F5344CB8AC3E}">
        <p14:creationId xmlns:p14="http://schemas.microsoft.com/office/powerpoint/2010/main" val="1928476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smtClean="0"/>
              <a:t>Защо конкурентно програмиран</a:t>
            </a:r>
            <a:r>
              <a:rPr lang="en-US" dirty="0" smtClean="0"/>
              <a:t>e</a:t>
            </a:r>
            <a:r>
              <a:rPr lang="en-GB" dirty="0" smtClean="0"/>
              <a:t>? </a:t>
            </a:r>
            <a:endParaRPr lang="en-US" dirty="0"/>
          </a:p>
        </p:txBody>
      </p:sp>
      <p:sp>
        <p:nvSpPr>
          <p:cNvPr id="3" name="Content Placeholder 2"/>
          <p:cNvSpPr>
            <a:spLocks noGrp="1"/>
          </p:cNvSpPr>
          <p:nvPr>
            <p:ph idx="1"/>
          </p:nvPr>
        </p:nvSpPr>
        <p:spPr/>
        <p:txBody>
          <a:bodyPr>
            <a:noAutofit/>
          </a:bodyPr>
          <a:lstStyle/>
          <a:p>
            <a:pPr lvl="0">
              <a:spcBef>
                <a:spcPts val="300"/>
              </a:spcBef>
            </a:pPr>
            <a:r>
              <a:rPr lang="bg-BG" sz="2800" dirty="0" smtClean="0"/>
              <a:t>По-добро използване на многопроцесорната апаратна част.</a:t>
            </a:r>
          </a:p>
          <a:p>
            <a:pPr lvl="1">
              <a:spcBef>
                <a:spcPts val="300"/>
              </a:spcBef>
            </a:pPr>
            <a:r>
              <a:rPr lang="bg-BG" sz="2400" dirty="0" smtClean="0"/>
              <a:t>Много по-добре при разпределени изчисления или при приложения с интензивен В/И поток.</a:t>
            </a:r>
          </a:p>
          <a:p>
            <a:pPr lvl="2">
              <a:spcBef>
                <a:spcPts val="300"/>
              </a:spcBef>
            </a:pPr>
            <a:r>
              <a:rPr lang="bg-BG" sz="2000" dirty="0" smtClean="0"/>
              <a:t>Пример: когато един процес чака отговор от мрежа или В/И, друг процес може да използва «освободения» процесор.</a:t>
            </a:r>
          </a:p>
          <a:p>
            <a:pPr lvl="0">
              <a:spcBef>
                <a:spcPts val="300"/>
              </a:spcBef>
            </a:pPr>
            <a:r>
              <a:rPr lang="bg-BG" sz="2800" dirty="0" smtClean="0"/>
              <a:t>При конкурентно програмиране е по-естествен подхода за решаване на проблемите с модела на взаимодействие между потребители и компютър , както и на техниките за контрол и управление на работата на процесите в реално време.</a:t>
            </a:r>
          </a:p>
          <a:p>
            <a:pPr lvl="1">
              <a:spcBef>
                <a:spcPts val="300"/>
              </a:spcBef>
            </a:pPr>
            <a:r>
              <a:rPr lang="bg-BG" sz="2400" dirty="0" smtClean="0"/>
              <a:t>Пример: специална нишка чака действие на потребителя и инициира други нишки в зависимост от действието и текущия контекст на програмата.</a:t>
            </a:r>
          </a:p>
          <a:p>
            <a:pPr lvl="0">
              <a:spcBef>
                <a:spcPts val="300"/>
              </a:spcBef>
            </a:pPr>
            <a:r>
              <a:rPr lang="bg-BG" sz="2800" dirty="0" smtClean="0"/>
              <a:t>Голям дял от проблеми са конкурентни по своя характер и не могат да бъдат реализирани адекватно като последователно изпълнение.</a:t>
            </a:r>
          </a:p>
          <a:p>
            <a:pPr lvl="1">
              <a:spcBef>
                <a:spcPts val="300"/>
              </a:spcBef>
            </a:pPr>
            <a:r>
              <a:rPr lang="bg-BG" sz="2400" dirty="0" smtClean="0"/>
              <a:t>Пример: мултимедийни приложения.</a:t>
            </a:r>
            <a:endParaRPr lang="bg-BG" sz="2400" dirty="0"/>
          </a:p>
        </p:txBody>
      </p:sp>
    </p:spTree>
    <p:extLst>
      <p:ext uri="{BB962C8B-B14F-4D97-AF65-F5344CB8AC3E}">
        <p14:creationId xmlns:p14="http://schemas.microsoft.com/office/powerpoint/2010/main" val="346454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a:t>Защо конкурентно </a:t>
            </a:r>
            <a:r>
              <a:rPr lang="bg-BG" dirty="0" smtClean="0"/>
              <a:t>програмиран</a:t>
            </a:r>
            <a:r>
              <a:rPr lang="en-US" dirty="0" smtClean="0"/>
              <a:t>e</a:t>
            </a:r>
            <a:r>
              <a:rPr lang="en-GB" dirty="0" smtClean="0"/>
              <a:t>? </a:t>
            </a:r>
            <a:endParaRPr lang="en-US" dirty="0"/>
          </a:p>
        </p:txBody>
      </p:sp>
      <p:sp>
        <p:nvSpPr>
          <p:cNvPr id="3" name="Content Placeholder 2"/>
          <p:cNvSpPr>
            <a:spLocks noGrp="1"/>
          </p:cNvSpPr>
          <p:nvPr>
            <p:ph idx="1"/>
          </p:nvPr>
        </p:nvSpPr>
        <p:spPr/>
        <p:txBody>
          <a:bodyPr>
            <a:noAutofit/>
          </a:bodyPr>
          <a:lstStyle/>
          <a:p>
            <a:pPr marL="347663" lvl="1" indent="-347663">
              <a:spcBef>
                <a:spcPts val="1400"/>
              </a:spcBef>
              <a:buSzPct val="70000"/>
              <a:buFont typeface="Wingdings" panose="05000000000000000000" pitchFamily="2" charset="2"/>
              <a:buChar char="Ä"/>
            </a:pPr>
            <a:r>
              <a:rPr lang="bg-BG" dirty="0"/>
              <a:t>Конкурентните програми </a:t>
            </a:r>
            <a:r>
              <a:rPr lang="bg-BG" dirty="0" smtClean="0"/>
              <a:t>„естествено</a:t>
            </a:r>
            <a:r>
              <a:rPr lang="bg-BG" dirty="0"/>
              <a:t>“ </a:t>
            </a:r>
            <a:r>
              <a:rPr lang="bg-BG" dirty="0" smtClean="0"/>
              <a:t>координират </a:t>
            </a:r>
            <a:r>
              <a:rPr lang="bg-BG" dirty="0"/>
              <a:t>работата на система с разпределените </a:t>
            </a:r>
            <a:r>
              <a:rPr lang="bg-BG" dirty="0" smtClean="0"/>
              <a:t>услуги, </a:t>
            </a:r>
            <a:r>
              <a:rPr lang="bg-BG" sz="2800" dirty="0" smtClean="0"/>
              <a:t>конкурентостта увеличава сложност при разработката:</a:t>
            </a:r>
          </a:p>
          <a:p>
            <a:pPr lvl="1"/>
            <a:r>
              <a:rPr lang="bg-BG" sz="2400" dirty="0" smtClean="0"/>
              <a:t>Едновременната работа на процеси може да компрометират споделените данни, т.е. намалява се </a:t>
            </a:r>
            <a:r>
              <a:rPr lang="bg-BG" sz="2400" dirty="0" smtClean="0">
                <a:effectLst>
                  <a:outerShdw blurRad="38100" dist="38100" dir="2700000" algn="tl">
                    <a:srgbClr val="000000">
                      <a:alpha val="43137"/>
                    </a:srgbClr>
                  </a:outerShdw>
                </a:effectLst>
              </a:rPr>
              <a:t>нивото на безопасност </a:t>
            </a:r>
            <a:r>
              <a:rPr lang="bg-BG" sz="2400" dirty="0" smtClean="0"/>
              <a:t>(</a:t>
            </a:r>
            <a:r>
              <a:rPr lang="bg-BG" sz="2400" dirty="0" err="1" smtClean="0"/>
              <a:t>англ</a:t>
            </a:r>
            <a:r>
              <a:rPr lang="bg-BG" sz="2400" dirty="0" smtClean="0"/>
              <a:t>. Safety</a:t>
            </a:r>
            <a:r>
              <a:rPr lang="bg-BG" sz="2400" dirty="0" smtClean="0">
                <a:effectLst>
                  <a:outerShdw blurRad="38100" dist="38100" dir="2700000" algn="tl">
                    <a:srgbClr val="000000">
                      <a:alpha val="43137"/>
                    </a:srgbClr>
                  </a:outerShdw>
                </a:effectLst>
              </a:rPr>
              <a:t>)</a:t>
            </a:r>
            <a:endParaRPr lang="bg-BG" sz="2400" dirty="0" smtClean="0"/>
          </a:p>
          <a:p>
            <a:pPr lvl="1"/>
            <a:r>
              <a:rPr lang="bg-BG" sz="2400" dirty="0" smtClean="0"/>
              <a:t>Процесите могат да „</a:t>
            </a:r>
            <a:r>
              <a:rPr lang="bg-BG" sz="2400" dirty="0" smtClean="0">
                <a:effectLst>
                  <a:outerShdw blurRad="38100" dist="38100" dir="2700000" algn="tl">
                    <a:srgbClr val="000000">
                      <a:alpha val="43137"/>
                    </a:srgbClr>
                  </a:outerShdw>
                </a:effectLst>
              </a:rPr>
              <a:t>гладуват</a:t>
            </a:r>
            <a:r>
              <a:rPr lang="bg-BG" sz="2400" dirty="0" smtClean="0"/>
              <a:t>“ (</a:t>
            </a:r>
            <a:r>
              <a:rPr lang="bg-BG" sz="2400" dirty="0" err="1" smtClean="0"/>
              <a:t>англ</a:t>
            </a:r>
            <a:r>
              <a:rPr lang="bg-BG" sz="2400" dirty="0" smtClean="0"/>
              <a:t>. </a:t>
            </a:r>
            <a:r>
              <a:rPr lang="en-US" sz="2400" dirty="0" smtClean="0"/>
              <a:t>Starvation</a:t>
            </a:r>
            <a:r>
              <a:rPr lang="bg-BG" sz="2400" dirty="0" smtClean="0"/>
              <a:t>) докато чакат достъп до даден ресурс, ако не са правилно координирани.</a:t>
            </a:r>
          </a:p>
          <a:p>
            <a:pPr lvl="1"/>
            <a:r>
              <a:rPr lang="bg-BG" sz="2400" dirty="0" smtClean="0">
                <a:effectLst>
                  <a:outerShdw blurRad="38100" dist="38100" dir="2700000" algn="tl">
                    <a:srgbClr val="000000">
                      <a:alpha val="43137"/>
                    </a:srgbClr>
                  </a:outerShdw>
                </a:effectLst>
              </a:rPr>
              <a:t>Няма</a:t>
            </a:r>
            <a:r>
              <a:rPr lang="bg-BG" sz="2400" dirty="0" smtClean="0"/>
              <a:t> </a:t>
            </a:r>
            <a:r>
              <a:rPr lang="bg-BG" sz="2400" dirty="0" smtClean="0">
                <a:effectLst>
                  <a:outerShdw blurRad="38100" dist="38100" dir="2700000" algn="tl">
                    <a:srgbClr val="000000">
                      <a:alpha val="43137"/>
                    </a:srgbClr>
                  </a:outerShdw>
                </a:effectLst>
              </a:rPr>
              <a:t>детерминизъм</a:t>
            </a:r>
            <a:r>
              <a:rPr lang="bg-BG" sz="2400" dirty="0" smtClean="0"/>
              <a:t>: една и съща програма, изпълнявана два пъти, може да даде различни резултати</a:t>
            </a:r>
          </a:p>
          <a:p>
            <a:pPr lvl="1"/>
            <a:r>
              <a:rPr lang="bg-BG" sz="2400" dirty="0" smtClean="0"/>
              <a:t>Увеличава </a:t>
            </a:r>
            <a:r>
              <a:rPr lang="bg-BG" sz="2400" dirty="0" smtClean="0">
                <a:effectLst>
                  <a:outerShdw blurRad="38100" dist="38100" dir="2700000" algn="tl">
                    <a:srgbClr val="000000">
                      <a:alpha val="43137"/>
                    </a:srgbClr>
                  </a:outerShdw>
                </a:effectLst>
              </a:rPr>
              <a:t>системното натоварване </a:t>
            </a:r>
            <a:r>
              <a:rPr lang="bg-BG" sz="2400" dirty="0" smtClean="0"/>
              <a:t>(</a:t>
            </a:r>
            <a:r>
              <a:rPr lang="bg-BG" sz="2400" dirty="0" err="1" smtClean="0"/>
              <a:t>англ</a:t>
            </a:r>
            <a:r>
              <a:rPr lang="bg-BG" sz="2400" dirty="0" smtClean="0"/>
              <a:t>. </a:t>
            </a:r>
            <a:r>
              <a:rPr lang="bg-BG" sz="2400" dirty="0" err="1" smtClean="0">
                <a:effectLst>
                  <a:outerShdw blurRad="38100" dist="38100" dir="2700000" algn="tl">
                    <a:srgbClr val="000000">
                      <a:alpha val="43137"/>
                    </a:srgbClr>
                  </a:outerShdw>
                </a:effectLst>
              </a:rPr>
              <a:t>Run-time</a:t>
            </a:r>
            <a:r>
              <a:rPr lang="bg-BG" sz="2400" dirty="0" smtClean="0">
                <a:effectLst>
                  <a:outerShdw blurRad="38100" dist="38100" dir="2700000" algn="tl">
                    <a:srgbClr val="000000">
                      <a:alpha val="43137"/>
                    </a:srgbClr>
                  </a:outerShdw>
                </a:effectLst>
              </a:rPr>
              <a:t> </a:t>
            </a:r>
            <a:r>
              <a:rPr lang="bg-BG" sz="2400" dirty="0" err="1" smtClean="0">
                <a:effectLst>
                  <a:outerShdw blurRad="38100" dist="38100" dir="2700000" algn="tl">
                    <a:srgbClr val="000000">
                      <a:alpha val="43137"/>
                    </a:srgbClr>
                  </a:outerShdw>
                </a:effectLst>
              </a:rPr>
              <a:t>overhead</a:t>
            </a:r>
            <a:r>
              <a:rPr lang="bg-BG" sz="2400" dirty="0" smtClean="0"/>
              <a:t>)</a:t>
            </a:r>
          </a:p>
          <a:p>
            <a:pPr lvl="2"/>
            <a:r>
              <a:rPr lang="bg-BG" sz="2000" dirty="0" smtClean="0"/>
              <a:t>Създаването на процесите и нишки, превключването на контекста, управлението на достъпа до ресурсите, както и другите допълнителни действия изискват много допълнителни системни ресурси, т.е. отнема се от времето за работа на основните процеси.</a:t>
            </a:r>
          </a:p>
        </p:txBody>
      </p:sp>
    </p:spTree>
    <p:extLst>
      <p:ext uri="{BB962C8B-B14F-4D97-AF65-F5344CB8AC3E}">
        <p14:creationId xmlns:p14="http://schemas.microsoft.com/office/powerpoint/2010/main" val="826298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Защо конкурентно програмиран</a:t>
            </a:r>
            <a:r>
              <a:rPr lang="en-US" dirty="0"/>
              <a:t>e</a:t>
            </a:r>
            <a:r>
              <a:rPr lang="en-GB" dirty="0"/>
              <a:t>? </a:t>
            </a:r>
            <a:endParaRPr lang="en-US" dirty="0"/>
          </a:p>
        </p:txBody>
      </p:sp>
      <p:sp>
        <p:nvSpPr>
          <p:cNvPr id="3" name="Content Placeholder 2"/>
          <p:cNvSpPr>
            <a:spLocks noGrp="1"/>
          </p:cNvSpPr>
          <p:nvPr>
            <p:ph idx="1"/>
          </p:nvPr>
        </p:nvSpPr>
        <p:spPr>
          <a:xfrm>
            <a:off x="908662" y="1143000"/>
            <a:ext cx="10900750" cy="5486400"/>
          </a:xfrm>
        </p:spPr>
        <p:txBody>
          <a:bodyPr>
            <a:noAutofit/>
          </a:bodyPr>
          <a:lstStyle/>
          <a:p>
            <a:pPr>
              <a:spcBef>
                <a:spcPts val="300"/>
              </a:spcBef>
            </a:pPr>
            <a:r>
              <a:rPr lang="bg-BG" sz="2800" dirty="0" smtClean="0"/>
              <a:t>Изпълнението на конкурентната програма може да бъде реализирано по три основни начина:</a:t>
            </a:r>
          </a:p>
          <a:p>
            <a:pPr lvl="1">
              <a:spcBef>
                <a:spcPts val="300"/>
              </a:spcBef>
            </a:pPr>
            <a:r>
              <a:rPr lang="bg-BG" sz="2400" dirty="0" err="1" smtClean="0"/>
              <a:t>Мултипрограмен</a:t>
            </a:r>
            <a:r>
              <a:rPr lang="bg-BG" sz="2400" dirty="0" smtClean="0"/>
              <a:t> подход (</a:t>
            </a:r>
            <a:r>
              <a:rPr lang="bg-BG" sz="2400" dirty="0" err="1" smtClean="0"/>
              <a:t>англ</a:t>
            </a:r>
            <a:r>
              <a:rPr lang="bg-BG" sz="2400" dirty="0" smtClean="0"/>
              <a:t>. </a:t>
            </a:r>
            <a:r>
              <a:rPr lang="bg-BG" sz="2400" dirty="0" err="1" smtClean="0">
                <a:effectLst>
                  <a:outerShdw blurRad="38100" dist="38100" dir="2700000" algn="tl">
                    <a:srgbClr val="000000">
                      <a:alpha val="43137"/>
                    </a:srgbClr>
                  </a:outerShdw>
                </a:effectLst>
              </a:rPr>
              <a:t>Multiprogramming</a:t>
            </a:r>
            <a:r>
              <a:rPr lang="bg-BG" sz="2400" dirty="0" smtClean="0"/>
              <a:t>) </a:t>
            </a:r>
          </a:p>
          <a:p>
            <a:pPr lvl="2">
              <a:spcBef>
                <a:spcPts val="300"/>
              </a:spcBef>
            </a:pPr>
            <a:r>
              <a:rPr lang="bg-BG" sz="2000" dirty="0" smtClean="0"/>
              <a:t>Работещите процесите споделят един или повече </a:t>
            </a:r>
            <a:r>
              <a:rPr lang="bg-BG" sz="2000" dirty="0" err="1" smtClean="0"/>
              <a:t>процесорни</a:t>
            </a:r>
            <a:r>
              <a:rPr lang="bg-BG" sz="2000" dirty="0" smtClean="0"/>
              <a:t> елемента </a:t>
            </a:r>
          </a:p>
          <a:p>
            <a:pPr lvl="1">
              <a:spcBef>
                <a:spcPts val="300"/>
              </a:spcBef>
            </a:pPr>
            <a:r>
              <a:rPr lang="bg-BG" sz="2400" dirty="0" err="1" smtClean="0"/>
              <a:t>Многозадачен</a:t>
            </a:r>
            <a:r>
              <a:rPr lang="bg-BG" sz="2400" dirty="0" smtClean="0"/>
              <a:t>/</a:t>
            </a:r>
            <a:r>
              <a:rPr lang="bg-BG" sz="2400" dirty="0" err="1" smtClean="0"/>
              <a:t>многопроцесен</a:t>
            </a:r>
            <a:r>
              <a:rPr lang="bg-BG" sz="2400" dirty="0" smtClean="0"/>
              <a:t> подход (</a:t>
            </a:r>
            <a:r>
              <a:rPr lang="bg-BG" sz="2400" dirty="0" err="1" smtClean="0"/>
              <a:t>англ</a:t>
            </a:r>
            <a:r>
              <a:rPr lang="bg-BG" sz="2400" dirty="0" smtClean="0"/>
              <a:t>. </a:t>
            </a:r>
            <a:r>
              <a:rPr lang="bg-BG" sz="2400" dirty="0" err="1" smtClean="0">
                <a:effectLst>
                  <a:outerShdw blurRad="38100" dist="38100" dir="2700000" algn="tl">
                    <a:srgbClr val="000000">
                      <a:alpha val="43137"/>
                    </a:srgbClr>
                  </a:outerShdw>
                </a:effectLst>
              </a:rPr>
              <a:t>Multiprocessing</a:t>
            </a:r>
            <a:r>
              <a:rPr lang="bg-BG" sz="2400" dirty="0" smtClean="0"/>
              <a:t>)</a:t>
            </a:r>
          </a:p>
          <a:p>
            <a:pPr lvl="2">
              <a:spcBef>
                <a:spcPts val="300"/>
              </a:spcBef>
            </a:pPr>
            <a:r>
              <a:rPr lang="bg-BG" sz="2000" dirty="0" smtClean="0"/>
              <a:t>Всеки процес работи на собствения си процесор, но всички процеси споделят обща памет</a:t>
            </a:r>
          </a:p>
          <a:p>
            <a:pPr lvl="1">
              <a:spcBef>
                <a:spcPts val="300"/>
              </a:spcBef>
            </a:pPr>
            <a:r>
              <a:rPr lang="bg-BG" sz="2400" dirty="0" smtClean="0"/>
              <a:t>Разпределена обработка (</a:t>
            </a:r>
            <a:r>
              <a:rPr lang="bg-BG" sz="2400" dirty="0" err="1" smtClean="0"/>
              <a:t>англ</a:t>
            </a:r>
            <a:r>
              <a:rPr lang="bg-BG" sz="2400" dirty="0" smtClean="0"/>
              <a:t>. </a:t>
            </a:r>
            <a:r>
              <a:rPr lang="bg-BG" sz="2400" dirty="0" err="1" smtClean="0">
                <a:effectLst>
                  <a:outerShdw blurRad="38100" dist="38100" dir="2700000" algn="tl">
                    <a:srgbClr val="000000">
                      <a:alpha val="43137"/>
                    </a:srgbClr>
                  </a:outerShdw>
                </a:effectLst>
              </a:rPr>
              <a:t>Distributed</a:t>
            </a:r>
            <a:r>
              <a:rPr lang="bg-BG" sz="2400" dirty="0" smtClean="0">
                <a:effectLst>
                  <a:outerShdw blurRad="38100" dist="38100" dir="2700000" algn="tl">
                    <a:srgbClr val="000000">
                      <a:alpha val="43137"/>
                    </a:srgbClr>
                  </a:outerShdw>
                </a:effectLst>
              </a:rPr>
              <a:t> </a:t>
            </a:r>
            <a:r>
              <a:rPr lang="bg-BG" sz="2400" dirty="0" err="1" smtClean="0">
                <a:effectLst>
                  <a:outerShdw blurRad="38100" dist="38100" dir="2700000" algn="tl">
                    <a:srgbClr val="000000">
                      <a:alpha val="43137"/>
                    </a:srgbClr>
                  </a:outerShdw>
                </a:effectLst>
              </a:rPr>
              <a:t>processing</a:t>
            </a:r>
            <a:r>
              <a:rPr lang="bg-BG" sz="2400" dirty="0" smtClean="0"/>
              <a:t>)</a:t>
            </a:r>
          </a:p>
          <a:p>
            <a:pPr lvl="2">
              <a:spcBef>
                <a:spcPts val="300"/>
              </a:spcBef>
            </a:pPr>
            <a:r>
              <a:rPr lang="bg-BG" sz="2000" dirty="0" smtClean="0"/>
              <a:t>Всеки процес работи на своя собствен процесор, свързан чрез мрежа с всички други.</a:t>
            </a:r>
          </a:p>
        </p:txBody>
      </p:sp>
    </p:spTree>
    <p:extLst>
      <p:ext uri="{BB962C8B-B14F-4D97-AF65-F5344CB8AC3E}">
        <p14:creationId xmlns:p14="http://schemas.microsoft.com/office/powerpoint/2010/main" val="3463112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Програма, процес, задача, нишка</a:t>
            </a:r>
            <a:endParaRPr lang="en-US" dirty="0"/>
          </a:p>
        </p:txBody>
      </p:sp>
      <p:sp>
        <p:nvSpPr>
          <p:cNvPr id="3" name="Content Placeholder 2"/>
          <p:cNvSpPr>
            <a:spLocks noGrp="1"/>
          </p:cNvSpPr>
          <p:nvPr>
            <p:ph idx="1"/>
          </p:nvPr>
        </p:nvSpPr>
        <p:spPr/>
        <p:txBody>
          <a:bodyPr>
            <a:normAutofit fontScale="92500" lnSpcReduction="10000"/>
          </a:bodyPr>
          <a:lstStyle/>
          <a:p>
            <a:r>
              <a:rPr lang="bg-BG" sz="2800" dirty="0" smtClean="0">
                <a:effectLst>
                  <a:outerShdw blurRad="38100" dist="38100" dir="2700000" algn="tl">
                    <a:srgbClr val="000000">
                      <a:alpha val="43137"/>
                    </a:srgbClr>
                  </a:outerShdw>
                </a:effectLst>
              </a:rPr>
              <a:t>Програмата </a:t>
            </a:r>
            <a:r>
              <a:rPr lang="bg-BG" sz="2800" dirty="0" smtClean="0"/>
              <a:t>(</a:t>
            </a:r>
            <a:r>
              <a:rPr lang="bg-BG" sz="2800" dirty="0" err="1" smtClean="0"/>
              <a:t>англ</a:t>
            </a:r>
            <a:r>
              <a:rPr lang="bg-BG" sz="2800" dirty="0" smtClean="0"/>
              <a:t>. </a:t>
            </a:r>
            <a:r>
              <a:rPr lang="bg-BG" sz="2800" dirty="0" err="1" smtClean="0"/>
              <a:t>Program</a:t>
            </a:r>
            <a:r>
              <a:rPr lang="bg-BG" sz="2800" dirty="0" smtClean="0"/>
              <a:t>)</a:t>
            </a:r>
            <a:r>
              <a:rPr lang="bg-BG" sz="2800" dirty="0" smtClean="0">
                <a:effectLst>
                  <a:outerShdw blurRad="38100" dist="38100" dir="2700000" algn="tl">
                    <a:srgbClr val="000000">
                      <a:alpha val="43137"/>
                    </a:srgbClr>
                  </a:outerShdw>
                </a:effectLst>
              </a:rPr>
              <a:t> </a:t>
            </a:r>
            <a:r>
              <a:rPr lang="bg-BG" sz="2800" dirty="0" smtClean="0"/>
              <a:t>е базов термин и описва като всеки изпълним файл в дадената ОС.</a:t>
            </a:r>
          </a:p>
          <a:p>
            <a:pPr lvl="1"/>
            <a:r>
              <a:rPr lang="bg-BG" sz="2400" dirty="0" smtClean="0"/>
              <a:t>Реално, това е определен набор от инструкции, написани с намерението да се извърши конкретна обработка. </a:t>
            </a:r>
          </a:p>
          <a:p>
            <a:pPr lvl="1"/>
            <a:r>
              <a:rPr lang="bg-BG" sz="2400" dirty="0" smtClean="0"/>
              <a:t>Програмата се намира и е пасивна единица, която не изчезва когато ОС се рестартира – най-често тя се съхранява като файл във външната памет.</a:t>
            </a:r>
          </a:p>
          <a:p>
            <a:r>
              <a:rPr lang="bg-BG" sz="2800" dirty="0" smtClean="0">
                <a:effectLst>
                  <a:outerShdw blurRad="38100" dist="38100" dir="2700000" algn="tl">
                    <a:srgbClr val="000000">
                      <a:alpha val="43137"/>
                    </a:srgbClr>
                  </a:outerShdw>
                </a:effectLst>
              </a:rPr>
              <a:t>Процесът</a:t>
            </a:r>
            <a:r>
              <a:rPr lang="bg-BG" sz="2800" dirty="0" smtClean="0"/>
              <a:t> е изпълнявано копие на програма, което е заредено в оперативната памет (англ. </a:t>
            </a:r>
            <a:r>
              <a:rPr lang="bg-BG" sz="2800" dirty="0" err="1" smtClean="0"/>
              <a:t>Process</a:t>
            </a:r>
            <a:r>
              <a:rPr lang="bg-BG" sz="2800" dirty="0" smtClean="0"/>
              <a:t>)</a:t>
            </a:r>
          </a:p>
          <a:p>
            <a:pPr lvl="1"/>
            <a:r>
              <a:rPr lang="bg-BG" sz="2400" dirty="0" smtClean="0"/>
              <a:t>Най-често една програма може да има няколко стартирани копия от ОС (т.е. съотношението „програма:процес“ е 1 : N). </a:t>
            </a:r>
          </a:p>
          <a:p>
            <a:pPr lvl="2"/>
            <a:r>
              <a:rPr lang="bg-BG" sz="2000" dirty="0" smtClean="0"/>
              <a:t>Много процеси могат да се изпълняват успоредно.</a:t>
            </a:r>
          </a:p>
          <a:p>
            <a:pPr lvl="2"/>
            <a:r>
              <a:rPr lang="bg-BG" sz="2000" dirty="0" smtClean="0"/>
              <a:t>“</a:t>
            </a:r>
            <a:r>
              <a:rPr lang="en-US" sz="2000" dirty="0" err="1" smtClean="0"/>
              <a:t>S</a:t>
            </a:r>
            <a:r>
              <a:rPr lang="bg-BG" sz="2000" dirty="0" err="1" smtClean="0"/>
              <a:t>ingleton</a:t>
            </a:r>
            <a:r>
              <a:rPr lang="bg-BG" sz="2000" dirty="0" smtClean="0"/>
              <a:t>” е специална форма на програма, при което може да има </a:t>
            </a:r>
            <a:r>
              <a:rPr lang="bg-BG" sz="2000" i="1" dirty="0" smtClean="0">
                <a:effectLst>
                  <a:outerShdw blurRad="38100" dist="38100" dir="2700000" algn="tl">
                    <a:srgbClr val="000000">
                      <a:alpha val="43137"/>
                    </a:srgbClr>
                  </a:outerShdw>
                </a:effectLst>
              </a:rPr>
              <a:t>само едно </a:t>
            </a:r>
            <a:r>
              <a:rPr lang="bg-BG" sz="2000" dirty="0" smtClean="0"/>
              <a:t>стартирано копие. В </a:t>
            </a:r>
            <a:r>
              <a:rPr lang="bg-BG" sz="2000" dirty="0" err="1" smtClean="0"/>
              <a:t>мякои</a:t>
            </a:r>
            <a:r>
              <a:rPr lang="bg-BG" sz="2000" dirty="0" smtClean="0"/>
              <a:t> ОС може да има и други допълнителни характеристики на </a:t>
            </a:r>
            <a:r>
              <a:rPr lang="en-US" sz="2000" dirty="0" smtClean="0"/>
              <a:t>singleton-</a:t>
            </a:r>
            <a:r>
              <a:rPr lang="bg-BG" sz="2000" dirty="0" smtClean="0"/>
              <a:t>програмите.</a:t>
            </a:r>
          </a:p>
          <a:p>
            <a:pPr lvl="1"/>
            <a:r>
              <a:rPr lang="bg-BG" sz="2400" dirty="0" smtClean="0"/>
              <a:t>Процесът се намира в основната памет, т.е. </a:t>
            </a:r>
            <a:r>
              <a:rPr lang="bg-BG" sz="2400" dirty="0"/>
              <a:t>при всяко рестартиране на </a:t>
            </a:r>
            <a:r>
              <a:rPr lang="bg-BG" sz="2400" dirty="0" smtClean="0"/>
              <a:t>машината той „изчезва“. Ако може да се възстанови до състоянието на последната активизация, то този процес се нарича „</a:t>
            </a:r>
            <a:r>
              <a:rPr lang="bg-BG" sz="2400" i="1" dirty="0" smtClean="0">
                <a:effectLst>
                  <a:outerShdw blurRad="38100" dist="38100" dir="2700000" algn="tl">
                    <a:srgbClr val="000000">
                      <a:alpha val="43137"/>
                    </a:srgbClr>
                  </a:outerShdw>
                </a:effectLst>
              </a:rPr>
              <a:t>процес с история</a:t>
            </a:r>
            <a:r>
              <a:rPr lang="bg-BG" sz="2400" dirty="0" smtClean="0"/>
              <a:t>“.</a:t>
            </a:r>
          </a:p>
        </p:txBody>
      </p:sp>
    </p:spTree>
    <p:extLst>
      <p:ext uri="{BB962C8B-B14F-4D97-AF65-F5344CB8AC3E}">
        <p14:creationId xmlns:p14="http://schemas.microsoft.com/office/powerpoint/2010/main" val="497163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Програма, процес, задача, нишка</a:t>
            </a:r>
            <a:endParaRPr lang="en-US" dirty="0"/>
          </a:p>
        </p:txBody>
      </p:sp>
      <p:sp>
        <p:nvSpPr>
          <p:cNvPr id="3" name="Content Placeholder 2"/>
          <p:cNvSpPr>
            <a:spLocks noGrp="1"/>
          </p:cNvSpPr>
          <p:nvPr>
            <p:ph idx="1"/>
          </p:nvPr>
        </p:nvSpPr>
        <p:spPr>
          <a:xfrm>
            <a:off x="908662" y="1143000"/>
            <a:ext cx="10748350" cy="5410200"/>
          </a:xfrm>
        </p:spPr>
        <p:txBody>
          <a:bodyPr>
            <a:normAutofit fontScale="85000" lnSpcReduction="10000"/>
          </a:bodyPr>
          <a:lstStyle/>
          <a:p>
            <a:pPr>
              <a:lnSpc>
                <a:spcPct val="110000"/>
              </a:lnSpc>
              <a:spcBef>
                <a:spcPts val="300"/>
              </a:spcBef>
            </a:pPr>
            <a:r>
              <a:rPr lang="bg-BG" sz="2800" dirty="0">
                <a:effectLst>
                  <a:outerShdw blurRad="38100" dist="38100" dir="2700000" algn="tl">
                    <a:srgbClr val="000000">
                      <a:alpha val="43137"/>
                    </a:srgbClr>
                  </a:outerShdw>
                </a:effectLst>
              </a:rPr>
              <a:t>Задачата</a:t>
            </a:r>
            <a:r>
              <a:rPr lang="bg-BG" sz="2800" dirty="0"/>
              <a:t> (</a:t>
            </a:r>
            <a:r>
              <a:rPr lang="bg-BG" sz="2800" dirty="0" err="1"/>
              <a:t>англ</a:t>
            </a:r>
            <a:r>
              <a:rPr lang="bg-BG" sz="2800" dirty="0"/>
              <a:t>. </a:t>
            </a:r>
            <a:r>
              <a:rPr lang="bg-BG" sz="2800" dirty="0" err="1"/>
              <a:t>Task</a:t>
            </a:r>
            <a:r>
              <a:rPr lang="bg-BG" sz="2800" dirty="0"/>
              <a:t>) е специфична форма на </a:t>
            </a:r>
            <a:r>
              <a:rPr lang="bg-BG" sz="2800" dirty="0" smtClean="0"/>
              <a:t>процес.</a:t>
            </a:r>
          </a:p>
          <a:p>
            <a:pPr lvl="1">
              <a:lnSpc>
                <a:spcPct val="110000"/>
              </a:lnSpc>
              <a:spcBef>
                <a:spcPts val="300"/>
              </a:spcBef>
            </a:pPr>
            <a:r>
              <a:rPr lang="ru-RU" sz="2400" dirty="0"/>
              <a:t>Задачата е </a:t>
            </a:r>
            <a:r>
              <a:rPr lang="ru-RU" sz="2400" dirty="0" smtClean="0"/>
              <a:t>диспечируема едицица, която реализира логически обособена подчаст </a:t>
            </a:r>
            <a:r>
              <a:rPr lang="ru-RU" sz="2400" dirty="0"/>
              <a:t>от работа (англ. </a:t>
            </a:r>
            <a:r>
              <a:rPr lang="en-US" sz="2400" dirty="0"/>
              <a:t>Job)</a:t>
            </a:r>
            <a:r>
              <a:rPr lang="bg-BG" sz="2400" dirty="0"/>
              <a:t>, заради която е създадена програмата</a:t>
            </a:r>
            <a:r>
              <a:rPr lang="ru-RU" sz="2400" dirty="0"/>
              <a:t>. </a:t>
            </a:r>
            <a:endParaRPr lang="bg-BG" sz="2800" dirty="0"/>
          </a:p>
          <a:p>
            <a:pPr lvl="1">
              <a:lnSpc>
                <a:spcPct val="110000"/>
              </a:lnSpc>
              <a:spcBef>
                <a:spcPts val="300"/>
              </a:spcBef>
            </a:pPr>
            <a:r>
              <a:rPr lang="bg-BG" sz="2400" dirty="0" smtClean="0"/>
              <a:t>Разделянето на работата на задачи намалява </a:t>
            </a:r>
            <a:r>
              <a:rPr lang="bg-BG" sz="2400" dirty="0"/>
              <a:t>сложността на проблемите, които се </a:t>
            </a:r>
            <a:r>
              <a:rPr lang="bg-BG" sz="2400" dirty="0" smtClean="0"/>
              <a:t>решават – намалява се сложността по управление  контрол на качеството на решението.</a:t>
            </a:r>
            <a:endParaRPr lang="bg-BG" sz="2400" dirty="0"/>
          </a:p>
          <a:p>
            <a:pPr lvl="1">
              <a:lnSpc>
                <a:spcPct val="110000"/>
              </a:lnSpc>
              <a:spcBef>
                <a:spcPts val="300"/>
              </a:spcBef>
            </a:pPr>
            <a:r>
              <a:rPr lang="bg-BG" sz="2400" dirty="0" smtClean="0"/>
              <a:t>Нивото на </a:t>
            </a:r>
            <a:r>
              <a:rPr lang="bg-BG" sz="2400" dirty="0" err="1" smtClean="0"/>
              <a:t>диспечируемост</a:t>
            </a:r>
            <a:r>
              <a:rPr lang="bg-BG" sz="2400" dirty="0" smtClean="0"/>
              <a:t> може да бъде „процес“ или „нишка“ (много по-рядко е на ниво „влакно“).</a:t>
            </a:r>
            <a:endParaRPr lang="bg-BG" sz="2400" dirty="0"/>
          </a:p>
          <a:p>
            <a:pPr>
              <a:lnSpc>
                <a:spcPct val="110000"/>
              </a:lnSpc>
              <a:spcBef>
                <a:spcPts val="300"/>
              </a:spcBef>
            </a:pPr>
            <a:r>
              <a:rPr lang="bg-BG" sz="2800" dirty="0" smtClean="0">
                <a:effectLst>
                  <a:outerShdw blurRad="38100" dist="38100" dir="2700000" algn="tl">
                    <a:srgbClr val="000000">
                      <a:alpha val="43137"/>
                    </a:srgbClr>
                  </a:outerShdw>
                </a:effectLst>
              </a:rPr>
              <a:t>Нишката</a:t>
            </a:r>
            <a:r>
              <a:rPr lang="bg-BG" sz="2800" dirty="0" smtClean="0"/>
              <a:t> (</a:t>
            </a:r>
            <a:r>
              <a:rPr lang="bg-BG" sz="2800" dirty="0" err="1" smtClean="0"/>
              <a:t>англ</a:t>
            </a:r>
            <a:r>
              <a:rPr lang="bg-BG" sz="2800" dirty="0" smtClean="0"/>
              <a:t>. </a:t>
            </a:r>
            <a:r>
              <a:rPr lang="bg-BG" sz="2800" dirty="0" err="1" smtClean="0"/>
              <a:t>thread</a:t>
            </a:r>
            <a:r>
              <a:rPr lang="bg-BG" sz="2800" dirty="0" smtClean="0"/>
              <a:t>) е самостоятелно </a:t>
            </a:r>
            <a:r>
              <a:rPr lang="bg-BG" sz="2800" dirty="0" err="1" smtClean="0"/>
              <a:t>диспечируем</a:t>
            </a:r>
            <a:r>
              <a:rPr lang="bg-BG" sz="2800" dirty="0" smtClean="0"/>
              <a:t> елемент в рамките на даден процес.</a:t>
            </a:r>
          </a:p>
          <a:p>
            <a:pPr lvl="1">
              <a:lnSpc>
                <a:spcPct val="110000"/>
              </a:lnSpc>
              <a:spcBef>
                <a:spcPts val="300"/>
              </a:spcBef>
            </a:pPr>
            <a:r>
              <a:rPr lang="bg-BG" sz="2400" dirty="0" smtClean="0"/>
              <a:t>Всички нишки за даде процес се създават в адресното поле на процеса-родител. </a:t>
            </a:r>
          </a:p>
          <a:p>
            <a:pPr lvl="2">
              <a:lnSpc>
                <a:spcPct val="110000"/>
              </a:lnSpc>
              <a:spcBef>
                <a:spcPts val="300"/>
              </a:spcBef>
            </a:pPr>
            <a:r>
              <a:rPr lang="bg-BG" sz="2000" dirty="0" smtClean="0"/>
              <a:t>Нишките е прието да се интерпретират като „леки“ процеси (</a:t>
            </a:r>
            <a:r>
              <a:rPr lang="bg-BG" sz="2000" i="1" dirty="0" err="1" smtClean="0"/>
              <a:t>lightweight</a:t>
            </a:r>
            <a:r>
              <a:rPr lang="bg-BG" sz="2000" i="1" dirty="0" smtClean="0"/>
              <a:t> </a:t>
            </a:r>
            <a:r>
              <a:rPr lang="bg-BG" sz="2000" i="1" dirty="0" err="1" smtClean="0"/>
              <a:t>processes</a:t>
            </a:r>
            <a:r>
              <a:rPr lang="bg-BG" sz="2000" dirty="0" smtClean="0"/>
              <a:t>)</a:t>
            </a:r>
          </a:p>
          <a:p>
            <a:pPr lvl="2">
              <a:lnSpc>
                <a:spcPct val="110000"/>
              </a:lnSpc>
              <a:spcBef>
                <a:spcPts val="300"/>
              </a:spcBef>
            </a:pPr>
            <a:r>
              <a:rPr lang="bg-BG" sz="2000" dirty="0" smtClean="0"/>
              <a:t>Един процес може да има M нишки. </a:t>
            </a:r>
          </a:p>
          <a:p>
            <a:pPr lvl="1">
              <a:lnSpc>
                <a:spcPct val="110000"/>
              </a:lnSpc>
              <a:spcBef>
                <a:spcPts val="300"/>
              </a:spcBef>
            </a:pPr>
            <a:r>
              <a:rPr lang="bg-BG" sz="2400" dirty="0" smtClean="0"/>
              <a:t>Съществената разлика между нишката и процеса е работата, за която всеки от тях се използва. </a:t>
            </a:r>
          </a:p>
          <a:p>
            <a:pPr lvl="2">
              <a:lnSpc>
                <a:spcPct val="110000"/>
              </a:lnSpc>
              <a:spcBef>
                <a:spcPts val="300"/>
              </a:spcBef>
            </a:pPr>
            <a:r>
              <a:rPr lang="bg-BG" sz="2000" dirty="0" smtClean="0"/>
              <a:t>Нишките се използват за малки и компактни задачи, докато процесите се използват за „по-тежки“ задачи.</a:t>
            </a:r>
          </a:p>
        </p:txBody>
      </p:sp>
    </p:spTree>
    <p:extLst>
      <p:ext uri="{BB962C8B-B14F-4D97-AF65-F5344CB8AC3E}">
        <p14:creationId xmlns:p14="http://schemas.microsoft.com/office/powerpoint/2010/main" val="165216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Програма, процес, задача, нишка</a:t>
            </a:r>
            <a:endParaRPr lang="en-US" dirty="0"/>
          </a:p>
        </p:txBody>
      </p:sp>
      <p:sp>
        <p:nvSpPr>
          <p:cNvPr id="3" name="Content Placeholder 2"/>
          <p:cNvSpPr>
            <a:spLocks noGrp="1"/>
          </p:cNvSpPr>
          <p:nvPr>
            <p:ph idx="1"/>
          </p:nvPr>
        </p:nvSpPr>
        <p:spPr>
          <a:xfrm>
            <a:off x="908662" y="1143000"/>
            <a:ext cx="10748350" cy="5410200"/>
          </a:xfrm>
        </p:spPr>
        <p:txBody>
          <a:bodyPr>
            <a:noAutofit/>
          </a:bodyPr>
          <a:lstStyle/>
          <a:p>
            <a:pPr>
              <a:lnSpc>
                <a:spcPct val="100000"/>
              </a:lnSpc>
              <a:spcBef>
                <a:spcPts val="300"/>
              </a:spcBef>
            </a:pPr>
            <a:r>
              <a:rPr lang="bg-BG" sz="2800" dirty="0" smtClean="0">
                <a:effectLst>
                  <a:outerShdw blurRad="38100" dist="38100" dir="2700000" algn="tl">
                    <a:srgbClr val="000000">
                      <a:alpha val="43137"/>
                    </a:srgbClr>
                  </a:outerShdw>
                </a:effectLst>
              </a:rPr>
              <a:t>Влакното </a:t>
            </a:r>
            <a:r>
              <a:rPr lang="bg-BG" sz="2800" dirty="0" smtClean="0"/>
              <a:t>(</a:t>
            </a:r>
            <a:r>
              <a:rPr lang="bg-BG" sz="2800" dirty="0" err="1" smtClean="0"/>
              <a:t>англ</a:t>
            </a:r>
            <a:r>
              <a:rPr lang="bg-BG" sz="2800" dirty="0" smtClean="0"/>
              <a:t>. </a:t>
            </a:r>
            <a:r>
              <a:rPr lang="bg-BG" sz="2800" dirty="0" err="1" smtClean="0"/>
              <a:t>fiber</a:t>
            </a:r>
            <a:r>
              <a:rPr lang="bg-BG" sz="2800" dirty="0" smtClean="0"/>
              <a:t>) е особено форма на нишка</a:t>
            </a:r>
          </a:p>
          <a:p>
            <a:pPr lvl="1">
              <a:lnSpc>
                <a:spcPct val="100000"/>
              </a:lnSpc>
              <a:spcBef>
                <a:spcPts val="300"/>
              </a:spcBef>
            </a:pPr>
            <a:r>
              <a:rPr lang="bg-BG" sz="2400" dirty="0" smtClean="0"/>
              <a:t>Влакната са още по-леки от нишките и най-често са по-лесни за програмиране.</a:t>
            </a:r>
          </a:p>
          <a:p>
            <a:pPr lvl="2">
              <a:lnSpc>
                <a:spcPct val="100000"/>
              </a:lnSpc>
              <a:spcBef>
                <a:spcPts val="300"/>
              </a:spcBef>
            </a:pPr>
            <a:r>
              <a:rPr lang="bg-BG" sz="2000" dirty="0" smtClean="0"/>
              <a:t>Те имат само код.</a:t>
            </a:r>
          </a:p>
          <a:p>
            <a:pPr lvl="2">
              <a:lnSpc>
                <a:spcPct val="100000"/>
              </a:lnSpc>
              <a:spcBef>
                <a:spcPts val="300"/>
              </a:spcBef>
            </a:pPr>
            <a:r>
              <a:rPr lang="bg-BG" sz="2000" dirty="0" smtClean="0"/>
              <a:t>Всички влакна използват общо адресно поле - най-често то е на процеса или на нишката, в който са създадени.</a:t>
            </a:r>
          </a:p>
          <a:p>
            <a:pPr lvl="2">
              <a:lnSpc>
                <a:spcPct val="100000"/>
              </a:lnSpc>
              <a:spcBef>
                <a:spcPts val="300"/>
              </a:spcBef>
            </a:pPr>
            <a:r>
              <a:rPr lang="bg-BG" sz="2000" dirty="0" smtClean="0"/>
              <a:t>Те са аналог на </a:t>
            </a:r>
            <a:r>
              <a:rPr lang="bg-BG" sz="2000" dirty="0" err="1" smtClean="0"/>
              <a:t>ко-програмите</a:t>
            </a:r>
            <a:r>
              <a:rPr lang="bg-BG" sz="2000" dirty="0" smtClean="0"/>
              <a:t>, но реализирани като конструкции на ОС.</a:t>
            </a:r>
          </a:p>
          <a:p>
            <a:pPr lvl="1">
              <a:lnSpc>
                <a:spcPct val="100000"/>
              </a:lnSpc>
              <a:spcBef>
                <a:spcPts val="300"/>
              </a:spcBef>
            </a:pPr>
            <a:r>
              <a:rPr lang="bg-BG" sz="2400" dirty="0" smtClean="0"/>
              <a:t>Не всички ОС осигуряват този механизъм</a:t>
            </a:r>
          </a:p>
          <a:p>
            <a:pPr lvl="2">
              <a:lnSpc>
                <a:spcPct val="100000"/>
              </a:lnSpc>
              <a:spcBef>
                <a:spcPts val="300"/>
              </a:spcBef>
            </a:pPr>
            <a:r>
              <a:rPr lang="bg-BG" sz="2000" dirty="0" smtClean="0"/>
              <a:t>Основен техен проблем са машини с множество процесори – в този случаи се губят повечето от основните ползи от тях.</a:t>
            </a:r>
          </a:p>
          <a:p>
            <a:pPr lvl="2">
              <a:lnSpc>
                <a:spcPct val="100000"/>
              </a:lnSpc>
              <a:spcBef>
                <a:spcPts val="300"/>
              </a:spcBef>
            </a:pPr>
            <a:r>
              <a:rPr lang="bg-BG" sz="2000" dirty="0" smtClean="0"/>
              <a:t>При отсъствие на „влакна“ в ОС, приложение може да реализира своя собствена версия на влакна, като използва повтарящи се извиквания до специфично създадени функции.</a:t>
            </a:r>
            <a:endParaRPr lang="bg-BG" sz="1600" dirty="0" smtClean="0"/>
          </a:p>
          <a:p>
            <a:pPr lvl="2">
              <a:lnSpc>
                <a:spcPct val="100000"/>
              </a:lnSpc>
              <a:spcBef>
                <a:spcPts val="300"/>
              </a:spcBef>
            </a:pPr>
            <a:endParaRPr lang="bg-BG" sz="2000" dirty="0"/>
          </a:p>
        </p:txBody>
      </p:sp>
    </p:spTree>
    <p:extLst>
      <p:ext uri="{BB962C8B-B14F-4D97-AF65-F5344CB8AC3E}">
        <p14:creationId xmlns:p14="http://schemas.microsoft.com/office/powerpoint/2010/main" val="244302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Програма, процес, задача, нишка</a:t>
            </a:r>
            <a:endParaRPr lang="en-US" dirty="0"/>
          </a:p>
        </p:txBody>
      </p:sp>
      <p:sp>
        <p:nvSpPr>
          <p:cNvPr id="3" name="Content Placeholder 2"/>
          <p:cNvSpPr>
            <a:spLocks noGrp="1"/>
          </p:cNvSpPr>
          <p:nvPr>
            <p:ph idx="1"/>
          </p:nvPr>
        </p:nvSpPr>
        <p:spPr>
          <a:xfrm>
            <a:off x="908662" y="1143000"/>
            <a:ext cx="10900750" cy="5562600"/>
          </a:xfrm>
        </p:spPr>
        <p:txBody>
          <a:bodyPr>
            <a:noAutofit/>
          </a:bodyPr>
          <a:lstStyle/>
          <a:p>
            <a:pPr>
              <a:lnSpc>
                <a:spcPct val="100000"/>
              </a:lnSpc>
              <a:spcBef>
                <a:spcPts val="0"/>
              </a:spcBef>
            </a:pPr>
            <a:r>
              <a:rPr lang="bg-BG" sz="2800" dirty="0"/>
              <a:t>Разпределянето на всички ресурси, които са необходими за работата на </a:t>
            </a:r>
            <a:r>
              <a:rPr lang="bg-BG" sz="2800" dirty="0" smtClean="0"/>
              <a:t>процесът/задачата</a:t>
            </a:r>
            <a:r>
              <a:rPr lang="bg-BG" sz="2800" dirty="0"/>
              <a:t>, се извършва от ОС.</a:t>
            </a:r>
          </a:p>
          <a:p>
            <a:pPr lvl="1">
              <a:lnSpc>
                <a:spcPct val="100000"/>
              </a:lnSpc>
              <a:spcBef>
                <a:spcPts val="0"/>
              </a:spcBef>
            </a:pPr>
            <a:r>
              <a:rPr lang="bg-BG" sz="2400" dirty="0" smtClean="0"/>
              <a:t>Това определя наличието на няколко състояния </a:t>
            </a:r>
            <a:r>
              <a:rPr lang="bg-BG" sz="2400" dirty="0"/>
              <a:t>за </a:t>
            </a:r>
            <a:r>
              <a:rPr lang="bg-BG" sz="2400" dirty="0" smtClean="0"/>
              <a:t>процеса/задачата </a:t>
            </a:r>
            <a:r>
              <a:rPr lang="bg-BG" sz="2400" dirty="0"/>
              <a:t>в </a:t>
            </a:r>
            <a:r>
              <a:rPr lang="bg-BG" sz="2400" dirty="0" smtClean="0"/>
              <a:t>ОС (броят </a:t>
            </a:r>
            <a:r>
              <a:rPr lang="bg-BG" sz="2400" dirty="0"/>
              <a:t>и наименованията на състоянията зависят от конкретната </a:t>
            </a:r>
            <a:r>
              <a:rPr lang="bg-BG" sz="2400" dirty="0" smtClean="0"/>
              <a:t>ОС).</a:t>
            </a:r>
            <a:endParaRPr lang="en-US" sz="2400" dirty="0"/>
          </a:p>
          <a:p>
            <a:pPr>
              <a:lnSpc>
                <a:spcPct val="100000"/>
              </a:lnSpc>
              <a:spcBef>
                <a:spcPts val="0"/>
              </a:spcBef>
            </a:pPr>
            <a:r>
              <a:rPr lang="bg-BG" sz="2800" dirty="0" smtClean="0"/>
              <a:t>Една голяма разлика между нишката и процесът е, че нишките в рамките на един и същи процес използват едно и също адресно пространство, докато това не е вярно за процесите в ОС. </a:t>
            </a:r>
          </a:p>
          <a:p>
            <a:pPr lvl="1">
              <a:lnSpc>
                <a:spcPct val="100000"/>
              </a:lnSpc>
              <a:spcBef>
                <a:spcPts val="0"/>
              </a:spcBef>
            </a:pPr>
            <a:r>
              <a:rPr lang="bg-BG" sz="2400" dirty="0" smtClean="0"/>
              <a:t>Това позволява на нишките да четат и да пишат в/от общите споделени структури от данни и променливи. Това улесняват комуникацията между нишките. </a:t>
            </a:r>
          </a:p>
          <a:p>
            <a:pPr lvl="2">
              <a:lnSpc>
                <a:spcPct val="100000"/>
              </a:lnSpc>
              <a:spcBef>
                <a:spcPts val="0"/>
              </a:spcBef>
            </a:pPr>
            <a:r>
              <a:rPr lang="bg-BG" sz="2000" dirty="0"/>
              <a:t>Нишките се раждат от идеята, че най-ефективният начин за обмен на данни е споделянето на общо пространство в паметта</a:t>
            </a:r>
            <a:r>
              <a:rPr lang="bg-BG" sz="2000" dirty="0" smtClean="0"/>
              <a:t>.</a:t>
            </a:r>
          </a:p>
          <a:p>
            <a:pPr lvl="1">
              <a:lnSpc>
                <a:spcPct val="100000"/>
              </a:lnSpc>
              <a:spcBef>
                <a:spcPts val="0"/>
              </a:spcBef>
            </a:pPr>
            <a:r>
              <a:rPr lang="bg-BG" sz="2400" dirty="0" smtClean="0"/>
              <a:t>Комуникацията между два или повече процеса е доста трудна и използва много системни ресурси. </a:t>
            </a:r>
          </a:p>
        </p:txBody>
      </p:sp>
    </p:spTree>
    <p:extLst>
      <p:ext uri="{BB962C8B-B14F-4D97-AF65-F5344CB8AC3E}">
        <p14:creationId xmlns:p14="http://schemas.microsoft.com/office/powerpoint/2010/main" val="989270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Програма, процес, задача, нишка</a:t>
            </a:r>
            <a:endParaRPr lang="en-US" dirty="0"/>
          </a:p>
        </p:txBody>
      </p:sp>
      <p:sp>
        <p:nvSpPr>
          <p:cNvPr id="3" name="Content Placeholder 2"/>
          <p:cNvSpPr>
            <a:spLocks noGrp="1"/>
          </p:cNvSpPr>
          <p:nvPr>
            <p:ph idx="1"/>
          </p:nvPr>
        </p:nvSpPr>
        <p:spPr>
          <a:xfrm>
            <a:off x="908662" y="1143000"/>
            <a:ext cx="10824550" cy="5486400"/>
          </a:xfrm>
        </p:spPr>
        <p:txBody>
          <a:bodyPr vert="horz" lIns="91440" tIns="45720" rIns="91440" bIns="45720" rtlCol="0">
            <a:noAutofit/>
          </a:bodyPr>
          <a:lstStyle/>
          <a:p>
            <a:pPr>
              <a:spcBef>
                <a:spcPts val="500"/>
              </a:spcBef>
            </a:pPr>
            <a:r>
              <a:rPr lang="bg-BG" sz="2800" dirty="0" smtClean="0"/>
              <a:t>Нишките изискват по-малко време за стартиране, спиране или превключване на активната нишка в сравнение с процесите, тъй като те използват адресното пространство, което вече е определено за текущия процес.</a:t>
            </a:r>
          </a:p>
          <a:p>
            <a:pPr lvl="1">
              <a:spcBef>
                <a:spcPts val="500"/>
              </a:spcBef>
            </a:pPr>
            <a:r>
              <a:rPr lang="bg-BG" sz="2400" dirty="0" smtClean="0"/>
              <a:t>За съжаление много ОС имат съществени проблеми с нишките.</a:t>
            </a:r>
          </a:p>
          <a:p>
            <a:pPr>
              <a:spcBef>
                <a:spcPts val="500"/>
              </a:spcBef>
            </a:pPr>
            <a:r>
              <a:rPr lang="bg-BG" sz="2800" dirty="0" smtClean="0"/>
              <a:t>Задачата е почти винаги по-добрия вариант на реализация спрямо нишката, защото той осигурява много по-мощно API и избягва проблемите за реализация на нишки в дадената ОС.</a:t>
            </a:r>
          </a:p>
          <a:p>
            <a:pPr lvl="1">
              <a:spcBef>
                <a:spcPts val="500"/>
              </a:spcBef>
            </a:pPr>
            <a:r>
              <a:rPr lang="bg-BG" sz="2400" dirty="0" smtClean="0"/>
              <a:t>Единствената причина изрично да избереш подход, базира на собствени нишки в своя код е необходимостта да имаш външни опции за настройка на нишките или необходимостта да поддържаш постоянна нишка, която трябва да създаде и запази собствена идентичност.</a:t>
            </a:r>
          </a:p>
        </p:txBody>
      </p:sp>
    </p:spTree>
    <p:extLst>
      <p:ext uri="{BB962C8B-B14F-4D97-AF65-F5344CB8AC3E}">
        <p14:creationId xmlns:p14="http://schemas.microsoft.com/office/powerpoint/2010/main" val="1560004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Програма, процес, задача, нишка</a:t>
            </a:r>
            <a:endParaRPr lang="en-US" dirty="0"/>
          </a:p>
        </p:txBody>
      </p:sp>
      <p:sp>
        <p:nvSpPr>
          <p:cNvPr id="3" name="Content Placeholder 2"/>
          <p:cNvSpPr>
            <a:spLocks noGrp="1"/>
          </p:cNvSpPr>
          <p:nvPr>
            <p:ph idx="1"/>
          </p:nvPr>
        </p:nvSpPr>
        <p:spPr>
          <a:xfrm>
            <a:off x="908662" y="1143000"/>
            <a:ext cx="10748350" cy="5562600"/>
          </a:xfrm>
        </p:spPr>
        <p:txBody>
          <a:bodyPr vert="horz" lIns="91440" tIns="45720" rIns="91440" bIns="45720" rtlCol="0">
            <a:noAutofit/>
          </a:bodyPr>
          <a:lstStyle/>
          <a:p>
            <a:pPr>
              <a:lnSpc>
                <a:spcPct val="83000"/>
              </a:lnSpc>
              <a:spcBef>
                <a:spcPts val="300"/>
              </a:spcBef>
            </a:pPr>
            <a:r>
              <a:rPr lang="bg-BG" sz="2800" dirty="0"/>
              <a:t>Нова нишка е винаги по-добрият вариант от използване на влакна, ако има необходимост от паралелно изпълнение.</a:t>
            </a:r>
          </a:p>
          <a:p>
            <a:pPr lvl="1">
              <a:lnSpc>
                <a:spcPct val="83000"/>
              </a:lnSpc>
              <a:spcBef>
                <a:spcPts val="300"/>
              </a:spcBef>
            </a:pPr>
            <a:r>
              <a:rPr lang="bg-BG" sz="2400" dirty="0"/>
              <a:t>И при многопроцесорни системи две влакна не могат да се изпълняват едновременно</a:t>
            </a:r>
            <a:r>
              <a:rPr lang="bg-BG" sz="2400" dirty="0" smtClean="0"/>
              <a:t>.</a:t>
            </a:r>
            <a:endParaRPr lang="bg-BG" sz="2800" dirty="0"/>
          </a:p>
          <a:p>
            <a:pPr>
              <a:lnSpc>
                <a:spcPct val="83000"/>
              </a:lnSpc>
              <a:spcBef>
                <a:spcPts val="300"/>
              </a:spcBef>
            </a:pPr>
            <a:r>
              <a:rPr lang="bg-BG" sz="2800" dirty="0" smtClean="0"/>
              <a:t>Реализацията на дадена функционалност като нова нишка или като влакно към дадена нишка се определя от това как ще се </a:t>
            </a:r>
            <a:r>
              <a:rPr lang="bg-BG" sz="2800" dirty="0" err="1" smtClean="0"/>
              <a:t>диспечира</a:t>
            </a:r>
            <a:r>
              <a:rPr lang="bg-BG" sz="2800" dirty="0" smtClean="0"/>
              <a:t> (прекъсва и превключва) контекста на работата:</a:t>
            </a:r>
          </a:p>
          <a:p>
            <a:pPr lvl="1">
              <a:lnSpc>
                <a:spcPct val="83000"/>
              </a:lnSpc>
              <a:spcBef>
                <a:spcPts val="300"/>
              </a:spcBef>
            </a:pPr>
            <a:r>
              <a:rPr lang="bg-BG" sz="2400" dirty="0" smtClean="0"/>
              <a:t>Ако съществува възможност за прекъсване от страна на ОС, то тогава се реализира като нишка.</a:t>
            </a:r>
          </a:p>
          <a:p>
            <a:pPr lvl="2">
              <a:lnSpc>
                <a:spcPct val="83000"/>
              </a:lnSpc>
              <a:spcBef>
                <a:spcPts val="300"/>
              </a:spcBef>
            </a:pPr>
            <a:r>
              <a:rPr lang="bg-BG" sz="2000" dirty="0" smtClean="0"/>
              <a:t>Затова основен проблем е интегритетът на данните - нишката може да бъде спряна в момент на актуализиране на част от данните, оставяйки целостта на данните в лошо или непълно състояние.</a:t>
            </a:r>
          </a:p>
          <a:p>
            <a:pPr lvl="1">
              <a:lnSpc>
                <a:spcPct val="83000"/>
              </a:lnSpc>
              <a:spcBef>
                <a:spcPts val="300"/>
              </a:spcBef>
            </a:pPr>
            <a:r>
              <a:rPr lang="bg-BG" sz="2400" dirty="0" smtClean="0"/>
              <a:t>Когато спирането и тръгването се извършва в строго определени места или при строго дефинирано желание на програмиста, то тогава може да се използват влакна.</a:t>
            </a:r>
          </a:p>
          <a:p>
            <a:pPr lvl="2">
              <a:lnSpc>
                <a:spcPct val="83000"/>
              </a:lnSpc>
              <a:spcBef>
                <a:spcPts val="300"/>
              </a:spcBef>
            </a:pPr>
            <a:r>
              <a:rPr lang="bg-BG" sz="2000" dirty="0" smtClean="0"/>
              <a:t>Реализира се диспечиране чрез сътрудничество (</a:t>
            </a:r>
            <a:r>
              <a:rPr lang="bg-BG" sz="2000" dirty="0" err="1" smtClean="0"/>
              <a:t>cooperative</a:t>
            </a:r>
            <a:r>
              <a:rPr lang="bg-BG" sz="2000" dirty="0" smtClean="0"/>
              <a:t> </a:t>
            </a:r>
            <a:r>
              <a:rPr lang="bg-BG" sz="2000" dirty="0" err="1" smtClean="0"/>
              <a:t>scheduling</a:t>
            </a:r>
            <a:r>
              <a:rPr lang="bg-BG" sz="2000" dirty="0" smtClean="0"/>
              <a:t>).</a:t>
            </a:r>
          </a:p>
        </p:txBody>
      </p:sp>
    </p:spTree>
    <p:extLst>
      <p:ext uri="{BB962C8B-B14F-4D97-AF65-F5344CB8AC3E}">
        <p14:creationId xmlns:p14="http://schemas.microsoft.com/office/powerpoint/2010/main" val="360311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smtClean="0"/>
              <a:t>Многозадачност</a:t>
            </a:r>
            <a:endParaRPr lang="en-US" dirty="0"/>
          </a:p>
        </p:txBody>
      </p:sp>
      <p:sp>
        <p:nvSpPr>
          <p:cNvPr id="3" name="Content Placeholder 2"/>
          <p:cNvSpPr>
            <a:spLocks noGrp="1"/>
          </p:cNvSpPr>
          <p:nvPr>
            <p:ph idx="1"/>
          </p:nvPr>
        </p:nvSpPr>
        <p:spPr>
          <a:xfrm>
            <a:off x="908662" y="1143000"/>
            <a:ext cx="10900750" cy="5562600"/>
          </a:xfrm>
        </p:spPr>
        <p:txBody>
          <a:bodyPr>
            <a:noAutofit/>
          </a:bodyPr>
          <a:lstStyle/>
          <a:p>
            <a:pPr>
              <a:spcBef>
                <a:spcPts val="300"/>
              </a:spcBef>
            </a:pPr>
            <a:r>
              <a:rPr lang="bg-BG" sz="2800" dirty="0" smtClean="0"/>
              <a:t>Това понятие се използва за описване на подхода, при който има  „едновременно“ изпълняване на група от </a:t>
            </a:r>
            <a:r>
              <a:rPr lang="bg-BG" sz="2800" dirty="0" smtClean="0">
                <a:effectLst>
                  <a:outerShdw blurRad="38100" dist="38100" dir="2700000" algn="tl">
                    <a:srgbClr val="000000">
                      <a:alpha val="43137"/>
                    </a:srgbClr>
                  </a:outerShdw>
                </a:effectLst>
              </a:rPr>
              <a:t>процеси</a:t>
            </a:r>
            <a:r>
              <a:rPr lang="bg-BG" sz="2800" dirty="0" smtClean="0"/>
              <a:t>.</a:t>
            </a:r>
          </a:p>
          <a:p>
            <a:pPr lvl="1">
              <a:spcBef>
                <a:spcPts val="300"/>
              </a:spcBef>
            </a:pPr>
            <a:r>
              <a:rPr lang="bg-BG" sz="2400" dirty="0" smtClean="0"/>
              <a:t>Всеки процес започва, като прекъсва работата на друг, т.е. не се изчаква завършването на вече започнал процес.</a:t>
            </a:r>
          </a:p>
          <a:p>
            <a:pPr lvl="2">
              <a:spcBef>
                <a:spcPts val="300"/>
              </a:spcBef>
            </a:pPr>
            <a:r>
              <a:rPr lang="bg-BG" sz="2000" dirty="0" smtClean="0"/>
              <a:t>При определени условия прекъснатият процес отново продължава да работи – продължава се от точката, докъдето е била стигнала при прекъсването.</a:t>
            </a:r>
          </a:p>
          <a:p>
            <a:pPr lvl="1">
              <a:spcBef>
                <a:spcPts val="300"/>
              </a:spcBef>
            </a:pPr>
            <a:r>
              <a:rPr lang="bg-BG" sz="2400" dirty="0" smtClean="0"/>
              <a:t>Задачите споделят общи ресурси (процесори, памет, файлове и т.н.). </a:t>
            </a:r>
          </a:p>
          <a:p>
            <a:pPr>
              <a:spcBef>
                <a:spcPts val="300"/>
              </a:spcBef>
            </a:pPr>
            <a:r>
              <a:rPr lang="bg-BG" sz="2800" dirty="0" err="1" smtClean="0"/>
              <a:t>Многозадачността</a:t>
            </a:r>
            <a:r>
              <a:rPr lang="bg-BG" sz="2800" dirty="0" smtClean="0"/>
              <a:t> не означава непременно, че всички процеси се изпълняват </a:t>
            </a:r>
            <a:r>
              <a:rPr lang="bg-BG" sz="2800" dirty="0"/>
              <a:t>напълно </a:t>
            </a:r>
            <a:r>
              <a:rPr lang="bg-BG" sz="2800" dirty="0" smtClean="0"/>
              <a:t>едновременно (точно по едно и също време).</a:t>
            </a:r>
          </a:p>
          <a:p>
            <a:pPr lvl="1">
              <a:spcBef>
                <a:spcPts val="300"/>
              </a:spcBef>
            </a:pPr>
            <a:r>
              <a:rPr lang="bg-BG" sz="2400" dirty="0" err="1" smtClean="0"/>
              <a:t>Многозадачността</a:t>
            </a:r>
            <a:r>
              <a:rPr lang="bg-BG" sz="2400" dirty="0" smtClean="0"/>
              <a:t> не означава паралелно изпълнение, но показва че за даден период от времето има няколко процеса, които „напредват“ едновременно в своето изпълнение.</a:t>
            </a:r>
          </a:p>
          <a:p>
            <a:pPr lvl="1">
              <a:spcBef>
                <a:spcPts val="300"/>
              </a:spcBef>
            </a:pPr>
            <a:r>
              <a:rPr lang="bg-BG" sz="2400" dirty="0" smtClean="0"/>
              <a:t>Един от най-коректните критерии е дали броя на стартираните процеси е по-голям от наличните процесори (съответно, ядра в процесорите).</a:t>
            </a:r>
          </a:p>
        </p:txBody>
      </p:sp>
    </p:spTree>
    <p:extLst>
      <p:ext uri="{BB962C8B-B14F-4D97-AF65-F5344CB8AC3E}">
        <p14:creationId xmlns:p14="http://schemas.microsoft.com/office/powerpoint/2010/main" val="1250707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Диспечиране</a:t>
            </a:r>
            <a:r>
              <a:rPr lang="bg-BG" dirty="0"/>
              <a:t> на процеси</a:t>
            </a:r>
            <a:endParaRPr lang="en-US" dirty="0"/>
          </a:p>
        </p:txBody>
      </p:sp>
      <p:sp>
        <p:nvSpPr>
          <p:cNvPr id="3" name="Content Placeholder 2"/>
          <p:cNvSpPr>
            <a:spLocks noGrp="1"/>
          </p:cNvSpPr>
          <p:nvPr>
            <p:ph idx="1"/>
          </p:nvPr>
        </p:nvSpPr>
        <p:spPr>
          <a:xfrm>
            <a:off x="908662" y="1143000"/>
            <a:ext cx="10672150" cy="5410200"/>
          </a:xfrm>
        </p:spPr>
        <p:txBody>
          <a:bodyPr>
            <a:noAutofit/>
          </a:bodyPr>
          <a:lstStyle/>
          <a:p>
            <a:pPr>
              <a:lnSpc>
                <a:spcPct val="100000"/>
              </a:lnSpc>
              <a:spcBef>
                <a:spcPts val="300"/>
              </a:spcBef>
            </a:pPr>
            <a:r>
              <a:rPr lang="bg-BG" sz="2600" dirty="0" smtClean="0"/>
              <a:t>Диспечиране на процеси В случай на </a:t>
            </a:r>
            <a:r>
              <a:rPr lang="bg-BG" sz="2600" dirty="0" err="1" smtClean="0"/>
              <a:t>еднопроцесорен</a:t>
            </a:r>
            <a:r>
              <a:rPr lang="bg-BG" sz="2600" dirty="0" smtClean="0"/>
              <a:t> компютър, в даден момент реално работи само една програма – това е програмата, чийто инструкции се изпълняват в дадения момент от процесора.</a:t>
            </a:r>
          </a:p>
          <a:p>
            <a:pPr lvl="2">
              <a:lnSpc>
                <a:spcPct val="100000"/>
              </a:lnSpc>
              <a:spcBef>
                <a:spcPts val="300"/>
              </a:spcBef>
            </a:pPr>
            <a:r>
              <a:rPr lang="bg-BG" sz="2200" dirty="0"/>
              <a:t>(англ. </a:t>
            </a:r>
            <a:r>
              <a:rPr lang="en-US" sz="2200" dirty="0" smtClean="0"/>
              <a:t>Task </a:t>
            </a:r>
            <a:r>
              <a:rPr lang="bg-BG" sz="2200" dirty="0" err="1" smtClean="0"/>
              <a:t>Scheduling</a:t>
            </a:r>
            <a:r>
              <a:rPr lang="bg-BG" sz="2200" dirty="0"/>
              <a:t>)</a:t>
            </a:r>
          </a:p>
          <a:p>
            <a:pPr lvl="2">
              <a:lnSpc>
                <a:spcPct val="100000"/>
              </a:lnSpc>
              <a:spcBef>
                <a:spcPts val="300"/>
              </a:spcBef>
            </a:pPr>
            <a:r>
              <a:rPr lang="bg-BG" sz="2200" dirty="0" smtClean="0"/>
              <a:t>Следователно, за да се стартира изпълнението на даден процес е необходимо да се смени наборът от инструкции, изпълнявани от процесора.</a:t>
            </a:r>
          </a:p>
          <a:p>
            <a:pPr lvl="2">
              <a:lnSpc>
                <a:spcPct val="100000"/>
              </a:lnSpc>
              <a:spcBef>
                <a:spcPts val="300"/>
              </a:spcBef>
            </a:pPr>
            <a:r>
              <a:rPr lang="bg-BG" sz="2200" dirty="0" smtClean="0"/>
              <a:t>Смяната само на инструкциите не е достатъчна – необходимо е да се смени и наборът от данни, с които се работи (т.е. да се смени адресното поле в паметта, с което се работи).</a:t>
            </a:r>
          </a:p>
          <a:p>
            <a:pPr lvl="1">
              <a:lnSpc>
                <a:spcPct val="100000"/>
              </a:lnSpc>
              <a:spcBef>
                <a:spcPts val="300"/>
              </a:spcBef>
            </a:pPr>
            <a:r>
              <a:rPr lang="bg-BG" sz="2600" dirty="0"/>
              <a:t>Реализацията на задачата за диспечиране на процесите е приоритет на конкретната операционна система.</a:t>
            </a:r>
          </a:p>
          <a:p>
            <a:pPr lvl="2">
              <a:lnSpc>
                <a:spcPct val="100000"/>
              </a:lnSpc>
              <a:spcBef>
                <a:spcPts val="300"/>
              </a:spcBef>
            </a:pPr>
            <a:r>
              <a:rPr lang="bg-BG" sz="2200" dirty="0" smtClean="0"/>
              <a:t>В този случай е необходимо да се реши проблемът, как да се планира коя задача трябва да се изпълнява в даден момент и кога тя трябва да предаде управлението на друга задача.</a:t>
            </a:r>
          </a:p>
        </p:txBody>
      </p:sp>
    </p:spTree>
    <p:extLst>
      <p:ext uri="{BB962C8B-B14F-4D97-AF65-F5344CB8AC3E}">
        <p14:creationId xmlns:p14="http://schemas.microsoft.com/office/powerpoint/2010/main" val="3639388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Диспечиране</a:t>
            </a:r>
            <a:r>
              <a:rPr lang="bg-BG" dirty="0"/>
              <a:t> на процеси</a:t>
            </a:r>
            <a:endParaRPr lang="en-US" dirty="0"/>
          </a:p>
        </p:txBody>
      </p:sp>
      <p:sp>
        <p:nvSpPr>
          <p:cNvPr id="3" name="Content Placeholder 2"/>
          <p:cNvSpPr>
            <a:spLocks noGrp="1"/>
          </p:cNvSpPr>
          <p:nvPr>
            <p:ph idx="1"/>
          </p:nvPr>
        </p:nvSpPr>
        <p:spPr>
          <a:xfrm>
            <a:off x="908662" y="1143000"/>
            <a:ext cx="10672150" cy="5410200"/>
          </a:xfrm>
        </p:spPr>
        <p:txBody>
          <a:bodyPr>
            <a:noAutofit/>
          </a:bodyPr>
          <a:lstStyle/>
          <a:p>
            <a:pPr>
              <a:lnSpc>
                <a:spcPct val="85000"/>
              </a:lnSpc>
              <a:spcBef>
                <a:spcPts val="300"/>
              </a:spcBef>
            </a:pPr>
            <a:r>
              <a:rPr lang="bg-BG" sz="2800" dirty="0" smtClean="0"/>
              <a:t>Контекстно превключване</a:t>
            </a:r>
          </a:p>
          <a:p>
            <a:pPr lvl="1">
              <a:lnSpc>
                <a:spcPct val="85000"/>
              </a:lnSpc>
              <a:spcBef>
                <a:spcPts val="300"/>
              </a:spcBef>
            </a:pPr>
            <a:r>
              <a:rPr lang="bg-BG" sz="2400" dirty="0"/>
              <a:t>Илюзията за паралелизъм се постига, когато превключването между задачите е „достатъчно често“.</a:t>
            </a:r>
          </a:p>
          <a:p>
            <a:pPr lvl="1">
              <a:lnSpc>
                <a:spcPct val="85000"/>
              </a:lnSpc>
              <a:spcBef>
                <a:spcPts val="300"/>
              </a:spcBef>
            </a:pPr>
            <a:r>
              <a:rPr lang="bg-BG" sz="2400" dirty="0" smtClean="0"/>
              <a:t>Дефиниция: </a:t>
            </a:r>
          </a:p>
          <a:p>
            <a:pPr lvl="2">
              <a:lnSpc>
                <a:spcPct val="85000"/>
              </a:lnSpc>
              <a:spcBef>
                <a:spcPts val="300"/>
              </a:spcBef>
            </a:pPr>
            <a:r>
              <a:rPr lang="bg-BG" sz="2000" dirty="0" smtClean="0"/>
              <a:t>Това е пренасочването на процесора от един процес към друг така, че изпълнението на новата да продължи от мястото, където е прекъсната последния път и то без загуба на консистентност на данните и поведението на процеса.</a:t>
            </a:r>
          </a:p>
          <a:p>
            <a:pPr lvl="1">
              <a:lnSpc>
                <a:spcPct val="85000"/>
              </a:lnSpc>
              <a:spcBef>
                <a:spcPts val="300"/>
              </a:spcBef>
            </a:pPr>
            <a:r>
              <a:rPr lang="bg-BG" sz="2400" dirty="0"/>
              <a:t>Реализация</a:t>
            </a:r>
          </a:p>
          <a:p>
            <a:pPr lvl="2">
              <a:lnSpc>
                <a:spcPct val="85000"/>
              </a:lnSpc>
              <a:spcBef>
                <a:spcPts val="300"/>
              </a:spcBef>
            </a:pPr>
            <a:r>
              <a:rPr lang="bg-BG" sz="2000" dirty="0" smtClean="0"/>
              <a:t>Най-общо това е процес на съхраняване на т.нар. „състояние на процеса“ - всеки процес има собствено адресно поле и собствени </a:t>
            </a:r>
            <a:r>
              <a:rPr lang="bg-BG" sz="2000" dirty="0"/>
              <a:t>„</a:t>
            </a:r>
            <a:r>
              <a:rPr lang="bg-BG" sz="2000" dirty="0" err="1" smtClean="0"/>
              <a:t>виртуализирани</a:t>
            </a:r>
            <a:r>
              <a:rPr lang="bg-BG" sz="2000" dirty="0" smtClean="0"/>
              <a:t> регистри“ (на инструкциите, на стека, …).</a:t>
            </a:r>
          </a:p>
          <a:p>
            <a:pPr lvl="2">
              <a:lnSpc>
                <a:spcPct val="85000"/>
              </a:lnSpc>
              <a:spcBef>
                <a:spcPts val="300"/>
              </a:spcBef>
            </a:pPr>
            <a:r>
              <a:rPr lang="bg-BG" sz="2000" dirty="0" smtClean="0"/>
              <a:t>В различни ОС може да е доста по-многообхватно действие.</a:t>
            </a:r>
          </a:p>
          <a:p>
            <a:pPr lvl="1">
              <a:lnSpc>
                <a:spcPct val="85000"/>
              </a:lnSpc>
              <a:spcBef>
                <a:spcPts val="300"/>
              </a:spcBef>
            </a:pPr>
            <a:r>
              <a:rPr lang="bg-BG" sz="2400" dirty="0"/>
              <a:t>Кога се </a:t>
            </a:r>
            <a:r>
              <a:rPr lang="bg-BG" sz="2400" dirty="0" smtClean="0"/>
              <a:t>реализира ?</a:t>
            </a:r>
          </a:p>
          <a:p>
            <a:pPr lvl="2">
              <a:lnSpc>
                <a:spcPct val="85000"/>
              </a:lnSpc>
              <a:spcBef>
                <a:spcPts val="300"/>
              </a:spcBef>
            </a:pPr>
            <a:r>
              <a:rPr lang="bg-BG" sz="2000" dirty="0" smtClean="0"/>
              <a:t>Вариант 1: Когато ОС реши да предаде управлението на друг процес – например потребителят „кликне“ в прозореца на друга програма.</a:t>
            </a:r>
          </a:p>
          <a:p>
            <a:pPr lvl="2">
              <a:lnSpc>
                <a:spcPct val="85000"/>
              </a:lnSpc>
              <a:spcBef>
                <a:spcPts val="300"/>
              </a:spcBef>
            </a:pPr>
            <a:r>
              <a:rPr lang="bg-BG" sz="2000" dirty="0" smtClean="0"/>
              <a:t>Вариант 2: Когато възникне апаратно прекъсване, което трябва да се „отработи“ от функция на друга програма.</a:t>
            </a:r>
            <a:endParaRPr lang="bg-BG" sz="2000" dirty="0"/>
          </a:p>
        </p:txBody>
      </p:sp>
    </p:spTree>
    <p:extLst>
      <p:ext uri="{BB962C8B-B14F-4D97-AF65-F5344CB8AC3E}">
        <p14:creationId xmlns:p14="http://schemas.microsoft.com/office/powerpoint/2010/main" val="2346513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85000"/>
              </a:lnSpc>
              <a:spcBef>
                <a:spcPts val="300"/>
              </a:spcBef>
            </a:pPr>
            <a:r>
              <a:rPr lang="bg-BG" dirty="0" err="1"/>
              <a:t>Междупроцесовата</a:t>
            </a:r>
            <a:r>
              <a:rPr lang="bg-BG" dirty="0"/>
              <a:t> </a:t>
            </a:r>
            <a:r>
              <a:rPr lang="bg-BG" dirty="0" smtClean="0"/>
              <a:t>комуникация</a:t>
            </a:r>
            <a:endParaRPr lang="bg-BG" dirty="0"/>
          </a:p>
        </p:txBody>
      </p:sp>
      <p:sp>
        <p:nvSpPr>
          <p:cNvPr id="3" name="Content Placeholder 2"/>
          <p:cNvSpPr>
            <a:spLocks noGrp="1"/>
          </p:cNvSpPr>
          <p:nvPr>
            <p:ph idx="1"/>
          </p:nvPr>
        </p:nvSpPr>
        <p:spPr>
          <a:xfrm>
            <a:off x="908662" y="1143000"/>
            <a:ext cx="10900750" cy="5486400"/>
          </a:xfrm>
        </p:spPr>
        <p:txBody>
          <a:bodyPr>
            <a:noAutofit/>
          </a:bodyPr>
          <a:lstStyle/>
          <a:p>
            <a:pPr>
              <a:lnSpc>
                <a:spcPct val="95000"/>
              </a:lnSpc>
              <a:spcBef>
                <a:spcPts val="0"/>
              </a:spcBef>
            </a:pPr>
            <a:r>
              <a:rPr lang="bg-BG" sz="2600" dirty="0" smtClean="0"/>
              <a:t>Защо</a:t>
            </a:r>
            <a:r>
              <a:rPr lang="en-US" sz="2600" dirty="0" smtClean="0"/>
              <a:t> ?</a:t>
            </a:r>
            <a:endParaRPr lang="bg-BG" sz="2600" dirty="0" smtClean="0"/>
          </a:p>
          <a:p>
            <a:pPr lvl="1">
              <a:lnSpc>
                <a:spcPct val="95000"/>
              </a:lnSpc>
              <a:spcBef>
                <a:spcPts val="0"/>
              </a:spcBef>
            </a:pPr>
            <a:r>
              <a:rPr lang="bg-BG" sz="2200" dirty="0" smtClean="0"/>
              <a:t>Често решението на даден проблем е разделено на няколко етапа.</a:t>
            </a:r>
          </a:p>
          <a:p>
            <a:pPr lvl="2">
              <a:lnSpc>
                <a:spcPct val="95000"/>
              </a:lnSpc>
              <a:spcBef>
                <a:spcPts val="0"/>
              </a:spcBef>
            </a:pPr>
            <a:r>
              <a:rPr lang="bg-BG" sz="1900" dirty="0" smtClean="0"/>
              <a:t>Всеки етап се реализира от самостоятелен процес.</a:t>
            </a:r>
          </a:p>
          <a:p>
            <a:pPr lvl="2">
              <a:lnSpc>
                <a:spcPct val="95000"/>
              </a:lnSpc>
              <a:spcBef>
                <a:spcPts val="0"/>
              </a:spcBef>
            </a:pPr>
            <a:r>
              <a:rPr lang="bg-BG" sz="1900" dirty="0" smtClean="0"/>
              <a:t>Всеки завършил процес предава данни към следващия етап.</a:t>
            </a:r>
          </a:p>
          <a:p>
            <a:pPr lvl="2">
              <a:lnSpc>
                <a:spcPct val="95000"/>
              </a:lnSpc>
              <a:spcBef>
                <a:spcPts val="0"/>
              </a:spcBef>
            </a:pPr>
            <a:r>
              <a:rPr lang="bg-BG" sz="1900" dirty="0" smtClean="0"/>
              <a:t>Данните от предходния етап се използват или като данни за нова обработка, или като информация за начина на обработка, който трябва да се извърши.</a:t>
            </a:r>
          </a:p>
          <a:p>
            <a:pPr lvl="1">
              <a:lnSpc>
                <a:spcPct val="95000"/>
              </a:lnSpc>
              <a:spcBef>
                <a:spcPts val="0"/>
              </a:spcBef>
            </a:pPr>
            <a:r>
              <a:rPr lang="bg-BG" sz="2200" dirty="0" smtClean="0"/>
              <a:t>Често срещана ситуация в живота е двама човека да вършат самостоятелни части работи, но в определени периоди да е необходимо да се координират какво е направено и докъде се е стигнато.</a:t>
            </a:r>
          </a:p>
          <a:p>
            <a:pPr>
              <a:lnSpc>
                <a:spcPct val="95000"/>
              </a:lnSpc>
              <a:spcBef>
                <a:spcPts val="0"/>
              </a:spcBef>
            </a:pPr>
            <a:r>
              <a:rPr lang="bg-BG" sz="2600" dirty="0" smtClean="0"/>
              <a:t>Двата сценария изискват да съществува механизъм за общуване между отделните процеси.</a:t>
            </a:r>
          </a:p>
          <a:p>
            <a:pPr lvl="1">
              <a:lnSpc>
                <a:spcPct val="95000"/>
              </a:lnSpc>
              <a:spcBef>
                <a:spcPts val="0"/>
              </a:spcBef>
            </a:pPr>
            <a:r>
              <a:rPr lang="bg-BG" sz="2200" dirty="0" smtClean="0"/>
              <a:t>Този механизъм се нарича </a:t>
            </a:r>
            <a:r>
              <a:rPr lang="bg-BG" sz="2200" dirty="0" err="1" smtClean="0"/>
              <a:t>междупроцесна</a:t>
            </a:r>
            <a:r>
              <a:rPr lang="bg-BG" sz="2200" dirty="0" smtClean="0"/>
              <a:t> комуникация и осигурява предаване / получаване на данни до/от друг процес.</a:t>
            </a:r>
          </a:p>
          <a:p>
            <a:pPr lvl="1">
              <a:lnSpc>
                <a:spcPct val="95000"/>
              </a:lnSpc>
              <a:spcBef>
                <a:spcPts val="0"/>
              </a:spcBef>
            </a:pPr>
            <a:r>
              <a:rPr lang="bg-BG" sz="2200" dirty="0" smtClean="0"/>
              <a:t>Необходимо е и за да се осигури възможност на потребителите да имат едновременно взаимодействие с процеси на отделни машини.</a:t>
            </a:r>
          </a:p>
          <a:p>
            <a:pPr lvl="1">
              <a:lnSpc>
                <a:spcPct val="95000"/>
              </a:lnSpc>
              <a:spcBef>
                <a:spcPts val="0"/>
              </a:spcBef>
            </a:pPr>
            <a:r>
              <a:rPr lang="bg-BG" sz="2200" dirty="0" smtClean="0"/>
              <a:t>Най-често се използват следните техники:  файлове, </a:t>
            </a:r>
            <a:r>
              <a:rPr lang="bg-BG" sz="2200" dirty="0" err="1" smtClean="0"/>
              <a:t>пайпове</a:t>
            </a:r>
            <a:r>
              <a:rPr lang="bg-BG" sz="2200" dirty="0" smtClean="0"/>
              <a:t> (еднопосочни потоци), споделена памет.</a:t>
            </a:r>
            <a:endParaRPr lang="bg-BG" sz="2200" dirty="0"/>
          </a:p>
        </p:txBody>
      </p:sp>
    </p:spTree>
    <p:extLst>
      <p:ext uri="{BB962C8B-B14F-4D97-AF65-F5344CB8AC3E}">
        <p14:creationId xmlns:p14="http://schemas.microsoft.com/office/powerpoint/2010/main" val="24528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smtClean="0"/>
              <a:t>Техники за МПК: Файлове</a:t>
            </a:r>
            <a:endParaRPr lang="bg-BG" dirty="0"/>
          </a:p>
        </p:txBody>
      </p:sp>
      <p:sp>
        <p:nvSpPr>
          <p:cNvPr id="3" name="Content Placeholder 2"/>
          <p:cNvSpPr>
            <a:spLocks noGrp="1"/>
          </p:cNvSpPr>
          <p:nvPr>
            <p:ph idx="1"/>
          </p:nvPr>
        </p:nvSpPr>
        <p:spPr>
          <a:xfrm>
            <a:off x="908662" y="1143000"/>
            <a:ext cx="10900750" cy="5486400"/>
          </a:xfrm>
        </p:spPr>
        <p:txBody>
          <a:bodyPr>
            <a:noAutofit/>
          </a:bodyPr>
          <a:lstStyle/>
          <a:p>
            <a:pPr>
              <a:lnSpc>
                <a:spcPct val="85000"/>
              </a:lnSpc>
              <a:spcBef>
                <a:spcPts val="300"/>
              </a:spcBef>
            </a:pPr>
            <a:r>
              <a:rPr lang="bg-BG" dirty="0" smtClean="0"/>
              <a:t>Те са най-очевидния начин за предаване на информация между процесите.</a:t>
            </a:r>
          </a:p>
          <a:p>
            <a:pPr lvl="1">
              <a:lnSpc>
                <a:spcPct val="85000"/>
              </a:lnSpc>
              <a:spcBef>
                <a:spcPts val="300"/>
              </a:spcBef>
            </a:pPr>
            <a:r>
              <a:rPr lang="bg-BG" dirty="0" smtClean="0"/>
              <a:t>Един процес записва във файл, а друг процес чете от файла по-късно.</a:t>
            </a:r>
          </a:p>
          <a:p>
            <a:pPr lvl="2">
              <a:lnSpc>
                <a:spcPct val="85000"/>
              </a:lnSpc>
              <a:spcBef>
                <a:spcPts val="300"/>
              </a:spcBef>
            </a:pPr>
            <a:r>
              <a:rPr lang="bg-BG" dirty="0" smtClean="0"/>
              <a:t>Може няколко процеса да четат паралелно от записания файл.</a:t>
            </a:r>
          </a:p>
          <a:p>
            <a:pPr lvl="1">
              <a:lnSpc>
                <a:spcPct val="85000"/>
              </a:lnSpc>
              <a:spcBef>
                <a:spcPts val="300"/>
              </a:spcBef>
            </a:pPr>
            <a:r>
              <a:rPr lang="bg-BG" dirty="0" smtClean="0"/>
              <a:t>Техниката дава напълно работоспособни решения, но не е много интерактивно</a:t>
            </a:r>
          </a:p>
          <a:p>
            <a:pPr lvl="2">
              <a:lnSpc>
                <a:spcPct val="85000"/>
              </a:lnSpc>
              <a:spcBef>
                <a:spcPts val="300"/>
              </a:spcBef>
            </a:pPr>
            <a:r>
              <a:rPr lang="bg-BG" dirty="0" smtClean="0"/>
              <a:t>не можете да използва файл за да запишем/получим данни, по заявка в база данни.</a:t>
            </a:r>
          </a:p>
          <a:p>
            <a:pPr lvl="2">
              <a:lnSpc>
                <a:spcPct val="85000"/>
              </a:lnSpc>
              <a:spcBef>
                <a:spcPts val="300"/>
              </a:spcBef>
            </a:pPr>
            <a:r>
              <a:rPr lang="bg-BG" dirty="0" smtClean="0"/>
              <a:t>трудно се реализира надеждна работа ако единият процес пише, а другият започва да чете преди да е завършено писането.</a:t>
            </a:r>
          </a:p>
          <a:p>
            <a:pPr lvl="1">
              <a:lnSpc>
                <a:spcPct val="85000"/>
              </a:lnSpc>
              <a:spcBef>
                <a:spcPts val="300"/>
              </a:spcBef>
            </a:pPr>
            <a:r>
              <a:rPr lang="bg-BG" dirty="0" smtClean="0"/>
              <a:t>Това може да бъде и много бавно, поради скоростта на диска.</a:t>
            </a:r>
          </a:p>
          <a:p>
            <a:pPr lvl="2">
              <a:lnSpc>
                <a:spcPct val="85000"/>
              </a:lnSpc>
              <a:spcBef>
                <a:spcPts val="300"/>
              </a:spcBef>
            </a:pPr>
            <a:r>
              <a:rPr lang="bg-BG" dirty="0" smtClean="0"/>
              <a:t>Въпреки това, той често се използва за комуникационна техника, особено за файлове, разделени по време на запис и на четене.</a:t>
            </a:r>
          </a:p>
        </p:txBody>
      </p:sp>
    </p:spTree>
    <p:extLst>
      <p:ext uri="{BB962C8B-B14F-4D97-AF65-F5344CB8AC3E}">
        <p14:creationId xmlns:p14="http://schemas.microsoft.com/office/powerpoint/2010/main" val="1864827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a:t>Техники за ВПК: </a:t>
            </a:r>
            <a:r>
              <a:rPr lang="bg-BG" dirty="0" smtClean="0"/>
              <a:t>Еднопосочни потоци (</a:t>
            </a:r>
            <a:r>
              <a:rPr lang="en-US" dirty="0" smtClean="0"/>
              <a:t>pipes)</a:t>
            </a:r>
            <a:endParaRPr lang="bg-BG" dirty="0"/>
          </a:p>
        </p:txBody>
      </p:sp>
      <p:sp>
        <p:nvSpPr>
          <p:cNvPr id="3" name="Content Placeholder 2"/>
          <p:cNvSpPr>
            <a:spLocks noGrp="1"/>
          </p:cNvSpPr>
          <p:nvPr>
            <p:ph idx="1"/>
          </p:nvPr>
        </p:nvSpPr>
        <p:spPr>
          <a:xfrm>
            <a:off x="908662" y="1143000"/>
            <a:ext cx="10900750" cy="5486400"/>
          </a:xfrm>
        </p:spPr>
        <p:txBody>
          <a:bodyPr>
            <a:noAutofit/>
          </a:bodyPr>
          <a:lstStyle/>
          <a:p>
            <a:pPr>
              <a:lnSpc>
                <a:spcPct val="100000"/>
              </a:lnSpc>
              <a:spcBef>
                <a:spcPts val="300"/>
              </a:spcBef>
            </a:pPr>
            <a:r>
              <a:rPr lang="bg-BG" sz="2800" dirty="0" smtClean="0"/>
              <a:t>Това е по-гъвкава техника</a:t>
            </a:r>
          </a:p>
          <a:p>
            <a:pPr lvl="1">
              <a:lnSpc>
                <a:spcPct val="100000"/>
              </a:lnSpc>
              <a:spcBef>
                <a:spcPts val="300"/>
              </a:spcBef>
            </a:pPr>
            <a:r>
              <a:rPr lang="bg-BG" sz="2400" dirty="0" smtClean="0"/>
              <a:t>Използването на файлове води до загуба (блокиране) на дисково пространство.</a:t>
            </a:r>
          </a:p>
          <a:p>
            <a:pPr>
              <a:lnSpc>
                <a:spcPct val="100000"/>
              </a:lnSpc>
              <a:spcBef>
                <a:spcPts val="300"/>
              </a:spcBef>
            </a:pPr>
            <a:r>
              <a:rPr lang="bg-BG" sz="2800" dirty="0" smtClean="0"/>
              <a:t>Това е техника за директно предаване на данни от един процес към друг процес.</a:t>
            </a:r>
          </a:p>
          <a:p>
            <a:pPr lvl="1">
              <a:lnSpc>
                <a:spcPct val="100000"/>
              </a:lnSpc>
              <a:spcBef>
                <a:spcPts val="300"/>
              </a:spcBef>
            </a:pPr>
            <a:r>
              <a:rPr lang="bg-BG" sz="2400" dirty="0" smtClean="0"/>
              <a:t>Създадено е в </a:t>
            </a:r>
            <a:r>
              <a:rPr lang="bg-BG" sz="2400" dirty="0" err="1" smtClean="0"/>
              <a:t>Unix</a:t>
            </a:r>
            <a:r>
              <a:rPr lang="bg-BG" sz="2400" dirty="0" smtClean="0"/>
              <a:t> и оттам носи названието “</a:t>
            </a:r>
            <a:r>
              <a:rPr lang="bg-BG" sz="2400" dirty="0" err="1" smtClean="0"/>
              <a:t>pipes</a:t>
            </a:r>
            <a:r>
              <a:rPr lang="bg-BG" sz="2400" dirty="0" smtClean="0"/>
              <a:t>”.</a:t>
            </a:r>
          </a:p>
          <a:p>
            <a:pPr lvl="1">
              <a:lnSpc>
                <a:spcPct val="100000"/>
              </a:lnSpc>
              <a:spcBef>
                <a:spcPts val="300"/>
              </a:spcBef>
            </a:pPr>
            <a:r>
              <a:rPr lang="bg-BG" sz="2400" dirty="0" smtClean="0"/>
              <a:t>Предаването е от родителския процес към наследника.</a:t>
            </a:r>
          </a:p>
          <a:p>
            <a:pPr lvl="1">
              <a:lnSpc>
                <a:spcPct val="100000"/>
              </a:lnSpc>
              <a:spcBef>
                <a:spcPts val="300"/>
              </a:spcBef>
            </a:pPr>
            <a:r>
              <a:rPr lang="bg-BG" sz="2400" dirty="0" smtClean="0"/>
              <a:t>Много ОС предоставят нужните системни ресурси за реализация на тази техника.</a:t>
            </a:r>
          </a:p>
          <a:p>
            <a:pPr>
              <a:lnSpc>
                <a:spcPct val="100000"/>
              </a:lnSpc>
              <a:spcBef>
                <a:spcPts val="300"/>
              </a:spcBef>
            </a:pPr>
            <a:r>
              <a:rPr lang="bg-BG" sz="2800" dirty="0" smtClean="0"/>
              <a:t>Проблеми:</a:t>
            </a:r>
          </a:p>
          <a:p>
            <a:pPr lvl="1">
              <a:lnSpc>
                <a:spcPct val="100000"/>
              </a:lnSpc>
              <a:spcBef>
                <a:spcPts val="300"/>
              </a:spcBef>
            </a:pPr>
            <a:r>
              <a:rPr lang="bg-BG" sz="2400" dirty="0" smtClean="0"/>
              <a:t>Размерът на потока обикновено е ограничен.</a:t>
            </a:r>
          </a:p>
          <a:p>
            <a:pPr lvl="1">
              <a:lnSpc>
                <a:spcPct val="100000"/>
              </a:lnSpc>
              <a:spcBef>
                <a:spcPts val="300"/>
              </a:spcBef>
            </a:pPr>
            <a:r>
              <a:rPr lang="bg-BG" sz="2400" dirty="0" smtClean="0"/>
              <a:t>Има проблем със синхронизацията при запис и четене.</a:t>
            </a:r>
          </a:p>
          <a:p>
            <a:pPr lvl="2">
              <a:lnSpc>
                <a:spcPct val="100000"/>
              </a:lnSpc>
              <a:spcBef>
                <a:spcPts val="300"/>
              </a:spcBef>
            </a:pPr>
            <a:r>
              <a:rPr lang="bg-BG" sz="2000" dirty="0" smtClean="0"/>
              <a:t>Ако вторият процес не чете толкова бързо, колкото първият пише, потокът се препълва.</a:t>
            </a:r>
          </a:p>
        </p:txBody>
      </p:sp>
    </p:spTree>
    <p:extLst>
      <p:ext uri="{BB962C8B-B14F-4D97-AF65-F5344CB8AC3E}">
        <p14:creationId xmlns:p14="http://schemas.microsoft.com/office/powerpoint/2010/main" val="4159278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a:t>Техники за </a:t>
            </a:r>
            <a:r>
              <a:rPr lang="bg-BG" dirty="0" smtClean="0"/>
              <a:t>МПК</a:t>
            </a:r>
            <a:r>
              <a:rPr lang="bg-BG" dirty="0"/>
              <a:t>: </a:t>
            </a:r>
            <a:r>
              <a:rPr lang="bg-BG" dirty="0" smtClean="0"/>
              <a:t>Еднопосочни потоци (</a:t>
            </a:r>
            <a:r>
              <a:rPr lang="en-US" dirty="0" smtClean="0"/>
              <a:t>pipes)</a:t>
            </a:r>
            <a:endParaRPr lang="bg-BG" dirty="0"/>
          </a:p>
        </p:txBody>
      </p:sp>
      <p:sp>
        <p:nvSpPr>
          <p:cNvPr id="3" name="Content Placeholder 2"/>
          <p:cNvSpPr>
            <a:spLocks noGrp="1"/>
          </p:cNvSpPr>
          <p:nvPr>
            <p:ph idx="1"/>
          </p:nvPr>
        </p:nvSpPr>
        <p:spPr>
          <a:xfrm>
            <a:off x="908662" y="1143000"/>
            <a:ext cx="10900750" cy="5486400"/>
          </a:xfrm>
        </p:spPr>
        <p:txBody>
          <a:bodyPr vert="horz" lIns="91440" tIns="45720" rIns="91440" bIns="45720" rtlCol="0">
            <a:noAutofit/>
          </a:bodyPr>
          <a:lstStyle/>
          <a:p>
            <a:pPr>
              <a:lnSpc>
                <a:spcPct val="100000"/>
              </a:lnSpc>
              <a:spcBef>
                <a:spcPts val="300"/>
              </a:spcBef>
            </a:pPr>
            <a:r>
              <a:rPr lang="bg-BG" sz="2800" dirty="0"/>
              <a:t>Видове</a:t>
            </a:r>
          </a:p>
          <a:p>
            <a:pPr lvl="1">
              <a:lnSpc>
                <a:spcPct val="100000"/>
              </a:lnSpc>
              <a:spcBef>
                <a:spcPts val="300"/>
              </a:spcBef>
            </a:pPr>
            <a:r>
              <a:rPr lang="bg-BG" sz="2400" dirty="0" smtClean="0"/>
              <a:t>Анонимни потоци</a:t>
            </a:r>
          </a:p>
          <a:p>
            <a:pPr lvl="2">
              <a:lnSpc>
                <a:spcPct val="100000"/>
              </a:lnSpc>
              <a:spcBef>
                <a:spcPts val="300"/>
              </a:spcBef>
            </a:pPr>
            <a:r>
              <a:rPr lang="bg-BG" sz="2000" dirty="0" smtClean="0"/>
              <a:t>Това са само еднопосочни потоци.</a:t>
            </a:r>
          </a:p>
          <a:p>
            <a:pPr lvl="2">
              <a:lnSpc>
                <a:spcPct val="100000"/>
              </a:lnSpc>
              <a:spcBef>
                <a:spcPts val="300"/>
              </a:spcBef>
            </a:pPr>
            <a:r>
              <a:rPr lang="bg-BG" sz="2000" dirty="0" smtClean="0"/>
              <a:t>Могат да се използват само в рамките на един компютър, т.е. не могат да се използват за мрежов обмен.</a:t>
            </a:r>
          </a:p>
          <a:p>
            <a:pPr lvl="2">
              <a:lnSpc>
                <a:spcPct val="100000"/>
              </a:lnSpc>
              <a:spcBef>
                <a:spcPts val="300"/>
              </a:spcBef>
            </a:pPr>
            <a:r>
              <a:rPr lang="bg-BG" sz="2000" dirty="0" smtClean="0"/>
              <a:t>При създаването се определя кой е източника и кой е приемника.</a:t>
            </a:r>
          </a:p>
          <a:p>
            <a:pPr lvl="1">
              <a:lnSpc>
                <a:spcPct val="100000"/>
              </a:lnSpc>
              <a:spcBef>
                <a:spcPts val="300"/>
              </a:spcBef>
            </a:pPr>
            <a:r>
              <a:rPr lang="bg-BG" sz="2400" dirty="0" err="1" smtClean="0"/>
              <a:t>Наименовани</a:t>
            </a:r>
            <a:r>
              <a:rPr lang="bg-BG" sz="2400" dirty="0" smtClean="0"/>
              <a:t> потоци (англ. </a:t>
            </a:r>
            <a:r>
              <a:rPr lang="en-US" sz="2400" dirty="0" smtClean="0"/>
              <a:t>Named pipes)</a:t>
            </a:r>
            <a:endParaRPr lang="bg-BG" sz="2400" dirty="0" smtClean="0"/>
          </a:p>
          <a:p>
            <a:pPr lvl="2">
              <a:lnSpc>
                <a:spcPct val="100000"/>
              </a:lnSpc>
              <a:spcBef>
                <a:spcPts val="300"/>
              </a:spcBef>
            </a:pPr>
            <a:r>
              <a:rPr lang="bg-BG" sz="2000" dirty="0" smtClean="0"/>
              <a:t>Това е развитие на техниката, позволяваща да има един източник (т.нар. сървър), но много паралелни приемника (т.нар. клиенти).</a:t>
            </a:r>
          </a:p>
          <a:p>
            <a:pPr lvl="2">
              <a:lnSpc>
                <a:spcPct val="100000"/>
              </a:lnSpc>
              <a:spcBef>
                <a:spcPts val="300"/>
              </a:spcBef>
            </a:pPr>
            <a:r>
              <a:rPr lang="bg-BG" sz="2000" dirty="0" smtClean="0"/>
              <a:t>Връзката може да се реализира двупосочна, като предаването от клиент към сървър е ограничено по вид.</a:t>
            </a:r>
          </a:p>
          <a:p>
            <a:pPr lvl="2">
              <a:lnSpc>
                <a:spcPct val="100000"/>
              </a:lnSpc>
              <a:spcBef>
                <a:spcPts val="300"/>
              </a:spcBef>
            </a:pPr>
            <a:r>
              <a:rPr lang="bg-BG" sz="2000" dirty="0" smtClean="0"/>
              <a:t>Може да се реализира комуникация между процеси на различни компютри в мрежата.</a:t>
            </a:r>
            <a:endParaRPr lang="bg-BG" sz="2000" dirty="0"/>
          </a:p>
        </p:txBody>
      </p:sp>
    </p:spTree>
    <p:extLst>
      <p:ext uri="{BB962C8B-B14F-4D97-AF65-F5344CB8AC3E}">
        <p14:creationId xmlns:p14="http://schemas.microsoft.com/office/powerpoint/2010/main" val="597716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igs/ipc_shmem.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6612" y="3581400"/>
            <a:ext cx="3076575" cy="313372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b">
            <a:normAutofit/>
          </a:bodyPr>
          <a:lstStyle/>
          <a:p>
            <a:r>
              <a:rPr lang="bg-BG" dirty="0"/>
              <a:t>Техники за </a:t>
            </a:r>
            <a:r>
              <a:rPr lang="bg-BG" dirty="0" smtClean="0"/>
              <a:t>МПК</a:t>
            </a:r>
            <a:r>
              <a:rPr lang="bg-BG" dirty="0"/>
              <a:t>: </a:t>
            </a:r>
            <a:r>
              <a:rPr lang="ru-RU" dirty="0" err="1"/>
              <a:t>Споделена</a:t>
            </a:r>
            <a:r>
              <a:rPr lang="ru-RU" dirty="0"/>
              <a:t> </a:t>
            </a:r>
            <a:r>
              <a:rPr lang="ru-RU" dirty="0" err="1"/>
              <a:t>памет</a:t>
            </a:r>
            <a:endParaRPr lang="bg-BG" dirty="0"/>
          </a:p>
        </p:txBody>
      </p:sp>
      <p:sp>
        <p:nvSpPr>
          <p:cNvPr id="3" name="Content Placeholder 2"/>
          <p:cNvSpPr>
            <a:spLocks noGrp="1"/>
          </p:cNvSpPr>
          <p:nvPr>
            <p:ph idx="1"/>
          </p:nvPr>
        </p:nvSpPr>
        <p:spPr>
          <a:xfrm>
            <a:off x="908662" y="1143000"/>
            <a:ext cx="10900750" cy="5486400"/>
          </a:xfrm>
        </p:spPr>
        <p:txBody>
          <a:bodyPr>
            <a:noAutofit/>
          </a:bodyPr>
          <a:lstStyle/>
          <a:p>
            <a:pPr>
              <a:lnSpc>
                <a:spcPct val="100000"/>
              </a:lnSpc>
              <a:spcBef>
                <a:spcPts val="300"/>
              </a:spcBef>
            </a:pPr>
            <a:r>
              <a:rPr lang="bg-BG" sz="2800" dirty="0" smtClean="0"/>
              <a:t>Това е най-бързият механизъм от трите: </a:t>
            </a:r>
          </a:p>
          <a:p>
            <a:pPr lvl="1">
              <a:lnSpc>
                <a:spcPct val="100000"/>
              </a:lnSpc>
              <a:spcBef>
                <a:spcPts val="300"/>
              </a:spcBef>
            </a:pPr>
            <a:r>
              <a:rPr lang="bg-BG" sz="2400" dirty="0" smtClean="0"/>
              <a:t>ОС предоставя място във физическата памет като общо</a:t>
            </a:r>
          </a:p>
          <a:p>
            <a:pPr lvl="1">
              <a:lnSpc>
                <a:spcPct val="100000"/>
              </a:lnSpc>
              <a:spcBef>
                <a:spcPts val="300"/>
              </a:spcBef>
            </a:pPr>
            <a:r>
              <a:rPr lang="bg-BG" sz="2400" dirty="0" smtClean="0"/>
              <a:t>При зареждането на програмата в паметта това общо място става по един и същи начин част от адресното поле на комуникиращите си процеси</a:t>
            </a:r>
          </a:p>
          <a:p>
            <a:pPr lvl="1">
              <a:lnSpc>
                <a:spcPct val="100000"/>
              </a:lnSpc>
              <a:spcBef>
                <a:spcPts val="300"/>
              </a:spcBef>
            </a:pPr>
            <a:r>
              <a:rPr lang="bg-BG" sz="2400" dirty="0" smtClean="0"/>
              <a:t>Всеки процес използва променливите, разположени на това място като собствени променливи.</a:t>
            </a:r>
          </a:p>
          <a:p>
            <a:pPr>
              <a:lnSpc>
                <a:spcPct val="100000"/>
              </a:lnSpc>
              <a:spcBef>
                <a:spcPts val="300"/>
              </a:spcBef>
            </a:pPr>
            <a:r>
              <a:rPr lang="bg-BG" sz="2800" dirty="0" smtClean="0"/>
              <a:t>При странична организация на паметта това се реализира много лесно:</a:t>
            </a:r>
          </a:p>
          <a:p>
            <a:pPr lvl="1">
              <a:lnSpc>
                <a:spcPct val="100000"/>
              </a:lnSpc>
              <a:spcBef>
                <a:spcPts val="300"/>
              </a:spcBef>
            </a:pPr>
            <a:r>
              <a:rPr lang="bg-BG" sz="2400" dirty="0" smtClean="0"/>
              <a:t>Общата памет за всеки от процесите е логическа страница, а ОС осигурява при разполагането върху физическите страници тези логически страници да се </a:t>
            </a:r>
            <a:r>
              <a:rPr lang="bg-BG" sz="2400" dirty="0" err="1" smtClean="0"/>
              <a:t>припокрият</a:t>
            </a:r>
            <a:r>
              <a:rPr lang="bg-BG" sz="2400" dirty="0" smtClean="0"/>
              <a:t>.</a:t>
            </a:r>
          </a:p>
        </p:txBody>
      </p:sp>
    </p:spTree>
    <p:extLst>
      <p:ext uri="{BB962C8B-B14F-4D97-AF65-F5344CB8AC3E}">
        <p14:creationId xmlns:p14="http://schemas.microsoft.com/office/powerpoint/2010/main" val="3958840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85000"/>
              </a:lnSpc>
            </a:pPr>
            <a:r>
              <a:rPr lang="bg-BG" dirty="0" smtClean="0"/>
              <a:t>Стратегии за диспечиране на процеси</a:t>
            </a:r>
            <a:endParaRPr lang="en-US" dirty="0"/>
          </a:p>
        </p:txBody>
      </p:sp>
      <p:sp>
        <p:nvSpPr>
          <p:cNvPr id="3" name="Content Placeholder 2"/>
          <p:cNvSpPr>
            <a:spLocks noGrp="1"/>
          </p:cNvSpPr>
          <p:nvPr>
            <p:ph idx="1"/>
          </p:nvPr>
        </p:nvSpPr>
        <p:spPr>
          <a:xfrm>
            <a:off x="908662" y="1143000"/>
            <a:ext cx="10900750" cy="5562600"/>
          </a:xfrm>
        </p:spPr>
        <p:txBody>
          <a:bodyPr>
            <a:noAutofit/>
          </a:bodyPr>
          <a:lstStyle/>
          <a:p>
            <a:pPr>
              <a:spcBef>
                <a:spcPts val="300"/>
              </a:spcBef>
            </a:pPr>
            <a:r>
              <a:rPr lang="bg-BG" sz="2400" dirty="0" smtClean="0"/>
              <a:t>Системи с </a:t>
            </a:r>
            <a:r>
              <a:rPr lang="bg-BG" sz="2400" dirty="0" err="1" smtClean="0"/>
              <a:t>мултипрограмиране</a:t>
            </a:r>
            <a:endParaRPr lang="bg-BG" sz="2400" dirty="0" smtClean="0"/>
          </a:p>
          <a:p>
            <a:pPr lvl="1">
              <a:spcBef>
                <a:spcPts val="300"/>
              </a:spcBef>
            </a:pPr>
            <a:r>
              <a:rPr lang="bg-BG" sz="2000" dirty="0" smtClean="0"/>
              <a:t>Една задача се изпълнява, докато не настъпи необходимост от изчакване на външно събитие (например, да се получи сигнал от сензор) или докато диспечерът на задачите не реши, че трябва да спре изпълнението (например, поради изтичане на зададен максимален период на работа).</a:t>
            </a:r>
          </a:p>
          <a:p>
            <a:pPr lvl="1">
              <a:spcBef>
                <a:spcPts val="300"/>
              </a:spcBef>
            </a:pPr>
            <a:r>
              <a:rPr lang="bg-BG" sz="2000" dirty="0" smtClean="0"/>
              <a:t>Основната задача е максимално използване на процесора.</a:t>
            </a:r>
          </a:p>
          <a:p>
            <a:pPr>
              <a:spcBef>
                <a:spcPts val="300"/>
              </a:spcBef>
            </a:pPr>
            <a:r>
              <a:rPr lang="bg-BG" sz="2400" dirty="0" smtClean="0"/>
              <a:t>Системи с </a:t>
            </a:r>
            <a:r>
              <a:rPr lang="bg-BG" sz="2400" dirty="0" err="1" smtClean="0"/>
              <a:t>времеделение</a:t>
            </a:r>
            <a:r>
              <a:rPr lang="bg-BG" sz="2400" dirty="0" smtClean="0"/>
              <a:t> (</a:t>
            </a:r>
            <a:r>
              <a:rPr lang="bg-BG" sz="2400" dirty="0" err="1" smtClean="0"/>
              <a:t>англ</a:t>
            </a:r>
            <a:r>
              <a:rPr lang="bg-BG" sz="2400" dirty="0" smtClean="0"/>
              <a:t>. </a:t>
            </a:r>
            <a:r>
              <a:rPr lang="bg-BG" sz="2400" dirty="0" err="1" smtClean="0"/>
              <a:t>time-sharing</a:t>
            </a:r>
            <a:r>
              <a:rPr lang="bg-BG" sz="2400" dirty="0" smtClean="0"/>
              <a:t> </a:t>
            </a:r>
            <a:r>
              <a:rPr lang="bg-BG" sz="2400" dirty="0" err="1" smtClean="0"/>
              <a:t>systems</a:t>
            </a:r>
            <a:r>
              <a:rPr lang="bg-BG" sz="2400" dirty="0" smtClean="0"/>
              <a:t>)</a:t>
            </a:r>
          </a:p>
          <a:p>
            <a:pPr lvl="1">
              <a:spcBef>
                <a:spcPts val="300"/>
              </a:spcBef>
            </a:pPr>
            <a:r>
              <a:rPr lang="bg-BG" sz="2000" dirty="0" smtClean="0"/>
              <a:t>Една задача се изпълнява докато сама не се откаже (да се спре поради алгоритмично решение) или докато не възникне външно събитие от определен вид (пример: хардуерно прекъсване).</a:t>
            </a:r>
          </a:p>
          <a:p>
            <a:pPr lvl="1">
              <a:spcBef>
                <a:spcPts val="300"/>
              </a:spcBef>
            </a:pPr>
            <a:r>
              <a:rPr lang="bg-BG" sz="2000" dirty="0" smtClean="0"/>
              <a:t>Основната задача е създаването на усещане за практически едновременна работа на няколко задачи.</a:t>
            </a:r>
          </a:p>
          <a:p>
            <a:pPr>
              <a:spcBef>
                <a:spcPts val="300"/>
              </a:spcBef>
            </a:pPr>
            <a:r>
              <a:rPr lang="bg-BG" sz="2400" dirty="0" smtClean="0"/>
              <a:t>Системи за реално време (</a:t>
            </a:r>
            <a:r>
              <a:rPr lang="bg-BG" sz="2400" dirty="0" err="1" smtClean="0"/>
              <a:t>англ</a:t>
            </a:r>
            <a:r>
              <a:rPr lang="bg-BG" sz="2400" dirty="0" smtClean="0"/>
              <a:t>. </a:t>
            </a:r>
            <a:r>
              <a:rPr lang="bg-BG" sz="2400" dirty="0" err="1" smtClean="0"/>
              <a:t>real-time</a:t>
            </a:r>
            <a:r>
              <a:rPr lang="bg-BG" sz="2400" dirty="0" smtClean="0"/>
              <a:t> </a:t>
            </a:r>
            <a:r>
              <a:rPr lang="bg-BG" sz="2400" dirty="0" err="1" smtClean="0"/>
              <a:t>systems</a:t>
            </a:r>
            <a:r>
              <a:rPr lang="bg-BG" sz="2400" dirty="0" smtClean="0"/>
              <a:t>)</a:t>
            </a:r>
          </a:p>
          <a:p>
            <a:pPr lvl="1">
              <a:spcBef>
                <a:spcPts val="300"/>
              </a:spcBef>
            </a:pPr>
            <a:r>
              <a:rPr lang="bg-BG" sz="2000" dirty="0" smtClean="0"/>
              <a:t>Задачата се активизира при настъпването на предварително определено събитие, т.е. диспечерът знае при кое събитие коя задача трябва да стартира.</a:t>
            </a:r>
          </a:p>
          <a:p>
            <a:pPr lvl="1">
              <a:spcBef>
                <a:spcPts val="300"/>
              </a:spcBef>
            </a:pPr>
            <a:r>
              <a:rPr lang="bg-BG" sz="2000" dirty="0" smtClean="0"/>
              <a:t>Основната задача е да няма събитие, спрямо което да няма адекватна реакция, т.е. да се „разбере“ за събитието и да се реагира адекватно (като вид и време на реакцията).</a:t>
            </a:r>
          </a:p>
        </p:txBody>
      </p:sp>
    </p:spTree>
    <p:extLst>
      <p:ext uri="{BB962C8B-B14F-4D97-AF65-F5344CB8AC3E}">
        <p14:creationId xmlns:p14="http://schemas.microsoft.com/office/powerpoint/2010/main" val="1130514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Видове </a:t>
            </a:r>
            <a:r>
              <a:rPr lang="bg-BG" dirty="0" err="1" smtClean="0"/>
              <a:t>многозадачност</a:t>
            </a:r>
            <a:endParaRPr lang="en-US" dirty="0"/>
          </a:p>
        </p:txBody>
      </p:sp>
      <p:sp>
        <p:nvSpPr>
          <p:cNvPr id="3" name="Content Placeholder 2"/>
          <p:cNvSpPr>
            <a:spLocks noGrp="1"/>
          </p:cNvSpPr>
          <p:nvPr>
            <p:ph idx="1"/>
          </p:nvPr>
        </p:nvSpPr>
        <p:spPr>
          <a:xfrm>
            <a:off x="908662" y="1143000"/>
            <a:ext cx="10900750" cy="5562600"/>
          </a:xfrm>
        </p:spPr>
        <p:txBody>
          <a:bodyPr>
            <a:noAutofit/>
          </a:bodyPr>
          <a:lstStyle/>
          <a:p>
            <a:pPr>
              <a:lnSpc>
                <a:spcPct val="83000"/>
              </a:lnSpc>
              <a:spcBef>
                <a:spcPts val="300"/>
              </a:spcBef>
            </a:pPr>
            <a:r>
              <a:rPr lang="bg-BG" sz="2800" dirty="0" err="1" smtClean="0"/>
              <a:t>Многозадачност</a:t>
            </a:r>
            <a:r>
              <a:rPr lang="bg-BG" sz="2800" dirty="0" smtClean="0"/>
              <a:t> </a:t>
            </a:r>
            <a:r>
              <a:rPr lang="bg-BG" sz="2800" dirty="0" smtClean="0">
                <a:effectLst>
                  <a:outerShdw blurRad="38100" dist="38100" dir="2700000" algn="tl">
                    <a:srgbClr val="000000">
                      <a:alpha val="43137"/>
                    </a:srgbClr>
                  </a:outerShdw>
                </a:effectLst>
              </a:rPr>
              <a:t>чрез</a:t>
            </a:r>
            <a:r>
              <a:rPr lang="bg-BG" sz="2800" dirty="0" smtClean="0"/>
              <a:t> </a:t>
            </a:r>
            <a:r>
              <a:rPr lang="bg-BG" sz="2800" dirty="0" smtClean="0">
                <a:effectLst>
                  <a:outerShdw blurRad="38100" dist="38100" dir="2700000" algn="tl">
                    <a:srgbClr val="000000">
                      <a:alpha val="43137"/>
                    </a:srgbClr>
                  </a:outerShdw>
                </a:effectLst>
              </a:rPr>
              <a:t>сътрудничество </a:t>
            </a:r>
            <a:r>
              <a:rPr lang="bg-BG" sz="2800" dirty="0" smtClean="0"/>
              <a:t>(</a:t>
            </a:r>
            <a:r>
              <a:rPr lang="bg-BG" sz="2800" dirty="0" err="1" smtClean="0"/>
              <a:t>англ</a:t>
            </a:r>
            <a:r>
              <a:rPr lang="bg-BG" sz="2800" dirty="0" smtClean="0"/>
              <a:t>. </a:t>
            </a:r>
            <a:r>
              <a:rPr lang="bg-BG" sz="2800" dirty="0" err="1" smtClean="0"/>
              <a:t>Cooperatively</a:t>
            </a:r>
            <a:r>
              <a:rPr lang="bg-BG" sz="2800" dirty="0" smtClean="0"/>
              <a:t> </a:t>
            </a:r>
            <a:r>
              <a:rPr lang="bg-BG" sz="2800" dirty="0" err="1" smtClean="0"/>
              <a:t>multitasking</a:t>
            </a:r>
            <a:r>
              <a:rPr lang="bg-BG" sz="2800" dirty="0" smtClean="0"/>
              <a:t>)</a:t>
            </a:r>
          </a:p>
          <a:p>
            <a:pPr lvl="1">
              <a:lnSpc>
                <a:spcPct val="83000"/>
              </a:lnSpc>
              <a:spcBef>
                <a:spcPts val="300"/>
              </a:spcBef>
            </a:pPr>
            <a:r>
              <a:rPr lang="bg-BG" sz="2400" dirty="0" smtClean="0"/>
              <a:t>Този подход позволява на компютърната система да гарантира, че всеки процес редовно отстъпва процесора (дава време) на другите процеси в системата.</a:t>
            </a:r>
          </a:p>
          <a:p>
            <a:pPr lvl="2">
              <a:lnSpc>
                <a:spcPct val="83000"/>
              </a:lnSpc>
              <a:spcBef>
                <a:spcPts val="300"/>
              </a:spcBef>
            </a:pPr>
            <a:r>
              <a:rPr lang="bg-BG" sz="2000" dirty="0" smtClean="0"/>
              <a:t>Недобре разработена програма може да изразходва цялото време на процесора за себе си -  най-често това е заради големи по обем и сложни или защото е „недостъпна“ (</a:t>
            </a:r>
            <a:r>
              <a:rPr lang="bg-BG" sz="2000" dirty="0" err="1" smtClean="0"/>
              <a:t>англ</a:t>
            </a:r>
            <a:r>
              <a:rPr lang="bg-BG" sz="2000" dirty="0" smtClean="0"/>
              <a:t>. </a:t>
            </a:r>
            <a:r>
              <a:rPr lang="bg-BG" sz="2000" i="1" dirty="0" err="1" smtClean="0">
                <a:effectLst>
                  <a:outerShdw blurRad="38100" dist="38100" dir="2700000" algn="tl">
                    <a:srgbClr val="000000">
                      <a:alpha val="43137"/>
                    </a:srgbClr>
                  </a:outerShdw>
                </a:effectLst>
              </a:rPr>
              <a:t>busy</a:t>
            </a:r>
            <a:r>
              <a:rPr lang="bg-BG" sz="2000" i="1" dirty="0" smtClean="0">
                <a:effectLst>
                  <a:outerShdw blurRad="38100" dist="38100" dir="2700000" algn="tl">
                    <a:srgbClr val="000000">
                      <a:alpha val="43137"/>
                    </a:srgbClr>
                  </a:outerShdw>
                </a:effectLst>
              </a:rPr>
              <a:t> </a:t>
            </a:r>
            <a:r>
              <a:rPr lang="bg-BG" sz="2000" i="1" dirty="0" err="1" smtClean="0">
                <a:effectLst>
                  <a:outerShdw blurRad="38100" dist="38100" dir="2700000" algn="tl">
                    <a:srgbClr val="000000">
                      <a:alpha val="43137"/>
                    </a:srgbClr>
                  </a:outerShdw>
                </a:effectLst>
              </a:rPr>
              <a:t>waiting</a:t>
            </a:r>
            <a:r>
              <a:rPr lang="bg-BG" sz="2000" dirty="0" smtClean="0"/>
              <a:t>).</a:t>
            </a:r>
          </a:p>
          <a:p>
            <a:pPr lvl="2">
              <a:lnSpc>
                <a:spcPct val="83000"/>
              </a:lnSpc>
              <a:spcBef>
                <a:spcPts val="300"/>
              </a:spcBef>
            </a:pPr>
            <a:r>
              <a:rPr lang="bg-BG" sz="2000" dirty="0" smtClean="0"/>
              <a:t>И в двата случая цялата система „виси“, защото не знае кога друг ще може да работи (използва се термина „</a:t>
            </a:r>
            <a:r>
              <a:rPr lang="bg-BG" sz="2000" i="1" dirty="0" err="1" smtClean="0">
                <a:effectLst>
                  <a:outerShdw blurRad="38100" dist="38100" dir="2700000" algn="tl">
                    <a:srgbClr val="000000">
                      <a:alpha val="43137"/>
                    </a:srgbClr>
                  </a:outerShdw>
                </a:effectLst>
              </a:rPr>
              <a:t>hang</a:t>
            </a:r>
            <a:r>
              <a:rPr lang="bg-BG" sz="2000" dirty="0" smtClean="0"/>
              <a:t>“).</a:t>
            </a:r>
          </a:p>
          <a:p>
            <a:pPr>
              <a:lnSpc>
                <a:spcPct val="83000"/>
              </a:lnSpc>
              <a:spcBef>
                <a:spcPts val="300"/>
              </a:spcBef>
            </a:pPr>
            <a:r>
              <a:rPr lang="bg-BG" sz="2800" dirty="0" err="1" smtClean="0"/>
              <a:t>Многозадачност</a:t>
            </a:r>
            <a:r>
              <a:rPr lang="bg-BG" sz="2800" dirty="0" smtClean="0"/>
              <a:t> чрез предварително дефиниране (</a:t>
            </a:r>
            <a:r>
              <a:rPr lang="bg-BG" sz="2800" dirty="0" err="1" smtClean="0"/>
              <a:t>англ</a:t>
            </a:r>
            <a:r>
              <a:rPr lang="bg-BG" sz="2800" dirty="0" smtClean="0"/>
              <a:t>. </a:t>
            </a:r>
            <a:r>
              <a:rPr lang="bg-BG" sz="2800" dirty="0" err="1"/>
              <a:t>Preemptive</a:t>
            </a:r>
            <a:r>
              <a:rPr lang="bg-BG" sz="2800" dirty="0"/>
              <a:t> </a:t>
            </a:r>
            <a:r>
              <a:rPr lang="bg-BG" sz="2800" dirty="0" err="1"/>
              <a:t>multitasking</a:t>
            </a:r>
            <a:r>
              <a:rPr lang="bg-BG" sz="2800" dirty="0"/>
              <a:t>)</a:t>
            </a:r>
          </a:p>
          <a:p>
            <a:pPr lvl="1">
              <a:lnSpc>
                <a:spcPct val="83000"/>
              </a:lnSpc>
              <a:spcBef>
                <a:spcPts val="300"/>
              </a:spcBef>
            </a:pPr>
            <a:r>
              <a:rPr lang="bg-BG" sz="2400" dirty="0" smtClean="0"/>
              <a:t>Този подход позволява на компютърната система да гарантира по-надеждно, че всеки </a:t>
            </a:r>
            <a:r>
              <a:rPr lang="bg-BG" sz="2400" smtClean="0"/>
              <a:t>процес „</a:t>
            </a:r>
            <a:r>
              <a:rPr lang="bg-BG" sz="2400" dirty="0" smtClean="0"/>
              <a:t>редовно“ ще получава време за работа.</a:t>
            </a:r>
          </a:p>
          <a:p>
            <a:pPr lvl="1">
              <a:lnSpc>
                <a:spcPct val="83000"/>
              </a:lnSpc>
              <a:spcBef>
                <a:spcPts val="300"/>
              </a:spcBef>
            </a:pPr>
            <a:r>
              <a:rPr lang="bg-BG" sz="2400" dirty="0" smtClean="0"/>
              <a:t>Този подход също така позволява на системата да се справя бързо с важни външни събития (например постъпване на входящи данни), които изискват незабавното внимание на един или друг процес.</a:t>
            </a:r>
          </a:p>
        </p:txBody>
      </p:sp>
    </p:spTree>
    <p:extLst>
      <p:ext uri="{BB962C8B-B14F-4D97-AF65-F5344CB8AC3E}">
        <p14:creationId xmlns:p14="http://schemas.microsoft.com/office/powerpoint/2010/main" val="3951374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Граф на състоянията</a:t>
            </a:r>
            <a:endParaRPr lang="en-US" dirty="0"/>
          </a:p>
        </p:txBody>
      </p:sp>
      <p:sp>
        <p:nvSpPr>
          <p:cNvPr id="3" name="Content Placeholder 2"/>
          <p:cNvSpPr>
            <a:spLocks noGrp="1"/>
          </p:cNvSpPr>
          <p:nvPr>
            <p:ph idx="1"/>
          </p:nvPr>
        </p:nvSpPr>
        <p:spPr/>
        <p:txBody>
          <a:bodyPr/>
          <a:lstStyle/>
          <a:p>
            <a:r>
              <a:rPr lang="bg-BG" dirty="0" smtClean="0"/>
              <a:t>При вградени системи</a:t>
            </a:r>
            <a:endParaRPr lang="en-US" dirty="0"/>
          </a:p>
        </p:txBody>
      </p:sp>
      <p:pic>
        <p:nvPicPr>
          <p:cNvPr id="4" name="Picture 2" descr="Figs/monitor_state_diag.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6612" y="3276600"/>
            <a:ext cx="6735739" cy="294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5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Граф на състоянията</a:t>
            </a:r>
            <a:endParaRPr lang="en-US" dirty="0"/>
          </a:p>
        </p:txBody>
      </p:sp>
      <p:sp>
        <p:nvSpPr>
          <p:cNvPr id="3" name="Content Placeholder 2"/>
          <p:cNvSpPr>
            <a:spLocks noGrp="1"/>
          </p:cNvSpPr>
          <p:nvPr>
            <p:ph idx="1"/>
          </p:nvPr>
        </p:nvSpPr>
        <p:spPr/>
        <p:txBody>
          <a:bodyPr/>
          <a:lstStyle/>
          <a:p>
            <a:r>
              <a:rPr lang="bg-BG" dirty="0" smtClean="0"/>
              <a:t>При системи с общо предназначение</a:t>
            </a:r>
            <a:endParaRPr lang="en-US" dirty="0"/>
          </a:p>
        </p:txBody>
      </p:sp>
      <p:pic>
        <p:nvPicPr>
          <p:cNvPr id="5" name="Picture 2" descr="https://people.engr.ncsu.edu/efg/501/f98/lectures/notes/Image180.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9328" y="2362200"/>
            <a:ext cx="7356859" cy="390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1150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Граф на състоянията</a:t>
            </a:r>
            <a:endParaRPr lang="en-US" dirty="0"/>
          </a:p>
        </p:txBody>
      </p:sp>
      <p:sp>
        <p:nvSpPr>
          <p:cNvPr id="3" name="Content Placeholder 2"/>
          <p:cNvSpPr>
            <a:spLocks noGrp="1"/>
          </p:cNvSpPr>
          <p:nvPr>
            <p:ph idx="1"/>
          </p:nvPr>
        </p:nvSpPr>
        <p:spPr/>
        <p:txBody>
          <a:bodyPr/>
          <a:lstStyle/>
          <a:p>
            <a:r>
              <a:rPr lang="bg-BG" dirty="0" smtClean="0"/>
              <a:t>Модел на </a:t>
            </a:r>
            <a:r>
              <a:rPr lang="en-US" dirty="0" smtClean="0"/>
              <a:t>MS Windows</a:t>
            </a:r>
            <a:endParaRPr lang="en-US" dirty="0"/>
          </a:p>
        </p:txBody>
      </p:sp>
      <p:pic>
        <p:nvPicPr>
          <p:cNvPr id="6" name="Picture 5"/>
          <p:cNvPicPr>
            <a:picLocks noChangeAspect="1"/>
          </p:cNvPicPr>
          <p:nvPr/>
        </p:nvPicPr>
        <p:blipFill>
          <a:blip r:embed="rId2"/>
          <a:stretch>
            <a:fillRect/>
          </a:stretch>
        </p:blipFill>
        <p:spPr>
          <a:xfrm>
            <a:off x="3884612" y="2013606"/>
            <a:ext cx="7754432" cy="4744112"/>
          </a:xfrm>
          <a:prstGeom prst="rect">
            <a:avLst/>
          </a:prstGeom>
        </p:spPr>
      </p:pic>
    </p:spTree>
    <p:extLst>
      <p:ext uri="{BB962C8B-B14F-4D97-AF65-F5344CB8AC3E}">
        <p14:creationId xmlns:p14="http://schemas.microsoft.com/office/powerpoint/2010/main" val="7518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Граф на състоянията</a:t>
            </a:r>
            <a:endParaRPr lang="en-US" dirty="0"/>
          </a:p>
        </p:txBody>
      </p:sp>
      <p:sp>
        <p:nvSpPr>
          <p:cNvPr id="3" name="Content Placeholder 2"/>
          <p:cNvSpPr>
            <a:spLocks noGrp="1"/>
          </p:cNvSpPr>
          <p:nvPr>
            <p:ph idx="1"/>
          </p:nvPr>
        </p:nvSpPr>
        <p:spPr/>
        <p:txBody>
          <a:bodyPr/>
          <a:lstStyle/>
          <a:p>
            <a:r>
              <a:rPr lang="bg-BG" dirty="0" smtClean="0"/>
              <a:t>Модел на </a:t>
            </a:r>
            <a:r>
              <a:rPr lang="en-US" dirty="0" smtClean="0"/>
              <a:t>Linux</a:t>
            </a:r>
            <a:endParaRPr lang="en-US" dirty="0"/>
          </a:p>
        </p:txBody>
      </p:sp>
      <p:pic>
        <p:nvPicPr>
          <p:cNvPr id="1026" name="Picture 2" descr="p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5904" y="790962"/>
            <a:ext cx="5138170" cy="576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5483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Граф на </a:t>
            </a:r>
            <a:r>
              <a:rPr lang="bg-BG" dirty="0" smtClean="0"/>
              <a:t>състоянието</a:t>
            </a:r>
            <a:r>
              <a:rPr lang="en-US" dirty="0" smtClean="0"/>
              <a:t> </a:t>
            </a:r>
            <a:r>
              <a:rPr lang="bg-BG" dirty="0" smtClean="0"/>
              <a:t>в </a:t>
            </a:r>
            <a:r>
              <a:rPr lang="en-US" dirty="0" smtClean="0"/>
              <a:t>RT OS</a:t>
            </a:r>
            <a:endParaRPr lang="en-US" dirty="0"/>
          </a:p>
        </p:txBody>
      </p:sp>
      <p:sp>
        <p:nvSpPr>
          <p:cNvPr id="3" name="Content Placeholder 2"/>
          <p:cNvSpPr>
            <a:spLocks noGrp="1"/>
          </p:cNvSpPr>
          <p:nvPr>
            <p:ph idx="1"/>
          </p:nvPr>
        </p:nvSpPr>
        <p:spPr>
          <a:xfrm>
            <a:off x="908662" y="1143000"/>
            <a:ext cx="10900750" cy="5715000"/>
          </a:xfrm>
        </p:spPr>
        <p:txBody>
          <a:bodyPr>
            <a:normAutofit/>
          </a:bodyPr>
          <a:lstStyle/>
          <a:p>
            <a:pPr>
              <a:lnSpc>
                <a:spcPct val="80000"/>
              </a:lnSpc>
              <a:spcBef>
                <a:spcPts val="300"/>
              </a:spcBef>
            </a:pPr>
            <a:endParaRPr lang="en-US" altLang="en-US" sz="2800" dirty="0" smtClean="0"/>
          </a:p>
          <a:p>
            <a:pPr>
              <a:lnSpc>
                <a:spcPct val="80000"/>
              </a:lnSpc>
              <a:spcBef>
                <a:spcPts val="300"/>
              </a:spcBef>
            </a:pPr>
            <a:endParaRPr lang="bg-BG" altLang="en-US" sz="2800" dirty="0" smtClean="0"/>
          </a:p>
          <a:p>
            <a:pPr>
              <a:lnSpc>
                <a:spcPct val="80000"/>
              </a:lnSpc>
              <a:spcBef>
                <a:spcPts val="300"/>
              </a:spcBef>
            </a:pPr>
            <a:endParaRPr lang="bg-BG" altLang="en-US" sz="2800" dirty="0"/>
          </a:p>
          <a:p>
            <a:pPr>
              <a:lnSpc>
                <a:spcPct val="80000"/>
              </a:lnSpc>
              <a:spcBef>
                <a:spcPts val="300"/>
              </a:spcBef>
            </a:pPr>
            <a:endParaRPr lang="bg-BG" altLang="en-US" sz="2800" dirty="0" smtClean="0"/>
          </a:p>
          <a:p>
            <a:pPr>
              <a:lnSpc>
                <a:spcPct val="80000"/>
              </a:lnSpc>
              <a:spcBef>
                <a:spcPts val="300"/>
              </a:spcBef>
            </a:pPr>
            <a:endParaRPr lang="bg-BG" altLang="en-US" sz="2800" dirty="0"/>
          </a:p>
          <a:p>
            <a:pPr>
              <a:lnSpc>
                <a:spcPct val="80000"/>
              </a:lnSpc>
              <a:spcBef>
                <a:spcPts val="300"/>
              </a:spcBef>
            </a:pPr>
            <a:r>
              <a:rPr lang="bg-BG" altLang="en-US" sz="2600" dirty="0" smtClean="0"/>
              <a:t>Активна </a:t>
            </a:r>
            <a:r>
              <a:rPr lang="bg-BG" altLang="en-US" sz="2600" dirty="0"/>
              <a:t>задача (</a:t>
            </a:r>
            <a:r>
              <a:rPr lang="en-US" altLang="en-US" sz="2600" dirty="0"/>
              <a:t>active)</a:t>
            </a:r>
          </a:p>
          <a:p>
            <a:pPr lvl="1">
              <a:spcBef>
                <a:spcPts val="300"/>
              </a:spcBef>
            </a:pPr>
            <a:r>
              <a:rPr lang="bg-BG" altLang="en-US" sz="2300" dirty="0"/>
              <a:t>Тя работи с процесора</a:t>
            </a:r>
            <a:endParaRPr lang="en-US" altLang="en-US" sz="2300" dirty="0"/>
          </a:p>
          <a:p>
            <a:pPr>
              <a:lnSpc>
                <a:spcPct val="80000"/>
              </a:lnSpc>
              <a:spcBef>
                <a:spcPts val="300"/>
              </a:spcBef>
            </a:pPr>
            <a:r>
              <a:rPr lang="bg-BG" altLang="en-US" sz="2600" dirty="0"/>
              <a:t>Пасивна задача</a:t>
            </a:r>
            <a:r>
              <a:rPr lang="en-US" altLang="en-US" sz="2600" dirty="0"/>
              <a:t> (passive)</a:t>
            </a:r>
          </a:p>
          <a:p>
            <a:pPr lvl="1">
              <a:spcBef>
                <a:spcPts val="300"/>
              </a:spcBef>
            </a:pPr>
            <a:r>
              <a:rPr lang="bg-BG" altLang="en-US" sz="2300" dirty="0"/>
              <a:t>Съществува, но не е избрана за изпълнение</a:t>
            </a:r>
            <a:endParaRPr lang="en-US" altLang="en-US" sz="2300" dirty="0"/>
          </a:p>
          <a:p>
            <a:pPr>
              <a:lnSpc>
                <a:spcPct val="80000"/>
              </a:lnSpc>
              <a:spcBef>
                <a:spcPts val="300"/>
              </a:spcBef>
            </a:pPr>
            <a:r>
              <a:rPr lang="bg-BG" altLang="en-US" sz="2600" dirty="0"/>
              <a:t>Прекратена задача </a:t>
            </a:r>
            <a:r>
              <a:rPr lang="en-US" altLang="en-US" sz="2600" dirty="0"/>
              <a:t>(suspended)</a:t>
            </a:r>
          </a:p>
          <a:p>
            <a:pPr lvl="1">
              <a:spcBef>
                <a:spcPts val="300"/>
              </a:spcBef>
            </a:pPr>
            <a:r>
              <a:rPr lang="bg-BG" altLang="en-US" sz="2300" dirty="0"/>
              <a:t>Била е стартирана, но не може да се изпълнява по някаква причина</a:t>
            </a:r>
            <a:endParaRPr lang="en-US" altLang="en-US" sz="2300" dirty="0"/>
          </a:p>
          <a:p>
            <a:pPr>
              <a:lnSpc>
                <a:spcPct val="80000"/>
              </a:lnSpc>
              <a:spcBef>
                <a:spcPts val="300"/>
              </a:spcBef>
            </a:pPr>
            <a:r>
              <a:rPr lang="bg-BG" altLang="en-US" sz="2600" dirty="0"/>
              <a:t>Изместена задача (</a:t>
            </a:r>
            <a:r>
              <a:rPr lang="en-US" altLang="en-US" sz="2600" dirty="0"/>
              <a:t>preempted)</a:t>
            </a:r>
          </a:p>
          <a:p>
            <a:pPr lvl="1">
              <a:spcBef>
                <a:spcPts val="300"/>
              </a:spcBef>
            </a:pPr>
            <a:r>
              <a:rPr lang="bg-BG" altLang="en-US" sz="2300" dirty="0"/>
              <a:t>Била е стартирана, е изместена  по някаква причина</a:t>
            </a:r>
            <a:endParaRPr lang="en-US" altLang="en-US" sz="2300" dirty="0"/>
          </a:p>
          <a:p>
            <a:pPr>
              <a:lnSpc>
                <a:spcPct val="80000"/>
              </a:lnSpc>
              <a:spcBef>
                <a:spcPts val="300"/>
              </a:spcBef>
            </a:pPr>
            <a:r>
              <a:rPr lang="bg-BG" altLang="en-US" sz="2600" dirty="0"/>
              <a:t>Готова задача (</a:t>
            </a:r>
            <a:r>
              <a:rPr lang="en-US" altLang="en-US" sz="2600" dirty="0"/>
              <a:t>ready)</a:t>
            </a:r>
          </a:p>
          <a:p>
            <a:pPr lvl="1">
              <a:spcBef>
                <a:spcPts val="300"/>
              </a:spcBef>
            </a:pPr>
            <a:r>
              <a:rPr lang="bg-BG" altLang="en-US" sz="2300" dirty="0"/>
              <a:t>Изчаква да бъде активизирана.</a:t>
            </a:r>
            <a:endParaRPr lang="en-US" altLang="en-US" sz="2300" dirty="0"/>
          </a:p>
        </p:txBody>
      </p:sp>
      <p:pic>
        <p:nvPicPr>
          <p:cNvPr id="4" name="Picture 9" descr="Task-graph-simple-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2412" y="1219200"/>
            <a:ext cx="5928557" cy="268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172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Граф на състоянието</a:t>
            </a:r>
            <a:r>
              <a:rPr lang="en-US" dirty="0"/>
              <a:t> </a:t>
            </a:r>
            <a:r>
              <a:rPr lang="bg-BG" dirty="0"/>
              <a:t>в </a:t>
            </a:r>
            <a:r>
              <a:rPr lang="en-US" dirty="0"/>
              <a:t>RT OS</a:t>
            </a:r>
          </a:p>
        </p:txBody>
      </p:sp>
      <p:sp>
        <p:nvSpPr>
          <p:cNvPr id="3" name="Content Placeholder 2"/>
          <p:cNvSpPr>
            <a:spLocks noGrp="1"/>
          </p:cNvSpPr>
          <p:nvPr>
            <p:ph idx="1"/>
          </p:nvPr>
        </p:nvSpPr>
        <p:spPr>
          <a:xfrm>
            <a:off x="908662" y="1143000"/>
            <a:ext cx="10900750" cy="5715000"/>
          </a:xfrm>
        </p:spPr>
        <p:txBody>
          <a:bodyPr vert="horz" lIns="91440" tIns="45720" rIns="91440" bIns="45720" rtlCol="0">
            <a:noAutofit/>
          </a:bodyPr>
          <a:lstStyle/>
          <a:p>
            <a:pPr>
              <a:lnSpc>
                <a:spcPct val="80000"/>
              </a:lnSpc>
              <a:spcBef>
                <a:spcPts val="300"/>
              </a:spcBef>
            </a:pPr>
            <a:endParaRPr lang="bg-BG" altLang="en-US" sz="1800" dirty="0"/>
          </a:p>
          <a:p>
            <a:pPr>
              <a:lnSpc>
                <a:spcPct val="80000"/>
              </a:lnSpc>
              <a:spcBef>
                <a:spcPts val="300"/>
              </a:spcBef>
            </a:pPr>
            <a:endParaRPr lang="bg-BG" altLang="en-US" sz="1800" dirty="0"/>
          </a:p>
          <a:p>
            <a:pPr>
              <a:lnSpc>
                <a:spcPct val="80000"/>
              </a:lnSpc>
              <a:spcBef>
                <a:spcPts val="300"/>
              </a:spcBef>
            </a:pPr>
            <a:endParaRPr lang="bg-BG" altLang="en-US" sz="1800" dirty="0" smtClean="0"/>
          </a:p>
          <a:p>
            <a:pPr>
              <a:lnSpc>
                <a:spcPct val="80000"/>
              </a:lnSpc>
              <a:spcBef>
                <a:spcPts val="300"/>
              </a:spcBef>
            </a:pPr>
            <a:endParaRPr lang="bg-BG" altLang="en-US" sz="1800" dirty="0"/>
          </a:p>
          <a:p>
            <a:pPr>
              <a:lnSpc>
                <a:spcPct val="80000"/>
              </a:lnSpc>
              <a:spcBef>
                <a:spcPts val="300"/>
              </a:spcBef>
            </a:pPr>
            <a:endParaRPr lang="bg-BG" altLang="en-US" sz="1800" dirty="0"/>
          </a:p>
          <a:p>
            <a:pPr>
              <a:lnSpc>
                <a:spcPct val="80000"/>
              </a:lnSpc>
              <a:spcBef>
                <a:spcPts val="300"/>
              </a:spcBef>
            </a:pPr>
            <a:endParaRPr lang="bg-BG" altLang="en-US" sz="1800" dirty="0"/>
          </a:p>
          <a:p>
            <a:pPr>
              <a:lnSpc>
                <a:spcPct val="80000"/>
              </a:lnSpc>
              <a:spcBef>
                <a:spcPts val="300"/>
              </a:spcBef>
            </a:pPr>
            <a:endParaRPr lang="bg-BG" altLang="en-US" sz="1800" dirty="0" smtClean="0"/>
          </a:p>
          <a:p>
            <a:pPr>
              <a:lnSpc>
                <a:spcPct val="80000"/>
              </a:lnSpc>
              <a:spcBef>
                <a:spcPts val="300"/>
              </a:spcBef>
            </a:pPr>
            <a:endParaRPr lang="bg-BG" altLang="en-US" sz="1800" dirty="0"/>
          </a:p>
          <a:p>
            <a:pPr>
              <a:lnSpc>
                <a:spcPct val="80000"/>
              </a:lnSpc>
              <a:spcBef>
                <a:spcPts val="300"/>
              </a:spcBef>
            </a:pPr>
            <a:endParaRPr lang="bg-BG" altLang="en-US" sz="1800" dirty="0" smtClean="0"/>
          </a:p>
          <a:p>
            <a:pPr>
              <a:lnSpc>
                <a:spcPct val="80000"/>
              </a:lnSpc>
              <a:spcBef>
                <a:spcPts val="300"/>
              </a:spcBef>
            </a:pPr>
            <a:endParaRPr lang="bg-BG" altLang="en-US" sz="1800" dirty="0" smtClean="0"/>
          </a:p>
          <a:p>
            <a:pPr>
              <a:lnSpc>
                <a:spcPct val="80000"/>
              </a:lnSpc>
              <a:spcBef>
                <a:spcPts val="300"/>
              </a:spcBef>
            </a:pPr>
            <a:r>
              <a:rPr lang="en-US" altLang="en-US" sz="2400" dirty="0" smtClean="0"/>
              <a:t>Active </a:t>
            </a:r>
            <a:r>
              <a:rPr lang="en-US" altLang="en-US" sz="2400" dirty="0"/>
              <a:t>-&gt; </a:t>
            </a:r>
            <a:r>
              <a:rPr lang="en-US" altLang="en-US" sz="2400" dirty="0" smtClean="0"/>
              <a:t>Passive</a:t>
            </a:r>
            <a:r>
              <a:rPr lang="bg-BG" altLang="en-US" sz="2400" dirty="0" smtClean="0"/>
              <a:t>:  з</a:t>
            </a:r>
            <a:r>
              <a:rPr lang="bg-BG" altLang="en-US" sz="2000" dirty="0" smtClean="0"/>
              <a:t>адачата </a:t>
            </a:r>
            <a:r>
              <a:rPr lang="bg-BG" altLang="en-US" sz="2000" dirty="0"/>
              <a:t>завършва</a:t>
            </a:r>
            <a:r>
              <a:rPr lang="en-US" altLang="en-US" sz="2000" dirty="0"/>
              <a:t> (</a:t>
            </a:r>
            <a:r>
              <a:rPr lang="bg-BG" altLang="en-US" sz="2000" dirty="0" err="1"/>
              <a:t>експлицитно</a:t>
            </a:r>
            <a:r>
              <a:rPr lang="bg-BG" altLang="en-US" sz="2000" dirty="0"/>
              <a:t> </a:t>
            </a:r>
            <a:r>
              <a:rPr lang="bg-BG" altLang="en-US" sz="2000" dirty="0" smtClean="0"/>
              <a:t> или  поради </a:t>
            </a:r>
            <a:r>
              <a:rPr lang="bg-BG" altLang="en-US" sz="2000" dirty="0"/>
              <a:t>скрито </a:t>
            </a:r>
            <a:r>
              <a:rPr lang="bg-BG" altLang="en-US" sz="2000" dirty="0" smtClean="0"/>
              <a:t/>
            </a:r>
            <a:br>
              <a:rPr lang="bg-BG" altLang="en-US" sz="2000" dirty="0" smtClean="0"/>
            </a:br>
            <a:r>
              <a:rPr lang="bg-BG" altLang="en-US" sz="2000" dirty="0" smtClean="0"/>
              <a:t>                                       системен </a:t>
            </a:r>
            <a:r>
              <a:rPr lang="bg-BG" altLang="en-US" sz="2000" dirty="0"/>
              <a:t>извикване</a:t>
            </a:r>
            <a:r>
              <a:rPr lang="en-US" altLang="en-US" sz="2000" dirty="0"/>
              <a:t>: </a:t>
            </a:r>
            <a:r>
              <a:rPr lang="bg-BG" altLang="en-US" sz="2000" dirty="0" smtClean="0"/>
              <a:t> </a:t>
            </a:r>
            <a:r>
              <a:rPr lang="en-US" altLang="en-US" sz="2000" dirty="0" smtClean="0"/>
              <a:t>‘</a:t>
            </a:r>
            <a:r>
              <a:rPr lang="en-US" altLang="en-US" sz="2000" dirty="0"/>
              <a:t>schedule’,  ‘quit’, </a:t>
            </a:r>
            <a:r>
              <a:rPr lang="bg-BG" altLang="en-US" sz="2000" dirty="0"/>
              <a:t>др.)</a:t>
            </a:r>
            <a:endParaRPr lang="en-US" altLang="en-US" sz="2000" dirty="0"/>
          </a:p>
          <a:p>
            <a:pPr>
              <a:lnSpc>
                <a:spcPct val="80000"/>
              </a:lnSpc>
              <a:spcBef>
                <a:spcPts val="300"/>
              </a:spcBef>
            </a:pPr>
            <a:r>
              <a:rPr lang="en-US" altLang="en-US" sz="2400" dirty="0"/>
              <a:t>Passive -&gt; </a:t>
            </a:r>
            <a:r>
              <a:rPr lang="en-US" altLang="en-US" sz="2400" dirty="0" smtClean="0"/>
              <a:t>Ready</a:t>
            </a:r>
            <a:r>
              <a:rPr lang="bg-BG" altLang="en-US" sz="2400" dirty="0" smtClean="0"/>
              <a:t> : с</a:t>
            </a:r>
            <a:r>
              <a:rPr lang="bg-BG" altLang="en-US" sz="2000" dirty="0" smtClean="0"/>
              <a:t>истемно </a:t>
            </a:r>
            <a:r>
              <a:rPr lang="en-US" altLang="en-US" sz="2000" dirty="0"/>
              <a:t>API-</a:t>
            </a:r>
            <a:r>
              <a:rPr lang="bg-BG" altLang="en-US" sz="2000" dirty="0"/>
              <a:t>извикване</a:t>
            </a:r>
            <a:r>
              <a:rPr lang="en-US" altLang="en-US" sz="2000" dirty="0"/>
              <a:t> </a:t>
            </a:r>
            <a:r>
              <a:rPr lang="en-US" altLang="en-US" sz="2000" dirty="0" smtClean="0"/>
              <a:t>(‘</a:t>
            </a:r>
            <a:r>
              <a:rPr lang="en-US" altLang="en-US" sz="2000" dirty="0" err="1"/>
              <a:t>execute’,‘invoke</a:t>
            </a:r>
            <a:r>
              <a:rPr lang="en-US" altLang="en-US" sz="2000" dirty="0"/>
              <a:t>’,</a:t>
            </a:r>
            <a:r>
              <a:rPr lang="bg-BG" altLang="en-US" sz="2000" dirty="0"/>
              <a:t> др.</a:t>
            </a:r>
            <a:r>
              <a:rPr lang="en-US" altLang="en-US" sz="2000" dirty="0"/>
              <a:t>)</a:t>
            </a:r>
          </a:p>
          <a:p>
            <a:pPr>
              <a:lnSpc>
                <a:spcPct val="80000"/>
              </a:lnSpc>
              <a:spcBef>
                <a:spcPts val="300"/>
              </a:spcBef>
            </a:pPr>
            <a:r>
              <a:rPr lang="en-US" altLang="en-US" sz="2400" dirty="0"/>
              <a:t>Ready -&gt; </a:t>
            </a:r>
            <a:r>
              <a:rPr lang="en-US" altLang="en-US" sz="2400" dirty="0" smtClean="0"/>
              <a:t>Active</a:t>
            </a:r>
            <a:r>
              <a:rPr lang="bg-BG" altLang="en-US" sz="2400" dirty="0" smtClean="0"/>
              <a:t>  : </a:t>
            </a:r>
            <a:r>
              <a:rPr lang="bg-BG" altLang="en-US" sz="2000" dirty="0" smtClean="0"/>
              <a:t>по </a:t>
            </a:r>
            <a:r>
              <a:rPr lang="bg-BG" altLang="en-US" sz="2000" dirty="0"/>
              <a:t>диспечерно решение</a:t>
            </a:r>
            <a:endParaRPr lang="en-US" altLang="en-US" sz="2000" dirty="0"/>
          </a:p>
          <a:p>
            <a:pPr>
              <a:lnSpc>
                <a:spcPct val="80000"/>
              </a:lnSpc>
              <a:spcBef>
                <a:spcPts val="300"/>
              </a:spcBef>
            </a:pPr>
            <a:r>
              <a:rPr lang="en-US" altLang="en-US" sz="2400" dirty="0"/>
              <a:t>Active -&gt; </a:t>
            </a:r>
            <a:r>
              <a:rPr lang="en-US" altLang="en-US" sz="2400" dirty="0" smtClean="0"/>
              <a:t>Preempted</a:t>
            </a:r>
            <a:r>
              <a:rPr lang="bg-BG" altLang="en-US" sz="2400" dirty="0" smtClean="0"/>
              <a:t> : </a:t>
            </a:r>
            <a:r>
              <a:rPr lang="bg-BG" altLang="en-US" sz="2000" dirty="0" smtClean="0"/>
              <a:t>поява </a:t>
            </a:r>
            <a:r>
              <a:rPr lang="bg-BG" altLang="en-US" sz="2000" dirty="0"/>
              <a:t>на </a:t>
            </a:r>
            <a:r>
              <a:rPr lang="bg-BG" altLang="en-US" sz="2000" dirty="0" err="1"/>
              <a:t>диспечируемо</a:t>
            </a:r>
            <a:r>
              <a:rPr lang="bg-BG" altLang="en-US" sz="2000" dirty="0"/>
              <a:t> събитие </a:t>
            </a:r>
            <a:r>
              <a:rPr lang="bg-BG" altLang="en-US" sz="2000" dirty="0" smtClean="0"/>
              <a:t> преди </a:t>
            </a:r>
            <a:r>
              <a:rPr lang="bg-BG" altLang="en-US" sz="2000" dirty="0"/>
              <a:t>края на задачата</a:t>
            </a:r>
            <a:endParaRPr lang="en-US" altLang="en-US" sz="2000" dirty="0"/>
          </a:p>
          <a:p>
            <a:pPr>
              <a:lnSpc>
                <a:spcPct val="80000"/>
              </a:lnSpc>
              <a:spcBef>
                <a:spcPts val="300"/>
              </a:spcBef>
            </a:pPr>
            <a:r>
              <a:rPr lang="en-US" altLang="en-US" sz="2400" dirty="0"/>
              <a:t>Preempted -&gt; </a:t>
            </a:r>
            <a:r>
              <a:rPr lang="en-US" altLang="en-US" sz="2400" dirty="0" smtClean="0"/>
              <a:t>Active</a:t>
            </a:r>
            <a:r>
              <a:rPr lang="bg-BG" altLang="en-US" sz="2400" dirty="0" smtClean="0"/>
              <a:t> :  </a:t>
            </a:r>
            <a:r>
              <a:rPr lang="bg-BG" altLang="en-US" sz="2000" dirty="0" smtClean="0"/>
              <a:t>по </a:t>
            </a:r>
            <a:r>
              <a:rPr lang="bg-BG" altLang="en-US" sz="2000" dirty="0"/>
              <a:t>диспечерно решение</a:t>
            </a:r>
            <a:endParaRPr lang="en-US" altLang="en-US" sz="2000" dirty="0"/>
          </a:p>
          <a:p>
            <a:pPr>
              <a:lnSpc>
                <a:spcPct val="80000"/>
              </a:lnSpc>
              <a:spcBef>
                <a:spcPts val="300"/>
              </a:spcBef>
            </a:pPr>
            <a:r>
              <a:rPr lang="en-US" altLang="en-US" sz="2400" dirty="0"/>
              <a:t>Active -&gt; Suspended (via Preempted</a:t>
            </a:r>
            <a:r>
              <a:rPr lang="en-US" altLang="en-US" sz="2400" dirty="0" smtClean="0"/>
              <a:t>)</a:t>
            </a:r>
            <a:r>
              <a:rPr lang="bg-BG" altLang="en-US" sz="2400" dirty="0" smtClean="0"/>
              <a:t>: н</a:t>
            </a:r>
            <a:r>
              <a:rPr lang="bg-BG" altLang="en-US" sz="2000" dirty="0" smtClean="0"/>
              <a:t>ай-често </a:t>
            </a:r>
            <a:r>
              <a:rPr lang="bg-BG" altLang="en-US" sz="2000" dirty="0"/>
              <a:t>нещо необходимо е </a:t>
            </a:r>
            <a:r>
              <a:rPr lang="bg-BG" altLang="en-US" sz="2000" dirty="0" smtClean="0"/>
              <a:t>заето и </a:t>
            </a:r>
            <a:br>
              <a:rPr lang="bg-BG" altLang="en-US" sz="2000" dirty="0" smtClean="0"/>
            </a:br>
            <a:r>
              <a:rPr lang="bg-BG" altLang="en-US" sz="2000" dirty="0" smtClean="0"/>
              <a:t>                                                                                   трябва да се изчака</a:t>
            </a:r>
            <a:endParaRPr lang="en-US" altLang="en-US" sz="2000" dirty="0"/>
          </a:p>
          <a:p>
            <a:pPr>
              <a:lnSpc>
                <a:spcPct val="80000"/>
              </a:lnSpc>
              <a:spcBef>
                <a:spcPts val="300"/>
              </a:spcBef>
            </a:pPr>
            <a:r>
              <a:rPr lang="en-US" altLang="en-US" sz="2400" dirty="0"/>
              <a:t>Suspended -&gt; Preempted </a:t>
            </a:r>
            <a:r>
              <a:rPr lang="bg-BG" altLang="en-US" sz="2400" dirty="0" smtClean="0"/>
              <a:t>: </a:t>
            </a:r>
            <a:r>
              <a:rPr lang="bg-BG" altLang="en-US" sz="2000" dirty="0" smtClean="0"/>
              <a:t>След </a:t>
            </a:r>
            <a:r>
              <a:rPr lang="bg-BG" altLang="en-US" sz="2000" dirty="0"/>
              <a:t>освобождаване на нужен ресурс или подобно</a:t>
            </a:r>
            <a:endParaRPr lang="en-US" altLang="en-US" sz="2000" dirty="0"/>
          </a:p>
        </p:txBody>
      </p:sp>
      <p:pic>
        <p:nvPicPr>
          <p:cNvPr id="4" name="Picture 9" descr="Task-graph-simple-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2412" y="1219200"/>
            <a:ext cx="5928557" cy="268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5974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Управление на достъпа до ресурсите</a:t>
            </a:r>
            <a:endParaRPr lang="en-US" dirty="0"/>
          </a:p>
        </p:txBody>
      </p:sp>
      <p:sp>
        <p:nvSpPr>
          <p:cNvPr id="3" name="Content Placeholder 2"/>
          <p:cNvSpPr>
            <a:spLocks noGrp="1"/>
          </p:cNvSpPr>
          <p:nvPr>
            <p:ph idx="1"/>
          </p:nvPr>
        </p:nvSpPr>
        <p:spPr>
          <a:xfrm>
            <a:off x="908662" y="1143000"/>
            <a:ext cx="10824550" cy="5410200"/>
          </a:xfrm>
        </p:spPr>
        <p:txBody>
          <a:bodyPr>
            <a:normAutofit/>
          </a:bodyPr>
          <a:lstStyle/>
          <a:p>
            <a:r>
              <a:rPr lang="bg-BG" sz="2800" dirty="0" smtClean="0">
                <a:effectLst>
                  <a:outerShdw blurRad="38100" dist="38100" dir="2700000" algn="tl">
                    <a:srgbClr val="000000">
                      <a:alpha val="43137"/>
                    </a:srgbClr>
                  </a:outerShdw>
                </a:effectLst>
              </a:rPr>
              <a:t>Критична секция</a:t>
            </a:r>
          </a:p>
          <a:p>
            <a:pPr lvl="1"/>
            <a:r>
              <a:rPr lang="bg-BG" sz="2400" dirty="0" smtClean="0"/>
              <a:t>Това е место в програмата, където се осъществява достъп до глобалната споделена ресурс – когато програмата е в критична секция, то тя получава специален статус, който се предоставя на от секцията.</a:t>
            </a:r>
          </a:p>
          <a:p>
            <a:pPr lvl="1"/>
            <a:r>
              <a:rPr lang="bg-BG" sz="2400" dirty="0" smtClean="0">
                <a:effectLst>
                  <a:outerShdw blurRad="38100" dist="38100" dir="2700000" algn="tl">
                    <a:srgbClr val="000000">
                      <a:alpha val="43137"/>
                    </a:srgbClr>
                  </a:outerShdw>
                </a:effectLst>
              </a:rPr>
              <a:t>Ресурсът </a:t>
            </a:r>
            <a:r>
              <a:rPr lang="bg-BG" sz="2400" dirty="0" smtClean="0"/>
              <a:t>е споделената структура на данни.</a:t>
            </a:r>
          </a:p>
          <a:p>
            <a:pPr lvl="1"/>
            <a:r>
              <a:rPr lang="bg-BG" sz="2400" dirty="0" smtClean="0"/>
              <a:t>За първи път е предложен от </a:t>
            </a:r>
            <a:r>
              <a:rPr lang="bg-BG" sz="2400" dirty="0" err="1" smtClean="0"/>
              <a:t>Dijkstra</a:t>
            </a:r>
            <a:r>
              <a:rPr lang="bg-BG" sz="2400" dirty="0" smtClean="0"/>
              <a:t> през 1965г.</a:t>
            </a:r>
          </a:p>
          <a:p>
            <a:r>
              <a:rPr lang="bg-BG" sz="2800" dirty="0" smtClean="0"/>
              <a:t>Какъв е специалният статус, предоставя на процеса?</a:t>
            </a:r>
          </a:p>
          <a:p>
            <a:pPr lvl="1">
              <a:lnSpc>
                <a:spcPct val="100000"/>
              </a:lnSpc>
            </a:pPr>
            <a:r>
              <a:rPr lang="bg-BG" sz="2400" dirty="0" smtClean="0"/>
              <a:t>Процесът има изключителен достъп до ресурса, т.е. може да го чете или да го променя.</a:t>
            </a:r>
          </a:p>
          <a:p>
            <a:pPr lvl="1">
              <a:lnSpc>
                <a:spcPct val="100000"/>
              </a:lnSpc>
            </a:pPr>
            <a:r>
              <a:rPr lang="bg-BG" sz="2400" dirty="0" smtClean="0"/>
              <a:t>Всички останали процеси, изискващи достъп до ресурса трябва да изчакват излизането от критичната секция.</a:t>
            </a:r>
            <a:endParaRPr lang="bg-BG" sz="2400" dirty="0"/>
          </a:p>
        </p:txBody>
      </p:sp>
    </p:spTree>
    <p:extLst>
      <p:ext uri="{BB962C8B-B14F-4D97-AF65-F5344CB8AC3E}">
        <p14:creationId xmlns:p14="http://schemas.microsoft.com/office/powerpoint/2010/main" val="210233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Критични секции</a:t>
            </a:r>
            <a:endParaRPr lang="en-US" dirty="0"/>
          </a:p>
        </p:txBody>
      </p:sp>
      <p:sp>
        <p:nvSpPr>
          <p:cNvPr id="3" name="Content Placeholder 2"/>
          <p:cNvSpPr>
            <a:spLocks noGrp="1"/>
          </p:cNvSpPr>
          <p:nvPr>
            <p:ph idx="1"/>
          </p:nvPr>
        </p:nvSpPr>
        <p:spPr/>
        <p:txBody>
          <a:bodyPr/>
          <a:lstStyle/>
          <a:p>
            <a:pPr marL="347663" lvl="1" indent="-347663">
              <a:spcBef>
                <a:spcPts val="1400"/>
              </a:spcBef>
              <a:buSzPct val="70000"/>
              <a:buFont typeface="Wingdings" panose="05000000000000000000" pitchFamily="2" charset="2"/>
              <a:buChar char="Ä"/>
            </a:pPr>
            <a:r>
              <a:rPr lang="bg-BG" dirty="0"/>
              <a:t>Последователен </a:t>
            </a:r>
            <a:r>
              <a:rPr lang="bg-BG" dirty="0" smtClean="0"/>
              <a:t>достъп</a:t>
            </a:r>
            <a:endParaRPr lang="en-US" dirty="0" smtClean="0"/>
          </a:p>
          <a:p>
            <a:pPr marL="347663" lvl="1" indent="-347663">
              <a:spcBef>
                <a:spcPts val="1400"/>
              </a:spcBef>
              <a:buSzPct val="70000"/>
              <a:buFont typeface="Wingdings" panose="05000000000000000000" pitchFamily="2" charset="2"/>
              <a:buChar char="Ä"/>
            </a:pPr>
            <a:endParaRPr lang="en-US" dirty="0"/>
          </a:p>
          <a:p>
            <a:pPr marL="347663" lvl="1" indent="-347663">
              <a:spcBef>
                <a:spcPts val="1400"/>
              </a:spcBef>
              <a:buSzPct val="70000"/>
              <a:buFont typeface="Wingdings" panose="05000000000000000000" pitchFamily="2" charset="2"/>
              <a:buChar char="Ä"/>
            </a:pPr>
            <a:endParaRPr lang="en-US" dirty="0" smtClean="0"/>
          </a:p>
          <a:p>
            <a:pPr marL="347663" lvl="1" indent="-347663">
              <a:spcBef>
                <a:spcPts val="1400"/>
              </a:spcBef>
              <a:buSzPct val="70000"/>
              <a:buFont typeface="Wingdings" panose="05000000000000000000" pitchFamily="2" charset="2"/>
              <a:buChar char="Ä"/>
            </a:pPr>
            <a:endParaRPr lang="en-US" dirty="0"/>
          </a:p>
          <a:p>
            <a:pPr marL="347663" lvl="1" indent="-347663">
              <a:spcBef>
                <a:spcPts val="1400"/>
              </a:spcBef>
              <a:buSzPct val="70000"/>
              <a:buFont typeface="Wingdings" panose="05000000000000000000" pitchFamily="2" charset="2"/>
              <a:buChar char="Ä"/>
            </a:pPr>
            <a:endParaRPr lang="en-US" dirty="0" smtClean="0"/>
          </a:p>
          <a:p>
            <a:pPr marL="347663" lvl="1" indent="-347663">
              <a:spcBef>
                <a:spcPts val="1400"/>
              </a:spcBef>
              <a:buSzPct val="70000"/>
              <a:buFont typeface="Wingdings" panose="05000000000000000000" pitchFamily="2" charset="2"/>
              <a:buChar char="Ä"/>
            </a:pPr>
            <a:r>
              <a:rPr lang="bg-BG" dirty="0"/>
              <a:t>Вложени критични секции</a:t>
            </a:r>
            <a:endParaRPr lang="en-US" dirty="0"/>
          </a:p>
          <a:p>
            <a:pPr marL="347663" lvl="1" indent="-347663">
              <a:spcBef>
                <a:spcPts val="1400"/>
              </a:spcBef>
              <a:buSzPct val="70000"/>
              <a:buFont typeface="Wingdings" panose="05000000000000000000" pitchFamily="2" charset="2"/>
              <a:buChar char="Ä"/>
            </a:pPr>
            <a:endParaRPr lang="bg-BG" dirty="0"/>
          </a:p>
          <a:p>
            <a:endParaRPr lang="en-US"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6412" y="1905000"/>
            <a:ext cx="831731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12" y="4800600"/>
            <a:ext cx="8329030"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832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Критични секции</a:t>
            </a:r>
            <a:endParaRPr lang="en-US" dirty="0"/>
          </a:p>
        </p:txBody>
      </p:sp>
      <p:sp>
        <p:nvSpPr>
          <p:cNvPr id="3" name="Content Placeholder 2"/>
          <p:cNvSpPr>
            <a:spLocks noGrp="1"/>
          </p:cNvSpPr>
          <p:nvPr>
            <p:ph idx="1"/>
          </p:nvPr>
        </p:nvSpPr>
        <p:spPr/>
        <p:txBody>
          <a:bodyPr>
            <a:noAutofit/>
          </a:bodyPr>
          <a:lstStyle/>
          <a:p>
            <a:pPr>
              <a:lnSpc>
                <a:spcPct val="100000"/>
              </a:lnSpc>
              <a:spcBef>
                <a:spcPts val="0"/>
              </a:spcBef>
            </a:pPr>
            <a:r>
              <a:rPr lang="bg-BG" sz="2800" dirty="0" smtClean="0"/>
              <a:t>Критичните секции трябва:</a:t>
            </a:r>
          </a:p>
          <a:p>
            <a:pPr lvl="1">
              <a:lnSpc>
                <a:spcPct val="100000"/>
              </a:lnSpc>
              <a:spcBef>
                <a:spcPts val="0"/>
              </a:spcBef>
            </a:pPr>
            <a:r>
              <a:rPr lang="bg-BG" sz="2400" dirty="0" smtClean="0"/>
              <a:t>Възможно най-бързо да се изпълняват.</a:t>
            </a:r>
          </a:p>
          <a:p>
            <a:pPr lvl="1">
              <a:lnSpc>
                <a:spcPct val="100000"/>
              </a:lnSpc>
              <a:spcBef>
                <a:spcPts val="0"/>
              </a:spcBef>
            </a:pPr>
            <a:r>
              <a:rPr lang="bg-BG" sz="2400" dirty="0" smtClean="0"/>
              <a:t>Да бъдат кодирани внимателно, за да намалите възможността за грешки (например, безкрайни контури).</a:t>
            </a:r>
          </a:p>
          <a:p>
            <a:pPr lvl="1">
              <a:lnSpc>
                <a:spcPct val="100000"/>
              </a:lnSpc>
              <a:spcBef>
                <a:spcPts val="0"/>
              </a:spcBef>
            </a:pPr>
            <a:r>
              <a:rPr lang="bg-BG" sz="2400" dirty="0" smtClean="0"/>
              <a:t>Ако процесът е прекратен/премахнат докато е в критичната секция, то секцията да се </a:t>
            </a:r>
            <a:r>
              <a:rPr lang="bg-BG" sz="2400" dirty="0" err="1" smtClean="0"/>
              <a:t>разблокира</a:t>
            </a:r>
            <a:r>
              <a:rPr lang="bg-BG" sz="2400" dirty="0" smtClean="0"/>
              <a:t> за използване от друг.</a:t>
            </a:r>
          </a:p>
          <a:p>
            <a:pPr>
              <a:lnSpc>
                <a:spcPct val="100000"/>
              </a:lnSpc>
              <a:spcBef>
                <a:spcPts val="0"/>
              </a:spcBef>
            </a:pPr>
            <a:r>
              <a:rPr lang="bg-BG" sz="2800" dirty="0" smtClean="0"/>
              <a:t>За правилна и ефективна работа с използване на критични секции трябва да гарантира, че:</a:t>
            </a:r>
          </a:p>
          <a:p>
            <a:pPr lvl="1">
              <a:lnSpc>
                <a:spcPct val="100000"/>
              </a:lnSpc>
              <a:spcBef>
                <a:spcPts val="0"/>
              </a:spcBef>
            </a:pPr>
            <a:r>
              <a:rPr lang="bg-BG" sz="2400" dirty="0" smtClean="0"/>
              <a:t>Два процеса не може да бъдат едновременно вътре в една и съща критична секция.</a:t>
            </a:r>
          </a:p>
          <a:p>
            <a:pPr lvl="1">
              <a:lnSpc>
                <a:spcPct val="100000"/>
              </a:lnSpc>
              <a:spcBef>
                <a:spcPts val="0"/>
              </a:spcBef>
            </a:pPr>
            <a:r>
              <a:rPr lang="bg-BG" sz="2400" dirty="0" smtClean="0"/>
              <a:t>Никой процес, спрян извън критичната секция не трябва да блокира други процеси за работа със секцията.</a:t>
            </a:r>
          </a:p>
          <a:p>
            <a:pPr lvl="1">
              <a:lnSpc>
                <a:spcPct val="100000"/>
              </a:lnSpc>
              <a:spcBef>
                <a:spcPts val="0"/>
              </a:spcBef>
            </a:pPr>
            <a:r>
              <a:rPr lang="bg-BG" sz="2400" dirty="0" smtClean="0"/>
              <a:t>Никой процес не може да бъде отложен за неопределено време след влизането в критична секция.</a:t>
            </a:r>
            <a:endParaRPr lang="bg-BG" sz="2400" dirty="0"/>
          </a:p>
        </p:txBody>
      </p:sp>
    </p:spTree>
    <p:extLst>
      <p:ext uri="{BB962C8B-B14F-4D97-AF65-F5344CB8AC3E}">
        <p14:creationId xmlns:p14="http://schemas.microsoft.com/office/powerpoint/2010/main" val="1968577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Безопасност на конкурентен процес</a:t>
            </a:r>
            <a:endParaRPr lang="en-US" dirty="0"/>
          </a:p>
        </p:txBody>
      </p:sp>
      <p:sp>
        <p:nvSpPr>
          <p:cNvPr id="3" name="Content Placeholder 2"/>
          <p:cNvSpPr>
            <a:spLocks noGrp="1"/>
          </p:cNvSpPr>
          <p:nvPr>
            <p:ph idx="1"/>
          </p:nvPr>
        </p:nvSpPr>
        <p:spPr>
          <a:xfrm>
            <a:off x="908662" y="1143000"/>
            <a:ext cx="10900750" cy="5486400"/>
          </a:xfrm>
        </p:spPr>
        <p:txBody>
          <a:bodyPr>
            <a:normAutofit lnSpcReduction="10000"/>
          </a:bodyPr>
          <a:lstStyle/>
          <a:p>
            <a:r>
              <a:rPr lang="bg-BG" sz="2800" dirty="0" smtClean="0">
                <a:effectLst>
                  <a:outerShdw blurRad="38100" dist="38100" dir="2700000" algn="tl">
                    <a:srgbClr val="000000">
                      <a:alpha val="43137"/>
                    </a:srgbClr>
                  </a:outerShdw>
                </a:effectLst>
              </a:rPr>
              <a:t>Безопасността </a:t>
            </a:r>
            <a:r>
              <a:rPr lang="bg-BG" sz="2800" dirty="0" smtClean="0"/>
              <a:t>(</a:t>
            </a:r>
            <a:r>
              <a:rPr lang="bg-BG" sz="2800" dirty="0" err="1" smtClean="0"/>
              <a:t>англ</a:t>
            </a:r>
            <a:r>
              <a:rPr lang="bg-BG" sz="2800" dirty="0" smtClean="0"/>
              <a:t>. Safety) е ключова характеристика за конкурентното програмиране.</a:t>
            </a:r>
          </a:p>
          <a:p>
            <a:pPr lvl="1"/>
            <a:r>
              <a:rPr lang="bg-BG" sz="2400" dirty="0" smtClean="0"/>
              <a:t>Това показва, че само една нишка може да има достъп до данните в даден момент и гарантира, че данните остават в консистентни по времето и след операцията.</a:t>
            </a:r>
          </a:p>
          <a:p>
            <a:pPr lvl="1"/>
            <a:r>
              <a:rPr lang="bg-BG" sz="2400" dirty="0" smtClean="0"/>
              <a:t>Ако в режим на четене/запис/промяна на данни е</a:t>
            </a:r>
            <a:br>
              <a:rPr lang="bg-BG" sz="2400" dirty="0" smtClean="0"/>
            </a:br>
            <a:r>
              <a:rPr lang="bg-BG" sz="2400" dirty="0" smtClean="0"/>
              <a:t>разрешено прекъсване на операцията, то може да</a:t>
            </a:r>
            <a:br>
              <a:rPr lang="bg-BG" sz="2400" dirty="0" smtClean="0"/>
            </a:br>
            <a:r>
              <a:rPr lang="bg-BG" sz="2400" dirty="0" smtClean="0"/>
              <a:t>се постигне не консистентност на данните.</a:t>
            </a:r>
          </a:p>
          <a:p>
            <a:pPr lvl="2"/>
            <a:r>
              <a:rPr lang="bg-BG" sz="2000" dirty="0" smtClean="0"/>
              <a:t>„Атомарна“ операция – едно или повече действия, които </a:t>
            </a:r>
            <a:br>
              <a:rPr lang="bg-BG" sz="2000" dirty="0" smtClean="0"/>
            </a:br>
            <a:r>
              <a:rPr lang="bg-BG" sz="2000" dirty="0" smtClean="0"/>
              <a:t>не могат да бъдат прекъснати докато не завършват.</a:t>
            </a:r>
          </a:p>
          <a:p>
            <a:r>
              <a:rPr lang="bg-BG" sz="2800" dirty="0" smtClean="0"/>
              <a:t>Пример: </a:t>
            </a:r>
          </a:p>
          <a:p>
            <a:pPr lvl="1"/>
            <a:r>
              <a:rPr lang="bg-BG" sz="2400" dirty="0" smtClean="0"/>
              <a:t>Ако A() и B() се изпълняват едновременно, каква  </a:t>
            </a:r>
            <a:br>
              <a:rPr lang="bg-BG" sz="2400" dirty="0" smtClean="0"/>
            </a:br>
            <a:r>
              <a:rPr lang="bg-BG" sz="2400" dirty="0" smtClean="0"/>
              <a:t>ще е  крайната стойност на ‚</a:t>
            </a:r>
            <a:r>
              <a:rPr lang="bg-BG" sz="2400" dirty="0" err="1" smtClean="0">
                <a:effectLst>
                  <a:outerShdw blurRad="38100" dist="38100" dir="2700000" algn="tl">
                    <a:srgbClr val="000000">
                      <a:alpha val="43137"/>
                    </a:srgbClr>
                  </a:outerShdw>
                </a:effectLst>
              </a:rPr>
              <a:t>x</a:t>
            </a:r>
            <a:r>
              <a:rPr lang="bg-BG" sz="2400" dirty="0" err="1" smtClean="0"/>
              <a:t>‘</a:t>
            </a:r>
            <a:r>
              <a:rPr lang="bg-BG" sz="2400" dirty="0" smtClean="0"/>
              <a:t> ?</a:t>
            </a:r>
          </a:p>
          <a:p>
            <a:pPr lvl="2"/>
            <a:r>
              <a:rPr lang="bg-BG" sz="2000" b="1" dirty="0" smtClean="0"/>
              <a:t>x = 3</a:t>
            </a:r>
            <a:r>
              <a:rPr lang="bg-BG" sz="2000" dirty="0" smtClean="0"/>
              <a:t> – ако операциите са „атомарни“. </a:t>
            </a:r>
            <a:endParaRPr lang="bg-BG" sz="2800" dirty="0" smtClean="0"/>
          </a:p>
          <a:p>
            <a:pPr lvl="2"/>
            <a:r>
              <a:rPr lang="bg-BG" sz="2000" b="1" dirty="0" smtClean="0"/>
              <a:t>x = 1</a:t>
            </a:r>
            <a:r>
              <a:rPr lang="bg-BG" sz="2000" dirty="0" smtClean="0"/>
              <a:t>, </a:t>
            </a:r>
            <a:r>
              <a:rPr lang="bg-BG" sz="2000" b="1" dirty="0" smtClean="0"/>
              <a:t>2 </a:t>
            </a:r>
            <a:r>
              <a:rPr lang="bg-BG" sz="2000" dirty="0" smtClean="0"/>
              <a:t>или</a:t>
            </a:r>
            <a:r>
              <a:rPr lang="bg-BG" sz="2000" b="1" dirty="0" smtClean="0"/>
              <a:t> 3</a:t>
            </a:r>
            <a:r>
              <a:rPr lang="bg-BG" sz="2000" dirty="0" smtClean="0"/>
              <a:t> – ако операциите са </a:t>
            </a:r>
            <a:r>
              <a:rPr lang="bg-BG" sz="2000" dirty="0" err="1" smtClean="0"/>
              <a:t>прекъсваеми</a:t>
            </a:r>
            <a:r>
              <a:rPr lang="bg-BG" sz="2000" dirty="0" smtClean="0"/>
              <a:t>. </a:t>
            </a:r>
            <a:endParaRPr lang="bg-BG" sz="2800" dirty="0"/>
          </a:p>
        </p:txBody>
      </p:sp>
      <p:sp>
        <p:nvSpPr>
          <p:cNvPr id="4" name="TextBox 3"/>
          <p:cNvSpPr txBox="1"/>
          <p:nvPr/>
        </p:nvSpPr>
        <p:spPr>
          <a:xfrm>
            <a:off x="9142412" y="2996148"/>
            <a:ext cx="2667000" cy="3785652"/>
          </a:xfrm>
          <a:prstGeom prst="rect">
            <a:avLst/>
          </a:prstGeom>
          <a:solidFill>
            <a:srgbClr val="FFC000"/>
          </a:solidFill>
        </p:spPr>
        <p:txBody>
          <a:bodyPr wrap="square" rtlCol="0">
            <a:spAutoFit/>
          </a:bodyPr>
          <a:lstStyle/>
          <a:p>
            <a:r>
              <a:rPr lang="en-GB" sz="2400" dirty="0" smtClean="0">
                <a:solidFill>
                  <a:schemeClr val="tx2"/>
                </a:solidFill>
                <a:latin typeface="Calibri" panose="020F0502020204030204" pitchFamily="34" charset="0"/>
              </a:rPr>
              <a:t>  </a:t>
            </a:r>
            <a:r>
              <a:rPr lang="en-GB" sz="2400" dirty="0" err="1" smtClean="0">
                <a:solidFill>
                  <a:schemeClr val="tx2"/>
                </a:solidFill>
                <a:latin typeface="Calibri" panose="020F0502020204030204" pitchFamily="34" charset="0"/>
              </a:rPr>
              <a:t>var</a:t>
            </a:r>
            <a:r>
              <a:rPr lang="en-GB" sz="2400" dirty="0" smtClean="0">
                <a:solidFill>
                  <a:schemeClr val="tx2"/>
                </a:solidFill>
                <a:latin typeface="Calibri" panose="020F0502020204030204" pitchFamily="34" charset="0"/>
              </a:rPr>
              <a:t> </a:t>
            </a:r>
            <a:r>
              <a:rPr lang="en-GB" sz="2400" dirty="0">
                <a:solidFill>
                  <a:schemeClr val="tx2"/>
                </a:solidFill>
                <a:latin typeface="Calibri" panose="020F0502020204030204" pitchFamily="34" charset="0"/>
              </a:rPr>
              <a:t>x = 0</a:t>
            </a:r>
            <a:r>
              <a:rPr lang="en-GB" sz="2400" dirty="0" smtClean="0">
                <a:solidFill>
                  <a:schemeClr val="tx2"/>
                </a:solidFill>
                <a:latin typeface="Calibri" panose="020F0502020204030204" pitchFamily="34" charset="0"/>
              </a:rPr>
              <a:t>;</a:t>
            </a:r>
            <a:br>
              <a:rPr lang="en-GB" sz="2400" dirty="0" smtClean="0">
                <a:solidFill>
                  <a:schemeClr val="tx2"/>
                </a:solidFill>
                <a:latin typeface="Calibri" panose="020F0502020204030204" pitchFamily="34" charset="0"/>
              </a:rPr>
            </a:br>
            <a:endParaRPr lang="en-GB" sz="2400" dirty="0" smtClean="0">
              <a:solidFill>
                <a:schemeClr val="tx2"/>
              </a:solidFill>
              <a:latin typeface="Calibri" panose="020F0502020204030204" pitchFamily="34" charset="0"/>
            </a:endParaRPr>
          </a:p>
          <a:p>
            <a:r>
              <a:rPr lang="en-GB" sz="2400" dirty="0" smtClean="0">
                <a:solidFill>
                  <a:schemeClr val="tx2"/>
                </a:solidFill>
                <a:latin typeface="Calibri" panose="020F0502020204030204" pitchFamily="34" charset="0"/>
              </a:rPr>
              <a:t>  function </a:t>
            </a:r>
            <a:r>
              <a:rPr lang="en-GB" sz="2400" dirty="0">
                <a:solidFill>
                  <a:schemeClr val="tx2"/>
                </a:solidFill>
                <a:latin typeface="Calibri" panose="020F0502020204030204" pitchFamily="34" charset="0"/>
              </a:rPr>
              <a:t>A()</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a:t>
            </a:r>
            <a:endParaRPr lang="en-GB" sz="2400" dirty="0">
              <a:solidFill>
                <a:schemeClr val="tx2"/>
              </a:solidFill>
              <a:latin typeface="Calibri" panose="020F0502020204030204" pitchFamily="34" charset="0"/>
            </a:endParaRPr>
          </a:p>
          <a:p>
            <a:r>
              <a:rPr lang="en-GB" sz="2400" dirty="0">
                <a:solidFill>
                  <a:schemeClr val="tx2"/>
                </a:solidFill>
                <a:latin typeface="Calibri" panose="020F0502020204030204" pitchFamily="34" charset="0"/>
              </a:rPr>
              <a:t>    </a:t>
            </a:r>
            <a:r>
              <a:rPr lang="en-GB" sz="2400" dirty="0" smtClean="0">
                <a:solidFill>
                  <a:schemeClr val="tx2"/>
                </a:solidFill>
                <a:latin typeface="Calibri" panose="020F0502020204030204" pitchFamily="34" charset="0"/>
              </a:rPr>
              <a:t>  x </a:t>
            </a:r>
            <a:r>
              <a:rPr lang="en-GB" sz="2400" dirty="0">
                <a:solidFill>
                  <a:schemeClr val="tx2"/>
                </a:solidFill>
                <a:latin typeface="Calibri" panose="020F0502020204030204" pitchFamily="34" charset="0"/>
              </a:rPr>
              <a:t>= x + 1;</a:t>
            </a:r>
          </a:p>
          <a:p>
            <a:r>
              <a:rPr lang="en-GB" sz="2400" dirty="0" smtClean="0">
                <a:solidFill>
                  <a:schemeClr val="tx2"/>
                </a:solidFill>
                <a:latin typeface="Calibri" panose="020F0502020204030204" pitchFamily="34" charset="0"/>
              </a:rPr>
              <a:t>  }</a:t>
            </a:r>
            <a:r>
              <a:rPr lang="en-GB" sz="2400" dirty="0">
                <a:solidFill>
                  <a:schemeClr val="tx2"/>
                </a:solidFill>
                <a:latin typeface="Calibri" panose="020F0502020204030204" pitchFamily="34" charset="0"/>
              </a:rPr>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function </a:t>
            </a:r>
            <a:r>
              <a:rPr lang="en-GB" sz="2400" dirty="0">
                <a:solidFill>
                  <a:schemeClr val="tx2"/>
                </a:solidFill>
                <a:latin typeface="Calibri" panose="020F0502020204030204" pitchFamily="34" charset="0"/>
              </a:rPr>
              <a:t>B()</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a:t>
            </a:r>
            <a:endParaRPr lang="en-GB" sz="2400" dirty="0">
              <a:solidFill>
                <a:schemeClr val="tx2"/>
              </a:solidFill>
              <a:latin typeface="Calibri" panose="020F0502020204030204" pitchFamily="34" charset="0"/>
            </a:endParaRPr>
          </a:p>
          <a:p>
            <a:r>
              <a:rPr lang="en-GB" sz="2400" dirty="0">
                <a:solidFill>
                  <a:schemeClr val="tx2"/>
                </a:solidFill>
                <a:latin typeface="Calibri" panose="020F0502020204030204" pitchFamily="34" charset="0"/>
              </a:rPr>
              <a:t>  </a:t>
            </a:r>
            <a:r>
              <a:rPr lang="en-GB" sz="2400" dirty="0" smtClean="0">
                <a:solidFill>
                  <a:schemeClr val="tx2"/>
                </a:solidFill>
                <a:latin typeface="Calibri" panose="020F0502020204030204" pitchFamily="34" charset="0"/>
              </a:rPr>
              <a:t>   </a:t>
            </a:r>
            <a:r>
              <a:rPr lang="en-GB" sz="2400" dirty="0">
                <a:solidFill>
                  <a:schemeClr val="tx2"/>
                </a:solidFill>
                <a:latin typeface="Calibri" panose="020F0502020204030204" pitchFamily="34" charset="0"/>
              </a:rPr>
              <a:t>x = x + 2;</a:t>
            </a:r>
          </a:p>
          <a:p>
            <a:r>
              <a:rPr lang="en-GB" sz="2400" dirty="0" smtClean="0">
                <a:solidFill>
                  <a:schemeClr val="tx2"/>
                </a:solidFill>
                <a:latin typeface="Calibri" panose="020F0502020204030204" pitchFamily="34" charset="0"/>
              </a:rPr>
              <a:t>  }</a:t>
            </a:r>
            <a:endParaRPr lang="en-US" sz="2400" dirty="0">
              <a:solidFill>
                <a:schemeClr val="tx2"/>
              </a:solidFill>
              <a:latin typeface="Calibri" panose="020F0502020204030204" pitchFamily="34" charset="0"/>
            </a:endParaRPr>
          </a:p>
        </p:txBody>
      </p:sp>
    </p:spTree>
    <p:extLst>
      <p:ext uri="{BB962C8B-B14F-4D97-AF65-F5344CB8AC3E}">
        <p14:creationId xmlns:p14="http://schemas.microsoft.com/office/powerpoint/2010/main" val="2490625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Безопасност на конкурентен процес</a:t>
            </a:r>
            <a:endParaRPr lang="en-US" dirty="0"/>
          </a:p>
        </p:txBody>
      </p:sp>
      <p:sp>
        <p:nvSpPr>
          <p:cNvPr id="3" name="Content Placeholder 2"/>
          <p:cNvSpPr>
            <a:spLocks noGrp="1"/>
          </p:cNvSpPr>
          <p:nvPr>
            <p:ph idx="1"/>
          </p:nvPr>
        </p:nvSpPr>
        <p:spPr>
          <a:xfrm>
            <a:off x="908662" y="1143000"/>
            <a:ext cx="10748350" cy="5410200"/>
          </a:xfrm>
        </p:spPr>
        <p:txBody>
          <a:bodyPr>
            <a:noAutofit/>
          </a:bodyPr>
          <a:lstStyle/>
          <a:p>
            <a:pPr>
              <a:spcBef>
                <a:spcPts val="300"/>
              </a:spcBef>
            </a:pPr>
            <a:r>
              <a:rPr lang="bg-BG" sz="2800" dirty="0" smtClean="0">
                <a:effectLst>
                  <a:outerShdw blurRad="38100" dist="38100" dir="2700000" algn="tl">
                    <a:srgbClr val="000000">
                      <a:alpha val="43137"/>
                    </a:srgbClr>
                  </a:outerShdw>
                </a:effectLst>
              </a:rPr>
              <a:t>Състезание на сигнали </a:t>
            </a:r>
            <a:r>
              <a:rPr lang="bg-BG" sz="2800" dirty="0" smtClean="0"/>
              <a:t>(</a:t>
            </a:r>
            <a:r>
              <a:rPr lang="bg-BG" sz="2800" dirty="0" err="1" smtClean="0"/>
              <a:t>англ</a:t>
            </a:r>
            <a:r>
              <a:rPr lang="bg-BG" sz="2800" dirty="0" smtClean="0"/>
              <a:t>. </a:t>
            </a:r>
            <a:r>
              <a:rPr lang="bg-BG" sz="2800" dirty="0" err="1" smtClean="0"/>
              <a:t>Race</a:t>
            </a:r>
            <a:r>
              <a:rPr lang="bg-BG" sz="2800" dirty="0" smtClean="0"/>
              <a:t> </a:t>
            </a:r>
            <a:r>
              <a:rPr lang="bg-BG" sz="2800" dirty="0" err="1" smtClean="0"/>
              <a:t>condition</a:t>
            </a:r>
            <a:r>
              <a:rPr lang="bg-BG" sz="2800" dirty="0" smtClean="0"/>
              <a:t>)</a:t>
            </a:r>
          </a:p>
          <a:p>
            <a:pPr lvl="1">
              <a:spcBef>
                <a:spcPts val="300"/>
              </a:spcBef>
            </a:pPr>
            <a:r>
              <a:rPr lang="bg-BG" sz="2400" dirty="0" smtClean="0"/>
              <a:t>В програмирането това е свързано с едновременното изпълнение на процеси или нишки, когато изходът зависи от последователността или времето на реализация на неконтролируеми събития в тези процеси/нишки. </a:t>
            </a:r>
          </a:p>
          <a:p>
            <a:pPr lvl="2">
              <a:spcBef>
                <a:spcPts val="300"/>
              </a:spcBef>
            </a:pPr>
            <a:r>
              <a:rPr lang="bg-BG" sz="2000" dirty="0" smtClean="0"/>
              <a:t>В общия случай това е свързано със споделени ресурси, т.е. кой кога и какви ресурси използва.</a:t>
            </a:r>
          </a:p>
          <a:p>
            <a:pPr lvl="1">
              <a:spcBef>
                <a:spcPts val="300"/>
              </a:spcBef>
            </a:pPr>
            <a:r>
              <a:rPr lang="bg-BG" sz="2400" dirty="0" smtClean="0"/>
              <a:t>Това е грешка, когато събитията не се случват в реда, в който програмистът е предвидил.</a:t>
            </a:r>
          </a:p>
          <a:p>
            <a:pPr lvl="2">
              <a:spcBef>
                <a:spcPts val="300"/>
              </a:spcBef>
            </a:pPr>
            <a:r>
              <a:rPr lang="bg-BG" sz="2000" dirty="0" smtClean="0"/>
              <a:t>Операциите за работа със споделени ресурси са критични, защото неспазването на това правило влияе на </a:t>
            </a:r>
            <a:r>
              <a:rPr lang="bg-BG" sz="2000" dirty="0" err="1" smtClean="0"/>
              <a:t>консистентността</a:t>
            </a:r>
            <a:r>
              <a:rPr lang="bg-BG" sz="2000" dirty="0" smtClean="0"/>
              <a:t> на споделения ресурс.</a:t>
            </a:r>
          </a:p>
          <a:p>
            <a:pPr lvl="2">
              <a:spcBef>
                <a:spcPts val="300"/>
              </a:spcBef>
            </a:pPr>
            <a:r>
              <a:rPr lang="bg-BG" sz="2000" dirty="0" smtClean="0"/>
              <a:t>Достъпът до критичен ресурс трябва да изключват състезанието на сигнали. </a:t>
            </a:r>
          </a:p>
          <a:p>
            <a:pPr lvl="1">
              <a:spcBef>
                <a:spcPts val="300"/>
              </a:spcBef>
            </a:pPr>
            <a:r>
              <a:rPr lang="bg-BG" sz="2400" dirty="0" smtClean="0"/>
              <a:t>Това е много сложен за откриване проблем, поради </a:t>
            </a:r>
            <a:r>
              <a:rPr lang="bg-BG" sz="2400" dirty="0" err="1" smtClean="0"/>
              <a:t>недетерминистичността</a:t>
            </a:r>
            <a:r>
              <a:rPr lang="bg-BG" sz="2400" dirty="0" smtClean="0"/>
              <a:t> на появата – зависи от условия на използване и на изпълнение на обработката.</a:t>
            </a:r>
          </a:p>
          <a:p>
            <a:pPr lvl="2">
              <a:spcBef>
                <a:spcPts val="300"/>
              </a:spcBef>
            </a:pPr>
            <a:r>
              <a:rPr lang="bg-BG" sz="2000" dirty="0" smtClean="0"/>
              <a:t>Трудно се откриват, затова трябва превенция на появата.</a:t>
            </a:r>
          </a:p>
        </p:txBody>
      </p:sp>
    </p:spTree>
    <p:extLst>
      <p:ext uri="{BB962C8B-B14F-4D97-AF65-F5344CB8AC3E}">
        <p14:creationId xmlns:p14="http://schemas.microsoft.com/office/powerpoint/2010/main" val="439509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Безопасност на конкурентен процес</a:t>
            </a:r>
            <a:endParaRPr lang="en-US" dirty="0"/>
          </a:p>
        </p:txBody>
      </p:sp>
      <p:sp>
        <p:nvSpPr>
          <p:cNvPr id="3" name="Content Placeholder 2"/>
          <p:cNvSpPr>
            <a:spLocks noGrp="1"/>
          </p:cNvSpPr>
          <p:nvPr>
            <p:ph idx="1"/>
          </p:nvPr>
        </p:nvSpPr>
        <p:spPr>
          <a:xfrm>
            <a:off x="908662" y="1143000"/>
            <a:ext cx="10748350" cy="5410200"/>
          </a:xfrm>
        </p:spPr>
        <p:txBody>
          <a:bodyPr>
            <a:noAutofit/>
          </a:bodyPr>
          <a:lstStyle/>
          <a:p>
            <a:pPr>
              <a:spcBef>
                <a:spcPts val="300"/>
              </a:spcBef>
            </a:pPr>
            <a:r>
              <a:rPr lang="bg-BG" sz="2800" dirty="0" smtClean="0"/>
              <a:t>Това се постига чрез реализация на специални механизми при работа с общи данни.  </a:t>
            </a:r>
          </a:p>
          <a:p>
            <a:pPr lvl="1">
              <a:spcBef>
                <a:spcPts val="300"/>
              </a:spcBef>
            </a:pPr>
            <a:r>
              <a:rPr lang="bg-BG" sz="2400" dirty="0" smtClean="0"/>
              <a:t>Взаимното изключване (</a:t>
            </a:r>
            <a:r>
              <a:rPr lang="bg-BG" sz="2400" dirty="0" err="1" smtClean="0"/>
              <a:t>англ</a:t>
            </a:r>
            <a:r>
              <a:rPr lang="bg-BG" sz="2400" dirty="0" smtClean="0"/>
              <a:t>. </a:t>
            </a:r>
            <a:r>
              <a:rPr lang="bg-BG" sz="2400" i="1" dirty="0" err="1" smtClean="0">
                <a:effectLst>
                  <a:outerShdw blurRad="38100" dist="38100" dir="2700000" algn="tl">
                    <a:srgbClr val="000000">
                      <a:alpha val="43137"/>
                    </a:srgbClr>
                  </a:outerShdw>
                </a:effectLst>
              </a:rPr>
              <a:t>Mutual</a:t>
            </a:r>
            <a:r>
              <a:rPr lang="bg-BG" sz="2400" i="1" dirty="0" smtClean="0">
                <a:effectLst>
                  <a:outerShdw blurRad="38100" dist="38100" dir="2700000" algn="tl">
                    <a:srgbClr val="000000">
                      <a:alpha val="43137"/>
                    </a:srgbClr>
                  </a:outerShdw>
                </a:effectLst>
              </a:rPr>
              <a:t> </a:t>
            </a:r>
            <a:r>
              <a:rPr lang="bg-BG" sz="2400" i="1" dirty="0" err="1" smtClean="0">
                <a:effectLst>
                  <a:outerShdw blurRad="38100" dist="38100" dir="2700000" algn="tl">
                    <a:srgbClr val="000000">
                      <a:alpha val="43137"/>
                    </a:srgbClr>
                  </a:outerShdw>
                </a:effectLst>
              </a:rPr>
              <a:t>exclusion</a:t>
            </a:r>
            <a:r>
              <a:rPr lang="bg-BG" sz="2400" dirty="0" smtClean="0"/>
              <a:t>)</a:t>
            </a:r>
          </a:p>
          <a:p>
            <a:pPr lvl="2">
              <a:spcBef>
                <a:spcPts val="300"/>
              </a:spcBef>
            </a:pPr>
            <a:r>
              <a:rPr lang="bg-BG" sz="2000" dirty="0" smtClean="0"/>
              <a:t>Това е механизъм, при който една нишка може да има достъп до данните в даден момент, което гарантира консистентност на данните в процеса на обработка, както и след операцията.</a:t>
            </a:r>
          </a:p>
          <a:p>
            <a:pPr lvl="2">
              <a:spcBef>
                <a:spcPts val="300"/>
              </a:spcBef>
            </a:pPr>
            <a:r>
              <a:rPr lang="bg-BG" sz="2000" dirty="0" smtClean="0"/>
              <a:t>Актуализацията се реализира като атомна операция.</a:t>
            </a:r>
          </a:p>
          <a:p>
            <a:pPr lvl="1">
              <a:spcBef>
                <a:spcPts val="300"/>
              </a:spcBef>
            </a:pPr>
            <a:r>
              <a:rPr lang="bg-BG" sz="2400" dirty="0" smtClean="0"/>
              <a:t>Синхронизиране по състояние (</a:t>
            </a:r>
            <a:r>
              <a:rPr lang="bg-BG" sz="2400" dirty="0" err="1" smtClean="0"/>
              <a:t>англ</a:t>
            </a:r>
            <a:r>
              <a:rPr lang="bg-BG" sz="2400" dirty="0" smtClean="0"/>
              <a:t>. </a:t>
            </a:r>
            <a:r>
              <a:rPr lang="bg-BG" sz="2400" i="1" dirty="0" err="1" smtClean="0">
                <a:effectLst>
                  <a:outerShdw blurRad="38100" dist="38100" dir="2700000" algn="tl">
                    <a:srgbClr val="000000">
                      <a:alpha val="43137"/>
                    </a:srgbClr>
                  </a:outerShdw>
                </a:effectLst>
              </a:rPr>
              <a:t>Condition</a:t>
            </a:r>
            <a:r>
              <a:rPr lang="bg-BG" sz="2400" i="1" dirty="0" smtClean="0">
                <a:effectLst>
                  <a:outerShdw blurRad="38100" dist="38100" dir="2700000" algn="tl">
                    <a:srgbClr val="000000">
                      <a:alpha val="43137"/>
                    </a:srgbClr>
                  </a:outerShdw>
                </a:effectLst>
              </a:rPr>
              <a:t> </a:t>
            </a:r>
            <a:r>
              <a:rPr lang="bg-BG" sz="2400" i="1" dirty="0" err="1" smtClean="0">
                <a:effectLst>
                  <a:outerShdw blurRad="38100" dist="38100" dir="2700000" algn="tl">
                    <a:srgbClr val="000000">
                      <a:alpha val="43137"/>
                    </a:srgbClr>
                  </a:outerShdw>
                </a:effectLst>
              </a:rPr>
              <a:t>synchronization</a:t>
            </a:r>
            <a:r>
              <a:rPr lang="bg-BG" sz="2400" dirty="0" smtClean="0"/>
              <a:t> )</a:t>
            </a:r>
          </a:p>
          <a:p>
            <a:pPr lvl="2">
              <a:spcBef>
                <a:spcPts val="300"/>
              </a:spcBef>
            </a:pPr>
            <a:r>
              <a:rPr lang="bg-BG" sz="2000" dirty="0" smtClean="0"/>
              <a:t>Това е механизъм, при който операциите може да се забавят, ако споделените ресурси са в „неправилно“ състояние</a:t>
            </a:r>
          </a:p>
          <a:p>
            <a:pPr lvl="2">
              <a:spcBef>
                <a:spcPts val="300"/>
              </a:spcBef>
            </a:pPr>
            <a:r>
              <a:rPr lang="bg-BG" sz="2000" dirty="0" smtClean="0"/>
              <a:t>Пример: отлагане на четене, защото буферът е празен.</a:t>
            </a:r>
          </a:p>
          <a:p>
            <a:pPr>
              <a:spcBef>
                <a:spcPts val="300"/>
              </a:spcBef>
            </a:pPr>
            <a:r>
              <a:rPr lang="bg-BG" sz="2800" dirty="0" smtClean="0"/>
              <a:t>Приоритетна инверсия</a:t>
            </a:r>
          </a:p>
          <a:p>
            <a:pPr lvl="1">
              <a:spcBef>
                <a:spcPts val="300"/>
              </a:spcBef>
            </a:pPr>
            <a:r>
              <a:rPr lang="bg-BG" sz="2400" dirty="0" smtClean="0"/>
              <a:t>С това се означава блокиране за неопределено време на процеси/нишки с висок приоритет, защото някой процес/нишка с нисък приоритет „държи“  споделен ресурс, необходим на процеса/нишката с по-висок приоритет.</a:t>
            </a:r>
            <a:endParaRPr lang="bg-BG" sz="2400" dirty="0"/>
          </a:p>
        </p:txBody>
      </p:sp>
    </p:spTree>
    <p:extLst>
      <p:ext uri="{BB962C8B-B14F-4D97-AF65-F5344CB8AC3E}">
        <p14:creationId xmlns:p14="http://schemas.microsoft.com/office/powerpoint/2010/main" val="3155007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Безопасност на конкурентен процес</a:t>
            </a:r>
            <a:endParaRPr lang="en-US" dirty="0"/>
          </a:p>
        </p:txBody>
      </p:sp>
      <p:sp>
        <p:nvSpPr>
          <p:cNvPr id="3" name="Content Placeholder 2"/>
          <p:cNvSpPr>
            <a:spLocks noGrp="1"/>
          </p:cNvSpPr>
          <p:nvPr>
            <p:ph idx="1"/>
          </p:nvPr>
        </p:nvSpPr>
        <p:spPr/>
        <p:txBody>
          <a:bodyPr>
            <a:normAutofit/>
          </a:bodyPr>
          <a:lstStyle/>
          <a:p>
            <a:r>
              <a:rPr lang="bg-BG" sz="2800" dirty="0" smtClean="0"/>
              <a:t>Взаимното изключване решава много проблеми, свързани с безопасността, но поражда проблеми, които са не по-малко сериозни.</a:t>
            </a:r>
          </a:p>
          <a:p>
            <a:pPr lvl="1"/>
            <a:r>
              <a:rPr lang="bg-BG" sz="2400" dirty="0" smtClean="0">
                <a:effectLst>
                  <a:outerShdw blurRad="38100" dist="38100" dir="2700000" algn="tl">
                    <a:srgbClr val="000000">
                      <a:alpha val="43137"/>
                    </a:srgbClr>
                  </a:outerShdw>
                </a:effectLst>
              </a:rPr>
              <a:t>Взаимно блокиране </a:t>
            </a:r>
            <a:r>
              <a:rPr lang="bg-BG" sz="2400" dirty="0" smtClean="0"/>
              <a:t>(</a:t>
            </a:r>
            <a:r>
              <a:rPr lang="bg-BG" sz="2400" dirty="0" err="1" smtClean="0"/>
              <a:t>англ</a:t>
            </a:r>
            <a:r>
              <a:rPr lang="bg-BG" sz="2400" dirty="0" smtClean="0"/>
              <a:t>. </a:t>
            </a:r>
            <a:r>
              <a:rPr lang="bg-BG" sz="2400" dirty="0" err="1" smtClean="0"/>
              <a:t>Deadlock</a:t>
            </a:r>
            <a:r>
              <a:rPr lang="bg-BG" sz="2400" dirty="0" smtClean="0"/>
              <a:t>)</a:t>
            </a:r>
            <a:r>
              <a:rPr lang="bg-BG" sz="2400" dirty="0" smtClean="0">
                <a:effectLst>
                  <a:outerShdw blurRad="38100" dist="38100" dir="2700000" algn="tl">
                    <a:srgbClr val="000000">
                      <a:alpha val="43137"/>
                    </a:srgbClr>
                  </a:outerShdw>
                </a:effectLst>
              </a:rPr>
              <a:t> </a:t>
            </a:r>
            <a:r>
              <a:rPr lang="bg-BG" sz="2400" dirty="0" smtClean="0"/>
              <a:t>е един от най-сериозните проблеми, водещи до грешки в програмите. </a:t>
            </a:r>
            <a:endParaRPr lang="bg-BG" sz="3600" dirty="0" smtClean="0"/>
          </a:p>
          <a:p>
            <a:pPr lvl="2"/>
            <a:r>
              <a:rPr lang="bg-BG" sz="2000" dirty="0" smtClean="0"/>
              <a:t>Всички процеси са блокирани и никой не работи.</a:t>
            </a:r>
          </a:p>
          <a:p>
            <a:pPr lvl="2"/>
            <a:r>
              <a:rPr lang="bg-BG" sz="2000" dirty="0" smtClean="0"/>
              <a:t>Тя възниква, когато има никой процес няма всичките си необходими ресурса, т.е. чака други процеси да ги освободят, но тези процеси също са блокирани заради ресурси. </a:t>
            </a:r>
          </a:p>
          <a:p>
            <a:pPr lvl="2"/>
            <a:r>
              <a:rPr lang="bg-BG" sz="2000" dirty="0" smtClean="0"/>
              <a:t>Биват два основни типа:  „един-към-един“ и  „</a:t>
            </a:r>
            <a:r>
              <a:rPr lang="bg-BG" altLang="en-US" sz="2000" dirty="0"/>
              <a:t>Транзитивна </a:t>
            </a:r>
            <a:r>
              <a:rPr lang="bg-BG" altLang="en-US" sz="2000" dirty="0" smtClean="0"/>
              <a:t>блокировка</a:t>
            </a:r>
            <a:r>
              <a:rPr lang="bg-BG" sz="2000" dirty="0" smtClean="0"/>
              <a:t>“</a:t>
            </a:r>
            <a:endParaRPr lang="bg-BG" sz="3200" dirty="0" smtClean="0"/>
          </a:p>
          <a:p>
            <a:pPr lvl="1"/>
            <a:r>
              <a:rPr lang="bg-BG" sz="2400" dirty="0" smtClean="0"/>
              <a:t>Взаимно блокиране е екстремна форма на „</a:t>
            </a:r>
            <a:r>
              <a:rPr lang="bg-BG" sz="2400" dirty="0" smtClean="0">
                <a:effectLst>
                  <a:outerShdw blurRad="38100" dist="38100" dir="2700000" algn="tl">
                    <a:srgbClr val="000000">
                      <a:alpha val="43137"/>
                    </a:srgbClr>
                  </a:outerShdw>
                </a:effectLst>
              </a:rPr>
              <a:t>гладуване</a:t>
            </a:r>
            <a:r>
              <a:rPr lang="bg-BG" sz="2400" dirty="0" smtClean="0"/>
              <a:t>“ (</a:t>
            </a:r>
            <a:r>
              <a:rPr lang="bg-BG" sz="2400" dirty="0" err="1" smtClean="0"/>
              <a:t>англ</a:t>
            </a:r>
            <a:r>
              <a:rPr lang="bg-BG" sz="2400" dirty="0" smtClean="0"/>
              <a:t>. </a:t>
            </a:r>
            <a:r>
              <a:rPr lang="en-US" sz="2400" i="1" dirty="0" smtClean="0"/>
              <a:t>S</a:t>
            </a:r>
            <a:r>
              <a:rPr lang="bg-BG" sz="2400" i="1" dirty="0" err="1" smtClean="0"/>
              <a:t>tarvation</a:t>
            </a:r>
            <a:r>
              <a:rPr lang="bg-BG" sz="2400" dirty="0" smtClean="0"/>
              <a:t>)</a:t>
            </a:r>
          </a:p>
          <a:p>
            <a:pPr lvl="2"/>
            <a:r>
              <a:rPr lang="bg-BG" sz="2000" dirty="0" smtClean="0"/>
              <a:t>Гладуването възниква, когато нишка не може да продължи, защото не може да получи достъп до ресурс, който и е необходим.</a:t>
            </a:r>
          </a:p>
          <a:p>
            <a:pPr lvl="2"/>
            <a:r>
              <a:rPr lang="bg-BG" sz="2000" dirty="0" smtClean="0"/>
              <a:t>При „гладуването“</a:t>
            </a:r>
            <a:r>
              <a:rPr lang="bg-BG" sz="2000" dirty="0"/>
              <a:t>процеси </a:t>
            </a:r>
            <a:r>
              <a:rPr lang="bg-BG" sz="2000" dirty="0" smtClean="0"/>
              <a:t>с високо приоритет работят, но никога не се стига до тези с нисък – необходимите ресурси са все заети от високоприоритетни процеси.</a:t>
            </a:r>
          </a:p>
          <a:p>
            <a:pPr lvl="2"/>
            <a:endParaRPr lang="bg-BG" sz="2000" dirty="0" smtClean="0"/>
          </a:p>
          <a:p>
            <a:pPr lvl="1"/>
            <a:endParaRPr lang="bg-BG" sz="2400" dirty="0" smtClean="0"/>
          </a:p>
          <a:p>
            <a:pPr lvl="1"/>
            <a:endParaRPr lang="bg-BG" sz="2400" dirty="0" smtClean="0"/>
          </a:p>
          <a:p>
            <a:endParaRPr lang="bg-BG" sz="2800" dirty="0"/>
          </a:p>
        </p:txBody>
      </p:sp>
    </p:spTree>
    <p:extLst>
      <p:ext uri="{BB962C8B-B14F-4D97-AF65-F5344CB8AC3E}">
        <p14:creationId xmlns:p14="http://schemas.microsoft.com/office/powerpoint/2010/main" val="3439674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Взаимна </a:t>
            </a:r>
            <a:r>
              <a:rPr lang="bg-BG" dirty="0" err="1"/>
              <a:t>блокиворка</a:t>
            </a:r>
            <a:r>
              <a:rPr lang="bg-BG" dirty="0"/>
              <a:t> (</a:t>
            </a:r>
            <a:r>
              <a:rPr lang="en-US" dirty="0"/>
              <a:t>Deadlocks</a:t>
            </a:r>
            <a:r>
              <a:rPr lang="bg-BG" dirty="0"/>
              <a:t>)</a:t>
            </a:r>
            <a:endParaRPr lang="en-US" dirty="0"/>
          </a:p>
        </p:txBody>
      </p:sp>
      <p:sp>
        <p:nvSpPr>
          <p:cNvPr id="3" name="Content Placeholder 2"/>
          <p:cNvSpPr>
            <a:spLocks noGrp="1"/>
          </p:cNvSpPr>
          <p:nvPr>
            <p:ph idx="1"/>
          </p:nvPr>
        </p:nvSpPr>
        <p:spPr/>
        <p:txBody>
          <a:bodyPr/>
          <a:lstStyle/>
          <a:p>
            <a:r>
              <a:rPr lang="bg-BG" altLang="en-US" dirty="0"/>
              <a:t>Тип ‘</a:t>
            </a:r>
            <a:r>
              <a:rPr lang="bg-BG" altLang="en-US" dirty="0" err="1"/>
              <a:t>Един-към-един’</a:t>
            </a:r>
            <a:endParaRPr lang="en-US" altLang="en-US" dirty="0"/>
          </a:p>
          <a:p>
            <a:pPr lvl="1"/>
            <a:r>
              <a:rPr lang="bg-BG" dirty="0" smtClean="0"/>
              <a:t>Постановка на проблема: </a:t>
            </a:r>
          </a:p>
          <a:p>
            <a:pPr lvl="2"/>
            <a:r>
              <a:rPr lang="bg-BG" dirty="0" smtClean="0"/>
              <a:t>две задачи (</a:t>
            </a:r>
            <a:r>
              <a:rPr lang="en-US" dirty="0" smtClean="0"/>
              <a:t>A, B)</a:t>
            </a:r>
            <a:r>
              <a:rPr lang="bg-BG" dirty="0" smtClean="0"/>
              <a:t>, които използват два ресурса</a:t>
            </a:r>
            <a:r>
              <a:rPr lang="en-US" dirty="0" smtClean="0"/>
              <a:t> </a:t>
            </a:r>
            <a:r>
              <a:rPr lang="en-US" altLang="en-US" dirty="0" smtClean="0"/>
              <a:t>R</a:t>
            </a:r>
            <a:r>
              <a:rPr lang="en-US" altLang="en-US" baseline="-25000" dirty="0" smtClean="0"/>
              <a:t>1</a:t>
            </a:r>
            <a:r>
              <a:rPr lang="bg-BG" altLang="en-US" dirty="0"/>
              <a:t> </a:t>
            </a:r>
            <a:r>
              <a:rPr lang="bg-BG" altLang="en-US" dirty="0" smtClean="0"/>
              <a:t>и</a:t>
            </a:r>
            <a:r>
              <a:rPr lang="en-US" altLang="en-US" dirty="0" smtClean="0"/>
              <a:t> R</a:t>
            </a:r>
            <a:r>
              <a:rPr lang="en-US" altLang="en-US" baseline="-25000" dirty="0" smtClean="0"/>
              <a:t>2</a:t>
            </a:r>
            <a:endParaRPr lang="bg-BG" altLang="en-US" baseline="-25000" dirty="0" smtClean="0"/>
          </a:p>
          <a:p>
            <a:pPr lvl="2"/>
            <a:r>
              <a:rPr lang="bg-BG" dirty="0" smtClean="0"/>
              <a:t>приоритетът </a:t>
            </a:r>
            <a:r>
              <a:rPr lang="bg-BG" dirty="0"/>
              <a:t>на </a:t>
            </a:r>
            <a:r>
              <a:rPr lang="en-US" dirty="0"/>
              <a:t>B</a:t>
            </a:r>
            <a:r>
              <a:rPr lang="en-US" dirty="0" smtClean="0"/>
              <a:t> </a:t>
            </a:r>
            <a:r>
              <a:rPr lang="bg-BG" dirty="0"/>
              <a:t>е най-голям </a:t>
            </a:r>
            <a:r>
              <a:rPr lang="bg-BG" dirty="0" smtClean="0"/>
              <a:t>от приоритета на А ( </a:t>
            </a:r>
            <a:r>
              <a:rPr lang="en-US" altLang="en-US" dirty="0" smtClean="0"/>
              <a:t>P(B</a:t>
            </a:r>
            <a:r>
              <a:rPr lang="en-US" altLang="en-US" dirty="0"/>
              <a:t>) &gt; P(A),</a:t>
            </a:r>
            <a:r>
              <a:rPr lang="bg-BG" altLang="en-US" dirty="0"/>
              <a:t> т.е.</a:t>
            </a:r>
            <a:r>
              <a:rPr lang="en-US" altLang="en-US" dirty="0"/>
              <a:t> B </a:t>
            </a:r>
            <a:r>
              <a:rPr lang="bg-BG" altLang="en-US" dirty="0"/>
              <a:t>прекъсва </a:t>
            </a:r>
            <a:r>
              <a:rPr lang="en-US" altLang="en-US" dirty="0"/>
              <a:t>A</a:t>
            </a:r>
            <a:r>
              <a:rPr lang="bg-BG" altLang="en-US" dirty="0"/>
              <a:t>, </a:t>
            </a:r>
            <a:r>
              <a:rPr lang="bg-BG" altLang="en-US" dirty="0" smtClean="0"/>
              <a:t>но А</a:t>
            </a:r>
            <a:r>
              <a:rPr lang="en-US" altLang="en-US" dirty="0" smtClean="0"/>
              <a:t> </a:t>
            </a:r>
            <a:r>
              <a:rPr lang="bg-BG" altLang="en-US" dirty="0" smtClean="0"/>
              <a:t>не може да прекъсне </a:t>
            </a:r>
            <a:r>
              <a:rPr lang="en-US" altLang="en-US" dirty="0"/>
              <a:t>B</a:t>
            </a:r>
            <a:r>
              <a:rPr lang="bg-BG" altLang="en-US" dirty="0" smtClean="0"/>
              <a:t>.</a:t>
            </a:r>
          </a:p>
          <a:p>
            <a:pPr lvl="1"/>
            <a:endParaRPr lang="bg-BG" dirty="0"/>
          </a:p>
          <a:p>
            <a:pPr lvl="1"/>
            <a:endParaRPr lang="bg-BG" dirty="0" smtClean="0"/>
          </a:p>
          <a:p>
            <a:pPr lvl="1"/>
            <a:endParaRPr lang="bg-BG" dirty="0"/>
          </a:p>
          <a:p>
            <a:pPr lvl="1"/>
            <a:r>
              <a:rPr lang="bg-BG" dirty="0" smtClean="0"/>
              <a:t>Същност:</a:t>
            </a:r>
          </a:p>
          <a:p>
            <a:pPr lvl="2"/>
            <a:r>
              <a:rPr lang="bg-BG" altLang="en-US" dirty="0"/>
              <a:t>Тъй като </a:t>
            </a:r>
            <a:r>
              <a:rPr lang="en-US" altLang="en-US" dirty="0"/>
              <a:t>P(B) &gt; P(A)</a:t>
            </a:r>
            <a:r>
              <a:rPr lang="bg-BG" altLang="en-US" dirty="0"/>
              <a:t> и ако </a:t>
            </a:r>
            <a:r>
              <a:rPr lang="en-US" altLang="en-US" dirty="0"/>
              <a:t>B </a:t>
            </a:r>
            <a:r>
              <a:rPr lang="bg-BG" altLang="en-US" dirty="0"/>
              <a:t>прекъсна </a:t>
            </a:r>
            <a:r>
              <a:rPr lang="en-US" altLang="en-US" dirty="0"/>
              <a:t>A </a:t>
            </a:r>
            <a:r>
              <a:rPr lang="bg-BG" altLang="en-US" dirty="0"/>
              <a:t>в маркирания със </a:t>
            </a:r>
            <a:r>
              <a:rPr lang="en-US" altLang="en-US" dirty="0"/>
              <a:t>‘</a:t>
            </a:r>
            <a:r>
              <a:rPr lang="en-US" altLang="en-US" dirty="0">
                <a:effectLst>
                  <a:outerShdw blurRad="38100" dist="38100" dir="2700000" algn="tl">
                    <a:srgbClr val="000000">
                      <a:alpha val="43137"/>
                    </a:srgbClr>
                  </a:outerShdw>
                </a:effectLst>
              </a:rPr>
              <a:t> * </a:t>
            </a:r>
            <a:r>
              <a:rPr lang="en-US" altLang="en-US" dirty="0"/>
              <a:t>’</a:t>
            </a:r>
            <a:r>
              <a:rPr lang="bg-BG" altLang="en-US" dirty="0"/>
              <a:t> момент</a:t>
            </a:r>
            <a:r>
              <a:rPr lang="en-US" altLang="en-US" dirty="0"/>
              <a:t>,  </a:t>
            </a:r>
            <a:r>
              <a:rPr lang="bg-BG" altLang="en-US" dirty="0"/>
              <a:t>задачите ще се блокират </a:t>
            </a:r>
            <a:r>
              <a:rPr lang="bg-BG" altLang="en-US" dirty="0" smtClean="0"/>
              <a:t>завинаги -&gt; </a:t>
            </a:r>
            <a:r>
              <a:rPr lang="en-US" altLang="en-US" dirty="0" smtClean="0"/>
              <a:t>A</a:t>
            </a:r>
            <a:r>
              <a:rPr lang="bg-BG" altLang="en-US" dirty="0" smtClean="0"/>
              <a:t> </a:t>
            </a:r>
            <a:r>
              <a:rPr lang="bg-BG" altLang="en-US" dirty="0"/>
              <a:t>чака </a:t>
            </a:r>
            <a:r>
              <a:rPr lang="en-US" altLang="en-US" dirty="0"/>
              <a:t>R</a:t>
            </a:r>
            <a:r>
              <a:rPr lang="en-US" altLang="en-US" baseline="-25000" dirty="0"/>
              <a:t>2</a:t>
            </a:r>
            <a:r>
              <a:rPr lang="en-US" altLang="en-US" dirty="0"/>
              <a:t>, B </a:t>
            </a:r>
            <a:r>
              <a:rPr lang="bg-BG" altLang="en-US" dirty="0"/>
              <a:t>чака </a:t>
            </a:r>
            <a:r>
              <a:rPr lang="en-US" altLang="en-US" dirty="0"/>
              <a:t>R</a:t>
            </a:r>
            <a:r>
              <a:rPr lang="en-US" altLang="en-US" baseline="-25000" dirty="0"/>
              <a:t>1</a:t>
            </a:r>
            <a:r>
              <a:rPr lang="bg-BG" altLang="en-US" dirty="0"/>
              <a:t>.</a:t>
            </a:r>
            <a:endParaRPr lang="en-US" altLang="en-US" dirty="0"/>
          </a:p>
          <a:p>
            <a:pPr lvl="2"/>
            <a:endParaRPr lang="en-US" dirty="0"/>
          </a:p>
        </p:txBody>
      </p:sp>
      <p:sp>
        <p:nvSpPr>
          <p:cNvPr id="4" name="Text Box 11"/>
          <p:cNvSpPr txBox="1">
            <a:spLocks noChangeArrowheads="1"/>
          </p:cNvSpPr>
          <p:nvPr/>
        </p:nvSpPr>
        <p:spPr bwMode="auto">
          <a:xfrm>
            <a:off x="2436812" y="3368566"/>
            <a:ext cx="7391400" cy="1237262"/>
          </a:xfrm>
          <a:prstGeom prst="rect">
            <a:avLst/>
          </a:prstGeom>
          <a:solidFill>
            <a:srgbClr val="FFC000"/>
          </a:solidFill>
          <a:ln>
            <a:noFill/>
          </a:ln>
        </p:spPr>
        <p:txBody>
          <a:bodyPr wrap="square">
            <a:spAutoFit/>
          </a:bodyPr>
          <a:lstStyle>
            <a:lvl1pPr>
              <a:defRPr sz="2800">
                <a:solidFill>
                  <a:schemeClr val="tx1"/>
                </a:solidFill>
                <a:latin typeface="Garamond" pitchFamily="18" charset="0"/>
              </a:defRPr>
            </a:lvl1pPr>
            <a:lvl2pPr marL="742950" indent="-285750">
              <a:defRPr sz="2800">
                <a:solidFill>
                  <a:schemeClr val="tx1"/>
                </a:solidFill>
                <a:latin typeface="Garamond" pitchFamily="18" charset="0"/>
              </a:defRPr>
            </a:lvl2pPr>
            <a:lvl3pPr marL="1143000" indent="-228600">
              <a:defRPr sz="2800">
                <a:solidFill>
                  <a:schemeClr val="tx1"/>
                </a:solidFill>
                <a:latin typeface="Garamond" pitchFamily="18" charset="0"/>
              </a:defRPr>
            </a:lvl3pPr>
            <a:lvl4pPr marL="1600200" indent="-228600">
              <a:defRPr sz="2800">
                <a:solidFill>
                  <a:schemeClr val="tx1"/>
                </a:solidFill>
                <a:latin typeface="Garamond" pitchFamily="18" charset="0"/>
              </a:defRPr>
            </a:lvl4pPr>
            <a:lvl5pPr marL="2057400" indent="-228600">
              <a:defRPr sz="2800">
                <a:solidFill>
                  <a:schemeClr val="tx1"/>
                </a:solidFill>
                <a:latin typeface="Garamond" pitchFamily="18" charset="0"/>
              </a:defRPr>
            </a:lvl5pPr>
            <a:lvl6pPr marL="2514600" indent="-228600" eaLnBrk="0" fontAlgn="base" hangingPunct="0">
              <a:spcBef>
                <a:spcPct val="0"/>
              </a:spcBef>
              <a:spcAft>
                <a:spcPct val="0"/>
              </a:spcAft>
              <a:defRPr sz="2800">
                <a:solidFill>
                  <a:schemeClr val="tx1"/>
                </a:solidFill>
                <a:latin typeface="Garamond" pitchFamily="18" charset="0"/>
              </a:defRPr>
            </a:lvl6pPr>
            <a:lvl7pPr marL="2971800" indent="-228600" eaLnBrk="0" fontAlgn="base" hangingPunct="0">
              <a:spcBef>
                <a:spcPct val="0"/>
              </a:spcBef>
              <a:spcAft>
                <a:spcPct val="0"/>
              </a:spcAft>
              <a:defRPr sz="2800">
                <a:solidFill>
                  <a:schemeClr val="tx1"/>
                </a:solidFill>
                <a:latin typeface="Garamond" pitchFamily="18" charset="0"/>
              </a:defRPr>
            </a:lvl7pPr>
            <a:lvl8pPr marL="3429000" indent="-228600" eaLnBrk="0" fontAlgn="base" hangingPunct="0">
              <a:spcBef>
                <a:spcPct val="0"/>
              </a:spcBef>
              <a:spcAft>
                <a:spcPct val="0"/>
              </a:spcAft>
              <a:defRPr sz="2800">
                <a:solidFill>
                  <a:schemeClr val="tx1"/>
                </a:solidFill>
                <a:latin typeface="Garamond" pitchFamily="18" charset="0"/>
              </a:defRPr>
            </a:lvl8pPr>
            <a:lvl9pPr marL="3886200" indent="-228600" eaLnBrk="0" fontAlgn="base" hangingPunct="0">
              <a:spcBef>
                <a:spcPct val="0"/>
              </a:spcBef>
              <a:spcAft>
                <a:spcPct val="0"/>
              </a:spcAft>
              <a:defRPr sz="2800">
                <a:solidFill>
                  <a:schemeClr val="tx1"/>
                </a:solidFill>
                <a:latin typeface="Garamond" pitchFamily="18" charset="0"/>
              </a:defRPr>
            </a:lvl9pPr>
          </a:lstStyle>
          <a:p>
            <a:pPr marL="346075">
              <a:lnSpc>
                <a:spcPct val="150000"/>
              </a:lnSpc>
              <a:spcBef>
                <a:spcPct val="20000"/>
              </a:spcBef>
            </a:pPr>
            <a:r>
              <a:rPr lang="en-US" altLang="en-US" sz="2400" b="1" i="1" dirty="0" smtClean="0">
                <a:solidFill>
                  <a:schemeClr val="tx2"/>
                </a:solidFill>
                <a:latin typeface="Calibri" panose="020F0502020204030204" pitchFamily="34" charset="0"/>
              </a:rPr>
              <a:t>A</a:t>
            </a:r>
            <a:r>
              <a:rPr lang="en-US" altLang="en-US" sz="2400" i="1" dirty="0">
                <a:solidFill>
                  <a:schemeClr val="tx2"/>
                </a:solidFill>
                <a:latin typeface="Calibri" panose="020F0502020204030204" pitchFamily="34" charset="0"/>
              </a:rPr>
              <a:t>: … lock (R</a:t>
            </a:r>
            <a:r>
              <a:rPr lang="en-US" altLang="en-US" sz="2400" baseline="-25000" dirty="0">
                <a:solidFill>
                  <a:schemeClr val="tx2"/>
                </a:solidFill>
                <a:latin typeface="Calibri" panose="020F0502020204030204" pitchFamily="34" charset="0"/>
              </a:rPr>
              <a:t>1</a:t>
            </a:r>
            <a:r>
              <a:rPr lang="en-US" altLang="en-US" sz="2400" i="1" dirty="0">
                <a:solidFill>
                  <a:schemeClr val="tx2"/>
                </a:solidFill>
                <a:latin typeface="Calibri" panose="020F0502020204030204" pitchFamily="34" charset="0"/>
              </a:rPr>
              <a:t>) .*. lock (R</a:t>
            </a:r>
            <a:r>
              <a:rPr lang="en-US" altLang="en-US" sz="2400" baseline="-25000" dirty="0">
                <a:solidFill>
                  <a:schemeClr val="tx2"/>
                </a:solidFill>
                <a:latin typeface="Calibri" panose="020F0502020204030204" pitchFamily="34" charset="0"/>
              </a:rPr>
              <a:t>2</a:t>
            </a:r>
            <a:r>
              <a:rPr lang="en-US" altLang="en-US" sz="2400" i="1" dirty="0">
                <a:solidFill>
                  <a:schemeClr val="tx2"/>
                </a:solidFill>
                <a:latin typeface="Calibri" panose="020F0502020204030204" pitchFamily="34" charset="0"/>
              </a:rPr>
              <a:t>) .. unlock (R</a:t>
            </a:r>
            <a:r>
              <a:rPr lang="en-US" altLang="en-US" sz="2400" baseline="-25000" dirty="0">
                <a:solidFill>
                  <a:schemeClr val="tx2"/>
                </a:solidFill>
                <a:latin typeface="Calibri" panose="020F0502020204030204" pitchFamily="34" charset="0"/>
              </a:rPr>
              <a:t>2</a:t>
            </a:r>
            <a:r>
              <a:rPr lang="en-US" altLang="en-US" sz="2400" i="1" dirty="0">
                <a:solidFill>
                  <a:schemeClr val="tx2"/>
                </a:solidFill>
                <a:latin typeface="Calibri" panose="020F0502020204030204" pitchFamily="34" charset="0"/>
              </a:rPr>
              <a:t>) ..unlock (R</a:t>
            </a:r>
            <a:r>
              <a:rPr lang="en-US" altLang="en-US" sz="2400" baseline="-25000" dirty="0">
                <a:solidFill>
                  <a:schemeClr val="tx2"/>
                </a:solidFill>
                <a:latin typeface="Calibri" panose="020F0502020204030204" pitchFamily="34" charset="0"/>
              </a:rPr>
              <a:t>1</a:t>
            </a:r>
            <a:r>
              <a:rPr lang="en-US" altLang="en-US" sz="2400" i="1" dirty="0">
                <a:solidFill>
                  <a:schemeClr val="tx2"/>
                </a:solidFill>
                <a:latin typeface="Calibri" panose="020F0502020204030204" pitchFamily="34" charset="0"/>
              </a:rPr>
              <a:t>)</a:t>
            </a:r>
          </a:p>
          <a:p>
            <a:pPr marL="346075">
              <a:lnSpc>
                <a:spcPct val="150000"/>
              </a:lnSpc>
              <a:spcBef>
                <a:spcPct val="10000"/>
              </a:spcBef>
            </a:pPr>
            <a:r>
              <a:rPr lang="en-US" altLang="en-US" sz="2400" b="1" i="1" dirty="0" smtClean="0">
                <a:solidFill>
                  <a:schemeClr val="tx2"/>
                </a:solidFill>
                <a:latin typeface="Calibri" panose="020F0502020204030204" pitchFamily="34" charset="0"/>
              </a:rPr>
              <a:t>B</a:t>
            </a:r>
            <a:r>
              <a:rPr lang="en-US" altLang="en-US" sz="2400" i="1" dirty="0">
                <a:solidFill>
                  <a:schemeClr val="tx2"/>
                </a:solidFill>
                <a:latin typeface="Calibri" panose="020F0502020204030204" pitchFamily="34" charset="0"/>
              </a:rPr>
              <a:t>: … lock (R</a:t>
            </a:r>
            <a:r>
              <a:rPr lang="en-US" altLang="en-US" sz="2400" baseline="-25000" dirty="0">
                <a:solidFill>
                  <a:schemeClr val="tx2"/>
                </a:solidFill>
                <a:latin typeface="Calibri" panose="020F0502020204030204" pitchFamily="34" charset="0"/>
              </a:rPr>
              <a:t>2</a:t>
            </a:r>
            <a:r>
              <a:rPr lang="en-US" altLang="en-US" sz="2400" i="1" dirty="0">
                <a:solidFill>
                  <a:schemeClr val="tx2"/>
                </a:solidFill>
                <a:latin typeface="Calibri" panose="020F0502020204030204" pitchFamily="34" charset="0"/>
              </a:rPr>
              <a:t>) .*. lock (R</a:t>
            </a:r>
            <a:r>
              <a:rPr lang="en-US" altLang="en-US" sz="2400" baseline="-25000" dirty="0">
                <a:solidFill>
                  <a:schemeClr val="tx2"/>
                </a:solidFill>
                <a:latin typeface="Calibri" panose="020F0502020204030204" pitchFamily="34" charset="0"/>
              </a:rPr>
              <a:t>1</a:t>
            </a:r>
            <a:r>
              <a:rPr lang="en-US" altLang="en-US" sz="2400" i="1" dirty="0">
                <a:solidFill>
                  <a:schemeClr val="tx2"/>
                </a:solidFill>
                <a:latin typeface="Calibri" panose="020F0502020204030204" pitchFamily="34" charset="0"/>
              </a:rPr>
              <a:t>) .. unlock (R</a:t>
            </a:r>
            <a:r>
              <a:rPr lang="en-US" altLang="en-US" sz="2400" baseline="-25000" dirty="0">
                <a:solidFill>
                  <a:schemeClr val="tx2"/>
                </a:solidFill>
                <a:latin typeface="Calibri" panose="020F0502020204030204" pitchFamily="34" charset="0"/>
              </a:rPr>
              <a:t>1</a:t>
            </a:r>
            <a:r>
              <a:rPr lang="en-US" altLang="en-US" sz="2400" i="1" dirty="0">
                <a:solidFill>
                  <a:schemeClr val="tx2"/>
                </a:solidFill>
                <a:latin typeface="Calibri" panose="020F0502020204030204" pitchFamily="34" charset="0"/>
              </a:rPr>
              <a:t>).. unlock (R</a:t>
            </a:r>
            <a:r>
              <a:rPr lang="en-US" altLang="en-US" sz="2400" baseline="-25000" dirty="0">
                <a:solidFill>
                  <a:schemeClr val="tx2"/>
                </a:solidFill>
                <a:latin typeface="Calibri" panose="020F0502020204030204" pitchFamily="34" charset="0"/>
              </a:rPr>
              <a:t>2</a:t>
            </a:r>
            <a:r>
              <a:rPr lang="en-US" altLang="en-US" sz="2400" i="1" dirty="0" smtClean="0">
                <a:solidFill>
                  <a:schemeClr val="tx2"/>
                </a:solidFill>
                <a:latin typeface="Calibri" panose="020F0502020204030204" pitchFamily="34" charset="0"/>
              </a:rPr>
              <a:t>)</a:t>
            </a:r>
            <a:endParaRPr lang="bg-BG" altLang="en-US" sz="2400" i="1" dirty="0">
              <a:solidFill>
                <a:schemeClr val="tx2"/>
              </a:solidFill>
              <a:latin typeface="Calibri" panose="020F0502020204030204" pitchFamily="34" charset="0"/>
            </a:endParaRPr>
          </a:p>
        </p:txBody>
      </p:sp>
      <p:sp>
        <p:nvSpPr>
          <p:cNvPr id="5" name="Rectangle 4"/>
          <p:cNvSpPr/>
          <p:nvPr/>
        </p:nvSpPr>
        <p:spPr>
          <a:xfrm>
            <a:off x="4646612" y="3368566"/>
            <a:ext cx="152400" cy="1127234"/>
          </a:xfrm>
          <a:prstGeom prst="rect">
            <a:avLst/>
          </a:prstGeom>
          <a:solidFill>
            <a:srgbClr val="007A37">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8292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Взаимна </a:t>
            </a:r>
            <a:r>
              <a:rPr lang="bg-BG" dirty="0" err="1"/>
              <a:t>блокиворка</a:t>
            </a:r>
            <a:r>
              <a:rPr lang="bg-BG" dirty="0"/>
              <a:t> (</a:t>
            </a:r>
            <a:r>
              <a:rPr lang="en-US" dirty="0"/>
              <a:t>Deadlocks</a:t>
            </a:r>
            <a:r>
              <a:rPr lang="bg-BG" dirty="0"/>
              <a:t>)</a:t>
            </a:r>
            <a:endParaRPr lang="en-US" dirty="0"/>
          </a:p>
        </p:txBody>
      </p:sp>
      <p:sp>
        <p:nvSpPr>
          <p:cNvPr id="3" name="Content Placeholder 2"/>
          <p:cNvSpPr>
            <a:spLocks noGrp="1"/>
          </p:cNvSpPr>
          <p:nvPr>
            <p:ph idx="1"/>
          </p:nvPr>
        </p:nvSpPr>
        <p:spPr/>
        <p:txBody>
          <a:bodyPr>
            <a:normAutofit/>
          </a:bodyPr>
          <a:lstStyle/>
          <a:p>
            <a:r>
              <a:rPr lang="bg-BG" altLang="en-US" dirty="0"/>
              <a:t>Тип </a:t>
            </a:r>
            <a:r>
              <a:rPr lang="bg-BG" altLang="en-US" dirty="0" smtClean="0"/>
              <a:t>‘Транзитивна </a:t>
            </a:r>
            <a:r>
              <a:rPr lang="bg-BG" altLang="en-US" dirty="0" err="1" smtClean="0"/>
              <a:t>блокировка’</a:t>
            </a:r>
            <a:endParaRPr lang="en-US" altLang="en-US" dirty="0"/>
          </a:p>
          <a:p>
            <a:pPr lvl="1"/>
            <a:r>
              <a:rPr lang="bg-BG" dirty="0" smtClean="0"/>
              <a:t>Постановка на проблема: </a:t>
            </a:r>
          </a:p>
          <a:p>
            <a:pPr lvl="2"/>
            <a:r>
              <a:rPr lang="bg-BG" dirty="0" smtClean="0"/>
              <a:t>три задачи (</a:t>
            </a:r>
            <a:r>
              <a:rPr lang="en-US" dirty="0" smtClean="0"/>
              <a:t>A, B, C)</a:t>
            </a:r>
            <a:r>
              <a:rPr lang="bg-BG" dirty="0" smtClean="0"/>
              <a:t>, които използват три ресурса</a:t>
            </a:r>
            <a:r>
              <a:rPr lang="en-US" dirty="0" smtClean="0"/>
              <a:t> </a:t>
            </a:r>
            <a:r>
              <a:rPr lang="en-US" altLang="en-US" dirty="0"/>
              <a:t>R</a:t>
            </a:r>
            <a:r>
              <a:rPr lang="en-US" altLang="en-US" baseline="-25000" dirty="0"/>
              <a:t>1</a:t>
            </a:r>
            <a:r>
              <a:rPr lang="en-US" altLang="en-US" dirty="0"/>
              <a:t>, R</a:t>
            </a:r>
            <a:r>
              <a:rPr lang="en-US" altLang="en-US" baseline="-25000" dirty="0"/>
              <a:t>2</a:t>
            </a:r>
            <a:r>
              <a:rPr lang="en-US" altLang="en-US" dirty="0"/>
              <a:t>, R</a:t>
            </a:r>
            <a:r>
              <a:rPr lang="en-US" altLang="en-US" baseline="-25000" dirty="0"/>
              <a:t>3</a:t>
            </a:r>
            <a:endParaRPr lang="bg-BG" baseline="-25000" dirty="0"/>
          </a:p>
          <a:p>
            <a:pPr lvl="2"/>
            <a:r>
              <a:rPr lang="bg-BG" dirty="0" smtClean="0"/>
              <a:t>приоритетът </a:t>
            </a:r>
            <a:r>
              <a:rPr lang="bg-BG" dirty="0"/>
              <a:t>на </a:t>
            </a:r>
            <a:r>
              <a:rPr lang="en-US" dirty="0"/>
              <a:t>C </a:t>
            </a:r>
            <a:r>
              <a:rPr lang="bg-BG" dirty="0"/>
              <a:t>е най-голям (</a:t>
            </a:r>
            <a:r>
              <a:rPr lang="en-US" altLang="en-US" dirty="0"/>
              <a:t>P(C) &gt;  P(B) &gt; P(A),</a:t>
            </a:r>
            <a:r>
              <a:rPr lang="bg-BG" altLang="en-US" dirty="0"/>
              <a:t> т.е.</a:t>
            </a:r>
            <a:r>
              <a:rPr lang="en-US" altLang="en-US" dirty="0"/>
              <a:t> B </a:t>
            </a:r>
            <a:r>
              <a:rPr lang="bg-BG" altLang="en-US" dirty="0" smtClean="0"/>
              <a:t>може да прекъсне </a:t>
            </a:r>
            <a:r>
              <a:rPr lang="en-US" altLang="en-US" dirty="0" smtClean="0"/>
              <a:t>A</a:t>
            </a:r>
            <a:r>
              <a:rPr lang="bg-BG" altLang="en-US" dirty="0"/>
              <a:t> </a:t>
            </a:r>
            <a:r>
              <a:rPr lang="bg-BG" altLang="en-US" dirty="0" smtClean="0"/>
              <a:t>и </a:t>
            </a:r>
            <a:r>
              <a:rPr lang="en-US" altLang="en-US" dirty="0" smtClean="0"/>
              <a:t>C </a:t>
            </a:r>
            <a:r>
              <a:rPr lang="bg-BG" altLang="en-US" dirty="0" smtClean="0"/>
              <a:t>може да прекъсне А и </a:t>
            </a:r>
            <a:r>
              <a:rPr lang="en-US" altLang="en-US" dirty="0" smtClean="0"/>
              <a:t>B</a:t>
            </a:r>
            <a:r>
              <a:rPr lang="bg-BG" altLang="en-US" dirty="0" smtClean="0"/>
              <a:t>.</a:t>
            </a:r>
          </a:p>
          <a:p>
            <a:pPr lvl="2"/>
            <a:endParaRPr lang="bg-BG" dirty="0"/>
          </a:p>
          <a:p>
            <a:pPr lvl="2"/>
            <a:endParaRPr lang="bg-BG" dirty="0" smtClean="0"/>
          </a:p>
          <a:p>
            <a:pPr lvl="2"/>
            <a:endParaRPr lang="bg-BG" dirty="0"/>
          </a:p>
          <a:p>
            <a:pPr lvl="2"/>
            <a:endParaRPr lang="bg-BG" dirty="0" smtClean="0"/>
          </a:p>
          <a:p>
            <a:pPr lvl="1"/>
            <a:r>
              <a:rPr lang="bg-BG" dirty="0"/>
              <a:t>Същност:</a:t>
            </a:r>
          </a:p>
          <a:p>
            <a:pPr lvl="2"/>
            <a:r>
              <a:rPr lang="bg-BG" altLang="en-US" dirty="0"/>
              <a:t>Тъй като </a:t>
            </a:r>
            <a:r>
              <a:rPr lang="en-US" altLang="en-US" dirty="0"/>
              <a:t>P(C) &gt;  P(B) &gt; P(A), </a:t>
            </a:r>
            <a:r>
              <a:rPr lang="bg-BG" altLang="en-US" dirty="0" smtClean="0"/>
              <a:t>ако </a:t>
            </a:r>
            <a:r>
              <a:rPr lang="en-US" altLang="en-US" dirty="0" smtClean="0"/>
              <a:t>B </a:t>
            </a:r>
            <a:r>
              <a:rPr lang="bg-BG" altLang="en-US" dirty="0"/>
              <a:t>прекъсва </a:t>
            </a:r>
            <a:r>
              <a:rPr lang="en-US" altLang="en-US" dirty="0" smtClean="0"/>
              <a:t>A</a:t>
            </a:r>
            <a:r>
              <a:rPr lang="bg-BG" altLang="en-US" dirty="0" smtClean="0"/>
              <a:t> и ако </a:t>
            </a:r>
            <a:r>
              <a:rPr lang="en-US" altLang="en-US" dirty="0" smtClean="0"/>
              <a:t>C </a:t>
            </a:r>
            <a:r>
              <a:rPr lang="bg-BG" altLang="en-US" dirty="0"/>
              <a:t>прекъсва </a:t>
            </a:r>
            <a:r>
              <a:rPr lang="en-US" altLang="en-US" dirty="0" smtClean="0"/>
              <a:t>B</a:t>
            </a:r>
            <a:r>
              <a:rPr lang="bg-BG" altLang="en-US" dirty="0" smtClean="0"/>
              <a:t> </a:t>
            </a:r>
            <a:r>
              <a:rPr lang="bg-BG" altLang="en-US" dirty="0"/>
              <a:t>в маркирания със </a:t>
            </a:r>
            <a:r>
              <a:rPr lang="en-US" altLang="en-US" dirty="0"/>
              <a:t>‘</a:t>
            </a:r>
            <a:r>
              <a:rPr lang="en-US" altLang="en-US" dirty="0">
                <a:effectLst>
                  <a:outerShdw blurRad="38100" dist="38100" dir="2700000" algn="tl">
                    <a:srgbClr val="000000">
                      <a:alpha val="43137"/>
                    </a:srgbClr>
                  </a:outerShdw>
                </a:effectLst>
              </a:rPr>
              <a:t> * </a:t>
            </a:r>
            <a:r>
              <a:rPr lang="en-US" altLang="en-US" dirty="0"/>
              <a:t>’</a:t>
            </a:r>
            <a:r>
              <a:rPr lang="bg-BG" altLang="en-US" dirty="0"/>
              <a:t> момент</a:t>
            </a:r>
            <a:r>
              <a:rPr lang="bg-BG" altLang="en-US" dirty="0" smtClean="0"/>
              <a:t>, то блокировката </a:t>
            </a:r>
            <a:r>
              <a:rPr lang="bg-BG" altLang="en-US" dirty="0"/>
              <a:t>е </a:t>
            </a:r>
            <a:r>
              <a:rPr lang="bg-BG" altLang="en-US" dirty="0" smtClean="0"/>
              <a:t>постоянна -&gt; </a:t>
            </a:r>
            <a:r>
              <a:rPr lang="en-US" altLang="en-US" dirty="0" smtClean="0"/>
              <a:t>A </a:t>
            </a:r>
            <a:r>
              <a:rPr lang="bg-BG" altLang="en-US" dirty="0"/>
              <a:t>чака </a:t>
            </a:r>
            <a:r>
              <a:rPr lang="en-US" altLang="en-US" dirty="0"/>
              <a:t>R</a:t>
            </a:r>
            <a:r>
              <a:rPr lang="en-US" altLang="en-US" baseline="-25000" dirty="0"/>
              <a:t>2</a:t>
            </a:r>
            <a:r>
              <a:rPr lang="en-US" altLang="en-US" dirty="0"/>
              <a:t>, </a:t>
            </a:r>
            <a:r>
              <a:rPr lang="bg-BG" altLang="en-US" dirty="0" smtClean="0"/>
              <a:t/>
            </a:r>
            <a:br>
              <a:rPr lang="bg-BG" altLang="en-US" dirty="0" smtClean="0"/>
            </a:br>
            <a:r>
              <a:rPr lang="en-US" altLang="en-US" dirty="0" smtClean="0"/>
              <a:t>B </a:t>
            </a:r>
            <a:r>
              <a:rPr lang="bg-BG" altLang="en-US" dirty="0"/>
              <a:t>чака </a:t>
            </a:r>
            <a:r>
              <a:rPr lang="en-US" altLang="en-US" dirty="0"/>
              <a:t>R</a:t>
            </a:r>
            <a:r>
              <a:rPr lang="en-US" altLang="en-US" baseline="-25000" dirty="0"/>
              <a:t>3</a:t>
            </a:r>
            <a:r>
              <a:rPr lang="en-US" altLang="en-US" dirty="0"/>
              <a:t>, </a:t>
            </a:r>
            <a:r>
              <a:rPr lang="bg-BG" altLang="en-US" dirty="0" smtClean="0"/>
              <a:t>а </a:t>
            </a:r>
            <a:r>
              <a:rPr lang="en-US" altLang="en-US" dirty="0" smtClean="0"/>
              <a:t>C </a:t>
            </a:r>
            <a:r>
              <a:rPr lang="bg-BG" altLang="en-US" dirty="0"/>
              <a:t>чака </a:t>
            </a:r>
            <a:r>
              <a:rPr lang="en-US" altLang="en-US" dirty="0"/>
              <a:t>R</a:t>
            </a:r>
            <a:r>
              <a:rPr lang="en-US" altLang="en-US" baseline="-25000" dirty="0"/>
              <a:t>1</a:t>
            </a:r>
            <a:r>
              <a:rPr lang="en-US" altLang="en-US" dirty="0" smtClean="0"/>
              <a:t>.</a:t>
            </a:r>
            <a:endParaRPr lang="en-US" altLang="en-US" dirty="0"/>
          </a:p>
        </p:txBody>
      </p:sp>
      <p:sp>
        <p:nvSpPr>
          <p:cNvPr id="4" name="Text Box 11"/>
          <p:cNvSpPr txBox="1">
            <a:spLocks noChangeArrowheads="1"/>
          </p:cNvSpPr>
          <p:nvPr/>
        </p:nvSpPr>
        <p:spPr bwMode="auto">
          <a:xfrm>
            <a:off x="2360612" y="3352801"/>
            <a:ext cx="7620000" cy="1400383"/>
          </a:xfrm>
          <a:prstGeom prst="rect">
            <a:avLst/>
          </a:prstGeom>
          <a:solidFill>
            <a:srgbClr val="FFC000"/>
          </a:solidFill>
          <a:ln>
            <a:noFill/>
          </a:ln>
        </p:spPr>
        <p:txBody>
          <a:bodyPr wrap="square">
            <a:spAutoFit/>
          </a:bodyPr>
          <a:lstStyle>
            <a:defPPr>
              <a:defRPr lang="en-US"/>
            </a:defPPr>
            <a:lvl1pPr marL="346075">
              <a:lnSpc>
                <a:spcPct val="150000"/>
              </a:lnSpc>
              <a:spcBef>
                <a:spcPct val="20000"/>
              </a:spcBef>
              <a:defRPr sz="2400" b="1" i="1">
                <a:solidFill>
                  <a:schemeClr val="tx2"/>
                </a:solidFill>
                <a:latin typeface="Calibri" panose="020F0502020204030204" pitchFamily="34" charset="0"/>
              </a:defRPr>
            </a:lvl1pPr>
            <a:lvl2pPr marL="742950" indent="-285750">
              <a:defRPr sz="2800">
                <a:latin typeface="Garamond" pitchFamily="18" charset="0"/>
              </a:defRPr>
            </a:lvl2pPr>
            <a:lvl3pPr marL="1143000" indent="-228600">
              <a:defRPr sz="2800">
                <a:latin typeface="Garamond" pitchFamily="18" charset="0"/>
              </a:defRPr>
            </a:lvl3pPr>
            <a:lvl4pPr marL="1600200" indent="-228600">
              <a:defRPr sz="2800">
                <a:latin typeface="Garamond" pitchFamily="18" charset="0"/>
              </a:defRPr>
            </a:lvl4pPr>
            <a:lvl5pPr marL="2057400" indent="-228600">
              <a:defRPr sz="2800">
                <a:latin typeface="Garamond" pitchFamily="18" charset="0"/>
              </a:defRPr>
            </a:lvl5pPr>
            <a:lvl6pPr marL="2514600" indent="-228600" eaLnBrk="0" fontAlgn="base" hangingPunct="0">
              <a:spcBef>
                <a:spcPct val="0"/>
              </a:spcBef>
              <a:spcAft>
                <a:spcPct val="0"/>
              </a:spcAft>
              <a:defRPr sz="2800">
                <a:latin typeface="Garamond" pitchFamily="18" charset="0"/>
              </a:defRPr>
            </a:lvl6pPr>
            <a:lvl7pPr marL="2971800" indent="-228600" eaLnBrk="0" fontAlgn="base" hangingPunct="0">
              <a:spcBef>
                <a:spcPct val="0"/>
              </a:spcBef>
              <a:spcAft>
                <a:spcPct val="0"/>
              </a:spcAft>
              <a:defRPr sz="2800">
                <a:latin typeface="Garamond" pitchFamily="18" charset="0"/>
              </a:defRPr>
            </a:lvl7pPr>
            <a:lvl8pPr marL="3429000" indent="-228600" eaLnBrk="0" fontAlgn="base" hangingPunct="0">
              <a:spcBef>
                <a:spcPct val="0"/>
              </a:spcBef>
              <a:spcAft>
                <a:spcPct val="0"/>
              </a:spcAft>
              <a:defRPr sz="2800">
                <a:latin typeface="Garamond" pitchFamily="18" charset="0"/>
              </a:defRPr>
            </a:lvl8pPr>
            <a:lvl9pPr marL="3886200" indent="-228600" eaLnBrk="0" fontAlgn="base" hangingPunct="0">
              <a:spcBef>
                <a:spcPct val="0"/>
              </a:spcBef>
              <a:spcAft>
                <a:spcPct val="0"/>
              </a:spcAft>
              <a:defRPr sz="2800">
                <a:latin typeface="Garamond" pitchFamily="18" charset="0"/>
              </a:defRPr>
            </a:lvl9pPr>
          </a:lstStyle>
          <a:p>
            <a:pPr>
              <a:lnSpc>
                <a:spcPts val="2800"/>
              </a:lnSpc>
              <a:spcBef>
                <a:spcPts val="900"/>
              </a:spcBef>
            </a:pPr>
            <a:r>
              <a:rPr lang="en-US" altLang="en-US" dirty="0"/>
              <a:t>A: </a:t>
            </a:r>
            <a:r>
              <a:rPr lang="en-US" altLang="en-US" b="0" dirty="0"/>
              <a:t>… lock (R1) .* . lock (R2) .. unlock (R2) .. unlock (R1)</a:t>
            </a:r>
          </a:p>
          <a:p>
            <a:pPr>
              <a:lnSpc>
                <a:spcPts val="2800"/>
              </a:lnSpc>
              <a:spcBef>
                <a:spcPts val="900"/>
              </a:spcBef>
            </a:pPr>
            <a:r>
              <a:rPr lang="en-US" altLang="en-US" dirty="0"/>
              <a:t>B: </a:t>
            </a:r>
            <a:r>
              <a:rPr lang="en-US" altLang="en-US" b="0" dirty="0"/>
              <a:t>… lock (R2) .* . lock (R3) .. unlock (R3) .. unlock (R2)</a:t>
            </a:r>
          </a:p>
          <a:p>
            <a:pPr>
              <a:lnSpc>
                <a:spcPts val="2800"/>
              </a:lnSpc>
              <a:spcBef>
                <a:spcPts val="900"/>
              </a:spcBef>
            </a:pPr>
            <a:r>
              <a:rPr lang="en-US" altLang="en-US" dirty="0"/>
              <a:t>C: </a:t>
            </a:r>
            <a:r>
              <a:rPr lang="en-US" altLang="en-US" b="0" dirty="0"/>
              <a:t>… lock (R3) .* . lock (R1) .. unlock (R1) .. unlock (R3)</a:t>
            </a:r>
          </a:p>
        </p:txBody>
      </p:sp>
      <p:sp>
        <p:nvSpPr>
          <p:cNvPr id="5" name="Rectangle 4"/>
          <p:cNvSpPr/>
          <p:nvPr/>
        </p:nvSpPr>
        <p:spPr>
          <a:xfrm>
            <a:off x="4608512" y="3352800"/>
            <a:ext cx="190500" cy="1400383"/>
          </a:xfrm>
          <a:prstGeom prst="rect">
            <a:avLst/>
          </a:prstGeom>
          <a:solidFill>
            <a:srgbClr val="007A37">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008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Приоритетна инверсия</a:t>
            </a:r>
            <a:endParaRPr lang="en-US" dirty="0"/>
          </a:p>
        </p:txBody>
      </p:sp>
      <p:sp>
        <p:nvSpPr>
          <p:cNvPr id="3" name="Content Placeholder 2"/>
          <p:cNvSpPr>
            <a:spLocks noGrp="1"/>
          </p:cNvSpPr>
          <p:nvPr>
            <p:ph idx="1"/>
          </p:nvPr>
        </p:nvSpPr>
        <p:spPr/>
        <p:txBody>
          <a:bodyPr/>
          <a:lstStyle/>
          <a:p>
            <a:r>
              <a:rPr lang="bg-BG" altLang="en-US" dirty="0"/>
              <a:t>Ограничена (</a:t>
            </a:r>
            <a:r>
              <a:rPr lang="en-US" altLang="en-US" dirty="0"/>
              <a:t>Bounded</a:t>
            </a:r>
            <a:r>
              <a:rPr lang="bg-BG" altLang="en-US" dirty="0"/>
              <a:t>) </a:t>
            </a:r>
            <a:r>
              <a:rPr lang="bg-BG" altLang="en-US" dirty="0" smtClean="0"/>
              <a:t>инверсия</a:t>
            </a:r>
          </a:p>
          <a:p>
            <a:pPr lvl="1"/>
            <a:r>
              <a:rPr lang="bg-BG" altLang="en-US" dirty="0" smtClean="0"/>
              <a:t>Възниква, когато два процеса използват ресурса един и същи ресурс и </a:t>
            </a:r>
            <a:r>
              <a:rPr lang="bg-BG" altLang="en-US" dirty="0" err="1" smtClean="0"/>
              <a:t>нископриоритетният</a:t>
            </a:r>
            <a:r>
              <a:rPr lang="bg-BG" altLang="en-US" dirty="0" smtClean="0"/>
              <a:t> процес заеме ресурса в критична секция.</a:t>
            </a:r>
            <a:endParaRPr lang="bg-BG" altLang="en-US" b="1" dirty="0" smtClean="0"/>
          </a:p>
          <a:p>
            <a:pPr lvl="2"/>
            <a:r>
              <a:rPr lang="bg-BG" altLang="en-US" dirty="0" smtClean="0"/>
              <a:t>Високоприоритетния процес е задължен да изчака </a:t>
            </a:r>
            <a:r>
              <a:rPr lang="bg-BG" altLang="en-US" dirty="0" err="1" smtClean="0"/>
              <a:t>нископриоритетния</a:t>
            </a:r>
            <a:r>
              <a:rPr lang="bg-BG" altLang="en-US" dirty="0" smtClean="0"/>
              <a:t> процес да </a:t>
            </a:r>
            <a:r>
              <a:rPr lang="bg-BG" altLang="en-US" dirty="0"/>
              <a:t>напусне критичната си секция и така </a:t>
            </a:r>
            <a:r>
              <a:rPr lang="bg-BG" altLang="en-US" dirty="0" smtClean="0"/>
              <a:t>губи приоритета си.</a:t>
            </a:r>
            <a:endParaRPr lang="en-US" altLang="en-US" dirty="0"/>
          </a:p>
          <a:p>
            <a:pPr lvl="1"/>
            <a:endParaRPr lang="bg-BG" altLang="en-US" dirty="0"/>
          </a:p>
          <a:p>
            <a:endParaRPr lang="en-US" dirty="0"/>
          </a:p>
        </p:txBody>
      </p:sp>
      <p:pic>
        <p:nvPicPr>
          <p:cNvPr id="4" name="Picture 3"/>
          <p:cNvPicPr>
            <a:picLocks noChangeAspect="1"/>
          </p:cNvPicPr>
          <p:nvPr/>
        </p:nvPicPr>
        <p:blipFill>
          <a:blip r:embed="rId2"/>
          <a:stretch>
            <a:fillRect/>
          </a:stretch>
        </p:blipFill>
        <p:spPr>
          <a:xfrm>
            <a:off x="3275012" y="1676400"/>
            <a:ext cx="8416677" cy="4658428"/>
          </a:xfrm>
          <a:prstGeom prst="rect">
            <a:avLst/>
          </a:prstGeom>
        </p:spPr>
      </p:pic>
    </p:spTree>
    <p:extLst>
      <p:ext uri="{BB962C8B-B14F-4D97-AF65-F5344CB8AC3E}">
        <p14:creationId xmlns:p14="http://schemas.microsoft.com/office/powerpoint/2010/main" val="678998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Приоритетна инверсия</a:t>
            </a:r>
            <a:endParaRPr lang="en-US" dirty="0"/>
          </a:p>
        </p:txBody>
      </p:sp>
      <p:sp>
        <p:nvSpPr>
          <p:cNvPr id="3" name="Content Placeholder 2"/>
          <p:cNvSpPr>
            <a:spLocks noGrp="1"/>
          </p:cNvSpPr>
          <p:nvPr>
            <p:ph idx="1"/>
          </p:nvPr>
        </p:nvSpPr>
        <p:spPr/>
        <p:txBody>
          <a:bodyPr/>
          <a:lstStyle/>
          <a:p>
            <a:r>
              <a:rPr lang="bg-BG" altLang="en-US" dirty="0" smtClean="0"/>
              <a:t>Неограничена инверсия</a:t>
            </a:r>
          </a:p>
          <a:p>
            <a:pPr lvl="1"/>
            <a:r>
              <a:rPr lang="bg-BG" altLang="en-US" dirty="0" smtClean="0"/>
              <a:t>Когато три процеса използват ресурса един и същи ресурс.</a:t>
            </a:r>
            <a:endParaRPr lang="bg-BG" altLang="en-US" b="1" dirty="0" smtClean="0"/>
          </a:p>
          <a:p>
            <a:pPr lvl="2"/>
            <a:r>
              <a:rPr lang="bg-BG" altLang="en-US" dirty="0" err="1" smtClean="0"/>
              <a:t>Нископриоритетният</a:t>
            </a:r>
            <a:r>
              <a:rPr lang="bg-BG" altLang="en-US" dirty="0" smtClean="0"/>
              <a:t> </a:t>
            </a:r>
            <a:r>
              <a:rPr lang="bg-BG" altLang="en-US" dirty="0"/>
              <a:t>процес заеме ресурса в критична секция. </a:t>
            </a:r>
            <a:endParaRPr lang="bg-BG" altLang="en-US" dirty="0" smtClean="0"/>
          </a:p>
          <a:p>
            <a:pPr lvl="2"/>
            <a:r>
              <a:rPr lang="bg-BG" altLang="en-US" dirty="0" smtClean="0"/>
              <a:t>Най-високоприоритетният не може да използва ресурса и чака.</a:t>
            </a:r>
          </a:p>
          <a:p>
            <a:pPr lvl="2"/>
            <a:r>
              <a:rPr lang="bg-BG" altLang="en-US" dirty="0" smtClean="0"/>
              <a:t>Процесът с междинен приоритет прекъсва </a:t>
            </a:r>
            <a:r>
              <a:rPr lang="bg-BG" altLang="en-US" dirty="0" err="1" smtClean="0"/>
              <a:t>нископриоритетния</a:t>
            </a:r>
            <a:r>
              <a:rPr lang="bg-BG" altLang="en-US" dirty="0" smtClean="0"/>
              <a:t> процес и затова няма как да бъде освободен ресурсът.</a:t>
            </a:r>
          </a:p>
          <a:p>
            <a:pPr lvl="2"/>
            <a:r>
              <a:rPr lang="bg-BG" altLang="en-US" dirty="0" smtClean="0"/>
              <a:t>Не може да се прогнозира колко време ще работи процесът с междинен приоритет.</a:t>
            </a:r>
            <a:endParaRPr lang="en-US" altLang="en-US" dirty="0"/>
          </a:p>
          <a:p>
            <a:pPr lvl="1"/>
            <a:endParaRPr lang="bg-BG" altLang="en-US" dirty="0"/>
          </a:p>
          <a:p>
            <a:endParaRPr lang="en-US" dirty="0"/>
          </a:p>
        </p:txBody>
      </p:sp>
      <p:pic>
        <p:nvPicPr>
          <p:cNvPr id="4" name="Picture 3"/>
          <p:cNvPicPr>
            <a:picLocks noChangeAspect="1"/>
          </p:cNvPicPr>
          <p:nvPr/>
        </p:nvPicPr>
        <p:blipFill>
          <a:blip r:embed="rId2"/>
          <a:stretch>
            <a:fillRect/>
          </a:stretch>
        </p:blipFill>
        <p:spPr>
          <a:xfrm>
            <a:off x="3170058" y="2057400"/>
            <a:ext cx="8354618" cy="4648764"/>
          </a:xfrm>
          <a:prstGeom prst="rect">
            <a:avLst/>
          </a:prstGeom>
        </p:spPr>
      </p:pic>
    </p:spTree>
    <p:extLst>
      <p:ext uri="{BB962C8B-B14F-4D97-AF65-F5344CB8AC3E}">
        <p14:creationId xmlns:p14="http://schemas.microsoft.com/office/powerpoint/2010/main" val="4038828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Жизненост на </a:t>
            </a:r>
            <a:r>
              <a:rPr lang="bg-BG" dirty="0"/>
              <a:t>конкурентен процес</a:t>
            </a:r>
            <a:endParaRPr lang="en-US" dirty="0"/>
          </a:p>
        </p:txBody>
      </p:sp>
      <p:sp>
        <p:nvSpPr>
          <p:cNvPr id="3" name="Content Placeholder 2"/>
          <p:cNvSpPr>
            <a:spLocks noGrp="1"/>
          </p:cNvSpPr>
          <p:nvPr>
            <p:ph idx="1"/>
          </p:nvPr>
        </p:nvSpPr>
        <p:spPr/>
        <p:txBody>
          <a:bodyPr>
            <a:noAutofit/>
          </a:bodyPr>
          <a:lstStyle/>
          <a:p>
            <a:pPr>
              <a:spcBef>
                <a:spcPts val="300"/>
              </a:spcBef>
            </a:pPr>
            <a:r>
              <a:rPr lang="bg-BG" sz="2800" dirty="0" smtClean="0"/>
              <a:t>„Жизненост“ (</a:t>
            </a:r>
            <a:r>
              <a:rPr lang="bg-BG" sz="2800" dirty="0" err="1" smtClean="0"/>
              <a:t>англ</a:t>
            </a:r>
            <a:r>
              <a:rPr lang="bg-BG" sz="2800" dirty="0" smtClean="0"/>
              <a:t>. </a:t>
            </a:r>
            <a:r>
              <a:rPr lang="bg-BG" sz="2800" i="1" dirty="0" err="1" smtClean="0">
                <a:effectLst>
                  <a:outerShdw blurRad="38100" dist="38100" dir="2700000" algn="tl">
                    <a:srgbClr val="000000">
                      <a:alpha val="43137"/>
                    </a:srgbClr>
                  </a:outerShdw>
                </a:effectLst>
              </a:rPr>
              <a:t>liveness</a:t>
            </a:r>
            <a:r>
              <a:rPr lang="bg-BG" sz="2800" dirty="0" smtClean="0"/>
              <a:t>) е характеристиката на конкурентните програми, която показва че: </a:t>
            </a:r>
          </a:p>
          <a:p>
            <a:pPr lvl="1">
              <a:spcBef>
                <a:spcPts val="300"/>
              </a:spcBef>
            </a:pPr>
            <a:r>
              <a:rPr lang="bg-BG" sz="2400" dirty="0" smtClean="0"/>
              <a:t>Няма мъртви точки, т.е. дадени процеси винаги имат достъп до определени споделени ресурси.</a:t>
            </a:r>
          </a:p>
          <a:p>
            <a:pPr lvl="1">
              <a:spcBef>
                <a:spcPts val="300"/>
              </a:spcBef>
            </a:pPr>
            <a:r>
              <a:rPr lang="bg-BG" sz="2400" dirty="0" smtClean="0"/>
              <a:t>Няма „гладуване“ (англ. </a:t>
            </a:r>
            <a:r>
              <a:rPr lang="en-US" sz="2400" dirty="0" smtClean="0"/>
              <a:t>Starvation)</a:t>
            </a:r>
            <a:r>
              <a:rPr lang="bg-BG" sz="2400" dirty="0" smtClean="0"/>
              <a:t>, т.е. всички процеси ще успеят да осъществят достъп до споделените ресурси.</a:t>
            </a:r>
          </a:p>
          <a:p>
            <a:pPr>
              <a:spcBef>
                <a:spcPts val="300"/>
              </a:spcBef>
            </a:pPr>
            <a:r>
              <a:rPr lang="bg-BG" sz="2800" dirty="0" smtClean="0"/>
              <a:t>Реализационни проблеми</a:t>
            </a:r>
          </a:p>
          <a:p>
            <a:pPr lvl="1">
              <a:spcBef>
                <a:spcPts val="300"/>
              </a:spcBef>
            </a:pPr>
            <a:r>
              <a:rPr lang="bg-BG" sz="2400" dirty="0"/>
              <a:t>По същество, това е очакването че нищо лошо няма да се случи.</a:t>
            </a:r>
          </a:p>
          <a:p>
            <a:pPr lvl="2">
              <a:spcBef>
                <a:spcPts val="300"/>
              </a:spcBef>
            </a:pPr>
            <a:r>
              <a:rPr lang="bg-BG" sz="2000" dirty="0"/>
              <a:t>Все пак съществува градация на жизнеността – програмите могат да са „почти мъртви“  или  „не много живи“.</a:t>
            </a:r>
          </a:p>
          <a:p>
            <a:pPr lvl="1">
              <a:spcBef>
                <a:spcPts val="300"/>
              </a:spcBef>
            </a:pPr>
            <a:r>
              <a:rPr lang="bg-BG" sz="2400" dirty="0" smtClean="0"/>
              <a:t>Всеки път, когато използваме метод за синхронизация на достъпа, ние насилствено преминаваме към последователен достъп до обект.</a:t>
            </a:r>
          </a:p>
          <a:p>
            <a:pPr lvl="1">
              <a:spcBef>
                <a:spcPts val="300"/>
              </a:spcBef>
            </a:pPr>
            <a:r>
              <a:rPr lang="bg-BG" sz="2400" dirty="0" smtClean="0"/>
              <a:t>Ако има много нишки, които активизират методи за синхронизиране върху един и същ обект, то това забавя много работата на програма. </a:t>
            </a:r>
          </a:p>
          <a:p>
            <a:pPr lvl="1">
              <a:spcBef>
                <a:spcPts val="300"/>
              </a:spcBef>
            </a:pPr>
            <a:endParaRPr lang="bg-BG" sz="2400" dirty="0" smtClean="0"/>
          </a:p>
          <a:p>
            <a:pPr lvl="1">
              <a:spcBef>
                <a:spcPts val="300"/>
              </a:spcBef>
            </a:pPr>
            <a:endParaRPr lang="bg-BG" sz="2400" dirty="0" smtClean="0"/>
          </a:p>
          <a:p>
            <a:pPr>
              <a:spcBef>
                <a:spcPts val="300"/>
              </a:spcBef>
            </a:pPr>
            <a:endParaRPr lang="bg-BG" sz="2800" dirty="0"/>
          </a:p>
        </p:txBody>
      </p:sp>
    </p:spTree>
    <p:extLst>
      <p:ext uri="{BB962C8B-B14F-4D97-AF65-F5344CB8AC3E}">
        <p14:creationId xmlns:p14="http://schemas.microsoft.com/office/powerpoint/2010/main" val="1191893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err="1" smtClean="0"/>
              <a:t>Конкурентност</a:t>
            </a:r>
            <a:r>
              <a:rPr lang="bg-BG" dirty="0" smtClean="0"/>
              <a:t> и програмиране</a:t>
            </a:r>
            <a:endParaRPr lang="en-US" dirty="0"/>
          </a:p>
        </p:txBody>
      </p:sp>
      <p:sp>
        <p:nvSpPr>
          <p:cNvPr id="3" name="Content Placeholder 2"/>
          <p:cNvSpPr>
            <a:spLocks noGrp="1"/>
          </p:cNvSpPr>
          <p:nvPr>
            <p:ph idx="1"/>
          </p:nvPr>
        </p:nvSpPr>
        <p:spPr/>
        <p:txBody>
          <a:bodyPr>
            <a:normAutofit/>
          </a:bodyPr>
          <a:lstStyle/>
          <a:p>
            <a:pPr>
              <a:lnSpc>
                <a:spcPct val="100000"/>
              </a:lnSpc>
              <a:spcBef>
                <a:spcPts val="300"/>
              </a:spcBef>
            </a:pPr>
            <a:r>
              <a:rPr lang="bg-BG" sz="2800" dirty="0" smtClean="0"/>
              <a:t>При програмиране е задължително необходимо да се осигурят механизми за изразяване и управление на конкурентостта:</a:t>
            </a:r>
          </a:p>
          <a:p>
            <a:pPr lvl="1">
              <a:lnSpc>
                <a:spcPct val="100000"/>
              </a:lnSpc>
              <a:spcBef>
                <a:spcPts val="300"/>
              </a:spcBef>
            </a:pPr>
            <a:r>
              <a:rPr lang="bg-BG" sz="2400" dirty="0" smtClean="0"/>
              <a:t>При създаване на процесите</a:t>
            </a:r>
          </a:p>
          <a:p>
            <a:pPr lvl="2">
              <a:lnSpc>
                <a:spcPct val="100000"/>
              </a:lnSpc>
              <a:spcBef>
                <a:spcPts val="300"/>
              </a:spcBef>
            </a:pPr>
            <a:r>
              <a:rPr lang="bg-BG" sz="2000" dirty="0" smtClean="0"/>
              <a:t>Как се специфицират конкурентните процеси?</a:t>
            </a:r>
          </a:p>
          <a:p>
            <a:pPr lvl="2">
              <a:lnSpc>
                <a:spcPct val="100000"/>
              </a:lnSpc>
              <a:spcBef>
                <a:spcPts val="300"/>
              </a:spcBef>
            </a:pPr>
            <a:r>
              <a:rPr lang="bg-BG" sz="2000" dirty="0" smtClean="0"/>
              <a:t>Какви са езиковите конструкции и ограничения?</a:t>
            </a:r>
          </a:p>
          <a:p>
            <a:pPr lvl="2">
              <a:lnSpc>
                <a:spcPct val="100000"/>
              </a:lnSpc>
              <a:spcBef>
                <a:spcPts val="300"/>
              </a:spcBef>
            </a:pPr>
            <a:r>
              <a:rPr lang="bg-BG" sz="2000" dirty="0" smtClean="0"/>
              <a:t>Как се използват предоставяните от ОС библиотеки ?</a:t>
            </a:r>
          </a:p>
          <a:p>
            <a:pPr lvl="1">
              <a:lnSpc>
                <a:spcPct val="100000"/>
              </a:lnSpc>
              <a:spcBef>
                <a:spcPts val="300"/>
              </a:spcBef>
            </a:pPr>
            <a:r>
              <a:rPr lang="bg-BG" sz="2400" dirty="0" smtClean="0"/>
              <a:t>При реализация на </a:t>
            </a:r>
            <a:r>
              <a:rPr lang="bg-BG" sz="2400" dirty="0" err="1" smtClean="0"/>
              <a:t>междупроцесна</a:t>
            </a:r>
            <a:r>
              <a:rPr lang="bg-BG" sz="2400" dirty="0" smtClean="0"/>
              <a:t> комуникация</a:t>
            </a:r>
          </a:p>
          <a:p>
            <a:pPr lvl="2">
              <a:lnSpc>
                <a:spcPct val="100000"/>
              </a:lnSpc>
              <a:spcBef>
                <a:spcPts val="300"/>
              </a:spcBef>
            </a:pPr>
            <a:r>
              <a:rPr lang="bg-BG" sz="2000" dirty="0" smtClean="0"/>
              <a:t>Как процесите обменят информация?</a:t>
            </a:r>
          </a:p>
          <a:p>
            <a:pPr lvl="2">
              <a:lnSpc>
                <a:spcPct val="100000"/>
              </a:lnSpc>
              <a:spcBef>
                <a:spcPts val="300"/>
              </a:spcBef>
            </a:pPr>
            <a:r>
              <a:rPr lang="bg-BG" sz="2000" dirty="0" smtClean="0"/>
              <a:t>Конструкции на езика или на ОС?</a:t>
            </a:r>
          </a:p>
          <a:p>
            <a:pPr lvl="2">
              <a:lnSpc>
                <a:spcPct val="100000"/>
              </a:lnSpc>
              <a:spcBef>
                <a:spcPts val="300"/>
              </a:spcBef>
            </a:pPr>
            <a:r>
              <a:rPr lang="bg-BG" sz="2000" dirty="0" smtClean="0"/>
              <a:t>Ограничения</a:t>
            </a:r>
          </a:p>
          <a:p>
            <a:pPr lvl="1">
              <a:lnSpc>
                <a:spcPct val="100000"/>
              </a:lnSpc>
              <a:spcBef>
                <a:spcPts val="300"/>
              </a:spcBef>
            </a:pPr>
            <a:r>
              <a:rPr lang="bg-BG" sz="2400" dirty="0" smtClean="0"/>
              <a:t>При синхронизация между процесите</a:t>
            </a:r>
          </a:p>
          <a:p>
            <a:pPr lvl="2">
              <a:lnSpc>
                <a:spcPct val="100000"/>
              </a:lnSpc>
              <a:spcBef>
                <a:spcPts val="300"/>
              </a:spcBef>
            </a:pPr>
            <a:r>
              <a:rPr lang="bg-BG" sz="2000" dirty="0" smtClean="0"/>
              <a:t>Как процесите поддържат консистентност на данните? </a:t>
            </a:r>
          </a:p>
          <a:p>
            <a:pPr lvl="2">
              <a:lnSpc>
                <a:spcPct val="100000"/>
              </a:lnSpc>
              <a:spcBef>
                <a:spcPts val="300"/>
              </a:spcBef>
            </a:pPr>
            <a:r>
              <a:rPr lang="bg-BG" sz="2000" dirty="0"/>
              <a:t>Конструкции на езика или на ОС?</a:t>
            </a:r>
          </a:p>
          <a:p>
            <a:pPr lvl="2">
              <a:lnSpc>
                <a:spcPct val="100000"/>
              </a:lnSpc>
              <a:spcBef>
                <a:spcPts val="300"/>
              </a:spcBef>
            </a:pPr>
            <a:r>
              <a:rPr lang="bg-BG" sz="2000" dirty="0" smtClean="0"/>
              <a:t>Ограничения</a:t>
            </a:r>
          </a:p>
        </p:txBody>
      </p:sp>
    </p:spTree>
    <p:extLst>
      <p:ext uri="{BB962C8B-B14F-4D97-AF65-F5344CB8AC3E}">
        <p14:creationId xmlns:p14="http://schemas.microsoft.com/office/powerpoint/2010/main" val="37104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Създаване на конкурентни процеси</a:t>
            </a:r>
            <a:endParaRPr lang="en-US" dirty="0"/>
          </a:p>
        </p:txBody>
      </p:sp>
      <p:sp>
        <p:nvSpPr>
          <p:cNvPr id="3" name="Content Placeholder 2"/>
          <p:cNvSpPr>
            <a:spLocks noGrp="1"/>
          </p:cNvSpPr>
          <p:nvPr>
            <p:ph idx="1"/>
          </p:nvPr>
        </p:nvSpPr>
        <p:spPr>
          <a:xfrm>
            <a:off x="908662" y="1143000"/>
            <a:ext cx="10824550" cy="5410200"/>
          </a:xfrm>
        </p:spPr>
        <p:txBody>
          <a:bodyPr>
            <a:noAutofit/>
          </a:bodyPr>
          <a:lstStyle/>
          <a:p>
            <a:pPr>
              <a:lnSpc>
                <a:spcPct val="95000"/>
              </a:lnSpc>
              <a:spcBef>
                <a:spcPts val="0"/>
              </a:spcBef>
            </a:pPr>
            <a:r>
              <a:rPr lang="bg-BG" sz="2800" dirty="0" smtClean="0"/>
              <a:t>Програмите, реализиращи конкурентни процеси, могат да бъдат класифицират в пет категории според програмните единици, които ги съставят:</a:t>
            </a:r>
          </a:p>
          <a:p>
            <a:pPr lvl="1">
              <a:lnSpc>
                <a:spcPct val="95000"/>
              </a:lnSpc>
              <a:spcBef>
                <a:spcPts val="0"/>
              </a:spcBef>
            </a:pPr>
            <a:r>
              <a:rPr lang="bg-BG" sz="2400" dirty="0" smtClean="0"/>
              <a:t>Несвързани процеси.</a:t>
            </a:r>
          </a:p>
          <a:p>
            <a:pPr lvl="1">
              <a:lnSpc>
                <a:spcPct val="95000"/>
              </a:lnSpc>
              <a:spcBef>
                <a:spcPts val="0"/>
              </a:spcBef>
            </a:pPr>
            <a:r>
              <a:rPr lang="bg-BG" sz="2400" dirty="0" smtClean="0"/>
              <a:t>Свързани процеси, но без синхронизиране на работата.</a:t>
            </a:r>
          </a:p>
          <a:p>
            <a:pPr lvl="1">
              <a:lnSpc>
                <a:spcPct val="95000"/>
              </a:lnSpc>
              <a:spcBef>
                <a:spcPts val="0"/>
              </a:spcBef>
            </a:pPr>
            <a:r>
              <a:rPr lang="bg-BG" sz="2400" dirty="0" smtClean="0"/>
              <a:t>Свързани процеси с използване на взаимно изключване.</a:t>
            </a:r>
          </a:p>
          <a:p>
            <a:pPr lvl="1">
              <a:lnSpc>
                <a:spcPct val="95000"/>
              </a:lnSpc>
              <a:spcBef>
                <a:spcPts val="0"/>
              </a:spcBef>
            </a:pPr>
            <a:r>
              <a:rPr lang="bg-BG" sz="2400" dirty="0" smtClean="0"/>
              <a:t>Свързани процеси с използване на взаимно изключване и </a:t>
            </a:r>
            <a:r>
              <a:rPr lang="bg-BG" sz="2400" dirty="0" err="1" smtClean="0"/>
              <a:t>междупроцесна</a:t>
            </a:r>
            <a:r>
              <a:rPr lang="bg-BG" sz="2400" dirty="0" smtClean="0"/>
              <a:t> комуникация.</a:t>
            </a:r>
          </a:p>
          <a:p>
            <a:pPr lvl="1">
              <a:lnSpc>
                <a:spcPct val="95000"/>
              </a:lnSpc>
              <a:spcBef>
                <a:spcPts val="0"/>
              </a:spcBef>
            </a:pPr>
            <a:r>
              <a:rPr lang="bg-BG" sz="2400" dirty="0" smtClean="0"/>
              <a:t>Свързани процеси, без взаимно изключване, но с използване на методи за синхронизация на работата им.</a:t>
            </a:r>
          </a:p>
          <a:p>
            <a:pPr>
              <a:lnSpc>
                <a:spcPct val="95000"/>
              </a:lnSpc>
              <a:spcBef>
                <a:spcPts val="0"/>
              </a:spcBef>
            </a:pPr>
            <a:r>
              <a:rPr lang="bg-BG" sz="2800" dirty="0" smtClean="0"/>
              <a:t>Повечето езици от този вид предлагат някакъв вариант на следните механизми за създаване на конкурентни процеси:</a:t>
            </a:r>
          </a:p>
          <a:p>
            <a:pPr lvl="1">
              <a:lnSpc>
                <a:spcPct val="95000"/>
              </a:lnSpc>
              <a:spcBef>
                <a:spcPts val="0"/>
              </a:spcBef>
            </a:pPr>
            <a:r>
              <a:rPr lang="bg-BG" sz="2400" dirty="0" smtClean="0"/>
              <a:t>Съвместни програми (</a:t>
            </a:r>
            <a:r>
              <a:rPr lang="bg-BG" sz="2400" dirty="0" err="1" smtClean="0"/>
              <a:t>англ</a:t>
            </a:r>
            <a:r>
              <a:rPr lang="bg-BG" sz="2400" dirty="0" smtClean="0"/>
              <a:t>. </a:t>
            </a:r>
            <a:r>
              <a:rPr lang="bg-BG" sz="2400" i="1" dirty="0" err="1" smtClean="0"/>
              <a:t>Co-routines</a:t>
            </a:r>
            <a:r>
              <a:rPr lang="bg-BG" sz="2400" dirty="0" smtClean="0"/>
              <a:t>)</a:t>
            </a:r>
          </a:p>
          <a:p>
            <a:pPr lvl="1">
              <a:lnSpc>
                <a:spcPct val="95000"/>
              </a:lnSpc>
              <a:spcBef>
                <a:spcPts val="0"/>
              </a:spcBef>
            </a:pPr>
            <a:r>
              <a:rPr lang="bg-BG" sz="2400" dirty="0" smtClean="0"/>
              <a:t>Разделяне и съединяване (</a:t>
            </a:r>
            <a:r>
              <a:rPr lang="bg-BG" sz="2400" dirty="0" err="1" smtClean="0"/>
              <a:t>англ</a:t>
            </a:r>
            <a:r>
              <a:rPr lang="bg-BG" sz="2400" dirty="0" smtClean="0"/>
              <a:t>. </a:t>
            </a:r>
            <a:r>
              <a:rPr lang="bg-BG" sz="2400" i="1" dirty="0" err="1" smtClean="0"/>
              <a:t>Fork</a:t>
            </a:r>
            <a:r>
              <a:rPr lang="bg-BG" sz="2400" i="1" dirty="0" smtClean="0"/>
              <a:t> &amp; </a:t>
            </a:r>
            <a:r>
              <a:rPr lang="bg-BG" sz="2400" i="1" dirty="0" err="1" smtClean="0"/>
              <a:t>Join</a:t>
            </a:r>
            <a:r>
              <a:rPr lang="bg-BG" sz="2400" dirty="0" smtClean="0"/>
              <a:t>)</a:t>
            </a:r>
          </a:p>
          <a:p>
            <a:pPr lvl="1">
              <a:lnSpc>
                <a:spcPct val="95000"/>
              </a:lnSpc>
              <a:spcBef>
                <a:spcPts val="0"/>
              </a:spcBef>
            </a:pPr>
            <a:r>
              <a:rPr lang="bg-BG" sz="2400" dirty="0" smtClean="0"/>
              <a:t>Съвместно начало / съвместно завършване (</a:t>
            </a:r>
            <a:r>
              <a:rPr lang="bg-BG" sz="2400" dirty="0" err="1" smtClean="0"/>
              <a:t>англ</a:t>
            </a:r>
            <a:r>
              <a:rPr lang="bg-BG" sz="2400" dirty="0" smtClean="0"/>
              <a:t>. </a:t>
            </a:r>
            <a:r>
              <a:rPr lang="bg-BG" sz="2400" i="1" dirty="0" err="1" smtClean="0"/>
              <a:t>Co-begin</a:t>
            </a:r>
            <a:r>
              <a:rPr lang="bg-BG" sz="2400" i="1" dirty="0" smtClean="0"/>
              <a:t>/</a:t>
            </a:r>
            <a:r>
              <a:rPr lang="bg-BG" sz="2400" i="1" dirty="0" err="1" smtClean="0"/>
              <a:t>co-end</a:t>
            </a:r>
            <a:r>
              <a:rPr lang="bg-BG" sz="2400" dirty="0" smtClean="0"/>
              <a:t>) </a:t>
            </a:r>
          </a:p>
        </p:txBody>
      </p:sp>
    </p:spTree>
    <p:extLst>
      <p:ext uri="{BB962C8B-B14F-4D97-AF65-F5344CB8AC3E}">
        <p14:creationId xmlns:p14="http://schemas.microsoft.com/office/powerpoint/2010/main" val="130949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Създаване на конкурентни процеси</a:t>
            </a:r>
            <a:endParaRPr lang="en-US" dirty="0"/>
          </a:p>
        </p:txBody>
      </p:sp>
      <p:sp>
        <p:nvSpPr>
          <p:cNvPr id="3" name="Content Placeholder 2"/>
          <p:cNvSpPr>
            <a:spLocks noGrp="1"/>
          </p:cNvSpPr>
          <p:nvPr>
            <p:ph idx="1"/>
          </p:nvPr>
        </p:nvSpPr>
        <p:spPr>
          <a:xfrm>
            <a:off x="908662" y="1143000"/>
            <a:ext cx="10824550" cy="5410200"/>
          </a:xfrm>
        </p:spPr>
        <p:txBody>
          <a:bodyPr vert="horz" lIns="91440" tIns="45720" rIns="91440" bIns="45720" rtlCol="0">
            <a:normAutofit/>
          </a:bodyPr>
          <a:lstStyle/>
          <a:p>
            <a:pPr marL="347663" lvl="1" indent="-347663">
              <a:spcBef>
                <a:spcPts val="1400"/>
              </a:spcBef>
              <a:buSzPct val="70000"/>
              <a:buChar char="Ä"/>
            </a:pPr>
            <a:r>
              <a:rPr lang="bg-BG" sz="3100" dirty="0"/>
              <a:t>Съвместните програми (</a:t>
            </a:r>
            <a:r>
              <a:rPr lang="bg-BG" sz="3100" dirty="0" err="1"/>
              <a:t>англ</a:t>
            </a:r>
            <a:r>
              <a:rPr lang="bg-BG" sz="3100" dirty="0"/>
              <a:t>. </a:t>
            </a:r>
            <a:r>
              <a:rPr lang="bg-BG" sz="3100" dirty="0" err="1"/>
              <a:t>Co-routines</a:t>
            </a:r>
            <a:r>
              <a:rPr lang="bg-BG" sz="3100" dirty="0"/>
              <a:t>)</a:t>
            </a:r>
          </a:p>
          <a:p>
            <a:pPr lvl="1"/>
            <a:r>
              <a:rPr lang="bg-BG" sz="2600" dirty="0"/>
              <a:t>Те са само псевдо-конкурентни и изискват </a:t>
            </a:r>
            <a:r>
              <a:rPr lang="bg-BG" sz="2600" dirty="0" smtClean="0"/>
              <a:t>явно </a:t>
            </a:r>
            <a:r>
              <a:rPr lang="bg-BG" sz="2600" dirty="0"/>
              <a:t>прехвърляне на </a:t>
            </a:r>
            <a:r>
              <a:rPr lang="bg-BG" sz="2600" dirty="0" smtClean="0"/>
              <a:t>контрола над процесора.</a:t>
            </a:r>
            <a:endParaRPr lang="bg-BG" sz="2600" dirty="0"/>
          </a:p>
          <a:p>
            <a:endParaRPr lang="bg-BG" dirty="0"/>
          </a:p>
        </p:txBody>
      </p:sp>
      <p:pic>
        <p:nvPicPr>
          <p:cNvPr id="1026" name="Picture 2" descr="swp8_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4812" y="3681254"/>
            <a:ext cx="6208776" cy="2936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3"/>
          <a:stretch>
            <a:fillRect/>
          </a:stretch>
        </p:blipFill>
        <p:spPr>
          <a:xfrm>
            <a:off x="4037012" y="3492359"/>
            <a:ext cx="7792740" cy="3125129"/>
          </a:xfrm>
          <a:prstGeom prst="rect">
            <a:avLst/>
          </a:prstGeom>
        </p:spPr>
      </p:pic>
    </p:spTree>
    <p:extLst>
      <p:ext uri="{BB962C8B-B14F-4D97-AF65-F5344CB8AC3E}">
        <p14:creationId xmlns:p14="http://schemas.microsoft.com/office/powerpoint/2010/main" val="1792333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Създаване на конкурентни процеси</a:t>
            </a:r>
            <a:endParaRPr lang="en-US" dirty="0"/>
          </a:p>
        </p:txBody>
      </p:sp>
      <p:sp>
        <p:nvSpPr>
          <p:cNvPr id="3" name="Content Placeholder 2"/>
          <p:cNvSpPr>
            <a:spLocks noGrp="1"/>
          </p:cNvSpPr>
          <p:nvPr>
            <p:ph idx="1"/>
          </p:nvPr>
        </p:nvSpPr>
        <p:spPr>
          <a:xfrm>
            <a:off x="908662" y="1143000"/>
            <a:ext cx="10824550" cy="5410200"/>
          </a:xfrm>
        </p:spPr>
        <p:txBody>
          <a:bodyPr>
            <a:normAutofit/>
          </a:bodyPr>
          <a:lstStyle/>
          <a:p>
            <a:pPr marL="347663" lvl="1" indent="-347663">
              <a:spcBef>
                <a:spcPts val="1400"/>
              </a:spcBef>
              <a:buSzPct val="70000"/>
              <a:buFont typeface="Wingdings" panose="05000000000000000000" pitchFamily="2" charset="2"/>
              <a:buChar char="Ä"/>
            </a:pPr>
            <a:r>
              <a:rPr lang="bg-BG" sz="3100" dirty="0"/>
              <a:t>Разделяне и съединяване (</a:t>
            </a:r>
            <a:r>
              <a:rPr lang="bg-BG" sz="3100" dirty="0" err="1"/>
              <a:t>англ</a:t>
            </a:r>
            <a:r>
              <a:rPr lang="bg-BG" sz="3100" dirty="0"/>
              <a:t>. </a:t>
            </a:r>
            <a:r>
              <a:rPr lang="bg-BG" sz="3100" dirty="0" err="1"/>
              <a:t>Fork</a:t>
            </a:r>
            <a:r>
              <a:rPr lang="bg-BG" sz="3100" dirty="0"/>
              <a:t> &amp; </a:t>
            </a:r>
            <a:r>
              <a:rPr lang="bg-BG" sz="3100" dirty="0" err="1"/>
              <a:t>Join</a:t>
            </a:r>
            <a:r>
              <a:rPr lang="bg-BG" sz="3100" dirty="0" smtClean="0"/>
              <a:t>)</a:t>
            </a:r>
          </a:p>
          <a:p>
            <a:pPr lvl="1"/>
            <a:r>
              <a:rPr lang="en-GB" sz="2600" i="1" dirty="0">
                <a:effectLst>
                  <a:outerShdw blurRad="38100" dist="38100" dir="2700000" algn="tl">
                    <a:srgbClr val="000000">
                      <a:alpha val="43137"/>
                    </a:srgbClr>
                  </a:outerShdw>
                </a:effectLst>
              </a:rPr>
              <a:t>Fork</a:t>
            </a:r>
            <a:r>
              <a:rPr lang="en-GB" sz="2600" dirty="0">
                <a:effectLst>
                  <a:outerShdw blurRad="38100" dist="38100" dir="2700000" algn="tl">
                    <a:srgbClr val="000000">
                      <a:alpha val="43137"/>
                    </a:srgbClr>
                  </a:outerShdw>
                </a:effectLst>
              </a:rPr>
              <a:t> </a:t>
            </a:r>
            <a:r>
              <a:rPr lang="bg-BG" sz="2600" dirty="0"/>
              <a:t>се използва за създаване на произволен брой процеси.</a:t>
            </a:r>
            <a:endParaRPr lang="en-US" sz="2600" dirty="0"/>
          </a:p>
          <a:p>
            <a:pPr lvl="1"/>
            <a:r>
              <a:rPr lang="bg-BG" sz="2600" dirty="0" smtClean="0"/>
              <a:t>С </a:t>
            </a:r>
            <a:r>
              <a:rPr lang="en-GB" sz="2600" i="1" dirty="0" smtClean="0">
                <a:effectLst>
                  <a:outerShdw blurRad="38100" dist="38100" dir="2700000" algn="tl">
                    <a:srgbClr val="000000">
                      <a:alpha val="43137"/>
                    </a:srgbClr>
                  </a:outerShdw>
                </a:effectLst>
              </a:rPr>
              <a:t>Join</a:t>
            </a:r>
            <a:r>
              <a:rPr lang="en-GB" sz="2600" dirty="0" smtClean="0">
                <a:effectLst>
                  <a:outerShdw blurRad="38100" dist="38100" dir="2700000" algn="tl">
                    <a:srgbClr val="000000">
                      <a:alpha val="43137"/>
                    </a:srgbClr>
                  </a:outerShdw>
                </a:effectLst>
              </a:rPr>
              <a:t> </a:t>
            </a:r>
            <a:r>
              <a:rPr lang="bg-BG" sz="2600" dirty="0" smtClean="0"/>
              <a:t>означава </a:t>
            </a:r>
            <a:r>
              <a:rPr lang="bg-BG" sz="2600" dirty="0"/>
              <a:t>изчакване някой процес да завърши</a:t>
            </a:r>
            <a:r>
              <a:rPr lang="en-GB" sz="2600" dirty="0"/>
              <a:t>. </a:t>
            </a:r>
            <a:endParaRPr lang="en-US" sz="2600" dirty="0"/>
          </a:p>
          <a:p>
            <a:pPr lvl="1"/>
            <a:r>
              <a:rPr lang="bg-BG" sz="2600" dirty="0" smtClean="0"/>
              <a:t>Това са неструктурирани примитиви и затова се изисква дисциплина на използването има.</a:t>
            </a:r>
            <a:endParaRPr lang="bg-BG" sz="2600" dirty="0"/>
          </a:p>
        </p:txBody>
      </p:sp>
      <p:pic>
        <p:nvPicPr>
          <p:cNvPr id="4" name="Picture 3"/>
          <p:cNvPicPr>
            <a:picLocks noChangeAspect="1"/>
          </p:cNvPicPr>
          <p:nvPr/>
        </p:nvPicPr>
        <p:blipFill>
          <a:blip r:embed="rId2"/>
          <a:stretch>
            <a:fillRect/>
          </a:stretch>
        </p:blipFill>
        <p:spPr>
          <a:xfrm>
            <a:off x="4142486" y="3429000"/>
            <a:ext cx="7440879" cy="3096491"/>
          </a:xfrm>
          <a:prstGeom prst="rect">
            <a:avLst/>
          </a:prstGeom>
        </p:spPr>
      </p:pic>
    </p:spTree>
    <p:extLst>
      <p:ext uri="{BB962C8B-B14F-4D97-AF65-F5344CB8AC3E}">
        <p14:creationId xmlns:p14="http://schemas.microsoft.com/office/powerpoint/2010/main" val="1577058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Създаване на конкурентни процеси</a:t>
            </a:r>
            <a:endParaRPr lang="en-US" dirty="0"/>
          </a:p>
        </p:txBody>
      </p:sp>
      <p:sp>
        <p:nvSpPr>
          <p:cNvPr id="3" name="Content Placeholder 2"/>
          <p:cNvSpPr>
            <a:spLocks noGrp="1"/>
          </p:cNvSpPr>
          <p:nvPr>
            <p:ph idx="1"/>
          </p:nvPr>
        </p:nvSpPr>
        <p:spPr>
          <a:xfrm>
            <a:off x="908662" y="1143000"/>
            <a:ext cx="10824550" cy="5410200"/>
          </a:xfrm>
        </p:spPr>
        <p:txBody>
          <a:bodyPr>
            <a:normAutofit/>
          </a:bodyPr>
          <a:lstStyle/>
          <a:p>
            <a:pPr marL="347663" lvl="1" indent="-347663">
              <a:spcBef>
                <a:spcPts val="1400"/>
              </a:spcBef>
              <a:buSzPct val="70000"/>
              <a:buFont typeface="Wingdings" panose="05000000000000000000" pitchFamily="2" charset="2"/>
              <a:buChar char="Ä"/>
            </a:pPr>
            <a:r>
              <a:rPr lang="bg-BG" sz="3100" dirty="0" smtClean="0"/>
              <a:t>Разделяне </a:t>
            </a:r>
            <a:r>
              <a:rPr lang="bg-BG" sz="3100" dirty="0"/>
              <a:t>и съединяване (англ. </a:t>
            </a:r>
            <a:r>
              <a:rPr lang="bg-BG" sz="3100" dirty="0" err="1"/>
              <a:t>Fork</a:t>
            </a:r>
            <a:r>
              <a:rPr lang="bg-BG" sz="3100" dirty="0"/>
              <a:t> &amp; </a:t>
            </a:r>
            <a:r>
              <a:rPr lang="bg-BG" sz="3100" dirty="0" err="1"/>
              <a:t>Join</a:t>
            </a:r>
            <a:r>
              <a:rPr lang="bg-BG" sz="3100" dirty="0" smtClean="0"/>
              <a:t>)</a:t>
            </a:r>
            <a:endParaRPr lang="en-US" sz="3100" dirty="0" smtClean="0"/>
          </a:p>
          <a:p>
            <a:pPr marL="749300" lvl="2" indent="-347663">
              <a:spcBef>
                <a:spcPts val="1400"/>
              </a:spcBef>
              <a:buSzPct val="70000"/>
              <a:buFont typeface="Wingdings" panose="05000000000000000000" pitchFamily="2" charset="2"/>
              <a:buChar char="Ä"/>
            </a:pPr>
            <a:r>
              <a:rPr lang="bg-BG" sz="2700" dirty="0" smtClean="0"/>
              <a:t>Пример:</a:t>
            </a:r>
          </a:p>
        </p:txBody>
      </p:sp>
      <p:sp>
        <p:nvSpPr>
          <p:cNvPr id="7" name="Rectangle 3"/>
          <p:cNvSpPr>
            <a:spLocks noChangeArrowheads="1"/>
          </p:cNvSpPr>
          <p:nvPr/>
        </p:nvSpPr>
        <p:spPr bwMode="auto">
          <a:xfrm>
            <a:off x="7085012" y="2057702"/>
            <a:ext cx="3657600" cy="4451518"/>
          </a:xfrm>
          <a:prstGeom prst="rect">
            <a:avLst/>
          </a:prstGeom>
          <a:solidFill>
            <a:srgbClr val="FFC000"/>
          </a:solidFill>
          <a:ln>
            <a:noFill/>
          </a:ln>
          <a:effectLst/>
        </p:spPr>
        <p:txBody>
          <a:bodyPr vert="horz" wrap="square" lIns="0" tIns="0" rIns="0" bIns="65067" numCol="1" anchor="ctr" anchorCtr="0" compatLnSpc="1">
            <a:prstTxWarp prst="textNoShape">
              <a:avLst/>
            </a:prstTxWarp>
            <a:spAutoFit/>
          </a:bodyPr>
          <a:lstStyle/>
          <a:p>
            <a:pPr eaLnBrk="0" fontAlgn="base" hangingPunct="0">
              <a:spcBef>
                <a:spcPct val="0"/>
              </a:spcBef>
              <a:spcAft>
                <a:spcPct val="0"/>
              </a:spcAft>
            </a:pP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S1</a:t>
            </a:r>
            <a:r>
              <a:rPr lang="bg-BG" altLang="bg-BG" sz="1900" dirty="0">
                <a:solidFill>
                  <a:srgbClr val="273239"/>
                </a:solidFill>
                <a:effectLst>
                  <a:outerShdw blurRad="38100" dist="38100" dir="2700000" algn="tl">
                    <a:srgbClr val="000000">
                      <a:alpha val="43137"/>
                    </a:srgbClr>
                  </a:outerShdw>
                </a:effectLst>
                <a:latin typeface="Consolas" panose="020B0609020204030204" pitchFamily="49" charset="0"/>
              </a:rPr>
              <a:t>; </a:t>
            </a:r>
          </a:p>
          <a:p>
            <a:pPr eaLnBrk="0" fontAlgn="base" hangingPunct="0">
              <a:spcBef>
                <a:spcPct val="0"/>
              </a:spcBef>
              <a:spcAft>
                <a:spcPct val="0"/>
              </a:spcAft>
            </a:pP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1900" dirty="0" err="1" smtClean="0">
                <a:solidFill>
                  <a:srgbClr val="273239"/>
                </a:solidFill>
                <a:effectLst>
                  <a:outerShdw blurRad="38100" dist="38100" dir="2700000" algn="tl">
                    <a:srgbClr val="000000">
                      <a:alpha val="43137"/>
                    </a:srgbClr>
                  </a:outerShdw>
                </a:effectLst>
                <a:latin typeface="Consolas" panose="020B0609020204030204" pitchFamily="49" charset="0"/>
              </a:rPr>
              <a:t>Fo</a:t>
            </a:r>
            <a:r>
              <a:rPr lang="bg-BG" altLang="bg-BG" sz="1900" dirty="0" err="1" smtClean="0">
                <a:solidFill>
                  <a:srgbClr val="273239"/>
                </a:solidFill>
                <a:effectLst>
                  <a:outerShdw blurRad="38100" dist="38100" dir="2700000" algn="tl">
                    <a:srgbClr val="000000">
                      <a:alpha val="43137"/>
                    </a:srgbClr>
                  </a:outerShdw>
                </a:effectLst>
                <a:latin typeface="Consolas" panose="020B0609020204030204" pitchFamily="49" charset="0"/>
              </a:rPr>
              <a:t>rk</a:t>
            </a:r>
            <a:r>
              <a:rPr lang="bg-BG"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L1</a:t>
            </a: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a:t>
            </a:r>
          </a:p>
          <a:p>
            <a:pPr eaLnBrk="0" fontAlgn="base" hangingPunct="0">
              <a:spcBef>
                <a:spcPct val="0"/>
              </a:spcBef>
              <a:spcAft>
                <a:spcPct val="0"/>
              </a:spcAft>
            </a:pP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BEGIN</a:t>
            </a:r>
          </a:p>
          <a:p>
            <a:pPr eaLnBrk="0" fontAlgn="base" hangingPunct="0">
              <a:spcBef>
                <a:spcPct val="0"/>
              </a:spcBef>
              <a:spcAft>
                <a:spcPct val="0"/>
              </a:spcAft>
            </a:pPr>
            <a:r>
              <a:rPr lang="en-US" altLang="bg-BG" sz="19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S3; </a:t>
            </a:r>
            <a:endPar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19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END</a:t>
            </a:r>
          </a:p>
          <a:p>
            <a:pPr eaLnBrk="0" fontAlgn="base" hangingPunct="0">
              <a:spcBef>
                <a:spcPct val="0"/>
              </a:spcBef>
              <a:spcAft>
                <a:spcPct val="0"/>
              </a:spcAft>
            </a:pP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S2</a:t>
            </a: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a:t>
            </a:r>
            <a:r>
              <a:rPr lang="bg-BG"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a:t>
            </a:r>
            <a:endParaRPr lang="bg-BG" altLang="bg-BG" sz="1900" dirty="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19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S4</a:t>
            </a: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a:t>
            </a:r>
            <a:r>
              <a:rPr lang="bg-BG"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a:t>
            </a:r>
            <a:endPar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fork L2;</a:t>
            </a:r>
          </a:p>
          <a:p>
            <a:pPr eaLnBrk="0" fontAlgn="base" hangingPunct="0">
              <a:spcBef>
                <a:spcPct val="0"/>
              </a:spcBef>
              <a:spcAft>
                <a:spcPct val="0"/>
              </a:spcAft>
            </a:pP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BEGIN</a:t>
            </a:r>
          </a:p>
          <a:p>
            <a:pPr eaLnBrk="0" fontAlgn="base" hangingPunct="0">
              <a:spcBef>
                <a:spcPct val="0"/>
              </a:spcBef>
              <a:spcAft>
                <a:spcPct val="0"/>
              </a:spcAft>
            </a:pP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Join L1;</a:t>
            </a:r>
          </a:p>
          <a:p>
            <a:pPr eaLnBrk="0" fontAlgn="base" hangingPunct="0">
              <a:spcBef>
                <a:spcPct val="0"/>
              </a:spcBef>
              <a:spcAft>
                <a:spcPct val="0"/>
              </a:spcAft>
            </a:pPr>
            <a:r>
              <a:rPr lang="en-US" altLang="bg-BG" sz="19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S6;</a:t>
            </a:r>
            <a:endParaRPr lang="en-US" altLang="bg-BG" sz="1900" dirty="0">
              <a:solidFill>
                <a:srgbClr val="273239"/>
              </a:solidFill>
              <a:effectLst>
                <a:outerShdw blurRad="38100" dist="38100" dir="2700000" algn="tl">
                  <a:srgbClr val="000000">
                    <a:alpha val="43137"/>
                  </a:srgbClr>
                </a:outerShdw>
              </a:effectLst>
              <a:latin typeface="Consolas" panose="020B0609020204030204" pitchFamily="49" charset="0"/>
            </a:endParaRPr>
          </a:p>
          <a:p>
            <a:pPr lvl="2" eaLnBrk="0" fontAlgn="base" hangingPunct="0">
              <a:spcBef>
                <a:spcPct val="0"/>
              </a:spcBef>
              <a:spcAft>
                <a:spcPct val="0"/>
              </a:spcAft>
            </a:pPr>
            <a:r>
              <a:rPr lang="en-US" altLang="bg-BG" sz="19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END</a:t>
            </a:r>
            <a:endParaRPr lang="bg-BG" altLang="bg-BG" sz="1900" dirty="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S5;</a:t>
            </a:r>
          </a:p>
          <a:p>
            <a:pPr eaLnBrk="0" fontAlgn="base" hangingPunct="0">
              <a:spcBef>
                <a:spcPct val="0"/>
              </a:spcBef>
              <a:spcAft>
                <a:spcPct val="0"/>
              </a:spcAft>
            </a:pP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J</a:t>
            </a:r>
            <a:r>
              <a:rPr lang="bg-BG" altLang="bg-BG" sz="1900" dirty="0" err="1" smtClean="0">
                <a:solidFill>
                  <a:srgbClr val="273239"/>
                </a:solidFill>
                <a:effectLst>
                  <a:outerShdw blurRad="38100" dist="38100" dir="2700000" algn="tl">
                    <a:srgbClr val="000000">
                      <a:alpha val="43137"/>
                    </a:srgbClr>
                  </a:outerShdw>
                </a:effectLst>
                <a:latin typeface="Consolas" panose="020B0609020204030204" pitchFamily="49" charset="0"/>
              </a:rPr>
              <a:t>oin</a:t>
            </a:r>
            <a:r>
              <a:rPr lang="bg-BG"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L2;</a:t>
            </a:r>
            <a:r>
              <a:rPr lang="bg-BG" altLang="bg-BG" sz="1900" dirty="0" smtClean="0">
                <a:solidFill>
                  <a:srgbClr val="273239"/>
                </a:solidFill>
                <a:effectLst>
                  <a:outerShdw blurRad="38100" dist="38100" dir="2700000" algn="tl">
                    <a:srgbClr val="000000">
                      <a:alpha val="43137"/>
                    </a:srgbClr>
                  </a:outerShdw>
                </a:effectLst>
                <a:latin typeface="Consolas" panose="020B0609020204030204" pitchFamily="49" charset="0"/>
              </a:rPr>
              <a:t> </a:t>
            </a:r>
            <a:endParaRPr lang="bg-BG" altLang="bg-BG" sz="1900" dirty="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19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1900" dirty="0">
                <a:solidFill>
                  <a:srgbClr val="273239"/>
                </a:solidFill>
                <a:effectLst>
                  <a:outerShdw blurRad="38100" dist="38100" dir="2700000" algn="tl">
                    <a:srgbClr val="000000">
                      <a:alpha val="43137"/>
                    </a:srgbClr>
                  </a:outerShdw>
                </a:effectLst>
                <a:latin typeface="Consolas" panose="020B0609020204030204" pitchFamily="49" charset="0"/>
              </a:rPr>
              <a:t>S7; </a:t>
            </a:r>
          </a:p>
        </p:txBody>
      </p:sp>
      <p:pic>
        <p:nvPicPr>
          <p:cNvPr id="5" name="Picture 4"/>
          <p:cNvPicPr>
            <a:picLocks noChangeAspect="1"/>
          </p:cNvPicPr>
          <p:nvPr/>
        </p:nvPicPr>
        <p:blipFill>
          <a:blip r:embed="rId2"/>
          <a:stretch>
            <a:fillRect/>
          </a:stretch>
        </p:blipFill>
        <p:spPr>
          <a:xfrm>
            <a:off x="3198812" y="2200564"/>
            <a:ext cx="2286000" cy="4352636"/>
          </a:xfrm>
          <a:prstGeom prst="rect">
            <a:avLst/>
          </a:prstGeom>
        </p:spPr>
      </p:pic>
    </p:spTree>
    <p:extLst>
      <p:ext uri="{BB962C8B-B14F-4D97-AF65-F5344CB8AC3E}">
        <p14:creationId xmlns:p14="http://schemas.microsoft.com/office/powerpoint/2010/main" val="2972575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Създаване на конкурентни процеси</a:t>
            </a:r>
            <a:endParaRPr lang="en-US" dirty="0"/>
          </a:p>
        </p:txBody>
      </p:sp>
      <p:sp>
        <p:nvSpPr>
          <p:cNvPr id="3" name="Content Placeholder 2"/>
          <p:cNvSpPr>
            <a:spLocks noGrp="1"/>
          </p:cNvSpPr>
          <p:nvPr>
            <p:ph idx="1"/>
          </p:nvPr>
        </p:nvSpPr>
        <p:spPr>
          <a:xfrm>
            <a:off x="908662" y="1143000"/>
            <a:ext cx="10824550" cy="5410200"/>
          </a:xfrm>
        </p:spPr>
        <p:txBody>
          <a:bodyPr>
            <a:normAutofit/>
          </a:bodyPr>
          <a:lstStyle/>
          <a:p>
            <a:pPr marL="347663" lvl="1" indent="-347663">
              <a:spcBef>
                <a:spcPts val="1400"/>
              </a:spcBef>
              <a:buSzPct val="70000"/>
              <a:buFont typeface="Wingdings" panose="05000000000000000000" pitchFamily="2" charset="2"/>
              <a:buChar char="Ä"/>
            </a:pPr>
            <a:r>
              <a:rPr lang="bg-BG" sz="3100" dirty="0" smtClean="0"/>
              <a:t>Разделяне </a:t>
            </a:r>
            <a:r>
              <a:rPr lang="bg-BG" sz="3100" dirty="0"/>
              <a:t>и съединяване (англ. </a:t>
            </a:r>
            <a:r>
              <a:rPr lang="bg-BG" sz="3100" dirty="0" err="1"/>
              <a:t>Fork</a:t>
            </a:r>
            <a:r>
              <a:rPr lang="bg-BG" sz="3100" dirty="0"/>
              <a:t> &amp; </a:t>
            </a:r>
            <a:r>
              <a:rPr lang="bg-BG" sz="3100" dirty="0" err="1"/>
              <a:t>Join</a:t>
            </a:r>
            <a:r>
              <a:rPr lang="bg-BG" sz="3100" dirty="0" smtClean="0"/>
              <a:t>)</a:t>
            </a:r>
            <a:endParaRPr lang="en-US" sz="3100" dirty="0" smtClean="0"/>
          </a:p>
          <a:p>
            <a:pPr marL="749300" lvl="2" indent="-347663">
              <a:spcBef>
                <a:spcPts val="1400"/>
              </a:spcBef>
              <a:buSzPct val="70000"/>
              <a:buFont typeface="Wingdings" panose="05000000000000000000" pitchFamily="2" charset="2"/>
              <a:buChar char="Ä"/>
            </a:pPr>
            <a:r>
              <a:rPr lang="bg-BG" sz="2700" dirty="0" smtClean="0"/>
              <a:t>Пример:</a:t>
            </a:r>
          </a:p>
        </p:txBody>
      </p:sp>
      <p:sp>
        <p:nvSpPr>
          <p:cNvPr id="7" name="Rectangle 3"/>
          <p:cNvSpPr>
            <a:spLocks noChangeArrowheads="1"/>
          </p:cNvSpPr>
          <p:nvPr/>
        </p:nvSpPr>
        <p:spPr bwMode="auto">
          <a:xfrm>
            <a:off x="7389812" y="2031665"/>
            <a:ext cx="2971800" cy="4682351"/>
          </a:xfrm>
          <a:prstGeom prst="rect">
            <a:avLst/>
          </a:prstGeom>
          <a:solidFill>
            <a:srgbClr val="FFC000"/>
          </a:solidFill>
          <a:ln>
            <a:noFill/>
          </a:ln>
          <a:effectLst/>
        </p:spPr>
        <p:txBody>
          <a:bodyPr vert="horz" wrap="square" lIns="0" tIns="0" rIns="0" bIns="65067" numCol="1" anchor="ctr" anchorCtr="0" compatLnSpc="1">
            <a:prstTxWarp prst="textNoShape">
              <a:avLst/>
            </a:prstTxWarp>
            <a:spAutoFit/>
          </a:bodyPr>
          <a:lstStyle/>
          <a:p>
            <a:pPr eaLnBrk="0" fontAlgn="base" hangingPunct="0">
              <a:spcBef>
                <a:spcPct val="0"/>
              </a:spcBef>
              <a:spcAft>
                <a:spcPct val="0"/>
              </a:spcAft>
            </a:pPr>
            <a:r>
              <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S1</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a:t>
            </a:r>
            <a:endPar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2000" dirty="0" err="1" smtClean="0">
                <a:solidFill>
                  <a:srgbClr val="273239"/>
                </a:solidFill>
                <a:effectLst>
                  <a:outerShdw blurRad="38100" dist="38100" dir="2700000" algn="tl">
                    <a:srgbClr val="000000">
                      <a:alpha val="43137"/>
                    </a:srgbClr>
                  </a:outerShdw>
                </a:effectLst>
                <a:latin typeface="Consolas" panose="020B0609020204030204" pitchFamily="49" charset="0"/>
              </a:rPr>
              <a:t>Fo</a:t>
            </a:r>
            <a:r>
              <a:rPr lang="bg-BG" altLang="bg-BG" sz="2000" dirty="0" err="1">
                <a:solidFill>
                  <a:srgbClr val="273239"/>
                </a:solidFill>
                <a:effectLst>
                  <a:outerShdw blurRad="38100" dist="38100" dir="2700000" algn="tl">
                    <a:srgbClr val="000000">
                      <a:alpha val="43137"/>
                    </a:srgbClr>
                  </a:outerShdw>
                </a:effectLst>
                <a:latin typeface="Consolas" panose="020B0609020204030204" pitchFamily="49" charset="0"/>
              </a:rPr>
              <a:t>rk</a:t>
            </a:r>
            <a:r>
              <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rPr>
              <a:t> L1</a:t>
            </a: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a:t>
            </a:r>
          </a:p>
          <a:p>
            <a:pPr eaLnBrk="0" fontAlgn="base" hangingPunct="0">
              <a:spcBef>
                <a:spcPct val="0"/>
              </a:spcBef>
              <a:spcAft>
                <a:spcPct val="0"/>
              </a:spcAft>
            </a:pP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   	BEGIN</a:t>
            </a:r>
          </a:p>
          <a:p>
            <a:pPr eaLnBrk="0" fontAlgn="base" hangingPunct="0">
              <a:spcBef>
                <a:spcPct val="0"/>
              </a:spcBef>
              <a:spcAft>
                <a:spcPct val="0"/>
              </a:spcAft>
            </a:pP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	   S3; </a:t>
            </a:r>
          </a:p>
          <a:p>
            <a:pPr eaLnBrk="0" fontAlgn="base" hangingPunct="0">
              <a:spcBef>
                <a:spcPct val="0"/>
              </a:spcBef>
              <a:spcAft>
                <a:spcPct val="0"/>
              </a:spcAft>
            </a:pP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	END</a:t>
            </a: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S2;</a:t>
            </a:r>
          </a:p>
          <a:p>
            <a:pPr eaLnBrk="0" fontAlgn="base" hangingPunct="0">
              <a:spcBef>
                <a:spcPct val="0"/>
              </a:spcBef>
              <a:spcAft>
                <a:spcPct val="0"/>
              </a:spcAft>
            </a:pP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S4;</a:t>
            </a:r>
            <a:endPar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2000" dirty="0" err="1">
                <a:solidFill>
                  <a:srgbClr val="273239"/>
                </a:solidFill>
                <a:effectLst>
                  <a:outerShdw blurRad="38100" dist="38100" dir="2700000" algn="tl">
                    <a:srgbClr val="000000">
                      <a:alpha val="43137"/>
                    </a:srgbClr>
                  </a:outerShdw>
                </a:effectLst>
                <a:latin typeface="Consolas" panose="020B0609020204030204" pitchFamily="49" charset="0"/>
              </a:rPr>
              <a:t>Fo</a:t>
            </a:r>
            <a:r>
              <a:rPr lang="bg-BG" altLang="bg-BG" sz="2000" dirty="0" err="1">
                <a:solidFill>
                  <a:srgbClr val="273239"/>
                </a:solidFill>
                <a:effectLst>
                  <a:outerShdw blurRad="38100" dist="38100" dir="2700000" algn="tl">
                    <a:srgbClr val="000000">
                      <a:alpha val="43137"/>
                    </a:srgbClr>
                  </a:outerShdw>
                </a:effectLst>
                <a:latin typeface="Consolas" panose="020B0609020204030204" pitchFamily="49" charset="0"/>
              </a:rPr>
              <a:t>rk</a:t>
            </a:r>
            <a:r>
              <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L</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2;</a:t>
            </a:r>
            <a:endPar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 	BEGIN</a:t>
            </a:r>
          </a:p>
          <a:p>
            <a:pPr eaLnBrk="0" fontAlgn="base" hangingPunct="0">
              <a:spcBef>
                <a:spcPct val="0"/>
              </a:spcBef>
              <a:spcAft>
                <a:spcPct val="0"/>
              </a:spcAft>
            </a:pP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S6; </a:t>
            </a:r>
            <a:endPar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	END</a:t>
            </a:r>
            <a:endPar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S5</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a:t>
            </a:r>
          </a:p>
          <a:p>
            <a:pPr eaLnBrk="0" fontAlgn="base" hangingPunct="0">
              <a:spcBef>
                <a:spcPct val="0"/>
              </a:spcBef>
              <a:spcAft>
                <a:spcPct val="0"/>
              </a:spcAft>
            </a:pPr>
            <a:r>
              <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Join </a:t>
            </a: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L2;</a:t>
            </a:r>
            <a:endPar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Join L1;</a:t>
            </a:r>
            <a:endPar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S7 </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a:t>
            </a:r>
            <a:endPar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endParaRPr>
          </a:p>
        </p:txBody>
      </p:sp>
      <p:pic>
        <p:nvPicPr>
          <p:cNvPr id="4" name="Picture 3"/>
          <p:cNvPicPr>
            <a:picLocks noChangeAspect="1"/>
          </p:cNvPicPr>
          <p:nvPr/>
        </p:nvPicPr>
        <p:blipFill>
          <a:blip r:embed="rId2"/>
          <a:stretch>
            <a:fillRect/>
          </a:stretch>
        </p:blipFill>
        <p:spPr>
          <a:xfrm>
            <a:off x="2436812" y="2227243"/>
            <a:ext cx="2991182" cy="4486773"/>
          </a:xfrm>
          <a:prstGeom prst="rect">
            <a:avLst/>
          </a:prstGeom>
        </p:spPr>
      </p:pic>
    </p:spTree>
    <p:extLst>
      <p:ext uri="{BB962C8B-B14F-4D97-AF65-F5344CB8AC3E}">
        <p14:creationId xmlns:p14="http://schemas.microsoft.com/office/powerpoint/2010/main" val="2053064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Създаване на конкурентни процеси</a:t>
            </a:r>
            <a:endParaRPr lang="en-US" dirty="0"/>
          </a:p>
        </p:txBody>
      </p:sp>
      <p:sp>
        <p:nvSpPr>
          <p:cNvPr id="3" name="Content Placeholder 2"/>
          <p:cNvSpPr>
            <a:spLocks noGrp="1"/>
          </p:cNvSpPr>
          <p:nvPr>
            <p:ph idx="1"/>
          </p:nvPr>
        </p:nvSpPr>
        <p:spPr>
          <a:xfrm>
            <a:off x="908662" y="1143000"/>
            <a:ext cx="10824550" cy="5410200"/>
          </a:xfrm>
        </p:spPr>
        <p:txBody>
          <a:bodyPr>
            <a:normAutofit/>
          </a:bodyPr>
          <a:lstStyle/>
          <a:p>
            <a:pPr marL="347663" lvl="1" indent="-347663">
              <a:spcBef>
                <a:spcPts val="1400"/>
              </a:spcBef>
              <a:buSzPct val="70000"/>
              <a:buFont typeface="Wingdings" panose="05000000000000000000" pitchFamily="2" charset="2"/>
              <a:buChar char="Ä"/>
            </a:pPr>
            <a:r>
              <a:rPr lang="bg-BG" sz="3100" dirty="0"/>
              <a:t>Съвместно начало / съвместно завършване (</a:t>
            </a:r>
            <a:r>
              <a:rPr lang="bg-BG" sz="3100" dirty="0" err="1"/>
              <a:t>англ</a:t>
            </a:r>
            <a:r>
              <a:rPr lang="bg-BG" sz="3100" dirty="0"/>
              <a:t>. </a:t>
            </a:r>
            <a:r>
              <a:rPr lang="bg-BG" sz="3100" dirty="0" err="1"/>
              <a:t>Co-begin</a:t>
            </a:r>
            <a:r>
              <a:rPr lang="bg-BG" sz="3100" dirty="0"/>
              <a:t>/</a:t>
            </a:r>
            <a:r>
              <a:rPr lang="bg-BG" sz="3100" dirty="0" err="1"/>
              <a:t>co-end</a:t>
            </a:r>
            <a:r>
              <a:rPr lang="bg-BG" sz="3100" dirty="0" smtClean="0"/>
              <a:t>)</a:t>
            </a:r>
          </a:p>
          <a:p>
            <a:pPr lvl="1"/>
            <a:r>
              <a:rPr lang="bg-BG" sz="2600" dirty="0"/>
              <a:t>Те са по-добре структурирани, но те могат да се използват само за предварително фиксира брой процеси.</a:t>
            </a:r>
          </a:p>
          <a:p>
            <a:pPr lvl="1"/>
            <a:r>
              <a:rPr lang="bg-BG" sz="2600" dirty="0" smtClean="0"/>
              <a:t>Работата на извикващия продължава, когато всичките съвместни блокова са прекратили работата си.</a:t>
            </a:r>
            <a:endParaRPr lang="en-US" sz="2600" dirty="0"/>
          </a:p>
        </p:txBody>
      </p:sp>
      <p:pic>
        <p:nvPicPr>
          <p:cNvPr id="5" name="Picture 4"/>
          <p:cNvPicPr>
            <a:picLocks noChangeAspect="1"/>
          </p:cNvPicPr>
          <p:nvPr/>
        </p:nvPicPr>
        <p:blipFill>
          <a:blip r:embed="rId2"/>
          <a:stretch>
            <a:fillRect/>
          </a:stretch>
        </p:blipFill>
        <p:spPr>
          <a:xfrm>
            <a:off x="4341812" y="3655067"/>
            <a:ext cx="7140370" cy="2936233"/>
          </a:xfrm>
          <a:prstGeom prst="rect">
            <a:avLst/>
          </a:prstGeom>
        </p:spPr>
      </p:pic>
    </p:spTree>
    <p:extLst>
      <p:ext uri="{BB962C8B-B14F-4D97-AF65-F5344CB8AC3E}">
        <p14:creationId xmlns:p14="http://schemas.microsoft.com/office/powerpoint/2010/main" val="2752256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Създаване на конкурентни процеси</a:t>
            </a:r>
            <a:endParaRPr lang="en-US" dirty="0"/>
          </a:p>
        </p:txBody>
      </p:sp>
      <p:sp>
        <p:nvSpPr>
          <p:cNvPr id="3" name="Content Placeholder 2"/>
          <p:cNvSpPr>
            <a:spLocks noGrp="1"/>
          </p:cNvSpPr>
          <p:nvPr>
            <p:ph idx="1"/>
          </p:nvPr>
        </p:nvSpPr>
        <p:spPr>
          <a:xfrm>
            <a:off x="908662" y="1143000"/>
            <a:ext cx="10824550" cy="5410200"/>
          </a:xfrm>
        </p:spPr>
        <p:txBody>
          <a:bodyPr>
            <a:normAutofit/>
          </a:bodyPr>
          <a:lstStyle/>
          <a:p>
            <a:pPr marL="347663" lvl="1" indent="-347663">
              <a:spcBef>
                <a:spcPts val="1400"/>
              </a:spcBef>
              <a:buSzPct val="70000"/>
              <a:buFont typeface="Wingdings" panose="05000000000000000000" pitchFamily="2" charset="2"/>
              <a:buChar char="Ä"/>
            </a:pPr>
            <a:r>
              <a:rPr lang="bg-BG" sz="3100" dirty="0"/>
              <a:t>Съвместно начало / съвместно завършване (</a:t>
            </a:r>
            <a:r>
              <a:rPr lang="bg-BG" sz="3100" dirty="0" err="1"/>
              <a:t>англ</a:t>
            </a:r>
            <a:r>
              <a:rPr lang="bg-BG" sz="3100" dirty="0"/>
              <a:t>. </a:t>
            </a:r>
            <a:r>
              <a:rPr lang="bg-BG" sz="3100" dirty="0" err="1"/>
              <a:t>Co-begin</a:t>
            </a:r>
            <a:r>
              <a:rPr lang="bg-BG" sz="3100" dirty="0"/>
              <a:t>/</a:t>
            </a:r>
            <a:r>
              <a:rPr lang="bg-BG" sz="3100" dirty="0" err="1"/>
              <a:t>co-end</a:t>
            </a:r>
            <a:r>
              <a:rPr lang="bg-BG" sz="3100" dirty="0" smtClean="0"/>
              <a:t>)</a:t>
            </a:r>
          </a:p>
          <a:p>
            <a:pPr lvl="1"/>
            <a:r>
              <a:rPr lang="bg-BG" sz="2600" dirty="0" smtClean="0"/>
              <a:t>Пример:</a:t>
            </a:r>
            <a:endParaRPr lang="en-US" sz="2600" dirty="0"/>
          </a:p>
        </p:txBody>
      </p:sp>
      <p:sp>
        <p:nvSpPr>
          <p:cNvPr id="4" name="Rectangle 5"/>
          <p:cNvSpPr>
            <a:spLocks noChangeArrowheads="1"/>
          </p:cNvSpPr>
          <p:nvPr/>
        </p:nvSpPr>
        <p:spPr bwMode="auto">
          <a:xfrm>
            <a:off x="7618412" y="2895600"/>
            <a:ext cx="3427412" cy="2527915"/>
          </a:xfrm>
          <a:prstGeom prst="rect">
            <a:avLst/>
          </a:prstGeom>
          <a:solidFill>
            <a:srgbClr val="FFC000"/>
          </a:solidFill>
          <a:ln>
            <a:noFill/>
          </a:ln>
          <a:effectLst/>
        </p:spPr>
        <p:txBody>
          <a:bodyPr vert="horz" wrap="square" lIns="0" tIns="0" rIns="0" bIns="65067" numCol="1" anchor="ctr" anchorCtr="0" compatLnSpc="1">
            <a:prstTxWarp prst="textNoShape">
              <a:avLst/>
            </a:prstTxWarp>
            <a:spAutoFit/>
          </a:bodyPr>
          <a:lstStyle/>
          <a:p>
            <a:pPr eaLnBrk="0" fontAlgn="base" hangingPunct="0">
              <a:spcBef>
                <a:spcPct val="0"/>
              </a:spcBef>
              <a:spcAft>
                <a:spcPct val="0"/>
              </a:spcAft>
            </a:pP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S</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_b</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endPar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CO</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BEGIN </a:t>
            </a:r>
            <a:endPar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S1 </a:t>
            </a:r>
            <a:endPar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S2 </a:t>
            </a:r>
            <a:endPar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endPar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sz="2000" dirty="0" err="1" smtClean="0">
                <a:solidFill>
                  <a:srgbClr val="273239"/>
                </a:solidFill>
                <a:effectLst>
                  <a:outerShdw blurRad="38100" dist="38100" dir="2700000" algn="tl">
                    <a:srgbClr val="000000">
                      <a:alpha val="43137"/>
                    </a:srgbClr>
                  </a:outerShdw>
                </a:effectLst>
                <a:latin typeface="Consolas" panose="020B0609020204030204" pitchFamily="49" charset="0"/>
              </a:rPr>
              <a:t>Sn</a:t>
            </a:r>
            <a:endPar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COE</a:t>
            </a: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ND </a:t>
            </a:r>
            <a:endPar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eaLnBrk="0" fontAlgn="base" hangingPunct="0">
              <a:spcBef>
                <a:spcPct val="0"/>
              </a:spcBef>
              <a:spcAft>
                <a:spcPct val="0"/>
              </a:spcAft>
            </a:pPr>
            <a:r>
              <a:rPr lang="bg-BG"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S</a:t>
            </a:r>
            <a:r>
              <a:rPr lang="en-US" altLang="bg-BG" sz="2000" dirty="0" smtClean="0">
                <a:solidFill>
                  <a:srgbClr val="273239"/>
                </a:solidFill>
                <a:effectLst>
                  <a:outerShdw blurRad="38100" dist="38100" dir="2700000" algn="tl">
                    <a:srgbClr val="000000">
                      <a:alpha val="43137"/>
                    </a:srgbClr>
                  </a:outerShdw>
                </a:effectLst>
                <a:latin typeface="Consolas" panose="020B0609020204030204" pitchFamily="49" charset="0"/>
              </a:rPr>
              <a:t>_e</a:t>
            </a:r>
            <a:endParaRPr lang="bg-BG" altLang="bg-BG" sz="2000" dirty="0">
              <a:solidFill>
                <a:srgbClr val="273239"/>
              </a:solidFill>
              <a:effectLst>
                <a:outerShdw blurRad="38100" dist="38100" dir="2700000" algn="tl">
                  <a:srgbClr val="000000">
                    <a:alpha val="43137"/>
                  </a:srgbClr>
                </a:outerShdw>
              </a:effectLst>
              <a:latin typeface="Consolas" panose="020B0609020204030204" pitchFamily="49" charset="0"/>
            </a:endParaRPr>
          </a:p>
        </p:txBody>
      </p:sp>
      <p:pic>
        <p:nvPicPr>
          <p:cNvPr id="5" name="Picture 4"/>
          <p:cNvPicPr>
            <a:picLocks noChangeAspect="1"/>
          </p:cNvPicPr>
          <p:nvPr/>
        </p:nvPicPr>
        <p:blipFill>
          <a:blip r:embed="rId2"/>
          <a:stretch>
            <a:fillRect/>
          </a:stretch>
        </p:blipFill>
        <p:spPr>
          <a:xfrm>
            <a:off x="1946959" y="2916382"/>
            <a:ext cx="4633156" cy="3178954"/>
          </a:xfrm>
          <a:prstGeom prst="rect">
            <a:avLst/>
          </a:prstGeom>
        </p:spPr>
      </p:pic>
    </p:spTree>
    <p:extLst>
      <p:ext uri="{BB962C8B-B14F-4D97-AF65-F5344CB8AC3E}">
        <p14:creationId xmlns:p14="http://schemas.microsoft.com/office/powerpoint/2010/main" val="1396502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Създаване на конкурентни процеси</a:t>
            </a:r>
            <a:endParaRPr lang="en-US" dirty="0"/>
          </a:p>
        </p:txBody>
      </p:sp>
      <p:sp>
        <p:nvSpPr>
          <p:cNvPr id="3" name="Content Placeholder 2"/>
          <p:cNvSpPr>
            <a:spLocks noGrp="1"/>
          </p:cNvSpPr>
          <p:nvPr>
            <p:ph idx="1"/>
          </p:nvPr>
        </p:nvSpPr>
        <p:spPr>
          <a:xfrm>
            <a:off x="908662" y="1143000"/>
            <a:ext cx="10824550" cy="5410200"/>
          </a:xfrm>
        </p:spPr>
        <p:txBody>
          <a:bodyPr>
            <a:normAutofit/>
          </a:bodyPr>
          <a:lstStyle/>
          <a:p>
            <a:pPr marL="347663" lvl="1" indent="-347663">
              <a:spcBef>
                <a:spcPts val="1400"/>
              </a:spcBef>
              <a:buSzPct val="70000"/>
              <a:buFont typeface="Wingdings" panose="05000000000000000000" pitchFamily="2" charset="2"/>
              <a:buChar char="Ä"/>
            </a:pPr>
            <a:r>
              <a:rPr lang="bg-BG" sz="3100" dirty="0"/>
              <a:t>Съвместно начало / съвместно завършване (</a:t>
            </a:r>
            <a:r>
              <a:rPr lang="bg-BG" sz="3100" dirty="0" err="1"/>
              <a:t>англ</a:t>
            </a:r>
            <a:r>
              <a:rPr lang="bg-BG" sz="3100" dirty="0"/>
              <a:t>. </a:t>
            </a:r>
            <a:r>
              <a:rPr lang="bg-BG" sz="3100" dirty="0" err="1"/>
              <a:t>Co-begin</a:t>
            </a:r>
            <a:r>
              <a:rPr lang="bg-BG" sz="3100" dirty="0"/>
              <a:t>/</a:t>
            </a:r>
            <a:r>
              <a:rPr lang="bg-BG" sz="3100" dirty="0" err="1"/>
              <a:t>co-end</a:t>
            </a:r>
            <a:r>
              <a:rPr lang="bg-BG" sz="3100" dirty="0" smtClean="0"/>
              <a:t>)</a:t>
            </a:r>
          </a:p>
          <a:p>
            <a:pPr lvl="1"/>
            <a:r>
              <a:rPr lang="bg-BG" sz="2600" dirty="0" smtClean="0"/>
              <a:t>Пример:</a:t>
            </a:r>
            <a:endParaRPr lang="en-US" sz="2600" dirty="0"/>
          </a:p>
        </p:txBody>
      </p:sp>
      <p:sp>
        <p:nvSpPr>
          <p:cNvPr id="6" name="Rectangle 5"/>
          <p:cNvSpPr>
            <a:spLocks noChangeArrowheads="1"/>
          </p:cNvSpPr>
          <p:nvPr/>
        </p:nvSpPr>
        <p:spPr bwMode="auto">
          <a:xfrm>
            <a:off x="7313612" y="2212036"/>
            <a:ext cx="3427412" cy="4220686"/>
          </a:xfrm>
          <a:prstGeom prst="rect">
            <a:avLst/>
          </a:prstGeom>
          <a:solidFill>
            <a:srgbClr val="FFC000"/>
          </a:solidFill>
          <a:ln>
            <a:noFill/>
          </a:ln>
          <a:effectLst/>
        </p:spPr>
        <p:txBody>
          <a:bodyPr vert="horz" wrap="square" lIns="0" tIns="0" rIns="0" bIns="65067" numCol="1" anchor="ctr" anchorCtr="0" compatLnSpc="1">
            <a:prstTxWarp prst="textNoShape">
              <a:avLst/>
            </a:prstTxWarp>
            <a:spAutoFit/>
          </a:bodyPr>
          <a:lstStyle/>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Task Main:</a:t>
            </a: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Begin</a:t>
            </a: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bg-BG"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S</a:t>
            </a: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1</a:t>
            </a:r>
            <a:r>
              <a:rPr lang="bg-BG"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a:t>
            </a:r>
            <a:endPar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CO</a:t>
            </a:r>
            <a:r>
              <a:rPr lang="bg-BG"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BEGIN</a:t>
            </a: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(S2, S3)</a:t>
            </a: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COEND</a:t>
            </a: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S7</a:t>
            </a: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End</a:t>
            </a:r>
            <a:endPar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lvl="1" eaLnBrk="0" fontAlgn="base" hangingPunct="0">
              <a:spcBef>
                <a:spcPct val="0"/>
              </a:spcBef>
              <a:spcAft>
                <a:spcPct val="0"/>
              </a:spcAft>
            </a:pPr>
            <a:endPar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Task S2:</a:t>
            </a: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Begin</a:t>
            </a:r>
          </a:p>
          <a:p>
            <a:pPr lvl="1" eaLnBrk="0" fontAlgn="base" hangingPunct="0">
              <a:spcBef>
                <a:spcPct val="0"/>
              </a:spcBef>
              <a:spcAft>
                <a:spcPct val="0"/>
              </a:spcAft>
            </a:pPr>
            <a:r>
              <a:rPr lang="en-US" altLang="bg-BG" dirty="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S2</a:t>
            </a:r>
            <a:endPar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endParaRP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CO</a:t>
            </a:r>
            <a:r>
              <a:rPr lang="bg-BG" altLang="bg-BG" dirty="0">
                <a:solidFill>
                  <a:srgbClr val="273239"/>
                </a:solidFill>
                <a:effectLst>
                  <a:outerShdw blurRad="38100" dist="38100" dir="2700000" algn="tl">
                    <a:srgbClr val="000000">
                      <a:alpha val="43137"/>
                    </a:srgbClr>
                  </a:outerShdw>
                </a:effectLst>
                <a:latin typeface="Consolas" panose="020B0609020204030204" pitchFamily="49" charset="0"/>
              </a:rPr>
              <a:t>BEGIN </a:t>
            </a: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(S4, S5)</a:t>
            </a: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a:t>
            </a: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COEND</a:t>
            </a:r>
            <a:endParaRPr lang="en-US" altLang="bg-BG" dirty="0">
              <a:solidFill>
                <a:srgbClr val="273239"/>
              </a:solidFill>
              <a:effectLst>
                <a:outerShdw blurRad="38100" dist="38100" dir="2700000" algn="tl">
                  <a:srgbClr val="000000">
                    <a:alpha val="43137"/>
                  </a:srgbClr>
                </a:outerShdw>
              </a:effectLst>
              <a:latin typeface="Consolas" panose="020B0609020204030204" pitchFamily="49" charset="0"/>
            </a:endParaRP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  </a:t>
            </a: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S6</a:t>
            </a:r>
          </a:p>
          <a:p>
            <a:pPr lvl="1" eaLnBrk="0" fontAlgn="base" hangingPunct="0">
              <a:spcBef>
                <a:spcPct val="0"/>
              </a:spcBef>
              <a:spcAft>
                <a:spcPct val="0"/>
              </a:spcAft>
            </a:pPr>
            <a:r>
              <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rPr>
              <a:t>End</a:t>
            </a:r>
            <a:endParaRPr lang="en-US" altLang="bg-BG" dirty="0" smtClean="0">
              <a:solidFill>
                <a:srgbClr val="273239"/>
              </a:solidFill>
              <a:effectLst>
                <a:outerShdw blurRad="38100" dist="38100" dir="2700000" algn="tl">
                  <a:srgbClr val="000000">
                    <a:alpha val="43137"/>
                  </a:srgbClr>
                </a:outerShdw>
              </a:effectLst>
              <a:latin typeface="Consolas" panose="020B0609020204030204" pitchFamily="49" charset="0"/>
            </a:endParaRPr>
          </a:p>
        </p:txBody>
      </p:sp>
      <p:pic>
        <p:nvPicPr>
          <p:cNvPr id="4" name="Picture 3"/>
          <p:cNvPicPr>
            <a:picLocks noChangeAspect="1"/>
          </p:cNvPicPr>
          <p:nvPr/>
        </p:nvPicPr>
        <p:blipFill>
          <a:blip r:embed="rId2"/>
          <a:stretch>
            <a:fillRect/>
          </a:stretch>
        </p:blipFill>
        <p:spPr>
          <a:xfrm>
            <a:off x="1827212" y="2650518"/>
            <a:ext cx="2971800" cy="3756804"/>
          </a:xfrm>
          <a:prstGeom prst="rect">
            <a:avLst/>
          </a:prstGeom>
        </p:spPr>
      </p:pic>
    </p:spTree>
    <p:extLst>
      <p:ext uri="{BB962C8B-B14F-4D97-AF65-F5344CB8AC3E}">
        <p14:creationId xmlns:p14="http://schemas.microsoft.com/office/powerpoint/2010/main" val="1691427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smtClean="0"/>
              <a:t>Методи за синхронизация</a:t>
            </a:r>
            <a:endParaRPr lang="en-US" dirty="0"/>
          </a:p>
        </p:txBody>
      </p:sp>
      <p:sp>
        <p:nvSpPr>
          <p:cNvPr id="3" name="Content Placeholder 2"/>
          <p:cNvSpPr>
            <a:spLocks noGrp="1"/>
          </p:cNvSpPr>
          <p:nvPr>
            <p:ph idx="1"/>
          </p:nvPr>
        </p:nvSpPr>
        <p:spPr>
          <a:xfrm>
            <a:off x="908662" y="1143000"/>
            <a:ext cx="10748350" cy="5410200"/>
          </a:xfrm>
        </p:spPr>
        <p:txBody>
          <a:bodyPr>
            <a:normAutofit/>
          </a:bodyPr>
          <a:lstStyle/>
          <a:p>
            <a:r>
              <a:rPr lang="bg-BG" sz="2800" dirty="0" smtClean="0"/>
              <a:t>Има различни техники за синхронизация, като всяка е насочена към различен стил на програмиране.</a:t>
            </a:r>
          </a:p>
          <a:p>
            <a:pPr lvl="1"/>
            <a:r>
              <a:rPr lang="bg-BG" sz="2400" dirty="0" smtClean="0"/>
              <a:t>Техниките имат приблизително еднаква изразителната мощ</a:t>
            </a:r>
          </a:p>
          <a:p>
            <a:pPr lvl="1"/>
            <a:r>
              <a:rPr lang="bg-BG" sz="2400" dirty="0" smtClean="0"/>
              <a:t>Могат да се използват за взаимна реализация, т.е. всяка може да се реализира чрез другите.</a:t>
            </a:r>
          </a:p>
          <a:p>
            <a:r>
              <a:rPr lang="bg-BG" sz="2800" dirty="0" smtClean="0"/>
              <a:t>Три основни типа:</a:t>
            </a:r>
          </a:p>
          <a:p>
            <a:pPr lvl="1"/>
            <a:r>
              <a:rPr lang="bg-BG" sz="2400" dirty="0"/>
              <a:t>Процедурно-ориентирани </a:t>
            </a:r>
            <a:r>
              <a:rPr lang="bg-BG" sz="2400" dirty="0" smtClean="0"/>
              <a:t>(</a:t>
            </a:r>
            <a:r>
              <a:rPr lang="en-US" sz="2400" dirty="0" smtClean="0"/>
              <a:t>Procedure</a:t>
            </a:r>
            <a:r>
              <a:rPr lang="bg-BG" sz="2400" dirty="0" smtClean="0"/>
              <a:t>-</a:t>
            </a:r>
            <a:r>
              <a:rPr lang="bg-BG" sz="2400" dirty="0" err="1" smtClean="0"/>
              <a:t>оriented</a:t>
            </a:r>
            <a:r>
              <a:rPr lang="bg-BG" sz="2400" dirty="0"/>
              <a:t>)</a:t>
            </a:r>
            <a:endParaRPr lang="bg-BG" sz="2400" dirty="0" smtClean="0"/>
          </a:p>
          <a:p>
            <a:pPr lvl="2">
              <a:spcBef>
                <a:spcPts val="300"/>
              </a:spcBef>
            </a:pPr>
            <a:r>
              <a:rPr lang="en-US" altLang="en-US" sz="2000" dirty="0" smtClean="0"/>
              <a:t>Interrupt disabling, </a:t>
            </a:r>
            <a:r>
              <a:rPr lang="en-US" altLang="en-US" sz="2000" dirty="0"/>
              <a:t>‘</a:t>
            </a:r>
            <a:r>
              <a:rPr lang="en-US" altLang="en-US" sz="2000" dirty="0" err="1"/>
              <a:t>Read_Modify_Write</a:t>
            </a:r>
            <a:r>
              <a:rPr lang="en-US" altLang="en-US" sz="2000" dirty="0" smtClean="0"/>
              <a:t>’, </a:t>
            </a:r>
            <a:r>
              <a:rPr lang="bg-BG" sz="2000" dirty="0" err="1" smtClean="0"/>
              <a:t>Busy-Waiting</a:t>
            </a:r>
            <a:r>
              <a:rPr lang="bg-BG" sz="2000" dirty="0" smtClean="0"/>
              <a:t>, </a:t>
            </a:r>
            <a:r>
              <a:rPr lang="bg-BG" sz="2000" dirty="0" err="1" smtClean="0"/>
              <a:t>Semaphores</a:t>
            </a:r>
            <a:r>
              <a:rPr lang="bg-BG" sz="2000" dirty="0" smtClean="0"/>
              <a:t>, </a:t>
            </a:r>
            <a:r>
              <a:rPr lang="en-US" sz="2000" dirty="0" err="1" smtClean="0"/>
              <a:t>Mutex</a:t>
            </a:r>
            <a:r>
              <a:rPr lang="en-US" sz="2000" dirty="0" smtClean="0"/>
              <a:t>, </a:t>
            </a:r>
            <a:r>
              <a:rPr lang="bg-BG" sz="2000" dirty="0" err="1" smtClean="0"/>
              <a:t>Monitors</a:t>
            </a:r>
            <a:r>
              <a:rPr lang="bg-BG" sz="2000" dirty="0" smtClean="0"/>
              <a:t>, </a:t>
            </a:r>
            <a:r>
              <a:rPr lang="bg-BG" sz="2000" dirty="0" err="1" smtClean="0"/>
              <a:t>Path</a:t>
            </a:r>
            <a:r>
              <a:rPr lang="bg-BG" sz="2000" dirty="0" smtClean="0"/>
              <a:t> </a:t>
            </a:r>
            <a:r>
              <a:rPr lang="bg-BG" sz="2000" dirty="0" err="1" smtClean="0"/>
              <a:t>Expressions</a:t>
            </a:r>
            <a:r>
              <a:rPr lang="bg-BG" sz="2000" dirty="0" smtClean="0"/>
              <a:t> </a:t>
            </a:r>
          </a:p>
          <a:p>
            <a:pPr lvl="1"/>
            <a:r>
              <a:rPr lang="bg-BG" sz="2400" dirty="0" smtClean="0"/>
              <a:t>Ориентирани </a:t>
            </a:r>
            <a:r>
              <a:rPr lang="bg-BG" sz="2400" dirty="0"/>
              <a:t>към </a:t>
            </a:r>
            <a:r>
              <a:rPr lang="bg-BG" sz="2400" dirty="0" smtClean="0"/>
              <a:t>съобщения (</a:t>
            </a:r>
            <a:r>
              <a:rPr lang="en-US" sz="2400" dirty="0" smtClean="0"/>
              <a:t>Message</a:t>
            </a:r>
            <a:r>
              <a:rPr lang="bg-BG" sz="2400" dirty="0" smtClean="0"/>
              <a:t>-</a:t>
            </a:r>
            <a:r>
              <a:rPr lang="bg-BG" sz="2400" dirty="0" err="1" smtClean="0"/>
              <a:t>оriented</a:t>
            </a:r>
            <a:r>
              <a:rPr lang="bg-BG" sz="2400" dirty="0" smtClean="0"/>
              <a:t>)</a:t>
            </a:r>
          </a:p>
          <a:p>
            <a:pPr lvl="2"/>
            <a:r>
              <a:rPr lang="bg-BG" sz="2000" dirty="0" err="1" smtClean="0"/>
              <a:t>Message</a:t>
            </a:r>
            <a:r>
              <a:rPr lang="bg-BG" sz="2000" dirty="0" smtClean="0"/>
              <a:t> </a:t>
            </a:r>
            <a:r>
              <a:rPr lang="bg-BG" sz="2000" dirty="0" err="1" smtClean="0"/>
              <a:t>Passing</a:t>
            </a:r>
            <a:r>
              <a:rPr lang="bg-BG" sz="2000" dirty="0" smtClean="0"/>
              <a:t> </a:t>
            </a:r>
          </a:p>
          <a:p>
            <a:pPr lvl="1"/>
            <a:r>
              <a:rPr lang="bg-BG" sz="2400" dirty="0" smtClean="0"/>
              <a:t>Ориентирани към операции (</a:t>
            </a:r>
            <a:r>
              <a:rPr lang="bg-BG" sz="2400" dirty="0" err="1" smtClean="0"/>
              <a:t>Operation-оriented</a:t>
            </a:r>
            <a:r>
              <a:rPr lang="bg-BG" sz="2400" dirty="0"/>
              <a:t>)</a:t>
            </a:r>
            <a:endParaRPr lang="bg-BG" sz="2400" dirty="0" smtClean="0"/>
          </a:p>
          <a:p>
            <a:pPr lvl="2"/>
            <a:r>
              <a:rPr lang="bg-BG" sz="2000" dirty="0" err="1" smtClean="0"/>
              <a:t>Remote</a:t>
            </a:r>
            <a:r>
              <a:rPr lang="bg-BG" sz="2000" dirty="0" smtClean="0"/>
              <a:t> </a:t>
            </a:r>
            <a:r>
              <a:rPr lang="bg-BG" sz="2000" dirty="0" err="1" smtClean="0"/>
              <a:t>Procedure</a:t>
            </a:r>
            <a:r>
              <a:rPr lang="bg-BG" sz="2000" dirty="0" smtClean="0"/>
              <a:t> </a:t>
            </a:r>
            <a:r>
              <a:rPr lang="bg-BG" sz="2000" dirty="0" err="1" smtClean="0"/>
              <a:t>Call</a:t>
            </a:r>
            <a:r>
              <a:rPr lang="bg-BG" sz="2000" dirty="0" smtClean="0"/>
              <a:t> </a:t>
            </a:r>
            <a:endParaRPr lang="bg-BG" sz="2000" dirty="0"/>
          </a:p>
        </p:txBody>
      </p:sp>
    </p:spTree>
    <p:extLst>
      <p:ext uri="{BB962C8B-B14F-4D97-AF65-F5344CB8AC3E}">
        <p14:creationId xmlns:p14="http://schemas.microsoft.com/office/powerpoint/2010/main" val="1430557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Събитийни флагове</a:t>
            </a:r>
            <a:endParaRPr lang="en-US" dirty="0"/>
          </a:p>
        </p:txBody>
      </p:sp>
      <p:sp>
        <p:nvSpPr>
          <p:cNvPr id="3" name="Content Placeholder 2"/>
          <p:cNvSpPr>
            <a:spLocks noGrp="1"/>
          </p:cNvSpPr>
          <p:nvPr>
            <p:ph idx="1"/>
          </p:nvPr>
        </p:nvSpPr>
        <p:spPr>
          <a:xfrm>
            <a:off x="908662" y="1143000"/>
            <a:ext cx="10748350" cy="5410200"/>
          </a:xfrm>
        </p:spPr>
        <p:txBody>
          <a:bodyPr>
            <a:normAutofit/>
          </a:bodyPr>
          <a:lstStyle/>
          <a:p>
            <a:pPr marL="519113" indent="-519113">
              <a:lnSpc>
                <a:spcPct val="80000"/>
              </a:lnSpc>
            </a:pPr>
            <a:r>
              <a:rPr lang="bg-BG" altLang="en-US" dirty="0"/>
              <a:t>Същност </a:t>
            </a:r>
            <a:endParaRPr lang="en-US" altLang="en-US" dirty="0"/>
          </a:p>
          <a:p>
            <a:pPr marL="993775" lvl="1" indent="-360363">
              <a:lnSpc>
                <a:spcPct val="80000"/>
              </a:lnSpc>
            </a:pPr>
            <a:r>
              <a:rPr lang="bg-BG" altLang="en-US" dirty="0" smtClean="0"/>
              <a:t>Б</a:t>
            </a:r>
            <a:r>
              <a:rPr lang="bg-BG" altLang="en-US" dirty="0"/>
              <a:t>у</a:t>
            </a:r>
            <a:r>
              <a:rPr lang="bg-BG" altLang="en-US" dirty="0" smtClean="0"/>
              <a:t>лева </a:t>
            </a:r>
            <a:r>
              <a:rPr lang="bg-BG" altLang="en-US" dirty="0"/>
              <a:t>променлива, достъпна от всички процеси/нишки, които трябва да се сигнализират/синхронизират.</a:t>
            </a:r>
          </a:p>
          <a:p>
            <a:pPr marL="993775" lvl="1" indent="-360363">
              <a:lnSpc>
                <a:spcPct val="80000"/>
              </a:lnSpc>
            </a:pPr>
            <a:r>
              <a:rPr lang="bg-BG" altLang="en-US" dirty="0"/>
              <a:t>Използвана за сигнализация ‘</a:t>
            </a:r>
            <a:r>
              <a:rPr lang="bg-BG" altLang="en-US" dirty="0" err="1"/>
              <a:t>един-към-много’</a:t>
            </a:r>
            <a:r>
              <a:rPr lang="en-US" altLang="en-US" dirty="0"/>
              <a:t>. </a:t>
            </a:r>
          </a:p>
          <a:p>
            <a:pPr marL="519113" indent="-519113">
              <a:lnSpc>
                <a:spcPct val="80000"/>
              </a:lnSpc>
              <a:spcBef>
                <a:spcPct val="60000"/>
              </a:spcBef>
            </a:pPr>
            <a:r>
              <a:rPr lang="bg-BG" altLang="en-US" dirty="0"/>
              <a:t>Операции</a:t>
            </a:r>
            <a:r>
              <a:rPr lang="en-US" altLang="en-US" dirty="0"/>
              <a:t>:</a:t>
            </a:r>
          </a:p>
          <a:p>
            <a:pPr marL="993775" lvl="1" indent="-360363">
              <a:lnSpc>
                <a:spcPct val="80000"/>
              </a:lnSpc>
            </a:pPr>
            <a:r>
              <a:rPr lang="en-US" altLang="en-US" i="1" dirty="0" err="1"/>
              <a:t>set_flag</a:t>
            </a:r>
            <a:r>
              <a:rPr lang="en-US" altLang="en-US" i="1" dirty="0"/>
              <a:t> , </a:t>
            </a:r>
            <a:r>
              <a:rPr lang="en-US" altLang="en-US" i="1" dirty="0" err="1"/>
              <a:t>read_flag</a:t>
            </a:r>
            <a:r>
              <a:rPr lang="en-US" altLang="en-US" i="1" dirty="0"/>
              <a:t>, </a:t>
            </a:r>
            <a:r>
              <a:rPr lang="en-US" altLang="en-US" i="1" dirty="0" err="1"/>
              <a:t>reset_flag</a:t>
            </a:r>
            <a:r>
              <a:rPr lang="en-US" altLang="en-US" i="1" dirty="0"/>
              <a:t>, </a:t>
            </a:r>
            <a:r>
              <a:rPr lang="en-US" altLang="en-US" i="1" dirty="0" err="1"/>
              <a:t>read_and_reset_flag</a:t>
            </a:r>
            <a:endParaRPr lang="en-US" altLang="en-US" i="1" dirty="0"/>
          </a:p>
          <a:p>
            <a:pPr marL="519113" indent="-519113">
              <a:lnSpc>
                <a:spcPct val="80000"/>
              </a:lnSpc>
              <a:spcBef>
                <a:spcPct val="60000"/>
              </a:spcBef>
            </a:pPr>
            <a:r>
              <a:rPr lang="bg-BG" altLang="en-US" dirty="0"/>
              <a:t>Проблеми</a:t>
            </a:r>
            <a:r>
              <a:rPr lang="en-US" altLang="en-US" dirty="0"/>
              <a:t>:</a:t>
            </a:r>
          </a:p>
          <a:p>
            <a:pPr marL="993775" lvl="1" indent="-360363">
              <a:lnSpc>
                <a:spcPct val="80000"/>
              </a:lnSpc>
            </a:pPr>
            <a:r>
              <a:rPr lang="bg-BG" altLang="en-US" dirty="0"/>
              <a:t>Обща памет или системни ресурси, достъпни от всички.</a:t>
            </a:r>
            <a:r>
              <a:rPr lang="en-US" altLang="en-US" dirty="0"/>
              <a:t> </a:t>
            </a:r>
          </a:p>
          <a:p>
            <a:pPr marL="993775" lvl="1" indent="-360363">
              <a:lnSpc>
                <a:spcPct val="80000"/>
              </a:lnSpc>
            </a:pPr>
            <a:r>
              <a:rPr lang="bg-BG" altLang="en-US" dirty="0"/>
              <a:t>Кой начално инициализира флага при ‘</a:t>
            </a:r>
            <a:r>
              <a:rPr lang="bg-BG" altLang="en-US" dirty="0" err="1"/>
              <a:t>един-към-много’</a:t>
            </a:r>
            <a:r>
              <a:rPr lang="bg-BG" altLang="en-US" dirty="0"/>
              <a:t> ?</a:t>
            </a:r>
            <a:r>
              <a:rPr lang="en-US" altLang="en-US" dirty="0"/>
              <a:t> </a:t>
            </a:r>
          </a:p>
          <a:p>
            <a:pPr marL="993775" lvl="1" indent="-360363">
              <a:lnSpc>
                <a:spcPct val="80000"/>
              </a:lnSpc>
            </a:pPr>
            <a:r>
              <a:rPr lang="bg-BG" altLang="en-US" dirty="0"/>
              <a:t>Състезание на сигнали</a:t>
            </a:r>
            <a:endParaRPr lang="en-US" altLang="en-US" dirty="0"/>
          </a:p>
        </p:txBody>
      </p:sp>
    </p:spTree>
    <p:extLst>
      <p:ext uri="{BB962C8B-B14F-4D97-AF65-F5344CB8AC3E}">
        <p14:creationId xmlns:p14="http://schemas.microsoft.com/office/powerpoint/2010/main" val="405923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Busy-waiting</a:t>
            </a:r>
            <a:endParaRPr lang="en-US" dirty="0"/>
          </a:p>
        </p:txBody>
      </p:sp>
      <p:sp>
        <p:nvSpPr>
          <p:cNvPr id="3" name="Content Placeholder 2"/>
          <p:cNvSpPr>
            <a:spLocks noGrp="1"/>
          </p:cNvSpPr>
          <p:nvPr>
            <p:ph idx="1"/>
          </p:nvPr>
        </p:nvSpPr>
        <p:spPr>
          <a:xfrm>
            <a:off x="908662" y="1143000"/>
            <a:ext cx="10976950" cy="5410200"/>
          </a:xfrm>
        </p:spPr>
        <p:txBody>
          <a:bodyPr>
            <a:normAutofit/>
          </a:bodyPr>
          <a:lstStyle/>
          <a:p>
            <a:pPr>
              <a:spcBef>
                <a:spcPts val="300"/>
              </a:spcBef>
            </a:pPr>
            <a:r>
              <a:rPr lang="bg-BG" sz="2800" dirty="0" smtClean="0"/>
              <a:t>Процесите автоматично инициализират и проверяват стойността на обща променлива</a:t>
            </a:r>
            <a:r>
              <a:rPr lang="en-GB" sz="2800" dirty="0" smtClean="0"/>
              <a:t>. </a:t>
            </a:r>
            <a:endParaRPr lang="en-US" sz="2800" dirty="0"/>
          </a:p>
          <a:p>
            <a:pPr lvl="1">
              <a:spcBef>
                <a:spcPts val="300"/>
              </a:spcBef>
            </a:pPr>
            <a:r>
              <a:rPr lang="bg-BG" sz="2400" dirty="0" smtClean="0"/>
              <a:t>Това е примитивен, но много ефективен метод</a:t>
            </a:r>
            <a:r>
              <a:rPr lang="en-GB" sz="2400" dirty="0" smtClean="0"/>
              <a:t>. </a:t>
            </a:r>
          </a:p>
          <a:p>
            <a:pPr>
              <a:spcBef>
                <a:spcPts val="300"/>
              </a:spcBef>
            </a:pPr>
            <a:r>
              <a:rPr lang="bg-BG" sz="2800" dirty="0" smtClean="0"/>
              <a:t>Лесно се реализира синхронизация по условие</a:t>
            </a:r>
            <a:r>
              <a:rPr lang="en-GB" sz="2800" dirty="0" smtClean="0"/>
              <a:t>: </a:t>
            </a:r>
            <a:endParaRPr lang="en-US" sz="2800" dirty="0"/>
          </a:p>
          <a:p>
            <a:pPr lvl="1">
              <a:spcBef>
                <a:spcPts val="300"/>
              </a:spcBef>
            </a:pPr>
            <a:r>
              <a:rPr lang="bg-BG" sz="2400" dirty="0" smtClean="0"/>
              <a:t>Сигнализиране за настъпило условие - променливата получава стойност 1.</a:t>
            </a:r>
            <a:r>
              <a:rPr lang="en-GB" sz="2400" dirty="0" smtClean="0"/>
              <a:t> </a:t>
            </a:r>
            <a:endParaRPr lang="en-US" sz="2400" dirty="0"/>
          </a:p>
          <a:p>
            <a:pPr lvl="1">
              <a:spcBef>
                <a:spcPts val="300"/>
              </a:spcBef>
            </a:pPr>
            <a:r>
              <a:rPr lang="bg-BG" sz="2400" dirty="0" smtClean="0"/>
              <a:t>Изчакване - чрез циклична проверка, докато променливата е със стойност 0.</a:t>
            </a:r>
            <a:r>
              <a:rPr lang="en-GB" sz="2400" dirty="0" smtClean="0"/>
              <a:t> </a:t>
            </a:r>
            <a:endParaRPr lang="bg-BG" sz="2400" dirty="0" smtClean="0"/>
          </a:p>
          <a:p>
            <a:pPr>
              <a:spcBef>
                <a:spcPts val="300"/>
              </a:spcBef>
            </a:pPr>
            <a:endParaRPr lang="en-US" sz="2400" dirty="0"/>
          </a:p>
        </p:txBody>
      </p:sp>
      <p:sp>
        <p:nvSpPr>
          <p:cNvPr id="4" name="TextBox 3"/>
          <p:cNvSpPr txBox="1"/>
          <p:nvPr/>
        </p:nvSpPr>
        <p:spPr>
          <a:xfrm>
            <a:off x="3122612" y="2523563"/>
            <a:ext cx="4191000" cy="3046988"/>
          </a:xfrm>
          <a:prstGeom prst="rect">
            <a:avLst/>
          </a:prstGeom>
          <a:solidFill>
            <a:srgbClr val="FFC000"/>
          </a:solidFill>
        </p:spPr>
        <p:txBody>
          <a:bodyPr wrap="square" rtlCol="0">
            <a:spAutoFit/>
          </a:bodyPr>
          <a:lstStyle/>
          <a:p>
            <a:r>
              <a:rPr lang="en-GB" sz="2400" dirty="0" err="1" smtClean="0">
                <a:solidFill>
                  <a:schemeClr val="tx2"/>
                </a:solidFill>
                <a:latin typeface="Calibri" panose="020F0502020204030204" pitchFamily="34" charset="0"/>
              </a:rPr>
              <a:t>int</a:t>
            </a:r>
            <a:r>
              <a:rPr lang="en-GB" sz="2400" dirty="0" smtClean="0">
                <a:solidFill>
                  <a:schemeClr val="tx2"/>
                </a:solidFill>
                <a:latin typeface="Calibri" panose="020F0502020204030204" pitchFamily="34" charset="0"/>
              </a:rPr>
              <a:t> _Ready </a:t>
            </a:r>
            <a:r>
              <a:rPr lang="en-GB" sz="2400" dirty="0">
                <a:solidFill>
                  <a:schemeClr val="tx2"/>
                </a:solidFill>
                <a:latin typeface="Calibri" panose="020F0502020204030204" pitchFamily="34" charset="0"/>
              </a:rPr>
              <a:t>= </a:t>
            </a:r>
            <a:r>
              <a:rPr lang="en-GB" sz="2400" dirty="0" smtClean="0">
                <a:solidFill>
                  <a:schemeClr val="tx2"/>
                </a:solidFill>
                <a:latin typeface="Calibri" panose="020F0502020204030204" pitchFamily="34" charset="0"/>
              </a:rPr>
              <a:t>0;</a:t>
            </a:r>
            <a:r>
              <a:rPr lang="en-GB" sz="2400" dirty="0">
                <a:solidFill>
                  <a:schemeClr val="tx2"/>
                </a:solidFill>
                <a:latin typeface="Calibri" panose="020F0502020204030204" pitchFamily="34" charset="0"/>
              </a:rPr>
              <a:t/>
            </a:r>
            <a:br>
              <a:rPr lang="en-GB" sz="2400" dirty="0">
                <a:solidFill>
                  <a:schemeClr val="tx2"/>
                </a:solidFill>
                <a:latin typeface="Calibri" panose="020F0502020204030204" pitchFamily="34" charset="0"/>
              </a:rPr>
            </a:br>
            <a:r>
              <a:rPr lang="en-GB" sz="2400" dirty="0">
                <a:solidFill>
                  <a:schemeClr val="tx2"/>
                </a:solidFill>
                <a:latin typeface="Calibri" panose="020F0502020204030204" pitchFamily="34" charset="0"/>
              </a:rPr>
              <a:t>function A()</a:t>
            </a:r>
            <a:br>
              <a:rPr lang="en-GB" sz="2400" dirty="0">
                <a:solidFill>
                  <a:schemeClr val="tx2"/>
                </a:solidFill>
                <a:latin typeface="Calibri" panose="020F0502020204030204" pitchFamily="34" charset="0"/>
              </a:rPr>
            </a:br>
            <a:r>
              <a:rPr lang="en-GB" sz="2400" dirty="0">
                <a:solidFill>
                  <a:schemeClr val="tx2"/>
                </a:solidFill>
                <a:latin typeface="Calibri" panose="020F0502020204030204" pitchFamily="34" charset="0"/>
              </a:rPr>
              <a:t>{</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 </a:t>
            </a:r>
            <a:r>
              <a:rPr lang="en-GB" sz="2400" dirty="0">
                <a:solidFill>
                  <a:schemeClr val="tx2"/>
                </a:solidFill>
                <a:latin typeface="Calibri" panose="020F0502020204030204" pitchFamily="34" charset="0"/>
              </a:rPr>
              <a:t>.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 </a:t>
            </a:r>
            <a:r>
              <a:rPr lang="en-GB" sz="2400" dirty="0">
                <a:solidFill>
                  <a:schemeClr val="tx2"/>
                </a:solidFill>
                <a:latin typeface="Calibri" panose="020F0502020204030204" pitchFamily="34" charset="0"/>
              </a:rPr>
              <a:t>signal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_</a:t>
            </a:r>
            <a:r>
              <a:rPr lang="en-GB" sz="2400" b="1" dirty="0" smtClean="0">
                <a:solidFill>
                  <a:schemeClr val="tx2"/>
                </a:solidFill>
                <a:latin typeface="Calibri" panose="020F0502020204030204" pitchFamily="34" charset="0"/>
              </a:rPr>
              <a:t>Ready </a:t>
            </a:r>
            <a:r>
              <a:rPr lang="en-GB" sz="2400" b="1" dirty="0">
                <a:solidFill>
                  <a:schemeClr val="tx2"/>
                </a:solidFill>
                <a:latin typeface="Calibri" panose="020F0502020204030204" pitchFamily="34" charset="0"/>
              </a:rPr>
              <a:t>= </a:t>
            </a:r>
            <a:r>
              <a:rPr lang="en-GB" sz="2400" b="1" dirty="0" smtClean="0">
                <a:solidFill>
                  <a:schemeClr val="tx2"/>
                </a:solidFill>
                <a:latin typeface="Calibri" panose="020F0502020204030204" pitchFamily="34" charset="0"/>
              </a:rPr>
              <a:t>1;</a:t>
            </a:r>
            <a:r>
              <a:rPr lang="en-GB" sz="2400" dirty="0">
                <a:solidFill>
                  <a:schemeClr val="tx2"/>
                </a:solidFill>
                <a:latin typeface="Calibri" panose="020F0502020204030204" pitchFamily="34" charset="0"/>
              </a:rPr>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 </a:t>
            </a:r>
            <a:r>
              <a:rPr lang="en-GB" sz="2400" dirty="0">
                <a:solidFill>
                  <a:schemeClr val="tx2"/>
                </a:solidFill>
                <a:latin typeface="Calibri" panose="020F0502020204030204" pitchFamily="34" charset="0"/>
              </a:rPr>
              <a:t>.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a:t>
            </a:r>
            <a:endParaRPr lang="en-US" sz="2400" dirty="0">
              <a:solidFill>
                <a:schemeClr val="tx2"/>
              </a:solidFill>
              <a:latin typeface="Calibri" panose="020F0502020204030204" pitchFamily="34" charset="0"/>
            </a:endParaRPr>
          </a:p>
        </p:txBody>
      </p:sp>
      <p:sp>
        <p:nvSpPr>
          <p:cNvPr id="5" name="TextBox 4"/>
          <p:cNvSpPr txBox="1"/>
          <p:nvPr/>
        </p:nvSpPr>
        <p:spPr>
          <a:xfrm>
            <a:off x="7618412" y="2550616"/>
            <a:ext cx="4191000" cy="4154984"/>
          </a:xfrm>
          <a:prstGeom prst="rect">
            <a:avLst/>
          </a:prstGeom>
          <a:solidFill>
            <a:srgbClr val="FFC000"/>
          </a:solidFill>
        </p:spPr>
        <p:txBody>
          <a:bodyPr wrap="square" rtlCol="0">
            <a:spAutoFit/>
          </a:bodyPr>
          <a:lstStyle/>
          <a:p>
            <a:r>
              <a:rPr lang="en-GB" sz="2400" dirty="0">
                <a:solidFill>
                  <a:schemeClr val="tx2"/>
                </a:solidFill>
                <a:latin typeface="Calibri" panose="020F0502020204030204" pitchFamily="34" charset="0"/>
              </a:rPr>
              <a:t>e</a:t>
            </a:r>
            <a:r>
              <a:rPr lang="en-GB" sz="2400" dirty="0" smtClean="0">
                <a:solidFill>
                  <a:schemeClr val="tx2"/>
                </a:solidFill>
                <a:latin typeface="Calibri" panose="020F0502020204030204" pitchFamily="34" charset="0"/>
              </a:rPr>
              <a:t>xtern </a:t>
            </a:r>
            <a:r>
              <a:rPr lang="en-GB" sz="2400" dirty="0" err="1" smtClean="0">
                <a:solidFill>
                  <a:schemeClr val="tx2"/>
                </a:solidFill>
                <a:latin typeface="Calibri" panose="020F0502020204030204" pitchFamily="34" charset="0"/>
              </a:rPr>
              <a:t>int</a:t>
            </a:r>
            <a:r>
              <a:rPr lang="en-GB" sz="2400" dirty="0" smtClean="0">
                <a:solidFill>
                  <a:schemeClr val="tx2"/>
                </a:solidFill>
                <a:latin typeface="Calibri" panose="020F0502020204030204" pitchFamily="34" charset="0"/>
              </a:rPr>
              <a:t>  _Ready;</a:t>
            </a:r>
            <a:r>
              <a:rPr lang="en-GB" sz="2400" dirty="0">
                <a:solidFill>
                  <a:schemeClr val="tx2"/>
                </a:solidFill>
                <a:latin typeface="Calibri" panose="020F0502020204030204" pitchFamily="34" charset="0"/>
              </a:rPr>
              <a:t/>
            </a:r>
            <a:br>
              <a:rPr lang="en-GB" sz="2400" dirty="0">
                <a:solidFill>
                  <a:schemeClr val="tx2"/>
                </a:solidFill>
                <a:latin typeface="Calibri" panose="020F0502020204030204" pitchFamily="34" charset="0"/>
              </a:rPr>
            </a:br>
            <a:r>
              <a:rPr lang="en-GB" sz="2400" dirty="0">
                <a:solidFill>
                  <a:schemeClr val="tx2"/>
                </a:solidFill>
                <a:latin typeface="Calibri" panose="020F0502020204030204" pitchFamily="34" charset="0"/>
              </a:rPr>
              <a:t>function </a:t>
            </a:r>
            <a:r>
              <a:rPr lang="en-GB" sz="2400" dirty="0" smtClean="0">
                <a:solidFill>
                  <a:schemeClr val="tx2"/>
                </a:solidFill>
                <a:latin typeface="Calibri" panose="020F0502020204030204" pitchFamily="34" charset="0"/>
              </a:rPr>
              <a:t>B()</a:t>
            </a:r>
            <a:r>
              <a:rPr lang="en-GB" sz="2400" dirty="0">
                <a:solidFill>
                  <a:schemeClr val="tx2"/>
                </a:solidFill>
                <a:latin typeface="Calibri" panose="020F0502020204030204" pitchFamily="34" charset="0"/>
              </a:rPr>
              <a:t/>
            </a:r>
            <a:br>
              <a:rPr lang="en-GB" sz="2400" dirty="0">
                <a:solidFill>
                  <a:schemeClr val="tx2"/>
                </a:solidFill>
                <a:latin typeface="Calibri" panose="020F0502020204030204" pitchFamily="34" charset="0"/>
              </a:rPr>
            </a:br>
            <a:r>
              <a:rPr lang="en-GB" sz="2400" dirty="0">
                <a:solidFill>
                  <a:schemeClr val="tx2"/>
                </a:solidFill>
                <a:latin typeface="Calibri" panose="020F0502020204030204" pitchFamily="34" charset="0"/>
              </a:rPr>
              <a:t>{</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 </a:t>
            </a:r>
            <a:r>
              <a:rPr lang="en-GB" sz="2400" dirty="0">
                <a:solidFill>
                  <a:schemeClr val="tx2"/>
                </a:solidFill>
                <a:latin typeface="Calibri" panose="020F0502020204030204" pitchFamily="34" charset="0"/>
              </a:rPr>
              <a:t>.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a:t>
            </a:r>
            <a:r>
              <a:rPr lang="en-GB" sz="2400" b="1" dirty="0" smtClean="0">
                <a:solidFill>
                  <a:schemeClr val="tx2"/>
                </a:solidFill>
                <a:latin typeface="Calibri" panose="020F0502020204030204" pitchFamily="34" charset="0"/>
              </a:rPr>
              <a:t>if ( _Ready == 0 )</a:t>
            </a:r>
            <a:r>
              <a:rPr lang="bg-BG" sz="2400" b="1" dirty="0" smtClean="0">
                <a:solidFill>
                  <a:schemeClr val="tx2"/>
                </a:solidFill>
                <a:latin typeface="Calibri" panose="020F0502020204030204" pitchFamily="34" charset="0"/>
              </a:rPr>
              <a:t> </a:t>
            </a:r>
            <a:r>
              <a:rPr lang="en-GB" sz="2400" dirty="0" smtClean="0">
                <a:solidFill>
                  <a:schemeClr val="tx2"/>
                </a:solidFill>
                <a:latin typeface="Calibri" panose="020F0502020204030204" pitchFamily="34" charset="0"/>
              </a:rPr>
              <a:t>{</a:t>
            </a:r>
            <a:r>
              <a:rPr lang="en-GB" sz="2400" dirty="0">
                <a:solidFill>
                  <a:schemeClr val="tx2"/>
                </a:solidFill>
                <a:latin typeface="Calibri" panose="020F0502020204030204" pitchFamily="34" charset="0"/>
              </a:rPr>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a:t>
            </a:r>
            <a:r>
              <a:rPr lang="en-GB" sz="2400" dirty="0">
                <a:solidFill>
                  <a:schemeClr val="tx2"/>
                </a:solidFill>
                <a:latin typeface="Calibri" panose="020F0502020204030204" pitchFamily="34" charset="0"/>
              </a:rPr>
              <a:t>   wait 300 </a:t>
            </a:r>
            <a:r>
              <a:rPr lang="en-GB" sz="2400" dirty="0" err="1" smtClean="0">
                <a:solidFill>
                  <a:schemeClr val="tx2"/>
                </a:solidFill>
                <a:latin typeface="Calibri" panose="020F0502020204030204" pitchFamily="34" charset="0"/>
              </a:rPr>
              <a:t>ms</a:t>
            </a:r>
            <a:r>
              <a:rPr lang="en-GB" sz="2400" dirty="0">
                <a:solidFill>
                  <a:schemeClr val="tx2"/>
                </a:solidFill>
                <a:latin typeface="Calibri" panose="020F0502020204030204" pitchFamily="34" charset="0"/>
              </a:rPr>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a:t>
            </a:r>
            <a:r>
              <a:rPr lang="en-GB" sz="2400" dirty="0">
                <a:solidFill>
                  <a:schemeClr val="tx2"/>
                </a:solidFill>
                <a:latin typeface="Calibri" panose="020F0502020204030204" pitchFamily="34" charset="0"/>
              </a:rPr>
              <a:t>   </a:t>
            </a:r>
            <a:r>
              <a:rPr lang="en-GB" sz="2400" dirty="0" smtClean="0">
                <a:solidFill>
                  <a:schemeClr val="tx2"/>
                </a:solidFill>
                <a:latin typeface="Calibri" panose="020F0502020204030204" pitchFamily="34" charset="0"/>
              </a:rPr>
              <a:t>     </a:t>
            </a:r>
            <a:r>
              <a:rPr lang="en-GB" sz="2400" dirty="0" err="1" smtClean="0">
                <a:solidFill>
                  <a:schemeClr val="tx2"/>
                </a:solidFill>
                <a:latin typeface="Calibri" panose="020F0502020204030204" pitchFamily="34" charset="0"/>
              </a:rPr>
              <a:t>setTimeout</a:t>
            </a:r>
            <a:r>
              <a:rPr lang="en-GB" sz="2400" dirty="0">
                <a:solidFill>
                  <a:schemeClr val="tx2"/>
                </a:solidFill>
                <a:latin typeface="Calibri" panose="020F0502020204030204" pitchFamily="34" charset="0"/>
              </a:rPr>
              <a:t>("B</a:t>
            </a:r>
            <a:r>
              <a:rPr lang="en-GB" sz="2400" dirty="0" smtClean="0">
                <a:solidFill>
                  <a:schemeClr val="tx2"/>
                </a:solidFill>
                <a:latin typeface="Calibri" panose="020F0502020204030204" pitchFamily="34" charset="0"/>
              </a:rPr>
              <a:t>()",</a:t>
            </a:r>
            <a:r>
              <a:rPr lang="bg-BG" sz="2400" dirty="0" smtClean="0">
                <a:solidFill>
                  <a:schemeClr val="tx2"/>
                </a:solidFill>
                <a:latin typeface="Calibri" panose="020F0502020204030204" pitchFamily="34" charset="0"/>
              </a:rPr>
              <a:t> </a:t>
            </a:r>
            <a:r>
              <a:rPr lang="en-GB" sz="2400" dirty="0" smtClean="0">
                <a:solidFill>
                  <a:schemeClr val="tx2"/>
                </a:solidFill>
                <a:latin typeface="Calibri" panose="020F0502020204030204" pitchFamily="34" charset="0"/>
              </a:rPr>
              <a:t>300); </a:t>
            </a:r>
            <a:br>
              <a:rPr lang="en-GB" sz="2400" dirty="0" smtClean="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return;</a:t>
            </a:r>
          </a:p>
          <a:p>
            <a:r>
              <a:rPr lang="en-GB" sz="2400" dirty="0">
                <a:solidFill>
                  <a:schemeClr val="tx2"/>
                </a:solidFill>
                <a:latin typeface="Calibri" panose="020F0502020204030204" pitchFamily="34" charset="0"/>
              </a:rPr>
              <a:t> </a:t>
            </a:r>
            <a:r>
              <a:rPr lang="en-GB" sz="2400" dirty="0" smtClean="0">
                <a:solidFill>
                  <a:schemeClr val="tx2"/>
                </a:solidFill>
                <a:latin typeface="Calibri" panose="020F0502020204030204" pitchFamily="34" charset="0"/>
              </a:rPr>
              <a:t>     }</a:t>
            </a:r>
            <a:r>
              <a:rPr lang="en-GB" sz="2400" dirty="0">
                <a:solidFill>
                  <a:schemeClr val="tx2"/>
                </a:solidFill>
                <a:latin typeface="Calibri" panose="020F0502020204030204" pitchFamily="34" charset="0"/>
              </a:rPr>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     . </a:t>
            </a:r>
            <a:r>
              <a:rPr lang="en-GB" sz="2400" dirty="0">
                <a:solidFill>
                  <a:schemeClr val="tx2"/>
                </a:solidFill>
                <a:latin typeface="Calibri" panose="020F0502020204030204" pitchFamily="34" charset="0"/>
              </a:rPr>
              <a:t>. .</a:t>
            </a:r>
            <a:br>
              <a:rPr lang="en-GB" sz="2400" dirty="0">
                <a:solidFill>
                  <a:schemeClr val="tx2"/>
                </a:solidFill>
                <a:latin typeface="Calibri" panose="020F0502020204030204" pitchFamily="34" charset="0"/>
              </a:rPr>
            </a:br>
            <a:r>
              <a:rPr lang="en-GB" sz="2400" dirty="0" smtClean="0">
                <a:solidFill>
                  <a:schemeClr val="tx2"/>
                </a:solidFill>
                <a:latin typeface="Calibri" panose="020F0502020204030204" pitchFamily="34" charset="0"/>
              </a:rPr>
              <a:t>}</a:t>
            </a:r>
            <a:endParaRPr lang="en-US" sz="2400" dirty="0">
              <a:solidFill>
                <a:schemeClr val="tx2"/>
              </a:solidFill>
              <a:latin typeface="Calibri" panose="020F0502020204030204" pitchFamily="34" charset="0"/>
            </a:endParaRPr>
          </a:p>
        </p:txBody>
      </p:sp>
    </p:spTree>
    <p:extLst>
      <p:ext uri="{BB962C8B-B14F-4D97-AF65-F5344CB8AC3E}">
        <p14:creationId xmlns:p14="http://schemas.microsoft.com/office/powerpoint/2010/main" val="337888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Семафори</a:t>
            </a:r>
            <a:endParaRPr lang="en-US" dirty="0"/>
          </a:p>
        </p:txBody>
      </p:sp>
      <p:sp>
        <p:nvSpPr>
          <p:cNvPr id="3" name="Content Placeholder 2"/>
          <p:cNvSpPr>
            <a:spLocks noGrp="1"/>
          </p:cNvSpPr>
          <p:nvPr>
            <p:ph idx="1"/>
          </p:nvPr>
        </p:nvSpPr>
        <p:spPr>
          <a:xfrm>
            <a:off x="908662" y="1143000"/>
            <a:ext cx="10748350" cy="5410200"/>
          </a:xfrm>
        </p:spPr>
        <p:txBody>
          <a:bodyPr>
            <a:normAutofit fontScale="92500" lnSpcReduction="10000"/>
          </a:bodyPr>
          <a:lstStyle/>
          <a:p>
            <a:r>
              <a:rPr lang="bg-BG" dirty="0"/>
              <a:t>Семафорите са предложени от </a:t>
            </a:r>
            <a:r>
              <a:rPr lang="bg-BG" dirty="0" err="1"/>
              <a:t>Дийкстра</a:t>
            </a:r>
            <a:r>
              <a:rPr lang="bg-BG" dirty="0"/>
              <a:t> (</a:t>
            </a:r>
            <a:r>
              <a:rPr lang="en-GB" dirty="0"/>
              <a:t>Dijkstra</a:t>
            </a:r>
            <a:r>
              <a:rPr lang="bg-BG" dirty="0"/>
              <a:t>, 1968) като примитив от високо ниво за синхронизация на процесите.</a:t>
            </a:r>
            <a:endParaRPr lang="en-GB" dirty="0"/>
          </a:p>
          <a:p>
            <a:pPr lvl="1"/>
            <a:r>
              <a:rPr lang="bg-BG" dirty="0"/>
              <a:t>Това е метод, реализиращ взаимно изключване</a:t>
            </a:r>
          </a:p>
          <a:p>
            <a:pPr lvl="2"/>
            <a:r>
              <a:rPr lang="en-US" dirty="0"/>
              <a:t>“</a:t>
            </a:r>
            <a:r>
              <a:rPr lang="bg-BG" dirty="0"/>
              <a:t>Аз съм готов, т.е. вие можете да продължите работата си.</a:t>
            </a:r>
            <a:r>
              <a:rPr lang="en-US" dirty="0"/>
              <a:t>”</a:t>
            </a:r>
          </a:p>
          <a:p>
            <a:pPr lvl="1"/>
            <a:r>
              <a:rPr lang="bg-BG" dirty="0" smtClean="0"/>
              <a:t>Семафорът е неотрицателна целочислена променлива </a:t>
            </a:r>
            <a:r>
              <a:rPr lang="en-US" dirty="0" smtClean="0">
                <a:effectLst>
                  <a:outerShdw blurRad="38100" dist="38100" dir="2700000" algn="tl">
                    <a:srgbClr val="000000">
                      <a:alpha val="43137"/>
                    </a:srgbClr>
                  </a:outerShdw>
                </a:effectLst>
              </a:rPr>
              <a:t>S</a:t>
            </a:r>
            <a:r>
              <a:rPr lang="bg-BG" dirty="0" smtClean="0"/>
              <a:t>, чиято стойност се задава при създаването, но не се манипулира директно.</a:t>
            </a:r>
          </a:p>
          <a:p>
            <a:pPr lvl="1"/>
            <a:r>
              <a:rPr lang="bg-BG" dirty="0" smtClean="0"/>
              <a:t>Реализирани са две атомарни операции за достъп</a:t>
            </a:r>
            <a:r>
              <a:rPr lang="en-GB" dirty="0" smtClean="0"/>
              <a:t>:</a:t>
            </a:r>
            <a:endParaRPr lang="en-US" dirty="0"/>
          </a:p>
          <a:p>
            <a:pPr lvl="2"/>
            <a:r>
              <a:rPr lang="en-GB" b="1" dirty="0"/>
              <a:t>P(s</a:t>
            </a:r>
            <a:r>
              <a:rPr lang="en-GB" b="1" dirty="0" smtClean="0"/>
              <a:t>) </a:t>
            </a:r>
            <a:r>
              <a:rPr lang="en-GB" dirty="0" smtClean="0"/>
              <a:t>, </a:t>
            </a:r>
            <a:r>
              <a:rPr lang="bg-BG" dirty="0" smtClean="0"/>
              <a:t>т.е. </a:t>
            </a:r>
            <a:r>
              <a:rPr lang="en-US" dirty="0" smtClean="0"/>
              <a:t>wait</a:t>
            </a:r>
            <a:r>
              <a:rPr lang="bg-BG" dirty="0" smtClean="0"/>
              <a:t>(</a:t>
            </a:r>
            <a:r>
              <a:rPr lang="en-US" dirty="0" smtClean="0"/>
              <a:t>) </a:t>
            </a:r>
            <a:r>
              <a:rPr lang="bg-BG" dirty="0" smtClean="0"/>
              <a:t>-&gt;</a:t>
            </a:r>
            <a:r>
              <a:rPr lang="bg-BG" b="1" dirty="0" smtClean="0"/>
              <a:t> </a:t>
            </a:r>
            <a:r>
              <a:rPr lang="en-GB" dirty="0"/>
              <a:t>s := </a:t>
            </a:r>
            <a:r>
              <a:rPr lang="en-GB" dirty="0" smtClean="0"/>
              <a:t>s-1</a:t>
            </a:r>
            <a:r>
              <a:rPr lang="bg-BG" dirty="0" smtClean="0"/>
              <a:t>;</a:t>
            </a:r>
            <a:r>
              <a:rPr lang="en-GB" dirty="0" smtClean="0"/>
              <a:t> </a:t>
            </a:r>
            <a:r>
              <a:rPr lang="bg-BG" dirty="0" smtClean="0"/>
              <a:t>ако променливата е неотрицателна, то извикващия процес се блокира, докато </a:t>
            </a:r>
            <a:r>
              <a:rPr lang="en-GB" dirty="0"/>
              <a:t>s</a:t>
            </a:r>
            <a:r>
              <a:rPr lang="bg-BG" dirty="0" smtClean="0"/>
              <a:t> &gt;= 1</a:t>
            </a:r>
            <a:br>
              <a:rPr lang="bg-BG" dirty="0" smtClean="0"/>
            </a:br>
            <a:r>
              <a:rPr lang="en-GB" b="1" dirty="0" smtClean="0"/>
              <a:t>V(s)</a:t>
            </a:r>
            <a:r>
              <a:rPr lang="bg-BG" b="1" dirty="0" smtClean="0"/>
              <a:t> </a:t>
            </a:r>
            <a:r>
              <a:rPr lang="bg-BG" dirty="0" smtClean="0"/>
              <a:t>, т.е. сигнал() -&gt;</a:t>
            </a:r>
            <a:r>
              <a:rPr lang="bg-BG" b="1" dirty="0" smtClean="0"/>
              <a:t> </a:t>
            </a:r>
            <a:r>
              <a:rPr lang="en-GB" dirty="0" smtClean="0"/>
              <a:t>s</a:t>
            </a:r>
            <a:r>
              <a:rPr lang="en-GB" dirty="0"/>
              <a:t>:= </a:t>
            </a:r>
            <a:r>
              <a:rPr lang="en-GB" dirty="0" smtClean="0"/>
              <a:t>s+1; </a:t>
            </a:r>
            <a:r>
              <a:rPr lang="bg-BG" dirty="0" smtClean="0"/>
              <a:t>ако </a:t>
            </a:r>
            <a:r>
              <a:rPr lang="en-GB" dirty="0" smtClean="0"/>
              <a:t> </a:t>
            </a:r>
            <a:r>
              <a:rPr lang="en-GB" dirty="0"/>
              <a:t>s</a:t>
            </a:r>
            <a:r>
              <a:rPr lang="bg-BG" dirty="0"/>
              <a:t> </a:t>
            </a:r>
            <a:r>
              <a:rPr lang="bg-BG" dirty="0" smtClean="0"/>
              <a:t>&lt;= 0, то </a:t>
            </a:r>
            <a:r>
              <a:rPr lang="bg-BG" dirty="0" err="1"/>
              <a:t>то</a:t>
            </a:r>
            <a:r>
              <a:rPr lang="bg-BG" dirty="0"/>
              <a:t> извикващия процес се </a:t>
            </a:r>
            <a:r>
              <a:rPr lang="bg-BG" dirty="0" err="1" smtClean="0"/>
              <a:t>разблокира</a:t>
            </a:r>
            <a:r>
              <a:rPr lang="bg-BG" dirty="0" smtClean="0"/>
              <a:t>.</a:t>
            </a:r>
            <a:endParaRPr lang="en-US" dirty="0"/>
          </a:p>
          <a:p>
            <a:r>
              <a:rPr lang="bg-BG" dirty="0" smtClean="0"/>
              <a:t>Две основни реализации</a:t>
            </a:r>
          </a:p>
          <a:p>
            <a:pPr lvl="1"/>
            <a:r>
              <a:rPr lang="bg-BG" dirty="0" smtClean="0"/>
              <a:t>Двоични семафори -&gt; </a:t>
            </a:r>
            <a:r>
              <a:rPr lang="en-US" dirty="0" smtClean="0">
                <a:effectLst>
                  <a:outerShdw blurRad="38100" dist="38100" dir="2700000" algn="tl">
                    <a:srgbClr val="000000">
                      <a:alpha val="43137"/>
                    </a:srgbClr>
                  </a:outerShdw>
                </a:effectLst>
              </a:rPr>
              <a:t>S</a:t>
            </a:r>
            <a:r>
              <a:rPr lang="bg-BG" dirty="0" smtClean="0"/>
              <a:t> има само стойности </a:t>
            </a:r>
            <a:r>
              <a:rPr lang="en-GB" dirty="0" smtClean="0"/>
              <a:t>0 </a:t>
            </a:r>
            <a:r>
              <a:rPr lang="bg-BG" dirty="0" smtClean="0"/>
              <a:t>и</a:t>
            </a:r>
            <a:r>
              <a:rPr lang="en-GB" dirty="0" smtClean="0"/>
              <a:t> 1 </a:t>
            </a:r>
            <a:endParaRPr lang="bg-BG" dirty="0" smtClean="0"/>
          </a:p>
          <a:p>
            <a:pPr lvl="1"/>
            <a:r>
              <a:rPr lang="bg-BG" dirty="0" smtClean="0"/>
              <a:t>Броячни семафори -&gt; </a:t>
            </a:r>
            <a:r>
              <a:rPr lang="en-US" dirty="0">
                <a:effectLst>
                  <a:outerShdw blurRad="38100" dist="38100" dir="2700000" algn="tl">
                    <a:srgbClr val="000000">
                      <a:alpha val="43137"/>
                    </a:srgbClr>
                  </a:outerShdw>
                </a:effectLst>
              </a:rPr>
              <a:t>S</a:t>
            </a:r>
            <a:r>
              <a:rPr lang="bg-BG" dirty="0"/>
              <a:t> </a:t>
            </a:r>
            <a:r>
              <a:rPr lang="bg-BG" dirty="0" smtClean="0"/>
              <a:t>може да има стойности </a:t>
            </a:r>
            <a:r>
              <a:rPr lang="en-US" dirty="0" smtClean="0"/>
              <a:t>[0,N]</a:t>
            </a:r>
            <a:r>
              <a:rPr lang="bg-BG" dirty="0" smtClean="0"/>
              <a:t>.</a:t>
            </a:r>
          </a:p>
          <a:p>
            <a:pPr lvl="1"/>
            <a:endParaRPr lang="bg-BG" dirty="0" smtClean="0"/>
          </a:p>
          <a:p>
            <a:endParaRPr lang="en-US" dirty="0"/>
          </a:p>
        </p:txBody>
      </p:sp>
      <p:pic>
        <p:nvPicPr>
          <p:cNvPr id="4" name="Picture 3"/>
          <p:cNvPicPr>
            <a:picLocks noChangeAspect="1"/>
          </p:cNvPicPr>
          <p:nvPr/>
        </p:nvPicPr>
        <p:blipFill>
          <a:blip r:embed="rId3"/>
          <a:stretch>
            <a:fillRect/>
          </a:stretch>
        </p:blipFill>
        <p:spPr>
          <a:xfrm>
            <a:off x="1370012" y="3455276"/>
            <a:ext cx="9982200" cy="3101360"/>
          </a:xfrm>
          <a:prstGeom prst="rect">
            <a:avLst/>
          </a:prstGeom>
        </p:spPr>
      </p:pic>
    </p:spTree>
    <p:extLst>
      <p:ext uri="{BB962C8B-B14F-4D97-AF65-F5344CB8AC3E}">
        <p14:creationId xmlns:p14="http://schemas.microsoft.com/office/powerpoint/2010/main" val="1317627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nodeType="clickEffect">
                                  <p:stCondLst>
                                    <p:cond delay="0"/>
                                  </p:stCondLst>
                                  <p:childTnLst>
                                    <p:animEffect transition="out" filter="wipe(down)">
                                      <p:cBhvr>
                                        <p:cTn id="10" dur="500"/>
                                        <p:tgtEl>
                                          <p:spTgt spid="4"/>
                                        </p:tgtEl>
                                      </p:cBhvr>
                                    </p:animEffect>
                                    <p:set>
                                      <p:cBhvr>
                                        <p:cTn id="11" dur="1" fill="hold">
                                          <p:stCondLst>
                                            <p:cond delay="499"/>
                                          </p:stCondLst>
                                        </p:cTn>
                                        <p:tgtEl>
                                          <p:spTgt spid="4"/>
                                        </p:tgtEl>
                                        <p:attrNameLst>
                                          <p:attrName>style.visibility</p:attrName>
                                        </p:attrNameLst>
                                      </p:cBhvr>
                                      <p:to>
                                        <p:strVal val="hidden"/>
                                      </p:to>
                                    </p:set>
                                  </p:childTnLst>
                                </p:cTn>
                              </p:par>
                              <p:par>
                                <p:cTn id="12" presetID="1" presetClass="entr" presetSubtype="0" fill="hold" nodeType="with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Семафори</a:t>
            </a:r>
            <a:endParaRPr lang="en-US" dirty="0"/>
          </a:p>
        </p:txBody>
      </p:sp>
      <p:sp>
        <p:nvSpPr>
          <p:cNvPr id="3" name="Content Placeholder 2"/>
          <p:cNvSpPr>
            <a:spLocks noGrp="1"/>
          </p:cNvSpPr>
          <p:nvPr>
            <p:ph idx="1"/>
          </p:nvPr>
        </p:nvSpPr>
        <p:spPr>
          <a:xfrm>
            <a:off x="908662" y="1143000"/>
            <a:ext cx="10748350" cy="5410200"/>
          </a:xfrm>
        </p:spPr>
        <p:txBody>
          <a:bodyPr>
            <a:normAutofit/>
          </a:bodyPr>
          <a:lstStyle/>
          <a:p>
            <a:pPr>
              <a:spcBef>
                <a:spcPts val="300"/>
              </a:spcBef>
            </a:pPr>
            <a:r>
              <a:rPr lang="bg-BG" sz="2800" dirty="0"/>
              <a:t>Кога се използва ?</a:t>
            </a:r>
          </a:p>
          <a:p>
            <a:pPr lvl="1">
              <a:spcBef>
                <a:spcPts val="300"/>
              </a:spcBef>
            </a:pPr>
            <a:r>
              <a:rPr lang="bg-BG" sz="2400" dirty="0"/>
              <a:t>Брояч, който позволява точно определен брой хора да закупят билети за самолет (само седящи места).</a:t>
            </a:r>
          </a:p>
          <a:p>
            <a:pPr lvl="1">
              <a:spcBef>
                <a:spcPts val="300"/>
              </a:spcBef>
            </a:pPr>
            <a:r>
              <a:rPr lang="bg-BG" sz="2400" dirty="0"/>
              <a:t>Сигнален флаг (зелено/червено) за заета пробна в магазин.</a:t>
            </a:r>
          </a:p>
          <a:p>
            <a:pPr lvl="1">
              <a:spcBef>
                <a:spcPts val="300"/>
              </a:spcBef>
            </a:pPr>
            <a:r>
              <a:rPr lang="bg-BG" sz="2400" dirty="0"/>
              <a:t>Най-общо това са флагове за общото състояние на ресурса, без да дава информация за броя на чакащите/стартираните</a:t>
            </a:r>
            <a:endParaRPr lang="bg-BG" dirty="0"/>
          </a:p>
          <a:p>
            <a:r>
              <a:rPr lang="bg-BG" dirty="0" smtClean="0"/>
              <a:t>Реализация</a:t>
            </a:r>
          </a:p>
          <a:p>
            <a:pPr lvl="1"/>
            <a:endParaRPr lang="bg-BG" dirty="0" smtClean="0"/>
          </a:p>
          <a:p>
            <a:endParaRPr lang="en-US" dirty="0"/>
          </a:p>
        </p:txBody>
      </p:sp>
      <p:sp>
        <p:nvSpPr>
          <p:cNvPr id="4" name="Rectangle 1"/>
          <p:cNvSpPr>
            <a:spLocks noChangeArrowheads="1"/>
          </p:cNvSpPr>
          <p:nvPr/>
        </p:nvSpPr>
        <p:spPr bwMode="auto">
          <a:xfrm>
            <a:off x="5484812" y="609600"/>
            <a:ext cx="6099747" cy="6186309"/>
          </a:xfrm>
          <a:prstGeom prst="rect">
            <a:avLst/>
          </a:prstGeom>
          <a:solidFill>
            <a:srgbClr val="FFC000"/>
          </a:solidFill>
          <a:ln>
            <a:noFill/>
          </a:ln>
          <a:effectLst/>
        </p:spPr>
        <p:txBody>
          <a:bodyPr vert="horz" wrap="none" lIns="91440" tIns="45720" rIns="91440" bIns="45720" numCol="1" anchor="ctr" anchorCtr="0" compatLnSpc="1">
            <a:prstTxWarp prst="textNoShape">
              <a:avLst/>
            </a:prstTxWarp>
            <a:spAutoFit/>
          </a:bodyPr>
          <a:lstStyle/>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initialize(</a:t>
            </a:r>
            <a:r>
              <a:rPr kumimoji="0" lang="en-US" altLang="en-US" sz="2000" b="0" i="0" u="none" strike="noStrike" cap="none" normalizeH="0" baseline="0" dirty="0" err="1" smtClean="0">
                <a:ln>
                  <a:noFill/>
                </a:ln>
                <a:solidFill>
                  <a:srgbClr val="000000"/>
                </a:solidFill>
                <a:effectLst/>
                <a:latin typeface="Consolas" panose="020B0609020204030204" pitchFamily="49" charset="0"/>
                <a:cs typeface="Consolas" panose="020B0609020204030204" pitchFamily="49" charset="0"/>
              </a:rPr>
              <a:t>i</a:t>
            </a: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s-&gt;value = </a:t>
            </a:r>
            <a:r>
              <a:rPr kumimoji="0" lang="en-US" altLang="en-US" sz="2000" b="0" i="0" u="none" strike="noStrike" cap="none" normalizeH="0" baseline="0" dirty="0" err="1" smtClean="0">
                <a:ln>
                  <a:noFill/>
                </a:ln>
                <a:solidFill>
                  <a:srgbClr val="000000"/>
                </a:solidFill>
                <a:effectLst/>
                <a:latin typeface="Consolas" panose="020B0609020204030204" pitchFamily="49" charset="0"/>
                <a:cs typeface="Consolas" panose="020B0609020204030204" pitchFamily="49" charset="0"/>
              </a:rPr>
              <a:t>i</a:t>
            </a: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return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P(</a:t>
            </a:r>
            <a:r>
              <a:rPr kumimoji="0" lang="en-US" altLang="en-US" sz="2000" b="0" i="0" u="none" strike="noStrike" cap="none" normalizeH="0" baseline="0" dirty="0" err="1" smtClean="0">
                <a:ln>
                  <a:noFill/>
                </a:ln>
                <a:solidFill>
                  <a:srgbClr val="000000"/>
                </a:solidFill>
                <a:effectLst/>
                <a:latin typeface="Consolas" panose="020B0609020204030204" pitchFamily="49" charset="0"/>
                <a:cs typeface="Consolas" panose="020B0609020204030204" pitchFamily="49" charset="0"/>
              </a:rPr>
              <a:t>Sem</a:t>
            </a: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s)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s-&gt;value--;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if(s-&gt;value &lt; 0)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lang="bg-BG" altLang="en-US" sz="2000" dirty="0">
                <a:solidFill>
                  <a:srgbClr val="000000"/>
                </a:solidFill>
                <a:latin typeface="Consolas" panose="020B0609020204030204" pitchFamily="49" charset="0"/>
                <a:cs typeface="Consolas" panose="020B0609020204030204" pitchFamily="49" charset="0"/>
              </a:rPr>
              <a:t> </a:t>
            </a:r>
            <a:r>
              <a:rPr lang="bg-BG" altLang="en-US" sz="2000" dirty="0" smtClean="0">
                <a:solidFill>
                  <a:srgbClr val="000000"/>
                </a:solidFill>
                <a:latin typeface="Consolas" panose="020B0609020204030204" pitchFamily="49" charset="0"/>
                <a:cs typeface="Consolas" panose="020B0609020204030204" pitchFamily="49" charset="0"/>
              </a:rPr>
              <a:t>   // </a:t>
            </a: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block on semaphore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return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V(s)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s-&gt;value++;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if(s-&gt;value &lt;= 0)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lang="bg-BG" altLang="en-US" sz="2000" dirty="0">
                <a:solidFill>
                  <a:srgbClr val="000000"/>
                </a:solidFill>
                <a:latin typeface="Consolas" panose="020B0609020204030204" pitchFamily="49" charset="0"/>
                <a:cs typeface="Consolas" panose="020B0609020204030204" pitchFamily="49" charset="0"/>
              </a:rPr>
              <a:t> </a:t>
            </a:r>
            <a:r>
              <a:rPr lang="bg-BG" altLang="en-US" sz="2000" dirty="0" smtClean="0">
                <a:solidFill>
                  <a:srgbClr val="000000"/>
                </a:solidFill>
                <a:latin typeface="Consolas" panose="020B0609020204030204" pitchFamily="49" charset="0"/>
                <a:cs typeface="Consolas" panose="020B0609020204030204" pitchFamily="49" charset="0"/>
              </a:rPr>
              <a:t>   // </a:t>
            </a: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unblock one process or thread </a:t>
            </a:r>
            <a:r>
              <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r>
            <a:br>
              <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br>
            <a:r>
              <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 </a:t>
            </a: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that is blocked on semaphore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688975" lvl="2" fontAlgn="base">
              <a:lnSpc>
                <a:spcPct val="90000"/>
              </a:lnSpc>
              <a:spcBef>
                <a:spcPct val="0"/>
              </a:spcBef>
              <a:spcAft>
                <a:spcPct val="0"/>
              </a:spcAf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return </a:t>
            </a:r>
            <a:endParaRPr kumimoji="0" lang="bg-BG"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231775" marR="0" lvl="0" algn="l" defTabSz="914400" rtl="0" eaLnBrk="1" fontAlgn="base" latinLnBrk="0" hangingPunct="1">
              <a:lnSpc>
                <a:spcPct val="9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n-US" altLang="en-US" sz="2000" b="0" i="0" u="none" strike="noStrike" cap="none" normalizeH="0" baseline="0" dirty="0" smtClean="0">
                <a:ln>
                  <a:noFill/>
                </a:ln>
                <a:solidFill>
                  <a:schemeClr val="tx1"/>
                </a:solidFill>
                <a:effectLst/>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4199237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Двоични семафори</a:t>
            </a:r>
            <a:endParaRPr lang="en-US" dirty="0"/>
          </a:p>
        </p:txBody>
      </p:sp>
      <p:sp>
        <p:nvSpPr>
          <p:cNvPr id="3" name="Content Placeholder 2"/>
          <p:cNvSpPr>
            <a:spLocks noGrp="1"/>
          </p:cNvSpPr>
          <p:nvPr>
            <p:ph idx="1"/>
          </p:nvPr>
        </p:nvSpPr>
        <p:spPr/>
        <p:txBody>
          <a:bodyPr vert="horz" lIns="91440" tIns="45720" rIns="91440" bIns="45720" rtlCol="0">
            <a:normAutofit/>
          </a:bodyPr>
          <a:lstStyle/>
          <a:p>
            <a:pPr>
              <a:spcBef>
                <a:spcPts val="300"/>
              </a:spcBef>
            </a:pPr>
            <a:r>
              <a:rPr lang="bg-BG" altLang="en-US" smtClean="0"/>
              <a:t>Брояч: </a:t>
            </a:r>
            <a:r>
              <a:rPr lang="en-US" altLang="en-US" smtClean="0"/>
              <a:t>-1, 0, 1.</a:t>
            </a:r>
          </a:p>
          <a:p>
            <a:pPr lvl="1">
              <a:spcBef>
                <a:spcPts val="300"/>
              </a:spcBef>
            </a:pPr>
            <a:r>
              <a:rPr lang="bg-BG" altLang="en-US" smtClean="0"/>
              <a:t>Начално състояние</a:t>
            </a:r>
            <a:r>
              <a:rPr lang="en-US" altLang="en-US" smtClean="0"/>
              <a:t>:  </a:t>
            </a:r>
          </a:p>
          <a:p>
            <a:pPr lvl="2"/>
            <a:r>
              <a:rPr lang="en-US" altLang="en-US" sz="2800" smtClean="0"/>
              <a:t>counter = 0</a:t>
            </a:r>
          </a:p>
          <a:p>
            <a:pPr lvl="1">
              <a:spcBef>
                <a:spcPts val="300"/>
              </a:spcBef>
            </a:pPr>
            <a:r>
              <a:rPr lang="bg-BG" altLang="en-US" smtClean="0"/>
              <a:t>Сигнализирано състояние</a:t>
            </a:r>
            <a:r>
              <a:rPr lang="en-US" altLang="en-US" smtClean="0"/>
              <a:t>:</a:t>
            </a:r>
          </a:p>
          <a:p>
            <a:pPr lvl="2"/>
            <a:r>
              <a:rPr lang="en-US" altLang="en-US" sz="2800" smtClean="0"/>
              <a:t>If counter = 1 : </a:t>
            </a:r>
            <a:r>
              <a:rPr lang="bg-BG" altLang="en-US" sz="2800" smtClean="0"/>
              <a:t>включен</a:t>
            </a:r>
            <a:endParaRPr lang="en-US" altLang="en-US" sz="2800" smtClean="0"/>
          </a:p>
          <a:p>
            <a:pPr lvl="2"/>
            <a:r>
              <a:rPr lang="en-US" altLang="en-US" sz="2800" smtClean="0"/>
              <a:t>If counter = 0 : </a:t>
            </a:r>
            <a:r>
              <a:rPr lang="bg-BG" altLang="en-US" sz="2800" smtClean="0"/>
              <a:t>не е включен и никой не чака за него</a:t>
            </a:r>
            <a:endParaRPr lang="en-US" altLang="en-US" sz="2800" smtClean="0"/>
          </a:p>
          <a:p>
            <a:pPr lvl="2"/>
            <a:r>
              <a:rPr lang="en-US" altLang="en-US" sz="2800" smtClean="0"/>
              <a:t>If counter = -1 : </a:t>
            </a:r>
            <a:r>
              <a:rPr lang="bg-BG" altLang="en-US" sz="2800" smtClean="0"/>
              <a:t>не е включен и някой чака за него</a:t>
            </a:r>
            <a:endParaRPr lang="en-US" altLang="en-US" sz="2800" smtClean="0"/>
          </a:p>
          <a:p>
            <a:pPr lvl="1">
              <a:spcBef>
                <a:spcPts val="300"/>
              </a:spcBef>
            </a:pPr>
            <a:r>
              <a:rPr lang="bg-BG" altLang="en-US" smtClean="0"/>
              <a:t>Операции</a:t>
            </a:r>
            <a:r>
              <a:rPr lang="en-US" altLang="en-US" smtClean="0"/>
              <a:t>:</a:t>
            </a:r>
          </a:p>
          <a:p>
            <a:pPr lvl="2"/>
            <a:r>
              <a:rPr lang="en-US" altLang="en-US" sz="2800" smtClean="0"/>
              <a:t>down() → signal()</a:t>
            </a:r>
          </a:p>
          <a:p>
            <a:pPr lvl="2"/>
            <a:r>
              <a:rPr lang="en-US" altLang="en-US" sz="2800" smtClean="0"/>
              <a:t>up() → wait()</a:t>
            </a:r>
          </a:p>
          <a:p>
            <a:pPr>
              <a:spcBef>
                <a:spcPts val="300"/>
              </a:spcBef>
            </a:pPr>
            <a:endParaRPr lang="en-US" dirty="0"/>
          </a:p>
        </p:txBody>
      </p:sp>
    </p:spTree>
    <p:extLst>
      <p:ext uri="{BB962C8B-B14F-4D97-AF65-F5344CB8AC3E}">
        <p14:creationId xmlns:p14="http://schemas.microsoft.com/office/powerpoint/2010/main" val="3856854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Ресурсни семафори</a:t>
            </a:r>
            <a:endParaRPr lang="en-US" dirty="0"/>
          </a:p>
        </p:txBody>
      </p:sp>
      <p:sp>
        <p:nvSpPr>
          <p:cNvPr id="3" name="Content Placeholder 2"/>
          <p:cNvSpPr>
            <a:spLocks noGrp="1"/>
          </p:cNvSpPr>
          <p:nvPr>
            <p:ph idx="1"/>
          </p:nvPr>
        </p:nvSpPr>
        <p:spPr/>
        <p:txBody>
          <a:bodyPr vert="horz" lIns="91440" tIns="45720" rIns="91440" bIns="45720" rtlCol="0">
            <a:normAutofit/>
          </a:bodyPr>
          <a:lstStyle/>
          <a:p>
            <a:pPr>
              <a:spcBef>
                <a:spcPts val="600"/>
              </a:spcBef>
            </a:pPr>
            <a:r>
              <a:rPr lang="bg-BG" altLang="en-US" dirty="0" err="1"/>
              <a:t>Еднослотни</a:t>
            </a:r>
            <a:r>
              <a:rPr lang="bg-BG" altLang="en-US" dirty="0"/>
              <a:t>: </a:t>
            </a:r>
          </a:p>
          <a:p>
            <a:pPr lvl="1"/>
            <a:r>
              <a:rPr lang="en-US" altLang="en-US" dirty="0"/>
              <a:t>counter = { 1, 0, -1, .., -n }, n -&gt; </a:t>
            </a:r>
            <a:r>
              <a:rPr lang="bg-BG" altLang="en-US" dirty="0" err="1"/>
              <a:t>макс</a:t>
            </a:r>
            <a:r>
              <a:rPr lang="bg-BG" altLang="en-US" dirty="0"/>
              <a:t>. брой на чакащите</a:t>
            </a:r>
          </a:p>
          <a:p>
            <a:pPr lvl="1"/>
            <a:r>
              <a:rPr lang="bg-BG" altLang="en-US" dirty="0"/>
              <a:t>Начална стойност: </a:t>
            </a:r>
            <a:r>
              <a:rPr lang="en-US" altLang="en-US" dirty="0"/>
              <a:t>counter = 1</a:t>
            </a:r>
            <a:endParaRPr lang="bg-BG" altLang="en-US" dirty="0"/>
          </a:p>
          <a:p>
            <a:pPr>
              <a:spcBef>
                <a:spcPts val="600"/>
              </a:spcBef>
            </a:pPr>
            <a:r>
              <a:rPr lang="bg-BG" altLang="en-US" dirty="0" err="1"/>
              <a:t>Многослотни</a:t>
            </a:r>
            <a:endParaRPr lang="bg-BG" altLang="en-US" dirty="0"/>
          </a:p>
          <a:p>
            <a:pPr lvl="1"/>
            <a:r>
              <a:rPr lang="en-US" altLang="en-US" dirty="0"/>
              <a:t>counter = { K, 0, -1, .., -n }, K -&gt; </a:t>
            </a:r>
            <a:r>
              <a:rPr lang="bg-BG" altLang="en-US" dirty="0"/>
              <a:t>брой на слотовете</a:t>
            </a:r>
            <a:r>
              <a:rPr lang="en-US" altLang="en-US" dirty="0"/>
              <a:t>, n -&gt; </a:t>
            </a:r>
            <a:r>
              <a:rPr lang="bg-BG" altLang="en-US" dirty="0" err="1"/>
              <a:t>макс</a:t>
            </a:r>
            <a:r>
              <a:rPr lang="bg-BG" altLang="en-US" dirty="0"/>
              <a:t>. брой на чакащите</a:t>
            </a:r>
          </a:p>
          <a:p>
            <a:pPr lvl="1"/>
            <a:r>
              <a:rPr lang="bg-BG" altLang="en-US" dirty="0"/>
              <a:t>Начална стойност: </a:t>
            </a:r>
            <a:r>
              <a:rPr lang="en-US" altLang="en-US" dirty="0"/>
              <a:t>counter = 1</a:t>
            </a:r>
            <a:endParaRPr lang="bg-BG" altLang="en-US" dirty="0"/>
          </a:p>
          <a:p>
            <a:pPr>
              <a:spcBef>
                <a:spcPts val="600"/>
              </a:spcBef>
            </a:pPr>
            <a:r>
              <a:rPr lang="bg-BG" altLang="en-US" dirty="0"/>
              <a:t>Операции</a:t>
            </a:r>
            <a:r>
              <a:rPr lang="en-US" altLang="en-US" dirty="0"/>
              <a:t>:</a:t>
            </a:r>
          </a:p>
          <a:p>
            <a:pPr lvl="1"/>
            <a:r>
              <a:rPr lang="en-US" altLang="en-US" dirty="0"/>
              <a:t>down() → lock() </a:t>
            </a:r>
          </a:p>
          <a:p>
            <a:pPr lvl="1"/>
            <a:r>
              <a:rPr lang="en-US" altLang="en-US" dirty="0"/>
              <a:t>up() → unlock</a:t>
            </a:r>
            <a:r>
              <a:rPr lang="en-US" altLang="en-US" dirty="0" smtClean="0"/>
              <a:t>()</a:t>
            </a:r>
            <a:endParaRPr lang="en-US" altLang="en-US" dirty="0"/>
          </a:p>
        </p:txBody>
      </p:sp>
    </p:spTree>
    <p:extLst>
      <p:ext uri="{BB962C8B-B14F-4D97-AF65-F5344CB8AC3E}">
        <p14:creationId xmlns:p14="http://schemas.microsoft.com/office/powerpoint/2010/main" val="3956211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Монитори</a:t>
            </a:r>
            <a:endParaRPr lang="en-US" dirty="0"/>
          </a:p>
        </p:txBody>
      </p:sp>
      <p:sp>
        <p:nvSpPr>
          <p:cNvPr id="3" name="Content Placeholder 2"/>
          <p:cNvSpPr>
            <a:spLocks noGrp="1"/>
          </p:cNvSpPr>
          <p:nvPr>
            <p:ph idx="1"/>
          </p:nvPr>
        </p:nvSpPr>
        <p:spPr>
          <a:xfrm>
            <a:off x="908662" y="1143000"/>
            <a:ext cx="10748350" cy="5562600"/>
          </a:xfrm>
        </p:spPr>
        <p:txBody>
          <a:bodyPr>
            <a:normAutofit/>
          </a:bodyPr>
          <a:lstStyle/>
          <a:p>
            <a:r>
              <a:rPr lang="bg-BG" sz="2800" dirty="0" smtClean="0"/>
              <a:t>Мониторът е конструкция за синхронизация, която позволява на процесите/нишките да имат едновременно взаимно изключване и възможността да изчакват (блокирани) определено условие да се изпълни.</a:t>
            </a:r>
          </a:p>
          <a:p>
            <a:pPr lvl="1"/>
            <a:r>
              <a:rPr lang="bg-BG" sz="2400" dirty="0" smtClean="0"/>
              <a:t>Предложени са от </a:t>
            </a:r>
            <a:r>
              <a:rPr lang="bg-BG" sz="2400" dirty="0" err="1" smtClean="0"/>
              <a:t>Хансен</a:t>
            </a:r>
            <a:r>
              <a:rPr lang="bg-BG" sz="2400" dirty="0" smtClean="0"/>
              <a:t> (P.B. </a:t>
            </a:r>
            <a:r>
              <a:rPr lang="bg-BG" sz="2400" dirty="0" err="1" smtClean="0"/>
              <a:t>Hansen</a:t>
            </a:r>
            <a:r>
              <a:rPr lang="bg-BG" sz="2400" dirty="0" smtClean="0"/>
              <a:t>) и </a:t>
            </a:r>
            <a:r>
              <a:rPr lang="bg-BG" sz="2400" dirty="0" err="1" smtClean="0"/>
              <a:t>Хоар</a:t>
            </a:r>
            <a:r>
              <a:rPr lang="bg-BG" sz="2400" dirty="0" smtClean="0"/>
              <a:t> (C.A.R.</a:t>
            </a:r>
            <a:r>
              <a:rPr lang="bg-BG" sz="2400" dirty="0" err="1" smtClean="0"/>
              <a:t>Hoare</a:t>
            </a:r>
            <a:r>
              <a:rPr lang="bg-BG" sz="2400" dirty="0" smtClean="0"/>
              <a:t>)</a:t>
            </a:r>
          </a:p>
          <a:p>
            <a:pPr lvl="1"/>
            <a:r>
              <a:rPr lang="bg-BG" sz="2400" dirty="0" smtClean="0"/>
              <a:t>Най-общо, това е всеки случаи, при който има комуникация между заинтересованите от даден ресурс, дали искат веднага да заемат ресурса или ще изчакат дадено условие.</a:t>
            </a:r>
          </a:p>
          <a:p>
            <a:r>
              <a:rPr lang="bg-BG" sz="2800" dirty="0" smtClean="0"/>
              <a:t>Мониторът се състои от ресурс (специален обект) и от механизъм за “заключване” на ресурса.</a:t>
            </a:r>
          </a:p>
          <a:p>
            <a:pPr lvl="1"/>
            <a:r>
              <a:rPr lang="bg-BG" sz="2400" dirty="0" smtClean="0"/>
              <a:t>Команда </a:t>
            </a:r>
            <a:r>
              <a:rPr lang="bg-BG" sz="2400" b="1" dirty="0" err="1" smtClean="0"/>
              <a:t>lock</a:t>
            </a:r>
            <a:r>
              <a:rPr lang="bg-BG" sz="2400" b="1" dirty="0" smtClean="0"/>
              <a:t>(r)</a:t>
            </a:r>
            <a:r>
              <a:rPr lang="bg-BG" sz="2400" dirty="0" smtClean="0"/>
              <a:t> , т.е. </a:t>
            </a:r>
            <a:r>
              <a:rPr lang="bg-BG" sz="2400" dirty="0" err="1" smtClean="0"/>
              <a:t>wait</a:t>
            </a:r>
            <a:r>
              <a:rPr lang="bg-BG" sz="2400" dirty="0" smtClean="0"/>
              <a:t>() -&gt; винаги блокира процеса/нишката (за разлика от P() при семафорите)</a:t>
            </a:r>
            <a:endParaRPr lang="bg-BG" sz="2400" b="1" dirty="0" smtClean="0"/>
          </a:p>
          <a:p>
            <a:pPr lvl="1"/>
            <a:r>
              <a:rPr lang="bg-BG" sz="2400" b="1" dirty="0" err="1" smtClean="0"/>
              <a:t>unLock</a:t>
            </a:r>
            <a:r>
              <a:rPr lang="bg-BG" sz="2400" b="1" dirty="0" smtClean="0"/>
              <a:t>(r)</a:t>
            </a:r>
            <a:r>
              <a:rPr lang="bg-BG" sz="2400" dirty="0" smtClean="0"/>
              <a:t>, т.е. </a:t>
            </a:r>
            <a:r>
              <a:rPr lang="bg-BG" sz="2400" dirty="0" err="1" smtClean="0"/>
              <a:t>signal</a:t>
            </a:r>
            <a:r>
              <a:rPr lang="bg-BG" sz="2400" dirty="0" smtClean="0"/>
              <a:t>() -&gt; </a:t>
            </a:r>
            <a:r>
              <a:rPr lang="bg-BG" sz="2400" dirty="0" err="1" smtClean="0"/>
              <a:t>разблокира</a:t>
            </a:r>
            <a:r>
              <a:rPr lang="bg-BG" sz="2400" dirty="0" smtClean="0"/>
              <a:t> процеса/нишката само ако съществува блокиран, иначе нищо не става.</a:t>
            </a:r>
            <a:endParaRPr lang="bg-BG" sz="2400" dirty="0"/>
          </a:p>
        </p:txBody>
      </p:sp>
    </p:spTree>
    <p:extLst>
      <p:ext uri="{BB962C8B-B14F-4D97-AF65-F5344CB8AC3E}">
        <p14:creationId xmlns:p14="http://schemas.microsoft.com/office/powerpoint/2010/main" val="3586793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Монитори</a:t>
            </a:r>
            <a:endParaRPr lang="en-US" dirty="0"/>
          </a:p>
        </p:txBody>
      </p:sp>
      <p:sp>
        <p:nvSpPr>
          <p:cNvPr id="3" name="Content Placeholder 2"/>
          <p:cNvSpPr>
            <a:spLocks noGrp="1"/>
          </p:cNvSpPr>
          <p:nvPr>
            <p:ph idx="1"/>
          </p:nvPr>
        </p:nvSpPr>
        <p:spPr>
          <a:xfrm>
            <a:off x="908662" y="1143000"/>
            <a:ext cx="10748350" cy="5410200"/>
          </a:xfrm>
        </p:spPr>
        <p:txBody>
          <a:bodyPr>
            <a:normAutofit/>
          </a:bodyPr>
          <a:lstStyle/>
          <a:p>
            <a:r>
              <a:rPr lang="bg-BG" sz="2800" dirty="0" smtClean="0"/>
              <a:t>Мониторите също имат механизъм за сигнализиране на други нишки/процеси че изчакваното от тях състояние е изпълнено. </a:t>
            </a:r>
          </a:p>
          <a:p>
            <a:pPr lvl="1"/>
            <a:r>
              <a:rPr lang="bg-BG" sz="2400" dirty="0" smtClean="0"/>
              <a:t>Съществува контейнер с нишки/процеси, които чакат определено състояние. </a:t>
            </a:r>
          </a:p>
          <a:p>
            <a:pPr lvl="1"/>
            <a:r>
              <a:rPr lang="bg-BG" sz="2400" dirty="0" smtClean="0"/>
              <a:t>Може да има </a:t>
            </a:r>
            <a:r>
              <a:rPr lang="bg-BG" sz="2400" dirty="0" err="1" smtClean="0"/>
              <a:t>вложеност</a:t>
            </a:r>
            <a:r>
              <a:rPr lang="bg-BG" sz="2400" dirty="0" smtClean="0"/>
              <a:t> на монитори, но трябва специална дисциплина на използване, защото иначе се получава взаимно блокиране.</a:t>
            </a:r>
          </a:p>
          <a:p>
            <a:r>
              <a:rPr lang="bg-BG" sz="2800" dirty="0" smtClean="0"/>
              <a:t>Кога се използва ?</a:t>
            </a:r>
          </a:p>
          <a:p>
            <a:pPr lvl="1"/>
            <a:r>
              <a:rPr lang="bg-BG" sz="2400" dirty="0" smtClean="0"/>
              <a:t>Родител може да действа като монитор за детето си, позволявайки детето да приема в къщи само по един приятел/приятелка в даден момент.</a:t>
            </a:r>
          </a:p>
          <a:p>
            <a:pPr lvl="1"/>
            <a:r>
              <a:rPr lang="bg-BG" sz="2400" dirty="0" smtClean="0"/>
              <a:t>Ръководител на сесия на парламента, който използва блокираща система и така позволява само един депутат да се изказва и да се чува в залата.</a:t>
            </a:r>
          </a:p>
        </p:txBody>
      </p:sp>
    </p:spTree>
    <p:extLst>
      <p:ext uri="{BB962C8B-B14F-4D97-AF65-F5344CB8AC3E}">
        <p14:creationId xmlns:p14="http://schemas.microsoft.com/office/powerpoint/2010/main" val="1380712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„Ограничение на път“</a:t>
            </a:r>
            <a:endParaRPr lang="en-US" dirty="0"/>
          </a:p>
        </p:txBody>
      </p:sp>
      <p:sp>
        <p:nvSpPr>
          <p:cNvPr id="3" name="Content Placeholder 2"/>
          <p:cNvSpPr>
            <a:spLocks noGrp="1"/>
          </p:cNvSpPr>
          <p:nvPr>
            <p:ph idx="1"/>
          </p:nvPr>
        </p:nvSpPr>
        <p:spPr>
          <a:xfrm>
            <a:off x="908662" y="1143000"/>
            <a:ext cx="10748350" cy="5410200"/>
          </a:xfrm>
        </p:spPr>
        <p:txBody>
          <a:bodyPr>
            <a:noAutofit/>
          </a:bodyPr>
          <a:lstStyle/>
          <a:p>
            <a:pPr>
              <a:spcBef>
                <a:spcPts val="300"/>
              </a:spcBef>
            </a:pPr>
            <a:r>
              <a:rPr lang="bg-BG" sz="2800" dirty="0" smtClean="0"/>
              <a:t>„Ограничение на път“ (</a:t>
            </a:r>
            <a:r>
              <a:rPr lang="bg-BG" sz="2800" dirty="0" err="1" smtClean="0"/>
              <a:t>англ</a:t>
            </a:r>
            <a:r>
              <a:rPr lang="bg-BG" sz="2800" dirty="0" smtClean="0"/>
              <a:t>. </a:t>
            </a:r>
            <a:r>
              <a:rPr lang="bg-BG" sz="2800" i="1" dirty="0" err="1" smtClean="0">
                <a:effectLst>
                  <a:outerShdw blurRad="38100" dist="38100" dir="2700000" algn="tl">
                    <a:srgbClr val="000000">
                      <a:alpha val="43137"/>
                    </a:srgbClr>
                  </a:outerShdw>
                </a:effectLst>
              </a:rPr>
              <a:t>Path</a:t>
            </a:r>
            <a:r>
              <a:rPr lang="bg-BG" sz="2800" i="1" dirty="0" smtClean="0">
                <a:effectLst>
                  <a:outerShdw blurRad="38100" dist="38100" dir="2700000" algn="tl">
                    <a:srgbClr val="000000">
                      <a:alpha val="43137"/>
                    </a:srgbClr>
                  </a:outerShdw>
                </a:effectLst>
              </a:rPr>
              <a:t> </a:t>
            </a:r>
            <a:r>
              <a:rPr lang="bg-BG" sz="2800" i="1" dirty="0" err="1" smtClean="0">
                <a:effectLst>
                  <a:outerShdw blurRad="38100" dist="38100" dir="2700000" algn="tl">
                    <a:srgbClr val="000000">
                      <a:alpha val="43137"/>
                    </a:srgbClr>
                  </a:outerShdw>
                </a:effectLst>
              </a:rPr>
              <a:t>expressions</a:t>
            </a:r>
            <a:r>
              <a:rPr lang="bg-BG" sz="2800" dirty="0" smtClean="0"/>
              <a:t>) е метод, който позволява взаимното изключване и синхронизацията да се реализират на едновременно чрез компютърно-генериран код (декларации от висок ниво).</a:t>
            </a:r>
          </a:p>
          <a:p>
            <a:pPr lvl="1">
              <a:spcBef>
                <a:spcPts val="300"/>
              </a:spcBef>
            </a:pPr>
            <a:r>
              <a:rPr lang="bg-BG" sz="2400" dirty="0" smtClean="0"/>
              <a:t>При мониторите взаимното изключване е чрез декларации от високо ниво, докато синхронизацията се реализира чрез примитиви от ниско ниво. </a:t>
            </a:r>
          </a:p>
          <a:p>
            <a:pPr>
              <a:spcBef>
                <a:spcPts val="300"/>
              </a:spcBef>
            </a:pPr>
            <a:r>
              <a:rPr lang="bg-BG" sz="2800" dirty="0" smtClean="0"/>
              <a:t>Реализация:</a:t>
            </a:r>
          </a:p>
          <a:p>
            <a:pPr lvl="1">
              <a:spcBef>
                <a:spcPts val="300"/>
              </a:spcBef>
            </a:pPr>
            <a:r>
              <a:rPr lang="bg-BG" sz="2400" dirty="0" smtClean="0"/>
              <a:t>Вместо да дефинират процедурите и условията за влизане, програмистът свързва обработката с израз за ограничение на пътя, т.е. дефинира се координационно ограничение.</a:t>
            </a:r>
          </a:p>
          <a:p>
            <a:pPr lvl="1">
              <a:spcBef>
                <a:spcPts val="300"/>
              </a:spcBef>
            </a:pPr>
            <a:r>
              <a:rPr lang="bg-BG" sz="2400" dirty="0" smtClean="0"/>
              <a:t>Примери:</a:t>
            </a:r>
          </a:p>
          <a:p>
            <a:pPr lvl="2">
              <a:spcBef>
                <a:spcPts val="300"/>
              </a:spcBef>
            </a:pPr>
            <a:r>
              <a:rPr lang="bg-BG" sz="2000" dirty="0" smtClean="0"/>
              <a:t>1 : ([</a:t>
            </a:r>
            <a:r>
              <a:rPr lang="bg-BG" sz="2000" dirty="0" err="1" smtClean="0"/>
              <a:t>read</a:t>
            </a:r>
            <a:r>
              <a:rPr lang="bg-BG" sz="2000" dirty="0" smtClean="0"/>
              <a:t>], </a:t>
            </a:r>
            <a:r>
              <a:rPr lang="bg-BG" sz="2000" dirty="0" err="1" smtClean="0"/>
              <a:t>write</a:t>
            </a:r>
            <a:r>
              <a:rPr lang="bg-BG" sz="2000" dirty="0" smtClean="0"/>
              <a:t>)</a:t>
            </a:r>
          </a:p>
          <a:p>
            <a:pPr lvl="2">
              <a:spcBef>
                <a:spcPts val="300"/>
              </a:spcBef>
            </a:pPr>
            <a:r>
              <a:rPr lang="bg-BG" sz="2000" dirty="0" smtClean="0"/>
              <a:t>N: (</a:t>
            </a:r>
            <a:r>
              <a:rPr lang="bg-BG" sz="2000" dirty="0" err="1" smtClean="0"/>
              <a:t>PutBuffer</a:t>
            </a:r>
            <a:r>
              <a:rPr lang="bg-BG" sz="2000" dirty="0" smtClean="0"/>
              <a:t>; </a:t>
            </a:r>
            <a:r>
              <a:rPr lang="bg-BG" sz="2000" dirty="0" err="1" smtClean="0"/>
              <a:t>GetBuffer</a:t>
            </a:r>
            <a:r>
              <a:rPr lang="bg-BG" sz="2000" dirty="0" smtClean="0"/>
              <a:t>)</a:t>
            </a:r>
          </a:p>
          <a:p>
            <a:pPr lvl="2">
              <a:spcBef>
                <a:spcPts val="300"/>
              </a:spcBef>
            </a:pPr>
            <a:r>
              <a:rPr lang="bg-BG" sz="2000" dirty="0" smtClean="0"/>
              <a:t>N: (1: (</a:t>
            </a:r>
            <a:r>
              <a:rPr lang="bg-BG" sz="2000" dirty="0" err="1" smtClean="0"/>
              <a:t>PutBuffer</a:t>
            </a:r>
            <a:r>
              <a:rPr lang="bg-BG" sz="2000" dirty="0" smtClean="0"/>
              <a:t>); 1 : (</a:t>
            </a:r>
            <a:r>
              <a:rPr lang="bg-BG" sz="2000" dirty="0" err="1" smtClean="0"/>
              <a:t>GetBuffer</a:t>
            </a:r>
            <a:r>
              <a:rPr lang="bg-BG" sz="2000" dirty="0" smtClean="0"/>
              <a:t>))</a:t>
            </a:r>
          </a:p>
        </p:txBody>
      </p:sp>
    </p:spTree>
    <p:extLst>
      <p:ext uri="{BB962C8B-B14F-4D97-AF65-F5344CB8AC3E}">
        <p14:creationId xmlns:p14="http://schemas.microsoft.com/office/powerpoint/2010/main" val="1857497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Изпращане на съобщения</a:t>
            </a:r>
            <a:endParaRPr lang="en-US" dirty="0"/>
          </a:p>
        </p:txBody>
      </p:sp>
      <p:sp>
        <p:nvSpPr>
          <p:cNvPr id="3" name="Content Placeholder 2"/>
          <p:cNvSpPr>
            <a:spLocks noGrp="1"/>
          </p:cNvSpPr>
          <p:nvPr>
            <p:ph idx="1"/>
          </p:nvPr>
        </p:nvSpPr>
        <p:spPr>
          <a:xfrm>
            <a:off x="908662" y="1143000"/>
            <a:ext cx="10748350" cy="5410200"/>
          </a:xfrm>
        </p:spPr>
        <p:txBody>
          <a:bodyPr>
            <a:noAutofit/>
          </a:bodyPr>
          <a:lstStyle/>
          <a:p>
            <a:pPr>
              <a:lnSpc>
                <a:spcPct val="97000"/>
              </a:lnSpc>
              <a:spcBef>
                <a:spcPts val="0"/>
              </a:spcBef>
            </a:pPr>
            <a:r>
              <a:rPr lang="bg-BG" sz="2800" dirty="0" smtClean="0"/>
              <a:t>Това е метод, който комбинира </a:t>
            </a:r>
            <a:r>
              <a:rPr lang="bg-BG" sz="2800" dirty="0" err="1" smtClean="0"/>
              <a:t>междупроцесна</a:t>
            </a:r>
            <a:r>
              <a:rPr lang="bg-BG" sz="2800" dirty="0" smtClean="0"/>
              <a:t> комуникация и синхронизация на работата: </a:t>
            </a:r>
          </a:p>
          <a:p>
            <a:pPr lvl="1">
              <a:lnSpc>
                <a:spcPct val="97000"/>
              </a:lnSpc>
              <a:spcBef>
                <a:spcPts val="0"/>
              </a:spcBef>
            </a:pPr>
            <a:r>
              <a:rPr lang="bg-BG" sz="2400" dirty="0" smtClean="0"/>
              <a:t>Изпращачът (</a:t>
            </a:r>
            <a:r>
              <a:rPr lang="bg-BG" sz="2400" dirty="0" err="1" smtClean="0"/>
              <a:t>англ</a:t>
            </a:r>
            <a:r>
              <a:rPr lang="bg-BG" sz="2400" dirty="0" smtClean="0"/>
              <a:t>. </a:t>
            </a:r>
            <a:r>
              <a:rPr lang="bg-BG" sz="2400" i="1" dirty="0" err="1" smtClean="0">
                <a:effectLst>
                  <a:outerShdw blurRad="38100" dist="38100" dir="2700000" algn="tl">
                    <a:srgbClr val="000000">
                      <a:alpha val="43137"/>
                    </a:srgbClr>
                  </a:outerShdw>
                </a:effectLst>
              </a:rPr>
              <a:t>sender</a:t>
            </a:r>
            <a:r>
              <a:rPr lang="bg-BG" sz="2400" dirty="0" smtClean="0"/>
              <a:t>) задава съобщението и назначението му : процес, порт, набор от процеси, ...</a:t>
            </a:r>
          </a:p>
          <a:p>
            <a:pPr lvl="1">
              <a:lnSpc>
                <a:spcPct val="97000"/>
              </a:lnSpc>
              <a:spcBef>
                <a:spcPts val="0"/>
              </a:spcBef>
            </a:pPr>
            <a:r>
              <a:rPr lang="bg-BG" sz="2400" dirty="0" smtClean="0"/>
              <a:t>Приемникът (</a:t>
            </a:r>
            <a:r>
              <a:rPr lang="bg-BG" sz="2400" dirty="0" err="1" smtClean="0"/>
              <a:t>англ</a:t>
            </a:r>
            <a:r>
              <a:rPr lang="bg-BG" sz="2400" dirty="0" smtClean="0"/>
              <a:t>. </a:t>
            </a:r>
            <a:r>
              <a:rPr lang="bg-BG" sz="2400" i="1" dirty="0" err="1" smtClean="0">
                <a:effectLst>
                  <a:outerShdw blurRad="38100" dist="38100" dir="2700000" algn="tl">
                    <a:srgbClr val="000000">
                      <a:alpha val="43137"/>
                    </a:srgbClr>
                  </a:outerShdw>
                </a:effectLst>
              </a:rPr>
              <a:t>receiver</a:t>
            </a:r>
            <a:r>
              <a:rPr lang="bg-BG" sz="2400" dirty="0" smtClean="0"/>
              <a:t>) задава съобщенията и източника (източникът може да не бъде изрично идентифициран).</a:t>
            </a:r>
          </a:p>
          <a:p>
            <a:pPr>
              <a:lnSpc>
                <a:spcPct val="97000"/>
              </a:lnSpc>
              <a:spcBef>
                <a:spcPts val="0"/>
              </a:spcBef>
            </a:pPr>
            <a:r>
              <a:rPr lang="bg-BG" sz="2800" dirty="0" smtClean="0"/>
              <a:t>Предаването на съобщения може да се реализира като: </a:t>
            </a:r>
          </a:p>
          <a:p>
            <a:pPr lvl="1">
              <a:lnSpc>
                <a:spcPct val="97000"/>
              </a:lnSpc>
              <a:spcBef>
                <a:spcPts val="0"/>
              </a:spcBef>
            </a:pPr>
            <a:r>
              <a:rPr lang="bg-BG" sz="2400" dirty="0" smtClean="0"/>
              <a:t>Небуфериран – директно свързване</a:t>
            </a:r>
          </a:p>
          <a:p>
            <a:pPr lvl="2">
              <a:lnSpc>
                <a:spcPct val="97000"/>
              </a:lnSpc>
              <a:spcBef>
                <a:spcPts val="0"/>
              </a:spcBef>
            </a:pPr>
            <a:r>
              <a:rPr lang="bg-BG" sz="2000" dirty="0" smtClean="0"/>
              <a:t>Асинхронно (</a:t>
            </a:r>
            <a:r>
              <a:rPr lang="bg-BG" sz="2000" dirty="0" err="1" smtClean="0"/>
              <a:t>asynchronous</a:t>
            </a:r>
            <a:r>
              <a:rPr lang="bg-BG" sz="2000" dirty="0" smtClean="0"/>
              <a:t>) – предаването не може да бъде блокирано</a:t>
            </a:r>
          </a:p>
          <a:p>
            <a:pPr lvl="2">
              <a:lnSpc>
                <a:spcPct val="97000"/>
              </a:lnSpc>
              <a:spcBef>
                <a:spcPts val="0"/>
              </a:spcBef>
            </a:pPr>
            <a:r>
              <a:rPr lang="bg-BG" sz="2000" dirty="0"/>
              <a:t>Синхронно (</a:t>
            </a:r>
            <a:r>
              <a:rPr lang="bg-BG" sz="2000" dirty="0" err="1"/>
              <a:t>synchronous</a:t>
            </a:r>
            <a:r>
              <a:rPr lang="bg-BG" sz="2000" dirty="0"/>
              <a:t>) – изпращачът и приемникът трябва </a:t>
            </a:r>
            <a:r>
              <a:rPr lang="bg-BG" sz="2000" dirty="0">
                <a:effectLst>
                  <a:outerShdw blurRad="38100" dist="38100" dir="2700000" algn="tl">
                    <a:srgbClr val="000000">
                      <a:alpha val="43137"/>
                    </a:srgbClr>
                  </a:outerShdw>
                </a:effectLst>
              </a:rPr>
              <a:t>едновременно</a:t>
            </a:r>
            <a:r>
              <a:rPr lang="bg-BG" sz="2000" dirty="0"/>
              <a:t> да са готови. </a:t>
            </a:r>
          </a:p>
          <a:p>
            <a:pPr lvl="1">
              <a:lnSpc>
                <a:spcPct val="97000"/>
              </a:lnSpc>
              <a:spcBef>
                <a:spcPts val="0"/>
              </a:spcBef>
            </a:pPr>
            <a:r>
              <a:rPr lang="bg-BG" sz="2400" dirty="0" smtClean="0"/>
              <a:t>Буферирано (</a:t>
            </a:r>
            <a:r>
              <a:rPr lang="bg-BG" sz="2400" dirty="0" err="1" smtClean="0"/>
              <a:t>buffered</a:t>
            </a:r>
            <a:r>
              <a:rPr lang="bg-BG" sz="2400" dirty="0" smtClean="0"/>
              <a:t>) – свързване през буфер, т.е. изпращането се блокира, ако буферът е пълен</a:t>
            </a:r>
          </a:p>
          <a:p>
            <a:pPr>
              <a:lnSpc>
                <a:spcPct val="97000"/>
              </a:lnSpc>
              <a:spcBef>
                <a:spcPts val="0"/>
              </a:spcBef>
            </a:pPr>
            <a:r>
              <a:rPr lang="bg-BG" sz="2800" dirty="0" smtClean="0"/>
              <a:t>Методът за синхронизация чрез съобщения е известен като „</a:t>
            </a:r>
            <a:r>
              <a:rPr lang="bg-BG" sz="2800" dirty="0" err="1" smtClean="0"/>
              <a:t>рандеву</a:t>
            </a:r>
            <a:r>
              <a:rPr lang="bg-BG" sz="2800" dirty="0" smtClean="0"/>
              <a:t>“ („</a:t>
            </a:r>
            <a:r>
              <a:rPr lang="bg-BG" sz="2800" i="1" dirty="0" err="1" smtClean="0">
                <a:effectLst>
                  <a:outerShdw blurRad="38100" dist="38100" dir="2700000" algn="tl">
                    <a:srgbClr val="000000">
                      <a:alpha val="43137"/>
                    </a:srgbClr>
                  </a:outerShdw>
                </a:effectLst>
              </a:rPr>
              <a:t>Rendezvous</a:t>
            </a:r>
            <a:r>
              <a:rPr lang="bg-BG" sz="2800" dirty="0" smtClean="0"/>
              <a:t>“).</a:t>
            </a:r>
            <a:endParaRPr lang="bg-BG" sz="2800" dirty="0"/>
          </a:p>
        </p:txBody>
      </p:sp>
    </p:spTree>
    <p:extLst>
      <p:ext uri="{BB962C8B-B14F-4D97-AF65-F5344CB8AC3E}">
        <p14:creationId xmlns:p14="http://schemas.microsoft.com/office/powerpoint/2010/main" val="1915888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Сигнализационни</a:t>
            </a:r>
            <a:r>
              <a:rPr lang="bg-BG" dirty="0"/>
              <a:t> схеми</a:t>
            </a:r>
            <a:endParaRPr lang="en-US" dirty="0"/>
          </a:p>
        </p:txBody>
      </p:sp>
      <p:sp>
        <p:nvSpPr>
          <p:cNvPr id="3" name="Content Placeholder 2"/>
          <p:cNvSpPr>
            <a:spLocks noGrp="1"/>
          </p:cNvSpPr>
          <p:nvPr>
            <p:ph idx="1"/>
          </p:nvPr>
        </p:nvSpPr>
        <p:spPr/>
        <p:txBody>
          <a:bodyPr vert="horz" lIns="91440" tIns="45720" rIns="91440" bIns="45720" rtlCol="0">
            <a:normAutofit lnSpcReduction="10000"/>
          </a:bodyPr>
          <a:lstStyle/>
          <a:p>
            <a:r>
              <a:rPr lang="bg-BG" altLang="en-US" dirty="0" smtClean="0"/>
              <a:t>Според броя на участниците</a:t>
            </a:r>
          </a:p>
          <a:p>
            <a:pPr lvl="1"/>
            <a:r>
              <a:rPr lang="bg-BG" altLang="en-US" dirty="0" smtClean="0"/>
              <a:t>Един-към-един</a:t>
            </a:r>
          </a:p>
          <a:p>
            <a:pPr lvl="1"/>
            <a:r>
              <a:rPr lang="bg-BG" altLang="en-US" dirty="0" smtClean="0"/>
              <a:t>Един-към-много</a:t>
            </a:r>
          </a:p>
          <a:p>
            <a:pPr lvl="1"/>
            <a:r>
              <a:rPr lang="bg-BG" altLang="en-US" dirty="0" smtClean="0"/>
              <a:t>Много-към-един</a:t>
            </a:r>
            <a:endParaRPr lang="en-US" altLang="en-US" dirty="0" smtClean="0"/>
          </a:p>
          <a:p>
            <a:r>
              <a:rPr lang="bg-BG" altLang="en-US" dirty="0" err="1" smtClean="0"/>
              <a:t>Неблокитаща</a:t>
            </a:r>
            <a:r>
              <a:rPr lang="bg-BG" altLang="en-US" dirty="0" smtClean="0"/>
              <a:t> </a:t>
            </a:r>
            <a:r>
              <a:rPr lang="bg-BG" altLang="en-US" dirty="0"/>
              <a:t>сигнализация</a:t>
            </a:r>
            <a:endParaRPr lang="en-US" altLang="en-US" dirty="0"/>
          </a:p>
          <a:p>
            <a:pPr lvl="1"/>
            <a:r>
              <a:rPr lang="bg-BG" altLang="en-US" dirty="0"/>
              <a:t>Нова семафорна операция</a:t>
            </a:r>
            <a:r>
              <a:rPr lang="en-US" altLang="en-US" dirty="0"/>
              <a:t>:  </a:t>
            </a:r>
          </a:p>
          <a:p>
            <a:pPr lvl="2"/>
            <a:r>
              <a:rPr lang="en-US" altLang="en-US" dirty="0" err="1"/>
              <a:t>int</a:t>
            </a:r>
            <a:r>
              <a:rPr lang="en-US" altLang="en-US" dirty="0"/>
              <a:t>  </a:t>
            </a:r>
            <a:r>
              <a:rPr lang="en-US" altLang="en-US" dirty="0" err="1"/>
              <a:t>test_and_reset</a:t>
            </a:r>
            <a:r>
              <a:rPr lang="en-US" altLang="en-US" dirty="0"/>
              <a:t>()</a:t>
            </a:r>
            <a:r>
              <a:rPr lang="bg-BG" altLang="en-US" dirty="0"/>
              <a:t> – връща текущата </a:t>
            </a:r>
            <a:r>
              <a:rPr lang="bg-BG" altLang="en-US" dirty="0" smtClean="0"/>
              <a:t>стойност </a:t>
            </a:r>
            <a:r>
              <a:rPr lang="bg-BG" altLang="en-US" dirty="0"/>
              <a:t>и </a:t>
            </a:r>
            <a:r>
              <a:rPr lang="bg-BG" altLang="en-US" dirty="0" smtClean="0"/>
              <a:t>инициализира семафора с </a:t>
            </a:r>
            <a:r>
              <a:rPr lang="bg-BG" altLang="en-US" dirty="0"/>
              <a:t>0</a:t>
            </a:r>
            <a:r>
              <a:rPr lang="en-US" altLang="en-US" dirty="0"/>
              <a:t>. </a:t>
            </a:r>
          </a:p>
          <a:p>
            <a:r>
              <a:rPr lang="bg-BG" altLang="en-US" dirty="0" smtClean="0"/>
              <a:t>Изпълнение </a:t>
            </a:r>
            <a:r>
              <a:rPr lang="bg-BG" altLang="en-US" dirty="0"/>
              <a:t>на синхронизационните схеми</a:t>
            </a:r>
          </a:p>
          <a:p>
            <a:pPr lvl="1"/>
            <a:r>
              <a:rPr lang="bg-BG" altLang="en-US" dirty="0"/>
              <a:t>Сигнализация за събитие</a:t>
            </a:r>
            <a:endParaRPr lang="en-US" altLang="en-US" dirty="0"/>
          </a:p>
          <a:p>
            <a:pPr lvl="1"/>
            <a:r>
              <a:rPr lang="bg-BG" altLang="en-US" dirty="0"/>
              <a:t>Двупосочна </a:t>
            </a:r>
            <a:r>
              <a:rPr lang="bg-BG" altLang="en-US" dirty="0" smtClean="0"/>
              <a:t>синхронизация</a:t>
            </a:r>
            <a:endParaRPr lang="en-US" altLang="en-US" dirty="0"/>
          </a:p>
          <a:p>
            <a:pPr lvl="1"/>
            <a:r>
              <a:rPr lang="bg-BG" altLang="en-US" dirty="0"/>
              <a:t>Ресурсна синхронизация</a:t>
            </a:r>
            <a:endParaRPr lang="en-US" altLang="en-US" dirty="0"/>
          </a:p>
        </p:txBody>
      </p:sp>
    </p:spTree>
    <p:extLst>
      <p:ext uri="{BB962C8B-B14F-4D97-AF65-F5344CB8AC3E}">
        <p14:creationId xmlns:p14="http://schemas.microsoft.com/office/powerpoint/2010/main" val="2154952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Сигнализационни</a:t>
            </a:r>
            <a:r>
              <a:rPr lang="bg-BG" dirty="0"/>
              <a:t> схеми</a:t>
            </a:r>
            <a:endParaRPr lang="en-US" dirty="0"/>
          </a:p>
        </p:txBody>
      </p:sp>
      <p:sp>
        <p:nvSpPr>
          <p:cNvPr id="3" name="Content Placeholder 2"/>
          <p:cNvSpPr>
            <a:spLocks noGrp="1"/>
          </p:cNvSpPr>
          <p:nvPr>
            <p:ph idx="1"/>
          </p:nvPr>
        </p:nvSpPr>
        <p:spPr/>
        <p:txBody>
          <a:bodyPr vert="horz" lIns="91440" tIns="45720" rIns="91440" bIns="45720" rtlCol="0">
            <a:normAutofit/>
          </a:bodyPr>
          <a:lstStyle/>
          <a:p>
            <a:r>
              <a:rPr lang="bg-BG" altLang="en-US" dirty="0"/>
              <a:t>Един-към-един : използват се двоични семафори</a:t>
            </a:r>
            <a:endParaRPr lang="en-US" altLang="en-US" dirty="0"/>
          </a:p>
          <a:p>
            <a:endParaRPr lang="en-US" dirty="0">
              <a:effectLst>
                <a:outerShdw blurRad="38100" dist="38100" dir="2700000" algn="tl">
                  <a:srgbClr val="000000">
                    <a:alpha val="43137"/>
                  </a:srgbClr>
                </a:outerShdw>
              </a:effectLst>
            </a:endParaRPr>
          </a:p>
        </p:txBody>
      </p:sp>
      <p:pic>
        <p:nvPicPr>
          <p:cNvPr id="4" name="Picture 5" descr="UnidirectionalSign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8033" y="2057401"/>
            <a:ext cx="5783831" cy="4379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6824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Сигнализационни</a:t>
            </a:r>
            <a:r>
              <a:rPr lang="bg-BG" dirty="0"/>
              <a:t> схеми</a:t>
            </a:r>
            <a:endParaRPr lang="en-US" dirty="0"/>
          </a:p>
        </p:txBody>
      </p:sp>
      <p:sp>
        <p:nvSpPr>
          <p:cNvPr id="3" name="Content Placeholder 2"/>
          <p:cNvSpPr>
            <a:spLocks noGrp="1"/>
          </p:cNvSpPr>
          <p:nvPr>
            <p:ph idx="1"/>
          </p:nvPr>
        </p:nvSpPr>
        <p:spPr/>
        <p:txBody>
          <a:bodyPr vert="horz" lIns="91440" tIns="45720" rIns="91440" bIns="45720" rtlCol="0">
            <a:normAutofit/>
          </a:bodyPr>
          <a:lstStyle/>
          <a:p>
            <a:r>
              <a:rPr lang="bg-BG" altLang="en-US" dirty="0" smtClean="0"/>
              <a:t>Един-към-много</a:t>
            </a:r>
          </a:p>
          <a:p>
            <a:pPr lvl="1"/>
            <a:r>
              <a:rPr lang="bg-BG" altLang="en-US" dirty="0" smtClean="0"/>
              <a:t>Изчакващите </a:t>
            </a:r>
            <a:r>
              <a:rPr lang="bg-BG" altLang="en-US" dirty="0"/>
              <a:t>процеси не се сигнализират едновременно, т.е. </a:t>
            </a:r>
            <a:r>
              <a:rPr lang="bg-BG" altLang="en-US" dirty="0" smtClean="0"/>
              <a:t>не </a:t>
            </a:r>
            <a:r>
              <a:rPr lang="bg-BG" altLang="en-US" dirty="0"/>
              <a:t>е много полезен начин за </a:t>
            </a:r>
            <a:r>
              <a:rPr lang="bg-BG" altLang="en-US" dirty="0" smtClean="0"/>
              <a:t>сигнализация.</a:t>
            </a:r>
            <a:endParaRPr lang="en-US" altLang="en-US" dirty="0"/>
          </a:p>
          <a:p>
            <a:endParaRPr lang="en-US" dirty="0">
              <a:effectLst>
                <a:outerShdw blurRad="38100" dist="38100" dir="2700000" algn="tl">
                  <a:srgbClr val="000000">
                    <a:alpha val="43137"/>
                  </a:srgbClr>
                </a:outerShdw>
              </a:effectLst>
            </a:endParaRPr>
          </a:p>
        </p:txBody>
      </p:sp>
      <p:pic>
        <p:nvPicPr>
          <p:cNvPr id="5" name="Picture 6" descr="MultiSign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4458" y="2895600"/>
            <a:ext cx="7086768" cy="3740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621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Сигнализационни</a:t>
            </a:r>
            <a:r>
              <a:rPr lang="bg-BG" dirty="0"/>
              <a:t> схеми</a:t>
            </a:r>
            <a:endParaRPr lang="en-US" dirty="0"/>
          </a:p>
        </p:txBody>
      </p:sp>
      <p:sp>
        <p:nvSpPr>
          <p:cNvPr id="3" name="Content Placeholder 2"/>
          <p:cNvSpPr>
            <a:spLocks noGrp="1"/>
          </p:cNvSpPr>
          <p:nvPr>
            <p:ph idx="1"/>
          </p:nvPr>
        </p:nvSpPr>
        <p:spPr/>
        <p:txBody>
          <a:bodyPr vert="horz" lIns="91440" tIns="45720" rIns="91440" bIns="45720" rtlCol="0">
            <a:normAutofit/>
          </a:bodyPr>
          <a:lstStyle/>
          <a:p>
            <a:r>
              <a:rPr lang="bg-BG" altLang="en-US" dirty="0" smtClean="0"/>
              <a:t>Много-към-един</a:t>
            </a:r>
          </a:p>
          <a:p>
            <a:endParaRPr lang="en-US" dirty="0">
              <a:effectLst>
                <a:outerShdw blurRad="38100" dist="38100" dir="2700000" algn="tl">
                  <a:srgbClr val="000000">
                    <a:alpha val="43137"/>
                  </a:srgbClr>
                </a:outerShdw>
              </a:effectLst>
            </a:endParaRPr>
          </a:p>
        </p:txBody>
      </p:sp>
      <p:pic>
        <p:nvPicPr>
          <p:cNvPr id="6" name="Picture 7" descr="MultiWai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0212" y="2438400"/>
            <a:ext cx="8639910" cy="3894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831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Сигнализационни</a:t>
            </a:r>
            <a:r>
              <a:rPr lang="bg-BG" dirty="0"/>
              <a:t> схеми</a:t>
            </a:r>
            <a:endParaRPr lang="en-US" dirty="0"/>
          </a:p>
        </p:txBody>
      </p:sp>
      <p:sp>
        <p:nvSpPr>
          <p:cNvPr id="3" name="Content Placeholder 2"/>
          <p:cNvSpPr>
            <a:spLocks noGrp="1"/>
          </p:cNvSpPr>
          <p:nvPr>
            <p:ph idx="1"/>
          </p:nvPr>
        </p:nvSpPr>
        <p:spPr/>
        <p:txBody>
          <a:bodyPr vert="horz" lIns="91440" tIns="45720" rIns="91440" bIns="45720" rtlCol="0">
            <a:normAutofit/>
          </a:bodyPr>
          <a:lstStyle/>
          <a:p>
            <a:r>
              <a:rPr lang="bg-BG" altLang="en-US" dirty="0" smtClean="0"/>
              <a:t>Чрез събитийни флагове</a:t>
            </a:r>
          </a:p>
          <a:p>
            <a:pPr lvl="1"/>
            <a:r>
              <a:rPr lang="bg-BG" altLang="en-US" dirty="0" smtClean="0"/>
              <a:t>Обща променлива достъпна от два или повече процеса</a:t>
            </a:r>
          </a:p>
          <a:p>
            <a:pPr lvl="1"/>
            <a:r>
              <a:rPr lang="bg-BG" altLang="en-US" dirty="0" smtClean="0"/>
              <a:t>Тук е задължително да има диспечиране предварително съгласуване (</a:t>
            </a:r>
            <a:r>
              <a:rPr lang="bg-BG" altLang="en-US" dirty="0" err="1" smtClean="0"/>
              <a:t>preemptive</a:t>
            </a:r>
            <a:r>
              <a:rPr lang="bg-BG" altLang="en-US" dirty="0" smtClean="0"/>
              <a:t> </a:t>
            </a:r>
            <a:r>
              <a:rPr lang="bg-BG" altLang="en-US" dirty="0" err="1" smtClean="0"/>
              <a:t>scheduling</a:t>
            </a:r>
            <a:r>
              <a:rPr lang="bg-BG" altLang="en-US" dirty="0" smtClean="0"/>
              <a:t>).</a:t>
            </a:r>
          </a:p>
          <a:p>
            <a:pPr lvl="2"/>
            <a:r>
              <a:rPr lang="bg-BG" altLang="en-US" dirty="0" smtClean="0"/>
              <a:t>Само в тази ситуация процесът А</a:t>
            </a:r>
            <a:r>
              <a:rPr lang="bg-BG" altLang="en-US" dirty="0"/>
              <a:t/>
            </a:r>
            <a:br>
              <a:rPr lang="bg-BG" altLang="en-US" dirty="0"/>
            </a:br>
            <a:r>
              <a:rPr lang="bg-BG" altLang="en-US" dirty="0" smtClean="0"/>
              <a:t>ще може да прекъсне процеса </a:t>
            </a:r>
            <a:r>
              <a:rPr lang="bg-BG" altLang="en-US" dirty="0"/>
              <a:t>B  </a:t>
            </a:r>
            <a:br>
              <a:rPr lang="bg-BG" altLang="en-US" dirty="0"/>
            </a:br>
            <a:r>
              <a:rPr lang="bg-BG" altLang="en-US" dirty="0"/>
              <a:t>и </a:t>
            </a:r>
            <a:r>
              <a:rPr lang="bg-BG" altLang="en-US" dirty="0" smtClean="0"/>
              <a:t>да настрои флага.</a:t>
            </a:r>
            <a:endParaRPr lang="bg-BG" altLang="en-US" dirty="0"/>
          </a:p>
        </p:txBody>
      </p:sp>
      <p:pic>
        <p:nvPicPr>
          <p:cNvPr id="4" name="Picture 5" descr="BusyWai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2307" y="3352800"/>
            <a:ext cx="3698716" cy="3338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501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Синхронизация с ресурсни семафори</a:t>
            </a:r>
            <a:endParaRPr lang="en-US" dirty="0"/>
          </a:p>
        </p:txBody>
      </p:sp>
      <p:sp>
        <p:nvSpPr>
          <p:cNvPr id="3" name="Content Placeholder 2"/>
          <p:cNvSpPr>
            <a:spLocks noGrp="1"/>
          </p:cNvSpPr>
          <p:nvPr>
            <p:ph idx="1"/>
          </p:nvPr>
        </p:nvSpPr>
        <p:spPr/>
        <p:txBody>
          <a:bodyPr/>
          <a:lstStyle/>
          <a:p>
            <a:r>
              <a:rPr lang="bg-BG" dirty="0" smtClean="0"/>
              <a:t>Реализация</a:t>
            </a:r>
            <a:endParaRPr lang="en-US" dirty="0"/>
          </a:p>
        </p:txBody>
      </p:sp>
      <p:pic>
        <p:nvPicPr>
          <p:cNvPr id="4" name="Picture 3" descr="LockUnl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2" y="1752600"/>
            <a:ext cx="7371797" cy="4764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2167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Двупосочни синхронизации</a:t>
            </a:r>
            <a:endParaRPr lang="en-US" dirty="0"/>
          </a:p>
        </p:txBody>
      </p:sp>
      <p:sp>
        <p:nvSpPr>
          <p:cNvPr id="3" name="Content Placeholder 2"/>
          <p:cNvSpPr>
            <a:spLocks noGrp="1"/>
          </p:cNvSpPr>
          <p:nvPr>
            <p:ph idx="1"/>
          </p:nvPr>
        </p:nvSpPr>
        <p:spPr/>
        <p:txBody>
          <a:bodyPr vert="horz" lIns="91440" tIns="45720" rIns="91440" bIns="45720" rtlCol="0">
            <a:normAutofit/>
          </a:bodyPr>
          <a:lstStyle/>
          <a:p>
            <a:r>
              <a:rPr lang="bg-BG" altLang="en-US" dirty="0" smtClean="0"/>
              <a:t>„Ръкостискане“ (</a:t>
            </a:r>
            <a:r>
              <a:rPr lang="en-US" altLang="en-US" dirty="0" smtClean="0"/>
              <a:t>Hand-shaking</a:t>
            </a:r>
            <a:r>
              <a:rPr lang="bg-BG" altLang="en-US" dirty="0" smtClean="0"/>
              <a:t>)</a:t>
            </a:r>
            <a:endParaRPr lang="en-US" dirty="0"/>
          </a:p>
        </p:txBody>
      </p:sp>
      <p:pic>
        <p:nvPicPr>
          <p:cNvPr id="6" name="Picture 4" descr="Hand-shak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6212" y="2057400"/>
            <a:ext cx="5981357"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7967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Двупосочни синхронизации</a:t>
            </a:r>
            <a:endParaRPr lang="en-US" dirty="0"/>
          </a:p>
        </p:txBody>
      </p:sp>
      <p:sp>
        <p:nvSpPr>
          <p:cNvPr id="3" name="Content Placeholder 2"/>
          <p:cNvSpPr>
            <a:spLocks noGrp="1"/>
          </p:cNvSpPr>
          <p:nvPr>
            <p:ph idx="1"/>
          </p:nvPr>
        </p:nvSpPr>
        <p:spPr/>
        <p:txBody>
          <a:bodyPr vert="horz" lIns="91440" tIns="45720" rIns="91440" bIns="45720" rtlCol="0">
            <a:normAutofit/>
          </a:bodyPr>
          <a:lstStyle/>
          <a:p>
            <a:r>
              <a:rPr lang="bg-BG" altLang="en-US" dirty="0" smtClean="0"/>
              <a:t>„Симетрично </a:t>
            </a:r>
            <a:r>
              <a:rPr lang="bg-BG" altLang="en-US" dirty="0" err="1" smtClean="0"/>
              <a:t>рандеву</a:t>
            </a:r>
            <a:r>
              <a:rPr lang="bg-BG" altLang="en-US" dirty="0" smtClean="0"/>
              <a:t>“ (</a:t>
            </a:r>
            <a:r>
              <a:rPr lang="en-US" altLang="en-US" dirty="0" smtClean="0"/>
              <a:t>Symmetrical Rendezvous</a:t>
            </a:r>
            <a:r>
              <a:rPr lang="bg-BG" altLang="en-US" dirty="0" smtClean="0"/>
              <a:t>)</a:t>
            </a:r>
            <a:endParaRPr lang="en-US" dirty="0"/>
          </a:p>
        </p:txBody>
      </p:sp>
      <p:pic>
        <p:nvPicPr>
          <p:cNvPr id="5" name="Picture 3" descr="Rendezvou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4811" y="2133600"/>
            <a:ext cx="616000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62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Междузадачна</a:t>
            </a:r>
            <a:r>
              <a:rPr lang="bg-BG" dirty="0"/>
              <a:t> комуникация</a:t>
            </a:r>
            <a:endParaRPr lang="en-US" dirty="0"/>
          </a:p>
        </p:txBody>
      </p:sp>
      <p:sp>
        <p:nvSpPr>
          <p:cNvPr id="3" name="Content Placeholder 2"/>
          <p:cNvSpPr>
            <a:spLocks noGrp="1"/>
          </p:cNvSpPr>
          <p:nvPr>
            <p:ph idx="1"/>
          </p:nvPr>
        </p:nvSpPr>
        <p:spPr/>
        <p:txBody>
          <a:bodyPr/>
          <a:lstStyle/>
          <a:p>
            <a:pPr marL="514350" indent="-514350">
              <a:spcBef>
                <a:spcPts val="300"/>
              </a:spcBef>
            </a:pPr>
            <a:r>
              <a:rPr lang="bg-BG" altLang="en-US" dirty="0"/>
              <a:t>Асинхронна комуникация</a:t>
            </a:r>
            <a:r>
              <a:rPr lang="en-US" altLang="en-US" dirty="0" smtClean="0"/>
              <a:t>:</a:t>
            </a:r>
            <a:endParaRPr lang="bg-BG" altLang="en-US" dirty="0" smtClean="0"/>
          </a:p>
          <a:p>
            <a:pPr marL="915987" lvl="2" indent="-514350">
              <a:spcBef>
                <a:spcPts val="300"/>
              </a:spcBef>
              <a:buSzPct val="70000"/>
              <a:buFont typeface="Wingdings" panose="05000000000000000000" pitchFamily="2" charset="2"/>
              <a:buChar char="Ä"/>
            </a:pPr>
            <a:r>
              <a:rPr lang="bg-BG" altLang="en-US" sz="2800" dirty="0"/>
              <a:t>Основен проблем: </a:t>
            </a:r>
          </a:p>
          <a:p>
            <a:pPr marL="1487487" lvl="2" indent="-457200">
              <a:spcBef>
                <a:spcPts val="300"/>
              </a:spcBef>
            </a:pPr>
            <a:r>
              <a:rPr lang="bg-BG" altLang="en-US" dirty="0" smtClean="0"/>
              <a:t>Ако </a:t>
            </a:r>
            <a:r>
              <a:rPr lang="bg-BG" altLang="en-US" dirty="0"/>
              <a:t>данните се записват по-често от четенето, </a:t>
            </a:r>
            <a:r>
              <a:rPr lang="bg-BG" altLang="en-US" dirty="0" smtClean="0"/>
              <a:t>то </a:t>
            </a:r>
            <a:r>
              <a:rPr lang="bg-BG" altLang="en-US" dirty="0"/>
              <a:t>само последният запис ще се прочете.</a:t>
            </a:r>
          </a:p>
          <a:p>
            <a:pPr marL="1487487" lvl="2" indent="-457200">
              <a:spcBef>
                <a:spcPts val="300"/>
              </a:spcBef>
            </a:pPr>
            <a:r>
              <a:rPr lang="bg-BG" altLang="en-US" dirty="0"/>
              <a:t>Пример: ‘</a:t>
            </a:r>
            <a:r>
              <a:rPr lang="bg-BG" altLang="en-US" dirty="0" err="1"/>
              <a:t>Производител-потребител’</a:t>
            </a:r>
            <a:r>
              <a:rPr lang="bg-BG" altLang="en-US" dirty="0"/>
              <a:t> (</a:t>
            </a:r>
            <a:r>
              <a:rPr lang="en-US" altLang="en-US" dirty="0"/>
              <a:t>‘Producer-Consumer’</a:t>
            </a:r>
            <a:r>
              <a:rPr lang="bg-BG" altLang="en-US" dirty="0"/>
              <a:t>)</a:t>
            </a:r>
            <a:r>
              <a:rPr lang="en-US" altLang="en-US" dirty="0"/>
              <a:t>. </a:t>
            </a:r>
          </a:p>
          <a:p>
            <a:pPr>
              <a:spcBef>
                <a:spcPts val="300"/>
              </a:spcBef>
            </a:pPr>
            <a:endParaRPr lang="en-US" dirty="0"/>
          </a:p>
        </p:txBody>
      </p:sp>
      <p:pic>
        <p:nvPicPr>
          <p:cNvPr id="4" name="Picture 5" descr="ProdecerConsumer-asyn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2012" y="3381464"/>
            <a:ext cx="5598206" cy="3306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667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Междузадачна</a:t>
            </a:r>
            <a:r>
              <a:rPr lang="bg-BG" dirty="0"/>
              <a:t> комуникация</a:t>
            </a:r>
            <a:endParaRPr lang="en-US" dirty="0"/>
          </a:p>
        </p:txBody>
      </p:sp>
      <p:sp>
        <p:nvSpPr>
          <p:cNvPr id="3" name="Content Placeholder 2"/>
          <p:cNvSpPr>
            <a:spLocks noGrp="1"/>
          </p:cNvSpPr>
          <p:nvPr>
            <p:ph idx="1"/>
          </p:nvPr>
        </p:nvSpPr>
        <p:spPr/>
        <p:txBody>
          <a:bodyPr/>
          <a:lstStyle/>
          <a:p>
            <a:pPr marL="514350" indent="-514350">
              <a:spcBef>
                <a:spcPts val="300"/>
              </a:spcBef>
            </a:pPr>
            <a:r>
              <a:rPr lang="bg-BG" altLang="en-US" dirty="0" smtClean="0"/>
              <a:t>Синхронна комуникация</a:t>
            </a:r>
            <a:r>
              <a:rPr lang="en-US" altLang="en-US" dirty="0" smtClean="0"/>
              <a:t>:</a:t>
            </a:r>
            <a:endParaRPr lang="bg-BG" altLang="en-US" dirty="0" smtClean="0"/>
          </a:p>
          <a:p>
            <a:pPr marL="908050" lvl="1" indent="-514350">
              <a:spcBef>
                <a:spcPts val="300"/>
              </a:spcBef>
            </a:pPr>
            <a:r>
              <a:rPr lang="bg-BG" altLang="en-US" dirty="0" smtClean="0"/>
              <a:t>Буферирана комуникация</a:t>
            </a:r>
          </a:p>
        </p:txBody>
      </p:sp>
      <p:pic>
        <p:nvPicPr>
          <p:cNvPr id="5" name="Picture 21" descr="ProdecerConsumer-syn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6398" y="2852738"/>
            <a:ext cx="5979166" cy="37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4800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Междузадачна</a:t>
            </a:r>
            <a:r>
              <a:rPr lang="bg-BG" dirty="0"/>
              <a:t> комуникация</a:t>
            </a:r>
            <a:endParaRPr lang="en-US" dirty="0"/>
          </a:p>
        </p:txBody>
      </p:sp>
      <p:sp>
        <p:nvSpPr>
          <p:cNvPr id="3" name="Content Placeholder 2"/>
          <p:cNvSpPr>
            <a:spLocks noGrp="1"/>
          </p:cNvSpPr>
          <p:nvPr>
            <p:ph idx="1"/>
          </p:nvPr>
        </p:nvSpPr>
        <p:spPr/>
        <p:txBody>
          <a:bodyPr/>
          <a:lstStyle/>
          <a:p>
            <a:pPr marL="514350" indent="-514350"/>
            <a:r>
              <a:rPr lang="bg-BG" altLang="en-US" dirty="0"/>
              <a:t>Асинхронна комуникация с </a:t>
            </a:r>
            <a:r>
              <a:rPr lang="bg-BG" altLang="en-US" dirty="0" err="1"/>
              <a:t>многопозиционен</a:t>
            </a:r>
            <a:r>
              <a:rPr lang="bg-BG" altLang="en-US" dirty="0"/>
              <a:t> (</a:t>
            </a:r>
            <a:r>
              <a:rPr lang="bg-BG" altLang="en-US" dirty="0" err="1"/>
              <a:t>многослотен</a:t>
            </a:r>
            <a:r>
              <a:rPr lang="bg-BG" altLang="en-US" dirty="0"/>
              <a:t>) буфер</a:t>
            </a:r>
            <a:endParaRPr lang="en-US" altLang="en-US" dirty="0"/>
          </a:p>
          <a:p>
            <a:pPr marL="1085850" lvl="1" indent="-457200"/>
            <a:r>
              <a:rPr lang="bg-BG" altLang="en-US" dirty="0"/>
              <a:t>Работата с буфера се управлява с ресурсен семафор.</a:t>
            </a:r>
            <a:endParaRPr lang="en-US" altLang="en-US" dirty="0"/>
          </a:p>
          <a:p>
            <a:pPr marL="1085850" lvl="1" indent="-457200"/>
            <a:r>
              <a:rPr lang="bg-BG" altLang="en-US" dirty="0"/>
              <a:t>Състоянието се сигнализира с два двоични семафора</a:t>
            </a:r>
            <a:r>
              <a:rPr lang="en-US" altLang="en-US" dirty="0"/>
              <a:t>: </a:t>
            </a:r>
          </a:p>
          <a:p>
            <a:pPr marL="1543050" lvl="2"/>
            <a:r>
              <a:rPr lang="en-US" altLang="en-US" dirty="0"/>
              <a:t>‘not-full’ </a:t>
            </a:r>
          </a:p>
          <a:p>
            <a:pPr marL="1543050" lvl="2"/>
            <a:r>
              <a:rPr lang="en-US" altLang="en-US" dirty="0" smtClean="0"/>
              <a:t>‘not-empty</a:t>
            </a:r>
            <a:r>
              <a:rPr lang="en-US" altLang="en-US" dirty="0"/>
              <a:t>’</a:t>
            </a:r>
            <a:endParaRPr lang="bg-BG" altLang="en-US" sz="2800" dirty="0" smtClean="0"/>
          </a:p>
        </p:txBody>
      </p:sp>
      <p:pic>
        <p:nvPicPr>
          <p:cNvPr id="6" name="Picture 22" descr="ProdecerConsumer-multisl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2812" y="4724400"/>
            <a:ext cx="6668694"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731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Процеси </a:t>
            </a:r>
            <a:r>
              <a:rPr lang="bg-BG" dirty="0" smtClean="0"/>
              <a:t>в „Реално </a:t>
            </a:r>
            <a:r>
              <a:rPr lang="bg-BG" dirty="0" smtClean="0"/>
              <a:t>време“</a:t>
            </a:r>
            <a:endParaRPr lang="en-US" dirty="0"/>
          </a:p>
        </p:txBody>
      </p:sp>
      <p:sp>
        <p:nvSpPr>
          <p:cNvPr id="3" name="Content Placeholder 2"/>
          <p:cNvSpPr>
            <a:spLocks noGrp="1"/>
          </p:cNvSpPr>
          <p:nvPr>
            <p:ph idx="1"/>
          </p:nvPr>
        </p:nvSpPr>
        <p:spPr/>
        <p:txBody>
          <a:bodyPr vert="horz" lIns="91440" tIns="45720" rIns="91440" bIns="45720" rtlCol="0">
            <a:normAutofit/>
          </a:bodyPr>
          <a:lstStyle/>
          <a:p>
            <a:pPr marL="514350" indent="-514350">
              <a:spcBef>
                <a:spcPts val="300"/>
              </a:spcBef>
            </a:pPr>
            <a:r>
              <a:rPr lang="bg-BG" altLang="en-US" dirty="0"/>
              <a:t>Според ограничение по време:</a:t>
            </a:r>
            <a:endParaRPr lang="en-US" altLang="en-US" dirty="0"/>
          </a:p>
          <a:p>
            <a:pPr marL="1085850" lvl="1" indent="-457200">
              <a:spcBef>
                <a:spcPts val="300"/>
              </a:spcBef>
            </a:pPr>
            <a:r>
              <a:rPr lang="bg-BG" altLang="en-US" dirty="0"/>
              <a:t>Твърди </a:t>
            </a:r>
            <a:r>
              <a:rPr lang="bg-BG" altLang="en-US" dirty="0"/>
              <a:t>задачи (англ. </a:t>
            </a:r>
            <a:r>
              <a:rPr lang="en-US" altLang="en-US" dirty="0" smtClean="0"/>
              <a:t>Hard </a:t>
            </a:r>
            <a:r>
              <a:rPr lang="en-US" altLang="en-US" dirty="0"/>
              <a:t>real-time</a:t>
            </a:r>
            <a:r>
              <a:rPr lang="bg-BG" altLang="en-US" dirty="0" smtClean="0"/>
              <a:t>)</a:t>
            </a:r>
            <a:r>
              <a:rPr lang="en-US" altLang="en-US" dirty="0" smtClean="0"/>
              <a:t> </a:t>
            </a:r>
            <a:endParaRPr lang="en-US" altLang="en-US" dirty="0"/>
          </a:p>
          <a:p>
            <a:pPr marL="1085850" lvl="1" indent="-457200">
              <a:spcBef>
                <a:spcPts val="300"/>
              </a:spcBef>
            </a:pPr>
            <a:r>
              <a:rPr lang="bg-BG" altLang="en-US" dirty="0"/>
              <a:t>Меки </a:t>
            </a:r>
            <a:r>
              <a:rPr lang="bg-BG" altLang="en-US" dirty="0"/>
              <a:t>задачи (англ. </a:t>
            </a:r>
            <a:r>
              <a:rPr lang="en-US" altLang="en-US" dirty="0" smtClean="0"/>
              <a:t>Soft </a:t>
            </a:r>
            <a:r>
              <a:rPr lang="en-US" altLang="en-US" dirty="0"/>
              <a:t>real-time</a:t>
            </a:r>
            <a:r>
              <a:rPr lang="bg-BG" altLang="en-US" dirty="0" smtClean="0"/>
              <a:t>)</a:t>
            </a:r>
            <a:endParaRPr lang="en-US" altLang="en-US" dirty="0" smtClean="0"/>
          </a:p>
          <a:p>
            <a:pPr marL="1085850" lvl="1" indent="-457200">
              <a:spcBef>
                <a:spcPts val="300"/>
              </a:spcBef>
            </a:pPr>
            <a:r>
              <a:rPr lang="bg-BG" altLang="en-US" dirty="0" smtClean="0"/>
              <a:t>Устойчиви </a:t>
            </a:r>
            <a:r>
              <a:rPr lang="bg-BG" altLang="en-US" dirty="0" smtClean="0"/>
              <a:t>задачи </a:t>
            </a:r>
            <a:r>
              <a:rPr lang="bg-BG" altLang="en-US" dirty="0" smtClean="0"/>
              <a:t>(англ. </a:t>
            </a:r>
            <a:r>
              <a:rPr lang="en-US" altLang="en-US" dirty="0" smtClean="0"/>
              <a:t>Firm real-time)</a:t>
            </a:r>
            <a:endParaRPr lang="en-US" altLang="en-US" dirty="0"/>
          </a:p>
          <a:p>
            <a:pPr marL="514350" indent="-514350">
              <a:spcBef>
                <a:spcPts val="300"/>
              </a:spcBef>
            </a:pPr>
            <a:r>
              <a:rPr lang="bg-BG" altLang="en-US" dirty="0"/>
              <a:t>Според момент на активация</a:t>
            </a:r>
            <a:endParaRPr lang="en-US" altLang="en-US" dirty="0"/>
          </a:p>
          <a:p>
            <a:pPr marL="1085850" lvl="1" indent="-457200">
              <a:spcBef>
                <a:spcPts val="300"/>
              </a:spcBef>
            </a:pPr>
            <a:r>
              <a:rPr lang="bg-BG" altLang="en-US" dirty="0"/>
              <a:t>Периодични</a:t>
            </a:r>
            <a:endParaRPr lang="en-US" altLang="en-US" dirty="0"/>
          </a:p>
          <a:p>
            <a:pPr marL="1085850" lvl="1" indent="-457200">
              <a:spcBef>
                <a:spcPts val="300"/>
              </a:spcBef>
            </a:pPr>
            <a:r>
              <a:rPr lang="bg-BG" altLang="en-US" dirty="0"/>
              <a:t>Апериодични</a:t>
            </a:r>
            <a:endParaRPr lang="en-US" altLang="en-US" dirty="0"/>
          </a:p>
          <a:p>
            <a:pPr marL="1085850" lvl="1" indent="-457200">
              <a:spcBef>
                <a:spcPts val="300"/>
              </a:spcBef>
            </a:pPr>
            <a:r>
              <a:rPr lang="bg-BG" altLang="en-US" dirty="0"/>
              <a:t>Спорадични</a:t>
            </a:r>
          </a:p>
          <a:p>
            <a:pPr marL="514350" indent="-514350">
              <a:spcBef>
                <a:spcPts val="300"/>
              </a:spcBef>
            </a:pP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7612" y="4495800"/>
            <a:ext cx="6302375"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3636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Процеси в „Реално време“</a:t>
            </a:r>
            <a:endParaRPr lang="en-US" dirty="0"/>
          </a:p>
        </p:txBody>
      </p:sp>
      <p:sp>
        <p:nvSpPr>
          <p:cNvPr id="3" name="Content Placeholder 2"/>
          <p:cNvSpPr>
            <a:spLocks noGrp="1"/>
          </p:cNvSpPr>
          <p:nvPr>
            <p:ph idx="1"/>
          </p:nvPr>
        </p:nvSpPr>
        <p:spPr/>
        <p:txBody>
          <a:bodyPr vert="horz" lIns="91440" tIns="45720" rIns="91440" bIns="45720" rtlCol="0">
            <a:normAutofit lnSpcReduction="10000"/>
          </a:bodyPr>
          <a:lstStyle/>
          <a:p>
            <a:pPr marL="514350" indent="-514350">
              <a:spcBef>
                <a:spcPts val="300"/>
              </a:spcBef>
            </a:pPr>
            <a:r>
              <a:rPr lang="bg-BG" altLang="en-US" dirty="0" smtClean="0"/>
              <a:t>Периодични</a:t>
            </a:r>
            <a:endParaRPr lang="en-US" altLang="en-US" dirty="0"/>
          </a:p>
          <a:p>
            <a:pPr marL="1085850" lvl="1" indent="-457200">
              <a:spcBef>
                <a:spcPts val="300"/>
              </a:spcBef>
            </a:pPr>
            <a:r>
              <a:rPr lang="bg-BG" altLang="en-US" dirty="0"/>
              <a:t>Управлявани от време (</a:t>
            </a:r>
            <a:r>
              <a:rPr lang="en-US" altLang="en-US" dirty="0"/>
              <a:t>Time-driven</a:t>
            </a:r>
            <a:r>
              <a:rPr lang="bg-BG" altLang="en-US" dirty="0"/>
              <a:t>)</a:t>
            </a:r>
            <a:r>
              <a:rPr lang="en-US" altLang="en-US" dirty="0"/>
              <a:t>. </a:t>
            </a:r>
            <a:endParaRPr lang="bg-BG" altLang="en-US" dirty="0"/>
          </a:p>
          <a:p>
            <a:pPr marL="1085850" lvl="1" indent="-457200">
              <a:spcBef>
                <a:spcPts val="300"/>
              </a:spcBef>
            </a:pPr>
            <a:r>
              <a:rPr lang="bg-BG" altLang="en-US" dirty="0"/>
              <a:t>Характеристиките са априорно зададени</a:t>
            </a:r>
            <a:endParaRPr lang="en-US" altLang="en-US" dirty="0"/>
          </a:p>
          <a:p>
            <a:pPr lvl="2"/>
            <a:r>
              <a:rPr lang="bg-BG" altLang="en-US" dirty="0"/>
              <a:t>Процесът</a:t>
            </a:r>
            <a:r>
              <a:rPr lang="en-US" altLang="en-US" dirty="0"/>
              <a:t> </a:t>
            </a:r>
            <a:r>
              <a:rPr lang="en-US" altLang="en-US" dirty="0" err="1"/>
              <a:t>T</a:t>
            </a:r>
            <a:r>
              <a:rPr lang="en-US" altLang="en-US" baseline="-25000" dirty="0" err="1"/>
              <a:t>i</a:t>
            </a:r>
            <a:r>
              <a:rPr lang="en-US" altLang="en-US" dirty="0"/>
              <a:t> </a:t>
            </a:r>
            <a:r>
              <a:rPr lang="bg-BG" altLang="en-US" dirty="0"/>
              <a:t>се характеризира чрез периода си, най-лошо време за изпълнение и краен период</a:t>
            </a:r>
            <a:endParaRPr lang="en-US" altLang="en-US" dirty="0"/>
          </a:p>
          <a:p>
            <a:pPr marL="514350" indent="-514350">
              <a:spcBef>
                <a:spcPts val="300"/>
              </a:spcBef>
            </a:pPr>
            <a:r>
              <a:rPr lang="bg-BG" altLang="en-US" dirty="0"/>
              <a:t>Апериодични</a:t>
            </a:r>
            <a:endParaRPr lang="en-US" altLang="en-US" dirty="0"/>
          </a:p>
          <a:p>
            <a:pPr marL="1085850" lvl="1" indent="-457200">
              <a:spcBef>
                <a:spcPts val="300"/>
              </a:spcBef>
            </a:pPr>
            <a:r>
              <a:rPr lang="bg-BG" altLang="en-US" dirty="0"/>
              <a:t>Управлявани от събития (</a:t>
            </a:r>
            <a:r>
              <a:rPr lang="en-US" altLang="en-US" dirty="0"/>
              <a:t>Event-driven</a:t>
            </a:r>
            <a:r>
              <a:rPr lang="bg-BG" altLang="en-US" dirty="0"/>
              <a:t>)</a:t>
            </a:r>
            <a:r>
              <a:rPr lang="en-US" altLang="en-US" dirty="0"/>
              <a:t>. </a:t>
            </a:r>
            <a:endParaRPr lang="bg-BG" altLang="en-US" dirty="0"/>
          </a:p>
          <a:p>
            <a:pPr marL="1085850" lvl="1" indent="-457200">
              <a:spcBef>
                <a:spcPts val="300"/>
              </a:spcBef>
            </a:pPr>
            <a:r>
              <a:rPr lang="bg-BG" altLang="en-US" dirty="0"/>
              <a:t>Характеристиките не са априорно зададени</a:t>
            </a:r>
            <a:endParaRPr lang="en-US" altLang="en-US" dirty="0"/>
          </a:p>
          <a:p>
            <a:pPr lvl="2"/>
            <a:r>
              <a:rPr lang="bg-BG" altLang="en-US" dirty="0"/>
              <a:t>Процесът</a:t>
            </a:r>
            <a:r>
              <a:rPr lang="en-US" altLang="en-US" dirty="0"/>
              <a:t> </a:t>
            </a:r>
            <a:r>
              <a:rPr lang="en-US" altLang="en-US" dirty="0" err="1"/>
              <a:t>T</a:t>
            </a:r>
            <a:r>
              <a:rPr lang="en-US" altLang="en-US" baseline="-25000" dirty="0" err="1"/>
              <a:t>i</a:t>
            </a:r>
            <a:r>
              <a:rPr lang="en-US" altLang="en-US" dirty="0"/>
              <a:t> </a:t>
            </a:r>
            <a:r>
              <a:rPr lang="bg-BG" altLang="en-US" dirty="0"/>
              <a:t>се характеризира чрез време за получаване, време за изпълнение, най-лошо време за изпълнение и краен период</a:t>
            </a:r>
            <a:r>
              <a:rPr lang="en-US" altLang="en-US" dirty="0"/>
              <a:t>. </a:t>
            </a:r>
          </a:p>
          <a:p>
            <a:pPr marL="514350" indent="-514350">
              <a:spcBef>
                <a:spcPts val="300"/>
              </a:spcBef>
            </a:pPr>
            <a:r>
              <a:rPr lang="bg-BG" altLang="en-US" dirty="0"/>
              <a:t>Спорадични </a:t>
            </a:r>
          </a:p>
          <a:p>
            <a:pPr marL="1085850" lvl="1" indent="-457200">
              <a:spcBef>
                <a:spcPts val="300"/>
              </a:spcBef>
            </a:pPr>
            <a:r>
              <a:rPr lang="bg-BG" altLang="en-US" dirty="0"/>
              <a:t>Апериодични, за които се знае минималното време за </a:t>
            </a:r>
            <a:r>
              <a:rPr lang="bg-BG" altLang="en-US" dirty="0" smtClean="0"/>
              <a:t>появяване.</a:t>
            </a:r>
            <a:endParaRPr lang="bg-BG" altLang="en-US" dirty="0"/>
          </a:p>
          <a:p>
            <a:pPr marL="514350" indent="-514350">
              <a:spcBef>
                <a:spcPts val="300"/>
              </a:spcBef>
            </a:pPr>
            <a:endParaRPr lang="en-US" dirty="0"/>
          </a:p>
        </p:txBody>
      </p:sp>
    </p:spTree>
    <p:extLst>
      <p:ext uri="{BB962C8B-B14F-4D97-AF65-F5344CB8AC3E}">
        <p14:creationId xmlns:p14="http://schemas.microsoft.com/office/powerpoint/2010/main" val="1226606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Разпределено програмиране</a:t>
            </a:r>
            <a:endParaRPr lang="en-US" dirty="0"/>
          </a:p>
        </p:txBody>
      </p:sp>
      <p:sp>
        <p:nvSpPr>
          <p:cNvPr id="3" name="Content Placeholder 2"/>
          <p:cNvSpPr>
            <a:spLocks noGrp="1"/>
          </p:cNvSpPr>
          <p:nvPr>
            <p:ph idx="1"/>
          </p:nvPr>
        </p:nvSpPr>
        <p:spPr/>
        <p:txBody>
          <a:bodyPr>
            <a:normAutofit/>
          </a:bodyPr>
          <a:lstStyle/>
          <a:p>
            <a:r>
              <a:rPr lang="bg-BG" sz="2800" dirty="0" smtClean="0"/>
              <a:t>Първоначално, терминът се е използвал за компютърните мрежи, където отделните компютри са физически разпределени в рамките на определен географски район.</a:t>
            </a:r>
          </a:p>
          <a:p>
            <a:r>
              <a:rPr lang="bg-BG" sz="2800" dirty="0" smtClean="0"/>
              <a:t>Сега, този термин се използва в много по-широк смисъл</a:t>
            </a:r>
          </a:p>
          <a:p>
            <a:pPr lvl="1"/>
            <a:r>
              <a:rPr lang="bg-BG" sz="2400" dirty="0" smtClean="0"/>
              <a:t>Използва се дори и за описание на </a:t>
            </a:r>
            <a:r>
              <a:rPr lang="bg-BG" sz="2400" dirty="0" smtClean="0">
                <a:effectLst>
                  <a:outerShdw blurRad="38100" dist="38100" dir="2700000" algn="tl">
                    <a:srgbClr val="000000">
                      <a:alpha val="43137"/>
                    </a:srgbClr>
                  </a:outerShdw>
                </a:effectLst>
              </a:rPr>
              <a:t>автономни процеси</a:t>
            </a:r>
            <a:r>
              <a:rPr lang="bg-BG" sz="2400" dirty="0" smtClean="0"/>
              <a:t>, които се изпълняват на един и същ физически компютър и взаимодействат един с друг чрез </a:t>
            </a:r>
            <a:r>
              <a:rPr lang="bg-BG" sz="2400" dirty="0" smtClean="0">
                <a:effectLst>
                  <a:outerShdw blurRad="38100" dist="38100" dir="2700000" algn="tl">
                    <a:srgbClr val="000000">
                      <a:alpha val="43137"/>
                    </a:srgbClr>
                  </a:outerShdw>
                </a:effectLst>
              </a:rPr>
              <a:t>предаване на съобщения</a:t>
            </a:r>
            <a:r>
              <a:rPr lang="bg-BG" sz="2400" dirty="0" smtClean="0"/>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9812" y="3810000"/>
            <a:ext cx="3657600" cy="288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910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Разпределено програмиране</a:t>
            </a:r>
            <a:endParaRPr lang="en-US" dirty="0"/>
          </a:p>
        </p:txBody>
      </p:sp>
      <p:sp>
        <p:nvSpPr>
          <p:cNvPr id="3" name="Content Placeholder 2"/>
          <p:cNvSpPr>
            <a:spLocks noGrp="1"/>
          </p:cNvSpPr>
          <p:nvPr>
            <p:ph idx="1"/>
          </p:nvPr>
        </p:nvSpPr>
        <p:spPr>
          <a:xfrm>
            <a:off x="908662" y="1143000"/>
            <a:ext cx="10672150" cy="5410200"/>
          </a:xfrm>
        </p:spPr>
        <p:txBody>
          <a:bodyPr>
            <a:normAutofit lnSpcReduction="10000"/>
          </a:bodyPr>
          <a:lstStyle/>
          <a:p>
            <a:r>
              <a:rPr lang="bg-BG" sz="2800" dirty="0" smtClean="0"/>
              <a:t>Основните елементи на разпределеното програмиране са две:</a:t>
            </a:r>
          </a:p>
          <a:p>
            <a:pPr lvl="1"/>
            <a:r>
              <a:rPr lang="bg-BG" sz="2400" dirty="0" err="1" smtClean="0"/>
              <a:t>Междупроцесорна</a:t>
            </a:r>
            <a:r>
              <a:rPr lang="bg-BG" sz="2400" dirty="0" smtClean="0"/>
              <a:t> комуникация</a:t>
            </a:r>
          </a:p>
          <a:p>
            <a:pPr lvl="2"/>
            <a:r>
              <a:rPr lang="bg-BG" sz="2000" dirty="0" smtClean="0"/>
              <a:t>Винаги участват </a:t>
            </a:r>
            <a:r>
              <a:rPr lang="bg-BG" sz="2000" dirty="0" smtClean="0">
                <a:effectLst>
                  <a:outerShdw blurRad="38100" dist="38100" dir="2700000" algn="tl">
                    <a:srgbClr val="000000">
                      <a:alpha val="43137"/>
                    </a:srgbClr>
                  </a:outerShdw>
                </a:effectLst>
              </a:rPr>
              <a:t>два или повече </a:t>
            </a:r>
            <a:r>
              <a:rPr lang="bg-BG" sz="2000" dirty="0" smtClean="0"/>
              <a:t>независими процеса.</a:t>
            </a:r>
          </a:p>
          <a:p>
            <a:pPr lvl="2"/>
            <a:r>
              <a:rPr lang="bg-BG" sz="2000" dirty="0" smtClean="0"/>
              <a:t>Процесите трябва да имат възможността да </a:t>
            </a:r>
            <a:r>
              <a:rPr lang="bg-BG" sz="2000" dirty="0" smtClean="0">
                <a:effectLst>
                  <a:outerShdw blurRad="38100" dist="38100" dir="2700000" algn="tl">
                    <a:srgbClr val="000000">
                      <a:alpha val="43137"/>
                    </a:srgbClr>
                  </a:outerShdw>
                </a:effectLst>
              </a:rPr>
              <a:t>обменят данни </a:t>
            </a:r>
            <a:r>
              <a:rPr lang="bg-BG" sz="2000" dirty="0" smtClean="0"/>
              <a:t>помежду си.</a:t>
            </a:r>
          </a:p>
          <a:p>
            <a:pPr lvl="1"/>
            <a:r>
              <a:rPr lang="bg-BG" sz="2400" dirty="0" smtClean="0"/>
              <a:t>Синхронизиране по събития (</a:t>
            </a:r>
            <a:r>
              <a:rPr lang="bg-BG" sz="2400" dirty="0" err="1" smtClean="0"/>
              <a:t>events</a:t>
            </a:r>
            <a:r>
              <a:rPr lang="bg-BG" sz="2400" dirty="0" smtClean="0"/>
              <a:t>)</a:t>
            </a:r>
          </a:p>
          <a:p>
            <a:pPr lvl="2"/>
            <a:r>
              <a:rPr lang="bg-BG" sz="2000" dirty="0" smtClean="0"/>
              <a:t>Изпращането и получаването на данни между процесите </a:t>
            </a:r>
            <a:r>
              <a:rPr lang="bg-BG" sz="2000" dirty="0" smtClean="0">
                <a:effectLst>
                  <a:outerShdw blurRad="38100" dist="38100" dir="2700000" algn="tl">
                    <a:srgbClr val="000000">
                      <a:alpha val="43137"/>
                    </a:srgbClr>
                  </a:outerShdw>
                </a:effectLst>
              </a:rPr>
              <a:t>задължително </a:t>
            </a:r>
            <a:r>
              <a:rPr lang="bg-BG" sz="2000" dirty="0" smtClean="0"/>
              <a:t>трябва да бъде синхронизирано.</a:t>
            </a:r>
          </a:p>
          <a:p>
            <a:r>
              <a:rPr lang="bg-BG" sz="2800" dirty="0" smtClean="0"/>
              <a:t>Разпределеното програмиране като парадигма</a:t>
            </a:r>
          </a:p>
          <a:p>
            <a:pPr lvl="1"/>
            <a:r>
              <a:rPr lang="bg-BG" sz="2400" dirty="0" smtClean="0"/>
              <a:t>В различна степен тази парадигма осигурява абстракции, които изолират разработчиците от подробностите на </a:t>
            </a:r>
            <a:r>
              <a:rPr lang="bg-BG" sz="2400" dirty="0" err="1" smtClean="0"/>
              <a:t>междупроцесорната</a:t>
            </a:r>
            <a:r>
              <a:rPr lang="bg-BG" sz="2400" dirty="0" smtClean="0"/>
              <a:t> комуникация и синхронизирането на събитията, което позволява на програмиста да се концентрира върху „по-общата“ картина.</a:t>
            </a:r>
          </a:p>
          <a:p>
            <a:pPr lvl="1"/>
            <a:r>
              <a:rPr lang="bg-BG" sz="2400" dirty="0" smtClean="0"/>
              <a:t>Както всяка парадигма, и тук съществуват компромиси, които трябва да бъдат взети под внимание: </a:t>
            </a:r>
            <a:r>
              <a:rPr lang="bg-BG" sz="2400" dirty="0" err="1" smtClean="0"/>
              <a:t>мащабируемостта</a:t>
            </a:r>
            <a:r>
              <a:rPr lang="bg-BG" sz="2400" dirty="0" smtClean="0"/>
              <a:t>, междуплатформени проблеми, </a:t>
            </a:r>
            <a:r>
              <a:rPr lang="bg-BG" sz="2400" dirty="0"/>
              <a:t>режийните разходи (</a:t>
            </a:r>
            <a:r>
              <a:rPr lang="bg-BG" sz="2400" dirty="0" err="1"/>
              <a:t>overheads</a:t>
            </a:r>
            <a:r>
              <a:rPr lang="bg-BG" sz="2400" dirty="0"/>
              <a:t>), </a:t>
            </a:r>
            <a:r>
              <a:rPr lang="bg-BG" sz="2400" dirty="0" smtClean="0"/>
              <a:t>проблеми с управление на разработката.</a:t>
            </a:r>
          </a:p>
        </p:txBody>
      </p:sp>
    </p:spTree>
    <p:extLst>
      <p:ext uri="{BB962C8B-B14F-4D97-AF65-F5344CB8AC3E}">
        <p14:creationId xmlns:p14="http://schemas.microsoft.com/office/powerpoint/2010/main" val="392676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Нива на абстракция</a:t>
            </a:r>
            <a:endParaRPr lang="en-US" dirty="0"/>
          </a:p>
        </p:txBody>
      </p:sp>
      <p:graphicFrame>
        <p:nvGraphicFramePr>
          <p:cNvPr id="10" name="Content Placeholder 9"/>
          <p:cNvGraphicFramePr>
            <a:graphicFrameLocks noGrp="1"/>
          </p:cNvGraphicFramePr>
          <p:nvPr>
            <p:ph idx="1"/>
            <p:extLst/>
          </p:nvPr>
        </p:nvGraphicFramePr>
        <p:xfrm>
          <a:off x="2970212" y="2209800"/>
          <a:ext cx="8610600" cy="3657600"/>
        </p:xfrm>
        <a:graphic>
          <a:graphicData uri="http://schemas.openxmlformats.org/drawingml/2006/table">
            <a:tbl>
              <a:tblPr firstRow="1" bandRow="1">
                <a:tableStyleId>{69CF1AB2-1976-4502-BF36-3FF5EA218861}</a:tableStyleId>
              </a:tblPr>
              <a:tblGrid>
                <a:gridCol w="8610600">
                  <a:extLst>
                    <a:ext uri="{9D8B030D-6E8A-4147-A177-3AD203B41FA5}">
                      <a16:colId xmlns:a16="http://schemas.microsoft.com/office/drawing/2014/main" val="20000"/>
                    </a:ext>
                  </a:extLst>
                </a:gridCol>
              </a:tblGrid>
              <a:tr h="370840">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US" sz="2800" b="0" dirty="0" smtClean="0">
                          <a:solidFill>
                            <a:srgbClr val="7D1109"/>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Object Space</a:t>
                      </a:r>
                      <a:endParaRPr lang="en-US" sz="2800" b="0" dirty="0">
                        <a:solidFill>
                          <a:srgbClr val="7D1109"/>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50000"/>
                        </a:lnSpc>
                        <a:spcBef>
                          <a:spcPts val="600"/>
                        </a:spcBef>
                        <a:spcAft>
                          <a:spcPts val="600"/>
                        </a:spcAft>
                        <a:buClrTx/>
                        <a:buSzTx/>
                        <a:buFontTx/>
                        <a:buNone/>
                        <a:tabLst/>
                        <a:defRPr/>
                      </a:pPr>
                      <a:r>
                        <a:rPr lang="en-US" sz="2800" dirty="0" smtClean="0">
                          <a:solidFill>
                            <a:srgbClr val="7D1109"/>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Network services, Object request broker, Mobile agent</a:t>
                      </a:r>
                    </a:p>
                  </a:txBody>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50000"/>
                        </a:lnSpc>
                        <a:spcBef>
                          <a:spcPts val="600"/>
                        </a:spcBef>
                        <a:spcAft>
                          <a:spcPts val="600"/>
                        </a:spcAft>
                        <a:buClrTx/>
                        <a:buSzTx/>
                        <a:buFontTx/>
                        <a:buNone/>
                        <a:tabLst/>
                        <a:defRPr/>
                      </a:pPr>
                      <a:r>
                        <a:rPr lang="en-US" sz="2800" dirty="0" smtClean="0">
                          <a:solidFill>
                            <a:srgbClr val="7D1109"/>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Remote procedure call, Remote method invocation</a:t>
                      </a:r>
                      <a:endParaRPr lang="en-US" sz="2800" dirty="0">
                        <a:solidFill>
                          <a:srgbClr val="7D1109"/>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50000"/>
                        </a:lnSpc>
                        <a:spcBef>
                          <a:spcPts val="600"/>
                        </a:spcBef>
                        <a:spcAft>
                          <a:spcPts val="600"/>
                        </a:spcAft>
                        <a:buClrTx/>
                        <a:buSzTx/>
                        <a:buFontTx/>
                        <a:buNone/>
                        <a:tabLst/>
                        <a:defRPr/>
                      </a:pPr>
                      <a:r>
                        <a:rPr lang="en-US" sz="2800" dirty="0" smtClean="0">
                          <a:solidFill>
                            <a:srgbClr val="7D1109"/>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Client-Server</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50000"/>
                        </a:lnSpc>
                        <a:spcBef>
                          <a:spcPts val="600"/>
                        </a:spcBef>
                        <a:spcAft>
                          <a:spcPts val="600"/>
                        </a:spcAft>
                        <a:buClrTx/>
                        <a:buSzTx/>
                        <a:buFontTx/>
                        <a:buNone/>
                        <a:tabLst/>
                        <a:defRPr/>
                      </a:pPr>
                      <a:r>
                        <a:rPr lang="en-US" sz="2800" dirty="0" smtClean="0">
                          <a:solidFill>
                            <a:srgbClr val="7D1109"/>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Message passing level</a:t>
                      </a:r>
                      <a:endParaRPr lang="en-US" sz="2800" dirty="0">
                        <a:solidFill>
                          <a:srgbClr val="7D1109"/>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4"/>
                  </a:ext>
                </a:extLst>
              </a:tr>
            </a:tbl>
          </a:graphicData>
        </a:graphic>
      </p:graphicFrame>
      <p:sp>
        <p:nvSpPr>
          <p:cNvPr id="4" name="Rectangle 3"/>
          <p:cNvSpPr/>
          <p:nvPr/>
        </p:nvSpPr>
        <p:spPr>
          <a:xfrm rot="16200000">
            <a:off x="190999" y="3746957"/>
            <a:ext cx="2560316" cy="430887"/>
          </a:xfrm>
          <a:prstGeom prst="rect">
            <a:avLst/>
          </a:prstGeom>
        </p:spPr>
        <p:txBody>
          <a:bodyPr wrap="none">
            <a:spAutoFit/>
          </a:bodyPr>
          <a:lstStyle/>
          <a:p>
            <a:r>
              <a:rPr lang="bg-BG" sz="2200" dirty="0" smtClean="0">
                <a:solidFill>
                  <a:schemeClr val="bg1">
                    <a:lumMod val="50000"/>
                  </a:schemeClr>
                </a:solidFill>
                <a:latin typeface="Calibri" panose="020F0502020204030204" pitchFamily="34" charset="0"/>
                <a:cs typeface="Calibri" panose="020F0502020204030204" pitchFamily="34" charset="0"/>
              </a:rPr>
              <a:t>Нива на абстракция</a:t>
            </a:r>
            <a:endParaRPr lang="en-US" sz="2200" dirty="0">
              <a:solidFill>
                <a:schemeClr val="bg1">
                  <a:lumMod val="50000"/>
                </a:schemeClr>
              </a:solidFill>
              <a:latin typeface="Calibri" panose="020F0502020204030204" pitchFamily="34" charset="0"/>
              <a:cs typeface="Calibri" panose="020F0502020204030204" pitchFamily="34" charset="0"/>
            </a:endParaRPr>
          </a:p>
        </p:txBody>
      </p:sp>
      <p:sp>
        <p:nvSpPr>
          <p:cNvPr id="6" name="Up Arrow 5"/>
          <p:cNvSpPr/>
          <p:nvPr/>
        </p:nvSpPr>
        <p:spPr>
          <a:xfrm>
            <a:off x="2055812" y="2057400"/>
            <a:ext cx="114300" cy="3810000"/>
          </a:xfrm>
          <a:prstGeom prst="upArrow">
            <a:avLst/>
          </a:prstGeom>
          <a:solidFill>
            <a:srgbClr val="FFC000"/>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636365" y="6172200"/>
            <a:ext cx="779637" cy="369332"/>
          </a:xfrm>
          <a:prstGeom prst="rect">
            <a:avLst/>
          </a:prstGeom>
        </p:spPr>
        <p:txBody>
          <a:bodyPr wrap="none">
            <a:spAutoFit/>
          </a:bodyPr>
          <a:lstStyle/>
          <a:p>
            <a:r>
              <a:rPr lang="bg-BG" b="1" dirty="0" smtClean="0">
                <a:solidFill>
                  <a:schemeClr val="tx2"/>
                </a:solidFill>
                <a:latin typeface="Calibri" panose="020F0502020204030204" pitchFamily="34" charset="0"/>
                <a:cs typeface="Calibri" panose="020F0502020204030204" pitchFamily="34" charset="0"/>
              </a:rPr>
              <a:t>Ниска</a:t>
            </a:r>
            <a:endParaRPr lang="en-US" b="1" dirty="0">
              <a:solidFill>
                <a:schemeClr val="tx2"/>
              </a:solidFill>
              <a:latin typeface="Calibri" panose="020F0502020204030204" pitchFamily="34" charset="0"/>
              <a:cs typeface="Calibri" panose="020F0502020204030204" pitchFamily="34" charset="0"/>
            </a:endParaRPr>
          </a:p>
        </p:txBody>
      </p:sp>
      <p:sp>
        <p:nvSpPr>
          <p:cNvPr id="8" name="Rectangle 7"/>
          <p:cNvSpPr/>
          <p:nvPr/>
        </p:nvSpPr>
        <p:spPr>
          <a:xfrm>
            <a:off x="1591482" y="1524000"/>
            <a:ext cx="887038" cy="369332"/>
          </a:xfrm>
          <a:prstGeom prst="rect">
            <a:avLst/>
          </a:prstGeom>
        </p:spPr>
        <p:txBody>
          <a:bodyPr wrap="none">
            <a:spAutoFit/>
          </a:bodyPr>
          <a:lstStyle/>
          <a:p>
            <a:r>
              <a:rPr lang="bg-BG" b="1" dirty="0" smtClean="0">
                <a:solidFill>
                  <a:schemeClr val="tx2"/>
                </a:solidFill>
                <a:latin typeface="Calibri" panose="020F0502020204030204" pitchFamily="34" charset="0"/>
                <a:cs typeface="Calibri" panose="020F0502020204030204" pitchFamily="34" charset="0"/>
              </a:rPr>
              <a:t>Висока</a:t>
            </a:r>
            <a:endParaRPr lang="en-US"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9050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Парадигма, базирани на съобщения</a:t>
            </a:r>
            <a:endParaRPr lang="en-US" dirty="0"/>
          </a:p>
        </p:txBody>
      </p:sp>
      <p:sp>
        <p:nvSpPr>
          <p:cNvPr id="3" name="Content Placeholder 2"/>
          <p:cNvSpPr>
            <a:spLocks noGrp="1"/>
          </p:cNvSpPr>
          <p:nvPr>
            <p:ph idx="1"/>
          </p:nvPr>
        </p:nvSpPr>
        <p:spPr/>
        <p:txBody>
          <a:bodyPr>
            <a:noAutofit/>
          </a:bodyPr>
          <a:lstStyle/>
          <a:p>
            <a:pPr>
              <a:spcBef>
                <a:spcPts val="300"/>
              </a:spcBef>
            </a:pPr>
            <a:r>
              <a:rPr lang="bg-BG" sz="2800" dirty="0" smtClean="0"/>
              <a:t>Парадигмата, базирани на съобщения (</a:t>
            </a:r>
            <a:r>
              <a:rPr lang="bg-BG" sz="2800" dirty="0" err="1" smtClean="0"/>
              <a:t>англ</a:t>
            </a:r>
            <a:r>
              <a:rPr lang="bg-BG" sz="2800" dirty="0" smtClean="0"/>
              <a:t>. </a:t>
            </a:r>
            <a:r>
              <a:rPr lang="bg-BG" sz="2800" dirty="0" err="1" smtClean="0"/>
              <a:t>Message</a:t>
            </a:r>
            <a:r>
              <a:rPr lang="bg-BG" sz="2800" dirty="0" smtClean="0"/>
              <a:t> </a:t>
            </a:r>
            <a:r>
              <a:rPr lang="bg-BG" sz="2800" dirty="0" err="1" smtClean="0"/>
              <a:t>passing</a:t>
            </a:r>
            <a:r>
              <a:rPr lang="bg-BG" sz="2800" dirty="0" smtClean="0"/>
              <a:t>) е най-фундаменталната парадигма за разпределени приложения.</a:t>
            </a:r>
          </a:p>
          <a:p>
            <a:pPr lvl="1">
              <a:spcBef>
                <a:spcPts val="300"/>
              </a:spcBef>
            </a:pPr>
            <a:r>
              <a:rPr lang="bg-BG" sz="2400" dirty="0" smtClean="0"/>
              <a:t>Най-базовите абстракции: подател (</a:t>
            </a:r>
            <a:r>
              <a:rPr lang="bg-BG" sz="2400" dirty="0" err="1" smtClean="0"/>
              <a:t>sender</a:t>
            </a:r>
            <a:r>
              <a:rPr lang="bg-BG" sz="2400" dirty="0" smtClean="0"/>
              <a:t>), получател (</a:t>
            </a:r>
            <a:r>
              <a:rPr lang="bg-BG" sz="2400" dirty="0" err="1" smtClean="0"/>
              <a:t>receiver</a:t>
            </a:r>
            <a:r>
              <a:rPr lang="bg-BG" sz="2400" dirty="0" smtClean="0"/>
              <a:t>), съобщения (</a:t>
            </a:r>
            <a:r>
              <a:rPr lang="bg-BG" sz="2400" dirty="0" err="1" smtClean="0"/>
              <a:t>message</a:t>
            </a:r>
            <a:r>
              <a:rPr lang="bg-BG" sz="2400" dirty="0" smtClean="0"/>
              <a:t>)</a:t>
            </a:r>
          </a:p>
          <a:p>
            <a:pPr lvl="2">
              <a:spcBef>
                <a:spcPts val="300"/>
              </a:spcBef>
            </a:pPr>
            <a:r>
              <a:rPr lang="bg-BG" sz="2000" dirty="0" smtClean="0"/>
              <a:t>Процесът изпраща съобщение, представляващо </a:t>
            </a:r>
            <a:r>
              <a:rPr lang="bg-BG" sz="2000" dirty="0" smtClean="0">
                <a:effectLst>
                  <a:outerShdw blurRad="38100" dist="38100" dir="2700000" algn="tl">
                    <a:srgbClr val="000000">
                      <a:alpha val="43137"/>
                    </a:srgbClr>
                  </a:outerShdw>
                </a:effectLst>
              </a:rPr>
              <a:t>заявка</a:t>
            </a:r>
            <a:r>
              <a:rPr lang="bg-BG" sz="2000" dirty="0" smtClean="0"/>
              <a:t> за изпълнение на … (нещо).</a:t>
            </a:r>
          </a:p>
          <a:p>
            <a:pPr lvl="2">
              <a:spcBef>
                <a:spcPts val="300"/>
              </a:spcBef>
            </a:pPr>
            <a:r>
              <a:rPr lang="bg-BG" sz="2000" dirty="0" smtClean="0"/>
              <a:t>Съобщението се предава на </a:t>
            </a:r>
            <a:r>
              <a:rPr lang="bg-BG" sz="2000" dirty="0" smtClean="0">
                <a:effectLst>
                  <a:outerShdw blurRad="38100" dist="38100" dir="2700000" algn="tl">
                    <a:srgbClr val="000000">
                      <a:alpha val="43137"/>
                    </a:srgbClr>
                  </a:outerShdw>
                </a:effectLst>
              </a:rPr>
              <a:t>получател</a:t>
            </a:r>
            <a:r>
              <a:rPr lang="bg-BG" sz="2000" dirty="0" smtClean="0"/>
              <a:t>, който обработва заявката и </a:t>
            </a:r>
            <a:r>
              <a:rPr lang="bg-BG" sz="2000" dirty="0" smtClean="0">
                <a:effectLst>
                  <a:outerShdw blurRad="38100" dist="38100" dir="2700000" algn="tl">
                    <a:srgbClr val="000000">
                      <a:alpha val="43137"/>
                    </a:srgbClr>
                  </a:outerShdw>
                </a:effectLst>
              </a:rPr>
              <a:t>изпраща </a:t>
            </a:r>
            <a:r>
              <a:rPr lang="bg-BG" sz="2000" dirty="0" smtClean="0"/>
              <a:t>съобщение в </a:t>
            </a:r>
            <a:r>
              <a:rPr lang="bg-BG" sz="2000" dirty="0" smtClean="0">
                <a:effectLst>
                  <a:outerShdw blurRad="38100" dist="38100" dir="2700000" algn="tl">
                    <a:srgbClr val="000000">
                      <a:alpha val="43137"/>
                    </a:srgbClr>
                  </a:outerShdw>
                </a:effectLst>
              </a:rPr>
              <a:t>отговор</a:t>
            </a:r>
            <a:r>
              <a:rPr lang="bg-BG" sz="2000" dirty="0" smtClean="0"/>
              <a:t>.</a:t>
            </a:r>
          </a:p>
          <a:p>
            <a:pPr lvl="2">
              <a:spcBef>
                <a:spcPts val="300"/>
              </a:spcBef>
            </a:pPr>
            <a:r>
              <a:rPr lang="bg-BG" sz="2000" dirty="0" smtClean="0"/>
              <a:t>На свой ред отговорът може да доведе до ново искане, което води до отговор и т.н.</a:t>
            </a:r>
          </a:p>
          <a:p>
            <a:pPr>
              <a:spcBef>
                <a:spcPts val="300"/>
              </a:spcBef>
            </a:pPr>
            <a:r>
              <a:rPr lang="bg-BG" sz="2800" dirty="0" smtClean="0"/>
              <a:t>Това изисква наличието на специална инфраструктура за реализация на базовия механизъм за предаване/пренос/приемане на съобщения, която управлява процеса на предаване на съобщенията между два процеса. </a:t>
            </a:r>
          </a:p>
          <a:p>
            <a:pPr lvl="1">
              <a:spcBef>
                <a:spcPts val="300"/>
              </a:spcBef>
            </a:pPr>
            <a:r>
              <a:rPr lang="bg-BG" sz="2400" dirty="0" smtClean="0"/>
              <a:t>Най-често такава система се означава като </a:t>
            </a:r>
            <a:r>
              <a:rPr lang="bg-BG" sz="2400" i="1" dirty="0" err="1" smtClean="0">
                <a:effectLst>
                  <a:outerShdw blurRad="38100" dist="38100" dir="2700000" algn="tl">
                    <a:srgbClr val="000000">
                      <a:alpha val="43137"/>
                    </a:srgbClr>
                  </a:outerShdw>
                </a:effectLst>
              </a:rPr>
              <a:t>Message-Oriented</a:t>
            </a:r>
            <a:r>
              <a:rPr lang="bg-BG" sz="2400" i="1" dirty="0" smtClean="0">
                <a:effectLst>
                  <a:outerShdw blurRad="38100" dist="38100" dir="2700000" algn="tl">
                    <a:srgbClr val="000000">
                      <a:alpha val="43137"/>
                    </a:srgbClr>
                  </a:outerShdw>
                </a:effectLst>
              </a:rPr>
              <a:t> </a:t>
            </a:r>
            <a:r>
              <a:rPr lang="bg-BG" sz="2400" i="1" dirty="0" err="1" smtClean="0">
                <a:effectLst>
                  <a:outerShdw blurRad="38100" dist="38100" dir="2700000" algn="tl">
                    <a:srgbClr val="000000">
                      <a:alpha val="43137"/>
                    </a:srgbClr>
                  </a:outerShdw>
                </a:effectLst>
              </a:rPr>
              <a:t>Middleware</a:t>
            </a:r>
            <a:r>
              <a:rPr lang="bg-BG" sz="2400" dirty="0" smtClean="0"/>
              <a:t>.</a:t>
            </a:r>
          </a:p>
          <a:p>
            <a:pPr lvl="2">
              <a:spcBef>
                <a:spcPts val="300"/>
              </a:spcBef>
            </a:pPr>
            <a:r>
              <a:rPr lang="bg-BG" sz="2000" dirty="0" err="1" smtClean="0"/>
              <a:t>Middleware</a:t>
            </a:r>
            <a:r>
              <a:rPr lang="bg-BG" sz="2000" dirty="0" smtClean="0"/>
              <a:t>  - софтуер, който е специално свързващо звено (т.нар. „мост“) две приложения, свързани чрез мрежова комуникация</a:t>
            </a:r>
          </a:p>
          <a:p>
            <a:pPr lvl="2">
              <a:spcBef>
                <a:spcPts val="300"/>
              </a:spcBef>
            </a:pPr>
            <a:endParaRPr lang="bg-BG" sz="2000" dirty="0" smtClean="0"/>
          </a:p>
        </p:txBody>
      </p:sp>
    </p:spTree>
    <p:extLst>
      <p:ext uri="{BB962C8B-B14F-4D97-AF65-F5344CB8AC3E}">
        <p14:creationId xmlns:p14="http://schemas.microsoft.com/office/powerpoint/2010/main" val="289012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Парадигма, базирани на съобщения</a:t>
            </a:r>
            <a:endParaRPr lang="en-US" dirty="0"/>
          </a:p>
        </p:txBody>
      </p:sp>
      <p:sp>
        <p:nvSpPr>
          <p:cNvPr id="3" name="Content Placeholder 2"/>
          <p:cNvSpPr>
            <a:spLocks noGrp="1"/>
          </p:cNvSpPr>
          <p:nvPr>
            <p:ph idx="1"/>
          </p:nvPr>
        </p:nvSpPr>
        <p:spPr/>
        <p:txBody>
          <a:bodyPr>
            <a:noAutofit/>
          </a:bodyPr>
          <a:lstStyle/>
          <a:p>
            <a:pPr>
              <a:lnSpc>
                <a:spcPct val="75000"/>
              </a:lnSpc>
              <a:spcBef>
                <a:spcPts val="300"/>
              </a:spcBef>
            </a:pPr>
            <a:r>
              <a:rPr lang="bg-BG" sz="2800" dirty="0" smtClean="0"/>
              <a:t>В тази парадигма една системата за управление на съобщенията служи като посредник между отделните независими процеси.</a:t>
            </a:r>
          </a:p>
          <a:p>
            <a:pPr lvl="1">
              <a:lnSpc>
                <a:spcPct val="75000"/>
              </a:lnSpc>
              <a:spcBef>
                <a:spcPts val="300"/>
              </a:spcBef>
            </a:pPr>
            <a:r>
              <a:rPr lang="bg-BG" sz="2400" dirty="0" smtClean="0"/>
              <a:t>Системата за управление на съобщения действа като превключвател (</a:t>
            </a:r>
            <a:r>
              <a:rPr lang="bg-BG" sz="2400" dirty="0" err="1" smtClean="0"/>
              <a:t>router</a:t>
            </a:r>
            <a:r>
              <a:rPr lang="bg-BG" sz="2400" dirty="0" smtClean="0"/>
              <a:t>) за съобщения, който процесите обменят като част от взаимодействието помежду им.</a:t>
            </a:r>
          </a:p>
          <a:p>
            <a:pPr lvl="2">
              <a:lnSpc>
                <a:spcPct val="75000"/>
              </a:lnSpc>
              <a:spcBef>
                <a:spcPts val="300"/>
              </a:spcBef>
            </a:pPr>
            <a:r>
              <a:rPr lang="bg-BG" sz="2000" dirty="0" smtClean="0"/>
              <a:t>Подателят депозира съобщение в системата за съобщения, която добавя това ново съобщение към опашката на съобщения, свързана с зададения получател.</a:t>
            </a:r>
          </a:p>
          <a:p>
            <a:pPr lvl="1">
              <a:lnSpc>
                <a:spcPct val="75000"/>
              </a:lnSpc>
              <a:spcBef>
                <a:spcPts val="300"/>
              </a:spcBef>
            </a:pPr>
            <a:r>
              <a:rPr lang="bg-BG" sz="2400" dirty="0" smtClean="0"/>
              <a:t>След като бъде изпратено съобщение, подателят е свободен да премине към други задачи (асинхронен обмен) или задължително изчаква отговора (синхронен </a:t>
            </a:r>
            <a:r>
              <a:rPr lang="bg-BG" sz="2400" dirty="0"/>
              <a:t>обмен</a:t>
            </a:r>
            <a:r>
              <a:rPr lang="bg-BG" sz="2400" dirty="0" smtClean="0"/>
              <a:t>).</a:t>
            </a:r>
          </a:p>
          <a:p>
            <a:pPr lvl="1">
              <a:lnSpc>
                <a:spcPct val="75000"/>
              </a:lnSpc>
              <a:spcBef>
                <a:spcPts val="300"/>
              </a:spcBef>
            </a:pPr>
            <a:r>
              <a:rPr lang="bg-BG" sz="2400" dirty="0" smtClean="0"/>
              <a:t>Основните операции, необходими за поддържане на базовото предаване на парадигмата, се изпращане (</a:t>
            </a:r>
            <a:r>
              <a:rPr lang="bg-BG" sz="2400" dirty="0" err="1" smtClean="0">
                <a:effectLst>
                  <a:outerShdw blurRad="38100" dist="38100" dir="2700000" algn="tl">
                    <a:srgbClr val="000000">
                      <a:alpha val="43137"/>
                    </a:srgbClr>
                  </a:outerShdw>
                </a:effectLst>
              </a:rPr>
              <a:t>send</a:t>
            </a:r>
            <a:r>
              <a:rPr lang="bg-BG" sz="2400" dirty="0" smtClean="0"/>
              <a:t>) и получаване (</a:t>
            </a:r>
            <a:r>
              <a:rPr lang="bg-BG" sz="2400" dirty="0" err="1" smtClean="0">
                <a:effectLst>
                  <a:outerShdw blurRad="38100" dist="38100" dir="2700000" algn="tl">
                    <a:srgbClr val="000000">
                      <a:alpha val="43137"/>
                    </a:srgbClr>
                  </a:outerShdw>
                </a:effectLst>
              </a:rPr>
              <a:t>receive</a:t>
            </a:r>
            <a:r>
              <a:rPr lang="bg-BG" sz="2400" dirty="0" smtClean="0"/>
              <a:t>).</a:t>
            </a:r>
          </a:p>
          <a:p>
            <a:pPr>
              <a:lnSpc>
                <a:spcPct val="75000"/>
              </a:lnSpc>
              <a:spcBef>
                <a:spcPts val="300"/>
              </a:spcBef>
            </a:pPr>
            <a:r>
              <a:rPr lang="bg-BG" sz="2800" dirty="0" smtClean="0"/>
              <a:t>Съществ</a:t>
            </a:r>
            <a:r>
              <a:rPr lang="bg-BG" sz="2800" dirty="0"/>
              <a:t>у</a:t>
            </a:r>
            <a:r>
              <a:rPr lang="bg-BG" sz="2800" dirty="0" smtClean="0"/>
              <a:t>ват два вида:</a:t>
            </a:r>
          </a:p>
          <a:p>
            <a:pPr lvl="1">
              <a:lnSpc>
                <a:spcPct val="75000"/>
              </a:lnSpc>
              <a:spcBef>
                <a:spcPts val="300"/>
              </a:spcBef>
            </a:pPr>
            <a:r>
              <a:rPr lang="bg-BG" dirty="0" smtClean="0"/>
              <a:t>Чрез предварително дефинирани контакти (</a:t>
            </a:r>
            <a:r>
              <a:rPr lang="bg-BG" dirty="0" err="1" smtClean="0"/>
              <a:t>англ</a:t>
            </a:r>
            <a:r>
              <a:rPr lang="bg-BG" dirty="0" smtClean="0"/>
              <a:t>. </a:t>
            </a:r>
            <a:r>
              <a:rPr lang="bg-BG" sz="2400" dirty="0" err="1" smtClean="0"/>
              <a:t>Connection-oriented</a:t>
            </a:r>
            <a:r>
              <a:rPr lang="bg-BG" sz="2400" dirty="0" smtClean="0"/>
              <a:t> </a:t>
            </a:r>
            <a:r>
              <a:rPr lang="bg-BG" sz="2400" dirty="0" err="1" smtClean="0"/>
              <a:t>communication</a:t>
            </a:r>
            <a:r>
              <a:rPr lang="bg-BG" dirty="0" smtClean="0"/>
              <a:t>)</a:t>
            </a:r>
          </a:p>
          <a:p>
            <a:pPr lvl="2">
              <a:lnSpc>
                <a:spcPct val="75000"/>
              </a:lnSpc>
              <a:spcBef>
                <a:spcPts val="300"/>
              </a:spcBef>
            </a:pPr>
            <a:r>
              <a:rPr lang="bg-BG" dirty="0" smtClean="0"/>
              <a:t>Използват се задължителни команди за закачане(</a:t>
            </a:r>
            <a:r>
              <a:rPr lang="bg-BG" dirty="0" err="1" smtClean="0">
                <a:effectLst>
                  <a:outerShdw blurRad="38100" dist="38100" dir="2700000" algn="tl">
                    <a:srgbClr val="000000">
                      <a:alpha val="43137"/>
                    </a:srgbClr>
                  </a:outerShdw>
                </a:effectLst>
              </a:rPr>
              <a:t>connect</a:t>
            </a:r>
            <a:r>
              <a:rPr lang="bg-BG" dirty="0" smtClean="0"/>
              <a:t> )/изключване (</a:t>
            </a:r>
            <a:r>
              <a:rPr lang="bg-BG" dirty="0" err="1" smtClean="0">
                <a:effectLst>
                  <a:outerShdw blurRad="38100" dist="38100" dir="2700000" algn="tl">
                    <a:srgbClr val="000000">
                      <a:alpha val="43137"/>
                    </a:srgbClr>
                  </a:outerShdw>
                </a:effectLst>
              </a:rPr>
              <a:t>disconnect</a:t>
            </a:r>
            <a:r>
              <a:rPr lang="bg-BG" dirty="0" smtClean="0"/>
              <a:t>) от системата за съобщения</a:t>
            </a:r>
          </a:p>
          <a:p>
            <a:pPr lvl="1">
              <a:lnSpc>
                <a:spcPct val="75000"/>
              </a:lnSpc>
              <a:spcBef>
                <a:spcPts val="300"/>
              </a:spcBef>
            </a:pPr>
            <a:r>
              <a:rPr lang="bg-BG" sz="2400" dirty="0" smtClean="0"/>
              <a:t>Безконтактна комуникация (</a:t>
            </a:r>
            <a:r>
              <a:rPr lang="bg-BG" sz="2400" dirty="0" err="1" smtClean="0"/>
              <a:t>англ</a:t>
            </a:r>
            <a:r>
              <a:rPr lang="bg-BG" sz="2400" dirty="0" smtClean="0"/>
              <a:t>. </a:t>
            </a:r>
            <a:r>
              <a:rPr lang="bg-BG" sz="2400" dirty="0" err="1" smtClean="0"/>
              <a:t>Conectionless</a:t>
            </a:r>
            <a:r>
              <a:rPr lang="bg-BG" sz="2400" dirty="0" smtClean="0"/>
              <a:t> </a:t>
            </a:r>
            <a:r>
              <a:rPr lang="bg-BG" sz="2400" dirty="0" err="1" smtClean="0"/>
              <a:t>communication</a:t>
            </a:r>
            <a:r>
              <a:rPr lang="bg-BG" sz="2400" dirty="0" smtClean="0"/>
              <a:t>).</a:t>
            </a:r>
            <a:endParaRPr lang="bg-BG" sz="2400" dirty="0"/>
          </a:p>
        </p:txBody>
      </p:sp>
    </p:spTree>
    <p:extLst>
      <p:ext uri="{BB962C8B-B14F-4D97-AF65-F5344CB8AC3E}">
        <p14:creationId xmlns:p14="http://schemas.microsoft.com/office/powerpoint/2010/main" val="3216241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Парадигма, базирани на съобщения</a:t>
            </a:r>
            <a:endParaRPr lang="en-US" dirty="0"/>
          </a:p>
        </p:txBody>
      </p:sp>
      <p:sp>
        <p:nvSpPr>
          <p:cNvPr id="3" name="Content Placeholder 2"/>
          <p:cNvSpPr>
            <a:spLocks noGrp="1"/>
          </p:cNvSpPr>
          <p:nvPr>
            <p:ph idx="1"/>
          </p:nvPr>
        </p:nvSpPr>
        <p:spPr/>
        <p:txBody>
          <a:bodyPr>
            <a:noAutofit/>
          </a:bodyPr>
          <a:lstStyle/>
          <a:p>
            <a:pPr>
              <a:spcBef>
                <a:spcPts val="400"/>
              </a:spcBef>
            </a:pPr>
            <a:r>
              <a:rPr lang="bg-BG" sz="2800" dirty="0" smtClean="0"/>
              <a:t>С абстракцията, осигурена от този модел, взаимосвързаните процеси осъществяват Вход/Изход един към друг по подобен начин на файловия вход / изход.</a:t>
            </a:r>
          </a:p>
          <a:p>
            <a:pPr lvl="1">
              <a:spcBef>
                <a:spcPts val="400"/>
              </a:spcBef>
            </a:pPr>
            <a:r>
              <a:rPr lang="bg-BG" sz="2400" dirty="0" smtClean="0"/>
              <a:t>В/И операции са прозрачни за програмиста, т.е. обхващат детайлите на мрежовата комуникация на ниво операционна система.</a:t>
            </a:r>
          </a:p>
          <a:p>
            <a:pPr>
              <a:spcBef>
                <a:spcPts val="400"/>
              </a:spcBef>
            </a:pPr>
            <a:r>
              <a:rPr lang="bg-BG" sz="2800" dirty="0" smtClean="0"/>
              <a:t>Най-широко използваната версия на тази парадигма е </a:t>
            </a:r>
            <a:r>
              <a:rPr lang="bg-BG" sz="2800" i="1" dirty="0" err="1" smtClean="0"/>
              <a:t>сокет-програмирането</a:t>
            </a:r>
            <a:r>
              <a:rPr lang="bg-BG" sz="2800" dirty="0" smtClean="0"/>
              <a:t> (</a:t>
            </a:r>
            <a:r>
              <a:rPr lang="bg-BG" sz="2800" i="1" dirty="0" err="1" smtClean="0">
                <a:effectLst>
                  <a:outerShdw blurRad="38100" dist="38100" dir="2700000" algn="tl">
                    <a:srgbClr val="000000">
                      <a:alpha val="43137"/>
                    </a:srgbClr>
                  </a:outerShdw>
                </a:effectLst>
              </a:rPr>
              <a:t>socket</a:t>
            </a:r>
            <a:r>
              <a:rPr lang="bg-BG" sz="2800" dirty="0" smtClean="0">
                <a:effectLst>
                  <a:outerShdw blurRad="38100" dist="38100" dir="2700000" algn="tl">
                    <a:srgbClr val="000000">
                      <a:alpha val="43137"/>
                    </a:srgbClr>
                  </a:outerShdw>
                </a:effectLst>
              </a:rPr>
              <a:t> </a:t>
            </a:r>
            <a:r>
              <a:rPr lang="bg-BG" sz="2800" dirty="0" err="1" smtClean="0">
                <a:effectLst>
                  <a:outerShdw blurRad="38100" dist="38100" dir="2700000" algn="tl">
                    <a:srgbClr val="000000">
                      <a:alpha val="43137"/>
                    </a:srgbClr>
                  </a:outerShdw>
                </a:effectLst>
              </a:rPr>
              <a:t>programming</a:t>
            </a:r>
            <a:r>
              <a:rPr lang="bg-BG" sz="2800" dirty="0" smtClean="0"/>
              <a:t>).</a:t>
            </a:r>
          </a:p>
          <a:p>
            <a:pPr lvl="1">
              <a:spcBef>
                <a:spcPts val="400"/>
              </a:spcBef>
            </a:pPr>
            <a:r>
              <a:rPr lang="bg-BG" sz="2400" dirty="0" err="1" smtClean="0"/>
              <a:t>Сокетът</a:t>
            </a:r>
            <a:r>
              <a:rPr lang="bg-BG" sz="2400" dirty="0" smtClean="0"/>
              <a:t> е софтуерен обект, който играе ролята на крайна точка на двупосочна комуникационна връзка между две програми, работещи в мрежата.</a:t>
            </a:r>
          </a:p>
          <a:p>
            <a:pPr lvl="2">
              <a:spcBef>
                <a:spcPts val="400"/>
              </a:spcBef>
            </a:pPr>
            <a:r>
              <a:rPr lang="bg-BG" sz="2000" dirty="0" err="1" smtClean="0"/>
              <a:t>Сокетът</a:t>
            </a:r>
            <a:r>
              <a:rPr lang="bg-BG" sz="2000" dirty="0" smtClean="0"/>
              <a:t> „отваря“ мрежовата връзка, позволявайки данните да се четат и записват през мрежата - </a:t>
            </a:r>
            <a:r>
              <a:rPr lang="bg-BG" sz="2000" dirty="0" err="1" smtClean="0"/>
              <a:t>сокетът</a:t>
            </a:r>
            <a:r>
              <a:rPr lang="bg-BG" sz="2000" dirty="0" smtClean="0"/>
              <a:t> позволяват на програмите да използват вградените команди на операционната система за работа с мрежови функции.</a:t>
            </a:r>
          </a:p>
          <a:p>
            <a:pPr lvl="2">
              <a:spcBef>
                <a:spcPts val="400"/>
              </a:spcBef>
            </a:pPr>
            <a:r>
              <a:rPr lang="bg-BG" sz="2000" dirty="0" smtClean="0"/>
              <a:t>Вместо да изграждат мрежови връзки от нулата, разработчиците могат просто да включат </a:t>
            </a:r>
            <a:r>
              <a:rPr lang="bg-BG" sz="2000" dirty="0" err="1" smtClean="0"/>
              <a:t>сокети</a:t>
            </a:r>
            <a:r>
              <a:rPr lang="bg-BG" sz="2000" dirty="0" smtClean="0"/>
              <a:t> в своите програми, т.е. </a:t>
            </a:r>
            <a:r>
              <a:rPr lang="bg-BG" sz="2000" dirty="0" err="1" smtClean="0"/>
              <a:t>сокетът</a:t>
            </a:r>
            <a:r>
              <a:rPr lang="bg-BG" sz="2000" dirty="0" smtClean="0"/>
              <a:t> е форма на абстракция на мрежовата комуникация.</a:t>
            </a:r>
          </a:p>
        </p:txBody>
      </p:sp>
    </p:spTree>
    <p:extLst>
      <p:ext uri="{BB962C8B-B14F-4D97-AF65-F5344CB8AC3E}">
        <p14:creationId xmlns:p14="http://schemas.microsoft.com/office/powerpoint/2010/main" val="2860462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Парадигма, базирани на съобщения</a:t>
            </a:r>
            <a:endParaRPr lang="en-US" dirty="0"/>
          </a:p>
        </p:txBody>
      </p:sp>
      <p:sp>
        <p:nvSpPr>
          <p:cNvPr id="3" name="Content Placeholder 2"/>
          <p:cNvSpPr>
            <a:spLocks noGrp="1"/>
          </p:cNvSpPr>
          <p:nvPr>
            <p:ph idx="1"/>
          </p:nvPr>
        </p:nvSpPr>
        <p:spPr>
          <a:xfrm>
            <a:off x="908662" y="1143000"/>
            <a:ext cx="10748350" cy="5410200"/>
          </a:xfrm>
        </p:spPr>
        <p:txBody>
          <a:bodyPr>
            <a:normAutofit fontScale="92500" lnSpcReduction="10000"/>
          </a:bodyPr>
          <a:lstStyle/>
          <a:p>
            <a:r>
              <a:rPr lang="bg-BG" sz="2800" dirty="0" smtClean="0"/>
              <a:t>Синхронно изпращане на съобщения </a:t>
            </a:r>
          </a:p>
          <a:p>
            <a:pPr lvl="1"/>
            <a:r>
              <a:rPr lang="bg-BG" sz="2400" dirty="0" smtClean="0"/>
              <a:t>При тази реализация подателят на съобщението (най-често се означава като „клиент“) след подаването на съобщението към получателя (т.нар. „сървър“) спира своята работа до получаване на отговор. </a:t>
            </a:r>
          </a:p>
          <a:p>
            <a:pPr lvl="2"/>
            <a:r>
              <a:rPr lang="bg-BG" sz="2000" dirty="0" smtClean="0"/>
              <a:t>Това води до непрекъснато поддържане на „отворена“ връзка между двата процеса: най-близката аналогия е, че подателят си е протегнал ръката, в която да се сложи отговора.</a:t>
            </a:r>
          </a:p>
          <a:p>
            <a:pPr lvl="1"/>
            <a:r>
              <a:rPr lang="bg-BG" sz="2400" dirty="0" smtClean="0"/>
              <a:t>След като завърши обработката на заявката, получателят използва „отворения“ канал и по него изпраща отговора.</a:t>
            </a:r>
          </a:p>
          <a:p>
            <a:pPr lvl="2"/>
            <a:r>
              <a:rPr lang="bg-BG" sz="2000" dirty="0" smtClean="0"/>
              <a:t>Сървърът не трябва да знае специално кой е клиента, защото знае къде да сложи отговора.</a:t>
            </a:r>
          </a:p>
          <a:p>
            <a:r>
              <a:rPr lang="bg-BG" sz="2800" dirty="0" smtClean="0"/>
              <a:t>Асинхронно изпращане на съобщения </a:t>
            </a:r>
          </a:p>
          <a:p>
            <a:pPr lvl="1"/>
            <a:r>
              <a:rPr lang="bg-BG" sz="2400" dirty="0"/>
              <a:t>При асинхронното съобщение, след като подателят изпрати съобщението, то той продължава работата си без да чака отговора.</a:t>
            </a:r>
          </a:p>
          <a:p>
            <a:pPr lvl="2"/>
            <a:r>
              <a:rPr lang="bg-BG" sz="2100" dirty="0"/>
              <a:t>Получаването на отговора се явява събитие, което трябва да се обработи.</a:t>
            </a:r>
          </a:p>
          <a:p>
            <a:pPr lvl="1"/>
            <a:r>
              <a:rPr lang="bg-BG" sz="2400" dirty="0"/>
              <a:t>За да може да се върне отговор на правилния подател, получателят (сървърът) трябва </a:t>
            </a:r>
            <a:r>
              <a:rPr lang="bg-BG" sz="2400" dirty="0">
                <a:effectLst>
                  <a:outerShdw blurRad="38100" dist="38100" dir="2700000" algn="tl">
                    <a:srgbClr val="000000">
                      <a:alpha val="43137"/>
                    </a:srgbClr>
                  </a:outerShdw>
                </a:effectLst>
              </a:rPr>
              <a:t>задължително</a:t>
            </a:r>
            <a:r>
              <a:rPr lang="bg-BG" sz="2400" dirty="0"/>
              <a:t> да знае кой е подал заявката.</a:t>
            </a:r>
          </a:p>
          <a:p>
            <a:pPr lvl="2"/>
            <a:r>
              <a:rPr lang="bg-BG" sz="2100" dirty="0"/>
              <a:t>Отговорът най-често съдържа и идентификация на съобщението, на което се отговаря.</a:t>
            </a:r>
          </a:p>
        </p:txBody>
      </p:sp>
    </p:spTree>
    <p:extLst>
      <p:ext uri="{BB962C8B-B14F-4D97-AF65-F5344CB8AC3E}">
        <p14:creationId xmlns:p14="http://schemas.microsoft.com/office/powerpoint/2010/main" val="3241092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Autofit/>
          </a:bodyPr>
          <a:lstStyle/>
          <a:p>
            <a:r>
              <a:rPr lang="en-US" dirty="0"/>
              <a:t/>
            </a:r>
            <a:br>
              <a:rPr lang="en-US" dirty="0"/>
            </a:br>
            <a:r>
              <a:rPr lang="en-US" b="0" dirty="0"/>
              <a:t/>
            </a:r>
            <a:br>
              <a:rPr lang="en-US" b="0" dirty="0"/>
            </a:br>
            <a:r>
              <a:rPr lang="bg-BG" b="0" dirty="0" smtClean="0"/>
              <a:t>Модел на съобщения „точка-към-точка“</a:t>
            </a:r>
            <a:r>
              <a:rPr lang="en-US" dirty="0" smtClean="0"/>
              <a:t> </a:t>
            </a:r>
            <a:endParaRPr lang="en-US" dirty="0"/>
          </a:p>
        </p:txBody>
      </p:sp>
      <p:sp>
        <p:nvSpPr>
          <p:cNvPr id="3" name="Content Placeholder 2"/>
          <p:cNvSpPr>
            <a:spLocks noGrp="1"/>
          </p:cNvSpPr>
          <p:nvPr>
            <p:ph idx="1"/>
          </p:nvPr>
        </p:nvSpPr>
        <p:spPr/>
        <p:txBody>
          <a:bodyPr>
            <a:normAutofit/>
          </a:bodyPr>
          <a:lstStyle/>
          <a:p>
            <a:r>
              <a:rPr lang="bg-BG" sz="2800" dirty="0" smtClean="0"/>
              <a:t>В този модел (</a:t>
            </a:r>
            <a:r>
              <a:rPr lang="bg-BG" sz="2800" dirty="0" err="1" smtClean="0"/>
              <a:t>англ</a:t>
            </a:r>
            <a:r>
              <a:rPr lang="bg-BG" sz="2800" dirty="0" smtClean="0"/>
              <a:t>. </a:t>
            </a:r>
            <a:r>
              <a:rPr lang="bg-BG" sz="2800" dirty="0" err="1" smtClean="0"/>
              <a:t>Point-To-Point</a:t>
            </a:r>
            <a:r>
              <a:rPr lang="bg-BG" sz="2800" dirty="0" smtClean="0"/>
              <a:t> </a:t>
            </a:r>
            <a:r>
              <a:rPr lang="bg-BG" sz="2800" dirty="0" err="1" smtClean="0"/>
              <a:t>Message</a:t>
            </a:r>
            <a:r>
              <a:rPr lang="bg-BG" sz="2800" dirty="0" smtClean="0"/>
              <a:t> </a:t>
            </a:r>
            <a:r>
              <a:rPr lang="bg-BG" sz="2800" dirty="0" err="1" smtClean="0"/>
              <a:t>Model</a:t>
            </a:r>
            <a:r>
              <a:rPr lang="bg-BG" sz="2800" dirty="0" smtClean="0"/>
              <a:t>) система за управление на обмена препраща съобщението от подателя директно към опашката на съобщенията на получателя.</a:t>
            </a:r>
          </a:p>
          <a:p>
            <a:pPr lvl="1"/>
            <a:r>
              <a:rPr lang="bg-BG" sz="2400" dirty="0" smtClean="0"/>
              <a:t>Разликата с класическия модел е, че системата за управление осигурява т.нар. хранилище на съобщения (</a:t>
            </a:r>
            <a:r>
              <a:rPr lang="bg-BG" sz="2400" i="1" dirty="0" err="1" smtClean="0"/>
              <a:t>message</a:t>
            </a:r>
            <a:r>
              <a:rPr lang="bg-BG" sz="2400" i="1" dirty="0" smtClean="0"/>
              <a:t> </a:t>
            </a:r>
            <a:r>
              <a:rPr lang="bg-BG" sz="2400" i="1" dirty="0" err="1" smtClean="0"/>
              <a:t>repository</a:t>
            </a:r>
            <a:r>
              <a:rPr lang="bg-BG" sz="2400" dirty="0" smtClean="0"/>
              <a:t>), като така и позволява изпращането и получаването да бъдат „</a:t>
            </a:r>
            <a:r>
              <a:rPr lang="bg-BG" sz="2400" dirty="0" err="1" smtClean="0"/>
              <a:t>разкачени</a:t>
            </a:r>
            <a:r>
              <a:rPr lang="bg-BG" sz="2400" dirty="0" smtClean="0"/>
              <a:t>“ (не е необходим „канал“ за предаване).</a:t>
            </a:r>
          </a:p>
          <a:p>
            <a:pPr lvl="2"/>
            <a:r>
              <a:rPr lang="bg-BG" sz="2000" dirty="0" smtClean="0"/>
              <a:t>Подателят се свързва със системата за управление на обмена и депозира съобщение в опашката за съобщения на процеса на получаване.</a:t>
            </a:r>
          </a:p>
          <a:p>
            <a:pPr lvl="2"/>
            <a:r>
              <a:rPr lang="bg-BG" sz="2000" dirty="0" smtClean="0"/>
              <a:t>Получателят „разбира“, че има ново съобщение, извлича съобщенията от опашката и го обработва по съответния начин.</a:t>
            </a:r>
          </a:p>
          <a:p>
            <a:pPr lvl="2"/>
            <a:r>
              <a:rPr lang="bg-BG" sz="2000" dirty="0" smtClean="0"/>
              <a:t>Депозирането на отговора е по аналогичен начин, т.е. получателят трябва явно да знае кой е подателя.</a:t>
            </a:r>
          </a:p>
          <a:p>
            <a:pPr lvl="1"/>
            <a:r>
              <a:rPr lang="bg-BG" sz="2400" dirty="0" smtClean="0"/>
              <a:t>Това осигурява допълнително абстракция за асинхронни операции.</a:t>
            </a:r>
          </a:p>
        </p:txBody>
      </p:sp>
    </p:spTree>
    <p:extLst>
      <p:ext uri="{BB962C8B-B14F-4D97-AF65-F5344CB8AC3E}">
        <p14:creationId xmlns:p14="http://schemas.microsoft.com/office/powerpoint/2010/main" val="45143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Autofit/>
          </a:bodyPr>
          <a:lstStyle/>
          <a:p>
            <a:r>
              <a:rPr lang="en-US" dirty="0"/>
              <a:t/>
            </a:r>
            <a:br>
              <a:rPr lang="en-US" dirty="0"/>
            </a:br>
            <a:r>
              <a:rPr lang="en-US" b="0" dirty="0"/>
              <a:t/>
            </a:r>
            <a:br>
              <a:rPr lang="en-US" b="0" dirty="0"/>
            </a:br>
            <a:r>
              <a:rPr lang="bg-BG" b="0" dirty="0" smtClean="0"/>
              <a:t>Модел на съобщения</a:t>
            </a:r>
            <a:endParaRPr lang="en-US" dirty="0"/>
          </a:p>
        </p:txBody>
      </p:sp>
      <p:sp>
        <p:nvSpPr>
          <p:cNvPr id="3" name="Content Placeholder 2"/>
          <p:cNvSpPr>
            <a:spLocks noGrp="1"/>
          </p:cNvSpPr>
          <p:nvPr>
            <p:ph idx="1"/>
          </p:nvPr>
        </p:nvSpPr>
        <p:spPr/>
        <p:txBody>
          <a:bodyPr>
            <a:normAutofit/>
          </a:bodyPr>
          <a:lstStyle/>
          <a:p>
            <a:r>
              <a:rPr lang="bg-BG" sz="2800" dirty="0" smtClean="0"/>
              <a:t>Друга форма на изпращане на съобщения е т.нар. „разпръскване“ (</a:t>
            </a:r>
            <a:r>
              <a:rPr lang="bg-BG" sz="2800" dirty="0" err="1" smtClean="0"/>
              <a:t>англ</a:t>
            </a:r>
            <a:r>
              <a:rPr lang="bg-BG" sz="2800" dirty="0" smtClean="0"/>
              <a:t>. </a:t>
            </a:r>
            <a:r>
              <a:rPr lang="en-US" sz="2800" dirty="0" smtClean="0"/>
              <a:t>Broadcast)</a:t>
            </a:r>
            <a:r>
              <a:rPr lang="bg-BG" sz="2800" dirty="0" smtClean="0"/>
              <a:t>.</a:t>
            </a:r>
          </a:p>
          <a:p>
            <a:pPr lvl="1"/>
            <a:r>
              <a:rPr lang="bg-BG" sz="2400" dirty="0" smtClean="0"/>
              <a:t>При този модел съобщението се изпраща до всички клиенти, които са част от мрежата.</a:t>
            </a:r>
          </a:p>
          <a:p>
            <a:pPr lvl="2"/>
            <a:r>
              <a:rPr lang="bg-BG" sz="2000" dirty="0" smtClean="0"/>
              <a:t>Може да се реализира в два варианта: едно съобщение, маркирано като общо; изпращане на едно и също съобщение в цикъл до всеки регистриран получател.</a:t>
            </a:r>
          </a:p>
          <a:p>
            <a:pPr lvl="1"/>
            <a:r>
              <a:rPr lang="bg-BG" sz="2400" dirty="0" smtClean="0"/>
              <a:t>Това е асинхронен вид на разпространение.</a:t>
            </a:r>
          </a:p>
          <a:p>
            <a:r>
              <a:rPr lang="bg-BG" sz="2800" dirty="0"/>
              <a:t>Третата форма е т.нар. </a:t>
            </a:r>
            <a:r>
              <a:rPr lang="bg-BG" sz="2800" dirty="0" smtClean="0"/>
              <a:t>„множествено съобщение“</a:t>
            </a:r>
            <a:r>
              <a:rPr lang="bg-BG" sz="2800" dirty="0"/>
              <a:t>(</a:t>
            </a:r>
            <a:r>
              <a:rPr lang="bg-BG" sz="2800" dirty="0" err="1"/>
              <a:t>англ</a:t>
            </a:r>
            <a:r>
              <a:rPr lang="bg-BG" sz="2800" dirty="0"/>
              <a:t>. </a:t>
            </a:r>
            <a:r>
              <a:rPr lang="en-US" sz="2800" dirty="0" smtClean="0"/>
              <a:t>Multicast</a:t>
            </a:r>
            <a:r>
              <a:rPr lang="en-US" sz="2800" dirty="0"/>
              <a:t>)</a:t>
            </a:r>
            <a:r>
              <a:rPr lang="bg-BG" sz="2800" dirty="0" smtClean="0"/>
              <a:t>.</a:t>
            </a:r>
            <a:endParaRPr lang="en-US" sz="2800" dirty="0" smtClean="0"/>
          </a:p>
          <a:p>
            <a:pPr lvl="1"/>
            <a:r>
              <a:rPr lang="bg-BG" sz="2400" dirty="0"/>
              <a:t>При този модел съобщението се изпраща до </a:t>
            </a:r>
            <a:r>
              <a:rPr lang="bg-BG" sz="2400" dirty="0" smtClean="0"/>
              <a:t>голяма група клиенти</a:t>
            </a:r>
            <a:r>
              <a:rPr lang="bg-BG" sz="2400" dirty="0"/>
              <a:t>, </a:t>
            </a:r>
            <a:r>
              <a:rPr lang="bg-BG" sz="2400" dirty="0" smtClean="0"/>
              <a:t>но не до всички клиенти.</a:t>
            </a:r>
            <a:endParaRPr lang="bg-BG" sz="2400" dirty="0"/>
          </a:p>
          <a:p>
            <a:pPr lvl="1"/>
            <a:endParaRPr lang="bg-BG" sz="2400" dirty="0"/>
          </a:p>
          <a:p>
            <a:endParaRPr lang="bg-BG" sz="2800" dirty="0"/>
          </a:p>
        </p:txBody>
      </p:sp>
    </p:spTree>
    <p:extLst>
      <p:ext uri="{BB962C8B-B14F-4D97-AF65-F5344CB8AC3E}">
        <p14:creationId xmlns:p14="http://schemas.microsoft.com/office/powerpoint/2010/main" val="2922153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smtClean="0"/>
              <a:t>„Клиент-Сървър“</a:t>
            </a:r>
            <a:endParaRPr lang="en-US" dirty="0"/>
          </a:p>
        </p:txBody>
      </p:sp>
      <p:sp>
        <p:nvSpPr>
          <p:cNvPr id="3" name="Content Placeholder 2"/>
          <p:cNvSpPr>
            <a:spLocks noGrp="1"/>
          </p:cNvSpPr>
          <p:nvPr>
            <p:ph idx="1"/>
          </p:nvPr>
        </p:nvSpPr>
        <p:spPr/>
        <p:txBody>
          <a:bodyPr>
            <a:normAutofit/>
          </a:bodyPr>
          <a:lstStyle/>
          <a:p>
            <a:pPr>
              <a:spcBef>
                <a:spcPts val="300"/>
              </a:spcBef>
            </a:pPr>
            <a:r>
              <a:rPr lang="bg-BG" sz="2800" dirty="0" smtClean="0"/>
              <a:t>Това е една от най-известната реализации на мрежови приложения.</a:t>
            </a:r>
          </a:p>
          <a:p>
            <a:pPr lvl="1">
              <a:spcBef>
                <a:spcPts val="300"/>
              </a:spcBef>
            </a:pPr>
            <a:r>
              <a:rPr lang="bg-BG" sz="2400" dirty="0" smtClean="0"/>
              <a:t>Сървърът играе ролята на доставчик на услуги, който чака в пасивен режим получаването на заявки.</a:t>
            </a:r>
          </a:p>
          <a:p>
            <a:pPr lvl="1">
              <a:spcBef>
                <a:spcPts val="300"/>
              </a:spcBef>
            </a:pPr>
            <a:r>
              <a:rPr lang="bg-BG" sz="2400" dirty="0" smtClean="0"/>
              <a:t>Клиентът изисква от сървъра да извърши конкретна обработка като изпраща заявка и получава съответен отговор.</a:t>
            </a:r>
          </a:p>
          <a:p>
            <a:pPr lvl="1">
              <a:spcBef>
                <a:spcPts val="300"/>
              </a:spcBef>
            </a:pPr>
            <a:r>
              <a:rPr lang="bg-BG" sz="2400" dirty="0" smtClean="0"/>
              <a:t>Това дефинира асиметрични роли за два взаимодействащи процеса.</a:t>
            </a:r>
          </a:p>
          <a:p>
            <a:pPr>
              <a:spcBef>
                <a:spcPts val="300"/>
              </a:spcBef>
            </a:pPr>
            <a:r>
              <a:rPr lang="bg-BG" sz="2800" dirty="0" smtClean="0"/>
              <a:t>Два основни вида протоколи за обмен:</a:t>
            </a:r>
          </a:p>
          <a:p>
            <a:pPr lvl="1">
              <a:spcBef>
                <a:spcPts val="300"/>
              </a:spcBef>
            </a:pPr>
            <a:r>
              <a:rPr lang="bg-BG" sz="2400" dirty="0" smtClean="0"/>
              <a:t>Протоколи без състояние (</a:t>
            </a:r>
            <a:r>
              <a:rPr lang="bg-BG" sz="2400" i="1" dirty="0" err="1" smtClean="0"/>
              <a:t>Stateless</a:t>
            </a:r>
            <a:r>
              <a:rPr lang="bg-BG" sz="2400" i="1" dirty="0" smtClean="0"/>
              <a:t> </a:t>
            </a:r>
            <a:r>
              <a:rPr lang="bg-BG" sz="2400" dirty="0" err="1" smtClean="0"/>
              <a:t>protocols</a:t>
            </a:r>
            <a:r>
              <a:rPr lang="bg-BG" sz="2400" dirty="0" smtClean="0"/>
              <a:t>)</a:t>
            </a:r>
          </a:p>
          <a:p>
            <a:pPr lvl="1">
              <a:spcBef>
                <a:spcPts val="300"/>
              </a:spcBef>
            </a:pPr>
            <a:r>
              <a:rPr lang="bg-BG" sz="2400" dirty="0" smtClean="0"/>
              <a:t>Протоколи, базирани на състояние (</a:t>
            </a:r>
            <a:r>
              <a:rPr lang="bg-BG" sz="2400" i="1" dirty="0" err="1" smtClean="0"/>
              <a:t>Statefull</a:t>
            </a:r>
            <a:r>
              <a:rPr lang="bg-BG" sz="2400" dirty="0" smtClean="0"/>
              <a:t> </a:t>
            </a:r>
            <a:r>
              <a:rPr lang="bg-BG" sz="2400" dirty="0" err="1" smtClean="0"/>
              <a:t>protocols</a:t>
            </a:r>
            <a:r>
              <a:rPr lang="bg-BG" sz="2400" dirty="0" smtClean="0"/>
              <a:t>).</a:t>
            </a:r>
          </a:p>
          <a:p>
            <a:pPr lvl="2">
              <a:spcBef>
                <a:spcPts val="300"/>
              </a:spcBef>
            </a:pPr>
            <a:r>
              <a:rPr lang="bg-BG" sz="2000" dirty="0" smtClean="0"/>
              <a:t>Базирани на глобално състояние (</a:t>
            </a:r>
            <a:r>
              <a:rPr lang="bg-BG" sz="2000" dirty="0" err="1" smtClean="0"/>
              <a:t>Global</a:t>
            </a:r>
            <a:r>
              <a:rPr lang="bg-BG" sz="2000" dirty="0" smtClean="0"/>
              <a:t> </a:t>
            </a:r>
            <a:r>
              <a:rPr lang="bg-BG" sz="2000" dirty="0" err="1" smtClean="0"/>
              <a:t>state</a:t>
            </a:r>
            <a:r>
              <a:rPr lang="bg-BG" sz="2000" dirty="0" smtClean="0"/>
              <a:t> </a:t>
            </a:r>
            <a:r>
              <a:rPr lang="bg-BG" sz="2000" dirty="0" err="1" smtClean="0"/>
              <a:t>information</a:t>
            </a:r>
            <a:r>
              <a:rPr lang="bg-BG" sz="2000" dirty="0" smtClean="0"/>
              <a:t>)</a:t>
            </a:r>
          </a:p>
          <a:p>
            <a:pPr lvl="2">
              <a:spcBef>
                <a:spcPts val="300"/>
              </a:spcBef>
            </a:pPr>
            <a:r>
              <a:rPr lang="bg-BG" sz="2000" dirty="0" smtClean="0"/>
              <a:t>Базирани на състояние на сесията (</a:t>
            </a:r>
            <a:r>
              <a:rPr lang="bg-BG" sz="2000" dirty="0" err="1" smtClean="0"/>
              <a:t>Session-state</a:t>
            </a:r>
            <a:r>
              <a:rPr lang="bg-BG" sz="2000" dirty="0" smtClean="0"/>
              <a:t> </a:t>
            </a:r>
            <a:r>
              <a:rPr lang="bg-BG" sz="2000" dirty="0" err="1" smtClean="0"/>
              <a:t>information</a:t>
            </a:r>
            <a:r>
              <a:rPr lang="bg-BG" sz="2000" dirty="0" smtClean="0"/>
              <a:t>)</a:t>
            </a:r>
            <a:endParaRPr lang="bg-BG" sz="2000"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1233" y="3786554"/>
            <a:ext cx="4954587" cy="296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56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„Клиент-Сървър“</a:t>
            </a:r>
            <a:endParaRPr lang="en-US" dirty="0"/>
          </a:p>
        </p:txBody>
      </p:sp>
      <p:sp>
        <p:nvSpPr>
          <p:cNvPr id="3" name="Content Placeholder 2"/>
          <p:cNvSpPr>
            <a:spLocks noGrp="1"/>
          </p:cNvSpPr>
          <p:nvPr>
            <p:ph idx="1"/>
          </p:nvPr>
        </p:nvSpPr>
        <p:spPr>
          <a:xfrm>
            <a:off x="908662" y="1143000"/>
            <a:ext cx="10900750" cy="5562600"/>
          </a:xfrm>
        </p:spPr>
        <p:txBody>
          <a:bodyPr>
            <a:noAutofit/>
          </a:bodyPr>
          <a:lstStyle/>
          <a:p>
            <a:r>
              <a:rPr lang="bg-BG" sz="2800" dirty="0" smtClean="0"/>
              <a:t>Това е проста, но надеждна концепцията, осигуряваща ефективна абстракция за реализация на системи за мрежови услуги.</a:t>
            </a:r>
          </a:p>
          <a:p>
            <a:pPr lvl="1"/>
            <a:r>
              <a:rPr lang="bg-BG" sz="2400" dirty="0" smtClean="0"/>
              <a:t>Необходимите операции откъм сървърната страна включват получаване на заявки и изпращане на отговори.</a:t>
            </a:r>
          </a:p>
          <a:p>
            <a:pPr lvl="1"/>
            <a:r>
              <a:rPr lang="bg-BG" sz="2400" dirty="0" smtClean="0"/>
              <a:t>Необходимите операции откъм сървърната страна включват изпращане на заявки и получаване на отговори.</a:t>
            </a:r>
          </a:p>
          <a:p>
            <a:r>
              <a:rPr lang="bg-BG" sz="2800" dirty="0" smtClean="0"/>
              <a:t>В последното десетилетие много Интернет услуги са реализирани по този подход:</a:t>
            </a:r>
          </a:p>
          <a:p>
            <a:pPr lvl="1"/>
            <a:r>
              <a:rPr lang="bg-BG" sz="2400" dirty="0" smtClean="0"/>
              <a:t>Асиметричните роли на двете страни опростяват синхронизирането на събитията: процесът на сървъра чака заявки, а клиентът от своя страна чака отговор.</a:t>
            </a:r>
          </a:p>
          <a:p>
            <a:pPr lvl="1"/>
            <a:r>
              <a:rPr lang="bg-BG" sz="2400" dirty="0" smtClean="0"/>
              <a:t>Реализацията много често зависи от използваните мрежови протоколи за обмен.</a:t>
            </a:r>
          </a:p>
          <a:p>
            <a:pPr lvl="2"/>
            <a:r>
              <a:rPr lang="bg-BG" sz="2000" dirty="0" smtClean="0"/>
              <a:t>Използват се почти всички добре познатите Интернет услуги като HTTP, FTP, DNS, …</a:t>
            </a:r>
          </a:p>
        </p:txBody>
      </p:sp>
    </p:spTree>
    <p:extLst>
      <p:ext uri="{BB962C8B-B14F-4D97-AF65-F5344CB8AC3E}">
        <p14:creationId xmlns:p14="http://schemas.microsoft.com/office/powerpoint/2010/main" val="2933134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a:t>„</a:t>
            </a:r>
            <a:r>
              <a:rPr lang="en-US" dirty="0"/>
              <a:t>Peer-to-Peer</a:t>
            </a:r>
            <a:r>
              <a:rPr lang="bg-BG" dirty="0"/>
              <a:t>“ (</a:t>
            </a:r>
            <a:r>
              <a:rPr lang="en-US" dirty="0"/>
              <a:t>P2P)</a:t>
            </a:r>
          </a:p>
        </p:txBody>
      </p:sp>
      <p:sp>
        <p:nvSpPr>
          <p:cNvPr id="3" name="Content Placeholder 2"/>
          <p:cNvSpPr>
            <a:spLocks noGrp="1"/>
          </p:cNvSpPr>
          <p:nvPr>
            <p:ph idx="1"/>
          </p:nvPr>
        </p:nvSpPr>
        <p:spPr/>
        <p:txBody>
          <a:bodyPr>
            <a:normAutofit fontScale="92500" lnSpcReduction="10000"/>
          </a:bodyPr>
          <a:lstStyle/>
          <a:p>
            <a:r>
              <a:rPr lang="bg-BG" sz="2800" dirty="0" smtClean="0"/>
              <a:t>Това е подход, при който компютърните ресурси и услуги се обменят директно между компютърни системи.</a:t>
            </a:r>
          </a:p>
          <a:p>
            <a:pPr lvl="1"/>
            <a:r>
              <a:rPr lang="bg-BG" sz="2400" dirty="0" smtClean="0"/>
              <a:t>Ресурсите и услугите включват обмен на информация, цикли на обработка, съхранение в кеш-памет, съхранение на външни запомнящи устройства, както и много други. </a:t>
            </a:r>
          </a:p>
          <a:p>
            <a:pPr lvl="1"/>
            <a:r>
              <a:rPr lang="bg-BG" sz="2400" dirty="0" smtClean="0"/>
              <a:t>За разлика от модела „клиент-сървър“, участващите процеси играят симетрични роли</a:t>
            </a:r>
          </a:p>
          <a:p>
            <a:pPr lvl="2"/>
            <a:r>
              <a:rPr lang="bg-BG" sz="2000" dirty="0" smtClean="0"/>
              <a:t>Всеки участник може да подаде заявка до друг участник и да получи отговор - компютрите, които традиционно се използват единствено като клиенти, комуникират директно помежду си и могат да действат като клиенти или сървъри според това, кое е най-ефективно за разпределената обработка.</a:t>
            </a:r>
          </a:p>
          <a:p>
            <a:pPr lvl="1"/>
            <a:r>
              <a:rPr lang="bg-BG" sz="2400" dirty="0"/>
              <a:t>Примери за приложения:</a:t>
            </a:r>
          </a:p>
          <a:p>
            <a:pPr lvl="2"/>
            <a:r>
              <a:rPr lang="bg-BG" sz="2000" dirty="0"/>
              <a:t>Съобщения, споделяне на файлове, виртуални стаи, съвместни (</a:t>
            </a:r>
            <a:r>
              <a:rPr lang="bg-BG" sz="2000" dirty="0" err="1"/>
              <a:t>collaborative</a:t>
            </a:r>
            <a:r>
              <a:rPr lang="bg-BG" sz="2000" dirty="0"/>
              <a:t>) приложения, чат услуга, видео </a:t>
            </a:r>
            <a:r>
              <a:rPr lang="bg-BG" sz="2000" dirty="0" err="1"/>
              <a:t>конферентна</a:t>
            </a:r>
            <a:r>
              <a:rPr lang="bg-BG" sz="2000" dirty="0"/>
              <a:t> връзка, …</a:t>
            </a:r>
          </a:p>
          <a:p>
            <a:r>
              <a:rPr lang="bg-BG" sz="2800" dirty="0" smtClean="0"/>
              <a:t>Едно </a:t>
            </a:r>
            <a:r>
              <a:rPr lang="bg-BG" sz="2800" dirty="0"/>
              <a:t>разпределено приложение може да използва както „клиент-сървър“, така и </a:t>
            </a:r>
            <a:r>
              <a:rPr lang="en-US" sz="2800" dirty="0"/>
              <a:t>P2P</a:t>
            </a:r>
            <a:r>
              <a:rPr lang="bg-BG" sz="2800" dirty="0"/>
              <a:t> модела</a:t>
            </a:r>
          </a:p>
          <a:p>
            <a:endParaRPr lang="bg-BG" sz="2800" dirty="0"/>
          </a:p>
        </p:txBody>
      </p:sp>
    </p:spTree>
    <p:extLst>
      <p:ext uri="{BB962C8B-B14F-4D97-AF65-F5344CB8AC3E}">
        <p14:creationId xmlns:p14="http://schemas.microsoft.com/office/powerpoint/2010/main" val="938894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smtClean="0"/>
              <a:t>Отдалечено извикване на процедури</a:t>
            </a:r>
            <a:r>
              <a:rPr lang="en-US" dirty="0" smtClean="0"/>
              <a:t> (RPC)</a:t>
            </a:r>
            <a:endParaRPr lang="en-US" dirty="0"/>
          </a:p>
        </p:txBody>
      </p:sp>
      <p:sp>
        <p:nvSpPr>
          <p:cNvPr id="3" name="Content Placeholder 2"/>
          <p:cNvSpPr>
            <a:spLocks noGrp="1"/>
          </p:cNvSpPr>
          <p:nvPr>
            <p:ph idx="1"/>
          </p:nvPr>
        </p:nvSpPr>
        <p:spPr/>
        <p:txBody>
          <a:bodyPr>
            <a:noAutofit/>
          </a:bodyPr>
          <a:lstStyle/>
          <a:p>
            <a:pPr>
              <a:lnSpc>
                <a:spcPct val="80000"/>
              </a:lnSpc>
              <a:spcBef>
                <a:spcPts val="300"/>
              </a:spcBef>
            </a:pPr>
            <a:r>
              <a:rPr lang="bg-BG" sz="2800" dirty="0" smtClean="0"/>
              <a:t>Отдалечено извикване на процедури (</a:t>
            </a:r>
            <a:r>
              <a:rPr lang="bg-BG" sz="2800" dirty="0" err="1" smtClean="0"/>
              <a:t>Remote</a:t>
            </a:r>
            <a:r>
              <a:rPr lang="bg-BG" sz="2800" dirty="0" smtClean="0"/>
              <a:t> </a:t>
            </a:r>
            <a:r>
              <a:rPr lang="bg-BG" sz="2800" dirty="0" err="1" smtClean="0"/>
              <a:t>Procedure</a:t>
            </a:r>
            <a:r>
              <a:rPr lang="bg-BG" sz="2800" dirty="0" smtClean="0"/>
              <a:t> </a:t>
            </a:r>
            <a:r>
              <a:rPr lang="bg-BG" sz="2800" dirty="0" err="1" smtClean="0"/>
              <a:t>Calls</a:t>
            </a:r>
            <a:r>
              <a:rPr lang="bg-BG" sz="2800" dirty="0" smtClean="0"/>
              <a:t> – RPC) е парадигма, която позволява разработването на разпределени приложения по подобие на концепцията за процедурно програмиране</a:t>
            </a:r>
          </a:p>
          <a:p>
            <a:pPr lvl="1">
              <a:lnSpc>
                <a:spcPct val="80000"/>
              </a:lnSpc>
              <a:spcBef>
                <a:spcPts val="300"/>
              </a:spcBef>
            </a:pPr>
            <a:r>
              <a:rPr lang="bg-BG" sz="2400" dirty="0"/>
              <a:t>Широко използван още от началото на 80-те години на 20 век.</a:t>
            </a:r>
          </a:p>
          <a:p>
            <a:pPr lvl="2">
              <a:lnSpc>
                <a:spcPct val="80000"/>
              </a:lnSpc>
              <a:spcBef>
                <a:spcPts val="300"/>
              </a:spcBef>
            </a:pPr>
            <a:r>
              <a:rPr lang="bg-BG" sz="2000" dirty="0" smtClean="0"/>
              <a:t>Приложенията ставаха все по-сложни, а програмистите по-слабо образовани, т.е. стана наложително разпределените приложения да бъдат програмиран по начин, подобен на конвенционалните приложения, които работят върху един процесор.</a:t>
            </a:r>
          </a:p>
          <a:p>
            <a:pPr lvl="1">
              <a:lnSpc>
                <a:spcPct val="80000"/>
              </a:lnSpc>
              <a:spcBef>
                <a:spcPts val="300"/>
              </a:spcBef>
            </a:pPr>
            <a:r>
              <a:rPr lang="bg-BG" sz="2400" dirty="0" smtClean="0"/>
              <a:t>Удобна абстракция както за комуникация, така и за синхронизация</a:t>
            </a:r>
          </a:p>
          <a:p>
            <a:pPr>
              <a:lnSpc>
                <a:spcPct val="80000"/>
              </a:lnSpc>
              <a:spcBef>
                <a:spcPts val="300"/>
              </a:spcBef>
            </a:pPr>
            <a:r>
              <a:rPr lang="bg-BG" sz="2800" dirty="0" err="1" smtClean="0"/>
              <a:t>Междупроцесорните</a:t>
            </a:r>
            <a:r>
              <a:rPr lang="bg-BG" sz="2800" dirty="0" smtClean="0"/>
              <a:t> комуникации се извършват като активизация на процедури/функции, познати на програмистите от класическото програмиране.</a:t>
            </a:r>
          </a:p>
          <a:p>
            <a:pPr lvl="1">
              <a:lnSpc>
                <a:spcPct val="80000"/>
              </a:lnSpc>
              <a:spcBef>
                <a:spcPts val="300"/>
              </a:spcBef>
            </a:pPr>
            <a:r>
              <a:rPr lang="bg-BG" sz="2400" dirty="0" smtClean="0"/>
              <a:t>Отдалечените операции се реализират като процедурен интерфейс.</a:t>
            </a:r>
          </a:p>
          <a:p>
            <a:pPr lvl="1">
              <a:lnSpc>
                <a:spcPct val="80000"/>
              </a:lnSpc>
              <a:spcBef>
                <a:spcPts val="300"/>
              </a:spcBef>
            </a:pPr>
            <a:r>
              <a:rPr lang="bg-BG" sz="2400" dirty="0" smtClean="0"/>
              <a:t>Операции върху отдалечените машини се реализират аналогично на операциите в локалната система.</a:t>
            </a:r>
          </a:p>
          <a:p>
            <a:pPr lvl="2">
              <a:lnSpc>
                <a:spcPct val="80000"/>
              </a:lnSpc>
              <a:spcBef>
                <a:spcPts val="300"/>
              </a:spcBef>
            </a:pPr>
            <a:r>
              <a:rPr lang="bg-BG" sz="2000" dirty="0" smtClean="0"/>
              <a:t>Основните операции по работа със съобщенията, както и В/И операции на отдалечения компютър са „скрити“ от програмиста в процеса на работа.</a:t>
            </a:r>
          </a:p>
        </p:txBody>
      </p:sp>
    </p:spTree>
    <p:extLst>
      <p:ext uri="{BB962C8B-B14F-4D97-AF65-F5344CB8AC3E}">
        <p14:creationId xmlns:p14="http://schemas.microsoft.com/office/powerpoint/2010/main" val="3234226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Отдалечено извикване на процедури</a:t>
            </a:r>
            <a:r>
              <a:rPr lang="en-US" dirty="0"/>
              <a:t> (RPC)</a:t>
            </a:r>
          </a:p>
        </p:txBody>
      </p:sp>
      <p:sp>
        <p:nvSpPr>
          <p:cNvPr id="3" name="Content Placeholder 2"/>
          <p:cNvSpPr>
            <a:spLocks noGrp="1"/>
          </p:cNvSpPr>
          <p:nvPr>
            <p:ph idx="1"/>
          </p:nvPr>
        </p:nvSpPr>
        <p:spPr>
          <a:xfrm>
            <a:off x="908662" y="1143000"/>
            <a:ext cx="10824550" cy="5410200"/>
          </a:xfrm>
        </p:spPr>
        <p:txBody>
          <a:bodyPr>
            <a:normAutofit/>
          </a:bodyPr>
          <a:lstStyle/>
          <a:p>
            <a:pPr>
              <a:lnSpc>
                <a:spcPct val="85000"/>
              </a:lnSpc>
              <a:spcBef>
                <a:spcPts val="300"/>
              </a:spcBef>
            </a:pPr>
            <a:r>
              <a:rPr lang="bg-BG" sz="2800" dirty="0" smtClean="0"/>
              <a:t>Реализацията включва два независими процеса, които могат да се намират на отделни машини.</a:t>
            </a:r>
          </a:p>
          <a:p>
            <a:pPr lvl="1">
              <a:lnSpc>
                <a:spcPct val="85000"/>
              </a:lnSpc>
              <a:spcBef>
                <a:spcPts val="300"/>
              </a:spcBef>
            </a:pPr>
            <a:r>
              <a:rPr lang="bg-BG" sz="2400" dirty="0" smtClean="0"/>
              <a:t>Процесът А, който желае да подаде заявка към друг процес (</a:t>
            </a:r>
            <a:r>
              <a:rPr lang="bg-BG" sz="2400" dirty="0" err="1" smtClean="0"/>
              <a:t>процес</a:t>
            </a:r>
            <a:r>
              <a:rPr lang="bg-BG" sz="2400" dirty="0" smtClean="0"/>
              <a:t> В), реализира отдалечено извикване към процеса B (предава и съответните стойностите на аргументите).</a:t>
            </a:r>
          </a:p>
          <a:p>
            <a:pPr lvl="1">
              <a:lnSpc>
                <a:spcPct val="85000"/>
              </a:lnSpc>
              <a:spcBef>
                <a:spcPts val="300"/>
              </a:spcBef>
            </a:pPr>
            <a:r>
              <a:rPr lang="bg-BG" sz="2400" dirty="0" smtClean="0"/>
              <a:t>RPC задейства предварително определено действие в процедура, осигурена от процеса B.</a:t>
            </a:r>
          </a:p>
          <a:p>
            <a:pPr lvl="2">
              <a:lnSpc>
                <a:spcPct val="85000"/>
              </a:lnSpc>
              <a:spcBef>
                <a:spcPts val="300"/>
              </a:spcBef>
            </a:pPr>
            <a:r>
              <a:rPr lang="bg-BG" sz="2000" dirty="0" smtClean="0"/>
              <a:t>По подобие на локалните извиквания на процедури.</a:t>
            </a:r>
          </a:p>
          <a:p>
            <a:pPr lvl="1">
              <a:lnSpc>
                <a:spcPct val="85000"/>
              </a:lnSpc>
              <a:spcBef>
                <a:spcPts val="300"/>
              </a:spcBef>
            </a:pPr>
            <a:r>
              <a:rPr lang="bg-BG" sz="2400" dirty="0" smtClean="0"/>
              <a:t>След завършване, процесът В връща стойността на процеса А.</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6812" y="4419600"/>
            <a:ext cx="5424487" cy="2299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8002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Отдалечено извикване на процедури</a:t>
            </a:r>
            <a:r>
              <a:rPr lang="en-US" dirty="0"/>
              <a:t> (RPC)</a:t>
            </a:r>
          </a:p>
        </p:txBody>
      </p:sp>
      <p:sp>
        <p:nvSpPr>
          <p:cNvPr id="3" name="Content Placeholder 2"/>
          <p:cNvSpPr>
            <a:spLocks noGrp="1"/>
          </p:cNvSpPr>
          <p:nvPr>
            <p:ph idx="1"/>
          </p:nvPr>
        </p:nvSpPr>
        <p:spPr>
          <a:xfrm>
            <a:off x="908662" y="1143000"/>
            <a:ext cx="10824550" cy="5410200"/>
          </a:xfrm>
        </p:spPr>
        <p:txBody>
          <a:bodyPr>
            <a:normAutofit lnSpcReduction="10000"/>
          </a:bodyPr>
          <a:lstStyle/>
          <a:p>
            <a:pPr>
              <a:lnSpc>
                <a:spcPct val="100000"/>
              </a:lnSpc>
              <a:spcBef>
                <a:spcPts val="300"/>
              </a:spcBef>
            </a:pPr>
            <a:r>
              <a:rPr lang="bg-BG" sz="2800" dirty="0" smtClean="0"/>
              <a:t>Реализация</a:t>
            </a:r>
          </a:p>
          <a:p>
            <a:pPr lvl="1">
              <a:lnSpc>
                <a:spcPct val="100000"/>
              </a:lnSpc>
              <a:spcBef>
                <a:spcPts val="300"/>
              </a:spcBef>
            </a:pPr>
            <a:r>
              <a:rPr lang="bg-BG" sz="2400" dirty="0" smtClean="0"/>
              <a:t>Реалната реализация е по-сложна поради нуждата да направи извикването „прозрачно“ за програмиста.</a:t>
            </a:r>
            <a:endParaRPr lang="en-US" sz="2400" dirty="0" smtClean="0"/>
          </a:p>
          <a:p>
            <a:pPr>
              <a:lnSpc>
                <a:spcPct val="100000"/>
              </a:lnSpc>
              <a:spcBef>
                <a:spcPts val="300"/>
              </a:spcBef>
            </a:pPr>
            <a:r>
              <a:rPr lang="bg-BG" sz="2800" dirty="0" smtClean="0"/>
              <a:t>От въвеждането си тава е широко използван подход за създаване на мрежовите приложения.</a:t>
            </a:r>
          </a:p>
          <a:p>
            <a:pPr lvl="1">
              <a:lnSpc>
                <a:spcPct val="100000"/>
              </a:lnSpc>
              <a:spcBef>
                <a:spcPts val="300"/>
              </a:spcBef>
            </a:pPr>
            <a:r>
              <a:rPr lang="bg-BG" sz="2400" dirty="0" smtClean="0"/>
              <a:t>RPC осигурява удобно абстракция както за </a:t>
            </a:r>
            <a:r>
              <a:rPr lang="bg-BG" sz="2400" dirty="0" err="1" smtClean="0"/>
              <a:t>междупроцесорна</a:t>
            </a:r>
            <a:r>
              <a:rPr lang="bg-BG" sz="2400" dirty="0" smtClean="0"/>
              <a:t> комуникация, така и за синхронизация на събития.</a:t>
            </a:r>
          </a:p>
          <a:p>
            <a:pPr>
              <a:spcBef>
                <a:spcPts val="300"/>
              </a:spcBef>
            </a:pPr>
            <a:r>
              <a:rPr lang="bg-BG" sz="2800" dirty="0" smtClean="0"/>
              <a:t>Съществуват различни реализации на RPC, като два от най-често срещаните приложни програмни интерфейса (API) са:</a:t>
            </a:r>
          </a:p>
          <a:p>
            <a:pPr lvl="1">
              <a:spcBef>
                <a:spcPts val="300"/>
              </a:spcBef>
            </a:pPr>
            <a:r>
              <a:rPr lang="bg-BG" sz="2400" dirty="0" err="1" smtClean="0"/>
              <a:t>Open</a:t>
            </a:r>
            <a:r>
              <a:rPr lang="bg-BG" sz="2400" dirty="0" smtClean="0"/>
              <a:t> </a:t>
            </a:r>
            <a:r>
              <a:rPr lang="bg-BG" sz="2400" dirty="0" err="1" smtClean="0"/>
              <a:t>Calling</a:t>
            </a:r>
            <a:r>
              <a:rPr lang="bg-BG" sz="2400" dirty="0" smtClean="0"/>
              <a:t> </a:t>
            </a:r>
            <a:r>
              <a:rPr lang="bg-BG" sz="2400" dirty="0" err="1" smtClean="0"/>
              <a:t>Computing</a:t>
            </a:r>
            <a:r>
              <a:rPr lang="bg-BG" sz="2400" dirty="0" smtClean="0"/>
              <a:t> </a:t>
            </a:r>
            <a:r>
              <a:rPr lang="bg-BG" sz="2400" dirty="0" err="1" smtClean="0"/>
              <a:t>Remote</a:t>
            </a:r>
            <a:r>
              <a:rPr lang="bg-BG" sz="2400" dirty="0" smtClean="0"/>
              <a:t> </a:t>
            </a:r>
            <a:r>
              <a:rPr lang="bg-BG" sz="2400" dirty="0" err="1" smtClean="0"/>
              <a:t>Procedure</a:t>
            </a:r>
            <a:r>
              <a:rPr lang="bg-BG" sz="2400" dirty="0" smtClean="0"/>
              <a:t> </a:t>
            </a:r>
            <a:r>
              <a:rPr lang="bg-BG" sz="2400" dirty="0" err="1" smtClean="0"/>
              <a:t>Call</a:t>
            </a:r>
            <a:endParaRPr lang="bg-BG" sz="2400" dirty="0" smtClean="0"/>
          </a:p>
          <a:p>
            <a:pPr lvl="2">
              <a:spcBef>
                <a:spcPts val="300"/>
              </a:spcBef>
            </a:pPr>
            <a:r>
              <a:rPr lang="bg-BG" sz="2000" dirty="0" smtClean="0"/>
              <a:t>Разработена на основата на RPC API на </a:t>
            </a:r>
            <a:r>
              <a:rPr lang="bg-BG" sz="2000" dirty="0" err="1" smtClean="0"/>
              <a:t>Sun</a:t>
            </a:r>
            <a:r>
              <a:rPr lang="bg-BG" sz="2000" dirty="0" smtClean="0"/>
              <a:t> </a:t>
            </a:r>
            <a:r>
              <a:rPr lang="bg-BG" sz="2000" dirty="0" err="1" smtClean="0"/>
              <a:t>Microsystems</a:t>
            </a:r>
            <a:r>
              <a:rPr lang="bg-BG" sz="2000" dirty="0" smtClean="0"/>
              <a:t> в началото на 80-те години на миналия век.</a:t>
            </a:r>
          </a:p>
          <a:p>
            <a:pPr lvl="1">
              <a:spcBef>
                <a:spcPts val="300"/>
              </a:spcBef>
            </a:pPr>
            <a:r>
              <a:rPr lang="bg-BG" sz="2400" dirty="0" err="1" smtClean="0"/>
              <a:t>The</a:t>
            </a:r>
            <a:r>
              <a:rPr lang="bg-BG" sz="2400" dirty="0" smtClean="0"/>
              <a:t> </a:t>
            </a:r>
            <a:r>
              <a:rPr lang="bg-BG" sz="2400" i="1" dirty="0" err="1" smtClean="0"/>
              <a:t>Open</a:t>
            </a:r>
            <a:r>
              <a:rPr lang="bg-BG" sz="2400" i="1" dirty="0" smtClean="0"/>
              <a:t> Group </a:t>
            </a:r>
            <a:r>
              <a:rPr lang="bg-BG" sz="2400" i="1" dirty="0" err="1" smtClean="0"/>
              <a:t>Distributed</a:t>
            </a:r>
            <a:r>
              <a:rPr lang="bg-BG" sz="2400" i="1" dirty="0" smtClean="0"/>
              <a:t> </a:t>
            </a:r>
            <a:r>
              <a:rPr lang="bg-BG" sz="2400" i="1" dirty="0" err="1" smtClean="0"/>
              <a:t>Computing</a:t>
            </a:r>
            <a:r>
              <a:rPr lang="bg-BG" sz="2400" i="1" dirty="0" smtClean="0"/>
              <a:t> </a:t>
            </a:r>
            <a:r>
              <a:rPr lang="bg-BG" sz="2400" i="1" dirty="0" err="1" smtClean="0"/>
              <a:t>Environment</a:t>
            </a:r>
            <a:r>
              <a:rPr lang="bg-BG" sz="2400" dirty="0" smtClean="0"/>
              <a:t>(DCE) RPC.</a:t>
            </a:r>
          </a:p>
          <a:p>
            <a:pPr lvl="1">
              <a:spcBef>
                <a:spcPts val="300"/>
              </a:spcBef>
            </a:pPr>
            <a:r>
              <a:rPr lang="bg-BG" sz="2400" dirty="0" smtClean="0"/>
              <a:t>И двете RPC API осигуряват специален инструмент (</a:t>
            </a:r>
            <a:r>
              <a:rPr lang="bg-BG" sz="2400" dirty="0" err="1" smtClean="0"/>
              <a:t>rpcgen</a:t>
            </a:r>
            <a:r>
              <a:rPr lang="bg-BG" sz="2400" dirty="0" smtClean="0"/>
              <a:t>) за трансформиране на RPC в локални извиквания на </a:t>
            </a:r>
            <a:r>
              <a:rPr lang="bg-BG" sz="2400" dirty="0" err="1" smtClean="0"/>
              <a:t>стъба</a:t>
            </a:r>
            <a:r>
              <a:rPr lang="bg-BG" sz="2400" dirty="0" smtClean="0"/>
              <a:t> (</a:t>
            </a:r>
            <a:r>
              <a:rPr lang="bg-BG" sz="2400" dirty="0" err="1" smtClean="0"/>
              <a:t>stub</a:t>
            </a:r>
            <a:r>
              <a:rPr lang="bg-BG" sz="2400" dirty="0" smtClean="0"/>
              <a:t>).</a:t>
            </a:r>
          </a:p>
        </p:txBody>
      </p:sp>
      <p:pic>
        <p:nvPicPr>
          <p:cNvPr id="4" name="Picture 4" descr="http://dret.net/lectures/services-fall06/img/rpc-mod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1612" y="2743200"/>
            <a:ext cx="4870740" cy="3647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893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smtClean="0"/>
              <a:t>„Разпределени обекти“</a:t>
            </a:r>
            <a:endParaRPr lang="en-US" dirty="0"/>
          </a:p>
        </p:txBody>
      </p:sp>
      <p:sp>
        <p:nvSpPr>
          <p:cNvPr id="3" name="Content Placeholder 2"/>
          <p:cNvSpPr>
            <a:spLocks noGrp="1"/>
          </p:cNvSpPr>
          <p:nvPr>
            <p:ph idx="1"/>
          </p:nvPr>
        </p:nvSpPr>
        <p:spPr/>
        <p:txBody>
          <a:bodyPr>
            <a:noAutofit/>
          </a:bodyPr>
          <a:lstStyle/>
          <a:p>
            <a:pPr>
              <a:spcBef>
                <a:spcPts val="400"/>
              </a:spcBef>
            </a:pPr>
            <a:r>
              <a:rPr lang="bg-BG" sz="2800" dirty="0" smtClean="0"/>
              <a:t>Идеята за появата на този подход (</a:t>
            </a:r>
            <a:r>
              <a:rPr lang="bg-BG" sz="2800" dirty="0" err="1" smtClean="0"/>
              <a:t>англ</a:t>
            </a:r>
            <a:r>
              <a:rPr lang="bg-BG" sz="2800" dirty="0" smtClean="0"/>
              <a:t>. </a:t>
            </a:r>
            <a:r>
              <a:rPr lang="bg-BG" sz="2800" dirty="0" err="1" smtClean="0"/>
              <a:t>Distributed</a:t>
            </a:r>
            <a:r>
              <a:rPr lang="bg-BG" sz="2800" dirty="0" smtClean="0"/>
              <a:t> </a:t>
            </a:r>
            <a:r>
              <a:rPr lang="bg-BG" sz="2800" dirty="0" err="1" smtClean="0"/>
              <a:t>Objects</a:t>
            </a:r>
            <a:r>
              <a:rPr lang="bg-BG" sz="2800" dirty="0" smtClean="0"/>
              <a:t> </a:t>
            </a:r>
            <a:r>
              <a:rPr lang="bg-BG" sz="2800" dirty="0" err="1" smtClean="0"/>
              <a:t>Paradigm</a:t>
            </a:r>
            <a:r>
              <a:rPr lang="bg-BG" sz="2800" dirty="0" smtClean="0"/>
              <a:t>) е стремежът да се премине от наподобяване на класическото програмиране към наподобяване на ОО програмиране.</a:t>
            </a:r>
          </a:p>
          <a:p>
            <a:pPr lvl="1">
              <a:spcBef>
                <a:spcPts val="400"/>
              </a:spcBef>
            </a:pPr>
            <a:r>
              <a:rPr lang="bg-BG" sz="2400" dirty="0" smtClean="0"/>
              <a:t>Приложенията осъществяват достъп до обекти, „разпределени“ в мрежата.</a:t>
            </a:r>
          </a:p>
          <a:p>
            <a:pPr lvl="1">
              <a:spcBef>
                <a:spcPts val="400"/>
              </a:spcBef>
            </a:pPr>
            <a:r>
              <a:rPr lang="bg-BG" sz="2400" dirty="0" smtClean="0"/>
              <a:t>Съответно, разпределените обекти предоставят методи, чрез извикването на които дадено приложение получава достъп до услугите.</a:t>
            </a:r>
          </a:p>
          <a:p>
            <a:pPr>
              <a:spcBef>
                <a:spcPts val="400"/>
              </a:spcBef>
            </a:pPr>
            <a:r>
              <a:rPr lang="bg-BG" sz="2800" dirty="0" smtClean="0"/>
              <a:t>Разпределените приложения се разработват (от структурна гледна точка) като множество от взаимодействащи „разпределени“ обекти</a:t>
            </a:r>
          </a:p>
          <a:p>
            <a:pPr lvl="1">
              <a:spcBef>
                <a:spcPts val="400"/>
              </a:spcBef>
            </a:pPr>
            <a:r>
              <a:rPr lang="bg-BG" sz="2400" dirty="0" smtClean="0"/>
              <a:t>Всичко е вид обект.</a:t>
            </a:r>
          </a:p>
          <a:p>
            <a:pPr lvl="1">
              <a:spcBef>
                <a:spcPts val="400"/>
              </a:spcBef>
            </a:pPr>
            <a:r>
              <a:rPr lang="bg-BG" sz="2400" dirty="0" smtClean="0"/>
              <a:t>Услугите и ресурсите за клиентите се реализират като „отдалечени“ обекти.</a:t>
            </a:r>
          </a:p>
          <a:p>
            <a:pPr lvl="1">
              <a:spcBef>
                <a:spcPts val="400"/>
              </a:spcBef>
            </a:pPr>
            <a:r>
              <a:rPr lang="bg-BG" sz="2400" dirty="0" smtClean="0"/>
              <a:t>Обектите осигуряват методи, чрез които приложението осъществява достъп до набор от услуги.</a:t>
            </a:r>
          </a:p>
        </p:txBody>
      </p:sp>
    </p:spTree>
    <p:extLst>
      <p:ext uri="{BB962C8B-B14F-4D97-AF65-F5344CB8AC3E}">
        <p14:creationId xmlns:p14="http://schemas.microsoft.com/office/powerpoint/2010/main" val="402721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smtClean="0"/>
              <a:t>„</a:t>
            </a:r>
            <a:r>
              <a:rPr lang="bg-BG" dirty="0"/>
              <a:t>Разпределени обекти“</a:t>
            </a:r>
            <a:endParaRPr lang="en-US" dirty="0"/>
          </a:p>
        </p:txBody>
      </p:sp>
      <p:sp>
        <p:nvSpPr>
          <p:cNvPr id="3" name="Content Placeholder 2"/>
          <p:cNvSpPr>
            <a:spLocks noGrp="1"/>
          </p:cNvSpPr>
          <p:nvPr>
            <p:ph idx="1"/>
          </p:nvPr>
        </p:nvSpPr>
        <p:spPr/>
        <p:txBody>
          <a:bodyPr>
            <a:normAutofit lnSpcReduction="10000"/>
          </a:bodyPr>
          <a:lstStyle/>
          <a:p>
            <a:r>
              <a:rPr lang="bg-BG" dirty="0" smtClean="0"/>
              <a:t>Съществуват няколко реализации:</a:t>
            </a:r>
          </a:p>
          <a:p>
            <a:pPr lvl="1"/>
            <a:r>
              <a:rPr lang="bg-BG" dirty="0" smtClean="0"/>
              <a:t>Отдалечено извикване на обекти (</a:t>
            </a:r>
            <a:r>
              <a:rPr lang="bg-BG" dirty="0" err="1" smtClean="0"/>
              <a:t>Remote</a:t>
            </a:r>
            <a:r>
              <a:rPr lang="bg-BG" dirty="0" smtClean="0"/>
              <a:t> </a:t>
            </a:r>
            <a:r>
              <a:rPr lang="bg-BG" dirty="0" err="1" smtClean="0"/>
              <a:t>Object</a:t>
            </a:r>
            <a:r>
              <a:rPr lang="bg-BG" dirty="0" smtClean="0"/>
              <a:t> </a:t>
            </a:r>
            <a:r>
              <a:rPr lang="bg-BG" dirty="0" err="1" smtClean="0"/>
              <a:t>Invocation</a:t>
            </a:r>
            <a:r>
              <a:rPr lang="bg-BG" dirty="0" smtClean="0"/>
              <a:t> - RMI)</a:t>
            </a:r>
          </a:p>
          <a:p>
            <a:pPr lvl="2"/>
            <a:r>
              <a:rPr lang="bg-BG" dirty="0" smtClean="0"/>
              <a:t>Това е ОО вариант на RPC модела</a:t>
            </a:r>
          </a:p>
          <a:p>
            <a:pPr lvl="1"/>
            <a:r>
              <a:rPr lang="bg-BG" dirty="0" err="1" smtClean="0"/>
              <a:t>Corba</a:t>
            </a:r>
            <a:r>
              <a:rPr lang="bg-BG" dirty="0" smtClean="0"/>
              <a:t> </a:t>
            </a:r>
            <a:r>
              <a:rPr lang="bg-BG" dirty="0" err="1" smtClean="0"/>
              <a:t>Object</a:t>
            </a:r>
            <a:r>
              <a:rPr lang="bg-BG" dirty="0" smtClean="0"/>
              <a:t> </a:t>
            </a:r>
            <a:r>
              <a:rPr lang="bg-BG" dirty="0" err="1" smtClean="0"/>
              <a:t>Request</a:t>
            </a:r>
            <a:r>
              <a:rPr lang="bg-BG" dirty="0" smtClean="0"/>
              <a:t> </a:t>
            </a:r>
            <a:r>
              <a:rPr lang="bg-BG" dirty="0" err="1" smtClean="0"/>
              <a:t>Broker</a:t>
            </a:r>
            <a:r>
              <a:rPr lang="bg-BG" dirty="0" smtClean="0"/>
              <a:t> (ORB)</a:t>
            </a:r>
          </a:p>
          <a:p>
            <a:pPr lvl="2"/>
            <a:r>
              <a:rPr lang="bg-BG" dirty="0" smtClean="0"/>
              <a:t>Обектите се регистрирани в ORB (наричан още «обектна шина») с услугите, които предоставят.</a:t>
            </a:r>
          </a:p>
          <a:p>
            <a:pPr lvl="2"/>
            <a:r>
              <a:rPr lang="bg-BG" dirty="0" smtClean="0"/>
              <a:t>ORB пренасочва заявките от клиента към обектите, които предоставят търсените услуги. </a:t>
            </a:r>
          </a:p>
          <a:p>
            <a:pPr lvl="2"/>
            <a:r>
              <a:rPr lang="bg-BG" dirty="0" smtClean="0"/>
              <a:t>Съществуват различни реализация : </a:t>
            </a:r>
            <a:r>
              <a:rPr lang="bg-BG" dirty="0" err="1" smtClean="0"/>
              <a:t>Orbix</a:t>
            </a:r>
            <a:r>
              <a:rPr lang="bg-BG" dirty="0" smtClean="0"/>
              <a:t>, </a:t>
            </a:r>
            <a:r>
              <a:rPr lang="bg-BG" dirty="0" err="1" smtClean="0"/>
              <a:t>Tao</a:t>
            </a:r>
            <a:r>
              <a:rPr lang="bg-BG" dirty="0" smtClean="0"/>
              <a:t>, </a:t>
            </a:r>
            <a:r>
              <a:rPr lang="bg-BG" dirty="0" err="1" smtClean="0"/>
              <a:t>Java</a:t>
            </a:r>
            <a:r>
              <a:rPr lang="bg-BG" dirty="0" smtClean="0"/>
              <a:t> IDL, …</a:t>
            </a:r>
          </a:p>
          <a:p>
            <a:pPr lvl="1"/>
            <a:r>
              <a:rPr lang="bg-BG" dirty="0" err="1" smtClean="0"/>
              <a:t>Конпонентно-базирана</a:t>
            </a:r>
            <a:r>
              <a:rPr lang="bg-BG" dirty="0" smtClean="0"/>
              <a:t> </a:t>
            </a:r>
            <a:r>
              <a:rPr lang="bg-BG" dirty="0" err="1" smtClean="0"/>
              <a:t>реалзиация</a:t>
            </a:r>
            <a:endParaRPr lang="bg-BG" dirty="0" smtClean="0"/>
          </a:p>
          <a:p>
            <a:pPr lvl="2"/>
            <a:r>
              <a:rPr lang="bg-BG" dirty="0" smtClean="0"/>
              <a:t>Пример: MS DCOM, </a:t>
            </a:r>
            <a:r>
              <a:rPr lang="bg-BG" dirty="0" err="1" smtClean="0"/>
              <a:t>Java</a:t>
            </a:r>
            <a:r>
              <a:rPr lang="bg-BG" dirty="0" smtClean="0"/>
              <a:t> Bean </a:t>
            </a:r>
          </a:p>
          <a:p>
            <a:pPr lvl="2"/>
            <a:r>
              <a:rPr lang="bg-BG" dirty="0" smtClean="0"/>
              <a:t>Компонентите са специализирани модули (напр. пакетирани обекти), предназначени да взаимодействат с други модули чрез стандартизирани интерфейси.</a:t>
            </a:r>
            <a:endParaRPr lang="bg-BG" dirty="0"/>
          </a:p>
        </p:txBody>
      </p:sp>
    </p:spTree>
    <p:extLst>
      <p:ext uri="{BB962C8B-B14F-4D97-AF65-F5344CB8AC3E}">
        <p14:creationId xmlns:p14="http://schemas.microsoft.com/office/powerpoint/2010/main" val="1257540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
            </a:r>
            <a:br>
              <a:rPr lang="en-US" dirty="0"/>
            </a:br>
            <a:r>
              <a:rPr lang="bg-BG" dirty="0"/>
              <a:t>Отдалечено извикване на </a:t>
            </a:r>
            <a:r>
              <a:rPr lang="bg-BG" dirty="0" smtClean="0"/>
              <a:t>обекти</a:t>
            </a:r>
            <a:r>
              <a:rPr lang="en-US" dirty="0" smtClean="0"/>
              <a:t> (RMI</a:t>
            </a:r>
            <a:r>
              <a:rPr lang="en-US" dirty="0"/>
              <a:t>)</a:t>
            </a:r>
          </a:p>
        </p:txBody>
      </p:sp>
      <p:sp>
        <p:nvSpPr>
          <p:cNvPr id="3" name="Content Placeholder 2"/>
          <p:cNvSpPr>
            <a:spLocks noGrp="1"/>
          </p:cNvSpPr>
          <p:nvPr>
            <p:ph idx="1"/>
          </p:nvPr>
        </p:nvSpPr>
        <p:spPr/>
        <p:txBody>
          <a:bodyPr>
            <a:normAutofit/>
          </a:bodyPr>
          <a:lstStyle/>
          <a:p>
            <a:r>
              <a:rPr lang="bg-BG" sz="2800" dirty="0" smtClean="0"/>
              <a:t>Отдалечено</a:t>
            </a:r>
            <a:r>
              <a:rPr lang="en-US" sz="2800" dirty="0" smtClean="0"/>
              <a:t>to</a:t>
            </a:r>
            <a:r>
              <a:rPr lang="bg-BG" sz="2800" dirty="0" smtClean="0"/>
              <a:t> </a:t>
            </a:r>
            <a:r>
              <a:rPr lang="bg-BG" sz="2800" dirty="0"/>
              <a:t>извикване на обекти </a:t>
            </a:r>
            <a:r>
              <a:rPr lang="en-US" sz="2800" dirty="0" smtClean="0"/>
              <a:t>(Remote </a:t>
            </a:r>
            <a:r>
              <a:rPr lang="en-US" sz="2800" dirty="0"/>
              <a:t>method invocation </a:t>
            </a:r>
            <a:r>
              <a:rPr lang="en-US" sz="2800" dirty="0" smtClean="0"/>
              <a:t>– RMI) </a:t>
            </a:r>
            <a:r>
              <a:rPr lang="bg-BG" sz="2800" dirty="0" smtClean="0"/>
              <a:t>е аналог на </a:t>
            </a:r>
            <a:r>
              <a:rPr lang="en-US" sz="2800" dirty="0" smtClean="0"/>
              <a:t>RPC</a:t>
            </a:r>
            <a:r>
              <a:rPr lang="bg-BG" sz="2800" dirty="0" smtClean="0"/>
              <a:t>, но реализиран с отчитане на спецификата на ОО-програмиране</a:t>
            </a:r>
            <a:r>
              <a:rPr lang="en-US" sz="2800" dirty="0" smtClean="0"/>
              <a:t>. </a:t>
            </a:r>
            <a:endParaRPr lang="bg-BG" sz="2800" dirty="0" smtClean="0"/>
          </a:p>
          <a:p>
            <a:pPr lvl="1"/>
            <a:r>
              <a:rPr lang="bg-BG" sz="2400" dirty="0" smtClean="0"/>
              <a:t>Затова се говори за извикване на метод на обект, а не на самостоятелна процедура/функция.</a:t>
            </a:r>
          </a:p>
          <a:p>
            <a:pPr lvl="2"/>
            <a:r>
              <a:rPr lang="bg-BG" sz="2000" dirty="0"/>
              <a:t>Както при </a:t>
            </a:r>
            <a:r>
              <a:rPr lang="en-US" sz="2000" dirty="0"/>
              <a:t>RPC, </a:t>
            </a:r>
            <a:r>
              <a:rPr lang="bg-BG" sz="2000" dirty="0"/>
              <a:t>аргументите се предават при извикването</a:t>
            </a:r>
            <a:r>
              <a:rPr lang="en-US" sz="2000" dirty="0"/>
              <a:t>.</a:t>
            </a:r>
          </a:p>
          <a:p>
            <a:pPr lvl="1"/>
            <a:r>
              <a:rPr lang="bg-BG" sz="2400" dirty="0" smtClean="0"/>
              <a:t>Обектът, чийто метод се извиква може да се намира на друг компютър / в друго адресно поле.</a:t>
            </a:r>
            <a:endParaRPr lang="en-US" sz="2400" dirty="0"/>
          </a:p>
          <a:p>
            <a:pPr marL="0" indent="0">
              <a:buNone/>
            </a:pPr>
            <a:endParaRPr lang="en-US" sz="2800"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3520" y="4191000"/>
            <a:ext cx="6546360" cy="24085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0029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
            </a:r>
            <a:br>
              <a:rPr lang="en-US" dirty="0"/>
            </a:br>
            <a:r>
              <a:rPr lang="bg-BG" dirty="0"/>
              <a:t>Отдалечено извикване на </a:t>
            </a:r>
            <a:r>
              <a:rPr lang="bg-BG" dirty="0" smtClean="0"/>
              <a:t>обекти</a:t>
            </a:r>
            <a:r>
              <a:rPr lang="en-US" dirty="0" smtClean="0"/>
              <a:t> (RMI</a:t>
            </a:r>
            <a:r>
              <a:rPr lang="en-US" dirty="0"/>
              <a:t>)</a:t>
            </a:r>
          </a:p>
        </p:txBody>
      </p:sp>
      <p:sp>
        <p:nvSpPr>
          <p:cNvPr id="3" name="Content Placeholder 2"/>
          <p:cNvSpPr>
            <a:spLocks noGrp="1"/>
          </p:cNvSpPr>
          <p:nvPr>
            <p:ph idx="1"/>
          </p:nvPr>
        </p:nvSpPr>
        <p:spPr/>
        <p:txBody>
          <a:bodyPr>
            <a:normAutofit/>
          </a:bodyPr>
          <a:lstStyle/>
          <a:p>
            <a:r>
              <a:rPr lang="bg-BG" sz="2800" dirty="0" smtClean="0"/>
              <a:t>Реализация</a:t>
            </a:r>
            <a:endParaRPr lang="en-US" sz="2800" dirty="0" smtClean="0"/>
          </a:p>
          <a:p>
            <a:pPr lvl="1"/>
            <a:r>
              <a:rPr lang="bg-BG" sz="2400" dirty="0" smtClean="0"/>
              <a:t>Отдалечените обекти се регистрират на специално място (</a:t>
            </a:r>
            <a:r>
              <a:rPr lang="en-US" sz="2400" dirty="0" smtClean="0"/>
              <a:t>RMI Registry).</a:t>
            </a:r>
          </a:p>
          <a:p>
            <a:pPr lvl="1"/>
            <a:r>
              <a:rPr lang="bg-BG" sz="2400" dirty="0" smtClean="0"/>
              <a:t>Клиентът се обръща към регистъра на отдалечените обекти и „получава“ необходимата информация къде се намира търсения обект.</a:t>
            </a:r>
          </a:p>
          <a:p>
            <a:pPr lvl="1"/>
            <a:r>
              <a:rPr lang="bg-BG" sz="2400" dirty="0" smtClean="0"/>
              <a:t>Клиентът се обръща към метода на съответния клас </a:t>
            </a:r>
          </a:p>
          <a:p>
            <a:pPr lvl="2"/>
            <a:r>
              <a:rPr lang="bg-BG" sz="1800" dirty="0" smtClean="0"/>
              <a:t>Клиентът извиква метод през </a:t>
            </a:r>
            <a:r>
              <a:rPr lang="bg-BG" sz="1800" dirty="0" err="1" smtClean="0"/>
              <a:t>стъба</a:t>
            </a:r>
            <a:r>
              <a:rPr lang="bg-BG" sz="1800" dirty="0" smtClean="0"/>
              <a:t>, като подава и къде се намира търсения обект.</a:t>
            </a:r>
          </a:p>
          <a:p>
            <a:pPr lvl="2"/>
            <a:r>
              <a:rPr lang="bg-BG" sz="1800" dirty="0" err="1" smtClean="0"/>
              <a:t>Стъбът</a:t>
            </a:r>
            <a:r>
              <a:rPr lang="bg-BG" sz="1800" dirty="0" smtClean="0"/>
              <a:t> се свързва с </a:t>
            </a:r>
            <a:r>
              <a:rPr lang="bg-BG" sz="1800" dirty="0" err="1" smtClean="0"/>
              <a:t>проксито</a:t>
            </a:r>
            <a:r>
              <a:rPr lang="bg-BG" sz="1800" dirty="0" smtClean="0"/>
              <a:t> на обекта и подава заявката.</a:t>
            </a:r>
          </a:p>
          <a:p>
            <a:pPr lvl="2"/>
            <a:r>
              <a:rPr lang="bg-BG" sz="1800" dirty="0" err="1" smtClean="0"/>
              <a:t>Проксито</a:t>
            </a:r>
            <a:r>
              <a:rPr lang="bg-BG" sz="1800" dirty="0" smtClean="0"/>
              <a:t> извиква съответния метод, получава резултата и го връща на </a:t>
            </a:r>
            <a:r>
              <a:rPr lang="bg-BG" sz="1800" dirty="0" err="1" smtClean="0"/>
              <a:t>стъба</a:t>
            </a:r>
            <a:r>
              <a:rPr lang="bg-BG" sz="1800" dirty="0" smtClean="0"/>
              <a:t>.</a:t>
            </a:r>
          </a:p>
          <a:p>
            <a:pPr lvl="2"/>
            <a:r>
              <a:rPr lang="bg-BG" sz="1800" dirty="0" err="1" smtClean="0"/>
              <a:t>Стъбът</a:t>
            </a:r>
            <a:r>
              <a:rPr lang="bg-BG" sz="1800" dirty="0" smtClean="0"/>
              <a:t> предава резултата на клиента.</a:t>
            </a:r>
          </a:p>
          <a:p>
            <a:pPr lvl="2"/>
            <a:endParaRPr lang="en-US" sz="1600" dirty="0" smtClean="0"/>
          </a:p>
          <a:p>
            <a:pPr lvl="1"/>
            <a:endParaRPr lang="en-US" sz="2000" dirty="0"/>
          </a:p>
          <a:p>
            <a:pPr marL="0" indent="0">
              <a:buNone/>
            </a:pPr>
            <a:endParaRPr lang="en-US" sz="2800"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5612" y="4475755"/>
            <a:ext cx="3621088" cy="2239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6101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0" dirty="0"/>
              <a:t/>
            </a:r>
            <a:br>
              <a:rPr lang="en-US" b="0" dirty="0"/>
            </a:br>
            <a:r>
              <a:rPr lang="bg-BG" dirty="0" smtClean="0"/>
              <a:t>„</a:t>
            </a:r>
            <a:r>
              <a:rPr lang="en-US" dirty="0" err="1" smtClean="0"/>
              <a:t>Corba</a:t>
            </a:r>
            <a:r>
              <a:rPr lang="en-US" dirty="0" smtClean="0"/>
              <a:t> Object </a:t>
            </a:r>
            <a:r>
              <a:rPr lang="en-US" dirty="0"/>
              <a:t>Request </a:t>
            </a:r>
            <a:r>
              <a:rPr lang="en-US" dirty="0" smtClean="0"/>
              <a:t>Broker</a:t>
            </a:r>
            <a:r>
              <a:rPr lang="en-US" b="0" dirty="0"/>
              <a:t>”</a:t>
            </a:r>
            <a:endParaRPr lang="en-US" dirty="0"/>
          </a:p>
        </p:txBody>
      </p:sp>
      <p:sp>
        <p:nvSpPr>
          <p:cNvPr id="3" name="Content Placeholder 2"/>
          <p:cNvSpPr>
            <a:spLocks noGrp="1"/>
          </p:cNvSpPr>
          <p:nvPr>
            <p:ph idx="1"/>
          </p:nvPr>
        </p:nvSpPr>
        <p:spPr/>
        <p:txBody>
          <a:bodyPr>
            <a:normAutofit/>
          </a:bodyPr>
          <a:lstStyle/>
          <a:p>
            <a:pPr>
              <a:spcBef>
                <a:spcPts val="300"/>
              </a:spcBef>
            </a:pPr>
            <a:r>
              <a:rPr lang="bg-BG" sz="2800" dirty="0" smtClean="0"/>
              <a:t>Решението при този подход е базирано на наличието на специална група функции на средата, обединени под названието „брокер“ (</a:t>
            </a:r>
            <a:r>
              <a:rPr lang="bg-BG" sz="2800" i="1" dirty="0" err="1" smtClean="0"/>
              <a:t>object</a:t>
            </a:r>
            <a:r>
              <a:rPr lang="bg-BG" sz="2800" i="1" dirty="0" smtClean="0"/>
              <a:t> </a:t>
            </a:r>
            <a:r>
              <a:rPr lang="bg-BG" sz="2800" i="1" dirty="0" err="1" smtClean="0"/>
              <a:t>request</a:t>
            </a:r>
            <a:r>
              <a:rPr lang="bg-BG" sz="2800" i="1" dirty="0" smtClean="0"/>
              <a:t> </a:t>
            </a:r>
            <a:r>
              <a:rPr lang="bg-BG" sz="2800" i="1" dirty="0" err="1" smtClean="0"/>
              <a:t>broker</a:t>
            </a:r>
            <a:r>
              <a:rPr lang="bg-BG" sz="2800" i="1" dirty="0" smtClean="0"/>
              <a:t> - </a:t>
            </a:r>
            <a:r>
              <a:rPr lang="bg-BG" sz="2800" dirty="0" smtClean="0"/>
              <a:t>ORB)</a:t>
            </a:r>
          </a:p>
          <a:p>
            <a:pPr lvl="1">
              <a:spcBef>
                <a:spcPts val="300"/>
              </a:spcBef>
            </a:pPr>
            <a:r>
              <a:rPr lang="bg-BG" sz="2400" dirty="0" smtClean="0"/>
              <a:t>Брокерът „знае“ къде в мрежата се намира всеки обект и „знае“ как да се обърне към него. </a:t>
            </a:r>
          </a:p>
          <a:p>
            <a:pPr lvl="1">
              <a:spcBef>
                <a:spcPts val="300"/>
              </a:spcBef>
            </a:pPr>
            <a:r>
              <a:rPr lang="bg-BG" sz="2400" dirty="0" smtClean="0"/>
              <a:t>Когато някой иска да се свърже с друг обект/метод на обект, то се обръща към брокера, който „правилно“ пренасочва и свързва клиента към съответния метод в търсения обект.</a:t>
            </a:r>
          </a:p>
          <a:p>
            <a:pPr lvl="2">
              <a:spcBef>
                <a:spcPts val="300"/>
              </a:spcBef>
            </a:pPr>
            <a:r>
              <a:rPr lang="bg-BG" sz="2000" dirty="0" smtClean="0"/>
              <a:t>Разликата с RMI е, че тук брокерът играе ролята на среда (</a:t>
            </a:r>
            <a:r>
              <a:rPr lang="bg-BG" sz="2000" dirty="0" err="1" smtClean="0"/>
              <a:t>middleware</a:t>
            </a:r>
            <a:r>
              <a:rPr lang="bg-BG" sz="2000" dirty="0" smtClean="0"/>
              <a:t> ) за осигуряване на „прозрачна“ връзка между двата обекта.</a:t>
            </a:r>
          </a:p>
          <a:p>
            <a:pPr>
              <a:spcBef>
                <a:spcPts val="300"/>
              </a:spcBef>
            </a:pPr>
            <a:r>
              <a:rPr lang="bg-BG" sz="2800" dirty="0" smtClean="0"/>
              <a:t>Брокерът за заявки може да функционира и като посредник за разнородни обекти, позволяващ взаимодействия между обекти, изпълнявани с различни API и / или реализирани на различни платформи.</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9811" y="4724400"/>
            <a:ext cx="5195629" cy="1900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5461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dirty="0" smtClean="0"/>
              <a:t>„Пространство на обектите“</a:t>
            </a:r>
            <a:endParaRPr lang="en-US" dirty="0"/>
          </a:p>
        </p:txBody>
      </p:sp>
      <p:sp>
        <p:nvSpPr>
          <p:cNvPr id="3" name="Content Placeholder 2"/>
          <p:cNvSpPr>
            <a:spLocks noGrp="1"/>
          </p:cNvSpPr>
          <p:nvPr>
            <p:ph idx="1"/>
          </p:nvPr>
        </p:nvSpPr>
        <p:spPr>
          <a:xfrm>
            <a:off x="908662" y="1143000"/>
            <a:ext cx="10672150" cy="5410200"/>
          </a:xfrm>
        </p:spPr>
        <p:txBody>
          <a:bodyPr>
            <a:normAutofit/>
          </a:bodyPr>
          <a:lstStyle/>
          <a:p>
            <a:pPr>
              <a:lnSpc>
                <a:spcPct val="85000"/>
              </a:lnSpc>
              <a:spcBef>
                <a:spcPts val="300"/>
              </a:spcBef>
            </a:pPr>
            <a:r>
              <a:rPr lang="bg-BG" sz="2800" dirty="0" smtClean="0"/>
              <a:t>Този подход (</a:t>
            </a:r>
            <a:r>
              <a:rPr lang="bg-BG" sz="2800" dirty="0" err="1" smtClean="0"/>
              <a:t>англ</a:t>
            </a:r>
            <a:r>
              <a:rPr lang="bg-BG" sz="2800" dirty="0" smtClean="0"/>
              <a:t>. </a:t>
            </a:r>
            <a:r>
              <a:rPr lang="bg-BG" sz="2800" i="1" dirty="0" err="1" smtClean="0">
                <a:effectLst>
                  <a:outerShdw blurRad="38100" dist="38100" dir="2700000" algn="tl">
                    <a:srgbClr val="000000">
                      <a:alpha val="43137"/>
                    </a:srgbClr>
                  </a:outerShdw>
                </a:effectLst>
              </a:rPr>
              <a:t>object</a:t>
            </a:r>
            <a:r>
              <a:rPr lang="bg-BG" sz="2800" i="1" dirty="0" smtClean="0">
                <a:effectLst>
                  <a:outerShdw blurRad="38100" dist="38100" dir="2700000" algn="tl">
                    <a:srgbClr val="000000">
                      <a:alpha val="43137"/>
                    </a:srgbClr>
                  </a:outerShdw>
                </a:effectLst>
              </a:rPr>
              <a:t> </a:t>
            </a:r>
            <a:r>
              <a:rPr lang="bg-BG" sz="2800" i="1" dirty="0" err="1" smtClean="0">
                <a:effectLst>
                  <a:outerShdw blurRad="38100" dist="38100" dir="2700000" algn="tl">
                    <a:srgbClr val="000000">
                      <a:alpha val="43137"/>
                    </a:srgbClr>
                  </a:outerShdw>
                </a:effectLst>
              </a:rPr>
              <a:t>space</a:t>
            </a:r>
            <a:r>
              <a:rPr lang="bg-BG" sz="2800" i="1" dirty="0" smtClean="0">
                <a:effectLst>
                  <a:outerShdw blurRad="38100" dist="38100" dir="2700000" algn="tl">
                    <a:srgbClr val="000000">
                      <a:alpha val="43137"/>
                    </a:srgbClr>
                  </a:outerShdw>
                </a:effectLst>
              </a:rPr>
              <a:t> </a:t>
            </a:r>
            <a:r>
              <a:rPr lang="bg-BG" sz="2800" i="1" dirty="0" err="1" smtClean="0">
                <a:effectLst>
                  <a:outerShdw blurRad="38100" dist="38100" dir="2700000" algn="tl">
                    <a:srgbClr val="000000">
                      <a:alpha val="43137"/>
                    </a:srgbClr>
                  </a:outerShdw>
                </a:effectLst>
              </a:rPr>
              <a:t>paradigm</a:t>
            </a:r>
            <a:r>
              <a:rPr lang="bg-BG" sz="2800" dirty="0" smtClean="0"/>
              <a:t>) се явява още по-абстрактна версия на RMI. </a:t>
            </a:r>
          </a:p>
          <a:p>
            <a:pPr lvl="1">
              <a:lnSpc>
                <a:spcPct val="85000"/>
              </a:lnSpc>
              <a:spcBef>
                <a:spcPts val="300"/>
              </a:spcBef>
            </a:pPr>
            <a:r>
              <a:rPr lang="bg-BG" sz="2400" dirty="0" smtClean="0"/>
              <a:t>Създава се абстракция „пространство на обекти“.</a:t>
            </a:r>
          </a:p>
          <a:p>
            <a:pPr>
              <a:lnSpc>
                <a:spcPct val="85000"/>
              </a:lnSpc>
              <a:spcBef>
                <a:spcPts val="300"/>
              </a:spcBef>
            </a:pPr>
            <a:r>
              <a:rPr lang="bg-BG" sz="2800" dirty="0" smtClean="0"/>
              <a:t>Реализация:</a:t>
            </a:r>
          </a:p>
          <a:p>
            <a:pPr lvl="1">
              <a:lnSpc>
                <a:spcPct val="85000"/>
              </a:lnSpc>
              <a:spcBef>
                <a:spcPts val="300"/>
              </a:spcBef>
            </a:pPr>
            <a:r>
              <a:rPr lang="bg-BG" sz="2400" dirty="0" smtClean="0"/>
              <a:t>Обектното пространство е виртуално пространство, в което се „намират“ обекти.</a:t>
            </a:r>
          </a:p>
          <a:p>
            <a:pPr lvl="2">
              <a:lnSpc>
                <a:spcPct val="85000"/>
              </a:lnSpc>
              <a:spcBef>
                <a:spcPts val="300"/>
              </a:spcBef>
            </a:pPr>
            <a:r>
              <a:rPr lang="bg-BG" sz="2000" dirty="0" smtClean="0"/>
              <a:t>То осигурява достъп с взаимно изключване до всеки обект.</a:t>
            </a:r>
          </a:p>
          <a:p>
            <a:pPr lvl="1">
              <a:lnSpc>
                <a:spcPct val="85000"/>
              </a:lnSpc>
              <a:spcBef>
                <a:spcPts val="300"/>
              </a:spcBef>
            </a:pPr>
            <a:r>
              <a:rPr lang="bg-BG" sz="2400" dirty="0" smtClean="0"/>
              <a:t>Доставчиците поставят обекти в обектното пространство.</a:t>
            </a:r>
          </a:p>
          <a:p>
            <a:pPr lvl="1">
              <a:lnSpc>
                <a:spcPct val="85000"/>
              </a:lnSpc>
              <a:spcBef>
                <a:spcPts val="300"/>
              </a:spcBef>
            </a:pPr>
            <a:r>
              <a:rPr lang="bg-BG" sz="2400" dirty="0" smtClean="0"/>
              <a:t>Заявителите, имат достъп до обекти в пространството на обекта, за които са заявили интерес.</a:t>
            </a:r>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9412" y="4665333"/>
            <a:ext cx="3680221" cy="20397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5251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a:t>
            </a:r>
            <a:r>
              <a:rPr lang="bg-BG" dirty="0"/>
              <a:t>Пространство на обектите“</a:t>
            </a:r>
            <a:endParaRPr lang="en-US" dirty="0"/>
          </a:p>
        </p:txBody>
      </p:sp>
      <p:sp>
        <p:nvSpPr>
          <p:cNvPr id="3" name="Content Placeholder 2"/>
          <p:cNvSpPr>
            <a:spLocks noGrp="1"/>
          </p:cNvSpPr>
          <p:nvPr>
            <p:ph idx="1"/>
          </p:nvPr>
        </p:nvSpPr>
        <p:spPr/>
        <p:txBody>
          <a:bodyPr>
            <a:normAutofit/>
          </a:bodyPr>
          <a:lstStyle/>
          <a:p>
            <a:r>
              <a:rPr lang="bg-BG" sz="2800" dirty="0" smtClean="0"/>
              <a:t>Създадената абстракция „скрива“ подробностите, свързани с търсенето на ресурс или обект.</a:t>
            </a:r>
          </a:p>
          <a:p>
            <a:pPr lvl="1"/>
            <a:r>
              <a:rPr lang="bg-BG" sz="2400" dirty="0" smtClean="0"/>
              <a:t>Това е много по-различно от RMI или мрежови услуги.</a:t>
            </a:r>
          </a:p>
          <a:p>
            <a:pPr lvl="1"/>
            <a:r>
              <a:rPr lang="bg-BG" sz="2400" dirty="0" smtClean="0"/>
              <a:t>Предоставя се абстракция за виртуално пространство, където доставчиците и заявителите могат да се срещнат и да се разберат за връзката помежду им.</a:t>
            </a:r>
          </a:p>
          <a:p>
            <a:r>
              <a:rPr lang="bg-BG" sz="2800" dirty="0" smtClean="0"/>
              <a:t>Една форма на реализация е </a:t>
            </a:r>
            <a:r>
              <a:rPr lang="bg-BG" sz="2800" dirty="0" err="1" smtClean="0"/>
              <a:t>JavaSpaces</a:t>
            </a:r>
            <a:r>
              <a:rPr lang="bg-BG" sz="2800" dirty="0" smtClean="0"/>
              <a:t>.</a:t>
            </a:r>
          </a:p>
        </p:txBody>
      </p:sp>
    </p:spTree>
    <p:extLst>
      <p:ext uri="{BB962C8B-B14F-4D97-AF65-F5344CB8AC3E}">
        <p14:creationId xmlns:p14="http://schemas.microsoft.com/office/powerpoint/2010/main" val="1292060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Агент-базиран подход</a:t>
            </a:r>
            <a:endParaRPr lang="en-US" dirty="0"/>
          </a:p>
        </p:txBody>
      </p:sp>
      <p:sp>
        <p:nvSpPr>
          <p:cNvPr id="3" name="Content Placeholder 2"/>
          <p:cNvSpPr>
            <a:spLocks noGrp="1"/>
          </p:cNvSpPr>
          <p:nvPr>
            <p:ph idx="1"/>
          </p:nvPr>
        </p:nvSpPr>
        <p:spPr>
          <a:xfrm>
            <a:off x="908662" y="1143000"/>
            <a:ext cx="10900750" cy="5562600"/>
          </a:xfrm>
        </p:spPr>
        <p:txBody>
          <a:bodyPr>
            <a:noAutofit/>
          </a:bodyPr>
          <a:lstStyle/>
          <a:p>
            <a:pPr>
              <a:lnSpc>
                <a:spcPct val="85000"/>
              </a:lnSpc>
              <a:spcBef>
                <a:spcPts val="300"/>
              </a:spcBef>
            </a:pPr>
            <a:r>
              <a:rPr lang="bg-BG" sz="2800" dirty="0" smtClean="0"/>
              <a:t>Софтуерен агент е процес или код, който се намира в среда на изпълнение.</a:t>
            </a:r>
          </a:p>
          <a:p>
            <a:pPr>
              <a:lnSpc>
                <a:spcPct val="85000"/>
              </a:lnSpc>
              <a:spcBef>
                <a:spcPts val="300"/>
              </a:spcBef>
            </a:pPr>
            <a:r>
              <a:rPr lang="bg-BG" sz="2800" dirty="0" smtClean="0"/>
              <a:t>Софтуерният агент притежава следните задължителни свойства:</a:t>
            </a:r>
          </a:p>
          <a:p>
            <a:pPr lvl="1">
              <a:lnSpc>
                <a:spcPct val="85000"/>
              </a:lnSpc>
              <a:spcBef>
                <a:spcPts val="300"/>
              </a:spcBef>
            </a:pPr>
            <a:r>
              <a:rPr lang="bg-BG" sz="2400" dirty="0" smtClean="0"/>
              <a:t>Реактивен: „усеща“ промените в среда и действа в съответствие с тези промени.</a:t>
            </a:r>
          </a:p>
          <a:p>
            <a:pPr lvl="1">
              <a:lnSpc>
                <a:spcPct val="85000"/>
              </a:lnSpc>
              <a:spcBef>
                <a:spcPts val="300"/>
              </a:spcBef>
            </a:pPr>
            <a:r>
              <a:rPr lang="bg-BG" sz="2400" dirty="0" smtClean="0"/>
              <a:t>Автономен: има контрол над собствените си действия</a:t>
            </a:r>
          </a:p>
          <a:p>
            <a:pPr lvl="1">
              <a:lnSpc>
                <a:spcPct val="85000"/>
              </a:lnSpc>
              <a:spcBef>
                <a:spcPts val="300"/>
              </a:spcBef>
            </a:pPr>
            <a:r>
              <a:rPr lang="bg-BG" sz="2400" dirty="0" smtClean="0"/>
              <a:t>Управляван от цел: създаден е за точно конкретна задача и поведението му се определя от решаване на тази задача</a:t>
            </a:r>
          </a:p>
          <a:p>
            <a:pPr lvl="1">
              <a:lnSpc>
                <a:spcPct val="85000"/>
              </a:lnSpc>
              <a:spcBef>
                <a:spcPts val="300"/>
              </a:spcBef>
            </a:pPr>
            <a:r>
              <a:rPr lang="bg-BG" sz="2400" dirty="0" smtClean="0"/>
              <a:t>Непрекъснато работещ: проектиран да се изпълнява непрекъснато, поради което една или повече от следните свойства (те образуват ортогонално множество):</a:t>
            </a:r>
          </a:p>
          <a:p>
            <a:pPr lvl="2">
              <a:lnSpc>
                <a:spcPct val="85000"/>
              </a:lnSpc>
              <a:spcBef>
                <a:spcPts val="300"/>
              </a:spcBef>
            </a:pPr>
            <a:r>
              <a:rPr lang="bg-BG" sz="2000" dirty="0" smtClean="0"/>
              <a:t>Комуникативен: може да комуникира с други агенти.</a:t>
            </a:r>
          </a:p>
          <a:p>
            <a:pPr lvl="2">
              <a:lnSpc>
                <a:spcPct val="85000"/>
              </a:lnSpc>
              <a:spcBef>
                <a:spcPts val="300"/>
              </a:spcBef>
            </a:pPr>
            <a:r>
              <a:rPr lang="bg-BG" sz="2000" dirty="0" smtClean="0"/>
              <a:t>Мобилен: може да се премества/мигрира от един възел към друг, така че по-добре да реши поставената задача.</a:t>
            </a:r>
          </a:p>
          <a:p>
            <a:pPr lvl="2">
              <a:lnSpc>
                <a:spcPct val="85000"/>
              </a:lnSpc>
              <a:spcBef>
                <a:spcPts val="300"/>
              </a:spcBef>
            </a:pPr>
            <a:r>
              <a:rPr lang="bg-BG" sz="2000" dirty="0" smtClean="0"/>
              <a:t>Самообучаващ се:  той се адаптира в съответствие с предишния опит.</a:t>
            </a:r>
          </a:p>
          <a:p>
            <a:pPr lvl="2">
              <a:lnSpc>
                <a:spcPct val="85000"/>
              </a:lnSpc>
              <a:spcBef>
                <a:spcPts val="300"/>
              </a:spcBef>
            </a:pPr>
            <a:r>
              <a:rPr lang="bg-BG" sz="2000" dirty="0" smtClean="0"/>
              <a:t>Правдоподобен: поведението му е правдоподобно и предвидимо за крайния потребител.</a:t>
            </a:r>
          </a:p>
        </p:txBody>
      </p:sp>
    </p:spTree>
    <p:extLst>
      <p:ext uri="{BB962C8B-B14F-4D97-AF65-F5344CB8AC3E}">
        <p14:creationId xmlns:p14="http://schemas.microsoft.com/office/powerpoint/2010/main" val="4286052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600" dirty="0" smtClean="0"/>
              <a:t>Съвместни (</a:t>
            </a:r>
            <a:r>
              <a:rPr lang="bg-BG" sz="3600" dirty="0" err="1" smtClean="0"/>
              <a:t>Колаборативни</a:t>
            </a:r>
            <a:r>
              <a:rPr lang="bg-BG" sz="3600" dirty="0" smtClean="0"/>
              <a:t>) приложения</a:t>
            </a:r>
            <a:endParaRPr lang="en-US" sz="3600" dirty="0"/>
          </a:p>
        </p:txBody>
      </p:sp>
      <p:sp>
        <p:nvSpPr>
          <p:cNvPr id="3" name="Content Placeholder 2"/>
          <p:cNvSpPr>
            <a:spLocks noGrp="1"/>
          </p:cNvSpPr>
          <p:nvPr>
            <p:ph idx="1"/>
          </p:nvPr>
        </p:nvSpPr>
        <p:spPr/>
        <p:txBody>
          <a:bodyPr>
            <a:noAutofit/>
          </a:bodyPr>
          <a:lstStyle/>
          <a:p>
            <a:pPr>
              <a:spcBef>
                <a:spcPts val="300"/>
              </a:spcBef>
            </a:pPr>
            <a:r>
              <a:rPr lang="bg-BG" sz="2800" dirty="0" smtClean="0"/>
              <a:t>Структуриране на разпределено приложение като група от съдействащи си процеси.</a:t>
            </a:r>
          </a:p>
          <a:p>
            <a:pPr lvl="1">
              <a:spcBef>
                <a:spcPts val="300"/>
              </a:spcBef>
            </a:pPr>
            <a:r>
              <a:rPr lang="bg-BG" sz="2400" dirty="0" smtClean="0"/>
              <a:t>Съдействащите си процеси се нарича „</a:t>
            </a:r>
            <a:r>
              <a:rPr lang="bg-BG" sz="2400" dirty="0" err="1" smtClean="0"/>
              <a:t>процесна</a:t>
            </a:r>
            <a:r>
              <a:rPr lang="bg-BG" sz="2400" dirty="0" smtClean="0"/>
              <a:t> група“ .</a:t>
            </a:r>
          </a:p>
          <a:p>
            <a:pPr>
              <a:spcBef>
                <a:spcPts val="300"/>
              </a:spcBef>
            </a:pPr>
            <a:r>
              <a:rPr lang="bg-BG" sz="2800" dirty="0" smtClean="0"/>
              <a:t>Основни характеристики</a:t>
            </a:r>
          </a:p>
          <a:p>
            <a:pPr lvl="1">
              <a:spcBef>
                <a:spcPts val="300"/>
              </a:spcBef>
            </a:pPr>
            <a:r>
              <a:rPr lang="bg-BG" sz="2400" dirty="0" smtClean="0"/>
              <a:t>Създаване на нови групи и премахване на стари групи – в някои случаи се извършва автоматично унищожаване на старите групи.</a:t>
            </a:r>
          </a:p>
          <a:p>
            <a:pPr lvl="1">
              <a:spcBef>
                <a:spcPts val="300"/>
              </a:spcBef>
            </a:pPr>
            <a:r>
              <a:rPr lang="bg-BG" sz="2400" dirty="0" smtClean="0"/>
              <a:t>Процесите (членовете) на „</a:t>
            </a:r>
            <a:r>
              <a:rPr lang="bg-BG" sz="2400" dirty="0" err="1" smtClean="0"/>
              <a:t>процесна</a:t>
            </a:r>
            <a:r>
              <a:rPr lang="bg-BG" sz="2400" dirty="0" smtClean="0"/>
              <a:t> група“ се разглеждат като едно цяло.</a:t>
            </a:r>
          </a:p>
          <a:p>
            <a:pPr lvl="1">
              <a:spcBef>
                <a:spcPts val="300"/>
              </a:spcBef>
            </a:pPr>
            <a:r>
              <a:rPr lang="bg-BG" sz="2400" dirty="0" smtClean="0"/>
              <a:t>Динамично членство – всеки процес може да се присъедини или да напусне група.</a:t>
            </a:r>
          </a:p>
          <a:p>
            <a:pPr>
              <a:spcBef>
                <a:spcPts val="300"/>
              </a:spcBef>
            </a:pPr>
            <a:r>
              <a:rPr lang="bg-BG" sz="2800" dirty="0" smtClean="0"/>
              <a:t>В този модел процесите участват в съвместна сесия като група.</a:t>
            </a:r>
          </a:p>
          <a:p>
            <a:pPr lvl="1">
              <a:spcBef>
                <a:spcPts val="300"/>
              </a:spcBef>
            </a:pPr>
            <a:r>
              <a:rPr lang="bg-BG" sz="2400" dirty="0" smtClean="0"/>
              <a:t>Всеки участващ процес може да бъде източник на входни данни или събития, които да се отнасят за цялата група.</a:t>
            </a:r>
          </a:p>
          <a:p>
            <a:pPr lvl="1">
              <a:spcBef>
                <a:spcPts val="300"/>
              </a:spcBef>
            </a:pPr>
            <a:r>
              <a:rPr lang="bg-BG" sz="2400" dirty="0" smtClean="0"/>
              <a:t>Един процес може да изпраща съобщения на груп</a:t>
            </a:r>
            <a:r>
              <a:rPr lang="bg-BG" sz="2400" dirty="0"/>
              <a:t>а</a:t>
            </a:r>
            <a:r>
              <a:rPr lang="bg-BG" sz="2400" dirty="0" smtClean="0"/>
              <a:t>та, без да знае кои са всички членове.</a:t>
            </a:r>
            <a:endParaRPr lang="bg-BG" sz="2400" dirty="0"/>
          </a:p>
        </p:txBody>
      </p:sp>
    </p:spTree>
    <p:extLst>
      <p:ext uri="{BB962C8B-B14F-4D97-AF65-F5344CB8AC3E}">
        <p14:creationId xmlns:p14="http://schemas.microsoft.com/office/powerpoint/2010/main" val="306929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600" dirty="0"/>
              <a:t>Съвместни (</a:t>
            </a:r>
            <a:r>
              <a:rPr lang="bg-BG" sz="3600" dirty="0" err="1"/>
              <a:t>Колаборативни</a:t>
            </a:r>
            <a:r>
              <a:rPr lang="bg-BG" sz="3600" dirty="0"/>
              <a:t>) приложения</a:t>
            </a:r>
            <a:endParaRPr lang="en-US" sz="3600" dirty="0"/>
          </a:p>
        </p:txBody>
      </p:sp>
      <p:sp>
        <p:nvSpPr>
          <p:cNvPr id="3" name="Content Placeholder 2"/>
          <p:cNvSpPr>
            <a:spLocks noGrp="1"/>
          </p:cNvSpPr>
          <p:nvPr>
            <p:ph idx="1"/>
          </p:nvPr>
        </p:nvSpPr>
        <p:spPr/>
        <p:txBody>
          <a:bodyPr>
            <a:normAutofit/>
          </a:bodyPr>
          <a:lstStyle/>
          <a:p>
            <a:r>
              <a:rPr lang="bg-BG" sz="2800" dirty="0" smtClean="0"/>
              <a:t>Два основни вида</a:t>
            </a:r>
            <a:r>
              <a:rPr lang="en-US" sz="2800" dirty="0" smtClean="0"/>
              <a:t>:</a:t>
            </a:r>
            <a:endParaRPr lang="en-US" sz="2800" dirty="0"/>
          </a:p>
          <a:p>
            <a:pPr lvl="1"/>
            <a:r>
              <a:rPr lang="bg-BG" sz="2400" dirty="0" smtClean="0"/>
              <a:t>Базирани на обща/споделена среда (</a:t>
            </a:r>
            <a:r>
              <a:rPr lang="en-US" sz="2400" i="1" dirty="0" smtClean="0"/>
              <a:t>whiteboards</a:t>
            </a:r>
            <a:r>
              <a:rPr lang="bg-BG" sz="2400" i="1" dirty="0" smtClean="0"/>
              <a:t> / </a:t>
            </a:r>
            <a:r>
              <a:rPr lang="en-US" sz="2400" i="1" dirty="0" err="1" smtClean="0"/>
              <a:t>virtuals</a:t>
            </a:r>
            <a:r>
              <a:rPr lang="en-US" sz="2400" i="1" dirty="0" smtClean="0"/>
              <a:t> </a:t>
            </a:r>
            <a:r>
              <a:rPr lang="en-US" sz="2400" i="1" dirty="0" err="1"/>
              <a:t>ketchpads</a:t>
            </a:r>
            <a:r>
              <a:rPr lang="en-US" sz="2400" dirty="0" smtClean="0"/>
              <a:t>)</a:t>
            </a:r>
            <a:r>
              <a:rPr lang="bg-BG" sz="2400" dirty="0" smtClean="0"/>
              <a:t> за съхранение на данните – тя позволява всеки процес от групата да чете/пише данни в споделената</a:t>
            </a:r>
            <a:r>
              <a:rPr lang="en-US" sz="2400" i="1" dirty="0" smtClean="0"/>
              <a:t> </a:t>
            </a:r>
            <a:r>
              <a:rPr lang="bg-BG" sz="2400" dirty="0" smtClean="0"/>
              <a:t>среда</a:t>
            </a:r>
            <a:r>
              <a:rPr lang="en-US" sz="2400" dirty="0" smtClean="0"/>
              <a:t>. </a:t>
            </a:r>
            <a:endParaRPr lang="en-US" sz="2400" dirty="0"/>
          </a:p>
          <a:p>
            <a:pPr lvl="1"/>
            <a:r>
              <a:rPr lang="bg-BG" sz="2400" dirty="0" smtClean="0"/>
              <a:t>Базирана на комуникация </a:t>
            </a:r>
            <a:r>
              <a:rPr lang="en-US" sz="2400" dirty="0" smtClean="0"/>
              <a:t>– </a:t>
            </a:r>
            <a:r>
              <a:rPr lang="bg-BG" sz="2400" dirty="0" smtClean="0"/>
              <a:t>процесите от групата си разменят съобщения за предаване на данни и команди (към всички или към подгрупа процеси)</a:t>
            </a:r>
            <a:r>
              <a:rPr lang="en-US" sz="2400" dirty="0" smtClean="0"/>
              <a:t>. </a:t>
            </a:r>
            <a:endParaRPr lang="en-US" sz="2400" dirty="0"/>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875" y="3549251"/>
            <a:ext cx="3578300" cy="28878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7275" y="3541498"/>
            <a:ext cx="3304311" cy="28878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522412" y="6229290"/>
            <a:ext cx="3087705" cy="400110"/>
          </a:xfrm>
          <a:prstGeom prst="rect">
            <a:avLst/>
          </a:prstGeom>
        </p:spPr>
        <p:txBody>
          <a:bodyPr wrap="none">
            <a:spAutoFit/>
          </a:bodyPr>
          <a:lstStyle/>
          <a:p>
            <a:r>
              <a:rPr lang="en-US" sz="2000" b="1" dirty="0" smtClean="0">
                <a:solidFill>
                  <a:schemeClr val="tx2"/>
                </a:solidFill>
                <a:latin typeface="Calibri" panose="020F0502020204030204" pitchFamily="34" charset="0"/>
                <a:cs typeface="Calibri" panose="020F0502020204030204" pitchFamily="34" charset="0"/>
              </a:rPr>
              <a:t>Message-based Groupware</a:t>
            </a:r>
            <a:endParaRPr lang="en-US" sz="2000" dirty="0">
              <a:solidFill>
                <a:schemeClr val="tx2"/>
              </a:solidFill>
              <a:latin typeface="Calibri" panose="020F0502020204030204" pitchFamily="34" charset="0"/>
              <a:cs typeface="Calibri" panose="020F0502020204030204" pitchFamily="34" charset="0"/>
            </a:endParaRPr>
          </a:p>
        </p:txBody>
      </p:sp>
      <p:sp>
        <p:nvSpPr>
          <p:cNvPr id="8" name="Rectangle 7"/>
          <p:cNvSpPr/>
          <p:nvPr/>
        </p:nvSpPr>
        <p:spPr>
          <a:xfrm>
            <a:off x="7694788" y="6229290"/>
            <a:ext cx="3428824" cy="400110"/>
          </a:xfrm>
          <a:prstGeom prst="rect">
            <a:avLst/>
          </a:prstGeom>
        </p:spPr>
        <p:txBody>
          <a:bodyPr wrap="none">
            <a:spAutoFit/>
          </a:bodyPr>
          <a:lstStyle/>
          <a:p>
            <a:r>
              <a:rPr lang="en-US" sz="2000" b="1" dirty="0" smtClean="0">
                <a:solidFill>
                  <a:schemeClr val="tx2"/>
                </a:solidFill>
                <a:latin typeface="Calibri" panose="020F0502020204030204" pitchFamily="34" charset="0"/>
                <a:cs typeface="Calibri" panose="020F0502020204030204" pitchFamily="34" charset="0"/>
              </a:rPr>
              <a:t>Whiteboard-based Groupware</a:t>
            </a:r>
            <a:endParaRPr lang="en-US" sz="20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82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ctr">
              <a:buNone/>
            </a:pPr>
            <a:endParaRPr lang="en-US" sz="4400" b="1" dirty="0" smtClean="0"/>
          </a:p>
          <a:p>
            <a:pPr marL="0" indent="0" algn="ctr">
              <a:buNone/>
            </a:pPr>
            <a:endParaRPr lang="en-US" sz="4400" b="1" dirty="0"/>
          </a:p>
          <a:p>
            <a:pPr marL="0" indent="0" algn="ctr">
              <a:buNone/>
            </a:pPr>
            <a:endParaRPr lang="en-US" sz="4400" b="1" dirty="0" smtClean="0"/>
          </a:p>
          <a:p>
            <a:pPr marL="0" indent="0" algn="ctr">
              <a:buNone/>
            </a:pPr>
            <a:r>
              <a:rPr lang="bg-BG" sz="4400" b="1" dirty="0" smtClean="0"/>
              <a:t>Въпроси</a:t>
            </a:r>
            <a:r>
              <a:rPr lang="en-US" sz="4400" b="1" dirty="0" smtClean="0"/>
              <a:t>?</a:t>
            </a:r>
            <a:endParaRPr lang="en-US" sz="4400" b="1" dirty="0"/>
          </a:p>
        </p:txBody>
      </p:sp>
    </p:spTree>
    <p:extLst>
      <p:ext uri="{BB962C8B-B14F-4D97-AF65-F5344CB8AC3E}">
        <p14:creationId xmlns:p14="http://schemas.microsoft.com/office/powerpoint/2010/main" val="6487862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TS102787947">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TS102787947</Template>
  <TotalTime>0</TotalTime>
  <Words>9449</Words>
  <Application>Microsoft Office PowerPoint</Application>
  <PresentationFormat>Custom</PresentationFormat>
  <Paragraphs>931</Paragraphs>
  <Slides>103</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103</vt:i4>
      </vt:variant>
    </vt:vector>
  </HeadingPairs>
  <TitlesOfParts>
    <vt:vector size="109" baseType="lpstr">
      <vt:lpstr>Arial</vt:lpstr>
      <vt:lpstr>Calibri</vt:lpstr>
      <vt:lpstr>Consolas</vt:lpstr>
      <vt:lpstr>Euphemia</vt:lpstr>
      <vt:lpstr>Wingdings</vt:lpstr>
      <vt:lpstr>TS102787947</vt:lpstr>
      <vt:lpstr>Конкурентен модел на работа</vt:lpstr>
      <vt:lpstr>Въведение</vt:lpstr>
      <vt:lpstr>Въведение</vt:lpstr>
      <vt:lpstr>Конкурентност</vt:lpstr>
      <vt:lpstr>Конкурентно vs. Паралелно програмиране</vt:lpstr>
      <vt:lpstr>Паралелно vs. Разпределено програмиране</vt:lpstr>
      <vt:lpstr>Конкурентно vs. Паралелно vs. Разпределено</vt:lpstr>
      <vt:lpstr>Защо конкурентно програмиранe? </vt:lpstr>
      <vt:lpstr>Защо конкурентно програмиранe? </vt:lpstr>
      <vt:lpstr>Защо конкурентно програмиранe? </vt:lpstr>
      <vt:lpstr>Програма, процес, задача, нишка</vt:lpstr>
      <vt:lpstr>Програма, процес, задача, нишка</vt:lpstr>
      <vt:lpstr>Програма, процес, задача, нишка</vt:lpstr>
      <vt:lpstr>Програма, процес, задача, нишка</vt:lpstr>
      <vt:lpstr>Програма, процес, задача, нишка</vt:lpstr>
      <vt:lpstr>Програма, процес, задача, нишка</vt:lpstr>
      <vt:lpstr>Многозадачност</vt:lpstr>
      <vt:lpstr>Диспечиране на процеси</vt:lpstr>
      <vt:lpstr>Диспечиране на процеси</vt:lpstr>
      <vt:lpstr>Междупроцесовата комуникация</vt:lpstr>
      <vt:lpstr>Техники за МПК: Файлове</vt:lpstr>
      <vt:lpstr>Техники за ВПК: Еднопосочни потоци (pipes)</vt:lpstr>
      <vt:lpstr>Техники за МПК: Еднопосочни потоци (pipes)</vt:lpstr>
      <vt:lpstr>Техники за МПК: Споделена памет</vt:lpstr>
      <vt:lpstr>Стратегии за диспечиране на процеси</vt:lpstr>
      <vt:lpstr>Видове многозадачност</vt:lpstr>
      <vt:lpstr>Граф на състоянията</vt:lpstr>
      <vt:lpstr>Граф на състоянията</vt:lpstr>
      <vt:lpstr>Граф на състоянията</vt:lpstr>
      <vt:lpstr>Граф на състоянията</vt:lpstr>
      <vt:lpstr>Граф на състоянието в RT OS</vt:lpstr>
      <vt:lpstr>Граф на състоянието в RT OS</vt:lpstr>
      <vt:lpstr>Управление на достъпа до ресурсите</vt:lpstr>
      <vt:lpstr>Критични секции</vt:lpstr>
      <vt:lpstr>Критични секции</vt:lpstr>
      <vt:lpstr>Безопасност на конкурентен процес</vt:lpstr>
      <vt:lpstr>Безопасност на конкурентен процес</vt:lpstr>
      <vt:lpstr>Безопасност на конкурентен процес</vt:lpstr>
      <vt:lpstr>Безопасност на конкурентен процес</vt:lpstr>
      <vt:lpstr>Взаимна блокиворка (Deadlocks)</vt:lpstr>
      <vt:lpstr>Взаимна блокиворка (Deadlocks)</vt:lpstr>
      <vt:lpstr>Приоритетна инверсия</vt:lpstr>
      <vt:lpstr>Приоритетна инверсия</vt:lpstr>
      <vt:lpstr>Жизненост на конкурентен процес</vt:lpstr>
      <vt:lpstr>Конкурентност и програмиране</vt:lpstr>
      <vt:lpstr>Създаване на конкурентни процеси</vt:lpstr>
      <vt:lpstr>Създаване на конкурентни процеси</vt:lpstr>
      <vt:lpstr>Създаване на конкурентни процеси</vt:lpstr>
      <vt:lpstr>Създаване на конкурентни процеси</vt:lpstr>
      <vt:lpstr>Създаване на конкурентни процеси</vt:lpstr>
      <vt:lpstr>Създаване на конкурентни процеси</vt:lpstr>
      <vt:lpstr>Създаване на конкурентни процеси</vt:lpstr>
      <vt:lpstr>Създаване на конкурентни процеси</vt:lpstr>
      <vt:lpstr>Методи за синхронизация</vt:lpstr>
      <vt:lpstr>Събитийни флагове</vt:lpstr>
      <vt:lpstr>Busy-waiting</vt:lpstr>
      <vt:lpstr>Семафори</vt:lpstr>
      <vt:lpstr>Семафори</vt:lpstr>
      <vt:lpstr>Двоични семафори</vt:lpstr>
      <vt:lpstr>Ресурсни семафори</vt:lpstr>
      <vt:lpstr>Монитори</vt:lpstr>
      <vt:lpstr>Монитори</vt:lpstr>
      <vt:lpstr>„Ограничение на път“</vt:lpstr>
      <vt:lpstr>Изпращане на съобщения</vt:lpstr>
      <vt:lpstr>Сигнализационни схеми</vt:lpstr>
      <vt:lpstr>Сигнализационни схеми</vt:lpstr>
      <vt:lpstr>Сигнализационни схеми</vt:lpstr>
      <vt:lpstr>Сигнализационни схеми</vt:lpstr>
      <vt:lpstr>Сигнализационни схеми</vt:lpstr>
      <vt:lpstr>Синхронизация с ресурсни семафори</vt:lpstr>
      <vt:lpstr>Двупосочни синхронизации</vt:lpstr>
      <vt:lpstr>Двупосочни синхронизации</vt:lpstr>
      <vt:lpstr>Междузадачна комуникация</vt:lpstr>
      <vt:lpstr>Междузадачна комуникация</vt:lpstr>
      <vt:lpstr>Междузадачна комуникация</vt:lpstr>
      <vt:lpstr>Процеси в „Реално време“</vt:lpstr>
      <vt:lpstr>Процеси в „Реално време“</vt:lpstr>
      <vt:lpstr>Разпределено програмиране</vt:lpstr>
      <vt:lpstr>Разпределено програмиране</vt:lpstr>
      <vt:lpstr>Нива на абстракция</vt:lpstr>
      <vt:lpstr>Парадигма, базирани на съобщения</vt:lpstr>
      <vt:lpstr>Парадигма, базирани на съобщения</vt:lpstr>
      <vt:lpstr>Парадигма, базирани на съобщения</vt:lpstr>
      <vt:lpstr>Парадигма, базирани на съобщения</vt:lpstr>
      <vt:lpstr>  Модел на съобщения „точка-към-точка“ </vt:lpstr>
      <vt:lpstr>  Модел на съобщения</vt:lpstr>
      <vt:lpstr>„Клиент-Сървър“</vt:lpstr>
      <vt:lpstr>„Клиент-Сървър“</vt:lpstr>
      <vt:lpstr>„Peer-to-Peer“ (P2P)</vt:lpstr>
      <vt:lpstr>Отдалечено извикване на процедури (RPC)</vt:lpstr>
      <vt:lpstr>Отдалечено извикване на процедури (RPC)</vt:lpstr>
      <vt:lpstr>Отдалечено извикване на процедури (RPC)</vt:lpstr>
      <vt:lpstr>„Разпределени обекти“</vt:lpstr>
      <vt:lpstr>„Разпределени обекти“</vt:lpstr>
      <vt:lpstr> Отдалечено извикване на обекти (RMI)</vt:lpstr>
      <vt:lpstr> Отдалечено извикване на обекти (RMI)</vt:lpstr>
      <vt:lpstr> „Corba Object Request Broker”</vt:lpstr>
      <vt:lpstr>„Пространство на обектите“</vt:lpstr>
      <vt:lpstr>„Пространство на обектите“</vt:lpstr>
      <vt:lpstr>Агент-базиран подход</vt:lpstr>
      <vt:lpstr>Съвместни (Колаборативни) приложения</vt:lpstr>
      <vt:lpstr>Съвместни (Колаборативни) приложения</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2014-02-04T07:26:08Z</dcterms:created>
  <dcterms:modified xsi:type="dcterms:W3CDTF">2023-03-09T13:06:33Z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ies>
</file>