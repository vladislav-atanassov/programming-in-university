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54"/>
  </p:notesMasterIdLst>
  <p:handoutMasterIdLst>
    <p:handoutMasterId r:id="rId55"/>
  </p:handoutMasterIdLst>
  <p:sldIdLst>
    <p:sldId id="256" r:id="rId3"/>
    <p:sldId id="316" r:id="rId4"/>
    <p:sldId id="317" r:id="rId5"/>
    <p:sldId id="318" r:id="rId6"/>
    <p:sldId id="319" r:id="rId7"/>
    <p:sldId id="320" r:id="rId8"/>
    <p:sldId id="326" r:id="rId9"/>
    <p:sldId id="337" r:id="rId10"/>
    <p:sldId id="338" r:id="rId11"/>
    <p:sldId id="321" r:id="rId12"/>
    <p:sldId id="345" r:id="rId13"/>
    <p:sldId id="344" r:id="rId14"/>
    <p:sldId id="346" r:id="rId15"/>
    <p:sldId id="347" r:id="rId16"/>
    <p:sldId id="348" r:id="rId17"/>
    <p:sldId id="322" r:id="rId18"/>
    <p:sldId id="323" r:id="rId19"/>
    <p:sldId id="349" r:id="rId20"/>
    <p:sldId id="350" r:id="rId21"/>
    <p:sldId id="339" r:id="rId22"/>
    <p:sldId id="335" r:id="rId23"/>
    <p:sldId id="324" r:id="rId24"/>
    <p:sldId id="336" r:id="rId25"/>
    <p:sldId id="331" r:id="rId26"/>
    <p:sldId id="332" r:id="rId27"/>
    <p:sldId id="325" r:id="rId28"/>
    <p:sldId id="330" r:id="rId29"/>
    <p:sldId id="351" r:id="rId30"/>
    <p:sldId id="355" r:id="rId31"/>
    <p:sldId id="356" r:id="rId32"/>
    <p:sldId id="360" r:id="rId33"/>
    <p:sldId id="359" r:id="rId34"/>
    <p:sldId id="357" r:id="rId35"/>
    <p:sldId id="358" r:id="rId36"/>
    <p:sldId id="361" r:id="rId37"/>
    <p:sldId id="364" r:id="rId38"/>
    <p:sldId id="368" r:id="rId39"/>
    <p:sldId id="367" r:id="rId40"/>
    <p:sldId id="352" r:id="rId41"/>
    <p:sldId id="362" r:id="rId42"/>
    <p:sldId id="363" r:id="rId43"/>
    <p:sldId id="369" r:id="rId44"/>
    <p:sldId id="366" r:id="rId45"/>
    <p:sldId id="373" r:id="rId46"/>
    <p:sldId id="365" r:id="rId47"/>
    <p:sldId id="370" r:id="rId48"/>
    <p:sldId id="372" r:id="rId49"/>
    <p:sldId id="371" r:id="rId50"/>
    <p:sldId id="315" r:id="rId51"/>
    <p:sldId id="314" r:id="rId52"/>
    <p:sldId id="333" r:id="rId5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009"/>
    <a:srgbClr val="000099"/>
    <a:srgbClr val="452603"/>
    <a:srgbClr val="F4D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83373" autoAdjust="0"/>
  </p:normalViewPr>
  <p:slideViewPr>
    <p:cSldViewPr showGuides="1">
      <p:cViewPr varScale="1">
        <p:scale>
          <a:sx n="90" d="100"/>
          <a:sy n="90" d="100"/>
        </p:scale>
        <p:origin x="450" y="8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314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Пример: Копиране на файл</a:t>
            </a:r>
          </a:p>
          <a:p>
            <a:r>
              <a:rPr lang="ru-RU" dirty="0" smtClean="0"/>
              <a:t>Има две задачи: копиране на на изходния файл в целевия файл и показване на статуса на напредък (лента на промянан акопирания обем)</a:t>
            </a:r>
          </a:p>
          <a:p>
            <a:r>
              <a:rPr lang="ru-RU" dirty="0" smtClean="0"/>
              <a:t>Файлът GIF с лентата на прогреса трябва да продължи да се възпроизвежда, докато се извършва копирането на файла. </a:t>
            </a:r>
          </a:p>
          <a:p>
            <a:r>
              <a:rPr lang="ru-RU" dirty="0" smtClean="0"/>
              <a:t>След като процесът на копиране приключи, възпроизвеждането на файла GIF с лента за напредъка трябва да бъде спряно. </a:t>
            </a:r>
          </a:p>
          <a:p>
            <a:r>
              <a:rPr lang="ru-RU" dirty="0" smtClean="0"/>
              <a:t>Тъй като и двете задачи са взаимосвързани, те не могат да се изпълняват в две различни програми. </a:t>
            </a:r>
          </a:p>
          <a:p>
            <a:r>
              <a:rPr lang="ru-RU" dirty="0" smtClean="0"/>
              <a:t>Също така те не могат да се изпълняват една след друга. Двете задачи трябва да се изпълняват едновременно. </a:t>
            </a:r>
          </a:p>
          <a:p>
            <a:r>
              <a:rPr lang="ru-RU" dirty="0" smtClean="0"/>
              <a:t>В такива моменти се използва fork() за създаване на дъщерен процес и след това се записва програмата по такъв начин, че копирането на файла да се извършва от родителя, а показването на анимиран GIF файл да се извършва от детския процес.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3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13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78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20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29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bg2">
              <a:lumMod val="50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1012" y="6195695"/>
            <a:ext cx="16001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4412" y="6172200"/>
            <a:ext cx="4953000" cy="4311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bg-BG" dirty="0" smtClean="0"/>
              <a:t>Системно програмиране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812" y="5809005"/>
            <a:ext cx="906705" cy="9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/>
          <a:lstStyle/>
          <a:p>
            <a:fld id="{C2C6F8EA-316C-41DE-B9A4-EDCC3A85ED9A}" type="datetimeFigureOut">
              <a:rPr lang="en-US"/>
              <a:t>4/11/2023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961812" y="0"/>
            <a:ext cx="227013" cy="6858000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4715" y="0"/>
            <a:ext cx="448089" cy="6858000"/>
          </a:xfrm>
          <a:prstGeom prst="rect">
            <a:avLst/>
          </a:prstGeom>
          <a:solidFill>
            <a:schemeClr val="bg2">
              <a:lumMod val="5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" y="0"/>
            <a:ext cx="227011" cy="6858000"/>
          </a:xfrm>
          <a:prstGeom prst="rect">
            <a:avLst/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013" y="4338"/>
            <a:ext cx="455791" cy="455910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 flipV="1">
            <a:off x="227012" y="0"/>
            <a:ext cx="455792" cy="3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227013" y="460248"/>
            <a:ext cx="45579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227012" y="-3048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0896541" cy="724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662" y="1143000"/>
            <a:ext cx="1090075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1236" y="6629400"/>
            <a:ext cx="420576" cy="225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1739" y="34237"/>
            <a:ext cx="385848" cy="3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+mj-ea"/>
          <a:cs typeface="+mj-cs"/>
        </a:defRPr>
      </a:lvl1pPr>
    </p:titleStyle>
    <p:bodyStyle>
      <a:lvl1pPr marL="347663" indent="-347663" algn="l" defTabSz="914400" rtl="0" eaLnBrk="1" latinLnBrk="0" hangingPunct="1">
        <a:lnSpc>
          <a:spcPct val="90000"/>
        </a:lnSpc>
        <a:spcBef>
          <a:spcPts val="1400"/>
        </a:spcBef>
        <a:buSzPct val="70000"/>
        <a:buFont typeface="Wingdings" panose="05000000000000000000" pitchFamily="2" charset="2"/>
        <a:buChar char="Ä"/>
        <a:defRPr sz="32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1pPr>
      <a:lvl2pPr marL="741363" indent="-303213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Wingdings" panose="05000000000000000000" pitchFamily="2" charset="2"/>
        <a:buChar char="ü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300038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Wingdings" panose="05000000000000000000" pitchFamily="2" charset="2"/>
        <a:buChar char="û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3pPr>
      <a:lvl4pPr marL="1316038" indent="-1920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4pPr>
      <a:lvl5pPr marL="1655763" indent="-1920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i.stack.imgur.com/vnC4H.p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l.mtu.edu/cs4411.ck/www/NOTES/process/fork/create.html" TargetMode="External"/><Relationship Id="rId7" Type="http://schemas.openxmlformats.org/officeDocument/2006/relationships/hyperlink" Target="https://blog.purestorage.com/purely-informational/task-vs-process-in-linux/" TargetMode="External"/><Relationship Id="rId2" Type="http://schemas.openxmlformats.org/officeDocument/2006/relationships/hyperlink" Target="http://www.it.uu.se/education/course/homepage/os/vt18/module-2/process-manage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procus.com/unix-architecture-and-properties/" TargetMode="External"/><Relationship Id="rId5" Type="http://schemas.openxmlformats.org/officeDocument/2006/relationships/hyperlink" Target="https://www.geeksforgeeks.org/wait-system-call-c/" TargetMode="External"/><Relationship Id="rId4" Type="http://schemas.openxmlformats.org/officeDocument/2006/relationships/hyperlink" Target="https://man7.org/linux/man-pages/man2/fork.2.html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ryanstutorials.net/linuxtutorial/processes.php" TargetMode="External"/><Relationship Id="rId7" Type="http://schemas.openxmlformats.org/officeDocument/2006/relationships/hyperlink" Target="https://www.geeksforgeeks.org/exit-status-child-process-linux/?ref=rp" TargetMode="External"/><Relationship Id="rId2" Type="http://schemas.openxmlformats.org/officeDocument/2006/relationships/hyperlink" Target="https://www.digitalocean.com/community/tutorials/process-management-in-linu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create-processes-with-fork-in-cpp/?ref=gcse" TargetMode="External"/><Relationship Id="rId5" Type="http://schemas.openxmlformats.org/officeDocument/2006/relationships/hyperlink" Target="https://www.bogotobogo.com/Linux/linux_process_and_signals.php" TargetMode="External"/><Relationship Id="rId4" Type="http://schemas.openxmlformats.org/officeDocument/2006/relationships/hyperlink" Target="https://www.geeksforgeeks.org/difference-between-process-parent-process-and-child-process/?ref=r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Процеси в </a:t>
            </a:r>
            <a:r>
              <a:rPr lang="en-US" dirty="0" smtClean="0"/>
              <a:t>Linux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5412" y="6329299"/>
            <a:ext cx="4736065" cy="5073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bg-BG" dirty="0" smtClean="0"/>
              <a:t>Системно програмиране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Процесът е абстрактна единица, дефинирана от </a:t>
            </a:r>
            <a:r>
              <a:rPr lang="ru-RU" sz="2800" dirty="0" smtClean="0"/>
              <a:t>ядрото, и за </a:t>
            </a:r>
            <a:r>
              <a:rPr lang="ru-RU" sz="2800" dirty="0"/>
              <a:t>която </a:t>
            </a:r>
            <a:r>
              <a:rPr lang="ru-RU" sz="2800" dirty="0" smtClean="0"/>
              <a:t>ОС разпределя </a:t>
            </a:r>
            <a:r>
              <a:rPr lang="ru-RU" sz="2800" dirty="0"/>
              <a:t>ресурсите на ядрото, за да се изпълни дадена програма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lvl="1"/>
            <a:r>
              <a:rPr lang="ru-RU" sz="2400" dirty="0" smtClean="0"/>
              <a:t>Много процеси </a:t>
            </a:r>
            <a:r>
              <a:rPr lang="ru-RU" sz="2400" dirty="0"/>
              <a:t>могат да изпълняват една и съща програма.</a:t>
            </a:r>
          </a:p>
          <a:p>
            <a:pPr lvl="1"/>
            <a:r>
              <a:rPr lang="ru-RU" sz="2400" dirty="0" smtClean="0"/>
              <a:t>Процесите </a:t>
            </a:r>
            <a:r>
              <a:rPr lang="ru-RU" sz="2400" dirty="0"/>
              <a:t>имат собственик, който ги е породил.</a:t>
            </a:r>
          </a:p>
          <a:p>
            <a:pPr lvl="1"/>
            <a:r>
              <a:rPr lang="ru-RU" sz="2400" dirty="0"/>
              <a:t>Процесите</a:t>
            </a:r>
            <a:r>
              <a:rPr lang="ru-RU" sz="2400" dirty="0" smtClean="0"/>
              <a:t> се </a:t>
            </a:r>
            <a:r>
              <a:rPr lang="ru-RU" sz="2400" dirty="0"/>
              <a:t>идентифицират чрез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 на процеса </a:t>
            </a:r>
            <a:r>
              <a:rPr lang="ru-RU" sz="2400" dirty="0"/>
              <a:t>(наричан още PID</a:t>
            </a:r>
            <a:r>
              <a:rPr lang="ru-RU" sz="2400" dirty="0" smtClean="0"/>
              <a:t>).</a:t>
            </a:r>
          </a:p>
          <a:p>
            <a:r>
              <a:rPr lang="ru-RU" sz="2800" dirty="0" smtClean="0"/>
              <a:t>Практически, процесът </a:t>
            </a:r>
            <a:r>
              <a:rPr lang="ru-RU" sz="2800" dirty="0"/>
              <a:t>се отнася до програма в процес на изпълнение; това е работеща инстанция на програма. </a:t>
            </a:r>
            <a:endParaRPr lang="ru-RU" sz="2800" dirty="0" smtClean="0"/>
          </a:p>
          <a:p>
            <a:pPr lvl="1"/>
            <a:r>
              <a:rPr lang="ru-RU" sz="2400" dirty="0" smtClean="0"/>
              <a:t>Той </a:t>
            </a:r>
            <a:r>
              <a:rPr lang="ru-RU" sz="2400" dirty="0"/>
              <a:t>съдържа инструкциите на програмата, данни, прочетени от файлове, други програми или входни данни от потребителя на системата.</a:t>
            </a:r>
            <a:endParaRPr lang="bg-BG" sz="2400" dirty="0"/>
          </a:p>
        </p:txBody>
      </p:sp>
      <p:pic>
        <p:nvPicPr>
          <p:cNvPr id="1026" name="Picture 2" descr="Process Identifier on Lin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212" y="4419600"/>
            <a:ext cx="2590800" cy="219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06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800" dirty="0" smtClean="0"/>
              <a:t>За разлика от процесите, в </a:t>
            </a:r>
            <a:r>
              <a:rPr lang="en-US" sz="2800" dirty="0" smtClean="0"/>
              <a:t>Linux</a:t>
            </a:r>
            <a:r>
              <a:rPr lang="ru-RU" sz="2800" dirty="0" smtClean="0"/>
              <a:t> програмите файлове с машинни инструкции, съхранени във външната памет на компютъра (напр. твърд диск).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Най-общо това може да се обобщи с диаграмата: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8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8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8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8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Практически,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програма </a:t>
            </a:r>
            <a:r>
              <a:rPr lang="ru-RU" sz="2800" dirty="0" smtClean="0"/>
              <a:t>е </a:t>
            </a:r>
            <a:r>
              <a:rPr lang="ru-RU" sz="2800" dirty="0"/>
              <a:t>нещо много по-сложно в контекста на </a:t>
            </a:r>
            <a:r>
              <a:rPr lang="en-US" sz="2800" dirty="0" smtClean="0"/>
              <a:t>Linux</a:t>
            </a:r>
            <a:r>
              <a:rPr lang="ru-RU" sz="2800" dirty="0" smtClean="0"/>
              <a:t>. </a:t>
            </a:r>
            <a:endParaRPr lang="ru-RU" sz="28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Програма </a:t>
            </a:r>
            <a:r>
              <a:rPr lang="ru-RU" sz="2400" dirty="0"/>
              <a:t>е файл, съдържащ набор от информация, която описва как да се конструира процес по време на изпълнение. </a:t>
            </a:r>
            <a:endParaRPr lang="ru-RU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Една програма може да се използва за конструиране на много </a:t>
            </a:r>
            <a:r>
              <a:rPr lang="ru-RU" sz="2400" dirty="0" smtClean="0"/>
              <a:t>процеси.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12" y="2840658"/>
            <a:ext cx="5958485" cy="20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5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Програма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800" dirty="0" smtClean="0"/>
              <a:t>Информация, съхранявана във програмата включва: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Идентификация на двоичен формат: </a:t>
            </a:r>
            <a:r>
              <a:rPr lang="ru-RU" sz="2400" dirty="0" smtClean="0"/>
              <a:t>това е метаинформация</a:t>
            </a:r>
            <a:r>
              <a:rPr lang="ru-RU" sz="2400" dirty="0"/>
              <a:t>, описваща формата на изпълнимия файл. </a:t>
            </a:r>
            <a:endParaRPr lang="ru-RU" sz="2400" dirty="0" smtClean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 smtClean="0"/>
              <a:t>Това </a:t>
            </a:r>
            <a:r>
              <a:rPr lang="ru-RU" sz="2000" dirty="0"/>
              <a:t>позволява на ядрото да интерпретира останалата информация във файла. </a:t>
            </a:r>
            <a:endParaRPr lang="ru-RU" sz="2000" dirty="0" smtClean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 smtClean="0"/>
              <a:t>Исторически </a:t>
            </a:r>
            <a:r>
              <a:rPr lang="ru-RU" sz="2000" dirty="0"/>
              <a:t>погледнато, съществуват два широко използвани формата за UNIX са били оригиналният формат a.out ("assembler output") и по-късният, по-усъвършенстван формат COFF (Common Object File Format). </a:t>
            </a:r>
            <a:endParaRPr lang="ru-RU" sz="2000" dirty="0" smtClean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 smtClean="0"/>
              <a:t>В </a:t>
            </a:r>
            <a:r>
              <a:rPr lang="ru-RU" sz="2000" dirty="0"/>
              <a:t>днешно време, повечето имплементации на UNIX (включително Linux) използват формата </a:t>
            </a:r>
            <a:r>
              <a:rPr lang="en-US" sz="2000" dirty="0" smtClean="0"/>
              <a:t>ELF</a:t>
            </a:r>
            <a:r>
              <a:rPr lang="bg-BG" sz="2000" dirty="0" smtClean="0"/>
              <a:t> (</a:t>
            </a:r>
            <a:r>
              <a:rPr lang="en-US" sz="2000" dirty="0" smtClean="0"/>
              <a:t>Executable </a:t>
            </a:r>
            <a:r>
              <a:rPr lang="en-US" sz="2000" dirty="0"/>
              <a:t>and Linking </a:t>
            </a:r>
            <a:r>
              <a:rPr lang="en-US" sz="2000" dirty="0" smtClean="0"/>
              <a:t>Format)</a:t>
            </a:r>
            <a:r>
              <a:rPr lang="ru-RU" sz="2000" dirty="0" smtClean="0"/>
              <a:t>, </a:t>
            </a:r>
            <a:r>
              <a:rPr lang="ru-RU" sz="2000" dirty="0"/>
              <a:t>който </a:t>
            </a:r>
            <a:r>
              <a:rPr lang="ru-RU" sz="2000" dirty="0" smtClean="0"/>
              <a:t>има редица </a:t>
            </a:r>
            <a:r>
              <a:rPr lang="ru-RU" sz="2000" dirty="0"/>
              <a:t>предимства пред по-старите формати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Инструкции на машинен </a:t>
            </a:r>
            <a:r>
              <a:rPr lang="ru-RU" sz="2400" dirty="0" smtClean="0"/>
              <a:t>език </a:t>
            </a:r>
            <a:endParaRPr lang="en-US" sz="2400" dirty="0" smtClean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 smtClean="0"/>
              <a:t>Те </a:t>
            </a:r>
            <a:r>
              <a:rPr lang="ru-RU" sz="2000" dirty="0"/>
              <a:t>кодират алгоритъма на програмата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Данни</a:t>
            </a:r>
            <a:endParaRPr lang="en-US" sz="2400" dirty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/>
              <a:t>Файлът на програмата съдържа стойности, използвани за инициализиране на променливите, а също и буквални константи, използвани от програмата (напр. низове</a:t>
            </a:r>
            <a:r>
              <a:rPr lang="ru-RU" sz="2000" dirty="0" smtClean="0"/>
              <a:t>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1715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Програма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Информация, съхранявана във програмата включва: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Адрес </a:t>
            </a:r>
            <a:r>
              <a:rPr lang="ru-RU" sz="2400" dirty="0"/>
              <a:t>на входната точка на </a:t>
            </a:r>
            <a:r>
              <a:rPr lang="ru-RU" sz="2400" dirty="0" smtClean="0"/>
              <a:t>програмата </a:t>
            </a:r>
            <a:endParaRPr lang="en-US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Този </a:t>
            </a:r>
            <a:r>
              <a:rPr lang="ru-RU" sz="2000" dirty="0"/>
              <a:t>код идентифицира местоположението на инструкцията при която трябва да започне изпълнението на програмата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>
              <a:spcBef>
                <a:spcPts val="300"/>
              </a:spcBef>
            </a:pPr>
            <a:r>
              <a:rPr lang="ru-RU" sz="2400" dirty="0"/>
              <a:t>Таблици със символи и </a:t>
            </a:r>
            <a:r>
              <a:rPr lang="ru-RU" sz="2400" dirty="0" smtClean="0"/>
              <a:t>премествания </a:t>
            </a:r>
            <a:endParaRPr lang="en-US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Те </a:t>
            </a:r>
            <a:r>
              <a:rPr lang="ru-RU" sz="2000" dirty="0"/>
              <a:t>описват местоположението и имената на функциите и променливи в програмата. </a:t>
            </a:r>
            <a:endParaRPr lang="en-US" sz="20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Те</a:t>
            </a:r>
            <a:r>
              <a:rPr lang="en-US" sz="2000" dirty="0" smtClean="0"/>
              <a:t> </a:t>
            </a:r>
            <a:r>
              <a:rPr lang="ru-RU" sz="2000" dirty="0" smtClean="0"/>
              <a:t>се </a:t>
            </a:r>
            <a:r>
              <a:rPr lang="ru-RU" sz="2000" dirty="0"/>
              <a:t>използват за различни цели, включително отстраняване на грешки и разрешаване на символи по време на изпълнение (динамично свързване</a:t>
            </a:r>
            <a:r>
              <a:rPr lang="ru-RU" sz="2000" dirty="0" smtClean="0"/>
              <a:t>).</a:t>
            </a:r>
            <a:endParaRPr lang="en-US" sz="20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Информация </a:t>
            </a:r>
            <a:r>
              <a:rPr lang="ru-RU" sz="2400" dirty="0"/>
              <a:t>за споделена библиотека и динамично </a:t>
            </a:r>
            <a:r>
              <a:rPr lang="ru-RU" sz="2400" dirty="0" smtClean="0"/>
              <a:t>свързване </a:t>
            </a:r>
            <a:endParaRPr lang="en-US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Файлът </a:t>
            </a:r>
            <a:r>
              <a:rPr lang="ru-RU" sz="2000" dirty="0"/>
              <a:t>на програмата включва полета със списък на споделените библиотеки, които програмата трябва да използва по време на изпълнение, и името на динамичния линкер, който трябва да се използва за зареждане на тези </a:t>
            </a:r>
            <a:r>
              <a:rPr lang="ru-RU" sz="2000" dirty="0" smtClean="0"/>
              <a:t>библиотеки.</a:t>
            </a:r>
            <a:endParaRPr lang="en-US" sz="20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Друга информация</a:t>
            </a:r>
            <a:endParaRPr lang="en-US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Файлът </a:t>
            </a:r>
            <a:r>
              <a:rPr lang="ru-RU" sz="2000" dirty="0"/>
              <a:t>на програмата съдържа различна друга информация, която описва как да се конструира един процес.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88360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Основни типове процеси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В </a:t>
            </a:r>
            <a:r>
              <a:rPr lang="ru-RU" sz="2800" dirty="0"/>
              <a:t>Linux има два основни типа процеси:</a:t>
            </a:r>
          </a:p>
          <a:p>
            <a:pPr lvl="1">
              <a:spcBef>
                <a:spcPts val="300"/>
              </a:spcBef>
            </a:pPr>
            <a:r>
              <a:rPr lang="ru-RU" sz="2400" dirty="0"/>
              <a:t>Процеси на преден план (наричани още интерактивни процеси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lvl="2">
              <a:spcBef>
                <a:spcPts val="300"/>
              </a:spcBef>
            </a:pPr>
            <a:r>
              <a:rPr lang="bg-BG" sz="2000" dirty="0"/>
              <a:t>В оригинал: </a:t>
            </a:r>
            <a:r>
              <a:rPr lang="en-US" sz="2000" dirty="0"/>
              <a:t>foreground processes</a:t>
            </a:r>
            <a:endParaRPr lang="ru-RU" sz="2000" dirty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Те</a:t>
            </a:r>
            <a:r>
              <a:rPr lang="en-US" sz="2000" dirty="0" smtClean="0"/>
              <a:t> </a:t>
            </a:r>
            <a:r>
              <a:rPr lang="ru-RU" sz="2000" dirty="0" smtClean="0"/>
              <a:t>се </a:t>
            </a:r>
            <a:r>
              <a:rPr lang="ru-RU" sz="2000" dirty="0"/>
              <a:t>инициализират и управляват чрез терминална сесия. </a:t>
            </a:r>
            <a:endParaRPr lang="en-US" sz="20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За</a:t>
            </a:r>
            <a:r>
              <a:rPr lang="en-US" sz="2000" dirty="0" smtClean="0"/>
              <a:t> </a:t>
            </a:r>
            <a:r>
              <a:rPr lang="ru-RU" sz="2000" dirty="0" smtClean="0"/>
              <a:t>да </a:t>
            </a:r>
            <a:r>
              <a:rPr lang="ru-RU" sz="2000" dirty="0"/>
              <a:t>се стартират такива процеси, трябва да има потребител, свързан към системата; </a:t>
            </a:r>
            <a:endParaRPr lang="en-US" sz="20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Те</a:t>
            </a:r>
            <a:r>
              <a:rPr lang="en-US" sz="2000" dirty="0" smtClean="0"/>
              <a:t> </a:t>
            </a:r>
            <a:r>
              <a:rPr lang="ru-RU" sz="2000" dirty="0" smtClean="0"/>
              <a:t>не </a:t>
            </a:r>
            <a:r>
              <a:rPr lang="ru-RU" sz="2000" dirty="0"/>
              <a:t>са стартирали автоматично като част от функциите/услугите на системата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Фонови </a:t>
            </a:r>
            <a:r>
              <a:rPr lang="ru-RU" sz="2400" dirty="0"/>
              <a:t>процеси (наричани още неинтерактивни/автоматични процеси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lvl="2">
              <a:spcBef>
                <a:spcPts val="300"/>
              </a:spcBef>
            </a:pPr>
            <a:r>
              <a:rPr lang="bg-BG" sz="2000" dirty="0"/>
              <a:t>В оригинал: </a:t>
            </a:r>
            <a:r>
              <a:rPr lang="en-US" sz="2000" dirty="0"/>
              <a:t>background processes</a:t>
            </a:r>
            <a:endParaRPr lang="ru-RU" sz="2000" dirty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Това</a:t>
            </a:r>
            <a:r>
              <a:rPr lang="en-US" sz="2000" dirty="0" smtClean="0"/>
              <a:t> </a:t>
            </a:r>
            <a:r>
              <a:rPr lang="ru-RU" sz="2000" dirty="0" smtClean="0"/>
              <a:t>са </a:t>
            </a:r>
            <a:r>
              <a:rPr lang="ru-RU" sz="2000" dirty="0"/>
              <a:t>процеси, които не са свързани с </a:t>
            </a:r>
            <a:r>
              <a:rPr lang="ru-RU" sz="2000" dirty="0" smtClean="0"/>
              <a:t>терминал</a:t>
            </a:r>
            <a:r>
              <a:rPr lang="en-US" sz="2000" dirty="0" smtClean="0"/>
              <a:t>.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Те</a:t>
            </a:r>
            <a:r>
              <a:rPr lang="en-US" sz="2000" dirty="0" smtClean="0"/>
              <a:t> </a:t>
            </a:r>
            <a:r>
              <a:rPr lang="ru-RU" sz="2000" dirty="0" smtClean="0"/>
              <a:t>не трябва да изисква входни </a:t>
            </a:r>
            <a:r>
              <a:rPr lang="ru-RU" sz="2000" dirty="0"/>
              <a:t>данни от </a:t>
            </a:r>
            <a:r>
              <a:rPr lang="ru-RU" sz="2000" dirty="0" smtClean="0"/>
              <a:t>потребителя – ако се случи, то той премината автоматично в другата група.</a:t>
            </a:r>
          </a:p>
          <a:p>
            <a:pPr lvl="2">
              <a:spcBef>
                <a:spcPts val="300"/>
              </a:spcBef>
            </a:pP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Демоните</a:t>
            </a:r>
            <a:r>
              <a:rPr lang="ru-RU" sz="2000" dirty="0" smtClean="0"/>
              <a:t> са форма на фонов процес - стартират </a:t>
            </a:r>
            <a:r>
              <a:rPr lang="ru-RU" sz="2000" dirty="0"/>
              <a:t>се </a:t>
            </a:r>
            <a:r>
              <a:rPr lang="ru-RU" sz="2000" dirty="0" smtClean="0"/>
              <a:t>при </a:t>
            </a:r>
            <a:r>
              <a:rPr lang="ru-RU" sz="2000" dirty="0"/>
              <a:t>стартиране на системата и продължават да работят </a:t>
            </a:r>
            <a:r>
              <a:rPr lang="ru-RU" sz="2000" dirty="0" smtClean="0"/>
              <a:t>като услуга през цялото време (т.е. те </a:t>
            </a:r>
            <a:r>
              <a:rPr lang="ru-RU" sz="2000" dirty="0"/>
              <a:t>не </a:t>
            </a:r>
            <a:r>
              <a:rPr lang="ru-RU" sz="2000" dirty="0" smtClean="0"/>
              <a:t>умират). </a:t>
            </a:r>
          </a:p>
          <a:p>
            <a:pPr lvl="3">
              <a:spcBef>
                <a:spcPts val="300"/>
              </a:spcBef>
            </a:pPr>
            <a:r>
              <a:rPr lang="ru-RU" sz="1800" dirty="0" smtClean="0"/>
              <a:t>Те </a:t>
            </a:r>
            <a:r>
              <a:rPr lang="ru-RU" sz="1800" dirty="0"/>
              <a:t>се стартират </a:t>
            </a:r>
            <a:r>
              <a:rPr lang="ru-RU" sz="1800" dirty="0" smtClean="0"/>
              <a:t>спонтанно като </a:t>
            </a:r>
            <a:r>
              <a:rPr lang="ru-RU" sz="1800" dirty="0"/>
              <a:t>системни задачи </a:t>
            </a:r>
            <a:r>
              <a:rPr lang="ru-RU" sz="1800" dirty="0" smtClean="0"/>
              <a:t>(т.е. изпълняват </a:t>
            </a:r>
            <a:r>
              <a:rPr lang="ru-RU" sz="1800" dirty="0"/>
              <a:t>се като услуги</a:t>
            </a:r>
            <a:r>
              <a:rPr lang="ru-RU" sz="1800" dirty="0" smtClean="0"/>
              <a:t>). </a:t>
            </a:r>
          </a:p>
          <a:p>
            <a:pPr lvl="3">
              <a:spcBef>
                <a:spcPts val="300"/>
              </a:spcBef>
            </a:pPr>
            <a:r>
              <a:rPr lang="ru-RU" sz="1800" dirty="0" smtClean="0"/>
              <a:t>Те могат </a:t>
            </a:r>
            <a:r>
              <a:rPr lang="ru-RU" sz="1800" dirty="0"/>
              <a:t>да бъдат управлявани от потребителя чрез процеса </a:t>
            </a:r>
            <a:r>
              <a:rPr lang="ru-RU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</a:t>
            </a:r>
            <a:r>
              <a:rPr lang="ru-RU" sz="1800" dirty="0"/>
              <a:t>.</a:t>
            </a:r>
            <a:endParaRPr lang="bg-BG" sz="1800" dirty="0"/>
          </a:p>
          <a:p>
            <a:pPr lvl="2">
              <a:spcBef>
                <a:spcPts val="300"/>
              </a:spcBef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83960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Основни типове процеси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В основния режим на работа, в</a:t>
            </a:r>
            <a:r>
              <a:rPr lang="ru-RU" sz="2800" dirty="0" smtClean="0"/>
              <a:t>секи стартиран процес работи </a:t>
            </a:r>
            <a:r>
              <a:rPr lang="ru-RU" sz="2800" dirty="0"/>
              <a:t>по подразбиране </a:t>
            </a:r>
            <a:r>
              <a:rPr lang="ru-RU" sz="2800" dirty="0" smtClean="0"/>
              <a:t>на </a:t>
            </a:r>
            <a:r>
              <a:rPr lang="ru-RU" sz="2800" dirty="0"/>
              <a:t>преден </a:t>
            </a:r>
            <a:r>
              <a:rPr lang="ru-RU" sz="2800" dirty="0" smtClean="0"/>
              <a:t>план, т.е. той може да получава </a:t>
            </a:r>
            <a:r>
              <a:rPr lang="ru-RU" sz="2800" dirty="0"/>
              <a:t>вход от клавиатурата и </a:t>
            </a:r>
            <a:r>
              <a:rPr lang="ru-RU" sz="2800" dirty="0" smtClean="0"/>
              <a:t>да изпраща </a:t>
            </a:r>
            <a:r>
              <a:rPr lang="ru-RU" sz="2800" dirty="0"/>
              <a:t>изход към екрана. </a:t>
            </a:r>
            <a:endParaRPr lang="ru-RU" sz="2800" dirty="0" smtClean="0"/>
          </a:p>
          <a:p>
            <a:pPr lvl="1">
              <a:spcBef>
                <a:spcPts val="300"/>
              </a:spcBef>
            </a:pPr>
            <a:r>
              <a:rPr lang="ru-RU" sz="2400" dirty="0"/>
              <a:t>Когато дадена </a:t>
            </a:r>
            <a:r>
              <a:rPr lang="ru-RU" sz="2400" dirty="0" smtClean="0"/>
              <a:t>команда (т.е. стартиран процес) </a:t>
            </a:r>
            <a:r>
              <a:rPr lang="ru-RU" sz="2400" dirty="0"/>
              <a:t>се изпълнява на преден </a:t>
            </a:r>
            <a:r>
              <a:rPr lang="ru-RU" sz="2400" dirty="0" smtClean="0"/>
              <a:t>план, </a:t>
            </a:r>
            <a:r>
              <a:rPr lang="bg-BG" sz="2400" dirty="0" smtClean="0"/>
              <a:t>то </a:t>
            </a:r>
            <a:r>
              <a:rPr lang="ru-RU" sz="2400" dirty="0"/>
              <a:t>други </a:t>
            </a:r>
            <a:r>
              <a:rPr lang="ru-RU" sz="2400" dirty="0" smtClean="0"/>
              <a:t>процеси не </a:t>
            </a:r>
            <a:r>
              <a:rPr lang="ru-RU" sz="2400" dirty="0"/>
              <a:t>могат да се </a:t>
            </a:r>
            <a:r>
              <a:rPr lang="ru-RU" sz="2400" dirty="0" smtClean="0"/>
              <a:t>стартират </a:t>
            </a:r>
            <a:r>
              <a:rPr lang="ru-RU" sz="2400" dirty="0"/>
              <a:t>тъй като </a:t>
            </a:r>
            <a:r>
              <a:rPr lang="ru-RU" sz="2400" dirty="0" smtClean="0"/>
              <a:t>командният интерпретатор е недостъпен докато командата не се изпълни или не се прекъсне явно.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Прекъсването на команда в този</a:t>
            </a:r>
            <a:r>
              <a:rPr lang="ru-RU" sz="2400" dirty="0"/>
              <a:t> режим се извършва с </a:t>
            </a:r>
            <a:r>
              <a:rPr lang="en-US" sz="2400" dirty="0"/>
              <a:t> 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Ctrl + C </a:t>
            </a:r>
            <a:r>
              <a:rPr lang="en-US" sz="2400" dirty="0"/>
              <a:t>(interrupt character</a:t>
            </a:r>
            <a:r>
              <a:rPr lang="bg-BG" sz="2400" dirty="0"/>
              <a:t>)</a:t>
            </a:r>
            <a:r>
              <a:rPr lang="en-US" sz="2400" dirty="0"/>
              <a:t>.</a:t>
            </a:r>
            <a:endParaRPr lang="ru-RU" sz="2400" dirty="0"/>
          </a:p>
          <a:p>
            <a:pPr>
              <a:spcBef>
                <a:spcPts val="300"/>
              </a:spcBef>
            </a:pPr>
            <a:r>
              <a:rPr lang="ru-RU" sz="2800" dirty="0" smtClean="0"/>
              <a:t>Във фонов режим на работа процесът не изисква въвеждане от клавиатурата.</a:t>
            </a:r>
          </a:p>
          <a:p>
            <a:pPr lvl="1">
              <a:spcBef>
                <a:spcPts val="300"/>
              </a:spcBef>
            </a:pPr>
            <a:r>
              <a:rPr lang="ru-RU" sz="2400" dirty="0"/>
              <a:t>По този начин други процеси могат да се извършват успоредно с процеса, работещ във фонов режим, тъй като не е необходимо да чакат завършването на предишния процес</a:t>
            </a:r>
            <a:r>
              <a:rPr lang="ru-RU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ru-RU" sz="2400" dirty="0"/>
              <a:t>Ако е необходимо въвеждане от клавиатурата, фоновият процес изчаква, докато не </a:t>
            </a:r>
            <a:r>
              <a:rPr lang="ru-RU" sz="2400" dirty="0" smtClean="0"/>
              <a:t>бъде преместен на </a:t>
            </a:r>
            <a:r>
              <a:rPr lang="ru-RU" sz="2400" dirty="0"/>
              <a:t>преден план и </a:t>
            </a:r>
            <a:r>
              <a:rPr lang="ru-RU" sz="2400" dirty="0" smtClean="0"/>
              <a:t>така да получи възможност за въвеждане </a:t>
            </a:r>
            <a:r>
              <a:rPr lang="ru-RU" sz="2400" dirty="0"/>
              <a:t>на данни.</a:t>
            </a:r>
          </a:p>
        </p:txBody>
      </p:sp>
    </p:spTree>
    <p:extLst>
      <p:ext uri="{BB962C8B-B14F-4D97-AF65-F5344CB8AC3E}">
        <p14:creationId xmlns:p14="http://schemas.microsoft.com/office/powerpoint/2010/main" val="408763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Таблица на процесите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2800" dirty="0"/>
              <a:t>Таблицата на процесите е структура от данни на ядрото, която описва състоянието на даден </a:t>
            </a:r>
            <a:r>
              <a:rPr lang="ru-RU" sz="2800" dirty="0" smtClean="0"/>
              <a:t>процес. Тя </a:t>
            </a:r>
            <a:r>
              <a:rPr lang="ru-RU" sz="2800" dirty="0"/>
              <a:t>съдържа полета, които винаги трябва да са на разположение на ядрото</a:t>
            </a:r>
            <a:r>
              <a:rPr lang="ru-RU" sz="2800" dirty="0" smtClean="0"/>
              <a:t>.</a:t>
            </a:r>
          </a:p>
          <a:p>
            <a:pPr lvl="1"/>
            <a:r>
              <a:rPr lang="ru-RU" sz="2400" dirty="0"/>
              <a:t>поле за състояние (което идентифицира състоянието на процеса</a:t>
            </a:r>
            <a:r>
              <a:rPr lang="ru-RU" sz="2400" dirty="0" smtClean="0"/>
              <a:t>);</a:t>
            </a:r>
            <a:endParaRPr lang="ru-RU" sz="2400" dirty="0"/>
          </a:p>
          <a:p>
            <a:pPr lvl="1"/>
            <a:r>
              <a:rPr lang="ru-RU" sz="2400" dirty="0"/>
              <a:t>полета, които позволяват на ядрото да открие процеса и неговата </a:t>
            </a:r>
            <a:r>
              <a:rPr lang="ru-RU" sz="2400" dirty="0" smtClean="0"/>
              <a:t>работна област в </a:t>
            </a:r>
            <a:r>
              <a:rPr lang="ru-RU" sz="2400" dirty="0"/>
              <a:t>паметта</a:t>
            </a:r>
          </a:p>
          <a:p>
            <a:pPr lvl="1"/>
            <a:r>
              <a:rPr lang="ru-RU" sz="2400" dirty="0"/>
              <a:t>UID за определяне на различните привилегии на </a:t>
            </a:r>
            <a:r>
              <a:rPr lang="ru-RU" sz="2400" dirty="0" smtClean="0"/>
              <a:t>процеса;</a:t>
            </a:r>
            <a:endParaRPr lang="ru-RU" sz="2400" dirty="0"/>
          </a:p>
          <a:p>
            <a:pPr lvl="1"/>
            <a:r>
              <a:rPr lang="ru-RU" sz="2400" dirty="0"/>
              <a:t>PID за определяне на взаимоотношенията между процесите (напр. </a:t>
            </a:r>
            <a:r>
              <a:rPr lang="en-US" sz="2400" dirty="0" smtClean="0"/>
              <a:t>fork</a:t>
            </a:r>
            <a:r>
              <a:rPr lang="ru-RU" sz="2400" dirty="0" smtClean="0"/>
              <a:t>);</a:t>
            </a:r>
            <a:endParaRPr lang="ru-RU" sz="2400" dirty="0"/>
          </a:p>
          <a:p>
            <a:pPr lvl="1"/>
            <a:r>
              <a:rPr lang="ru-RU" sz="2400" dirty="0"/>
              <a:t>дескриптор на събитие (когато процесът е в състояние </a:t>
            </a:r>
            <a:r>
              <a:rPr lang="ru-RU" sz="2400" dirty="0" smtClean="0"/>
              <a:t>«</a:t>
            </a:r>
            <a:r>
              <a:rPr lang="en-US" sz="2400" dirty="0" smtClean="0"/>
              <a:t>sleep</a:t>
            </a:r>
            <a:r>
              <a:rPr lang="ru-RU" sz="2400" dirty="0" smtClean="0"/>
              <a:t>»);</a:t>
            </a:r>
            <a:endParaRPr lang="ru-RU" sz="2400" dirty="0"/>
          </a:p>
          <a:p>
            <a:pPr lvl="1"/>
            <a:r>
              <a:rPr lang="ru-RU" sz="2400" dirty="0"/>
              <a:t>параметри за планиране за определяне на реда, по който процесът преминава в състоянията "работещо ядро" и "работещ </a:t>
            </a:r>
            <a:r>
              <a:rPr lang="ru-RU" sz="2400" dirty="0" smtClean="0"/>
              <a:t>потребител«;</a:t>
            </a:r>
            <a:endParaRPr lang="ru-RU" sz="2400" dirty="0"/>
          </a:p>
          <a:p>
            <a:pPr lvl="1"/>
            <a:r>
              <a:rPr lang="ru-RU" sz="2400" dirty="0"/>
              <a:t>поле за сигнали </a:t>
            </a:r>
            <a:r>
              <a:rPr lang="en-US" sz="2400" dirty="0" smtClean="0"/>
              <a:t>– </a:t>
            </a:r>
            <a:r>
              <a:rPr lang="bg-BG" sz="2400" dirty="0" smtClean="0"/>
              <a:t>това с</a:t>
            </a:r>
            <a:r>
              <a:rPr lang="ru-RU" sz="2400" dirty="0" smtClean="0"/>
              <a:t>а </a:t>
            </a:r>
            <a:r>
              <a:rPr lang="ru-RU" sz="2400" dirty="0"/>
              <a:t>сигнали, изпратени към процеса, </a:t>
            </a:r>
            <a:r>
              <a:rPr lang="ru-RU" sz="2400" dirty="0" smtClean="0"/>
              <a:t>които все </a:t>
            </a:r>
            <a:r>
              <a:rPr lang="ru-RU" sz="2400" dirty="0"/>
              <a:t>още </a:t>
            </a:r>
            <a:r>
              <a:rPr lang="ru-RU" sz="2400" dirty="0" smtClean="0"/>
              <a:t>не са обработени;</a:t>
            </a:r>
            <a:endParaRPr lang="ru-RU" sz="2400" dirty="0"/>
          </a:p>
          <a:p>
            <a:pPr lvl="1"/>
            <a:r>
              <a:rPr lang="ru-RU" sz="2400" dirty="0"/>
              <a:t>таймери, които дават времето за изпълнение на процеса в режим на ядрото и в потребителски </a:t>
            </a:r>
            <a:r>
              <a:rPr lang="ru-RU" sz="2400" dirty="0" smtClean="0"/>
              <a:t>режим;</a:t>
            </a:r>
            <a:endParaRPr lang="ru-RU" sz="2400" dirty="0"/>
          </a:p>
          <a:p>
            <a:pPr lvl="1"/>
            <a:r>
              <a:rPr lang="ru-RU" sz="2400" dirty="0"/>
              <a:t>поле, което дава размера на процеса (за да знае ядрото колко място да отдели за процеса).</a:t>
            </a: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261367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Таблица на процесите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Таблицата на процесите е структура от данни на ядрото, която описва състоянието на даден </a:t>
            </a:r>
            <a:r>
              <a:rPr lang="ru-RU" sz="2400" dirty="0" smtClean="0"/>
              <a:t>процес. </a:t>
            </a:r>
            <a:endParaRPr lang="en-US" sz="2400" dirty="0" smtClean="0"/>
          </a:p>
          <a:p>
            <a:pPr lvl="1"/>
            <a:r>
              <a:rPr lang="bg-BG" sz="2000" dirty="0" smtClean="0"/>
              <a:t>Таблицата</a:t>
            </a:r>
            <a:r>
              <a:rPr lang="en-US" sz="2000" dirty="0" smtClean="0"/>
              <a:t> </a:t>
            </a:r>
            <a:r>
              <a:rPr lang="bg-BG" sz="2000" dirty="0" smtClean="0"/>
              <a:t>съдържа</a:t>
            </a:r>
            <a:r>
              <a:rPr lang="ru-RU" sz="2000" dirty="0" smtClean="0"/>
              <a:t> </a:t>
            </a:r>
            <a:r>
              <a:rPr lang="ru-RU" sz="2000" dirty="0"/>
              <a:t>полета, които винаги трябва да са на </a:t>
            </a:r>
            <a:r>
              <a:rPr lang="ru-RU" sz="2000" dirty="0" err="1"/>
              <a:t>разположение</a:t>
            </a:r>
            <a:r>
              <a:rPr lang="ru-RU" sz="2000" dirty="0"/>
              <a:t> </a:t>
            </a:r>
            <a:r>
              <a:rPr lang="ru-RU" sz="2000" dirty="0" smtClean="0"/>
              <a:t>в </a:t>
            </a:r>
            <a:r>
              <a:rPr lang="ru-RU" sz="2000" dirty="0"/>
              <a:t>ядрото</a:t>
            </a:r>
            <a:r>
              <a:rPr lang="ru-RU" sz="2000" dirty="0" smtClean="0"/>
              <a:t>.</a:t>
            </a:r>
          </a:p>
        </p:txBody>
      </p:sp>
      <p:pic>
        <p:nvPicPr>
          <p:cNvPr id="4" name="Picture 2" descr="enter image description her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2" y="2492828"/>
            <a:ext cx="7105648" cy="406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83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Диаграма на състоянието на процесите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/>
              <a:t>Началната точка </a:t>
            </a:r>
            <a:r>
              <a:rPr lang="ru-RU" sz="2400" dirty="0"/>
              <a:t>на всеки процес в Linux е моментът на неговото създаване. </a:t>
            </a:r>
          </a:p>
          <a:p>
            <a:r>
              <a:rPr lang="ru-RU" sz="2400" dirty="0"/>
              <a:t>След като започне, процесът преминава в състояние на </a:t>
            </a:r>
            <a:r>
              <a:rPr lang="ru-RU" sz="2400" b="1" dirty="0"/>
              <a:t>изпълнение или изпълним</a:t>
            </a:r>
            <a:r>
              <a:rPr lang="ru-RU" sz="2400" dirty="0"/>
              <a:t>. </a:t>
            </a:r>
            <a:endParaRPr lang="en-US" sz="2400" dirty="0" smtClean="0"/>
          </a:p>
          <a:p>
            <a:pPr lvl="1"/>
            <a:r>
              <a:rPr lang="ru-RU" sz="2000" dirty="0" smtClean="0"/>
              <a:t>Докато </a:t>
            </a:r>
            <a:r>
              <a:rPr lang="ru-RU" sz="2000" dirty="0"/>
              <a:t>процесът работи, той може да попадне в </a:t>
            </a:r>
            <a:r>
              <a:rPr lang="bg-BG" sz="2000" dirty="0" smtClean="0"/>
              <a:t>състояние</a:t>
            </a:r>
            <a:r>
              <a:rPr lang="ru-RU" sz="2000" dirty="0" smtClean="0"/>
              <a:t>, </a:t>
            </a:r>
            <a:r>
              <a:rPr lang="ru-RU" sz="2000" dirty="0"/>
              <a:t>който изисква от него да изчака определени ресурси или сигнали, преди да продължи. </a:t>
            </a:r>
          </a:p>
          <a:p>
            <a:r>
              <a:rPr lang="ru-RU" sz="2400" dirty="0"/>
              <a:t>Докато чака ресурсите, процесът доброволно се отказва от процесорните цикли, като преминава в едно от двете </a:t>
            </a:r>
            <a:r>
              <a:rPr lang="ru-RU" sz="2400" b="1" dirty="0"/>
              <a:t>състояния на </a:t>
            </a:r>
            <a:r>
              <a:rPr lang="ru-RU" sz="2400" b="1" dirty="0" smtClean="0"/>
              <a:t>изчакване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 smtClean="0"/>
              <a:t>Освен </a:t>
            </a:r>
            <a:r>
              <a:rPr lang="ru-RU" sz="2400" dirty="0"/>
              <a:t>това бихме могли да спрем работещ процес и да го поставим в </a:t>
            </a:r>
            <a:r>
              <a:rPr lang="ru-RU" sz="2400" b="1" dirty="0"/>
              <a:t>състояние на спиране</a:t>
            </a:r>
            <a:r>
              <a:rPr lang="ru-RU" sz="2400" dirty="0"/>
              <a:t>. </a:t>
            </a:r>
          </a:p>
          <a:p>
            <a:pPr lvl="1"/>
            <a:r>
              <a:rPr lang="ru-RU" sz="2000" dirty="0"/>
              <a:t>Обикновено това се прави чрез изпращане на сигнала SIGSTOP на процеса. </a:t>
            </a:r>
          </a:p>
          <a:p>
            <a:pPr lvl="1"/>
            <a:r>
              <a:rPr lang="ru-RU" sz="2000" dirty="0"/>
              <a:t>Процес в това състояние ще продължи да съществува, докато не бъде убит или възобновен със SIGCONT. </a:t>
            </a:r>
          </a:p>
          <a:p>
            <a:r>
              <a:rPr lang="ru-RU" sz="2400" dirty="0" smtClean="0"/>
              <a:t>И </a:t>
            </a:r>
            <a:r>
              <a:rPr lang="ru-RU" sz="2400" dirty="0"/>
              <a:t>накрая, процесът завършва жизнения си цикъл, когато бъде прекратен и поставен в състояние на </a:t>
            </a:r>
            <a:r>
              <a:rPr lang="ru-RU" sz="2400" b="1" dirty="0"/>
              <a:t>зомби</a:t>
            </a:r>
            <a:r>
              <a:rPr lang="ru-RU" sz="2400" dirty="0"/>
              <a:t>, докато родителският му процес не го изтрие от таблицата на процесите.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14860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Диаграма на състоянието на процесите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Обща диаграма</a:t>
            </a:r>
            <a:endParaRPr lang="bg-BG" dirty="0"/>
          </a:p>
        </p:txBody>
      </p:sp>
      <p:pic>
        <p:nvPicPr>
          <p:cNvPr id="1026" name="Picture 2" descr="p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2" y="964261"/>
            <a:ext cx="5000625" cy="560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30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Диаграма на състоянието на процесите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Running or Runnable State (R</a:t>
            </a:r>
            <a:r>
              <a:rPr lang="en-US" sz="2800" dirty="0" smtClean="0"/>
              <a:t>)</a:t>
            </a:r>
          </a:p>
          <a:p>
            <a:pPr lvl="1"/>
            <a:r>
              <a:rPr lang="ru-RU" sz="2400" dirty="0"/>
              <a:t>Когато бъде стартиран нов процес, той ще бъде поставен в състояние на работа или изпълняемо състояние. </a:t>
            </a:r>
          </a:p>
          <a:p>
            <a:pPr lvl="1"/>
            <a:r>
              <a:rPr lang="ru-RU" sz="2400" dirty="0"/>
              <a:t>В работещо състояние процесът заема едно процесорно ядро, за да изпълни своя код и логика. </a:t>
            </a:r>
          </a:p>
          <a:p>
            <a:pPr lvl="1"/>
            <a:r>
              <a:rPr lang="ru-RU" sz="2400" dirty="0"/>
              <a:t>Алгоритъмът за планиране на нишки обаче може да принуди работещ процес да се откаже от правото си на изпълнение. </a:t>
            </a:r>
          </a:p>
          <a:p>
            <a:pPr lvl="2"/>
            <a:r>
              <a:rPr lang="ru-RU" sz="2000" dirty="0"/>
              <a:t>Това се прави, за да се гарантира, че всеки процес може да разполага със справедлив дял от процесорните ресурси. </a:t>
            </a:r>
          </a:p>
          <a:p>
            <a:pPr lvl="2"/>
            <a:r>
              <a:rPr lang="ru-RU" sz="2000" dirty="0"/>
              <a:t>В този случай процесът ще бъде поставен в опашка за изпълнение и неговото състояние вече е състояние на изпълняемост, което чака своя ред за изпълнение.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5502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Диаграма на състоянието на процесите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Sleeping State: Interruptible (S) and Uninterruptible (</a:t>
            </a:r>
            <a:r>
              <a:rPr lang="en-US" sz="2800" dirty="0" smtClean="0"/>
              <a:t>D)</a:t>
            </a:r>
          </a:p>
          <a:p>
            <a:pPr lvl="1"/>
            <a:r>
              <a:rPr lang="ru-RU" sz="2400" dirty="0" smtClean="0"/>
              <a:t>По време на изпълнението на процеса той може да се нуждае от външни ресурси. </a:t>
            </a:r>
          </a:p>
          <a:p>
            <a:pPr lvl="2"/>
            <a:r>
              <a:rPr lang="ru-RU" sz="2000" dirty="0" smtClean="0"/>
              <a:t>Без необходимите ресурси процесът </a:t>
            </a:r>
            <a:r>
              <a:rPr lang="ru-RU" sz="2000" dirty="0"/>
              <a:t>не би могъл да продължи </a:t>
            </a:r>
            <a:r>
              <a:rPr lang="bg-BG" sz="2000" dirty="0" smtClean="0"/>
              <a:t>работата</a:t>
            </a:r>
            <a:r>
              <a:rPr lang="ru-RU" sz="2000" dirty="0" smtClean="0"/>
              <a:t>, </a:t>
            </a:r>
            <a:r>
              <a:rPr lang="ru-RU" sz="2000" dirty="0"/>
              <a:t>той ще се спре и няма да прави нищо. </a:t>
            </a:r>
          </a:p>
          <a:p>
            <a:pPr lvl="2"/>
            <a:r>
              <a:rPr lang="ru-RU" sz="2000" dirty="0" smtClean="0"/>
              <a:t>В </a:t>
            </a:r>
            <a:r>
              <a:rPr lang="ru-RU" sz="2000" dirty="0"/>
              <a:t>повечето случаи заявката за тези ресурси е базирана на </a:t>
            </a:r>
            <a:r>
              <a:rPr lang="ru-RU" sz="2000" dirty="0" smtClean="0"/>
              <a:t>В/И операции (напр. четене </a:t>
            </a:r>
            <a:r>
              <a:rPr lang="ru-RU" sz="2000" dirty="0"/>
              <a:t>на </a:t>
            </a:r>
            <a:r>
              <a:rPr lang="ru-RU" sz="2000" dirty="0" smtClean="0"/>
              <a:t>файл, мрежова заявка, ...). </a:t>
            </a:r>
          </a:p>
          <a:p>
            <a:pPr lvl="2"/>
            <a:r>
              <a:rPr lang="ru-RU" sz="2000" dirty="0" smtClean="0"/>
              <a:t>В </a:t>
            </a:r>
            <a:r>
              <a:rPr lang="ru-RU" sz="2000" dirty="0"/>
              <a:t>такива случаи те трябва да отстъпят процесорните си цикли на други задачи, които са готови за изпълнение, и следователно преминават в спящо състояние.</a:t>
            </a:r>
          </a:p>
          <a:p>
            <a:pPr lvl="1"/>
            <a:r>
              <a:rPr lang="ru-RU" sz="2400" dirty="0"/>
              <a:t>Съществуват две различни състояния на </a:t>
            </a:r>
            <a:r>
              <a:rPr lang="ru-RU" sz="2400" dirty="0" smtClean="0"/>
              <a:t>изчакване: </a:t>
            </a:r>
          </a:p>
          <a:p>
            <a:pPr lvl="2"/>
            <a:r>
              <a:rPr lang="ru-RU" sz="2000" dirty="0" smtClean="0"/>
              <a:t>Непрекъсваемото състояние (</a:t>
            </a:r>
            <a:r>
              <a:rPr lang="en-US" sz="2000" dirty="0" smtClean="0"/>
              <a:t>D)</a:t>
            </a:r>
            <a:r>
              <a:rPr lang="ru-RU" sz="2000" dirty="0" smtClean="0"/>
              <a:t> </a:t>
            </a:r>
            <a:r>
              <a:rPr lang="bg-BG" sz="2000" dirty="0" smtClean="0"/>
              <a:t>процесът </a:t>
            </a:r>
            <a:r>
              <a:rPr lang="ru-RU" sz="2000" dirty="0" smtClean="0"/>
              <a:t>само </a:t>
            </a:r>
            <a:r>
              <a:rPr lang="ru-RU" sz="2000" dirty="0"/>
              <a:t>ще изчака ресурсите да бъдат налични, преди да премине в състояние на работа, и не реагира на никакви сигнали. </a:t>
            </a:r>
            <a:endParaRPr lang="ru-RU" sz="2000" dirty="0" smtClean="0"/>
          </a:p>
          <a:p>
            <a:pPr lvl="2"/>
            <a:r>
              <a:rPr lang="ru-RU" sz="2000" dirty="0" smtClean="0"/>
              <a:t>В прекъсваемо състояние </a:t>
            </a:r>
            <a:r>
              <a:rPr lang="ru-RU" sz="2000" dirty="0"/>
              <a:t>(S) </a:t>
            </a:r>
            <a:r>
              <a:rPr lang="ru-RU" sz="2000" dirty="0" smtClean="0"/>
              <a:t>процесът реагира </a:t>
            </a:r>
            <a:r>
              <a:rPr lang="ru-RU" sz="2000" dirty="0"/>
              <a:t>на сигнали и на наличието на ресурси.</a:t>
            </a: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44022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Диаграма на състоянието на процесите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Stopped State (T)</a:t>
            </a:r>
            <a:endParaRPr lang="bg-BG" sz="2800" dirty="0"/>
          </a:p>
          <a:p>
            <a:pPr lvl="1"/>
            <a:r>
              <a:rPr lang="ru-RU" sz="2400" dirty="0" smtClean="0"/>
              <a:t>В спряно </a:t>
            </a:r>
            <a:r>
              <a:rPr lang="ru-RU" sz="2400" dirty="0"/>
              <a:t>състояние (T</a:t>
            </a:r>
            <a:r>
              <a:rPr lang="ru-RU" sz="2400" dirty="0" smtClean="0"/>
              <a:t>) може да се премине от </a:t>
            </a:r>
            <a:r>
              <a:rPr lang="ru-RU" sz="2400" dirty="0"/>
              <a:t>работещо или изпълнимо състояние можем да приведем </a:t>
            </a:r>
            <a:r>
              <a:rPr lang="ru-RU" sz="2400" dirty="0" smtClean="0"/>
              <a:t>процеса</a:t>
            </a:r>
          </a:p>
          <a:p>
            <a:pPr lvl="2"/>
            <a:r>
              <a:rPr lang="ru-RU" sz="2000" dirty="0" smtClean="0"/>
              <a:t>Използват се </a:t>
            </a:r>
            <a:r>
              <a:rPr lang="ru-RU" sz="2000" dirty="0"/>
              <a:t>сигналите SIGSTOP или SIGTSTP. </a:t>
            </a:r>
            <a:endParaRPr lang="ru-RU" sz="2000" dirty="0" smtClean="0"/>
          </a:p>
          <a:p>
            <a:pPr lvl="1"/>
            <a:r>
              <a:rPr lang="ru-RU" sz="2400" dirty="0"/>
              <a:t>SIGSTOP</a:t>
            </a:r>
            <a:endParaRPr lang="ru-RU" sz="2400" dirty="0" smtClean="0"/>
          </a:p>
          <a:p>
            <a:pPr lvl="2"/>
            <a:r>
              <a:rPr lang="ru-RU" sz="2000" dirty="0" smtClean="0"/>
              <a:t>Изпращането на </a:t>
            </a:r>
            <a:r>
              <a:rPr lang="ru-RU" sz="2000" dirty="0"/>
              <a:t>SIGSTOP е програмно, като например стартиране на kill -STOP {pid}. </a:t>
            </a:r>
            <a:endParaRPr lang="ru-RU" sz="2000" dirty="0" smtClean="0"/>
          </a:p>
          <a:p>
            <a:pPr lvl="2"/>
            <a:r>
              <a:rPr lang="ru-RU" sz="2000" dirty="0" smtClean="0"/>
              <a:t>Процесът не </a:t>
            </a:r>
            <a:r>
              <a:rPr lang="ru-RU" sz="2000" dirty="0"/>
              <a:t>може да игнорира този сигнал и ще премине в спряно състояние. </a:t>
            </a:r>
            <a:endParaRPr lang="ru-RU" sz="2000" dirty="0" smtClean="0"/>
          </a:p>
          <a:p>
            <a:pPr lvl="1"/>
            <a:r>
              <a:rPr lang="ru-RU" sz="2400" dirty="0"/>
              <a:t>SIGTSTP</a:t>
            </a:r>
            <a:r>
              <a:rPr lang="ru-RU" sz="2400" dirty="0" smtClean="0"/>
              <a:t> </a:t>
            </a:r>
          </a:p>
          <a:p>
            <a:pPr lvl="2"/>
            <a:r>
              <a:rPr lang="ru-RU" sz="2000" dirty="0" smtClean="0"/>
              <a:t>Изпращането на сигнала SIGTSTP е чрез </a:t>
            </a:r>
            <a:r>
              <a:rPr lang="ru-RU" sz="2000" dirty="0"/>
              <a:t>CTRL + Z </a:t>
            </a:r>
            <a:r>
              <a:rPr lang="ru-RU" sz="2000" dirty="0" smtClean="0"/>
              <a:t> от клавиатурата. </a:t>
            </a:r>
          </a:p>
          <a:p>
            <a:pPr lvl="2"/>
            <a:r>
              <a:rPr lang="ru-RU" sz="2000" dirty="0" smtClean="0"/>
              <a:t>Процесът може </a:t>
            </a:r>
            <a:r>
              <a:rPr lang="ru-RU" sz="2000" dirty="0"/>
              <a:t>по желание да игнорира този сигнал и да продължи да се изпълнява при получаване на SIGTSTP.</a:t>
            </a:r>
          </a:p>
          <a:p>
            <a:pPr lvl="1"/>
            <a:r>
              <a:rPr lang="ru-RU" sz="2400" dirty="0" smtClean="0"/>
              <a:t>Можем да </a:t>
            </a:r>
            <a:r>
              <a:rPr lang="ru-RU" sz="2400" dirty="0"/>
              <a:t>върнем процеса в работещо или изпълнимо състояние, като изпратим сигнала SIGCONT.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9706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Диаграма на състоянието на процесите в </a:t>
            </a:r>
            <a:r>
              <a:rPr lang="en-US" dirty="0" smtClean="0"/>
              <a:t>Linux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Zombie State (Z</a:t>
            </a:r>
            <a:r>
              <a:rPr lang="en-US" sz="2800" dirty="0" smtClean="0"/>
              <a:t>)</a:t>
            </a:r>
            <a:endParaRPr lang="bg-BG" sz="2800" dirty="0"/>
          </a:p>
          <a:p>
            <a:pPr lvl="1"/>
            <a:r>
              <a:rPr lang="ru-RU" sz="2400" dirty="0" smtClean="0"/>
              <a:t>Това е състоянието, в което даден </a:t>
            </a:r>
            <a:r>
              <a:rPr lang="ru-RU" sz="2400" dirty="0"/>
              <a:t>процес </a:t>
            </a:r>
            <a:r>
              <a:rPr lang="ru-RU" sz="2400" dirty="0" smtClean="0"/>
              <a:t>преминава когато завърши </a:t>
            </a:r>
            <a:r>
              <a:rPr lang="ru-RU" sz="2400" dirty="0"/>
              <a:t>изпълнението си или бъде </a:t>
            </a:r>
            <a:r>
              <a:rPr lang="ru-RU" sz="2400" dirty="0" smtClean="0"/>
              <a:t>прекратен</a:t>
            </a:r>
          </a:p>
          <a:p>
            <a:pPr lvl="2"/>
            <a:r>
              <a:rPr lang="ru-RU" sz="2000" dirty="0" smtClean="0"/>
              <a:t>Процесът изпраща </a:t>
            </a:r>
            <a:r>
              <a:rPr lang="ru-RU" sz="2000" dirty="0"/>
              <a:t>сигнала SIGCHLD на родителския процес и </a:t>
            </a:r>
            <a:r>
              <a:rPr lang="ru-RU" sz="2000" dirty="0" smtClean="0"/>
              <a:t>премине </a:t>
            </a:r>
            <a:r>
              <a:rPr lang="ru-RU" sz="2000" dirty="0"/>
              <a:t>в състояние </a:t>
            </a:r>
            <a:r>
              <a:rPr lang="ru-RU" sz="2000" dirty="0" smtClean="0"/>
              <a:t>«неработещ» (наречен още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зомби-състояние</a:t>
            </a:r>
            <a:r>
              <a:rPr lang="ru-RU" sz="2000" dirty="0" smtClean="0"/>
              <a:t>). </a:t>
            </a:r>
          </a:p>
          <a:p>
            <a:pPr lvl="1"/>
            <a:r>
              <a:rPr lang="ru-RU" sz="2400" dirty="0" smtClean="0"/>
              <a:t>Неработещият  процес </a:t>
            </a:r>
            <a:r>
              <a:rPr lang="ru-RU" sz="2400" dirty="0"/>
              <a:t>ще </a:t>
            </a:r>
            <a:r>
              <a:rPr lang="ru-RU" sz="2400" dirty="0" smtClean="0"/>
              <a:t>остане </a:t>
            </a:r>
            <a:r>
              <a:rPr lang="ru-RU" sz="2400" dirty="0"/>
              <a:t>в това </a:t>
            </a:r>
            <a:r>
              <a:rPr lang="ru-RU" sz="2400" dirty="0" smtClean="0"/>
              <a:t>състояние </a:t>
            </a:r>
            <a:r>
              <a:rPr lang="ru-RU" sz="2400" dirty="0"/>
              <a:t>докато родителският процес не го изтрие от таблицата на процесите. </a:t>
            </a:r>
            <a:endParaRPr lang="ru-RU" sz="2400" dirty="0" smtClean="0"/>
          </a:p>
          <a:p>
            <a:pPr lvl="1"/>
            <a:r>
              <a:rPr lang="ru-RU" sz="2400" dirty="0" smtClean="0"/>
              <a:t>За </a:t>
            </a:r>
            <a:r>
              <a:rPr lang="ru-RU" sz="2400" dirty="0"/>
              <a:t>да </a:t>
            </a:r>
            <a:r>
              <a:rPr lang="ru-RU" sz="2400" dirty="0" smtClean="0"/>
              <a:t>премахне прекратения </a:t>
            </a:r>
            <a:r>
              <a:rPr lang="ru-RU" sz="2400" dirty="0"/>
              <a:t>дъщерен процес от таблицата на процесите, родителският процес трябва да прочете изходната стойност на </a:t>
            </a:r>
            <a:r>
              <a:rPr lang="ru-RU" sz="2400" dirty="0" smtClean="0"/>
              <a:t>дъщерния процес</a:t>
            </a:r>
          </a:p>
          <a:p>
            <a:pPr lvl="2"/>
            <a:r>
              <a:rPr lang="ru-RU" sz="2000" dirty="0" smtClean="0"/>
              <a:t>Използва се </a:t>
            </a:r>
            <a:r>
              <a:rPr lang="ru-RU" sz="2000" dirty="0"/>
              <a:t>системните извиквания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wait()</a:t>
            </a:r>
            <a:r>
              <a:rPr lang="ru-RU" sz="2000" dirty="0"/>
              <a:t> или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waitpid().</a:t>
            </a:r>
            <a:endParaRPr lang="bg-BG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889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Създаване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ru-RU" dirty="0" smtClean="0"/>
              <a:t>Linux най-често нов </a:t>
            </a:r>
            <a:r>
              <a:rPr lang="ru-RU" dirty="0"/>
              <a:t>процес </a:t>
            </a:r>
            <a:r>
              <a:rPr lang="ru-RU" dirty="0" smtClean="0"/>
              <a:t>се </a:t>
            </a:r>
            <a:r>
              <a:rPr lang="ru-RU" dirty="0"/>
              <a:t>създава, когато съществуващ процес направи точно копие на себе си в паметта. </a:t>
            </a:r>
            <a:endParaRPr lang="ru-RU" dirty="0" smtClean="0"/>
          </a:p>
          <a:p>
            <a:pPr lvl="1"/>
            <a:r>
              <a:rPr lang="ru-RU" dirty="0" smtClean="0"/>
              <a:t>Процесът </a:t>
            </a:r>
            <a:r>
              <a:rPr lang="ru-RU" dirty="0"/>
              <a:t>наследник ще има същата среда като родителя си, но само идентификационният номер на процеса ще е различен.</a:t>
            </a:r>
          </a:p>
          <a:p>
            <a:pPr lvl="1"/>
            <a:r>
              <a:rPr lang="ru-RU" dirty="0" smtClean="0"/>
              <a:t>Използват се </a:t>
            </a:r>
            <a:r>
              <a:rPr lang="ru-RU" dirty="0"/>
              <a:t>два </a:t>
            </a:r>
            <a:r>
              <a:rPr lang="ru-RU" dirty="0" smtClean="0"/>
              <a:t>основни начина </a:t>
            </a:r>
            <a:r>
              <a:rPr lang="ru-RU" dirty="0"/>
              <a:t>за създаване на нов процес:</a:t>
            </a:r>
          </a:p>
          <a:p>
            <a:pPr lvl="2"/>
            <a:r>
              <a:rPr lang="ru-RU" dirty="0" smtClean="0"/>
              <a:t>Използване </a:t>
            </a:r>
            <a:r>
              <a:rPr lang="ru-RU" dirty="0"/>
              <a:t>на функцията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lang="ru-RU" dirty="0"/>
              <a:t>() - този метод е сравнително прост, но е неефективен и крие значителни рискове за сигурността.</a:t>
            </a:r>
          </a:p>
          <a:p>
            <a:pPr lvl="2"/>
            <a:r>
              <a:rPr lang="ru-RU" dirty="0"/>
              <a:t>Използване на функцията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fork</a:t>
            </a:r>
            <a:r>
              <a:rPr lang="ru-RU" dirty="0"/>
              <a:t>() и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</a:t>
            </a:r>
            <a:r>
              <a:rPr lang="ru-RU" dirty="0"/>
              <a:t>() - този метод е малко по-усъвършенстван, но предлага по-голяма гъвкавост, скорост, заедно със сигурност.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6076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Идентификация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Linux </a:t>
            </a:r>
            <a:r>
              <a:rPr lang="ru-RU" sz="2800" dirty="0"/>
              <a:t>е многопотребителска </a:t>
            </a:r>
            <a:r>
              <a:rPr lang="ru-RU" sz="2800" dirty="0" smtClean="0"/>
              <a:t>система и това означава</a:t>
            </a:r>
            <a:r>
              <a:rPr lang="ru-RU" sz="2800" dirty="0"/>
              <a:t>, че различни потребители могат да </a:t>
            </a:r>
            <a:r>
              <a:rPr lang="ru-RU" sz="2800" dirty="0" smtClean="0"/>
              <a:t>стартират различни програми </a:t>
            </a:r>
            <a:r>
              <a:rPr lang="ru-RU" sz="2800" dirty="0"/>
              <a:t>в </a:t>
            </a:r>
            <a:r>
              <a:rPr lang="ru-RU" sz="2800" dirty="0" smtClean="0"/>
              <a:t>системата.</a:t>
            </a:r>
          </a:p>
          <a:p>
            <a:pPr lvl="1"/>
            <a:r>
              <a:rPr lang="ru-RU" sz="2400" dirty="0" smtClean="0"/>
              <a:t>Това изисква всяка </a:t>
            </a:r>
            <a:r>
              <a:rPr lang="ru-RU" sz="2400" dirty="0"/>
              <a:t>изпълнявана инстанция на програма </a:t>
            </a:r>
            <a:r>
              <a:rPr lang="ru-RU" sz="2400" dirty="0" smtClean="0"/>
              <a:t>да може да </a:t>
            </a:r>
            <a:r>
              <a:rPr lang="ru-RU" sz="2400" dirty="0"/>
              <a:t>бъде идентифицирана по уникален начин от ядрото.</a:t>
            </a:r>
          </a:p>
          <a:p>
            <a:pPr lvl="1"/>
            <a:r>
              <a:rPr lang="ru-RU" sz="2400" dirty="0"/>
              <a:t>Всека програма се идентифицира чрез уникален:</a:t>
            </a:r>
          </a:p>
          <a:p>
            <a:pPr lvl="2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PID </a:t>
            </a:r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ru-RU" sz="2000" dirty="0" smtClean="0"/>
              <a:t>идентификатор </a:t>
            </a:r>
            <a:r>
              <a:rPr lang="ru-RU" sz="2000" dirty="0"/>
              <a:t>на </a:t>
            </a:r>
            <a:r>
              <a:rPr lang="ru-RU" sz="2000" dirty="0" smtClean="0"/>
              <a:t>процеса (цяло число </a:t>
            </a:r>
            <a:r>
              <a:rPr lang="ru-RU" sz="2000" dirty="0"/>
              <a:t>между 2 и 32 </a:t>
            </a:r>
            <a:r>
              <a:rPr lang="ru-RU" sz="2000" dirty="0" smtClean="0"/>
              <a:t>768 за обикновените процеси)</a:t>
            </a:r>
          </a:p>
          <a:p>
            <a:pPr lvl="3"/>
            <a:r>
              <a:rPr lang="ru-RU" sz="1800" dirty="0" smtClean="0"/>
              <a:t>Числото 1 </a:t>
            </a:r>
            <a:r>
              <a:rPr lang="ru-RU" sz="1800" dirty="0"/>
              <a:t>обикновено е запазено за процеса </a:t>
            </a:r>
            <a:r>
              <a:rPr lang="ru-RU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</a:t>
            </a:r>
            <a:r>
              <a:rPr lang="ru-RU" sz="1800" dirty="0" smtClean="0"/>
              <a:t>.</a:t>
            </a:r>
            <a:endParaRPr lang="ru-RU" sz="1800" dirty="0"/>
          </a:p>
          <a:p>
            <a:pPr lvl="2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PPID </a:t>
            </a:r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ru-RU" sz="2000" dirty="0" smtClean="0"/>
              <a:t>идентификатор </a:t>
            </a:r>
            <a:r>
              <a:rPr lang="ru-RU" sz="2000" dirty="0"/>
              <a:t>на родителския </a:t>
            </a:r>
            <a:r>
              <a:rPr lang="ru-RU" sz="2000" dirty="0" smtClean="0"/>
              <a:t>процес</a:t>
            </a:r>
            <a:endParaRPr lang="ru-RU" sz="2000" dirty="0"/>
          </a:p>
          <a:p>
            <a:r>
              <a:rPr lang="ru-RU" sz="2800" dirty="0" smtClean="0"/>
              <a:t>Класификация по пораждане</a:t>
            </a:r>
          </a:p>
          <a:p>
            <a:pPr lvl="1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Родителски процес </a:t>
            </a:r>
            <a:r>
              <a:rPr lang="ru-RU" sz="2400" dirty="0" smtClean="0"/>
              <a:t>– това е процес, който </a:t>
            </a:r>
            <a:r>
              <a:rPr lang="ru-RU" sz="2400" dirty="0"/>
              <a:t>създават други процеси по време на </a:t>
            </a:r>
            <a:r>
              <a:rPr lang="ru-RU" sz="2400" dirty="0" smtClean="0"/>
              <a:t>изпълнение си.</a:t>
            </a:r>
            <a:endParaRPr lang="ru-RU" sz="2400" dirty="0"/>
          </a:p>
          <a:p>
            <a:pPr lvl="1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Подчинени процеси </a:t>
            </a:r>
            <a:r>
              <a:rPr lang="ru-RU" sz="2400" dirty="0" smtClean="0"/>
              <a:t>– това са процесите, създадени </a:t>
            </a:r>
            <a:r>
              <a:rPr lang="ru-RU" sz="2400" dirty="0"/>
              <a:t>от </a:t>
            </a:r>
            <a:r>
              <a:rPr lang="ru-RU" sz="2400" dirty="0" smtClean="0"/>
              <a:t>работещ процес.</a:t>
            </a:r>
            <a:endParaRPr lang="bg-BG" sz="24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2205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Идентификация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r>
              <a:rPr lang="ru-RU" sz="2800" dirty="0"/>
              <a:t>Всички процеси се създават, когато даден процес изпълни системното извикване fork(), с изключение на стартиращия процес. </a:t>
            </a:r>
            <a:endParaRPr lang="ru-RU" sz="2800" dirty="0" smtClean="0"/>
          </a:p>
          <a:p>
            <a:pPr lvl="1"/>
            <a:r>
              <a:rPr lang="ru-RU" sz="2400" dirty="0" smtClean="0"/>
              <a:t>Родителският процес е процесът</a:t>
            </a:r>
            <a:r>
              <a:rPr lang="ru-RU" sz="2400" dirty="0"/>
              <a:t>, който изпълнява системното </a:t>
            </a:r>
            <a:r>
              <a:rPr lang="ru-RU" sz="2400" dirty="0" smtClean="0"/>
              <a:t>извикване.</a:t>
            </a:r>
          </a:p>
          <a:p>
            <a:pPr lvl="1"/>
            <a:r>
              <a:rPr lang="ru-RU" sz="2400" dirty="0" smtClean="0"/>
              <a:t>Дъщереният процес е процесът, </a:t>
            </a:r>
            <a:r>
              <a:rPr lang="ru-RU" sz="2400" dirty="0"/>
              <a:t>който </a:t>
            </a:r>
            <a:r>
              <a:rPr lang="ru-RU" sz="2400" dirty="0" smtClean="0"/>
              <a:t>се създава след системното извикване. </a:t>
            </a:r>
          </a:p>
          <a:p>
            <a:r>
              <a:rPr lang="ru-RU" sz="2800" dirty="0" smtClean="0"/>
              <a:t>Родителският </a:t>
            </a:r>
            <a:r>
              <a:rPr lang="ru-RU" sz="2800" dirty="0"/>
              <a:t>процес може да има множество дъщерни процеси, но </a:t>
            </a:r>
            <a:r>
              <a:rPr lang="ru-RU" sz="2800" dirty="0" smtClean="0"/>
              <a:t>дъщерният процес </a:t>
            </a:r>
            <a:r>
              <a:rPr lang="ru-RU" sz="2800" dirty="0"/>
              <a:t>има само един родителски процес</a:t>
            </a:r>
            <a:r>
              <a:rPr lang="ru-RU" sz="2800" dirty="0" smtClean="0"/>
              <a:t>.</a:t>
            </a:r>
          </a:p>
          <a:p>
            <a:pPr lvl="1"/>
            <a:r>
              <a:rPr lang="ru-RU" sz="2400" dirty="0" smtClean="0"/>
              <a:t>При </a:t>
            </a:r>
            <a:r>
              <a:rPr lang="ru-RU" sz="2400" dirty="0"/>
              <a:t>успех на системното извикване fork</a:t>
            </a:r>
            <a:r>
              <a:rPr lang="ru-RU" sz="2400" dirty="0" smtClean="0"/>
              <a:t>(), идентификаторът </a:t>
            </a:r>
            <a:r>
              <a:rPr lang="ru-RU" sz="2400" dirty="0"/>
              <a:t>на процеса (PID) на </a:t>
            </a:r>
            <a:r>
              <a:rPr lang="ru-RU" sz="2400" dirty="0" smtClean="0"/>
              <a:t>дъщерния процес </a:t>
            </a:r>
            <a:r>
              <a:rPr lang="ru-RU" sz="2400" dirty="0"/>
              <a:t>се връща на родителския процес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Дъщерният процес получава код 0 (нула).</a:t>
            </a:r>
          </a:p>
          <a:p>
            <a:pPr lvl="1"/>
            <a:r>
              <a:rPr lang="ru-RU" sz="2400" dirty="0" smtClean="0"/>
              <a:t>При </a:t>
            </a:r>
            <a:r>
              <a:rPr lang="ru-RU" sz="2400" dirty="0"/>
              <a:t>неуспех на системното извикване fork(), не се създава дъщерен </a:t>
            </a:r>
            <a:r>
              <a:rPr lang="ru-RU" sz="2400" dirty="0" smtClean="0"/>
              <a:t>процес</a:t>
            </a:r>
          </a:p>
          <a:p>
            <a:pPr lvl="2"/>
            <a:r>
              <a:rPr lang="ru-RU" sz="2000" dirty="0" smtClean="0"/>
              <a:t>Родителският процессе получава код -1.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4823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Идентификация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/>
              <a:t>Дъщерен процес </a:t>
            </a:r>
            <a:r>
              <a:rPr lang="ru-RU" sz="2800" dirty="0"/>
              <a:t>се създава от родителски процес в операционната система чрез системното извикване fork(). </a:t>
            </a:r>
            <a:endParaRPr lang="ru-RU" sz="2800" dirty="0" smtClean="0"/>
          </a:p>
          <a:p>
            <a:pPr lvl="1"/>
            <a:r>
              <a:rPr lang="ru-RU" sz="2400" dirty="0" smtClean="0"/>
              <a:t>Дру названия на дъщерните процеси са «подпроцеси» </a:t>
            </a:r>
            <a:r>
              <a:rPr lang="ru-RU" sz="2400" dirty="0"/>
              <a:t>или </a:t>
            </a:r>
            <a:r>
              <a:rPr lang="ru-RU" sz="2400" dirty="0" smtClean="0"/>
              <a:t>«подзадачи».</a:t>
            </a:r>
            <a:endParaRPr lang="ru-RU" sz="2400" dirty="0"/>
          </a:p>
          <a:p>
            <a:r>
              <a:rPr lang="ru-RU" sz="2800" dirty="0" smtClean="0"/>
              <a:t>Дъщереният </a:t>
            </a:r>
            <a:r>
              <a:rPr lang="ru-RU" sz="2800" dirty="0"/>
              <a:t>процес се създава като копие на своя родителски процес.</a:t>
            </a:r>
          </a:p>
          <a:p>
            <a:pPr lvl="1"/>
            <a:r>
              <a:rPr lang="ru-RU" sz="2400" dirty="0" smtClean="0"/>
              <a:t>Дъщереният процесът </a:t>
            </a:r>
            <a:r>
              <a:rPr lang="ru-RU" sz="2400" dirty="0"/>
              <a:t>няма родителски процес, той се създава директно от </a:t>
            </a:r>
            <a:r>
              <a:rPr lang="ru-RU" sz="2400" dirty="0" smtClean="0"/>
              <a:t>ядрото – по-точно има, но това е </a:t>
            </a:r>
            <a:r>
              <a:rPr lang="en-US" sz="2400" dirty="0" err="1" smtClean="0"/>
              <a:t>init</a:t>
            </a:r>
            <a:r>
              <a:rPr lang="en-US" sz="2400" dirty="0" smtClean="0"/>
              <a:t>-</a:t>
            </a:r>
            <a:r>
              <a:rPr lang="bg-BG" sz="2400" dirty="0" smtClean="0"/>
              <a:t>процеса</a:t>
            </a:r>
            <a:r>
              <a:rPr lang="ru-RU" sz="2400" dirty="0" smtClean="0"/>
              <a:t>.</a:t>
            </a:r>
            <a:endParaRPr lang="ru-RU" sz="2400" dirty="0"/>
          </a:p>
          <a:p>
            <a:pPr lvl="1"/>
            <a:r>
              <a:rPr lang="ru-RU" sz="2400" dirty="0"/>
              <a:t>Ако </a:t>
            </a:r>
            <a:r>
              <a:rPr lang="ru-RU" sz="2400" dirty="0" smtClean="0"/>
              <a:t>дъщерният процес бива прекъснат</a:t>
            </a:r>
            <a:r>
              <a:rPr lang="en-US" sz="2400" dirty="0" smtClean="0"/>
              <a:t> (</a:t>
            </a:r>
            <a:r>
              <a:rPr lang="ru-RU" sz="2400" dirty="0"/>
              <a:t>англ. </a:t>
            </a:r>
            <a:r>
              <a:rPr lang="en-US" sz="2400" dirty="0" smtClean="0"/>
              <a:t>Interrupted)</a:t>
            </a:r>
            <a:r>
              <a:rPr lang="ru-RU" sz="2400" dirty="0" smtClean="0"/>
              <a:t> </a:t>
            </a:r>
            <a:r>
              <a:rPr lang="bg-BG" sz="2400" dirty="0" smtClean="0"/>
              <a:t>или прекратен </a:t>
            </a:r>
            <a:r>
              <a:rPr lang="ru-RU" sz="2400" dirty="0" smtClean="0"/>
              <a:t>(англ. </a:t>
            </a:r>
            <a:r>
              <a:rPr lang="en-US" sz="2400" dirty="0" smtClean="0"/>
              <a:t>Exit)</a:t>
            </a:r>
            <a:r>
              <a:rPr lang="ru-RU" sz="2400" dirty="0" smtClean="0"/>
              <a:t>, то той изпраща </a:t>
            </a:r>
            <a:r>
              <a:rPr lang="ru-RU" sz="2400" dirty="0"/>
              <a:t>сигнал SIGCHLD към </a:t>
            </a:r>
            <a:r>
              <a:rPr lang="ru-RU" sz="2400" dirty="0" smtClean="0"/>
              <a:t>процеса-родител, т.е. информира го за промяната на състоянието.</a:t>
            </a:r>
          </a:p>
          <a:p>
            <a:r>
              <a:rPr lang="ru-RU" sz="2800" dirty="0" smtClean="0"/>
              <a:t>Създаването на дъщерни процеси е необходимо, когато програма трябва да </a:t>
            </a:r>
            <a:r>
              <a:rPr lang="ru-RU" sz="2800" dirty="0"/>
              <a:t>изпълнява повече от една функция едновременно. </a:t>
            </a:r>
            <a:endParaRPr lang="ru-RU" sz="2800" dirty="0" smtClean="0"/>
          </a:p>
          <a:p>
            <a:pPr lvl="1"/>
            <a:r>
              <a:rPr lang="ru-RU" sz="2400" dirty="0" smtClean="0"/>
              <a:t>Когато двете функции са взаимосвързани</a:t>
            </a:r>
            <a:r>
              <a:rPr lang="ru-RU" sz="2400" dirty="0"/>
              <a:t>, </a:t>
            </a:r>
            <a:r>
              <a:rPr lang="ru-RU" sz="2400" dirty="0" smtClean="0"/>
              <a:t>то не винаги може </a:t>
            </a:r>
            <a:r>
              <a:rPr lang="ru-RU" sz="2400" dirty="0"/>
              <a:t>да се създадат две различни програми за изпълнението </a:t>
            </a:r>
            <a:r>
              <a:rPr lang="ru-RU" sz="2400" dirty="0" smtClean="0"/>
              <a:t>на всяка от задачите.</a:t>
            </a:r>
          </a:p>
        </p:txBody>
      </p:sp>
    </p:spTree>
    <p:extLst>
      <p:ext uri="{BB962C8B-B14F-4D97-AF65-F5344CB8AC3E}">
        <p14:creationId xmlns:p14="http://schemas.microsoft.com/office/powerpoint/2010/main" val="376568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Диспечер на задачите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Ядрото на Linux използва програма за планиране на процеси, за да реши кой процес ще получи следващия времеви отрязък въз основа на приоритета на процеса.</a:t>
            </a:r>
          </a:p>
          <a:p>
            <a:pPr lvl="1"/>
            <a:r>
              <a:rPr lang="ru-RU" sz="2400" dirty="0" smtClean="0"/>
              <a:t>ОС определя </a:t>
            </a:r>
            <a:r>
              <a:rPr lang="ru-RU" sz="2400" dirty="0"/>
              <a:t>приоритета на даден процес въз основа на </a:t>
            </a:r>
            <a:r>
              <a:rPr lang="ru-RU" sz="2400" dirty="0" smtClean="0"/>
              <a:t>стойността, зададена с комнадата 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nice </a:t>
            </a:r>
            <a:r>
              <a:rPr lang="ru-RU" sz="2400" dirty="0"/>
              <a:t>и на поведението на програмата. </a:t>
            </a:r>
            <a:endParaRPr lang="ru-RU" sz="2400" dirty="0" smtClean="0"/>
          </a:p>
          <a:p>
            <a:pPr lvl="2"/>
            <a:r>
              <a:rPr lang="ru-RU" sz="2000" dirty="0" smtClean="0"/>
              <a:t>Програмите</a:t>
            </a:r>
            <a:r>
              <a:rPr lang="ru-RU" sz="2000" dirty="0"/>
              <a:t>, които работят за дълги периоди от време, без да спират, обикновено получават по-ниски приоритети. </a:t>
            </a:r>
            <a:endParaRPr lang="ru-RU" sz="2000" dirty="0" smtClean="0"/>
          </a:p>
          <a:p>
            <a:pPr lvl="2"/>
            <a:r>
              <a:rPr lang="ru-RU" sz="2000" dirty="0" smtClean="0"/>
              <a:t>За програмите</a:t>
            </a:r>
            <a:r>
              <a:rPr lang="ru-RU" sz="2000" dirty="0"/>
              <a:t>, които правят </a:t>
            </a:r>
            <a:r>
              <a:rPr lang="ru-RU" sz="2000" dirty="0" smtClean="0"/>
              <a:t>паузи докато изчавкат някакъв </a:t>
            </a:r>
            <a:r>
              <a:rPr lang="ru-RU" sz="2000" dirty="0"/>
              <a:t>вход от потребителя, системата увеличава нейния приоритет, така че когато е готова да продължи, тя има висок приоритет</a:t>
            </a:r>
            <a:r>
              <a:rPr lang="ru-RU" sz="2000" dirty="0" smtClean="0"/>
              <a:t>.</a:t>
            </a:r>
          </a:p>
          <a:p>
            <a:pPr lvl="2"/>
            <a:r>
              <a:rPr lang="ru-RU" sz="2000" dirty="0" smtClean="0"/>
              <a:t>Използват се стойности в диапазона </a:t>
            </a:r>
            <a:r>
              <a:rPr lang="en-US" sz="2000" dirty="0" smtClean="0"/>
              <a:t>[-20, 19], </a:t>
            </a:r>
            <a:r>
              <a:rPr lang="bg-BG" sz="2000" dirty="0" smtClean="0"/>
              <a:t>като -20  е най-високия приоритет. По подразбиране приоритетът има стойност 0 (нула).</a:t>
            </a:r>
          </a:p>
          <a:p>
            <a:pPr lvl="2"/>
            <a:r>
              <a:rPr lang="ru-RU" sz="2000" dirty="0" smtClean="0"/>
              <a:t>Приоритетът за </a:t>
            </a:r>
            <a:r>
              <a:rPr lang="ru-RU" sz="2000" dirty="0"/>
              <a:t>процесите се наследява от родителския </a:t>
            </a:r>
            <a:r>
              <a:rPr lang="ru-RU" sz="2000" dirty="0" smtClean="0"/>
              <a:t>процес.</a:t>
            </a:r>
          </a:p>
          <a:p>
            <a:pPr lvl="1"/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5041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 </a:t>
            </a:r>
            <a:r>
              <a:rPr lang="en-US" dirty="0" smtClean="0"/>
              <a:t>“</a:t>
            </a:r>
            <a:r>
              <a:rPr lang="en-US" i="1" dirty="0" err="1" smtClean="0"/>
              <a:t>init</a:t>
            </a:r>
            <a:r>
              <a:rPr lang="en-US" dirty="0" smtClean="0"/>
              <a:t>”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 </a:t>
            </a:r>
            <a:r>
              <a:rPr lang="ru-RU" dirty="0" smtClean="0"/>
              <a:t>Linux, процесът </a:t>
            </a:r>
            <a:r>
              <a:rPr lang="en-US" dirty="0" smtClean="0"/>
              <a:t>“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nit</a:t>
            </a:r>
            <a:r>
              <a:rPr lang="en-US" dirty="0" smtClean="0"/>
              <a:t>”</a:t>
            </a:r>
            <a:r>
              <a:rPr lang="ru-RU" dirty="0" smtClean="0"/>
              <a:t> </a:t>
            </a:r>
            <a:r>
              <a:rPr lang="ru-RU" dirty="0"/>
              <a:t>се изпълнява при стартиране на </a:t>
            </a:r>
            <a:r>
              <a:rPr lang="ru-RU" dirty="0" smtClean="0"/>
              <a:t>системата</a:t>
            </a:r>
            <a:r>
              <a:rPr lang="bg-BG" dirty="0" smtClean="0"/>
              <a:t>, т.е. това е първата изпълнявана програма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r>
              <a:rPr lang="ru-RU" dirty="0"/>
              <a:t>Той се стартира от самото ядро, така че по принцип няма родителски процес.</a:t>
            </a:r>
          </a:p>
          <a:p>
            <a:pPr lvl="1"/>
            <a:r>
              <a:rPr lang="ru-RU" dirty="0"/>
              <a:t>Той управлява всички останали процеси в системата. </a:t>
            </a:r>
          </a:p>
          <a:p>
            <a:pPr lvl="2"/>
            <a:r>
              <a:rPr lang="ru-RU" dirty="0" smtClean="0"/>
              <a:t>Той е родител </a:t>
            </a:r>
            <a:r>
              <a:rPr lang="ru-RU" dirty="0"/>
              <a:t>на всички процеси в </a:t>
            </a:r>
            <a:r>
              <a:rPr lang="ru-RU" dirty="0" smtClean="0"/>
              <a:t>системата</a:t>
            </a:r>
          </a:p>
          <a:p>
            <a:pPr lvl="2"/>
            <a:r>
              <a:rPr lang="ru-RU" dirty="0"/>
              <a:t>Той функционира като «осиновител» на всички процеси, чийто родители са прекратили работата си.</a:t>
            </a:r>
          </a:p>
          <a:p>
            <a:pPr lvl="1"/>
            <a:r>
              <a:rPr lang="ru-RU" dirty="0" smtClean="0"/>
              <a:t>Процесът </a:t>
            </a:r>
            <a:r>
              <a:rPr lang="ru-RU" dirty="0"/>
              <a:t>init винаги има идентификатор на процеса 1</a:t>
            </a:r>
            <a:r>
              <a:rPr lang="ru-RU" dirty="0" smtClean="0"/>
              <a:t>.</a:t>
            </a:r>
          </a:p>
          <a:p>
            <a:pPr lvl="2"/>
            <a:r>
              <a:rPr lang="ru-RU" dirty="0" smtClean="0"/>
              <a:t>В </a:t>
            </a:r>
            <a:r>
              <a:rPr lang="en-US" dirty="0" smtClean="0"/>
              <a:t>Linux</a:t>
            </a:r>
            <a:r>
              <a:rPr lang="bg-BG" dirty="0" smtClean="0"/>
              <a:t> всички процеси или са стартирани от </a:t>
            </a:r>
            <a:r>
              <a:rPr lang="en-US" i="1" dirty="0" err="1" smtClean="0"/>
              <a:t>init</a:t>
            </a:r>
            <a:r>
              <a:rPr lang="bg-BG" dirty="0" smtClean="0"/>
              <a:t>, или са стартирани от дъщерни процеси на </a:t>
            </a:r>
            <a:r>
              <a:rPr lang="en-US" i="1" dirty="0" err="1" smtClean="0"/>
              <a:t>init</a:t>
            </a:r>
            <a:r>
              <a:rPr lang="en-US" dirty="0" err="1" smtClean="0"/>
              <a:t>.</a:t>
            </a:r>
            <a:endParaRPr lang="ru-RU" dirty="0" smtClean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115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 </a:t>
            </a:r>
            <a:r>
              <a:rPr lang="en-US" dirty="0" smtClean="0"/>
              <a:t>“</a:t>
            </a:r>
            <a:r>
              <a:rPr lang="en-US" i="1" dirty="0" err="1" smtClean="0"/>
              <a:t>init</a:t>
            </a:r>
            <a:r>
              <a:rPr lang="en-US" dirty="0" smtClean="0"/>
              <a:t>”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/>
              <a:t>Процесът init (инициализация) е коренният/родителският процес на всички процеси, които се изпълняват под Linux/Unix. </a:t>
            </a:r>
            <a:endParaRPr lang="ru-RU" sz="28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Първият </a:t>
            </a:r>
            <a:r>
              <a:rPr lang="ru-RU" sz="2400" dirty="0"/>
              <a:t>процес, който се изпълнява, е скрипт в /</a:t>
            </a:r>
            <a:r>
              <a:rPr lang="ru-RU" sz="2400" dirty="0" smtClean="0"/>
              <a:t>etc/rc.d/rc.sysinit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Той проверява </a:t>
            </a:r>
            <a:r>
              <a:rPr lang="ru-RU" sz="2000" dirty="0"/>
              <a:t>всички системни свойства, хардуер, дисплей, SElinux, зарежда модули на ядрото, проверява файловата система, монтира файловата система и т.н. </a:t>
            </a:r>
            <a:endParaRPr lang="ru-RU" sz="20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Въз </a:t>
            </a:r>
            <a:r>
              <a:rPr lang="ru-RU" sz="2400" dirty="0"/>
              <a:t>основа на съответното ниво на изпълнение се изпълняват скриптове за стартиране/спиране на различни процеси, за да се стартира системата и тя да функционира. </a:t>
            </a:r>
            <a:endParaRPr lang="ru-RU" sz="24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Процесът </a:t>
            </a:r>
            <a:r>
              <a:rPr lang="ru-RU" sz="2400" dirty="0"/>
              <a:t>INIT прочита /etc/inittab, който представлява таблица за инициализация, определяща стартирането на системните програми</a:t>
            </a:r>
            <a:r>
              <a:rPr lang="ru-RU" sz="2400" dirty="0" smtClean="0"/>
              <a:t>.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INIT </a:t>
            </a:r>
            <a:r>
              <a:rPr lang="ru-RU" sz="2000" dirty="0"/>
              <a:t>ще стартира всяко ниво на изпълнение едно след друго и ще започне да изпълнява скриптове, съответстващи на това ниво на </a:t>
            </a:r>
            <a:r>
              <a:rPr lang="ru-RU" sz="2000" dirty="0" smtClean="0"/>
              <a:t>изпълнение.</a:t>
            </a:r>
          </a:p>
        </p:txBody>
      </p:sp>
    </p:spTree>
    <p:extLst>
      <p:ext uri="{BB962C8B-B14F-4D97-AF65-F5344CB8AC3E}">
        <p14:creationId xmlns:p14="http://schemas.microsoft.com/office/powerpoint/2010/main" val="319485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 </a:t>
            </a:r>
            <a:r>
              <a:rPr lang="en-US" dirty="0" smtClean="0"/>
              <a:t>“</a:t>
            </a:r>
            <a:r>
              <a:rPr lang="en-US" i="1" dirty="0" err="1" smtClean="0"/>
              <a:t>init</a:t>
            </a:r>
            <a:r>
              <a:rPr lang="en-US" dirty="0" smtClean="0"/>
              <a:t>”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/>
              <a:t>Процесът init (инициализация) е коренният/родителският процес на всички процеси, които се изпълняват под Linux/Unix. </a:t>
            </a:r>
            <a:endParaRPr lang="ru-RU" sz="28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Информацията </a:t>
            </a:r>
            <a:r>
              <a:rPr lang="ru-RU" sz="2400" dirty="0"/>
              <a:t>за скриптовете се съхранява в различни папки в </a:t>
            </a:r>
            <a:r>
              <a:rPr lang="ru-RU" sz="2400" dirty="0" smtClean="0"/>
              <a:t>директорията </a:t>
            </a:r>
            <a:r>
              <a:rPr lang="ru-RU" sz="2400" dirty="0"/>
              <a:t>/etc</a:t>
            </a:r>
            <a:r>
              <a:rPr lang="ru-RU" sz="2400" dirty="0" smtClean="0"/>
              <a:t>/.</a:t>
            </a:r>
          </a:p>
          <a:p>
            <a:pPr lvl="2">
              <a:spcBef>
                <a:spcPts val="300"/>
              </a:spcBef>
            </a:pPr>
            <a:r>
              <a:rPr lang="ru-RU" sz="2000" dirty="0"/>
              <a:t>Терминът runlevel се отнася до режим на работа в </a:t>
            </a:r>
            <a:r>
              <a:rPr lang="ru-RU" sz="2000" dirty="0" smtClean="0"/>
              <a:t>ОС, </a:t>
            </a:r>
            <a:r>
              <a:rPr lang="ru-RU" sz="2000" dirty="0"/>
              <a:t>които прилагат инициализация в стила на Unix System V. </a:t>
            </a:r>
            <a:endParaRPr lang="ru-RU" sz="20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Тази </a:t>
            </a:r>
            <a:r>
              <a:rPr lang="ru-RU" sz="2000" dirty="0"/>
              <a:t>система замества традиционните скриптове /etc/rc и /etc/rc.local, използвани в BSD UNIX. </a:t>
            </a:r>
            <a:endParaRPr lang="ru-RU" sz="20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Традиционно </a:t>
            </a:r>
            <a:r>
              <a:rPr lang="ru-RU" sz="2000" dirty="0"/>
              <a:t>съществуват седем нива на изпълнение, номерирани от нула до шест, плюс псевдоним на ниво на изпълнение, наречен "S" и/или "s</a:t>
            </a:r>
            <a:r>
              <a:rPr lang="ru-RU" sz="2000" dirty="0" smtClean="0"/>
              <a:t>". 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Различните версии на </a:t>
            </a:r>
            <a:r>
              <a:rPr lang="en-US" sz="2000" dirty="0" smtClean="0"/>
              <a:t>Linux </a:t>
            </a:r>
            <a:r>
              <a:rPr lang="bg-BG" sz="2000" dirty="0" smtClean="0"/>
              <a:t>използват различно нивата, но практически за всички </a:t>
            </a:r>
            <a:r>
              <a:rPr lang="en-US" sz="2000" dirty="0" smtClean="0"/>
              <a:t>Level_0 </a:t>
            </a:r>
            <a:r>
              <a:rPr lang="bg-BG" sz="2000" dirty="0" smtClean="0"/>
              <a:t>отговаря на </a:t>
            </a:r>
            <a:r>
              <a:rPr lang="en-US" sz="2000" dirty="0" smtClean="0"/>
              <a:t>Halt </a:t>
            </a:r>
            <a:r>
              <a:rPr lang="bg-BG" sz="2000" dirty="0" smtClean="0"/>
              <a:t>и</a:t>
            </a:r>
            <a:r>
              <a:rPr lang="en-US" sz="2000" dirty="0" smtClean="0"/>
              <a:t> Level_</a:t>
            </a:r>
            <a:r>
              <a:rPr lang="bg-BG" sz="2000" dirty="0" smtClean="0"/>
              <a:t>6</a:t>
            </a:r>
            <a:r>
              <a:rPr lang="en-US" sz="2000" dirty="0" smtClean="0"/>
              <a:t> </a:t>
            </a:r>
            <a:r>
              <a:rPr lang="bg-BG" sz="2000" dirty="0"/>
              <a:t>отговаря на </a:t>
            </a:r>
            <a:r>
              <a:rPr lang="en-US" sz="2000" dirty="0" smtClean="0"/>
              <a:t>Reboot.</a:t>
            </a:r>
          </a:p>
          <a:p>
            <a:pPr lvl="3">
              <a:spcBef>
                <a:spcPts val="300"/>
              </a:spcBef>
            </a:pPr>
            <a:r>
              <a:rPr lang="bg-BG" sz="1800" dirty="0" smtClean="0"/>
              <a:t>За повече информация: </a:t>
            </a:r>
            <a:r>
              <a:rPr lang="en-US" sz="1800" dirty="0" smtClean="0"/>
              <a:t>https</a:t>
            </a:r>
            <a:r>
              <a:rPr lang="en-US" sz="1800" dirty="0"/>
              <a:t>://www.linuxnix.com/the-runlevels</a:t>
            </a:r>
            <a:endParaRPr lang="bg-BG" sz="1800" dirty="0"/>
          </a:p>
        </p:txBody>
      </p:sp>
    </p:spTree>
    <p:extLst>
      <p:ext uri="{BB962C8B-B14F-4D97-AF65-F5344CB8AC3E}">
        <p14:creationId xmlns:p14="http://schemas.microsoft.com/office/powerpoint/2010/main" val="210678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Идентификация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Получаване на </a:t>
            </a:r>
            <a:r>
              <a:rPr lang="en-US" sz="2400" dirty="0" smtClean="0"/>
              <a:t>PID</a:t>
            </a:r>
            <a:r>
              <a:rPr lang="bg-BG" sz="2400" dirty="0" smtClean="0"/>
              <a:t> по </a:t>
            </a:r>
            <a:r>
              <a:rPr lang="bg-BG" sz="2400" dirty="0"/>
              <a:t>името на стартирания </a:t>
            </a:r>
            <a:r>
              <a:rPr lang="bg-BG" sz="2400" dirty="0" smtClean="0"/>
              <a:t>процес</a:t>
            </a:r>
            <a:endParaRPr lang="bg-BG" sz="2400" dirty="0"/>
          </a:p>
          <a:p>
            <a:pPr marL="438150" lvl="1" indent="0">
              <a:buNone/>
            </a:pPr>
            <a:endParaRPr lang="bg-BG" sz="1800" dirty="0" smtClean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sz="2400" dirty="0" smtClean="0"/>
              <a:t>Получаване </a:t>
            </a:r>
            <a:r>
              <a:rPr lang="bg-BG" sz="2400" dirty="0"/>
              <a:t>на </a:t>
            </a:r>
            <a:r>
              <a:rPr lang="en-US" sz="2400" dirty="0"/>
              <a:t>PID</a:t>
            </a:r>
            <a:r>
              <a:rPr lang="bg-BG" sz="2400" dirty="0"/>
              <a:t> и </a:t>
            </a:r>
            <a:r>
              <a:rPr lang="en-US" sz="2400" dirty="0"/>
              <a:t>PPID</a:t>
            </a:r>
            <a:r>
              <a:rPr lang="bg-BG" sz="2400" dirty="0"/>
              <a:t> за текущият </a:t>
            </a:r>
            <a:r>
              <a:rPr lang="bg-BG" sz="2400" dirty="0" smtClean="0"/>
              <a:t>процес</a:t>
            </a:r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endParaRPr lang="bg-BG" sz="2400" dirty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sz="2400" dirty="0" smtClean="0"/>
              <a:t>Проверка на състоянието на работещите процеси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bg-BG" sz="2400" dirty="0"/>
              <a:t>Получаване на информация за всички </a:t>
            </a:r>
            <a:r>
              <a:rPr lang="bg-BG" sz="2400" dirty="0" smtClean="0"/>
              <a:t>процеси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bg-BG" sz="2400" dirty="0" smtClean="0"/>
              <a:t>Получаване на статус на процес</a:t>
            </a:r>
          </a:p>
          <a:p>
            <a:pPr lvl="1"/>
            <a:r>
              <a:rPr lang="en-US" sz="2000" dirty="0" err="1" smtClean="0"/>
              <a:t>ps</a:t>
            </a:r>
            <a:r>
              <a:rPr lang="en-US" sz="2000" dirty="0" smtClean="0"/>
              <a:t> </a:t>
            </a:r>
            <a:r>
              <a:rPr lang="en-US" sz="2000" dirty="0" err="1" smtClean="0"/>
              <a:t>ux</a:t>
            </a:r>
            <a:r>
              <a:rPr lang="en-US" sz="2000" dirty="0" smtClean="0"/>
              <a:t>         -&gt; </a:t>
            </a:r>
            <a:r>
              <a:rPr lang="bg-BG" sz="2000" dirty="0" smtClean="0"/>
              <a:t>статус на процесите на потребителя</a:t>
            </a:r>
          </a:p>
          <a:p>
            <a:pPr lvl="1"/>
            <a:r>
              <a:rPr lang="en-US" sz="2000" dirty="0" err="1" smtClean="0"/>
              <a:t>ps</a:t>
            </a:r>
            <a:r>
              <a:rPr lang="en-US" sz="2000" dirty="0" smtClean="0"/>
              <a:t> &lt;PID&gt;   -&gt; </a:t>
            </a:r>
            <a:r>
              <a:rPr lang="bg-BG" sz="2000" dirty="0" smtClean="0"/>
              <a:t>статус на конкретен процес</a:t>
            </a:r>
            <a:endParaRPr lang="bg-BG" sz="2000" dirty="0"/>
          </a:p>
          <a:p>
            <a:endParaRPr lang="bg-BG" sz="2400" dirty="0"/>
          </a:p>
          <a:p>
            <a:endParaRPr lang="ru-RU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012" y="1826933"/>
            <a:ext cx="2667000" cy="83461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384" y="1077042"/>
            <a:ext cx="3226221" cy="612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612" y="2847124"/>
            <a:ext cx="3226224" cy="612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012" y="3716020"/>
            <a:ext cx="3220652" cy="612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012" y="4700162"/>
            <a:ext cx="3220652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4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Идентификация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sz="2400" dirty="0" smtClean="0"/>
              <a:t>Стартиране на процес във фонов режим</a:t>
            </a:r>
          </a:p>
          <a:p>
            <a:pPr lvl="1"/>
            <a:r>
              <a:rPr lang="bg-BG" sz="2000" dirty="0"/>
              <a:t>Използва се символа ‚</a:t>
            </a:r>
            <a:r>
              <a:rPr lang="en-US" sz="2000" dirty="0"/>
              <a:t>&amp;</a:t>
            </a:r>
            <a:r>
              <a:rPr lang="bg-BG" sz="2000" dirty="0"/>
              <a:t>‘</a:t>
            </a:r>
          </a:p>
          <a:p>
            <a:r>
              <a:rPr lang="bg-BG" sz="2200" dirty="0" smtClean="0"/>
              <a:t>Преминаване на процес </a:t>
            </a:r>
            <a:br>
              <a:rPr lang="bg-BG" sz="2200" dirty="0" smtClean="0"/>
            </a:br>
            <a:r>
              <a:rPr lang="bg-BG" sz="2200" dirty="0" smtClean="0"/>
              <a:t>във </a:t>
            </a:r>
            <a:r>
              <a:rPr lang="bg-BG" sz="2200" dirty="0"/>
              <a:t>фонов </a:t>
            </a:r>
            <a:r>
              <a:rPr lang="bg-BG" sz="2200" dirty="0" smtClean="0"/>
              <a:t>режим</a:t>
            </a:r>
            <a:br>
              <a:rPr lang="bg-BG" sz="2200" dirty="0" smtClean="0"/>
            </a:br>
            <a:endParaRPr lang="en-US" sz="2200" dirty="0" smtClean="0"/>
          </a:p>
          <a:p>
            <a:r>
              <a:rPr lang="bg-BG" sz="2200" dirty="0"/>
              <a:t>Възстановяване на процес по номер в списъка</a:t>
            </a:r>
            <a:br>
              <a:rPr lang="bg-BG" sz="2200" dirty="0"/>
            </a:br>
            <a:r>
              <a:rPr lang="bg-BG" sz="2200" dirty="0"/>
              <a:t>на изпълняваните (виж команда </a:t>
            </a:r>
            <a:r>
              <a:rPr lang="en-US" sz="2200" dirty="0"/>
              <a:t>jobs</a:t>
            </a:r>
            <a:r>
              <a:rPr lang="en-US" sz="2200" dirty="0" smtClean="0"/>
              <a:t>)</a:t>
            </a:r>
            <a:r>
              <a:rPr lang="bg-BG" sz="2200" dirty="0" smtClean="0"/>
              <a:t/>
            </a:r>
            <a:br>
              <a:rPr lang="bg-BG" sz="2200" dirty="0" smtClean="0"/>
            </a:br>
            <a:endParaRPr lang="bg-BG" sz="2200" dirty="0"/>
          </a:p>
          <a:p>
            <a:r>
              <a:rPr lang="bg-BG" sz="2200" dirty="0" smtClean="0"/>
              <a:t>Възстановяване на последния спрян процес</a:t>
            </a:r>
            <a:br>
              <a:rPr lang="bg-BG" sz="2200" dirty="0" smtClean="0"/>
            </a:br>
            <a:endParaRPr lang="bg-BG" sz="2200" dirty="0" smtClean="0"/>
          </a:p>
          <a:p>
            <a:r>
              <a:rPr lang="bg-BG" sz="2200" dirty="0" smtClean="0"/>
              <a:t>Изпращане на сигнал </a:t>
            </a:r>
            <a:br>
              <a:rPr lang="bg-BG" sz="2200" dirty="0" smtClean="0"/>
            </a:br>
            <a:r>
              <a:rPr lang="bg-BG" sz="2200" dirty="0" smtClean="0"/>
              <a:t>за спиране на процес</a:t>
            </a:r>
          </a:p>
          <a:p>
            <a:pPr lvl="1"/>
            <a:r>
              <a:rPr lang="en-US" sz="1800" dirty="0" smtClean="0"/>
              <a:t>kill &lt;PID&gt; -&gt; </a:t>
            </a:r>
            <a:r>
              <a:rPr lang="bg-BG" sz="1800" dirty="0" smtClean="0"/>
              <a:t>изпращане на </a:t>
            </a:r>
            <a:r>
              <a:rPr lang="bg-BG" sz="1800" dirty="0"/>
              <a:t>сигнал </a:t>
            </a:r>
            <a:r>
              <a:rPr lang="en-US" sz="1800" dirty="0" smtClean="0"/>
              <a:t>SIGTERM</a:t>
            </a:r>
            <a:r>
              <a:rPr lang="bg-BG" sz="1800" dirty="0" smtClean="0"/>
              <a:t> (по подразбиране)</a:t>
            </a:r>
          </a:p>
          <a:p>
            <a:pPr lvl="1"/>
            <a:r>
              <a:rPr lang="en-US" sz="1800" dirty="0"/>
              <a:t>kill </a:t>
            </a:r>
            <a:r>
              <a:rPr lang="bg-BG" sz="1800" dirty="0" smtClean="0"/>
              <a:t>-&lt;</a:t>
            </a:r>
            <a:r>
              <a:rPr lang="en-US" sz="1800" dirty="0" smtClean="0"/>
              <a:t>signal number&gt; </a:t>
            </a:r>
            <a:r>
              <a:rPr lang="en-US" sz="1800" dirty="0"/>
              <a:t>&lt;PID&gt; </a:t>
            </a:r>
            <a:r>
              <a:rPr lang="en-US" sz="1800" dirty="0" smtClean="0"/>
              <a:t>-&gt; </a:t>
            </a:r>
            <a:r>
              <a:rPr lang="bg-BG" sz="1800" dirty="0"/>
              <a:t>изпращане на </a:t>
            </a:r>
            <a:r>
              <a:rPr lang="bg-BG" sz="1800" dirty="0" smtClean="0"/>
              <a:t>друг сигнал от разрешените</a:t>
            </a:r>
          </a:p>
          <a:p>
            <a:pPr lvl="1"/>
            <a:r>
              <a:rPr lang="en-US" sz="1800" dirty="0" smtClean="0"/>
              <a:t>kill –l  -&gt; </a:t>
            </a:r>
            <a:r>
              <a:rPr lang="bg-BG" sz="1800" dirty="0" smtClean="0"/>
              <a:t>разпечатва таблицата с достъпните сигнали</a:t>
            </a:r>
            <a:r>
              <a:rPr lang="en-US" sz="1800" dirty="0" smtClean="0"/>
              <a:t>	</a:t>
            </a:r>
            <a:endParaRPr lang="ru-RU" sz="1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12" y="2016900"/>
            <a:ext cx="3082666" cy="61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212" y="1175055"/>
            <a:ext cx="3226223" cy="61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212" y="3885946"/>
            <a:ext cx="3421934" cy="61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212" y="3082487"/>
            <a:ext cx="3421934" cy="61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412" y="4568387"/>
            <a:ext cx="3421934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1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Идентификация на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Получаване на информация за всички процеси</a:t>
            </a:r>
            <a:endParaRPr lang="bg-BG" sz="2400" dirty="0"/>
          </a:p>
          <a:p>
            <a:pPr marL="438150" lvl="1" indent="0">
              <a:buNone/>
            </a:pPr>
            <a:endParaRPr lang="bg-BG" sz="1800" dirty="0" smtClean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sz="2400" dirty="0" smtClean="0"/>
              <a:t>Статус на процесите</a:t>
            </a:r>
          </a:p>
          <a:p>
            <a:pPr lvl="1"/>
            <a:r>
              <a:rPr lang="bg-BG" sz="2000" dirty="0"/>
              <a:t>За конкретен потребител:  </a:t>
            </a:r>
            <a:r>
              <a:rPr lang="en-US" sz="2000" dirty="0" err="1"/>
              <a:t>ps</a:t>
            </a:r>
            <a:r>
              <a:rPr lang="en-US" sz="2000" dirty="0"/>
              <a:t> </a:t>
            </a:r>
            <a:r>
              <a:rPr lang="en-US" sz="2000" dirty="0" err="1"/>
              <a:t>ux</a:t>
            </a:r>
            <a:endParaRPr lang="en-US" sz="2000" dirty="0"/>
          </a:p>
          <a:p>
            <a:pPr lvl="1"/>
            <a:r>
              <a:rPr lang="bg-BG" sz="2000" dirty="0"/>
              <a:t>За конкретен процес: </a:t>
            </a:r>
            <a:r>
              <a:rPr lang="en-US" sz="2000" dirty="0" err="1"/>
              <a:t>ps</a:t>
            </a:r>
            <a:r>
              <a:rPr lang="en-US" sz="2000" dirty="0"/>
              <a:t> &lt;PID&gt;</a:t>
            </a:r>
            <a:endParaRPr lang="bg-BG" sz="2000" dirty="0"/>
          </a:p>
          <a:p>
            <a:pPr lvl="1"/>
            <a:r>
              <a:rPr lang="bg-BG" sz="2000" dirty="0"/>
              <a:t>Пълна информация: </a:t>
            </a:r>
            <a:r>
              <a:rPr lang="en-US" sz="2000" dirty="0" err="1"/>
              <a:t>ps</a:t>
            </a:r>
            <a:r>
              <a:rPr lang="en-US" sz="2000" dirty="0"/>
              <a:t> -f</a:t>
            </a:r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sz="2400" dirty="0" smtClean="0"/>
              <a:t>Промяна на приоритет при стартиране</a:t>
            </a:r>
          </a:p>
          <a:p>
            <a:pPr lvl="1"/>
            <a:r>
              <a:rPr lang="ru-RU" sz="2000" dirty="0" smtClean="0"/>
              <a:t>Приотет (високо-ниско): -20  ÷  +19</a:t>
            </a:r>
            <a:endParaRPr lang="en-US" sz="2000" dirty="0" smtClean="0"/>
          </a:p>
          <a:p>
            <a:pPr lvl="1"/>
            <a:r>
              <a:rPr lang="en-US" sz="2000" dirty="0" smtClean="0"/>
              <a:t>Default = 0</a:t>
            </a:r>
            <a:endParaRPr lang="ru-RU" sz="2000" dirty="0" smtClean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sz="2400" dirty="0"/>
              <a:t>Промяна на приоритет </a:t>
            </a:r>
            <a:r>
              <a:rPr lang="bg-BG" sz="2400" dirty="0" smtClean="0"/>
              <a:t>на стартиран процес</a:t>
            </a:r>
            <a:endParaRPr lang="en-US" sz="2400" dirty="0" smtClean="0"/>
          </a:p>
          <a:p>
            <a:pPr lvl="1"/>
            <a:r>
              <a:rPr lang="bg-BG" sz="2000" dirty="0"/>
              <a:t>За конкретен процес:   </a:t>
            </a:r>
            <a:r>
              <a:rPr lang="en-US" sz="2000" dirty="0" err="1"/>
              <a:t>renice</a:t>
            </a:r>
            <a:r>
              <a:rPr lang="en-US" sz="2000" dirty="0"/>
              <a:t> –n &lt;priority&gt; -p &lt;PID</a:t>
            </a:r>
            <a:r>
              <a:rPr lang="en-US" sz="2000" dirty="0" smtClean="0"/>
              <a:t>&gt;</a:t>
            </a:r>
          </a:p>
          <a:p>
            <a:pPr lvl="1"/>
            <a:r>
              <a:rPr lang="bg-BG" sz="2000" dirty="0" smtClean="0"/>
              <a:t>За конкретна група: </a:t>
            </a:r>
            <a:r>
              <a:rPr lang="en-US" sz="2000" dirty="0" err="1"/>
              <a:t>renice</a:t>
            </a:r>
            <a:r>
              <a:rPr lang="en-US" sz="2000" dirty="0"/>
              <a:t> –n &lt;priority&gt; </a:t>
            </a:r>
            <a:r>
              <a:rPr lang="en-US" sz="2000" dirty="0" smtClean="0"/>
              <a:t>-g &lt;number&gt;</a:t>
            </a:r>
            <a:endParaRPr lang="en-US" sz="2000" dirty="0"/>
          </a:p>
          <a:p>
            <a:pPr lvl="1"/>
            <a:r>
              <a:rPr lang="bg-BG" sz="2000" dirty="0"/>
              <a:t>За </a:t>
            </a:r>
            <a:r>
              <a:rPr lang="bg-BG" sz="2000" dirty="0" smtClean="0"/>
              <a:t>конкретен потребител: </a:t>
            </a:r>
            <a:r>
              <a:rPr lang="en-US" sz="2000" dirty="0" err="1"/>
              <a:t>renice</a:t>
            </a:r>
            <a:r>
              <a:rPr lang="en-US" sz="2000" dirty="0"/>
              <a:t> –n &lt;priority&gt; </a:t>
            </a:r>
            <a:r>
              <a:rPr lang="en-US" sz="2000" dirty="0" smtClean="0"/>
              <a:t>-u </a:t>
            </a:r>
            <a:r>
              <a:rPr lang="en-US" sz="2000" dirty="0"/>
              <a:t>&lt;number&gt;</a:t>
            </a:r>
          </a:p>
          <a:p>
            <a:pPr lvl="1"/>
            <a:endParaRPr lang="bg-BG" sz="2000" dirty="0"/>
          </a:p>
          <a:p>
            <a:endParaRPr lang="ru-RU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412" y="1224147"/>
            <a:ext cx="3226223" cy="61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2133600"/>
            <a:ext cx="3226223" cy="61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78" y="3582673"/>
            <a:ext cx="3421934" cy="61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412" y="4725746"/>
            <a:ext cx="3421934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0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Системното извикване </a:t>
            </a:r>
            <a:r>
              <a:rPr lang="en-US" sz="2800" dirty="0" smtClean="0"/>
              <a:t>f</a:t>
            </a:r>
            <a:r>
              <a:rPr lang="bg-BG" sz="2800" dirty="0" err="1" smtClean="0"/>
              <a:t>ork</a:t>
            </a:r>
            <a:r>
              <a:rPr lang="en-US" sz="2800" dirty="0" smtClean="0"/>
              <a:t>()</a:t>
            </a:r>
            <a:r>
              <a:rPr lang="bg-BG" sz="2800" dirty="0" smtClean="0"/>
              <a:t> се използва за създаване на нов процес</a:t>
            </a:r>
            <a:r>
              <a:rPr lang="en-US" sz="2800" dirty="0" smtClean="0"/>
              <a:t> (</a:t>
            </a:r>
            <a:r>
              <a:rPr lang="bg-BG" sz="2800" dirty="0" smtClean="0"/>
              <a:t>т.нар. „дъщерен процес“), който се изпълнява едновременно със създалия го процес (т.нар.  родителския процес). </a:t>
            </a:r>
          </a:p>
          <a:p>
            <a:pPr lvl="1"/>
            <a:r>
              <a:rPr lang="bg-BG" sz="2400" dirty="0" smtClean="0"/>
              <a:t>На практика, това е операция </a:t>
            </a:r>
            <a:r>
              <a:rPr lang="bg-BG" sz="2400" dirty="0"/>
              <a:t>за клониране, която взема текущия процес, </a:t>
            </a:r>
            <a:r>
              <a:rPr lang="bg-BG" sz="2400" dirty="0" smtClean="0"/>
              <a:t>(т.е. родителския процес) </a:t>
            </a:r>
            <a:r>
              <a:rPr lang="bg-BG" sz="2400" dirty="0"/>
              <a:t>и го клонира в нов </a:t>
            </a:r>
            <a:r>
              <a:rPr lang="bg-BG" sz="2400" dirty="0" smtClean="0"/>
              <a:t>процес, който има нов </a:t>
            </a:r>
            <a:r>
              <a:rPr lang="en-US" sz="2400" dirty="0" smtClean="0"/>
              <a:t>PID</a:t>
            </a:r>
            <a:r>
              <a:rPr lang="bg-BG" sz="2400" dirty="0" smtClean="0"/>
              <a:t>.</a:t>
            </a:r>
            <a:endParaRPr lang="bg-BG" sz="2400" dirty="0"/>
          </a:p>
          <a:p>
            <a:pPr lvl="2"/>
            <a:r>
              <a:rPr lang="bg-BG" sz="2000" dirty="0" smtClean="0"/>
              <a:t>След като бъде създаден нов процес-дете, и двата процеса ще изпълнят следващата инструкция след системното извикване </a:t>
            </a:r>
            <a:r>
              <a:rPr lang="bg-BG" sz="2000" dirty="0" err="1" smtClean="0"/>
              <a:t>fork</a:t>
            </a:r>
            <a:r>
              <a:rPr lang="bg-BG" sz="2000" dirty="0" smtClean="0"/>
              <a:t>(). </a:t>
            </a:r>
          </a:p>
          <a:p>
            <a:pPr lvl="1"/>
            <a:r>
              <a:rPr lang="bg-BG" sz="2400" dirty="0"/>
              <a:t>При разклоняването всичко се копира от родителския процес: </a:t>
            </a:r>
          </a:p>
          <a:p>
            <a:pPr lvl="2"/>
            <a:r>
              <a:rPr lang="bg-BG" sz="2000" dirty="0" smtClean="0"/>
              <a:t>Това се отнася за програмен </a:t>
            </a:r>
            <a:r>
              <a:rPr lang="bg-BG" sz="2000" dirty="0"/>
              <a:t>брояч, </a:t>
            </a:r>
            <a:r>
              <a:rPr lang="bg-BG" sz="2000" dirty="0" smtClean="0"/>
              <a:t>регистри </a:t>
            </a:r>
            <a:r>
              <a:rPr lang="bg-BG" sz="2000" dirty="0"/>
              <a:t>на </a:t>
            </a:r>
            <a:r>
              <a:rPr lang="bg-BG" sz="2000" dirty="0" smtClean="0"/>
              <a:t>процесора</a:t>
            </a:r>
            <a:r>
              <a:rPr lang="en-US" sz="2000" dirty="0" smtClean="0"/>
              <a:t>,</a:t>
            </a:r>
            <a:r>
              <a:rPr lang="bg-BG" sz="2000" dirty="0" smtClean="0"/>
              <a:t> </a:t>
            </a:r>
            <a:r>
              <a:rPr lang="bg-BG" sz="2000" dirty="0"/>
              <a:t>с</a:t>
            </a:r>
            <a:r>
              <a:rPr lang="bg-BG" sz="2000" dirty="0" smtClean="0"/>
              <a:t>тек</a:t>
            </a:r>
            <a:r>
              <a:rPr lang="bg-BG" sz="2000" dirty="0"/>
              <a:t>, </a:t>
            </a:r>
            <a:r>
              <a:rPr lang="bg-BG" sz="2000" dirty="0" err="1"/>
              <a:t>хийп</a:t>
            </a:r>
            <a:r>
              <a:rPr lang="bg-BG" sz="2000" dirty="0"/>
              <a:t>, файловите дескриптори (</a:t>
            </a:r>
            <a:r>
              <a:rPr lang="en-US" sz="2000" dirty="0" err="1"/>
              <a:t>stdin</a:t>
            </a:r>
            <a:r>
              <a:rPr lang="bg-BG" sz="2000" dirty="0"/>
              <a:t>, </a:t>
            </a:r>
            <a:r>
              <a:rPr lang="en-US" sz="2000" dirty="0" err="1"/>
              <a:t>stdout</a:t>
            </a:r>
            <a:r>
              <a:rPr lang="en-US" sz="2000" dirty="0"/>
              <a:t> </a:t>
            </a:r>
            <a:r>
              <a:rPr lang="bg-BG" sz="2000" dirty="0"/>
              <a:t>и </a:t>
            </a:r>
            <a:r>
              <a:rPr lang="en-US" sz="2000" dirty="0" err="1"/>
              <a:t>stderr</a:t>
            </a:r>
            <a:r>
              <a:rPr lang="bg-BG" sz="2000" dirty="0"/>
              <a:t>).</a:t>
            </a:r>
          </a:p>
          <a:p>
            <a:pPr lvl="2"/>
            <a:r>
              <a:rPr lang="bg-BG" sz="2000" dirty="0"/>
              <a:t>Ако родителският ми процес е писал в текущата конзола на </a:t>
            </a:r>
            <a:r>
              <a:rPr lang="bg-BG" sz="2000" dirty="0" err="1"/>
              <a:t>шела</a:t>
            </a:r>
            <a:r>
              <a:rPr lang="bg-BG" sz="2000" dirty="0"/>
              <a:t>, дъщерният процес също ще пише в конзолата на </a:t>
            </a:r>
            <a:r>
              <a:rPr lang="bg-BG" sz="2000" dirty="0" err="1"/>
              <a:t>шела</a:t>
            </a:r>
            <a:r>
              <a:rPr lang="bg-BG" sz="2000" dirty="0" smtClean="0"/>
              <a:t>.</a:t>
            </a:r>
          </a:p>
          <a:p>
            <a:pPr lvl="2"/>
            <a:r>
              <a:rPr lang="bg-BG" sz="2000" dirty="0" smtClean="0"/>
              <a:t>Независимо от копирането, двата процеса имат </a:t>
            </a:r>
            <a:r>
              <a:rPr lang="bg-BG" sz="2000" b="1" i="1" dirty="0" smtClean="0"/>
              <a:t>различни адресни пространства</a:t>
            </a:r>
            <a:r>
              <a:rPr lang="bg-BG" sz="2000" dirty="0" smtClean="0"/>
              <a:t>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7668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800" dirty="0"/>
              <a:t>Системното извикване </a:t>
            </a:r>
            <a:r>
              <a:rPr lang="en-US" sz="2800" dirty="0"/>
              <a:t>f</a:t>
            </a:r>
            <a:r>
              <a:rPr lang="bg-BG" sz="2800" dirty="0" err="1"/>
              <a:t>ork</a:t>
            </a:r>
            <a:r>
              <a:rPr lang="en-US" sz="2800" dirty="0"/>
              <a:t>()</a:t>
            </a:r>
            <a:r>
              <a:rPr lang="bg-BG" sz="2800" dirty="0"/>
              <a:t> се използва за създаване на нов процес</a:t>
            </a:r>
            <a:r>
              <a:rPr lang="en-US" sz="2800" dirty="0"/>
              <a:t> (</a:t>
            </a:r>
            <a:r>
              <a:rPr lang="bg-BG" sz="2800" dirty="0"/>
              <a:t>т.нар. „дъщерен процес“), който се изпълнява едновременно със създалия го процес (т.нар.  родителския процес). </a:t>
            </a:r>
          </a:p>
          <a:p>
            <a:endParaRPr lang="bg-BG" dirty="0"/>
          </a:p>
        </p:txBody>
      </p:sp>
      <p:pic>
        <p:nvPicPr>
          <p:cNvPr id="1026" name="Picture 2" descr="Process forking on Lin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12" y="2659208"/>
            <a:ext cx="4129680" cy="389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6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/>
              <a:t>Системното извикване </a:t>
            </a:r>
            <a:r>
              <a:rPr lang="en-US" sz="2800" dirty="0"/>
              <a:t>f</a:t>
            </a:r>
            <a:r>
              <a:rPr lang="bg-BG" sz="2800" dirty="0" err="1"/>
              <a:t>ork</a:t>
            </a:r>
            <a:r>
              <a:rPr lang="en-US" sz="2800" dirty="0"/>
              <a:t>()</a:t>
            </a:r>
            <a:r>
              <a:rPr lang="bg-BG" sz="2800" dirty="0"/>
              <a:t> се използва за създаване на нов процес</a:t>
            </a:r>
            <a:r>
              <a:rPr lang="en-US" sz="2800" dirty="0"/>
              <a:t> (</a:t>
            </a:r>
            <a:r>
              <a:rPr lang="bg-BG" sz="2800" dirty="0"/>
              <a:t>т.нар. „дъщерен процес“), който се изпълнява едновременно със създалия го процес (т.нар.  родителския процес). </a:t>
            </a:r>
            <a:endParaRPr lang="bg-BG" sz="2800" dirty="0" smtClean="0"/>
          </a:p>
          <a:p>
            <a:pPr lvl="1"/>
            <a:r>
              <a:rPr lang="bg-BG" sz="2400" dirty="0" smtClean="0"/>
              <a:t>Дъщерният </a:t>
            </a:r>
            <a:r>
              <a:rPr lang="bg-BG" sz="2400" dirty="0"/>
              <a:t>процес</a:t>
            </a:r>
            <a:r>
              <a:rPr lang="bg-BG" sz="2400" dirty="0" smtClean="0"/>
              <a:t> не приема параметри.</a:t>
            </a:r>
          </a:p>
          <a:p>
            <a:pPr lvl="1"/>
            <a:r>
              <a:rPr lang="bg-BG" sz="2400" dirty="0"/>
              <a:t>Дъщерният процес</a:t>
            </a:r>
            <a:r>
              <a:rPr lang="bg-BG" sz="2400" dirty="0" smtClean="0"/>
              <a:t> връща целочислена стойност:</a:t>
            </a:r>
          </a:p>
          <a:p>
            <a:pPr lvl="2"/>
            <a:r>
              <a:rPr lang="bg-BG" sz="2000" dirty="0" smtClean="0"/>
              <a:t>Отрицателна стойност: създаването на дъщерен процес е било неуспешно. </a:t>
            </a:r>
          </a:p>
          <a:p>
            <a:pPr lvl="2"/>
            <a:r>
              <a:rPr lang="bg-BG" sz="2000" dirty="0" smtClean="0"/>
              <a:t>Нулева стойност: Връща се на новосъздадения дъщерен процес. </a:t>
            </a:r>
          </a:p>
          <a:p>
            <a:pPr lvl="2"/>
            <a:r>
              <a:rPr lang="bg-BG" sz="2000" dirty="0" smtClean="0"/>
              <a:t>Положителна стойност: Връща се на родителя или на викащия процес - стойността съдържа идентификатора на процеса на новосъздадения дъщерен процес.</a:t>
            </a:r>
          </a:p>
          <a:p>
            <a:pPr lvl="1"/>
            <a:r>
              <a:rPr lang="ru-RU" sz="2400" dirty="0"/>
              <a:t>След създаването на </a:t>
            </a:r>
            <a:r>
              <a:rPr lang="bg-BG" sz="2400" dirty="0"/>
              <a:t>дъщерния</a:t>
            </a:r>
            <a:r>
              <a:rPr lang="ru-RU" sz="2400" dirty="0"/>
              <a:t> процес, двата </a:t>
            </a:r>
            <a:r>
              <a:rPr lang="ru-RU" sz="2400" dirty="0" smtClean="0"/>
              <a:t>процеса </a:t>
            </a:r>
            <a:r>
              <a:rPr lang="ru-RU" sz="2400" dirty="0"/>
              <a:t>(родителски и дъщерен) започват изпълнението си от следващия оператор след </a:t>
            </a:r>
            <a:r>
              <a:rPr lang="ru-RU" sz="2400" i="1" dirty="0"/>
              <a:t>fork</a:t>
            </a:r>
            <a:r>
              <a:rPr lang="ru-RU" sz="2400" i="1" dirty="0" smtClean="0"/>
              <a:t>().</a:t>
            </a:r>
          </a:p>
          <a:p>
            <a:pPr lvl="2"/>
            <a:r>
              <a:rPr lang="ru-RU" sz="2000" dirty="0" smtClean="0"/>
              <a:t>Двата процеса </a:t>
            </a:r>
            <a:r>
              <a:rPr lang="ru-RU" sz="2000" dirty="0"/>
              <a:t>се изпълняват едновременно</a:t>
            </a:r>
            <a:r>
              <a:rPr lang="ru-RU" sz="2000" dirty="0" smtClean="0"/>
              <a:t>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41145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Пример: </a:t>
            </a:r>
            <a:endParaRPr lang="bg-BG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612" y="1260645"/>
            <a:ext cx="7137133" cy="53151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12" y="1371600"/>
            <a:ext cx="4920636" cy="105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2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Пример: </a:t>
            </a:r>
            <a:endParaRPr lang="bg-BG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612" y="177801"/>
            <a:ext cx="5258534" cy="6584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916" y="880137"/>
            <a:ext cx="4571266" cy="267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5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Пример: </a:t>
            </a:r>
            <a:endParaRPr lang="bg-BG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12" y="2147650"/>
            <a:ext cx="4591691" cy="3400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212" y="1914452"/>
            <a:ext cx="2343477" cy="104789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5561012" y="2438400"/>
            <a:ext cx="914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5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Пример: </a:t>
            </a:r>
            <a:endParaRPr lang="bg-BG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12" y="1914452"/>
            <a:ext cx="4591691" cy="340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22" y="2115256"/>
            <a:ext cx="1733792" cy="290553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494212" y="2514600"/>
            <a:ext cx="527664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9638914" y="970062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 smtClean="0">
                <a:solidFill>
                  <a:schemeClr val="tx1"/>
                </a:solidFill>
              </a:rPr>
              <a:t>0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04191" y="2195689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 smtClean="0">
                <a:solidFill>
                  <a:schemeClr val="tx1"/>
                </a:solidFill>
              </a:rPr>
              <a:t>1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38914" y="2190045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73637" y="2195689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314" y="3486362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5037" y="3480718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 smtClean="0">
                <a:solidFill>
                  <a:schemeClr val="tx1"/>
                </a:solidFill>
              </a:rPr>
              <a:t>6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860760" y="3476060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 smtClean="0">
                <a:solidFill>
                  <a:schemeClr val="tx1"/>
                </a:solidFill>
              </a:rPr>
              <a:t>5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23191" y="4580431"/>
            <a:ext cx="762000" cy="466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P</a:t>
            </a:r>
            <a:r>
              <a:rPr lang="en-US" sz="2000" b="1" baseline="-25000" dirty="0" smtClean="0">
                <a:solidFill>
                  <a:schemeClr val="tx1"/>
                </a:solidFill>
              </a:rPr>
              <a:t>7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959753" y="1579902"/>
            <a:ext cx="638804" cy="549564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8273050" y="2770519"/>
            <a:ext cx="469071" cy="649045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0567664" y="1579902"/>
            <a:ext cx="632529" cy="535354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10035717" y="1579902"/>
            <a:ext cx="6227" cy="549564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1217988" y="2802170"/>
            <a:ext cx="0" cy="534613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959753" y="2770519"/>
            <a:ext cx="638204" cy="566264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391314" y="3995532"/>
            <a:ext cx="0" cy="534613"/>
          </a:xfrm>
          <a:prstGeom prst="straightConnector1">
            <a:avLst/>
          </a:prstGeom>
          <a:ln w="31750">
            <a:solidFill>
              <a:schemeClr val="tx1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598612" y="3419565"/>
            <a:ext cx="1295400" cy="314236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592176" y="3701052"/>
            <a:ext cx="1295400" cy="314236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579299" y="3949069"/>
            <a:ext cx="1295400" cy="314236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/>
          <p:nvPr/>
        </p:nvSpPr>
        <p:spPr>
          <a:xfrm>
            <a:off x="8192234" y="1054185"/>
            <a:ext cx="527664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6" grpId="0" animBg="1"/>
      <p:bldP spid="36" grpId="1" animBg="1"/>
      <p:bldP spid="37" grpId="0" animBg="1"/>
      <p:bldP spid="37" grpId="1" animBg="1"/>
      <p:bldP spid="38" grpId="0" animBg="1"/>
      <p:bldP spid="3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Пример: </a:t>
            </a:r>
            <a:endParaRPr lang="bg-BG" sz="2800" dirty="0"/>
          </a:p>
        </p:txBody>
      </p:sp>
      <p:sp>
        <p:nvSpPr>
          <p:cNvPr id="6" name="Right Arrow 5"/>
          <p:cNvSpPr/>
          <p:nvPr/>
        </p:nvSpPr>
        <p:spPr>
          <a:xfrm>
            <a:off x="7381459" y="3280833"/>
            <a:ext cx="60874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381459" y="5029200"/>
            <a:ext cx="60874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1828800"/>
            <a:ext cx="5077534" cy="45726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267" y="3056943"/>
            <a:ext cx="2305372" cy="7525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324" y="4805310"/>
            <a:ext cx="2305372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3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fork()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Пример:</a:t>
            </a:r>
            <a:r>
              <a:rPr lang="bg-BG" sz="2800" dirty="0"/>
              <a:t> </a:t>
            </a:r>
            <a:r>
              <a:rPr lang="bg-BG" sz="2800" dirty="0" smtClean="0"/>
              <a:t>осиротял процес</a:t>
            </a:r>
            <a:endParaRPr lang="en-US" sz="2800" dirty="0" smtClean="0"/>
          </a:p>
          <a:p>
            <a:pPr lvl="1"/>
            <a:endParaRPr lang="bg-BG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8268" y="0"/>
            <a:ext cx="6839905" cy="67636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173" y="762000"/>
            <a:ext cx="3460261" cy="3200400"/>
          </a:xfrm>
          <a:prstGeom prst="rect">
            <a:avLst/>
          </a:prstGeom>
        </p:spPr>
      </p:pic>
      <p:sp>
        <p:nvSpPr>
          <p:cNvPr id="7" name="Notched Right Arrow 6"/>
          <p:cNvSpPr/>
          <p:nvPr/>
        </p:nvSpPr>
        <p:spPr>
          <a:xfrm rot="20371698">
            <a:off x="4619297" y="1653748"/>
            <a:ext cx="2693327" cy="1718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otched Right Arrow 11"/>
          <p:cNvSpPr/>
          <p:nvPr/>
        </p:nvSpPr>
        <p:spPr>
          <a:xfrm rot="20256231">
            <a:off x="4754572" y="2777993"/>
            <a:ext cx="2693327" cy="1718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Notched Right Arrow 12"/>
          <p:cNvSpPr/>
          <p:nvPr/>
        </p:nvSpPr>
        <p:spPr>
          <a:xfrm rot="19999215">
            <a:off x="4818827" y="4106288"/>
            <a:ext cx="2693327" cy="1718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vfork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</a:t>
            </a:r>
            <a:r>
              <a:rPr lang="ru-RU" sz="2800" dirty="0" smtClean="0"/>
              <a:t>fork</a:t>
            </a:r>
            <a:r>
              <a:rPr lang="ru-RU" sz="2800" dirty="0"/>
              <a:t>() </a:t>
            </a:r>
            <a:r>
              <a:rPr lang="ru-RU" sz="2800" dirty="0" smtClean="0"/>
              <a:t>е </a:t>
            </a:r>
            <a:r>
              <a:rPr lang="bg-BG" sz="2800" dirty="0" smtClean="0"/>
              <a:t>друго </a:t>
            </a:r>
            <a:r>
              <a:rPr lang="ru-RU" sz="2800" dirty="0" smtClean="0"/>
              <a:t>системно </a:t>
            </a:r>
            <a:r>
              <a:rPr lang="ru-RU" sz="2800" dirty="0"/>
              <a:t>извикване, което се използва за създаване на нов процес. </a:t>
            </a:r>
            <a:endParaRPr lang="ru-RU" sz="2800" dirty="0" smtClean="0"/>
          </a:p>
          <a:p>
            <a:pPr lvl="1"/>
            <a:r>
              <a:rPr lang="ru-RU" sz="2400" dirty="0" smtClean="0"/>
              <a:t>Кодът </a:t>
            </a:r>
            <a:r>
              <a:rPr lang="ru-RU" sz="2400" dirty="0"/>
              <a:t>на </a:t>
            </a:r>
            <a:r>
              <a:rPr lang="ru-RU" sz="2400" dirty="0" smtClean="0"/>
              <a:t>дъщерния процес </a:t>
            </a:r>
            <a:r>
              <a:rPr lang="ru-RU" sz="2400" dirty="0"/>
              <a:t>е същият като кода на родителския </a:t>
            </a:r>
            <a:r>
              <a:rPr lang="ru-RU" sz="2400" dirty="0" smtClean="0"/>
              <a:t>процес, т.е. </a:t>
            </a:r>
            <a:r>
              <a:rPr lang="bg-BG" sz="2400" dirty="0"/>
              <a:t>т</a:t>
            </a:r>
            <a:r>
              <a:rPr lang="ru-RU" sz="2400" dirty="0" smtClean="0"/>
              <a:t>ова е като при </a:t>
            </a:r>
            <a:r>
              <a:rPr lang="en-US" sz="2400" dirty="0" smtClean="0"/>
              <a:t>fork().</a:t>
            </a:r>
            <a:endParaRPr lang="ru-RU" sz="2400" dirty="0" smtClean="0"/>
          </a:p>
          <a:p>
            <a:pPr lvl="1"/>
            <a:r>
              <a:rPr lang="ru-RU" sz="2400" dirty="0" smtClean="0"/>
              <a:t>Д</a:t>
            </a:r>
            <a:r>
              <a:rPr lang="ru-RU" sz="2400" dirty="0"/>
              <a:t>ъщерни</a:t>
            </a:r>
            <a:r>
              <a:rPr lang="ru-RU" sz="2400" dirty="0" smtClean="0"/>
              <a:t>ят </a:t>
            </a:r>
            <a:r>
              <a:rPr lang="ru-RU" sz="2400" dirty="0"/>
              <a:t>процес спира изпълнението на родителския процес, докато </a:t>
            </a:r>
            <a:r>
              <a:rPr lang="ru-RU" sz="2400" dirty="0" smtClean="0"/>
              <a:t>не </a:t>
            </a:r>
            <a:r>
              <a:rPr lang="ru-RU" sz="2400" dirty="0"/>
              <a:t>завърши изпълнението </a:t>
            </a:r>
            <a:r>
              <a:rPr lang="ru-RU" sz="2400" dirty="0" smtClean="0"/>
              <a:t>си.</a:t>
            </a:r>
          </a:p>
          <a:p>
            <a:pPr lvl="2"/>
            <a:r>
              <a:rPr lang="ru-RU" sz="2000" dirty="0" smtClean="0"/>
              <a:t>Двата процеса </a:t>
            </a:r>
            <a:r>
              <a:rPr lang="ru-RU" sz="2000" dirty="0"/>
              <a:t>споделят едно и също адресно </a:t>
            </a:r>
            <a:r>
              <a:rPr lang="ru-RU" sz="2000" dirty="0" smtClean="0"/>
              <a:t>пространство: това е голямата разлика с </a:t>
            </a:r>
            <a:r>
              <a:rPr lang="en-US" sz="2000" dirty="0"/>
              <a:t>fork</a:t>
            </a:r>
            <a:r>
              <a:rPr lang="en-US" sz="2000" dirty="0" smtClean="0"/>
              <a:t>().</a:t>
            </a:r>
            <a:endParaRPr lang="bg-BG" sz="2000" dirty="0" smtClean="0"/>
          </a:p>
          <a:p>
            <a:pPr lvl="2"/>
            <a:r>
              <a:rPr lang="bg-BG" sz="2000" dirty="0" smtClean="0"/>
              <a:t>Родителският процес се възстановява </a:t>
            </a:r>
            <a:r>
              <a:rPr lang="bg-BG" sz="2000" b="1" i="1" dirty="0" smtClean="0"/>
              <a:t>след завършване </a:t>
            </a:r>
            <a:r>
              <a:rPr lang="bg-BG" sz="2000" dirty="0" smtClean="0"/>
              <a:t>на дъщерния процес.</a:t>
            </a:r>
          </a:p>
          <a:p>
            <a:pPr lvl="2"/>
            <a:r>
              <a:rPr lang="bg-BG" sz="2000" dirty="0" smtClean="0"/>
              <a:t>Предимство: н</a:t>
            </a:r>
            <a:r>
              <a:rPr lang="ru-RU" sz="2000" dirty="0" smtClean="0"/>
              <a:t>е </a:t>
            </a:r>
            <a:r>
              <a:rPr lang="ru-RU" sz="2000" dirty="0"/>
              <a:t>се губи адресно пространство</a:t>
            </a:r>
            <a:r>
              <a:rPr lang="ru-RU" sz="2000" dirty="0" smtClean="0"/>
              <a:t>.</a:t>
            </a:r>
            <a:endParaRPr lang="bg-BG" sz="2000" dirty="0" smtClean="0"/>
          </a:p>
          <a:p>
            <a:pPr lvl="1"/>
            <a:r>
              <a:rPr lang="ru-RU" sz="2400" dirty="0"/>
              <a:t>Ако </a:t>
            </a:r>
            <a:r>
              <a:rPr lang="ru-RU" sz="2400" dirty="0" smtClean="0"/>
              <a:t>дъщерният </a:t>
            </a:r>
            <a:r>
              <a:rPr lang="ru-RU" sz="2400" dirty="0"/>
              <a:t>процес промени страница в адресното пространство, </a:t>
            </a:r>
            <a:r>
              <a:rPr lang="ru-RU" sz="2400" dirty="0" smtClean="0"/>
              <a:t>тази промяна е </a:t>
            </a:r>
            <a:r>
              <a:rPr lang="ru-RU" sz="2400" dirty="0"/>
              <a:t>видима за родителския процес.</a:t>
            </a:r>
            <a:endParaRPr lang="en-US" sz="2400" dirty="0"/>
          </a:p>
          <a:p>
            <a:pPr lvl="2"/>
            <a:r>
              <a:rPr lang="ru-RU" sz="2000" dirty="0" smtClean="0"/>
              <a:t>Страницата </a:t>
            </a:r>
            <a:r>
              <a:rPr lang="ru-RU" sz="2000" dirty="0"/>
              <a:t>на един процес се влияе от страницата на друг процес</a:t>
            </a:r>
            <a:r>
              <a:rPr lang="ru-RU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798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vfork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</a:t>
            </a:r>
            <a:r>
              <a:rPr lang="ru-RU" sz="2800" dirty="0" smtClean="0"/>
              <a:t>fork</a:t>
            </a:r>
            <a:r>
              <a:rPr lang="ru-RU" sz="2800" dirty="0"/>
              <a:t>() </a:t>
            </a:r>
            <a:r>
              <a:rPr lang="ru-RU" sz="2800" dirty="0" smtClean="0"/>
              <a:t>е </a:t>
            </a:r>
            <a:r>
              <a:rPr lang="bg-BG" sz="2800" dirty="0" smtClean="0"/>
              <a:t>друго </a:t>
            </a:r>
            <a:r>
              <a:rPr lang="ru-RU" sz="2800" dirty="0" smtClean="0"/>
              <a:t>системно </a:t>
            </a:r>
            <a:r>
              <a:rPr lang="ru-RU" sz="2800" dirty="0"/>
              <a:t>извикване, което се използва за създаване на нов процес. </a:t>
            </a:r>
            <a:endParaRPr lang="ru-RU" sz="2800" dirty="0" smtClean="0"/>
          </a:p>
          <a:p>
            <a:pPr lvl="1"/>
            <a:r>
              <a:rPr lang="ru-RU" sz="2400" dirty="0" smtClean="0"/>
              <a:t>Въведено</a:t>
            </a:r>
            <a:r>
              <a:rPr lang="en-US" sz="2400" dirty="0" smtClean="0"/>
              <a:t> e</a:t>
            </a:r>
            <a:r>
              <a:rPr lang="ru-RU" sz="2400" dirty="0" smtClean="0"/>
              <a:t> </a:t>
            </a:r>
            <a:r>
              <a:rPr lang="ru-RU" sz="2400" dirty="0"/>
              <a:t>за първи път в BSD </a:t>
            </a:r>
            <a:r>
              <a:rPr lang="ru-RU" sz="2400" dirty="0" smtClean="0"/>
              <a:t>v3.0</a:t>
            </a:r>
            <a:r>
              <a:rPr lang="en-US" sz="2400" dirty="0" smtClean="0"/>
              <a:t> </a:t>
            </a:r>
            <a:r>
              <a:rPr lang="bg-BG" sz="2400" dirty="0" smtClean="0"/>
              <a:t>като </a:t>
            </a:r>
            <a:r>
              <a:rPr lang="ru-RU" sz="2400" dirty="0" smtClean="0"/>
              <a:t>по-опростена </a:t>
            </a:r>
            <a:r>
              <a:rPr lang="ru-RU" sz="2400" dirty="0"/>
              <a:t>версия на системното извикване fork</a:t>
            </a:r>
            <a:r>
              <a:rPr lang="ru-RU" sz="2400" dirty="0" smtClean="0"/>
              <a:t>().</a:t>
            </a:r>
          </a:p>
          <a:p>
            <a:pPr lvl="2"/>
            <a:r>
              <a:rPr lang="ru-RU" sz="2000" dirty="0" smtClean="0"/>
              <a:t>Създава се нови </a:t>
            </a:r>
            <a:r>
              <a:rPr lang="ru-RU" sz="2000" dirty="0"/>
              <a:t>процеси, без да копира адресното пространство на родителския </a:t>
            </a:r>
            <a:r>
              <a:rPr lang="ru-RU" sz="2000" dirty="0" smtClean="0"/>
              <a:t>процес – това е </a:t>
            </a:r>
            <a:r>
              <a:rPr lang="ru-RU" sz="2000" dirty="0"/>
              <a:t>полезно при приложения, ориентирани към производителността.</a:t>
            </a:r>
          </a:p>
          <a:p>
            <a:pPr lvl="1"/>
            <a:r>
              <a:rPr lang="ru-RU" sz="2400" dirty="0" smtClean="0"/>
              <a:t>Функцията </a:t>
            </a:r>
            <a:r>
              <a:rPr lang="ru-RU" sz="2400" dirty="0"/>
              <a:t>vfork() действа като специален случай на системното извикване </a:t>
            </a:r>
            <a:r>
              <a:rPr lang="ru-RU" sz="2400" b="1" i="1" dirty="0"/>
              <a:t>clone()</a:t>
            </a:r>
            <a:r>
              <a:rPr lang="ru-RU" sz="2400" dirty="0"/>
              <a:t>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91461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vfork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  <a:endParaRPr lang="ru-RU" sz="20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1104900"/>
            <a:ext cx="8183279" cy="560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12" y="897635"/>
            <a:ext cx="5458587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1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exec()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bg-BG" sz="2800" dirty="0"/>
              <a:t>Фамилията функции </a:t>
            </a:r>
            <a:r>
              <a:rPr lang="bg-BG" sz="2800" dirty="0" err="1"/>
              <a:t>exec</a:t>
            </a:r>
            <a:r>
              <a:rPr lang="bg-BG" sz="2800" dirty="0"/>
              <a:t>() се използва в </a:t>
            </a:r>
            <a:r>
              <a:rPr lang="bg-BG" sz="2800" dirty="0" err="1"/>
              <a:t>Linux</a:t>
            </a:r>
            <a:r>
              <a:rPr lang="bg-BG" sz="2800" dirty="0"/>
              <a:t> за замяна на  текущия процес с друг процес. </a:t>
            </a:r>
          </a:p>
          <a:p>
            <a:pPr lvl="1"/>
            <a:r>
              <a:rPr lang="bg-BG" dirty="0"/>
              <a:t>За разлика от </a:t>
            </a:r>
            <a:r>
              <a:rPr lang="bg-BG" dirty="0" err="1"/>
              <a:t>fork</a:t>
            </a:r>
            <a:r>
              <a:rPr lang="bg-BG" dirty="0"/>
              <a:t>(), </a:t>
            </a:r>
            <a:r>
              <a:rPr lang="bg-BG" dirty="0" err="1"/>
              <a:t>exec</a:t>
            </a:r>
            <a:r>
              <a:rPr lang="bg-BG" dirty="0"/>
              <a:t>() заменя  набора от инструкции, които трябва да бъдат изпълнени.</a:t>
            </a:r>
          </a:p>
          <a:p>
            <a:pPr lvl="2"/>
            <a:r>
              <a:rPr lang="bg-BG" dirty="0"/>
              <a:t>Заменят се код, данни, стек, </a:t>
            </a:r>
            <a:r>
              <a:rPr lang="bg-BG" dirty="0" err="1"/>
              <a:t>хийп</a:t>
            </a:r>
            <a:r>
              <a:rPr lang="bg-BG" dirty="0"/>
              <a:t> с тези, необходими за стартираната програма.</a:t>
            </a:r>
          </a:p>
          <a:p>
            <a:pPr lvl="1"/>
            <a:r>
              <a:rPr lang="bg-BG" dirty="0" err="1"/>
              <a:t>exec</a:t>
            </a:r>
            <a:r>
              <a:rPr lang="bg-BG" dirty="0"/>
              <a:t>() стартира програма, която има изпълним код.</a:t>
            </a:r>
          </a:p>
          <a:p>
            <a:pPr lvl="2"/>
            <a:r>
              <a:rPr lang="bg-BG" dirty="0"/>
              <a:t>Програмата се зарежда в текущото пространство на процеса (стартирал </a:t>
            </a:r>
            <a:r>
              <a:rPr lang="en-US" dirty="0"/>
              <a:t>exec())</a:t>
            </a:r>
            <a:r>
              <a:rPr lang="bg-BG" dirty="0"/>
              <a:t> и се изпълнява от входната си точка. </a:t>
            </a:r>
          </a:p>
          <a:p>
            <a:pPr lvl="2"/>
            <a:r>
              <a:rPr lang="bg-BG" dirty="0"/>
              <a:t>Не се създава нов процес.</a:t>
            </a:r>
            <a:endParaRPr lang="en-US" dirty="0"/>
          </a:p>
          <a:p>
            <a:pPr lvl="1"/>
            <a:r>
              <a:rPr lang="bg-BG" dirty="0"/>
              <a:t>Това е системно извикване, докато </a:t>
            </a:r>
            <a:r>
              <a:rPr lang="en-US" dirty="0"/>
              <a:t>fork()</a:t>
            </a:r>
            <a:r>
              <a:rPr lang="bg-BG" dirty="0"/>
              <a:t> е библиотека.</a:t>
            </a:r>
          </a:p>
        </p:txBody>
      </p:sp>
    </p:spTree>
    <p:extLst>
      <p:ext uri="{BB962C8B-B14F-4D97-AF65-F5344CB8AC3E}">
        <p14:creationId xmlns:p14="http://schemas.microsoft.com/office/powerpoint/2010/main" val="106072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exec()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Фамилията функции </a:t>
            </a:r>
            <a:r>
              <a:rPr lang="bg-BG" sz="2800" dirty="0" err="1" smtClean="0"/>
              <a:t>exec</a:t>
            </a:r>
            <a:r>
              <a:rPr lang="bg-BG" sz="2800" dirty="0" smtClean="0"/>
              <a:t>() се използва в </a:t>
            </a:r>
            <a:r>
              <a:rPr lang="bg-BG" sz="2800" dirty="0" err="1" smtClean="0"/>
              <a:t>Linux</a:t>
            </a:r>
            <a:r>
              <a:rPr lang="bg-BG" sz="2800" dirty="0" smtClean="0"/>
              <a:t> за замяна на  текущия процес с друг процес. </a:t>
            </a:r>
          </a:p>
        </p:txBody>
      </p:sp>
      <p:pic>
        <p:nvPicPr>
          <p:cNvPr id="4" name="Picture 2" descr="Execute operation on Lin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412" y="2348745"/>
            <a:ext cx="6181725" cy="420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12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exec()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Фамилията функции </a:t>
            </a:r>
            <a:r>
              <a:rPr lang="bg-BG" sz="2800" dirty="0" err="1" smtClean="0"/>
              <a:t>exec</a:t>
            </a:r>
            <a:r>
              <a:rPr lang="bg-BG" sz="2800" dirty="0" smtClean="0"/>
              <a:t>() се използва в </a:t>
            </a:r>
            <a:r>
              <a:rPr lang="bg-BG" sz="2800" dirty="0" err="1" smtClean="0"/>
              <a:t>Linux</a:t>
            </a:r>
            <a:r>
              <a:rPr lang="bg-BG" sz="2800" dirty="0" smtClean="0"/>
              <a:t> за замяна на  текущия процес с друг процес. </a:t>
            </a:r>
          </a:p>
          <a:p>
            <a:pPr lvl="1"/>
            <a:r>
              <a:rPr lang="bg-BG" sz="2400" dirty="0" smtClean="0"/>
              <a:t>Фамилията </a:t>
            </a:r>
            <a:r>
              <a:rPr lang="bg-BG" sz="2400" dirty="0" err="1" smtClean="0"/>
              <a:t>exec</a:t>
            </a:r>
            <a:r>
              <a:rPr lang="bg-BG" sz="2400" dirty="0" smtClean="0"/>
              <a:t>() се състои от следните функции:</a:t>
            </a:r>
          </a:p>
          <a:p>
            <a:pPr lvl="2"/>
            <a:r>
              <a:rPr lang="bg-BG" sz="2000" dirty="0" err="1" smtClean="0"/>
              <a:t>int</a:t>
            </a:r>
            <a:r>
              <a:rPr lang="bg-BG" sz="2000" dirty="0" smtClean="0"/>
              <a:t> </a:t>
            </a:r>
            <a:r>
              <a:rPr lang="bg-BG" sz="2000" dirty="0" err="1" smtClean="0"/>
              <a:t>execl</a:t>
            </a:r>
            <a:r>
              <a:rPr lang="bg-BG" sz="2000" dirty="0" smtClean="0"/>
              <a:t>(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path</a:t>
            </a:r>
            <a:r>
              <a:rPr lang="bg-BG" sz="2000" dirty="0" smtClean="0"/>
              <a:t>, 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arg</a:t>
            </a:r>
            <a:r>
              <a:rPr lang="bg-BG" sz="2000" dirty="0" smtClean="0"/>
              <a:t>, ...);</a:t>
            </a:r>
          </a:p>
          <a:p>
            <a:pPr lvl="2"/>
            <a:r>
              <a:rPr lang="bg-BG" sz="2000" dirty="0" err="1" smtClean="0"/>
              <a:t>int</a:t>
            </a:r>
            <a:r>
              <a:rPr lang="bg-BG" sz="2000" dirty="0" smtClean="0"/>
              <a:t> </a:t>
            </a:r>
            <a:r>
              <a:rPr lang="bg-BG" sz="2000" dirty="0" err="1" smtClean="0"/>
              <a:t>execlp</a:t>
            </a:r>
            <a:r>
              <a:rPr lang="bg-BG" sz="2000" dirty="0" smtClean="0"/>
              <a:t>(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file</a:t>
            </a:r>
            <a:r>
              <a:rPr lang="bg-BG" sz="2000" dirty="0" smtClean="0"/>
              <a:t>, 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arg</a:t>
            </a:r>
            <a:r>
              <a:rPr lang="bg-BG" sz="2000" dirty="0" smtClean="0"/>
              <a:t>, ...);</a:t>
            </a:r>
          </a:p>
          <a:p>
            <a:pPr lvl="2"/>
            <a:r>
              <a:rPr lang="bg-BG" sz="2000" dirty="0" err="1" smtClean="0"/>
              <a:t>int</a:t>
            </a:r>
            <a:r>
              <a:rPr lang="bg-BG" sz="2000" dirty="0" smtClean="0"/>
              <a:t> </a:t>
            </a:r>
            <a:r>
              <a:rPr lang="bg-BG" sz="2000" dirty="0" err="1" smtClean="0"/>
              <a:t>execle</a:t>
            </a:r>
            <a:r>
              <a:rPr lang="bg-BG" sz="2000" dirty="0" smtClean="0"/>
              <a:t>(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path</a:t>
            </a:r>
            <a:r>
              <a:rPr lang="bg-BG" sz="2000" dirty="0" smtClean="0"/>
              <a:t>, 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arg</a:t>
            </a:r>
            <a:r>
              <a:rPr lang="bg-BG" sz="2000" dirty="0" smtClean="0"/>
              <a:t>, ..., </a:t>
            </a:r>
            <a:r>
              <a:rPr lang="bg-BG" sz="2000" dirty="0" err="1" smtClean="0"/>
              <a:t>char</a:t>
            </a:r>
            <a:r>
              <a:rPr lang="bg-BG" sz="2000" dirty="0" smtClean="0"/>
              <a:t> * 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envp</a:t>
            </a:r>
            <a:r>
              <a:rPr lang="bg-BG" sz="2000" dirty="0" smtClean="0"/>
              <a:t>[]);</a:t>
            </a:r>
          </a:p>
          <a:p>
            <a:pPr lvl="2"/>
            <a:r>
              <a:rPr lang="bg-BG" sz="2000" dirty="0" err="1" smtClean="0"/>
              <a:t>int</a:t>
            </a:r>
            <a:r>
              <a:rPr lang="bg-BG" sz="2000" dirty="0" smtClean="0"/>
              <a:t> </a:t>
            </a:r>
            <a:r>
              <a:rPr lang="bg-BG" sz="2000" dirty="0" err="1" smtClean="0"/>
              <a:t>execv</a:t>
            </a:r>
            <a:r>
              <a:rPr lang="bg-BG" sz="2000" dirty="0" smtClean="0"/>
              <a:t>(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path</a:t>
            </a:r>
            <a:r>
              <a:rPr lang="bg-BG" sz="2000" dirty="0" smtClean="0"/>
              <a:t>,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argv</a:t>
            </a:r>
            <a:r>
              <a:rPr lang="bg-BG" sz="2000" dirty="0" smtClean="0"/>
              <a:t>[]);</a:t>
            </a:r>
          </a:p>
          <a:p>
            <a:pPr lvl="2"/>
            <a:r>
              <a:rPr lang="bg-BG" sz="2000" dirty="0" err="1" smtClean="0"/>
              <a:t>int</a:t>
            </a:r>
            <a:r>
              <a:rPr lang="bg-BG" sz="2000" dirty="0" smtClean="0"/>
              <a:t> </a:t>
            </a:r>
            <a:r>
              <a:rPr lang="bg-BG" sz="2000" dirty="0" err="1" smtClean="0"/>
              <a:t>execvp</a:t>
            </a:r>
            <a:r>
              <a:rPr lang="bg-BG" sz="2000" dirty="0" smtClean="0"/>
              <a:t>(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file</a:t>
            </a:r>
            <a:r>
              <a:rPr lang="bg-BG" sz="2000" dirty="0" smtClean="0"/>
              <a:t>,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argv</a:t>
            </a:r>
            <a:r>
              <a:rPr lang="bg-BG" sz="2000" dirty="0" smtClean="0"/>
              <a:t>[]);</a:t>
            </a:r>
          </a:p>
          <a:p>
            <a:pPr lvl="2"/>
            <a:r>
              <a:rPr lang="bg-BG" sz="2000" dirty="0" err="1" smtClean="0"/>
              <a:t>int</a:t>
            </a:r>
            <a:r>
              <a:rPr lang="bg-BG" sz="2000" dirty="0" smtClean="0"/>
              <a:t> </a:t>
            </a:r>
            <a:r>
              <a:rPr lang="bg-BG" sz="2000" dirty="0" err="1" smtClean="0"/>
              <a:t>execvpe</a:t>
            </a:r>
            <a:r>
              <a:rPr lang="bg-BG" sz="2000" dirty="0" smtClean="0"/>
              <a:t>(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file</a:t>
            </a:r>
            <a:r>
              <a:rPr lang="bg-BG" sz="2000" dirty="0" smtClean="0"/>
              <a:t>,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argv</a:t>
            </a:r>
            <a:r>
              <a:rPr lang="bg-BG" sz="2000" dirty="0" smtClean="0"/>
              <a:t>[], </a:t>
            </a:r>
            <a:r>
              <a:rPr lang="bg-BG" sz="2000" dirty="0" err="1" smtClean="0"/>
              <a:t>char</a:t>
            </a:r>
            <a:r>
              <a:rPr lang="bg-BG" sz="2000" dirty="0" smtClean="0"/>
              <a:t> *</a:t>
            </a:r>
            <a:r>
              <a:rPr lang="bg-BG" sz="2000" dirty="0" err="1" smtClean="0"/>
              <a:t>const</a:t>
            </a:r>
            <a:r>
              <a:rPr lang="bg-BG" sz="2000" dirty="0" smtClean="0"/>
              <a:t> </a:t>
            </a:r>
            <a:r>
              <a:rPr lang="bg-BG" sz="2000" dirty="0" err="1" smtClean="0"/>
              <a:t>envp</a:t>
            </a:r>
            <a:r>
              <a:rPr lang="bg-BG" sz="2000" dirty="0" smtClean="0"/>
              <a:t>[]);</a:t>
            </a:r>
          </a:p>
        </p:txBody>
      </p:sp>
    </p:spTree>
    <p:extLst>
      <p:ext uri="{BB962C8B-B14F-4D97-AF65-F5344CB8AC3E}">
        <p14:creationId xmlns:p14="http://schemas.microsoft.com/office/powerpoint/2010/main" val="41325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  <a:endParaRPr lang="ru-RU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923097"/>
            <a:ext cx="6763694" cy="59349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12" y="991677"/>
            <a:ext cx="433448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9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  <a:endParaRPr lang="ru-RU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34" y="912875"/>
            <a:ext cx="9749178" cy="59067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990" y="1447800"/>
            <a:ext cx="9821646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5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fork() + exec()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Това е подход, при който се създава дъщерен процес с </a:t>
            </a:r>
            <a:r>
              <a:rPr lang="en-US" sz="2800" dirty="0" smtClean="0"/>
              <a:t>fork(),</a:t>
            </a:r>
            <a:r>
              <a:rPr lang="bg-BG" sz="2800" dirty="0" smtClean="0"/>
              <a:t> след което в дъщерния процес се извършва замяна на кода с кода от друга програма.</a:t>
            </a:r>
          </a:p>
          <a:p>
            <a:pPr lvl="1"/>
            <a:r>
              <a:rPr lang="bg-BG" sz="2400" dirty="0" smtClean="0"/>
              <a:t>Остават и се изпълняват едновременно и двете задачи.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62" y="1295400"/>
            <a:ext cx="1071989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3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912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ru-RU" sz="3700" dirty="0" smtClean="0"/>
              <a:t>Това е системното извикване: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3100" dirty="0" smtClean="0"/>
              <a:t>То е </a:t>
            </a:r>
            <a:r>
              <a:rPr lang="ru-RU" sz="3100" dirty="0"/>
              <a:t>усъвършенствана версия на извикването </a:t>
            </a:r>
            <a:r>
              <a:rPr lang="ru-RU" sz="3100" dirty="0" smtClean="0"/>
              <a:t>fork</a:t>
            </a:r>
            <a:r>
              <a:rPr lang="en-US" sz="3100" dirty="0" smtClean="0"/>
              <a:t>()</a:t>
            </a:r>
            <a:r>
              <a:rPr lang="ru-RU" sz="3100" dirty="0" smtClean="0"/>
              <a:t>. </a:t>
            </a:r>
            <a:endParaRPr lang="ru-RU" sz="3100" dirty="0"/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3100" dirty="0" smtClean="0"/>
              <a:t>То </a:t>
            </a:r>
            <a:r>
              <a:rPr lang="ru-RU" sz="3100" dirty="0"/>
              <a:t>е мощно, тъй като създава дъщерен процес и осигурява по-прецизен контрол върху данните, споделяни между родителския и детския процес. 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3100" dirty="0"/>
              <a:t>Извикващият </a:t>
            </a:r>
            <a:r>
              <a:rPr lang="ru-RU" sz="3100" dirty="0" smtClean="0"/>
              <a:t>процес може </a:t>
            </a:r>
            <a:r>
              <a:rPr lang="ru-RU" sz="3100" dirty="0"/>
              <a:t>да контролира таблицата на файловите дескриптори, таблицата на обработчиците на сигнали и дали двата процеса споделят едно и също адресно пространство.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3100" dirty="0" smtClean="0"/>
              <a:t>То позволява </a:t>
            </a:r>
            <a:r>
              <a:rPr lang="bg-BG" sz="3100" dirty="0" smtClean="0"/>
              <a:t>дъщерният </a:t>
            </a:r>
            <a:r>
              <a:rPr lang="ru-RU" sz="3100" dirty="0" smtClean="0"/>
              <a:t>процес </a:t>
            </a:r>
            <a:r>
              <a:rPr lang="ru-RU" sz="3100" dirty="0"/>
              <a:t>да бъде поставен в различни пространства от имена. 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3100" dirty="0"/>
              <a:t>Благодарение на гъвкавостта, която идва с използването на системното извикване clone(), можем да изберем да споделим адресно пространство с родителския процес, имитирайки системното извикване vfork(). </a:t>
            </a:r>
            <a:endParaRPr lang="ru-RU" sz="3100" dirty="0" smtClean="0"/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3100" dirty="0" smtClean="0"/>
              <a:t>Можем </a:t>
            </a:r>
            <a:r>
              <a:rPr lang="ru-RU" sz="3100" dirty="0"/>
              <a:t>също така да изберем да споделяме информация за файловата система, отворени файлове и обработчици на сигнали, като използваме различни налични флагове.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95664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9120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ru-RU" sz="2800" dirty="0" smtClean="0"/>
              <a:t>Това е системното извикване: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endParaRPr lang="ru-RU" sz="2800" dirty="0"/>
          </a:p>
          <a:p>
            <a:pPr>
              <a:lnSpc>
                <a:spcPct val="120000"/>
              </a:lnSpc>
              <a:spcBef>
                <a:spcPts val="300"/>
              </a:spcBef>
            </a:pPr>
            <a:endParaRPr lang="ru-RU" sz="2800" dirty="0" smtClean="0"/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2400" dirty="0" smtClean="0"/>
              <a:t>*</a:t>
            </a:r>
            <a:r>
              <a:rPr lang="en-US" sz="2400" dirty="0" smtClean="0"/>
              <a:t>p</a:t>
            </a:r>
            <a:r>
              <a:rPr lang="ru-RU" sz="2400" dirty="0" smtClean="0"/>
              <a:t>fn</a:t>
            </a:r>
            <a:r>
              <a:rPr lang="ru-RU" sz="2400" dirty="0"/>
              <a:t>: указател, който сочи към </a:t>
            </a:r>
            <a:r>
              <a:rPr lang="ru-RU" sz="2400" dirty="0" smtClean="0"/>
              <a:t>функция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000" dirty="0"/>
              <a:t>Това е функцията, която ще се изпълни в </a:t>
            </a:r>
            <a:r>
              <a:rPr lang="ru-RU" sz="2000" dirty="0" smtClean="0"/>
              <a:t>дъщерния процес, ако този процес </a:t>
            </a:r>
            <a:r>
              <a:rPr lang="ru-RU" sz="2000" dirty="0"/>
              <a:t>е създаден успешно.</a:t>
            </a:r>
            <a:endParaRPr lang="ru-RU" sz="2000" dirty="0" smtClean="0"/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2400" dirty="0" smtClean="0"/>
              <a:t>*</a:t>
            </a:r>
            <a:r>
              <a:rPr lang="en-US" sz="2400" dirty="0" smtClean="0"/>
              <a:t>child_</a:t>
            </a:r>
            <a:r>
              <a:rPr lang="ru-RU" sz="2400" dirty="0" smtClean="0"/>
              <a:t>stack</a:t>
            </a:r>
            <a:r>
              <a:rPr lang="ru-RU" sz="2400" dirty="0"/>
              <a:t>: сочи към </a:t>
            </a:r>
            <a:r>
              <a:rPr lang="ru-RU" sz="2400" dirty="0" smtClean="0"/>
              <a:t>върха на стека</a:t>
            </a:r>
            <a:r>
              <a:rPr lang="en-US" sz="2400" dirty="0" smtClean="0"/>
              <a:t> </a:t>
            </a:r>
            <a:r>
              <a:rPr lang="bg-BG" sz="2400" dirty="0" smtClean="0"/>
              <a:t>за дъщерния процес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000" dirty="0"/>
              <a:t>Той трябва да сочи най-горния адрес на паметта на </a:t>
            </a:r>
            <a:r>
              <a:rPr lang="ru-RU" sz="2000" dirty="0" smtClean="0"/>
              <a:t>стека на дъщерния процес, </a:t>
            </a:r>
            <a:r>
              <a:rPr lang="ru-RU" sz="2000" dirty="0"/>
              <a:t>създаден от </a:t>
            </a:r>
            <a:r>
              <a:rPr lang="ru-RU" sz="2000" dirty="0" smtClean="0"/>
              <a:t>родителския процес: обикновено стекът </a:t>
            </a:r>
            <a:r>
              <a:rPr lang="ru-RU" sz="2000" dirty="0"/>
              <a:t>растат надолу </a:t>
            </a:r>
            <a:r>
              <a:rPr lang="ru-RU" sz="2000" dirty="0" smtClean="0"/>
              <a:t>за </a:t>
            </a:r>
            <a:r>
              <a:rPr lang="ru-RU" sz="2000" dirty="0"/>
              <a:t>повечето процесори; </a:t>
            </a:r>
            <a:endParaRPr lang="ru-RU" sz="2000" dirty="0" smtClean="0"/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2400" dirty="0"/>
              <a:t>flags показват какво се споделя между извикващия процес и подчинения процес. </a:t>
            </a:r>
            <a:endParaRPr lang="en-US" sz="2400" dirty="0" smtClean="0"/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000" dirty="0" smtClean="0"/>
              <a:t>Можем </a:t>
            </a:r>
            <a:r>
              <a:rPr lang="ru-RU" sz="2000" dirty="0"/>
              <a:t>да предадем няколко флага с помощта на битово-OR.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2400" dirty="0"/>
              <a:t>*arg е аргументът за функцията, който сочи към pfn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612" y="1752600"/>
            <a:ext cx="9444513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91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ru-RU" sz="2800" dirty="0" smtClean="0"/>
              <a:t>Това е системното извикване: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endParaRPr lang="ru-RU" sz="2800" dirty="0"/>
          </a:p>
          <a:p>
            <a:pPr>
              <a:lnSpc>
                <a:spcPct val="120000"/>
              </a:lnSpc>
              <a:spcBef>
                <a:spcPts val="300"/>
              </a:spcBef>
            </a:pPr>
            <a:endParaRPr lang="ru-RU" sz="2800" dirty="0" smtClean="0"/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2400" dirty="0"/>
              <a:t>Можем да предадем и още няколко аргумента чрез функцията clone()</a:t>
            </a:r>
            <a:r>
              <a:rPr lang="en-US" sz="2400" dirty="0"/>
              <a:t> – </a:t>
            </a:r>
            <a:r>
              <a:rPr lang="bg-BG" sz="2400" dirty="0"/>
              <a:t>използват се </a:t>
            </a:r>
            <a:r>
              <a:rPr lang="ru-RU" sz="2400" dirty="0"/>
              <a:t>елипсите (трите точки</a:t>
            </a:r>
            <a:r>
              <a:rPr lang="ru-RU" sz="2400" dirty="0" smtClean="0"/>
              <a:t>).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000" dirty="0"/>
              <a:t>*parent_tid: посочва мястото за съхранение на идентификатора на нишката на детския процес (TID) в паметта на родителския процес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000" dirty="0"/>
              <a:t>*child_tid: посочва мястото за съхранение на идентификатора на нишката на детския процес (TID) в паметта на детския процес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bg-BG" sz="2400" dirty="0" smtClean="0"/>
              <a:t>При успех се връща валидно </a:t>
            </a:r>
            <a:r>
              <a:rPr lang="en-US" sz="2400" dirty="0" smtClean="0"/>
              <a:t>ID.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bg-BG" sz="2000" dirty="0" smtClean="0"/>
              <a:t>При неуспешно изпълнение се връща -1.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612" y="1752600"/>
            <a:ext cx="9444513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91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bg-BG" sz="2800" dirty="0" smtClean="0"/>
              <a:t>Пример:</a:t>
            </a:r>
            <a:endParaRPr lang="ru-RU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177800"/>
            <a:ext cx="7649241" cy="668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8662" y="3696714"/>
            <a:ext cx="7424791" cy="341885"/>
          </a:xfrm>
          <a:prstGeom prst="rect">
            <a:avLst/>
          </a:prstGeom>
          <a:solidFill>
            <a:srgbClr val="C0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824" y="177800"/>
            <a:ext cx="7011257" cy="3559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11" y="2991981"/>
            <a:ext cx="5287469" cy="37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bg-BG" dirty="0" smtClean="0"/>
          </a:p>
          <a:p>
            <a:pPr marL="0" indent="0" algn="ctr">
              <a:buNone/>
            </a:pPr>
            <a:endParaRPr lang="bg-BG" dirty="0"/>
          </a:p>
          <a:p>
            <a:pPr marL="0" indent="0" algn="ctr">
              <a:buNone/>
            </a:pPr>
            <a:endParaRPr lang="bg-BG" dirty="0" smtClean="0"/>
          </a:p>
          <a:p>
            <a:pPr marL="0" indent="0" algn="ctr">
              <a:buNone/>
            </a:pPr>
            <a:endParaRPr lang="bg-BG" dirty="0"/>
          </a:p>
          <a:p>
            <a:pPr marL="0" indent="0" algn="ctr">
              <a:buNone/>
            </a:pPr>
            <a:r>
              <a:rPr lang="bg-BG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Въпроси ?</a:t>
            </a:r>
            <a:endParaRPr lang="bg-BG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471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Литература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800" dirty="0">
                <a:hlinkClick r:id="rId2"/>
              </a:rPr>
              <a:t>https://www.geeksforgeeks.org/fork-system-call/</a:t>
            </a:r>
            <a:endParaRPr lang="bg-BG" sz="2800" dirty="0" smtClean="0">
              <a:hlinkClick r:id="rId2"/>
            </a:endParaRPr>
          </a:p>
          <a:p>
            <a:r>
              <a:rPr lang="en-US" sz="2800" dirty="0" smtClean="0">
                <a:hlinkClick r:id="rId2"/>
              </a:rPr>
              <a:t>http</a:t>
            </a:r>
            <a:r>
              <a:rPr lang="en-US" sz="2800" dirty="0">
                <a:hlinkClick r:id="rId2"/>
              </a:rPr>
              <a:t>://www.it.uu.se/education/course/homepage/os/vt18/module-2/process-management</a:t>
            </a:r>
            <a:r>
              <a:rPr lang="en-US" sz="2800" dirty="0" smtClean="0">
                <a:hlinkClick r:id="rId2"/>
              </a:rPr>
              <a:t>/</a:t>
            </a:r>
            <a:endParaRPr lang="bg-BG" sz="2800" dirty="0" smtClean="0"/>
          </a:p>
          <a:p>
            <a:r>
              <a:rPr lang="en-US" sz="2800" dirty="0" smtClean="0">
                <a:hlinkClick r:id="rId3"/>
              </a:rPr>
              <a:t>https</a:t>
            </a:r>
            <a:r>
              <a:rPr lang="en-US" sz="2800" dirty="0">
                <a:hlinkClick r:id="rId3"/>
              </a:rPr>
              <a:t>://</a:t>
            </a:r>
            <a:r>
              <a:rPr lang="en-US" sz="2800" dirty="0" smtClean="0">
                <a:hlinkClick r:id="rId3"/>
              </a:rPr>
              <a:t>www.csl.mtu.edu/cs4411.ck/www/NOTES/process/fork/create.html</a:t>
            </a:r>
            <a:endParaRPr lang="bg-BG" sz="2800" dirty="0" smtClean="0"/>
          </a:p>
          <a:p>
            <a:r>
              <a:rPr lang="en-US" sz="2800" dirty="0">
                <a:hlinkClick r:id="rId4"/>
              </a:rPr>
              <a:t>https://</a:t>
            </a:r>
            <a:r>
              <a:rPr lang="en-US" sz="2800" dirty="0" smtClean="0">
                <a:hlinkClick r:id="rId4"/>
              </a:rPr>
              <a:t>man7.org/linux/man-pages/man2/fork.2.html</a:t>
            </a:r>
            <a:endParaRPr lang="bg-BG" sz="2800" dirty="0" smtClean="0"/>
          </a:p>
          <a:p>
            <a:r>
              <a:rPr lang="en-US" sz="2800" dirty="0">
                <a:hlinkClick r:id="rId5"/>
              </a:rPr>
              <a:t>https://www.geeksforgeeks.org/wait-system-call-c</a:t>
            </a:r>
            <a:r>
              <a:rPr lang="en-US" sz="2800" dirty="0" smtClean="0">
                <a:hlinkClick r:id="rId5"/>
              </a:rPr>
              <a:t>/</a:t>
            </a:r>
            <a:endParaRPr lang="bg-BG" sz="2800" dirty="0" smtClean="0"/>
          </a:p>
          <a:p>
            <a:r>
              <a:rPr lang="en-US" sz="2800" dirty="0">
                <a:hlinkClick r:id="rId6"/>
              </a:rPr>
              <a:t>https://www.elprocus.com/unix-architecture-and-properties</a:t>
            </a:r>
            <a:r>
              <a:rPr lang="en-US" sz="2800" dirty="0" smtClean="0">
                <a:hlinkClick r:id="rId6"/>
              </a:rPr>
              <a:t>/</a:t>
            </a:r>
            <a:endParaRPr lang="en-US" sz="2800" dirty="0" smtClean="0"/>
          </a:p>
          <a:p>
            <a:r>
              <a:rPr lang="en-US" sz="2800"/>
              <a:t>https://bg.myservername.com/unix-vs-linux-what-is-difference-between-unix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>
                <a:hlinkClick r:id="rId7"/>
              </a:rPr>
              <a:t>https://blog.purestorage.com/purely-informational/task-vs-process-in-linux/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31300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www.digitalocean.com/community/tutorials/process-management-in-linux</a:t>
            </a:r>
            <a:endParaRPr lang="en-US" sz="2400" dirty="0" smtClean="0"/>
          </a:p>
          <a:p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www.digitalocean.com/community/tutorials/process-management-in-linux</a:t>
            </a:r>
            <a:endParaRPr lang="en-US" sz="2400" dirty="0" smtClean="0"/>
          </a:p>
          <a:p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ryanstutorials.net/linuxtutorial/processes.php</a:t>
            </a:r>
            <a:endParaRPr lang="bg-BG" sz="2400" dirty="0" smtClean="0"/>
          </a:p>
          <a:p>
            <a:r>
              <a:rPr lang="en-US" sz="2400" dirty="0">
                <a:hlinkClick r:id="rId4"/>
              </a:rPr>
              <a:t>https://www.geeksforgeeks.org/difference-between-process-parent-process-and-child-process/?</a:t>
            </a:r>
            <a:r>
              <a:rPr lang="en-US" sz="2400" dirty="0" smtClean="0">
                <a:hlinkClick r:id="rId4"/>
              </a:rPr>
              <a:t>ref=rp</a:t>
            </a:r>
            <a:endParaRPr lang="bg-BG" sz="2400" dirty="0" smtClean="0"/>
          </a:p>
          <a:p>
            <a:pPr marL="347663" lvl="2" indent="-347663">
              <a:buSzPct val="70000"/>
              <a:buFont typeface="Wingdings" panose="05000000000000000000" pitchFamily="2" charset="2"/>
              <a:buChar char="Ä"/>
            </a:pPr>
            <a:r>
              <a:rPr lang="en-US" dirty="0">
                <a:hlinkClick r:id="rId5"/>
              </a:rPr>
              <a:t>https://www.bogotobogo.com/Linux/linux_process_and_signals.php</a:t>
            </a:r>
            <a:endParaRPr lang="bg-BG" dirty="0"/>
          </a:p>
          <a:p>
            <a:pPr marL="347663" lvl="2" indent="-347663">
              <a:buSzPct val="70000"/>
              <a:buFont typeface="Wingdings" panose="05000000000000000000" pitchFamily="2" charset="2"/>
              <a:buChar char="Ä"/>
            </a:pPr>
            <a:r>
              <a:rPr lang="en-US" dirty="0">
                <a:hlinkClick r:id="rId6"/>
              </a:rPr>
              <a:t>https://www.geeksforgeeks.org/create-processes-with-fork-in-cpp/?ref=gcse</a:t>
            </a:r>
            <a:endParaRPr lang="bg-BG" dirty="0"/>
          </a:p>
          <a:p>
            <a:pPr marL="347663" lvl="2" indent="-347663">
              <a:buSzPct val="70000"/>
              <a:buFont typeface="Wingdings" panose="05000000000000000000" pitchFamily="2" charset="2"/>
              <a:buChar char="Ä"/>
            </a:pPr>
            <a:r>
              <a:rPr lang="en-US" dirty="0">
                <a:hlinkClick r:id="rId7"/>
              </a:rPr>
              <a:t>https://www.geeksforgeeks.org/exit-status-child-process-linux/?</a:t>
            </a:r>
            <a:r>
              <a:rPr lang="en-US" dirty="0" smtClean="0">
                <a:hlinkClick r:id="rId7"/>
              </a:rPr>
              <a:t>ref=rp</a:t>
            </a:r>
            <a:endParaRPr lang="bg-BG" dirty="0" smtClean="0"/>
          </a:p>
          <a:p>
            <a:pPr marL="0" lvl="2" indent="0">
              <a:buSzPct val="70000"/>
              <a:buNone/>
            </a:pPr>
            <a:endParaRPr lang="bg-BG" dirty="0"/>
          </a:p>
          <a:p>
            <a:endParaRPr lang="bg-BG" sz="2400" dirty="0"/>
          </a:p>
          <a:p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79806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102787947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4025</Words>
  <Application>Microsoft Office PowerPoint</Application>
  <PresentationFormat>Custom</PresentationFormat>
  <Paragraphs>366</Paragraphs>
  <Slides>51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Euphemia</vt:lpstr>
      <vt:lpstr>Wingdings</vt:lpstr>
      <vt:lpstr>TS102787947</vt:lpstr>
      <vt:lpstr>Процеси в Linux </vt:lpstr>
      <vt:lpstr>Въведение</vt:lpstr>
      <vt:lpstr>Въведение</vt:lpstr>
      <vt:lpstr>Програма</vt:lpstr>
      <vt:lpstr>Програма</vt:lpstr>
      <vt:lpstr>Основни типове процеси в Linux </vt:lpstr>
      <vt:lpstr>Основни типове процеси в Linux </vt:lpstr>
      <vt:lpstr>Таблица на процесите</vt:lpstr>
      <vt:lpstr>Таблица на процесите</vt:lpstr>
      <vt:lpstr>Диаграма на състоянието на процесите в Linux </vt:lpstr>
      <vt:lpstr>Диаграма на състоянието на процесите в Linux </vt:lpstr>
      <vt:lpstr>Диаграма на състоянието на процесите в Linux </vt:lpstr>
      <vt:lpstr>Диаграма на състоянието на процесите в Linux </vt:lpstr>
      <vt:lpstr>Диаграма на състоянието на процесите в Linux </vt:lpstr>
      <vt:lpstr>Диаграма на състоянието на процесите в Linux </vt:lpstr>
      <vt:lpstr>Създаване на процеси</vt:lpstr>
      <vt:lpstr>Идентификация на процеси</vt:lpstr>
      <vt:lpstr>Идентификация на процеси</vt:lpstr>
      <vt:lpstr>Идентификация на процеси</vt:lpstr>
      <vt:lpstr>Диспечер на задачите</vt:lpstr>
      <vt:lpstr>Процес “init”</vt:lpstr>
      <vt:lpstr>Процес “init”</vt:lpstr>
      <vt:lpstr>Процес “init”</vt:lpstr>
      <vt:lpstr>Идентификация на процеси</vt:lpstr>
      <vt:lpstr>Идентификация на процеси</vt:lpstr>
      <vt:lpstr>Идентификация на процеси</vt:lpstr>
      <vt:lpstr>fork()</vt:lpstr>
      <vt:lpstr>fork()</vt:lpstr>
      <vt:lpstr>fork()</vt:lpstr>
      <vt:lpstr>fork()</vt:lpstr>
      <vt:lpstr>fork()</vt:lpstr>
      <vt:lpstr>fork()</vt:lpstr>
      <vt:lpstr>fork()</vt:lpstr>
      <vt:lpstr>fork()</vt:lpstr>
      <vt:lpstr>fork()</vt:lpstr>
      <vt:lpstr>vfork()</vt:lpstr>
      <vt:lpstr>vfork()</vt:lpstr>
      <vt:lpstr>vfork()</vt:lpstr>
      <vt:lpstr>exec()</vt:lpstr>
      <vt:lpstr>exec()</vt:lpstr>
      <vt:lpstr>exec()</vt:lpstr>
      <vt:lpstr>exec()</vt:lpstr>
      <vt:lpstr>exec()</vt:lpstr>
      <vt:lpstr>fork() + exec()</vt:lpstr>
      <vt:lpstr>clone()</vt:lpstr>
      <vt:lpstr>clone()</vt:lpstr>
      <vt:lpstr>clone()</vt:lpstr>
      <vt:lpstr>clone()</vt:lpstr>
      <vt:lpstr>PowerPoint Presentation</vt:lpstr>
      <vt:lpstr>Литература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2014-02-04T07:26:08Z</dcterms:created>
  <dcterms:modified xsi:type="dcterms:W3CDTF">2023-04-11T05:08:06Z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