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81"/>
  </p:notesMasterIdLst>
  <p:handoutMasterIdLst>
    <p:handoutMasterId r:id="rId82"/>
  </p:handoutMasterIdLst>
  <p:sldIdLst>
    <p:sldId id="256" r:id="rId3"/>
    <p:sldId id="372" r:id="rId4"/>
    <p:sldId id="374" r:id="rId5"/>
    <p:sldId id="382" r:id="rId6"/>
    <p:sldId id="385" r:id="rId7"/>
    <p:sldId id="388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436" r:id="rId45"/>
    <p:sldId id="437" r:id="rId46"/>
    <p:sldId id="438" r:id="rId47"/>
    <p:sldId id="439" r:id="rId48"/>
    <p:sldId id="440" r:id="rId49"/>
    <p:sldId id="441" r:id="rId50"/>
    <p:sldId id="442" r:id="rId51"/>
    <p:sldId id="465" r:id="rId52"/>
    <p:sldId id="443" r:id="rId53"/>
    <p:sldId id="410" r:id="rId54"/>
    <p:sldId id="411" r:id="rId55"/>
    <p:sldId id="412" r:id="rId56"/>
    <p:sldId id="413" r:id="rId57"/>
    <p:sldId id="414" r:id="rId58"/>
    <p:sldId id="444" r:id="rId59"/>
    <p:sldId id="462" r:id="rId60"/>
    <p:sldId id="463" r:id="rId61"/>
    <p:sldId id="464" r:id="rId62"/>
    <p:sldId id="445" r:id="rId63"/>
    <p:sldId id="446" r:id="rId64"/>
    <p:sldId id="447" r:id="rId65"/>
    <p:sldId id="448" r:id="rId66"/>
    <p:sldId id="449" r:id="rId67"/>
    <p:sldId id="450" r:id="rId68"/>
    <p:sldId id="451" r:id="rId69"/>
    <p:sldId id="452" r:id="rId70"/>
    <p:sldId id="453" r:id="rId71"/>
    <p:sldId id="454" r:id="rId72"/>
    <p:sldId id="455" r:id="rId73"/>
    <p:sldId id="456" r:id="rId74"/>
    <p:sldId id="457" r:id="rId75"/>
    <p:sldId id="458" r:id="rId76"/>
    <p:sldId id="459" r:id="rId77"/>
    <p:sldId id="460" r:id="rId78"/>
    <p:sldId id="461" r:id="rId79"/>
    <p:sldId id="306" r:id="rId8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009"/>
    <a:srgbClr val="000099"/>
    <a:srgbClr val="452603"/>
    <a:srgbClr val="F4D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98" autoAdjust="0"/>
  </p:normalViewPr>
  <p:slideViewPr>
    <p:cSldViewPr showGuides="1">
      <p:cViewPr varScale="1">
        <p:scale>
          <a:sx n="100" d="100"/>
          <a:sy n="100" d="100"/>
        </p:scale>
        <p:origin x="270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-315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Пример: събиране и изваждане използват различни правила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61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35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3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27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Музиката е последователност</a:t>
            </a:r>
            <a:r>
              <a:rPr lang="bg-BG" baseline="0" dirty="0" smtClean="0"/>
              <a:t> от звуци, но не всяка последователност от звуци е музика.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5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dirty="0" smtClean="0"/>
              <a:t>Signal</a:t>
            </a:r>
            <a:r>
              <a:rPr lang="en-US" baseline="0" dirty="0" smtClean="0"/>
              <a:t> </a:t>
            </a:r>
            <a:r>
              <a:rPr lang="en-US" altLang="en-US" dirty="0" smtClean="0">
                <a:solidFill>
                  <a:schemeClr val="tx2"/>
                </a:solidFill>
              </a:rPr>
              <a:t>Encoding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altLang="en-US" dirty="0" smtClean="0"/>
              <a:t>Пример: при 16 бита за стойност и честота на </a:t>
            </a:r>
            <a:r>
              <a:rPr lang="bg-BG" altLang="en-US" dirty="0" err="1" smtClean="0"/>
              <a:t>дискретизация</a:t>
            </a:r>
            <a:r>
              <a:rPr lang="bg-BG" altLang="en-US" dirty="0" smtClean="0"/>
              <a:t> </a:t>
            </a:r>
            <a:r>
              <a:rPr lang="en-US" altLang="en-US" dirty="0" smtClean="0"/>
              <a:t>40</a:t>
            </a:r>
            <a:r>
              <a:rPr lang="bg-BG" altLang="en-US" dirty="0" smtClean="0"/>
              <a:t> </a:t>
            </a:r>
            <a:r>
              <a:rPr lang="en-US" altLang="en-US" dirty="0" smtClean="0"/>
              <a:t>KHz ,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= 40 000 × 16 = 640 kbps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58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spcBef>
                <a:spcPts val="300"/>
              </a:spcBef>
            </a:pPr>
            <a:r>
              <a:rPr lang="bg-BG" altLang="en-US" dirty="0" smtClean="0"/>
              <a:t>Линии - отсечки, дъги, </a:t>
            </a:r>
            <a:r>
              <a:rPr lang="bg-BG" altLang="en-US" dirty="0" err="1" smtClean="0"/>
              <a:t>сплайнови</a:t>
            </a:r>
            <a:r>
              <a:rPr lang="bg-BG" altLang="en-US" dirty="0" smtClean="0"/>
              <a:t> линии, …</a:t>
            </a:r>
          </a:p>
          <a:p>
            <a:pPr lvl="1" algn="just">
              <a:spcBef>
                <a:spcPts val="300"/>
              </a:spcBef>
            </a:pPr>
            <a:r>
              <a:rPr lang="bg-BG" altLang="en-US" dirty="0" smtClean="0"/>
              <a:t>Фигури – многоъгълници, окръжности, елипси,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96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We can analyze the stock exchange indexes performance by creating a graph of data points for a particular period of time, based on the of data at each day’s 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741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XOR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↔ [</a:t>
            </a: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)]  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[(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1200" b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i="1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200" baseline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69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9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bg2">
              <a:lumMod val="50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1012" y="6195695"/>
            <a:ext cx="16001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4412" y="6172200"/>
            <a:ext cx="4953000" cy="4311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bg-BG" dirty="0" smtClean="0"/>
              <a:t>Системно програмиране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812" y="5809005"/>
            <a:ext cx="906705" cy="9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/>
          <a:lstStyle/>
          <a:p>
            <a:fld id="{C2C6F8EA-316C-41DE-B9A4-EDCC3A85ED9A}" type="datetimeFigureOut">
              <a:rPr lang="en-US"/>
              <a:t>2/21/2023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61812" y="0"/>
            <a:ext cx="227013" cy="6858000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4715" y="0"/>
            <a:ext cx="448089" cy="6858000"/>
          </a:xfrm>
          <a:prstGeom prst="rect">
            <a:avLst/>
          </a:prstGeom>
          <a:solidFill>
            <a:schemeClr val="bg2">
              <a:lumMod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" y="0"/>
            <a:ext cx="227011" cy="6858000"/>
          </a:xfrm>
          <a:prstGeom prst="rect">
            <a:avLst/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13" y="4338"/>
            <a:ext cx="455791" cy="455910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 flipV="1">
            <a:off x="227012" y="0"/>
            <a:ext cx="455792" cy="3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227013" y="460248"/>
            <a:ext cx="45579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227012" y="-3048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089654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662" y="1143000"/>
            <a:ext cx="1090075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1236" y="6629400"/>
            <a:ext cx="420576" cy="225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1739" y="34237"/>
            <a:ext cx="385848" cy="3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400"/>
        </a:spcBef>
        <a:buSzPct val="70000"/>
        <a:buFont typeface="Wingdings" panose="05000000000000000000" pitchFamily="2" charset="2"/>
        <a:buChar char="Ä"/>
        <a:defRPr sz="32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1pPr>
      <a:lvl2pPr marL="741363" indent="-303213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Wingdings" panose="05000000000000000000" pitchFamily="2" charset="2"/>
        <a:buChar char="ü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300038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Wingdings" panose="05000000000000000000" pitchFamily="2" charset="2"/>
        <a:buChar char="û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3pPr>
      <a:lvl4pPr marL="1316038" indent="-1920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4pPr>
      <a:lvl5pPr marL="1655763" indent="-1920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Програмиране и Данни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5412" y="6329299"/>
            <a:ext cx="4736065" cy="5073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bg-BG" dirty="0" smtClean="0"/>
              <a:t>Системно програмиране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Малко история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10200"/>
          </a:xfrm>
        </p:spPr>
        <p:txBody>
          <a:bodyPr>
            <a:normAutofit fontScale="92500" lnSpcReduction="10000"/>
          </a:bodyPr>
          <a:lstStyle/>
          <a:p>
            <a:r>
              <a:rPr lang="bg-BG" dirty="0" smtClean="0"/>
              <a:t>1930 г. </a:t>
            </a:r>
          </a:p>
          <a:p>
            <a:pPr lvl="1"/>
            <a:r>
              <a:rPr lang="bg-BG" dirty="0" smtClean="0"/>
              <a:t>Голямата Депресия е опустошила света и в частност САЩ.</a:t>
            </a:r>
          </a:p>
          <a:p>
            <a:pPr lvl="1"/>
            <a:r>
              <a:rPr lang="bg-BG" dirty="0" smtClean="0"/>
              <a:t>В Университета </a:t>
            </a:r>
            <a:r>
              <a:rPr lang="bg-BG" dirty="0"/>
              <a:t>в </a:t>
            </a:r>
            <a:r>
              <a:rPr lang="bg-BG" dirty="0" err="1"/>
              <a:t>Принстън</a:t>
            </a:r>
            <a:r>
              <a:rPr lang="bg-BG" dirty="0"/>
              <a:t>, </a:t>
            </a:r>
            <a:r>
              <a:rPr lang="bg-BG" dirty="0" smtClean="0"/>
              <a:t>САЩ, се събира група математици, които имат един общ интерес – изследване на проблема с </a:t>
            </a:r>
            <a:r>
              <a:rPr lang="bg-BG" dirty="0" err="1" smtClean="0"/>
              <a:t>изчислимостта</a:t>
            </a:r>
            <a:r>
              <a:rPr lang="bg-BG" dirty="0" smtClean="0"/>
              <a:t>, т.е. възможността да се докаже дали нещо може да бъде изчислено или не може</a:t>
            </a:r>
          </a:p>
          <a:p>
            <a:pPr lvl="2"/>
            <a:r>
              <a:rPr lang="bg-BG" dirty="0" smtClean="0"/>
              <a:t>Започва едно „състезание“ кой ще измисли формална система, която позволява да се опише и реши всичко, което може да се реши.</a:t>
            </a:r>
            <a:endParaRPr lang="bg-BG" dirty="0"/>
          </a:p>
          <a:p>
            <a:pPr lvl="1"/>
            <a:r>
              <a:rPr lang="bg-BG" dirty="0" smtClean="0"/>
              <a:t>Четири математици от тази група оставят имената си в историята на компютърната наука: </a:t>
            </a:r>
          </a:p>
          <a:p>
            <a:pPr lvl="2"/>
            <a:r>
              <a:rPr lang="bg-BG" dirty="0" smtClean="0"/>
              <a:t>Алан </a:t>
            </a:r>
            <a:r>
              <a:rPr lang="bg-BG" dirty="0" err="1" smtClean="0"/>
              <a:t>Тюринг</a:t>
            </a:r>
            <a:r>
              <a:rPr lang="bg-BG" dirty="0" smtClean="0"/>
              <a:t> (</a:t>
            </a:r>
            <a:r>
              <a:rPr lang="en-US" dirty="0" smtClean="0"/>
              <a:t>Alan Turing)</a:t>
            </a:r>
            <a:endParaRPr lang="bg-BG" dirty="0" smtClean="0"/>
          </a:p>
          <a:p>
            <a:pPr lvl="2"/>
            <a:r>
              <a:rPr lang="bg-BG" dirty="0" err="1" smtClean="0"/>
              <a:t>Алонсо</a:t>
            </a:r>
            <a:r>
              <a:rPr lang="bg-BG" dirty="0" smtClean="0"/>
              <a:t> </a:t>
            </a:r>
            <a:r>
              <a:rPr lang="bg-BG" dirty="0" err="1" smtClean="0"/>
              <a:t>Чърч</a:t>
            </a:r>
            <a:r>
              <a:rPr lang="bg-BG" dirty="0" smtClean="0"/>
              <a:t> (</a:t>
            </a:r>
            <a:r>
              <a:rPr lang="en-US" dirty="0" smtClean="0"/>
              <a:t>Alonzo Church)</a:t>
            </a:r>
            <a:endParaRPr lang="bg-BG" dirty="0" smtClean="0"/>
          </a:p>
          <a:p>
            <a:pPr lvl="2"/>
            <a:r>
              <a:rPr lang="bg-BG" dirty="0" smtClean="0"/>
              <a:t>Джон фон </a:t>
            </a:r>
            <a:r>
              <a:rPr lang="bg-BG" dirty="0" err="1" smtClean="0"/>
              <a:t>Нойман</a:t>
            </a:r>
            <a:r>
              <a:rPr lang="bg-BG" dirty="0" smtClean="0"/>
              <a:t> (</a:t>
            </a:r>
            <a:r>
              <a:rPr lang="en-US" dirty="0" smtClean="0"/>
              <a:t>John von Neumann)</a:t>
            </a:r>
            <a:endParaRPr lang="bg-BG" dirty="0" smtClean="0"/>
          </a:p>
          <a:p>
            <a:pPr lvl="2"/>
            <a:r>
              <a:rPr lang="bg-BG" dirty="0" err="1" smtClean="0"/>
              <a:t>Курт</a:t>
            </a:r>
            <a:r>
              <a:rPr lang="bg-BG" dirty="0" smtClean="0"/>
              <a:t> </a:t>
            </a:r>
            <a:r>
              <a:rPr lang="bg-BG" dirty="0" err="1" smtClean="0"/>
              <a:t>Гьодел</a:t>
            </a:r>
            <a:r>
              <a:rPr lang="bg-BG" dirty="0" smtClean="0"/>
              <a:t> (</a:t>
            </a:r>
            <a:r>
              <a:rPr lang="en-US" dirty="0" smtClean="0"/>
              <a:t>Kurt </a:t>
            </a:r>
            <a:r>
              <a:rPr lang="en-US" dirty="0" err="1" smtClean="0"/>
              <a:t>Godel</a:t>
            </a:r>
            <a:r>
              <a:rPr lang="en-US" dirty="0" smtClean="0"/>
              <a:t>)</a:t>
            </a:r>
            <a:endParaRPr lang="bg-BG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15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Малко история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defRPr/>
            </a:pP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Моделът на </a:t>
            </a:r>
            <a:r>
              <a:rPr lang="bg-BG" alt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Тюринг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800" dirty="0" smtClean="0"/>
              <a:t>е много по-точен модел за описание на работата на компютър с общо предназначение</a:t>
            </a:r>
            <a:r>
              <a:rPr lang="en-US" altLang="en-US" sz="2800" dirty="0" smtClean="0"/>
              <a:t>. </a:t>
            </a:r>
          </a:p>
          <a:p>
            <a:pPr lvl="1"/>
            <a:r>
              <a:rPr lang="bg-BG" altLang="en-US" sz="2400" dirty="0"/>
              <a:t>Теза на </a:t>
            </a:r>
            <a:r>
              <a:rPr lang="bg-BG" altLang="en-US" sz="2400" dirty="0" err="1"/>
              <a:t>Чърч-Тюринг</a:t>
            </a:r>
            <a:r>
              <a:rPr lang="bg-BG" altLang="en-US" sz="2400" dirty="0"/>
              <a:t>:</a:t>
            </a:r>
          </a:p>
          <a:p>
            <a:pPr lvl="2"/>
            <a:r>
              <a:rPr lang="bg-BG" altLang="en-US" sz="2000" dirty="0"/>
              <a:t> Ако съществува алгоритъм за задача за манипулиране на символи, тогава съществува машина на </a:t>
            </a:r>
            <a:r>
              <a:rPr lang="bg-BG" altLang="en-US" sz="2000" dirty="0" err="1"/>
              <a:t>Тюринг</a:t>
            </a:r>
            <a:r>
              <a:rPr lang="bg-BG" altLang="en-US" sz="2000" dirty="0"/>
              <a:t>, която да изпълни тази задача</a:t>
            </a:r>
            <a:r>
              <a:rPr lang="bg-BG" altLang="en-US" dirty="0"/>
              <a:t>.</a:t>
            </a:r>
          </a:p>
          <a:p>
            <a:pPr lvl="1">
              <a:defRPr/>
            </a:pPr>
            <a:r>
              <a:rPr lang="bg-BG" altLang="en-US" sz="2400" dirty="0" smtClean="0"/>
              <a:t>Моделът на </a:t>
            </a:r>
            <a:r>
              <a:rPr lang="bg-BG" altLang="en-US" sz="2400" dirty="0" err="1" smtClean="0"/>
              <a:t>Тюринг</a:t>
            </a:r>
            <a:r>
              <a:rPr lang="bg-BG" altLang="en-US" sz="2400" dirty="0" smtClean="0"/>
              <a:t> въвежда един допълнителен елемент и този елемент се нарича „</a:t>
            </a:r>
            <a:r>
              <a:rPr lang="bg-BG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програма</a:t>
            </a:r>
            <a:r>
              <a:rPr lang="bg-BG" altLang="en-US" sz="2400" dirty="0" smtClean="0"/>
              <a:t>“</a:t>
            </a:r>
          </a:p>
          <a:p>
            <a:pPr lvl="2">
              <a:defRPr/>
            </a:pPr>
            <a:r>
              <a:rPr lang="bg-BG" altLang="en-US" sz="2000" dirty="0" smtClean="0"/>
              <a:t>Програмата е набор от инструкции, които управляват какво и как компютъра да прави.</a:t>
            </a:r>
          </a:p>
          <a:p>
            <a:pPr lvl="2">
              <a:defRPr/>
            </a:pPr>
            <a:r>
              <a:rPr lang="bg-BG" altLang="en-US" sz="2000" dirty="0" smtClean="0"/>
              <a:t>Това е позволило да се дефинира възможността за решаване на всички видове задачи на основата на този формален модел.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12" y="4953000"/>
            <a:ext cx="5145088" cy="140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646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Машина на </a:t>
            </a:r>
            <a:r>
              <a:rPr lang="bg-BG" dirty="0" err="1" smtClean="0"/>
              <a:t>Тюринг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bg-BG" altLang="en-US" sz="2800" dirty="0" smtClean="0"/>
              <a:t>Идеята за универсално изчислително устройство е описана за първи път от 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Алън </a:t>
            </a:r>
            <a:r>
              <a:rPr lang="bg-BG" alt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Тюринг</a:t>
            </a:r>
            <a:r>
              <a:rPr lang="bg-BG" altLang="en-US" sz="2800" b="1" dirty="0" smtClean="0"/>
              <a:t> </a:t>
            </a:r>
            <a:r>
              <a:rPr lang="bg-BG" altLang="en-US" sz="2800" dirty="0" smtClean="0"/>
              <a:t>(</a:t>
            </a:r>
            <a:r>
              <a:rPr lang="en-US" altLang="en-US" sz="2800" dirty="0"/>
              <a:t>Alan </a:t>
            </a:r>
            <a:r>
              <a:rPr lang="en-US" altLang="en-US" sz="2800" dirty="0" smtClean="0"/>
              <a:t>Turing</a:t>
            </a:r>
            <a:r>
              <a:rPr lang="bg-BG" altLang="en-US" sz="2800" dirty="0" smtClean="0"/>
              <a:t>) в периода </a:t>
            </a:r>
            <a:r>
              <a:rPr lang="en-US" altLang="en-US" sz="2800" dirty="0" smtClean="0"/>
              <a:t>193</a:t>
            </a:r>
            <a:r>
              <a:rPr lang="bg-BG" altLang="en-US" sz="2800" dirty="0" smtClean="0"/>
              <a:t>6-1937</a:t>
            </a:r>
            <a:r>
              <a:rPr lang="en-US" altLang="en-US" sz="2800" dirty="0" smtClean="0"/>
              <a:t>.</a:t>
            </a:r>
            <a:endParaRPr lang="en-US" altLang="en-US" sz="2800" dirty="0"/>
          </a:p>
          <a:p>
            <a:pPr marL="749300" lvl="2" indent="-347663">
              <a:buSzPct val="70000"/>
              <a:buFont typeface="Wingdings" panose="05000000000000000000" pitchFamily="2" charset="2"/>
              <a:buChar char="Ä"/>
              <a:defRPr/>
            </a:pPr>
            <a:r>
              <a:rPr lang="bg-BG" altLang="en-US" dirty="0" err="1" smtClean="0"/>
              <a:t>Тюринг</a:t>
            </a:r>
            <a:r>
              <a:rPr lang="bg-BG" altLang="en-US" dirty="0" smtClean="0"/>
              <a:t> разработва математически формализъм, наречен </a:t>
            </a: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Машина на </a:t>
            </a:r>
            <a:r>
              <a:rPr lang="bg-BG" altLang="en-US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Тюринг</a:t>
            </a:r>
            <a:r>
              <a:rPr lang="bg-BG" altLang="en-US" dirty="0" smtClean="0"/>
              <a:t>,  за който доказва, че може да се използва за решаване на всички видове задачи.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pPr marL="749300" lvl="2" indent="-347663">
              <a:buSzPct val="70000"/>
              <a:buFont typeface="Wingdings" panose="05000000000000000000" pitchFamily="2" charset="2"/>
              <a:buChar char="Ä"/>
              <a:defRPr/>
            </a:pPr>
            <a:r>
              <a:rPr lang="bg-BG" altLang="en-US" dirty="0" smtClean="0"/>
              <a:t>При създаване на този модел, </a:t>
            </a:r>
            <a:r>
              <a:rPr lang="bg-BG" altLang="en-US" dirty="0" err="1" smtClean="0"/>
              <a:t>Тюринг</a:t>
            </a:r>
            <a:r>
              <a:rPr lang="bg-BG" altLang="en-US" dirty="0" smtClean="0"/>
              <a:t> създава </a:t>
            </a:r>
            <a:r>
              <a:rPr lang="bg-BG" altLang="en-US" i="1" dirty="0" smtClean="0"/>
              <a:t>абстракция</a:t>
            </a:r>
            <a:r>
              <a:rPr lang="bg-BG" altLang="en-US" dirty="0" smtClean="0"/>
              <a:t> </a:t>
            </a:r>
            <a:r>
              <a:rPr lang="bg-BG" altLang="en-US" i="1" dirty="0" smtClean="0"/>
              <a:t>на реалните действия</a:t>
            </a:r>
            <a:r>
              <a:rPr lang="bg-BG" altLang="en-US" dirty="0" smtClean="0"/>
              <a:t>, които хората използват при решаване на различни класове задачи.</a:t>
            </a:r>
            <a:endParaRPr lang="en-US" altLang="en-US" dirty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  <a:defRPr/>
            </a:pPr>
            <a:r>
              <a:rPr lang="bg-BG" altLang="en-US" dirty="0" smtClean="0"/>
              <a:t>Машината на </a:t>
            </a:r>
            <a:r>
              <a:rPr lang="bg-BG" altLang="en-US" dirty="0" err="1" smtClean="0"/>
              <a:t>Тюринг</a:t>
            </a:r>
            <a:r>
              <a:rPr lang="bg-BG" altLang="en-US" dirty="0" smtClean="0"/>
              <a:t> се състои от три елемента:</a:t>
            </a:r>
            <a:endParaRPr lang="en-US" altLang="en-US" dirty="0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212" y="4847864"/>
            <a:ext cx="5257800" cy="1895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269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  <a:latin typeface="Times New Roman" pitchFamily="18" charset="0"/>
              </a:rPr>
              <a:t>Машина на </a:t>
            </a:r>
            <a:r>
              <a:rPr lang="bg-BG" altLang="en-US" dirty="0" err="1">
                <a:solidFill>
                  <a:schemeClr val="tx2"/>
                </a:solidFill>
                <a:latin typeface="Times New Roman" pitchFamily="18" charset="0"/>
              </a:rPr>
              <a:t>Тюринг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Управляващо устройство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Controller</a:t>
            </a:r>
            <a:r>
              <a:rPr lang="bg-BG" altLang="en-US" dirty="0" smtClean="0"/>
              <a:t>)</a:t>
            </a:r>
            <a:endParaRPr lang="en-US" altLang="en-US" dirty="0"/>
          </a:p>
          <a:p>
            <a:pPr lvl="1"/>
            <a:r>
              <a:rPr lang="bg-BG" altLang="en-US" dirty="0" smtClean="0"/>
              <a:t>Контролерът е теоретичен еквивалент на централния процесор (CPU) в съвременните компютри.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pPr lvl="2"/>
            <a:r>
              <a:rPr lang="bg-BG" altLang="en-US" dirty="0" smtClean="0"/>
              <a:t>Това е </a:t>
            </a:r>
            <a:r>
              <a:rPr lang="bg-BG" altLang="en-US" i="1" dirty="0" smtClean="0"/>
              <a:t>краен автомат</a:t>
            </a:r>
            <a:r>
              <a:rPr lang="bg-BG" altLang="en-US" dirty="0" smtClean="0"/>
              <a:t>, т.е. устройство което има краен брой предварително дефинирани устойчиви състояния като преместването между тези състояние се управлява от входните символи.</a:t>
            </a:r>
          </a:p>
          <a:p>
            <a:pPr lvl="2"/>
            <a:r>
              <a:rPr lang="bg-BG" altLang="en-US" dirty="0" smtClean="0"/>
              <a:t>Обобщената диаграма на автомата може да се представи по следния начин: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412" y="4204468"/>
            <a:ext cx="6227763" cy="2437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35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  <a:latin typeface="Times New Roman" pitchFamily="18" charset="0"/>
              </a:rPr>
              <a:t>Машина на </a:t>
            </a:r>
            <a:r>
              <a:rPr lang="bg-BG" altLang="en-US" dirty="0" err="1">
                <a:solidFill>
                  <a:schemeClr val="tx2"/>
                </a:solidFill>
                <a:latin typeface="Times New Roman" pitchFamily="18" charset="0"/>
              </a:rPr>
              <a:t>Тюринг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Реализация на командите от дефинирания език</a:t>
            </a:r>
          </a:p>
          <a:p>
            <a:pPr lvl="1"/>
            <a:r>
              <a:rPr lang="bg-BG" altLang="en-US" dirty="0" smtClean="0"/>
              <a:t>Реализация на </a:t>
            </a:r>
            <a:r>
              <a:rPr lang="en-US" altLang="en-US" dirty="0" smtClean="0"/>
              <a:t>‘</a:t>
            </a:r>
            <a:r>
              <a:rPr lang="en-US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 X )</a:t>
            </a:r>
            <a:r>
              <a:rPr lang="en-US" altLang="en-US" dirty="0" smtClean="0"/>
              <a:t>’</a:t>
            </a:r>
          </a:p>
          <a:p>
            <a:pPr lvl="2"/>
            <a:r>
              <a:rPr lang="bg-BG" altLang="en-US" dirty="0" smtClean="0"/>
              <a:t>Поредица от команди при </a:t>
            </a:r>
            <a:r>
              <a:rPr lang="en-US" altLang="en-US" dirty="0" smtClean="0"/>
              <a:t>X == 2</a:t>
            </a:r>
            <a:endParaRPr lang="en-US" altLang="en-US" dirty="0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49" y="2667000"/>
            <a:ext cx="8348743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24" y="3505200"/>
            <a:ext cx="9822068" cy="2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09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Числата на </a:t>
            </a:r>
            <a:r>
              <a:rPr lang="bg-BG" dirty="0" err="1" smtClean="0"/>
              <a:t>Гьодел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Друг важен </a:t>
            </a:r>
            <a:r>
              <a:rPr lang="bg-BG" dirty="0"/>
              <a:t>теоретичен модел е предложен от австрийския математик </a:t>
            </a:r>
            <a:r>
              <a:rPr lang="bg-BG" dirty="0" err="1"/>
              <a:t>Курт</a:t>
            </a:r>
            <a:r>
              <a:rPr lang="bg-BG" dirty="0"/>
              <a:t> </a:t>
            </a:r>
            <a:r>
              <a:rPr lang="bg-BG" dirty="0" err="1"/>
              <a:t>Гьодел</a:t>
            </a:r>
            <a:r>
              <a:rPr lang="bg-BG" dirty="0"/>
              <a:t> (</a:t>
            </a:r>
            <a:r>
              <a:rPr lang="bg-BG" dirty="0" err="1"/>
              <a:t>Kurt</a:t>
            </a:r>
            <a:r>
              <a:rPr lang="bg-BG" dirty="0"/>
              <a:t> </a:t>
            </a:r>
            <a:r>
              <a:rPr lang="bg-BG" altLang="en-US" dirty="0" err="1"/>
              <a:t>Gödel</a:t>
            </a:r>
            <a:r>
              <a:rPr lang="bg-BG" dirty="0"/>
              <a:t>)</a:t>
            </a:r>
          </a:p>
          <a:p>
            <a:pPr lvl="1"/>
            <a:r>
              <a:rPr lang="bg-BG" dirty="0" smtClean="0"/>
              <a:t>Той предлага да се използва </a:t>
            </a:r>
            <a:r>
              <a:rPr lang="bg-BG" dirty="0" err="1" smtClean="0"/>
              <a:t>беззнаково</a:t>
            </a:r>
            <a:r>
              <a:rPr lang="bg-BG" dirty="0" smtClean="0"/>
              <a:t> цяло число като означение (кодиране) на всяка програма, написана на даден език. Тези числови еквиваленти се наричат „числа на </a:t>
            </a:r>
            <a:r>
              <a:rPr lang="bg-BG" dirty="0" err="1" smtClean="0"/>
              <a:t>Гьодел</a:t>
            </a:r>
            <a:r>
              <a:rPr lang="bg-BG" dirty="0" smtClean="0"/>
              <a:t>“.</a:t>
            </a:r>
          </a:p>
          <a:p>
            <a:pPr lvl="1"/>
            <a:r>
              <a:rPr lang="bg-BG" dirty="0" smtClean="0"/>
              <a:t>Тази задача има много предимства: </a:t>
            </a:r>
          </a:p>
          <a:p>
            <a:pPr lvl="2"/>
            <a:r>
              <a:rPr lang="bg-BG" dirty="0" smtClean="0"/>
              <a:t>Позволява програмите да се използват като елемент от входните данни на друга програма – това е основополагащата идея, че данните и кода се различават само от интерпретацията на записа в паметта. </a:t>
            </a:r>
          </a:p>
          <a:p>
            <a:pPr lvl="2"/>
            <a:r>
              <a:rPr lang="bg-BG" dirty="0" smtClean="0"/>
              <a:t>Програмите имат смисъл само като цялостни представяне. </a:t>
            </a:r>
          </a:p>
          <a:p>
            <a:pPr lvl="2"/>
            <a:r>
              <a:rPr lang="bg-BG" dirty="0" smtClean="0"/>
              <a:t>Възможността да се създаде числото на </a:t>
            </a:r>
            <a:r>
              <a:rPr lang="bg-BG" dirty="0" err="1" smtClean="0"/>
              <a:t>Гьодел</a:t>
            </a:r>
            <a:r>
              <a:rPr lang="bg-BG" dirty="0" smtClean="0"/>
              <a:t> може да се използва, за да се провери дали даден проблем може да се реши от компютър.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344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Числата на </a:t>
            </a:r>
            <a:r>
              <a:rPr lang="bg-BG" dirty="0" err="1" smtClean="0"/>
              <a:t>Гьодел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Друг важен теоретичен модел е предложен от </a:t>
            </a:r>
            <a:r>
              <a:rPr lang="bg-BG" dirty="0" err="1" smtClean="0"/>
              <a:t>австийският</a:t>
            </a:r>
            <a:r>
              <a:rPr lang="bg-BG" dirty="0" smtClean="0"/>
              <a:t> математик </a:t>
            </a:r>
            <a:r>
              <a:rPr lang="bg-BG" dirty="0" err="1" smtClean="0"/>
              <a:t>Курт</a:t>
            </a:r>
            <a:r>
              <a:rPr lang="bg-BG" dirty="0" smtClean="0"/>
              <a:t> </a:t>
            </a:r>
            <a:r>
              <a:rPr lang="bg-BG" dirty="0" err="1" smtClean="0"/>
              <a:t>Гьодел</a:t>
            </a:r>
            <a:r>
              <a:rPr lang="bg-BG" dirty="0" smtClean="0"/>
              <a:t> (</a:t>
            </a:r>
            <a:r>
              <a:rPr lang="bg-BG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Kurt</a:t>
            </a:r>
            <a:r>
              <a:rPr lang="bg-BG" dirty="0" smtClean="0"/>
              <a:t> </a:t>
            </a:r>
            <a:r>
              <a:rPr lang="bg-BG" alt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Gödel</a:t>
            </a:r>
            <a:r>
              <a:rPr lang="bg-BG" dirty="0" smtClean="0"/>
              <a:t>)</a:t>
            </a:r>
          </a:p>
          <a:p>
            <a:pPr lvl="1"/>
            <a:r>
              <a:rPr lang="bg-BG" dirty="0" smtClean="0"/>
              <a:t>Приложение: таблица от възможните кодове за дефинирания език.</a:t>
            </a:r>
          </a:p>
          <a:p>
            <a:pPr lvl="1"/>
            <a:r>
              <a:rPr lang="bg-BG" dirty="0" smtClean="0"/>
              <a:t>Пример:</a:t>
            </a:r>
            <a:r>
              <a:rPr lang="en-US" dirty="0" smtClean="0"/>
              <a:t> </a:t>
            </a:r>
            <a:r>
              <a:rPr lang="bg-BG" dirty="0" smtClean="0"/>
              <a:t>кодиране</a:t>
            </a:r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r>
              <a:rPr lang="bg-BG" dirty="0" smtClean="0"/>
              <a:t>Изпълнение:</a:t>
            </a:r>
            <a:endParaRPr lang="bg-BG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730" y="2810723"/>
            <a:ext cx="5558143" cy="3361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979612" y="3733800"/>
            <a:ext cx="396240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Incr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(X)-&gt; (AF)</a:t>
            </a:r>
            <a:r>
              <a:rPr lang="en-US" sz="2000" baseline="-25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16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-&gt; 175</a:t>
            </a:r>
            <a:endParaRPr lang="en-US" sz="2000" dirty="0">
              <a:solidFill>
                <a:schemeClr val="tx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9612" y="5334000"/>
            <a:ext cx="3352800" cy="1015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bg-BG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3052 -&gt; 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(BF2)</a:t>
            </a:r>
            <a:r>
              <a:rPr lang="en-US" sz="2000" baseline="-25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16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b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      -&gt; </a:t>
            </a:r>
            <a:r>
              <a:rPr lang="en-US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Decr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X 2 </a:t>
            </a:r>
            <a:b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        -&gt; </a:t>
            </a:r>
            <a:r>
              <a:rPr lang="en-US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Decr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 X</a:t>
            </a:r>
            <a:r>
              <a:rPr lang="en-US" sz="2000" baseline="-25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2</a:t>
            </a:r>
            <a:r>
              <a:rPr lang="en-US" sz="2000" dirty="0" smtClean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) </a:t>
            </a:r>
            <a:endParaRPr lang="en-US" sz="2000" dirty="0">
              <a:solidFill>
                <a:schemeClr val="tx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70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/>
              <a:t>Модел на фон </a:t>
            </a:r>
            <a:r>
              <a:rPr lang="bg-BG" altLang="en-US" dirty="0" err="1"/>
              <a:t>Нойман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672150" cy="5410200"/>
          </a:xfrm>
        </p:spPr>
        <p:txBody>
          <a:bodyPr>
            <a:normAutofit fontScale="92500" lnSpcReduction="10000"/>
          </a:bodyPr>
          <a:lstStyle/>
          <a:p>
            <a:r>
              <a:rPr lang="bg-BG" altLang="en-US" dirty="0" smtClean="0">
                <a:cs typeface="Calibri" panose="020F0502020204030204" pitchFamily="34" charset="0"/>
              </a:rPr>
              <a:t>Големият </a:t>
            </a:r>
            <a:r>
              <a:rPr lang="bg-BG" altLang="en-US" i="1" dirty="0" smtClean="0">
                <a:cs typeface="Calibri" panose="020F0502020204030204" pitchFamily="34" charset="0"/>
              </a:rPr>
              <a:t>проблем</a:t>
            </a:r>
            <a:r>
              <a:rPr lang="bg-BG" altLang="en-US" dirty="0" smtClean="0">
                <a:cs typeface="Calibri" panose="020F0502020204030204" pitchFamily="34" charset="0"/>
              </a:rPr>
              <a:t> на модела на </a:t>
            </a:r>
            <a:r>
              <a:rPr lang="bg-BG" altLang="en-US" dirty="0" err="1" smtClean="0">
                <a:cs typeface="Calibri" panose="020F0502020204030204" pitchFamily="34" charset="0"/>
              </a:rPr>
              <a:t>Тюринг</a:t>
            </a:r>
            <a:r>
              <a:rPr lang="bg-BG" altLang="en-US" dirty="0" smtClean="0">
                <a:cs typeface="Calibri" panose="020F0502020204030204" pitchFamily="34" charset="0"/>
              </a:rPr>
              <a:t> е приемането, че </a:t>
            </a:r>
            <a:r>
              <a:rPr lang="bg-BG" altLang="en-US" i="1" dirty="0" smtClean="0">
                <a:cs typeface="Calibri" panose="020F0502020204030204" pitchFamily="34" charset="0"/>
              </a:rPr>
              <a:t>лентата е безкрайна.</a:t>
            </a:r>
          </a:p>
          <a:p>
            <a:pPr lvl="1"/>
            <a:r>
              <a:rPr lang="bg-BG" altLang="en-US" dirty="0" smtClean="0">
                <a:cs typeface="Calibri" panose="020F0502020204030204" pitchFamily="34" charset="0"/>
              </a:rPr>
              <a:t>Това създава невъзможност за практическа реализация в реално устройство.</a:t>
            </a:r>
          </a:p>
          <a:p>
            <a:r>
              <a:rPr lang="bg-BG" altLang="en-US" dirty="0" smtClean="0">
                <a:cs typeface="Calibri" panose="020F0502020204030204" pitchFamily="34" charset="0"/>
              </a:rPr>
              <a:t>В периода </a:t>
            </a:r>
            <a:r>
              <a:rPr lang="en-US" altLang="en-US" dirty="0" smtClean="0">
                <a:cs typeface="Calibri" panose="020F0502020204030204" pitchFamily="34" charset="0"/>
              </a:rPr>
              <a:t>1944–1945</a:t>
            </a:r>
            <a:r>
              <a:rPr lang="bg-BG" altLang="en-US" dirty="0" smtClean="0">
                <a:cs typeface="Calibri" panose="020F0502020204030204" pitchFamily="34" charset="0"/>
              </a:rPr>
              <a:t>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фон </a:t>
            </a:r>
            <a:r>
              <a:rPr lang="bg-BG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Нойман</a:t>
            </a:r>
            <a:r>
              <a:rPr lang="bg-BG" altLang="en-US" dirty="0" smtClean="0">
                <a:cs typeface="Calibri" panose="020F0502020204030204" pitchFamily="34" charset="0"/>
              </a:rPr>
              <a:t> (</a:t>
            </a:r>
            <a:r>
              <a:rPr lang="en-US" altLang="en-US" dirty="0" smtClean="0">
                <a:cs typeface="Calibri" panose="020F0502020204030204" pitchFamily="34" charset="0"/>
              </a:rPr>
              <a:t>John </a:t>
            </a:r>
            <a:r>
              <a:rPr lang="en-US" altLang="en-US" dirty="0">
                <a:cs typeface="Calibri" panose="020F0502020204030204" pitchFamily="34" charset="0"/>
              </a:rPr>
              <a:t>von </a:t>
            </a:r>
            <a:r>
              <a:rPr lang="en-US" altLang="en-US" dirty="0" smtClean="0">
                <a:cs typeface="Calibri" panose="020F0502020204030204" pitchFamily="34" charset="0"/>
              </a:rPr>
              <a:t>Neumann</a:t>
            </a:r>
            <a:r>
              <a:rPr lang="bg-BG" altLang="en-US" dirty="0" smtClean="0">
                <a:cs typeface="Calibri" panose="020F0502020204030204" pitchFamily="34" charset="0"/>
              </a:rPr>
              <a:t>) предлага промяна, която прави възможно създаване на реално устройство, реализиращо принципа на машината на </a:t>
            </a:r>
            <a:r>
              <a:rPr lang="bg-BG" altLang="en-US" dirty="0" err="1" smtClean="0">
                <a:cs typeface="Calibri" panose="020F0502020204030204" pitchFamily="34" charset="0"/>
              </a:rPr>
              <a:t>Тюринг</a:t>
            </a:r>
            <a:r>
              <a:rPr lang="bg-BG" altLang="en-US" dirty="0" smtClean="0"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bg-BG" altLang="en-US" dirty="0" smtClean="0">
                <a:cs typeface="Calibri" panose="020F0502020204030204" pitchFamily="34" charset="0"/>
              </a:rPr>
              <a:t>Фон </a:t>
            </a:r>
            <a:r>
              <a:rPr lang="bg-BG" altLang="en-US" dirty="0" err="1" smtClean="0">
                <a:cs typeface="Calibri" panose="020F0502020204030204" pitchFamily="34" charset="0"/>
              </a:rPr>
              <a:t>Нойман</a:t>
            </a:r>
            <a:r>
              <a:rPr lang="bg-BG" altLang="en-US" dirty="0" smtClean="0">
                <a:cs typeface="Calibri" panose="020F0502020204030204" pitchFamily="34" charset="0"/>
              </a:rPr>
              <a:t> дефинира, че програмата и данните са логически едно и също нещо.</a:t>
            </a:r>
          </a:p>
          <a:p>
            <a:pPr lvl="1"/>
            <a:r>
              <a:rPr lang="bg-BG" altLang="en-US" dirty="0" smtClean="0">
                <a:cs typeface="Calibri" panose="020F0502020204030204" pitchFamily="34" charset="0"/>
              </a:rPr>
              <a:t>Дефинира 4 основни подсистеми: памет, аритметично-логическо устройство, управляващо устройство, вход/изход.</a:t>
            </a:r>
          </a:p>
          <a:p>
            <a:pPr lvl="1"/>
            <a:r>
              <a:rPr lang="bg-BG" altLang="en-US" dirty="0" smtClean="0">
                <a:cs typeface="Calibri" panose="020F0502020204030204" pitchFamily="34" charset="0"/>
              </a:rPr>
              <a:t>Програмата и данните се съхраняват в паметта на компютъра.</a:t>
            </a:r>
            <a:endParaRPr lang="en-US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9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/>
              <a:t>Модел на фон </a:t>
            </a:r>
            <a:r>
              <a:rPr lang="bg-BG" altLang="en-US" dirty="0" err="1"/>
              <a:t>Нойман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altLang="en-US" sz="3000" dirty="0" smtClean="0">
                <a:cs typeface="Calibri" panose="020F0502020204030204" pitchFamily="34" charset="0"/>
              </a:rPr>
              <a:t>Структурна схема</a:t>
            </a:r>
          </a:p>
          <a:p>
            <a:pPr lvl="1">
              <a:spcBef>
                <a:spcPts val="300"/>
              </a:spcBef>
            </a:pPr>
            <a:r>
              <a:rPr lang="bg-BG" altLang="en-US" sz="2700" dirty="0" smtClean="0">
                <a:cs typeface="Calibri" panose="020F0502020204030204" pitchFamily="34" charset="0"/>
              </a:rPr>
              <a:t>Аритметично-логическо устройство </a:t>
            </a:r>
            <a:endParaRPr lang="en-US" altLang="en-US" sz="2700" dirty="0" smtClean="0">
              <a:cs typeface="Calibri" panose="020F0502020204030204" pitchFamily="34" charset="0"/>
            </a:endParaRPr>
          </a:p>
          <a:p>
            <a:pPr lvl="2">
              <a:spcBef>
                <a:spcPts val="300"/>
              </a:spcBef>
            </a:pPr>
            <a:r>
              <a:rPr lang="bg-BG" altLang="en-US" sz="2200" dirty="0" err="1" smtClean="0">
                <a:cs typeface="Calibri" panose="020F0502020204030204" pitchFamily="34" charset="0"/>
              </a:rPr>
              <a:t>англ</a:t>
            </a:r>
            <a:r>
              <a:rPr lang="bg-BG" altLang="en-US" sz="2200" dirty="0" smtClean="0">
                <a:cs typeface="Calibri" panose="020F0502020204030204" pitchFamily="34" charset="0"/>
              </a:rPr>
              <a:t>. </a:t>
            </a:r>
            <a:r>
              <a:rPr lang="en-US" altLang="en-US" sz="2200" dirty="0" err="1" smtClean="0">
                <a:cs typeface="Calibri" panose="020F0502020204030204" pitchFamily="34" charset="0"/>
              </a:rPr>
              <a:t>Aritmetic</a:t>
            </a:r>
            <a:r>
              <a:rPr lang="en-US" altLang="en-US" sz="2200" dirty="0" smtClean="0">
                <a:cs typeface="Calibri" panose="020F0502020204030204" pitchFamily="34" charset="0"/>
              </a:rPr>
              <a:t> Logic </a:t>
            </a:r>
            <a:r>
              <a:rPr lang="en-US" altLang="en-US" sz="2200" dirty="0">
                <a:cs typeface="Calibri" panose="020F0502020204030204" pitchFamily="34" charset="0"/>
              </a:rPr>
              <a:t>U</a:t>
            </a:r>
            <a:r>
              <a:rPr lang="en-US" altLang="en-US" sz="2200" dirty="0" smtClean="0">
                <a:cs typeface="Calibri" panose="020F0502020204030204" pitchFamily="34" charset="0"/>
              </a:rPr>
              <a:t>nit – ALU</a:t>
            </a:r>
          </a:p>
          <a:p>
            <a:pPr lvl="1">
              <a:spcBef>
                <a:spcPts val="300"/>
              </a:spcBef>
            </a:pPr>
            <a:r>
              <a:rPr lang="bg-BG" altLang="en-US" sz="2700" dirty="0" smtClean="0">
                <a:cs typeface="Calibri" panose="020F0502020204030204" pitchFamily="34" charset="0"/>
              </a:rPr>
              <a:t>Управляващ блок </a:t>
            </a:r>
            <a:endParaRPr lang="en-US" altLang="en-US" sz="2700" dirty="0">
              <a:cs typeface="Calibri" panose="020F0502020204030204" pitchFamily="34" charset="0"/>
            </a:endParaRPr>
          </a:p>
          <a:p>
            <a:pPr lvl="2">
              <a:spcBef>
                <a:spcPts val="300"/>
              </a:spcBef>
            </a:pPr>
            <a:r>
              <a:rPr lang="bg-BG" altLang="en-US" sz="2200" dirty="0" err="1">
                <a:cs typeface="Calibri" panose="020F0502020204030204" pitchFamily="34" charset="0"/>
              </a:rPr>
              <a:t>англ</a:t>
            </a:r>
            <a:r>
              <a:rPr lang="bg-BG" altLang="en-US" sz="2200" dirty="0">
                <a:cs typeface="Calibri" panose="020F0502020204030204" pitchFamily="34" charset="0"/>
              </a:rPr>
              <a:t>. </a:t>
            </a:r>
            <a:r>
              <a:rPr lang="en-US" altLang="en-US" sz="2200" dirty="0" smtClean="0">
                <a:cs typeface="Calibri" panose="020F0502020204030204" pitchFamily="34" charset="0"/>
              </a:rPr>
              <a:t>Control unit</a:t>
            </a:r>
          </a:p>
          <a:p>
            <a:pPr lvl="1">
              <a:spcBef>
                <a:spcPts val="300"/>
              </a:spcBef>
            </a:pPr>
            <a:r>
              <a:rPr lang="bg-BG" altLang="en-US" sz="2700" dirty="0" smtClean="0">
                <a:cs typeface="Calibri" panose="020F0502020204030204" pitchFamily="34" charset="0"/>
              </a:rPr>
              <a:t>Входно/Изходна подсистема</a:t>
            </a:r>
          </a:p>
          <a:p>
            <a:pPr lvl="2">
              <a:spcBef>
                <a:spcPts val="300"/>
              </a:spcBef>
            </a:pPr>
            <a:r>
              <a:rPr lang="bg-BG" altLang="en-US" sz="2200" dirty="0" err="1">
                <a:cs typeface="Calibri" panose="020F0502020204030204" pitchFamily="34" charset="0"/>
              </a:rPr>
              <a:t>англ</a:t>
            </a:r>
            <a:r>
              <a:rPr lang="bg-BG" altLang="en-US" sz="2200" dirty="0">
                <a:cs typeface="Calibri" panose="020F0502020204030204" pitchFamily="34" charset="0"/>
              </a:rPr>
              <a:t>. </a:t>
            </a:r>
            <a:r>
              <a:rPr lang="en-US" altLang="en-US" sz="2200" dirty="0" err="1" smtClean="0">
                <a:cs typeface="Calibri" panose="020F0502020204030204" pitchFamily="34" charset="0"/>
              </a:rPr>
              <a:t>Input/Output</a:t>
            </a:r>
            <a:endParaRPr lang="en-US" altLang="en-US" sz="2200" dirty="0" smtClean="0">
              <a:cs typeface="Calibri" panose="020F0502020204030204" pitchFamily="34" charset="0"/>
            </a:endParaRPr>
          </a:p>
          <a:p>
            <a:pPr lvl="1">
              <a:spcBef>
                <a:spcPts val="300"/>
              </a:spcBef>
            </a:pPr>
            <a:r>
              <a:rPr lang="bg-BG" altLang="en-US" sz="2700" dirty="0" smtClean="0">
                <a:cs typeface="Calibri" panose="020F0502020204030204" pitchFamily="34" charset="0"/>
              </a:rPr>
              <a:t>Памет</a:t>
            </a:r>
          </a:p>
          <a:p>
            <a:pPr lvl="2">
              <a:spcBef>
                <a:spcPts val="300"/>
              </a:spcBef>
            </a:pPr>
            <a:r>
              <a:rPr lang="bg-BG" altLang="en-US" sz="2200" dirty="0" err="1">
                <a:cs typeface="Calibri" panose="020F0502020204030204" pitchFamily="34" charset="0"/>
              </a:rPr>
              <a:t>англ</a:t>
            </a:r>
            <a:r>
              <a:rPr lang="bg-BG" altLang="en-US" sz="2200" dirty="0">
                <a:cs typeface="Calibri" panose="020F0502020204030204" pitchFamily="34" charset="0"/>
              </a:rPr>
              <a:t>. </a:t>
            </a:r>
            <a:r>
              <a:rPr lang="en-US" altLang="en-US" sz="2200" dirty="0" smtClean="0">
                <a:cs typeface="Calibri" panose="020F0502020204030204" pitchFamily="34" charset="0"/>
              </a:rPr>
              <a:t>Memory</a:t>
            </a:r>
            <a:endParaRPr lang="en-US" altLang="en-US" sz="2200" dirty="0">
              <a:cs typeface="Calibri" panose="020F0502020204030204" pitchFamily="34" charset="0"/>
            </a:endParaRPr>
          </a:p>
          <a:p>
            <a:pPr lvl="2"/>
            <a:endParaRPr lang="en-US" altLang="en-US" dirty="0">
              <a:cs typeface="Calibri" panose="020F0502020204030204" pitchFamily="34" charset="0"/>
            </a:endParaRPr>
          </a:p>
          <a:p>
            <a:pPr lvl="2"/>
            <a:endParaRPr lang="en-US" altLang="en-US" dirty="0">
              <a:cs typeface="Calibri" panose="020F0502020204030204" pitchFamily="34" charset="0"/>
            </a:endParaRPr>
          </a:p>
          <a:p>
            <a:pPr lvl="1"/>
            <a:endParaRPr lang="bg-BG" altLang="en-US" dirty="0" smtClean="0">
              <a:cs typeface="Calibri" panose="020F0502020204030204" pitchFamily="34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12" y="4114800"/>
            <a:ext cx="7200900" cy="2600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37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Концепцията „Програма“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altLang="en-US" dirty="0" smtClean="0"/>
              <a:t>Моделът на фон </a:t>
            </a:r>
            <a:r>
              <a:rPr lang="bg-BG" altLang="en-US" dirty="0" err="1" smtClean="0"/>
              <a:t>Нойман</a:t>
            </a:r>
            <a:r>
              <a:rPr lang="bg-BG" altLang="en-US" dirty="0" smtClean="0"/>
              <a:t> явно дефинира необходимостта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програмата</a:t>
            </a:r>
            <a:r>
              <a:rPr lang="bg-BG" altLang="en-US" dirty="0" smtClean="0"/>
              <a:t> да бъде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съхранявана в паметта</a:t>
            </a:r>
            <a:r>
              <a:rPr lang="en-US" altLang="en-US" dirty="0" smtClean="0"/>
              <a:t>. </a:t>
            </a:r>
          </a:p>
          <a:p>
            <a:pPr lvl="1">
              <a:lnSpc>
                <a:spcPct val="100000"/>
              </a:lnSpc>
            </a:pPr>
            <a:r>
              <a:rPr lang="bg-BG" altLang="en-US" dirty="0" smtClean="0"/>
              <a:t>Това е радикална промяна на началната концепция за компютър, където в паметта се съхраняват само данните. </a:t>
            </a:r>
          </a:p>
          <a:p>
            <a:pPr lvl="1">
              <a:lnSpc>
                <a:spcPct val="100000"/>
              </a:lnSpc>
            </a:pPr>
            <a:r>
              <a:rPr lang="bg-BG" altLang="en-US" dirty="0" smtClean="0"/>
              <a:t>Програмата се реализира по два възможни начина: </a:t>
            </a:r>
          </a:p>
          <a:p>
            <a:pPr lvl="2">
              <a:lnSpc>
                <a:spcPct val="100000"/>
              </a:lnSpc>
            </a:pPr>
            <a:r>
              <a:rPr lang="bg-BG" altLang="en-US" dirty="0" smtClean="0"/>
              <a:t>чрез система от ключове, които се превключват според програмата</a:t>
            </a:r>
          </a:p>
          <a:p>
            <a:pPr lvl="2">
              <a:lnSpc>
                <a:spcPct val="100000"/>
              </a:lnSpc>
            </a:pPr>
            <a:r>
              <a:rPr lang="bg-BG" altLang="en-US" dirty="0" smtClean="0"/>
              <a:t>чрез промяна на опроводяване на системата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>
              <a:lnSpc>
                <a:spcPct val="100000"/>
              </a:lnSpc>
            </a:pPr>
            <a:r>
              <a:rPr lang="bg-BG" altLang="en-US" dirty="0" smtClean="0"/>
              <a:t>Всички съвременни компютри реализират тази концепция за програмата:</a:t>
            </a:r>
          </a:p>
          <a:p>
            <a:pPr lvl="1">
              <a:lnSpc>
                <a:spcPct val="100000"/>
              </a:lnSpc>
            </a:pPr>
            <a:r>
              <a:rPr lang="bg-BG" altLang="en-US" dirty="0" smtClean="0"/>
              <a:t>Програмата и данните се съхраняват в паметта на компютъра по идентичен начин – те се съхраняват като поредици от 0 и 1, обединени в групи (байтове, думи, двойни думи, …).</a:t>
            </a:r>
          </a:p>
          <a:p>
            <a:pPr lvl="1">
              <a:lnSpc>
                <a:spcPct val="100000"/>
              </a:lnSpc>
            </a:pPr>
            <a:r>
              <a:rPr lang="bg-BG" altLang="en-US" dirty="0" smtClean="0"/>
              <a:t>Всяка програма може да се разглежда като данни – използва се за отдалечено обновяване на програмите или части от тях.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Изпълнение на инструкциите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864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400"/>
              </a:spcBef>
            </a:pPr>
            <a:r>
              <a:rPr lang="bg-BG" altLang="en-US" dirty="0" smtClean="0"/>
              <a:t>Програмата, както е дефинирана в модела на фон </a:t>
            </a:r>
            <a:r>
              <a:rPr lang="bg-BG" altLang="en-US" dirty="0" err="1" smtClean="0"/>
              <a:t>Нойман</a:t>
            </a:r>
            <a:r>
              <a:rPr lang="bg-BG" altLang="en-US" dirty="0" smtClean="0"/>
              <a:t>, представлява </a:t>
            </a: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краен набор </a:t>
            </a:r>
            <a:r>
              <a:rPr lang="bg-BG" altLang="en-US" dirty="0" smtClean="0"/>
              <a:t>от единични инструкции</a:t>
            </a:r>
            <a:r>
              <a:rPr lang="en-US" altLang="en-US" dirty="0" smtClean="0"/>
              <a:t>. </a:t>
            </a:r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В този модел управляващият блок извлича една инструкция от паметта, декодира я и я изпълнява.</a:t>
            </a:r>
          </a:p>
          <a:p>
            <a:pPr lvl="2">
              <a:spcBef>
                <a:spcPts val="400"/>
              </a:spcBef>
            </a:pPr>
            <a:r>
              <a:rPr lang="bg-BG" altLang="en-US" dirty="0" smtClean="0"/>
              <a:t>Инструкциите се изпълнява една след друга, като новата започва след цялостното приключване на предходната.</a:t>
            </a:r>
            <a:r>
              <a:rPr lang="en-US" altLang="en-US" dirty="0" smtClean="0"/>
              <a:t> </a:t>
            </a:r>
          </a:p>
          <a:p>
            <a:pPr lvl="2">
              <a:spcBef>
                <a:spcPts val="400"/>
              </a:spcBef>
            </a:pPr>
            <a:r>
              <a:rPr lang="bg-BG" altLang="en-US" dirty="0" smtClean="0"/>
              <a:t>Това се отнася и за случаите, в които управляващият блок изпълнява инструкция за преход (напр. </a:t>
            </a:r>
            <a:r>
              <a:rPr lang="en-US" altLang="en-US" dirty="0" smtClean="0"/>
              <a:t>jump</a:t>
            </a:r>
            <a:r>
              <a:rPr lang="bg-BG" altLang="en-US" dirty="0" smtClean="0"/>
              <a:t>)</a:t>
            </a:r>
            <a:r>
              <a:rPr lang="en-US" altLang="en-US" dirty="0" smtClean="0"/>
              <a:t> </a:t>
            </a:r>
            <a:r>
              <a:rPr lang="bg-BG" altLang="en-US" dirty="0" smtClean="0"/>
              <a:t>към някоя друга инструкция – напълно приключва инструкцията за преход и едва след това се започва изпълнението на новата инструкция.</a:t>
            </a:r>
            <a:r>
              <a:rPr lang="en-US" altLang="en-US" dirty="0" smtClean="0"/>
              <a:t> </a:t>
            </a:r>
          </a:p>
          <a:p>
            <a:pPr>
              <a:spcBef>
                <a:spcPts val="400"/>
              </a:spcBef>
            </a:pP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Последователното </a:t>
            </a:r>
            <a:r>
              <a:rPr lang="bg-BG" altLang="en-US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постъпково</a:t>
            </a: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изпълнение </a:t>
            </a:r>
            <a:r>
              <a:rPr lang="bg-BG" altLang="en-US" dirty="0" smtClean="0"/>
              <a:t>на инструкциите на програмата е основополагащо изискване за всички компютри, базирани на модела на фон </a:t>
            </a:r>
            <a:r>
              <a:rPr lang="bg-BG" altLang="en-US" dirty="0" err="1" smtClean="0"/>
              <a:t>Нойман</a:t>
            </a:r>
            <a:r>
              <a:rPr lang="en-US" altLang="en-US" dirty="0" smtClean="0"/>
              <a:t>. </a:t>
            </a:r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Едно уточнение: сега съществува система за оптимизация на изпълнението на програмата, т.е. инструкциите се „пренареждат“, но след това отново се изпълняват последователно една по една.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224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bg-BG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Компютри и Генерични видове данни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152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Генерични видове данни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/>
          <a:lstStyle/>
          <a:p>
            <a:r>
              <a:rPr lang="bg-BG" altLang="en-US" dirty="0" smtClean="0"/>
              <a:t>Генеричните видове данни, обработвани от съвременните компютри са: числа, символни/текстови, аудио, изображения, видео.</a:t>
            </a:r>
          </a:p>
          <a:p>
            <a:pPr lvl="1"/>
            <a:r>
              <a:rPr lang="bg-BG" dirty="0" smtClean="0"/>
              <a:t>В компютъра те се съхраняват като последователност от 0 и 1, обединени по специален начин в групи.</a:t>
            </a:r>
          </a:p>
          <a:p>
            <a:pPr lvl="2"/>
            <a:r>
              <a:rPr lang="bg-BG" dirty="0" smtClean="0"/>
              <a:t>Начинът на обединение в групи и представянето на данните чрез тези групи е прието да се нарича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кодиране/вътрешно представяне</a:t>
            </a:r>
            <a:r>
              <a:rPr lang="bg-BG" dirty="0" smtClean="0"/>
              <a:t>. </a:t>
            </a:r>
          </a:p>
          <a:p>
            <a:pPr lvl="1"/>
            <a:r>
              <a:rPr lang="bg-BG" dirty="0" smtClean="0"/>
              <a:t>Разликата между данните на компютърно ниво е в начина на интерпретацията на последователността от 0 и 1: </a:t>
            </a:r>
          </a:p>
          <a:p>
            <a:pPr lvl="2"/>
            <a:r>
              <a:rPr lang="bg-BG" dirty="0" smtClean="0"/>
              <a:t>размер</a:t>
            </a:r>
          </a:p>
          <a:p>
            <a:pPr lvl="2"/>
            <a:r>
              <a:rPr lang="bg-BG" dirty="0" smtClean="0"/>
              <a:t>синтаксис </a:t>
            </a:r>
          </a:p>
          <a:p>
            <a:pPr lvl="2"/>
            <a:r>
              <a:rPr lang="bg-BG" dirty="0" smtClean="0"/>
              <a:t>семантика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12" y="2438400"/>
            <a:ext cx="686098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264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Кодиране на данни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За представяне на генеричните данни в компютъра се използват т.нар. двоично кодиране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dirty="0" smtClean="0"/>
              <a:t>Binary coding)</a:t>
            </a:r>
            <a:endParaRPr lang="bg-BG" dirty="0" smtClean="0"/>
          </a:p>
          <a:p>
            <a:pPr lvl="1"/>
            <a:r>
              <a:rPr lang="bg-BG" dirty="0" smtClean="0"/>
              <a:t>Използва се за представяне както на числа, така и на символи.</a:t>
            </a:r>
          </a:p>
          <a:p>
            <a:pPr lvl="1"/>
            <a:r>
              <a:rPr lang="bg-BG" dirty="0" smtClean="0"/>
              <a:t>Основното предимство е лесната реализация, което  определя и разпространението им компютърни и комуникационни приложения.</a:t>
            </a:r>
          </a:p>
          <a:p>
            <a:r>
              <a:rPr lang="bg-BG" altLang="en-US" dirty="0" smtClean="0"/>
              <a:t>Основни видове:</a:t>
            </a:r>
            <a:endParaRPr lang="bg-BG" altLang="en-US" dirty="0"/>
          </a:p>
          <a:p>
            <a:pPr lvl="1"/>
            <a:r>
              <a:rPr lang="bg-BG" altLang="en-US" dirty="0"/>
              <a:t>Позиционни</a:t>
            </a:r>
            <a:r>
              <a:rPr lang="en-US" altLang="en-US" dirty="0"/>
              <a:t> </a:t>
            </a:r>
            <a:r>
              <a:rPr lang="bg-BG" altLang="en-US" dirty="0" smtClean="0"/>
              <a:t>кодове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Weighed codes)</a:t>
            </a:r>
            <a:endParaRPr lang="bg-BG" altLang="en-US" dirty="0" smtClean="0"/>
          </a:p>
          <a:p>
            <a:pPr lvl="1"/>
            <a:r>
              <a:rPr lang="en-US" altLang="en-US" dirty="0" smtClean="0"/>
              <a:t>BCD</a:t>
            </a:r>
            <a:r>
              <a:rPr lang="bg-BG" altLang="en-US" dirty="0" smtClean="0"/>
              <a:t>-числа </a:t>
            </a:r>
          </a:p>
          <a:p>
            <a:pPr lvl="2"/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Binary </a:t>
            </a:r>
            <a:r>
              <a:rPr lang="en-US" altLang="en-US" dirty="0"/>
              <a:t>Coded </a:t>
            </a:r>
            <a:r>
              <a:rPr lang="en-US" altLang="en-US" dirty="0" smtClean="0"/>
              <a:t>Decimals (BCD</a:t>
            </a:r>
            <a:r>
              <a:rPr lang="bg-BG" altLang="en-US" dirty="0" smtClean="0"/>
              <a:t> </a:t>
            </a:r>
            <a:r>
              <a:rPr lang="en-US" altLang="en-US" dirty="0" smtClean="0"/>
              <a:t>code)</a:t>
            </a:r>
            <a:endParaRPr lang="en-US" altLang="en-US" dirty="0"/>
          </a:p>
          <a:p>
            <a:pPr lvl="1"/>
            <a:r>
              <a:rPr lang="bg-BG" altLang="en-US" dirty="0" smtClean="0"/>
              <a:t>Непозиционни кодове</a:t>
            </a:r>
          </a:p>
          <a:p>
            <a:pPr lvl="2"/>
            <a:r>
              <a:rPr lang="en-US" altLang="en-US" dirty="0" smtClean="0"/>
              <a:t>Excess-3, </a:t>
            </a:r>
            <a:r>
              <a:rPr lang="en-US" altLang="en-US" dirty="0"/>
              <a:t>Gray </a:t>
            </a:r>
            <a:r>
              <a:rPr lang="en-US" altLang="en-US" dirty="0" smtClean="0"/>
              <a:t>code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Символни кодове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Alphanumeric codes).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391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BCD-</a:t>
            </a:r>
            <a:r>
              <a:rPr lang="bg-BG" dirty="0"/>
              <a:t>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76950" cy="5410200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Същност</a:t>
            </a:r>
          </a:p>
          <a:p>
            <a:pPr lvl="1"/>
            <a:r>
              <a:rPr lang="bg-BG" dirty="0" smtClean="0"/>
              <a:t>При този начин на кодиране всяка десетична цифра се кодира с като 4-битово двоично число.</a:t>
            </a:r>
          </a:p>
          <a:p>
            <a:pPr lvl="2"/>
            <a:r>
              <a:rPr lang="bg-BG" dirty="0" smtClean="0"/>
              <a:t>Ако полученият брой на битовете не е кратен на 8, то се допълва със съответни брой 0.</a:t>
            </a:r>
          </a:p>
          <a:p>
            <a:pPr lvl="1"/>
            <a:r>
              <a:rPr lang="bg-BG" dirty="0" smtClean="0"/>
              <a:t>Използвани кодове</a:t>
            </a:r>
          </a:p>
          <a:p>
            <a:r>
              <a:rPr lang="bg-BG" dirty="0" smtClean="0"/>
              <a:t>Предимства</a:t>
            </a:r>
          </a:p>
          <a:p>
            <a:pPr lvl="1"/>
            <a:r>
              <a:rPr lang="bg-BG" dirty="0" smtClean="0"/>
              <a:t>Лесно се помнят и преобразуват.</a:t>
            </a:r>
          </a:p>
          <a:p>
            <a:r>
              <a:rPr lang="bg-BG" dirty="0" smtClean="0"/>
              <a:t>Недостатъци</a:t>
            </a:r>
          </a:p>
          <a:p>
            <a:pPr lvl="1"/>
            <a:r>
              <a:rPr lang="bg-BG" dirty="0" smtClean="0"/>
              <a:t>По-сложна реализация на математическите обработки</a:t>
            </a:r>
          </a:p>
          <a:p>
            <a:pPr lvl="1"/>
            <a:r>
              <a:rPr lang="bg-BG" dirty="0" smtClean="0"/>
              <a:t>По-неефективни при съхранение на числа от класическия двоичен формат.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3505200"/>
            <a:ext cx="8669338" cy="117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761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BCD-</a:t>
            </a:r>
            <a:r>
              <a:rPr lang="bg-BG" dirty="0"/>
              <a:t>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332412" y="2316531"/>
            <a:ext cx="1522540" cy="533400"/>
            <a:chOff x="4190872" y="3810000"/>
            <a:chExt cx="1522540" cy="533400"/>
          </a:xfrm>
        </p:grpSpPr>
        <p:sp>
          <p:nvSpPr>
            <p:cNvPr id="4" name="Rectangle 3"/>
            <p:cNvSpPr/>
            <p:nvPr/>
          </p:nvSpPr>
          <p:spPr>
            <a:xfrm>
              <a:off x="4951412" y="3810000"/>
              <a:ext cx="762000" cy="533400"/>
            </a:xfrm>
            <a:prstGeom prst="rect">
              <a:avLst/>
            </a:prstGeom>
            <a:gradFill>
              <a:gsLst>
                <a:gs pos="0">
                  <a:schemeClr val="accent4">
                    <a:lumMod val="75000"/>
                  </a:schemeClr>
                </a:gs>
                <a:gs pos="50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5400000" scaled="0"/>
            </a:gradFill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sz="3200" b="1" dirty="0" smtClean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  <a:endParaRPr lang="en-US" sz="32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190872" y="3810000"/>
              <a:ext cx="762000" cy="533400"/>
            </a:xfrm>
            <a:prstGeom prst="rect">
              <a:avLst/>
            </a:prstGeom>
            <a:gradFill>
              <a:gsLst>
                <a:gs pos="0">
                  <a:schemeClr val="accent4">
                    <a:lumMod val="75000"/>
                  </a:schemeClr>
                </a:gs>
                <a:gs pos="50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5400000" scaled="0"/>
            </a:gradFill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sz="3200" b="1" dirty="0" smtClean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sz="32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Striped Right Arrow 10"/>
          <p:cNvSpPr/>
          <p:nvPr/>
        </p:nvSpPr>
        <p:spPr>
          <a:xfrm rot="18903426">
            <a:off x="6742023" y="4948112"/>
            <a:ext cx="381000" cy="12039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riped Right Arrow 11"/>
          <p:cNvSpPr/>
          <p:nvPr/>
        </p:nvSpPr>
        <p:spPr>
          <a:xfrm>
            <a:off x="4037012" y="2523032"/>
            <a:ext cx="381000" cy="12039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751012" y="2227930"/>
            <a:ext cx="1705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4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Десетично</a:t>
            </a:r>
            <a:br>
              <a:rPr lang="bg-BG" sz="24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24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число</a:t>
            </a:r>
            <a:endParaRPr lang="en-US" sz="2400" b="1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3212" y="3524299"/>
            <a:ext cx="16764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0 1 0 </a:t>
            </a:r>
            <a:r>
              <a:rPr lang="bg-BG" sz="3200" b="1" spc="110" dirty="0" err="1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3200" b="1" spc="11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3952" y="3535731"/>
            <a:ext cx="16764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0 1 </a:t>
            </a:r>
            <a:r>
              <a:rPr lang="bg-BG" sz="3200" b="1" spc="110" dirty="0" err="1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spc="110" dirty="0" err="1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3200" b="1" spc="11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1012" y="3571598"/>
            <a:ext cx="69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Код</a:t>
            </a:r>
            <a:endParaRPr lang="en-US" sz="2400" b="1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triped Right Arrow 16"/>
          <p:cNvSpPr/>
          <p:nvPr/>
        </p:nvSpPr>
        <p:spPr>
          <a:xfrm>
            <a:off x="2817812" y="3790999"/>
            <a:ext cx="381000" cy="12039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246753" y="4297731"/>
            <a:ext cx="137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b="1" i="1" spc="120" baseline="300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27241" y="4297731"/>
            <a:ext cx="137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bg-BG" sz="2000" b="1" i="1" spc="12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000" b="1" i="1" spc="120" baseline="30000" dirty="0" smtClean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b="1" i="1" spc="120" baseline="300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94212" y="5100935"/>
            <a:ext cx="3293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400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Тегловни коефициенти</a:t>
            </a:r>
            <a:endParaRPr lang="en-US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triped Right Arrow 21"/>
          <p:cNvSpPr/>
          <p:nvPr/>
        </p:nvSpPr>
        <p:spPr>
          <a:xfrm rot="13422072">
            <a:off x="5198204" y="4950155"/>
            <a:ext cx="381000" cy="12039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/>
          <p:cNvCxnSpPr>
            <a:stCxn id="5" idx="2"/>
            <a:endCxn id="14" idx="0"/>
          </p:cNvCxnSpPr>
          <p:nvPr/>
        </p:nvCxnSpPr>
        <p:spPr>
          <a:xfrm rot="5400000">
            <a:off x="4995228" y="2806115"/>
            <a:ext cx="674368" cy="762000"/>
          </a:xfrm>
          <a:prstGeom prst="bentConnector3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4" idx="2"/>
            <a:endCxn id="15" idx="0"/>
          </p:cNvCxnSpPr>
          <p:nvPr/>
        </p:nvCxnSpPr>
        <p:spPr>
          <a:xfrm rot="16200000" flipH="1">
            <a:off x="6550152" y="2773731"/>
            <a:ext cx="685800" cy="838200"/>
          </a:xfrm>
          <a:prstGeom prst="bentConnector3">
            <a:avLst>
              <a:gd name="adj1" fmla="val 50000"/>
            </a:avLst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eft Arrow 29"/>
          <p:cNvSpPr/>
          <p:nvPr/>
        </p:nvSpPr>
        <p:spPr>
          <a:xfrm rot="10800000">
            <a:off x="8054276" y="2435400"/>
            <a:ext cx="783336" cy="266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9218612" y="2292199"/>
            <a:ext cx="2057400" cy="1213759"/>
            <a:chOff x="9599612" y="3328468"/>
            <a:chExt cx="2057400" cy="1213759"/>
          </a:xfrm>
        </p:grpSpPr>
        <p:sp>
          <p:nvSpPr>
            <p:cNvPr id="29" name="Rectangle 28"/>
            <p:cNvSpPr/>
            <p:nvPr/>
          </p:nvSpPr>
          <p:spPr>
            <a:xfrm>
              <a:off x="9599612" y="4008827"/>
              <a:ext cx="2057400" cy="533400"/>
            </a:xfrm>
            <a:prstGeom prst="rect">
              <a:avLst/>
            </a:prstGeom>
            <a:gradFill>
              <a:gsLst>
                <a:gs pos="0">
                  <a:schemeClr val="accent4">
                    <a:lumMod val="75000"/>
                  </a:schemeClr>
                </a:gs>
                <a:gs pos="50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5400000" scaled="0"/>
            </a:gradFill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sz="3200" b="1" spc="110" dirty="0" smtClean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01000111</a:t>
              </a:r>
              <a:endParaRPr lang="en-US" sz="3200" b="1" spc="11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52012" y="3328468"/>
              <a:ext cx="15696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i="1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BCD-</a:t>
              </a:r>
              <a:r>
                <a:rPr lang="bg-BG" sz="2400" b="1" i="1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число</a:t>
              </a:r>
              <a:endParaRPr lang="en-US" sz="2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372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9" grpId="0"/>
      <p:bldP spid="20" grpId="0"/>
      <p:bldP spid="21" grpId="0"/>
      <p:bldP spid="22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Excess-3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/>
          </a:bodyPr>
          <a:lstStyle/>
          <a:p>
            <a:r>
              <a:rPr lang="bg-BG" altLang="en-US" dirty="0" smtClean="0"/>
              <a:t>Това е непозиционен код за представяне на десетични числа.</a:t>
            </a:r>
          </a:p>
          <a:p>
            <a:pPr lvl="1"/>
            <a:r>
              <a:rPr lang="bg-BG" altLang="en-US" dirty="0" smtClean="0"/>
              <a:t>Друго название -&gt;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XS-3</a:t>
            </a:r>
            <a:endParaRPr lang="bg-BG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bg-BG" altLang="en-US" dirty="0" smtClean="0"/>
              <a:t>Това е версия на </a:t>
            </a:r>
            <a:r>
              <a:rPr lang="en-US" altLang="en-US" dirty="0" smtClean="0"/>
              <a:t>BCD, </a:t>
            </a:r>
            <a:r>
              <a:rPr lang="bg-BG" altLang="en-US" dirty="0" smtClean="0"/>
              <a:t>позволяваща изваждането да се реализира чрез събиране на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допълнителен код до 9 </a:t>
            </a:r>
            <a:r>
              <a:rPr lang="bg-BG" altLang="en-US" dirty="0" smtClean="0"/>
              <a:t>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</a:t>
            </a:r>
            <a:r>
              <a:rPr lang="en-US" dirty="0"/>
              <a:t>  </a:t>
            </a:r>
            <a:r>
              <a:rPr lang="en-US" i="1" dirty="0"/>
              <a:t>nines' </a:t>
            </a:r>
            <a:r>
              <a:rPr lang="en-US" i="1" dirty="0" smtClean="0"/>
              <a:t>complement</a:t>
            </a:r>
            <a:r>
              <a:rPr lang="bg-BG" dirty="0" smtClean="0"/>
              <a:t>).</a:t>
            </a:r>
          </a:p>
          <a:p>
            <a:pPr lvl="2"/>
            <a:r>
              <a:rPr lang="bg-BG" altLang="en-US" dirty="0" smtClean="0"/>
              <a:t>Допълнителен код до 9: всяка цифра на числото се замества с цифрата, допълваща до 9, т.е. 0 се замества с 9, 1 -&gt; 8, 2 -&gt; 7, 3-&gt; 6, …, 8 -&gt; 1, 9 -&gt; 0.</a:t>
            </a:r>
          </a:p>
          <a:p>
            <a:pPr lvl="1"/>
            <a:r>
              <a:rPr lang="bg-BG" altLang="en-US" dirty="0" smtClean="0"/>
              <a:t>Възникнал е още при първите изчислителни машини, а сега се използва в мобилни системи, кеш-памети и други устройства.</a:t>
            </a:r>
          </a:p>
        </p:txBody>
      </p:sp>
    </p:spTree>
    <p:extLst>
      <p:ext uri="{BB962C8B-B14F-4D97-AF65-F5344CB8AC3E}">
        <p14:creationId xmlns:p14="http://schemas.microsoft.com/office/powerpoint/2010/main" val="244600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Excess-3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Реализация</a:t>
            </a:r>
          </a:p>
          <a:p>
            <a:pPr lvl="1"/>
            <a:r>
              <a:rPr lang="bg-BG" dirty="0" smtClean="0"/>
              <a:t>Всяка десетична цифра се преобразува в </a:t>
            </a:r>
            <a:r>
              <a:rPr lang="en-US" dirty="0" smtClean="0"/>
              <a:t>BCD-</a:t>
            </a:r>
            <a:r>
              <a:rPr lang="bg-BG" dirty="0" smtClean="0"/>
              <a:t>код и към него се добавя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0011</a:t>
            </a:r>
            <a:r>
              <a:rPr lang="bg-BG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bg-BG" dirty="0" smtClean="0"/>
              <a:t> (т.е. 3</a:t>
            </a:r>
            <a:r>
              <a:rPr lang="bg-BG" baseline="-25000" dirty="0" smtClean="0"/>
              <a:t>10</a:t>
            </a:r>
            <a:r>
              <a:rPr lang="bg-BG" dirty="0" smtClean="0"/>
              <a:t>)</a:t>
            </a:r>
          </a:p>
          <a:p>
            <a:r>
              <a:rPr lang="bg-BG" dirty="0" smtClean="0"/>
              <a:t>Извършване на действие изваждане</a:t>
            </a:r>
          </a:p>
          <a:p>
            <a:pPr marL="438150" lvl="1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788458"/>
              </p:ext>
            </p:extLst>
          </p:nvPr>
        </p:nvGraphicFramePr>
        <p:xfrm>
          <a:off x="5332412" y="2438400"/>
          <a:ext cx="63246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0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Десетично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BDC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8  4  2  1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Excess – 3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(BCD + 0011</a:t>
                      </a:r>
                      <a:r>
                        <a:rPr lang="en-US" sz="2000" baseline="-25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0 0 1 1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0 1 0 0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0 1 0 1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0 1 1 0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0 1 1 1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1 0 0 1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1 1 0 0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93812" y="3716580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748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3812" y="4876800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371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Minus 9"/>
          <p:cNvSpPr/>
          <p:nvPr/>
        </p:nvSpPr>
        <p:spPr>
          <a:xfrm>
            <a:off x="760412" y="4419600"/>
            <a:ext cx="533400" cy="228600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94212" y="3740825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251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94212" y="4876800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371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Plus 15"/>
          <p:cNvSpPr/>
          <p:nvPr/>
        </p:nvSpPr>
        <p:spPr>
          <a:xfrm>
            <a:off x="3617912" y="4277689"/>
            <a:ext cx="533400" cy="4953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3275012" y="3429000"/>
            <a:ext cx="0" cy="251460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qual 19"/>
          <p:cNvSpPr/>
          <p:nvPr/>
        </p:nvSpPr>
        <p:spPr>
          <a:xfrm>
            <a:off x="6551612" y="4381500"/>
            <a:ext cx="685800" cy="4191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18412" y="4287982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622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9718756" y="3429000"/>
            <a:ext cx="0" cy="236220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209212" y="4298373"/>
            <a:ext cx="1371600" cy="533400"/>
          </a:xfrm>
          <a:prstGeom prst="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3200" b="1" spc="11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377</a:t>
            </a:r>
            <a:endParaRPr lang="en-US" sz="3200" b="1" spc="110" baseline="-25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29879" y="6027003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i="1" dirty="0" smtClean="0">
                <a:solidFill>
                  <a:schemeClr val="tx2"/>
                </a:solidFill>
                <a:latin typeface="Calibri" panose="020F0502020204030204" pitchFamily="34" charset="0"/>
              </a:rPr>
              <a:t>Уваляемото</a:t>
            </a:r>
            <a:r>
              <a:rPr lang="bg-BG" sz="2400" i="1" dirty="0" smtClean="0">
                <a:solidFill>
                  <a:schemeClr val="tx2"/>
                </a:solidFill>
                <a:latin typeface="Calibri" panose="020F0502020204030204" pitchFamily="34" charset="0"/>
              </a:rPr>
              <a:t> се преобразува в допълнителен код до 9.</a:t>
            </a:r>
            <a:endParaRPr lang="en-US" sz="2400" i="1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23212" y="5975051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i="1" dirty="0" smtClean="0">
                <a:solidFill>
                  <a:schemeClr val="tx2"/>
                </a:solidFill>
                <a:latin typeface="Calibri" panose="020F0502020204030204" pitchFamily="34" charset="0"/>
              </a:rPr>
              <a:t>Преобразуване в допълнителен код до 9.</a:t>
            </a:r>
            <a:endParaRPr lang="en-US" sz="2400" i="1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94912" y="3189974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i="1" dirty="0" smtClean="0">
                <a:solidFill>
                  <a:schemeClr val="tx2"/>
                </a:solidFill>
                <a:latin typeface="Calibri" panose="020F0502020204030204" pitchFamily="34" charset="0"/>
              </a:rPr>
              <a:t>Краен </a:t>
            </a:r>
            <a:br>
              <a:rPr lang="bg-BG" sz="2400" b="1" i="1" dirty="0" smtClean="0">
                <a:solidFill>
                  <a:schemeClr val="tx2"/>
                </a:solidFill>
                <a:latin typeface="Calibri" panose="020F0502020204030204" pitchFamily="34" charset="0"/>
              </a:rPr>
            </a:br>
            <a:r>
              <a:rPr lang="bg-BG" sz="2400" b="1" i="1" dirty="0" smtClean="0">
                <a:solidFill>
                  <a:schemeClr val="tx2"/>
                </a:solidFill>
                <a:latin typeface="Calibri" panose="020F0502020204030204" pitchFamily="34" charset="0"/>
              </a:rPr>
              <a:t>резултат</a:t>
            </a:r>
            <a:endParaRPr lang="en-US" sz="2400" b="1" i="1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3" grpId="0" animBg="1"/>
      <p:bldP spid="6" grpId="0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Сив код (</a:t>
            </a:r>
            <a:r>
              <a:rPr lang="en-US" dirty="0" smtClean="0"/>
              <a:t>Gray code</a:t>
            </a:r>
            <a:r>
              <a:rPr lang="bg-BG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/>
          </a:bodyPr>
          <a:lstStyle/>
          <a:p>
            <a:r>
              <a:rPr lang="bg-BG" altLang="en-US" dirty="0" smtClean="0"/>
              <a:t>Това е непозиционен и неаритметичен код </a:t>
            </a:r>
          </a:p>
          <a:p>
            <a:pPr lvl="1"/>
            <a:r>
              <a:rPr lang="bg-BG" altLang="en-US" dirty="0" smtClean="0"/>
              <a:t>Не може да се използва за аритметични действия.</a:t>
            </a:r>
          </a:p>
          <a:p>
            <a:r>
              <a:rPr lang="bg-BG" altLang="en-US" dirty="0" smtClean="0"/>
              <a:t>Същност</a:t>
            </a:r>
          </a:p>
          <a:p>
            <a:pPr lvl="1"/>
            <a:r>
              <a:rPr lang="bg-BG" altLang="en-US" dirty="0" smtClean="0"/>
              <a:t>Това е цикличен код, при който се променя само 1 бит между две последователни последователни числа.</a:t>
            </a:r>
          </a:p>
          <a:p>
            <a:pPr lvl="2"/>
            <a:r>
              <a:rPr lang="bg-BG" altLang="en-US" dirty="0" smtClean="0"/>
              <a:t>Затова се нарича код с разстояние 1.</a:t>
            </a:r>
          </a:p>
          <a:p>
            <a:r>
              <a:rPr lang="bg-BG" altLang="en-US" dirty="0" smtClean="0"/>
              <a:t>Приложение</a:t>
            </a:r>
          </a:p>
          <a:p>
            <a:pPr lvl="1"/>
            <a:r>
              <a:rPr lang="bg-BG" altLang="en-US" dirty="0" smtClean="0"/>
              <a:t>Най-много се използва при кодиращи/декодиращи устройста.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79975"/>
              </p:ext>
            </p:extLst>
          </p:nvPr>
        </p:nvGraphicFramePr>
        <p:xfrm>
          <a:off x="5180012" y="2514600"/>
          <a:ext cx="63246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0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Десетично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BDC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8  4  2  1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Gray</a:t>
                      </a:r>
                      <a:r>
                        <a:rPr lang="en-US" sz="2000" baseline="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code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0 0 1 1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</a:t>
                      </a: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0 1 1 1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0 1 0 </a:t>
                      </a: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1 0 0 1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spc="14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1 1 0 </a:t>
                      </a:r>
                      <a:r>
                        <a:rPr lang="en-US" sz="2000" spc="14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03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Съхраняване на цели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altLang="en-US" dirty="0" smtClean="0"/>
              <a:t>В компютърната наука,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целите числа </a:t>
            </a:r>
            <a:r>
              <a:rPr lang="bg-BG" altLang="en-US" dirty="0" smtClean="0"/>
              <a:t>са числа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 дробна част</a:t>
            </a:r>
            <a:r>
              <a:rPr lang="en-US" altLang="en-US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bg-BG" altLang="en-US" dirty="0" smtClean="0"/>
              <a:t>Пример:</a:t>
            </a:r>
            <a:r>
              <a:rPr lang="en-US" altLang="en-US" dirty="0" smtClean="0"/>
              <a:t> </a:t>
            </a:r>
            <a:r>
              <a:rPr lang="en-US" altLang="en-US" dirty="0"/>
              <a:t>134 </a:t>
            </a:r>
            <a:r>
              <a:rPr lang="bg-BG" altLang="en-US" dirty="0" smtClean="0"/>
              <a:t>и</a:t>
            </a:r>
            <a:r>
              <a:rPr lang="en-US" altLang="en-US" dirty="0" smtClean="0"/>
              <a:t> </a:t>
            </a:r>
            <a:r>
              <a:rPr lang="en-US" altLang="en-US" dirty="0"/>
              <a:t>−125 </a:t>
            </a:r>
            <a:r>
              <a:rPr lang="bg-BG" altLang="en-US" dirty="0" smtClean="0"/>
              <a:t>са цели числа, докато </a:t>
            </a:r>
            <a:r>
              <a:rPr lang="en-US" altLang="en-US" dirty="0" smtClean="0"/>
              <a:t>134.23 </a:t>
            </a:r>
            <a:r>
              <a:rPr lang="bg-BG" altLang="en-US" dirty="0" smtClean="0"/>
              <a:t>и</a:t>
            </a:r>
            <a:r>
              <a:rPr lang="en-US" altLang="en-US" dirty="0" smtClean="0"/>
              <a:t> </a:t>
            </a:r>
            <a:r>
              <a:rPr lang="en-US" altLang="en-US" dirty="0"/>
              <a:t>−0.235 </a:t>
            </a:r>
            <a:r>
              <a:rPr lang="bg-BG" altLang="en-US" dirty="0" smtClean="0"/>
              <a:t>не са цели числа</a:t>
            </a:r>
            <a:r>
              <a:rPr lang="en-US" altLang="en-US" dirty="0" smtClean="0"/>
              <a:t>. </a:t>
            </a:r>
          </a:p>
          <a:p>
            <a:pPr>
              <a:spcBef>
                <a:spcPts val="300"/>
              </a:spcBef>
            </a:pPr>
            <a:r>
              <a:rPr lang="ru-RU" altLang="en-US" dirty="0" smtClean="0"/>
              <a:t>Прието е десетичните числа да се разглеждат като числа с фиксирана позиция на десетичната точка.</a:t>
            </a:r>
          </a:p>
          <a:p>
            <a:pPr lvl="1">
              <a:spcBef>
                <a:spcPts val="300"/>
              </a:spcBef>
            </a:pPr>
            <a:r>
              <a:rPr lang="ru-RU" altLang="en-US" dirty="0" smtClean="0"/>
              <a:t>Прието е цялите числа да </a:t>
            </a:r>
            <a:r>
              <a:rPr lang="ru-RU" altLang="en-US" dirty="0"/>
              <a:t>се смята за </a:t>
            </a:r>
            <a:r>
              <a:rPr lang="ru-RU" altLang="en-US" dirty="0" smtClean="0"/>
              <a:t>числа, за което </a:t>
            </a:r>
            <a:r>
              <a:rPr lang="ru-RU" altLang="en-US" dirty="0"/>
              <a:t>е фиксирана позицията на десетичната </a:t>
            </a:r>
            <a:r>
              <a:rPr lang="ru-RU" altLang="en-US" dirty="0" smtClean="0"/>
              <a:t>точка - десетичната </a:t>
            </a:r>
            <a:r>
              <a:rPr lang="ru-RU" altLang="en-US" dirty="0"/>
              <a:t>запетая е вдясно от най-малкия (</a:t>
            </a:r>
            <a:r>
              <a:rPr lang="ru-RU" altLang="en-US" dirty="0" smtClean="0"/>
              <a:t>най-десен) </a:t>
            </a:r>
            <a:r>
              <a:rPr lang="ru-RU" altLang="en-US" dirty="0"/>
              <a:t>бит</a:t>
            </a:r>
            <a:r>
              <a:rPr lang="ru-RU" altLang="en-US" dirty="0" smtClean="0"/>
              <a:t>.</a:t>
            </a:r>
            <a:r>
              <a:rPr lang="en-US" altLang="en-US" dirty="0" smtClean="0"/>
              <a:t> </a:t>
            </a:r>
          </a:p>
          <a:p>
            <a:pPr lvl="1">
              <a:spcBef>
                <a:spcPts val="300"/>
              </a:spcBef>
            </a:pPr>
            <a:r>
              <a:rPr lang="bg-BG" altLang="en-US" dirty="0" smtClean="0"/>
              <a:t>Десетичната точка съществува, но не се съхранява.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5587701"/>
            <a:ext cx="6343650" cy="1194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66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Беззнакови цели числа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Това са цели числа (англ.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unsigned integer</a:t>
            </a:r>
            <a:r>
              <a:rPr lang="bg-BG" altLang="en-US" dirty="0" smtClean="0"/>
              <a:t>), които не могат да имат за стойност отрицателно число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Стойността им е в диапазона </a:t>
            </a:r>
            <a:r>
              <a:rPr lang="en-US" altLang="en-US" dirty="0" smtClean="0"/>
              <a:t>[0, +∞], </a:t>
            </a:r>
            <a:r>
              <a:rPr lang="bg-BG" altLang="en-US" dirty="0" smtClean="0"/>
              <a:t>т.е. при </a:t>
            </a:r>
            <a:r>
              <a:rPr lang="en-US" altLang="en-US" dirty="0" smtClean="0"/>
              <a:t>N </a:t>
            </a:r>
            <a:r>
              <a:rPr lang="bg-BG" altLang="en-US" dirty="0" smtClean="0"/>
              <a:t>бита за физическото представяне в конкретния конпютър диапазонът е </a:t>
            </a:r>
            <a:r>
              <a:rPr lang="en-US" altLang="en-US" dirty="0" smtClean="0"/>
              <a:t>[0, 2</a:t>
            </a:r>
            <a:r>
              <a:rPr lang="en-US" altLang="en-US" baseline="30000" dirty="0" smtClean="0"/>
              <a:t>N</a:t>
            </a:r>
            <a:r>
              <a:rPr lang="en-US" altLang="en-US" dirty="0" smtClean="0"/>
              <a:t> </a:t>
            </a:r>
            <a:r>
              <a:rPr lang="en-US" altLang="en-US" dirty="0"/>
              <a:t>− </a:t>
            </a:r>
            <a:r>
              <a:rPr lang="en-US" altLang="en-US" dirty="0" smtClean="0"/>
              <a:t>1].</a:t>
            </a:r>
          </a:p>
          <a:p>
            <a:r>
              <a:rPr lang="bg-BG" altLang="en-US" dirty="0" smtClean="0"/>
              <a:t>Съхраняване</a:t>
            </a:r>
            <a:r>
              <a:rPr lang="en-US" altLang="en-US" dirty="0" smtClean="0"/>
              <a:t>:</a:t>
            </a:r>
          </a:p>
          <a:p>
            <a:pPr lvl="1" algn="just"/>
            <a:r>
              <a:rPr lang="bg-BG" altLang="en-US" dirty="0" smtClean="0"/>
              <a:t>Стъпка 1:  Десетичното число се преобразува до двоично число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 algn="just"/>
            <a:r>
              <a:rPr lang="bg-BG" altLang="en-US" dirty="0" smtClean="0"/>
              <a:t>Стъпка 2: Ако е необходимо, старшите битове (разположнието от лявата страна) се допълват с 0 до достигане на определения размер за представяне в компютъра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pPr lvl="2" algn="just"/>
            <a:r>
              <a:rPr lang="bg-BG" altLang="en-US" dirty="0" smtClean="0"/>
              <a:t>Пример: 7</a:t>
            </a:r>
            <a:r>
              <a:rPr lang="bg-BG" altLang="en-US" baseline="-25000" dirty="0" smtClean="0"/>
              <a:t>10</a:t>
            </a:r>
            <a:r>
              <a:rPr lang="bg-BG" altLang="en-US" dirty="0" smtClean="0"/>
              <a:t> -&gt; 111</a:t>
            </a:r>
            <a:r>
              <a:rPr lang="bg-BG" altLang="en-US" baseline="-25000" dirty="0" smtClean="0"/>
              <a:t>2</a:t>
            </a:r>
            <a:r>
              <a:rPr lang="bg-BG" altLang="en-US" dirty="0" smtClean="0"/>
              <a:t> -&gt; за еднобайтови данни се разширява до 00000111</a:t>
            </a:r>
            <a:r>
              <a:rPr lang="bg-BG" altLang="en-US" baseline="-25000" dirty="0" smtClean="0"/>
              <a:t>2</a:t>
            </a:r>
            <a:r>
              <a:rPr lang="bg-BG" altLang="en-US" dirty="0" smtClean="0"/>
              <a:t>, а за двубайтови данни добива вида 0000000000000111</a:t>
            </a:r>
            <a:r>
              <a:rPr lang="bg-BG" altLang="en-US" baseline="-25000" dirty="0" smtClean="0"/>
              <a:t>2</a:t>
            </a:r>
            <a:r>
              <a:rPr lang="bg-BG" altLang="en-US" dirty="0" smtClean="0"/>
              <a:t>.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8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Представяне „Знак+Стойност“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562600"/>
          </a:xfrm>
        </p:spPr>
        <p:txBody>
          <a:bodyPr>
            <a:normAutofit/>
          </a:bodyPr>
          <a:lstStyle/>
          <a:p>
            <a:r>
              <a:rPr lang="bg-BG" altLang="en-US" dirty="0" smtClean="0"/>
              <a:t>При този метод (англ. </a:t>
            </a:r>
            <a:r>
              <a:rPr lang="en-US" altLang="en-US" dirty="0"/>
              <a:t>Sign-and-magnitude representation</a:t>
            </a:r>
            <a:r>
              <a:rPr lang="bg-BG" altLang="en-US" dirty="0" smtClean="0"/>
              <a:t>) се използва за представяне на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 числа със знак</a:t>
            </a:r>
            <a:r>
              <a:rPr lang="bg-BG" altLang="en-US" dirty="0" smtClean="0"/>
              <a:t>.</a:t>
            </a:r>
          </a:p>
          <a:p>
            <a:r>
              <a:rPr lang="bg-BG" altLang="en-US" dirty="0" smtClean="0"/>
              <a:t>Същност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Беззнаковият диапазон </a:t>
            </a:r>
            <a:r>
              <a:rPr lang="en-US" altLang="en-US" dirty="0" smtClean="0"/>
              <a:t>[0, 2</a:t>
            </a:r>
            <a:r>
              <a:rPr lang="en-US" altLang="en-US" baseline="30000" dirty="0"/>
              <a:t>N</a:t>
            </a:r>
            <a:r>
              <a:rPr lang="en-US" altLang="en-US" dirty="0" smtClean="0"/>
              <a:t> </a:t>
            </a:r>
            <a:r>
              <a:rPr lang="en-US" altLang="en-US" dirty="0"/>
              <a:t>− </a:t>
            </a:r>
            <a:r>
              <a:rPr lang="en-US" altLang="en-US" dirty="0" smtClean="0"/>
              <a:t>1] </a:t>
            </a:r>
            <a:r>
              <a:rPr lang="bg-BG" altLang="en-US" dirty="0" smtClean="0"/>
              <a:t>се разделя на две еднакви части, като лявата страна се използва за представяне на положителните числа, а дясната страна е за отрицателните числа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lvl="1"/>
            <a:r>
              <a:rPr lang="bg-BG" altLang="en-US" dirty="0" smtClean="0"/>
              <a:t>За всяко число най-левият бит е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битът за знак</a:t>
            </a:r>
            <a:r>
              <a:rPr lang="bg-BG" altLang="en-US" dirty="0" smtClean="0"/>
              <a:t>: 0 за положително число</a:t>
            </a:r>
            <a:r>
              <a:rPr lang="bg-BG" altLang="en-US" dirty="0"/>
              <a:t> </a:t>
            </a:r>
            <a:r>
              <a:rPr lang="bg-BG" altLang="en-US" dirty="0" smtClean="0"/>
              <a:t>и 1 за отрицателно чило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Две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dirty="0" smtClean="0"/>
              <a:t>представяния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dirty="0" smtClean="0"/>
              <a:t>на числото 0</a:t>
            </a:r>
            <a:r>
              <a:rPr lang="en-US" altLang="en-US" dirty="0" smtClean="0"/>
              <a:t>: </a:t>
            </a:r>
            <a:r>
              <a:rPr lang="bg-BG" altLang="en-US" dirty="0" smtClean="0"/>
              <a:t> </a:t>
            </a:r>
            <a:r>
              <a:rPr lang="en-US" altLang="en-US" dirty="0"/>
              <a:t>“+0” </a:t>
            </a:r>
            <a:r>
              <a:rPr lang="bg-BG" altLang="en-US" dirty="0" smtClean="0"/>
              <a:t>(0000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)</a:t>
            </a:r>
            <a:r>
              <a:rPr lang="bg-BG" altLang="en-US" dirty="0" smtClean="0"/>
              <a:t> и </a:t>
            </a:r>
            <a:r>
              <a:rPr lang="en-US" altLang="en-US" dirty="0"/>
              <a:t>“</a:t>
            </a:r>
            <a:r>
              <a:rPr lang="en-US" altLang="en-US" dirty="0" smtClean="0"/>
              <a:t>-</a:t>
            </a:r>
            <a:r>
              <a:rPr lang="en-US" altLang="en-US" dirty="0"/>
              <a:t>0” </a:t>
            </a:r>
            <a:r>
              <a:rPr lang="en-US" altLang="en-US" dirty="0" smtClean="0"/>
              <a:t>(</a:t>
            </a:r>
            <a:r>
              <a:rPr lang="bg-BG" altLang="en-US" dirty="0" smtClean="0"/>
              <a:t>1000</a:t>
            </a:r>
            <a:r>
              <a:rPr lang="en-US" altLang="en-US" baseline="-25000" dirty="0" smtClean="0"/>
              <a:t>2</a:t>
            </a:r>
            <a:r>
              <a:rPr lang="bg-BG" altLang="en-US" dirty="0" smtClean="0"/>
              <a:t>)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381" y="4495800"/>
            <a:ext cx="87153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55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Обратен код на число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595950" cy="5410200"/>
          </a:xfrm>
        </p:spPr>
        <p:txBody>
          <a:bodyPr/>
          <a:lstStyle/>
          <a:p>
            <a:pPr marL="347663" lvl="2" indent="-347663">
              <a:spcBef>
                <a:spcPts val="14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sz="3200" dirty="0" smtClean="0"/>
              <a:t>Това е един от основните видове кодирания в компютърната техника.</a:t>
            </a:r>
          </a:p>
          <a:p>
            <a:pPr lvl="1"/>
            <a:r>
              <a:rPr lang="bg-BG" altLang="en-US" dirty="0"/>
              <a:t>англ. </a:t>
            </a:r>
            <a:r>
              <a:rPr lang="en-US" altLang="en-US" dirty="0" smtClean="0"/>
              <a:t>One’s complementing 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Може да се извършва за всяко цяло число, независимо от това дали е положително или отрицателно.</a:t>
            </a:r>
            <a:endParaRPr lang="bg-BG" altLang="en-US" dirty="0"/>
          </a:p>
          <a:p>
            <a:pPr marL="347663" lvl="2" indent="-347663">
              <a:spcBef>
                <a:spcPts val="14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sz="3200" dirty="0" smtClean="0"/>
              <a:t>Същност</a:t>
            </a:r>
            <a:endParaRPr lang="en-US" altLang="en-US" sz="3200" dirty="0"/>
          </a:p>
          <a:p>
            <a:pPr lvl="1">
              <a:spcBef>
                <a:spcPts val="0"/>
              </a:spcBef>
            </a:pPr>
            <a:r>
              <a:rPr lang="bg-BG" altLang="en-US" dirty="0" smtClean="0"/>
              <a:t>Всеки бит в двоичното число се инвертира, т.е. 1 -&gt; 0, 0 -&gt; 1.</a:t>
            </a:r>
            <a:endParaRPr lang="en-US" altLang="en-US" dirty="0" smtClean="0"/>
          </a:p>
          <a:p>
            <a:pPr lvl="1">
              <a:spcBef>
                <a:spcPts val="0"/>
              </a:spcBef>
            </a:pPr>
            <a:endParaRPr lang="en-US" dirty="0" smtClean="0"/>
          </a:p>
          <a:p>
            <a:pPr lvl="1">
              <a:spcBef>
                <a:spcPts val="0"/>
              </a:spcBef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2" y="4953000"/>
            <a:ext cx="8850312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 lnSpcReduction="10000"/>
          </a:bodyPr>
          <a:lstStyle/>
          <a:p>
            <a:r>
              <a:rPr lang="bg-BG" altLang="en-US" dirty="0"/>
              <a:t>Това </a:t>
            </a:r>
            <a:r>
              <a:rPr lang="bg-BG" altLang="en-US" dirty="0" smtClean="0"/>
              <a:t>представяне е може би </a:t>
            </a:r>
            <a:r>
              <a:rPr lang="bg-BG" altLang="en-US" dirty="0"/>
              <a:t>най-използваната в компютърната техника форма за </a:t>
            </a:r>
            <a:r>
              <a:rPr lang="bg-BG" altLang="en-US" dirty="0" smtClean="0"/>
              <a:t>работа и представяне на цели числа: аритметичните действия с положителни и с отрицателни числа се извършват по един и същ алгоритъм.</a:t>
            </a:r>
          </a:p>
          <a:p>
            <a:pPr lvl="1"/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i="1" dirty="0" smtClean="0"/>
              <a:t>two’s </a:t>
            </a:r>
            <a:r>
              <a:rPr lang="en-US" altLang="en-US" i="1" dirty="0"/>
              <a:t>complement integers</a:t>
            </a:r>
          </a:p>
          <a:p>
            <a:r>
              <a:rPr lang="bg-BG" altLang="en-US" dirty="0" smtClean="0"/>
              <a:t>Същност </a:t>
            </a:r>
          </a:p>
          <a:p>
            <a:pPr lvl="1"/>
            <a:r>
              <a:rPr lang="bg-BG" altLang="en-US" dirty="0" smtClean="0"/>
              <a:t>Числото 0 има само едно представяне (0000</a:t>
            </a:r>
            <a:r>
              <a:rPr lang="bg-BG" altLang="en-US" baseline="-25000" dirty="0" smtClean="0"/>
              <a:t>2</a:t>
            </a:r>
            <a:r>
              <a:rPr lang="bg-BG" altLang="en-US" dirty="0" smtClean="0"/>
              <a:t>)</a:t>
            </a:r>
          </a:p>
          <a:p>
            <a:pPr lvl="1"/>
            <a:r>
              <a:rPr lang="bg-BG" altLang="en-US" dirty="0" smtClean="0"/>
              <a:t>Броят на представените отрицателни числа е с 1 по-голям от броя на представяните положителни числа (заради числото 0).</a:t>
            </a:r>
          </a:p>
          <a:p>
            <a:pPr lvl="1"/>
            <a:r>
              <a:rPr lang="bg-BG" altLang="en-US" dirty="0" smtClean="0"/>
              <a:t>Най-старшият бит се използва за знак: </a:t>
            </a:r>
          </a:p>
          <a:p>
            <a:pPr lvl="2"/>
            <a:r>
              <a:rPr lang="bg-BG" altLang="en-US" dirty="0" smtClean="0"/>
              <a:t>1 за отрицателни стойности </a:t>
            </a:r>
          </a:p>
          <a:p>
            <a:pPr lvl="2"/>
            <a:r>
              <a:rPr lang="bg-BG" altLang="en-US" dirty="0" smtClean="0"/>
              <a:t>0 за положителни стойности</a:t>
            </a:r>
            <a:endParaRPr lang="en-US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20" y="4309047"/>
            <a:ext cx="864808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Допълнителен код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65600" y="4181475"/>
            <a:ext cx="20819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r>
              <a:rPr lang="bg-BG" altLang="en-US" sz="2200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Код „Знак + Стойност“</a:t>
            </a:r>
            <a:endParaRPr lang="en-US" sz="220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40212" y="5210228"/>
            <a:ext cx="20589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altLang="en-US" sz="2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Допълнителен код</a:t>
            </a:r>
            <a:endParaRPr lang="en-US" sz="22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5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Допълнителен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Как се получава ? </a:t>
            </a:r>
            <a:endParaRPr lang="en-US" altLang="en-US" dirty="0" smtClean="0"/>
          </a:p>
          <a:p>
            <a:pPr lvl="1"/>
            <a:r>
              <a:rPr lang="bg-BG" altLang="en-US" b="1" dirty="0" smtClean="0"/>
              <a:t>Метод</a:t>
            </a:r>
            <a:r>
              <a:rPr lang="en-US" altLang="en-US" b="1" dirty="0" smtClean="0"/>
              <a:t> 1</a:t>
            </a:r>
            <a:r>
              <a:rPr lang="en-US" altLang="en-US" dirty="0" smtClean="0"/>
              <a:t>: </a:t>
            </a:r>
            <a:endParaRPr lang="bg-BG" altLang="en-US" dirty="0"/>
          </a:p>
          <a:p>
            <a:pPr lvl="2"/>
            <a:r>
              <a:rPr lang="bg-BG" altLang="en-US" dirty="0" smtClean="0"/>
              <a:t>Стъпка 1: Изчислява се обратния код на числото</a:t>
            </a:r>
          </a:p>
          <a:p>
            <a:pPr lvl="2"/>
            <a:r>
              <a:rPr lang="bg-BG" altLang="en-US" dirty="0" smtClean="0"/>
              <a:t>Стъпка 2: Добавя се 1</a:t>
            </a:r>
            <a:r>
              <a:rPr lang="bg-BG" altLang="en-US" baseline="-25000" dirty="0" smtClean="0"/>
              <a:t>2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/>
            <a:r>
              <a:rPr lang="bg-BG" altLang="en-US" b="1" dirty="0"/>
              <a:t>Метод</a:t>
            </a:r>
            <a:r>
              <a:rPr lang="en-US" altLang="en-US" b="1" dirty="0"/>
              <a:t> 2:</a:t>
            </a:r>
            <a:r>
              <a:rPr lang="en-US" altLang="en-US" dirty="0" smtClean="0"/>
              <a:t> 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Стъпка 1: Започва се копиране на битовете отдясно-наляво докато се прекопира първата 1</a:t>
            </a:r>
            <a:r>
              <a:rPr lang="bg-BG" altLang="en-US" baseline="30000" dirty="0" smtClean="0"/>
              <a:t>-а</a:t>
            </a:r>
          </a:p>
          <a:p>
            <a:pPr lvl="2"/>
            <a:r>
              <a:rPr lang="bg-BG" altLang="en-US" dirty="0" smtClean="0"/>
              <a:t>Стъпка 2: Всички останали битове се прекопират като им се </a:t>
            </a:r>
            <a:r>
              <a:rPr lang="bg-BG" altLang="en-US" dirty="0" err="1" smtClean="0"/>
              <a:t>инвертира</a:t>
            </a:r>
            <a:r>
              <a:rPr lang="bg-BG" altLang="en-US" dirty="0" smtClean="0"/>
              <a:t> стойността.</a:t>
            </a:r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3438525"/>
            <a:ext cx="8850312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4867275"/>
            <a:ext cx="8850312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67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Реални числа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За разлика от целите числа, при реалните числа винаги има цяла част и дробна част</a:t>
            </a:r>
            <a:r>
              <a:rPr lang="en-US" altLang="en-US" dirty="0" smtClean="0"/>
              <a:t>.</a:t>
            </a:r>
          </a:p>
          <a:p>
            <a:pPr lvl="1"/>
            <a:r>
              <a:rPr lang="bg-BG" altLang="en-US" dirty="0" smtClean="0"/>
              <a:t>Пример</a:t>
            </a:r>
            <a:r>
              <a:rPr lang="en-US" altLang="en-US" dirty="0" smtClean="0"/>
              <a:t>: </a:t>
            </a:r>
          </a:p>
          <a:p>
            <a:pPr lvl="2"/>
            <a:r>
              <a:rPr lang="en-US" altLang="en-US" dirty="0" smtClean="0"/>
              <a:t>14.3 </a:t>
            </a:r>
            <a:r>
              <a:rPr lang="bg-BG" altLang="en-US" dirty="0" smtClean="0"/>
              <a:t>е реално число с цяла част </a:t>
            </a:r>
            <a:r>
              <a:rPr lang="en-US" altLang="en-US" dirty="0" smtClean="0"/>
              <a:t>14 </a:t>
            </a:r>
            <a:r>
              <a:rPr lang="bg-BG" altLang="en-US" dirty="0" smtClean="0"/>
              <a:t>и дробна част </a:t>
            </a:r>
            <a:r>
              <a:rPr lang="en-US" altLang="en-US" dirty="0" smtClean="0"/>
              <a:t>3/10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r>
              <a:rPr lang="bg-BG" altLang="en-US" dirty="0" smtClean="0"/>
              <a:t>Основен проблем при компютрите е съхранението и работата с реални числа, които имат прекалено голяма цяла част или прекалено малка дробна част.</a:t>
            </a:r>
          </a:p>
          <a:p>
            <a:pPr lvl="1"/>
            <a:r>
              <a:rPr lang="bg-BG" altLang="en-US" dirty="0" smtClean="0"/>
              <a:t>Това е наложило при реалните числа да не се използва представяне с фиксирана позиция на десетичната точка, защото точността силно намалява при изчисление.</a:t>
            </a:r>
            <a:endParaRPr lang="en-US" altLang="en-US" dirty="0"/>
          </a:p>
          <a:p>
            <a:pPr lvl="1"/>
            <a:r>
              <a:rPr lang="bg-BG" dirty="0" smtClean="0"/>
              <a:t>Две основни характеристики:</a:t>
            </a:r>
            <a:r>
              <a:rPr lang="en-US" dirty="0" smtClean="0"/>
              <a:t>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точност</a:t>
            </a:r>
            <a:r>
              <a:rPr lang="bg-BG" dirty="0" smtClean="0"/>
              <a:t>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altLang="en-US" i="1" dirty="0" smtClean="0"/>
              <a:t>precision</a:t>
            </a:r>
            <a:r>
              <a:rPr lang="bg-BG" altLang="en-US" dirty="0" smtClean="0"/>
              <a:t>)</a:t>
            </a:r>
            <a:r>
              <a:rPr lang="en-US" altLang="en-US" dirty="0" smtClean="0"/>
              <a:t> </a:t>
            </a:r>
            <a:r>
              <a:rPr lang="bg-BG" altLang="en-US" dirty="0" smtClean="0"/>
              <a:t>и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правилност</a:t>
            </a:r>
            <a:r>
              <a:rPr lang="bg-BG" altLang="en-US" dirty="0" smtClean="0"/>
              <a:t>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i="1" dirty="0" smtClean="0"/>
              <a:t>accuracy</a:t>
            </a:r>
            <a:r>
              <a:rPr lang="bg-BG" altLang="en-US" dirty="0" smtClean="0"/>
              <a:t>).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4977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</a:rPr>
              <a:t>Реални </a:t>
            </a:r>
            <a:r>
              <a:rPr lang="bg-BG" altLang="en-US" dirty="0" smtClean="0">
                <a:solidFill>
                  <a:schemeClr val="tx2"/>
                </a:solidFill>
              </a:rPr>
              <a:t>числа: точност и правилност</a:t>
            </a:r>
            <a:endParaRPr 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8662" y="1143000"/>
                <a:ext cx="10748350" cy="5410200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bg-BG" altLang="en-US" dirty="0" smtClean="0"/>
                  <a:t>Пример: използва се фиксирано представяне с 16 цифри като 10 са за цялата част и 6 за дробната част.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bg-BG" altLang="en-US" dirty="0" smtClean="0"/>
                  <a:t>Проблем </a:t>
                </a:r>
                <a:r>
                  <a:rPr lang="en-US" altLang="en-US" dirty="0" smtClean="0"/>
                  <a:t>“</a:t>
                </a:r>
                <a:r>
                  <a:rPr lang="bg-BG" altLang="en-US" dirty="0" smtClean="0"/>
                  <a:t>Точност на представянето</a:t>
                </a:r>
                <a:r>
                  <a:rPr lang="en-US" altLang="en-US" dirty="0" smtClean="0"/>
                  <a:t>”</a:t>
                </a:r>
                <a:endParaRPr lang="en-US" altLang="en-US" dirty="0"/>
              </a:p>
              <a:p>
                <a:pPr lvl="2">
                  <a:lnSpc>
                    <a:spcPct val="100000"/>
                  </a:lnSpc>
                </a:pPr>
                <a:r>
                  <a:rPr lang="bg-BG" altLang="en-US" dirty="0" smtClean="0"/>
                  <a:t>При фиксирано поле за дробната част от 6 символа, числото 4.12001295 ще се съхранява като 4.120012, т.е. ще се загубят младшите разряди.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bg-BG" altLang="en-US" dirty="0" smtClean="0"/>
                  <a:t>Резултат: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𝟑</m:t>
                        </m:r>
                      </m:den>
                    </m:f>
                    <m:r>
                      <a:rPr lang="bg-BG" altLang="en-US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𝟑</m:t>
                        </m:r>
                      </m:den>
                    </m:f>
                    <m:r>
                      <a:rPr lang="bg-BG" altLang="en-US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&lt;</m:t>
                    </m:r>
                    <m:r>
                      <a:rPr lang="bg-BG" altLang="en-US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𝟏</m:t>
                    </m:r>
                    <m:r>
                      <a:rPr lang="bg-BG" altLang="en-US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/>
                      </a:rPr>
                      <m:t>−</m:t>
                    </m:r>
                    <m:f>
                      <m:fPr>
                        <m:ctrlP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𝟏</m:t>
                        </m:r>
                      </m:num>
                      <m:den>
                        <m:r>
                          <a:rPr lang="bg-BG" altLang="en-US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altLang="en-US" b="1" dirty="0"/>
              </a:p>
              <a:p>
                <a:pPr lvl="1">
                  <a:lnSpc>
                    <a:spcPct val="100000"/>
                  </a:lnSpc>
                </a:pPr>
                <a:r>
                  <a:rPr lang="bg-BG" altLang="en-US" dirty="0"/>
                  <a:t>Проблем </a:t>
                </a:r>
                <a:r>
                  <a:rPr lang="en-US" altLang="en-US" dirty="0" smtClean="0"/>
                  <a:t>“</a:t>
                </a:r>
                <a:r>
                  <a:rPr lang="bg-BG" altLang="en-US" dirty="0" smtClean="0"/>
                  <a:t>Правилност </a:t>
                </a:r>
                <a:r>
                  <a:rPr lang="bg-BG" altLang="en-US" dirty="0"/>
                  <a:t>на </a:t>
                </a:r>
                <a:r>
                  <a:rPr lang="bg-BG" altLang="en-US" dirty="0" smtClean="0"/>
                  <a:t>представянето</a:t>
                </a:r>
                <a:r>
                  <a:rPr lang="en-US" altLang="en-US" dirty="0" smtClean="0"/>
                  <a:t>”</a:t>
                </a:r>
                <a:endParaRPr lang="en-US" dirty="0" smtClean="0"/>
              </a:p>
              <a:p>
                <a:pPr lvl="2">
                  <a:lnSpc>
                    <a:spcPct val="100000"/>
                  </a:lnSpc>
                </a:pPr>
                <a:r>
                  <a:rPr lang="bg-BG" dirty="0" smtClean="0"/>
                  <a:t>При фиксирано поле за цялата част от 10 символа, числото 8</a:t>
                </a:r>
                <a:r>
                  <a:rPr lang="en-US" altLang="en-US" dirty="0" smtClean="0"/>
                  <a:t>365</a:t>
                </a:r>
                <a:r>
                  <a:rPr lang="bg-BG" altLang="en-US" dirty="0" smtClean="0"/>
                  <a:t>1</a:t>
                </a:r>
                <a:r>
                  <a:rPr lang="en-US" altLang="en-US" dirty="0" smtClean="0"/>
                  <a:t>4302345.00</a:t>
                </a:r>
                <a:r>
                  <a:rPr lang="bg-BG" altLang="en-US" dirty="0" smtClean="0"/>
                  <a:t>0000 ще се съхранява като </a:t>
                </a:r>
                <a:r>
                  <a:rPr lang="en-US" altLang="en-US" dirty="0"/>
                  <a:t>65</a:t>
                </a:r>
                <a:r>
                  <a:rPr lang="bg-BG" altLang="en-US" dirty="0"/>
                  <a:t>1</a:t>
                </a:r>
                <a:r>
                  <a:rPr lang="en-US" altLang="en-US" dirty="0"/>
                  <a:t>4302345.00</a:t>
                </a:r>
                <a:r>
                  <a:rPr lang="bg-BG" altLang="en-US" dirty="0" smtClean="0"/>
                  <a:t>0000, т.е. губят се старшите разряди.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bg-BG" altLang="en-US" dirty="0" smtClean="0"/>
                  <a:t>Резултат: </a:t>
                </a:r>
                <a:r>
                  <a:rPr lang="bg-BG" altLang="en-US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Препълване</a:t>
                </a:r>
                <a:endParaRPr lang="en-US" altLang="en-US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8662" y="1143000"/>
                <a:ext cx="10748350" cy="5410200"/>
              </a:xfrm>
              <a:blipFill rotWithShape="1">
                <a:blip r:embed="rId2"/>
                <a:stretch>
                  <a:fillRect l="-624" t="-2368" r="-1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99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sz="2800" dirty="0" smtClean="0"/>
              <a:t>За решаване на проблема с прецизността и точността, за представяне на реалните числа се използва т.нар. </a:t>
            </a:r>
            <a:r>
              <a:rPr lang="en-US" altLang="en-US" sz="2800" dirty="0" smtClean="0"/>
              <a:t>“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представяне с плаваща запетая</a:t>
            </a:r>
            <a:r>
              <a:rPr lang="en-US" altLang="en-US" sz="2800" dirty="0"/>
              <a:t>”</a:t>
            </a:r>
            <a:r>
              <a:rPr lang="bg-BG" altLang="en-US" sz="2800" dirty="0" smtClean="0"/>
              <a:t>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i="1" dirty="0" smtClean="0"/>
              <a:t>floating-point</a:t>
            </a:r>
            <a:r>
              <a:rPr lang="bg-BG" altLang="en-US" sz="2800" dirty="0" smtClean="0"/>
              <a:t>)</a:t>
            </a:r>
            <a:r>
              <a:rPr lang="en-US" altLang="en-US" sz="2800" dirty="0" smtClean="0"/>
              <a:t>. </a:t>
            </a:r>
            <a:endParaRPr lang="en-US" altLang="en-US" sz="2800" dirty="0"/>
          </a:p>
          <a:p>
            <a:pPr lvl="1"/>
            <a:r>
              <a:rPr lang="bg-BG" altLang="en-US" sz="2400" dirty="0" smtClean="0"/>
              <a:t>Числото се представя като съставено от три елемента (т.нар. 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научна нотация</a:t>
            </a:r>
            <a:r>
              <a:rPr lang="bg-BG" altLang="en-US" sz="2400" dirty="0" smtClean="0"/>
              <a:t>): </a:t>
            </a:r>
            <a:r>
              <a:rPr lang="bg-BG" altLang="en-US" sz="2400" i="1" dirty="0" smtClean="0"/>
              <a:t>знак</a:t>
            </a:r>
            <a:r>
              <a:rPr lang="bg-BG" altLang="en-US" sz="2400" dirty="0" smtClean="0"/>
              <a:t>, </a:t>
            </a:r>
            <a:r>
              <a:rPr lang="bg-BG" altLang="en-US" sz="2400" i="1" dirty="0" smtClean="0"/>
              <a:t>отместване</a:t>
            </a:r>
            <a:r>
              <a:rPr lang="bg-BG" altLang="en-US" sz="2400" dirty="0" smtClean="0"/>
              <a:t>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s</a:t>
            </a:r>
            <a:r>
              <a:rPr lang="en-US" altLang="en-US" sz="2400" dirty="0" smtClean="0"/>
              <a:t>hifter</a:t>
            </a:r>
            <a:r>
              <a:rPr lang="bg-BG" altLang="en-US" sz="2400" dirty="0" smtClean="0"/>
              <a:t>) и </a:t>
            </a:r>
            <a:r>
              <a:rPr lang="bg-BG" altLang="en-US" sz="2400" i="1" dirty="0" smtClean="0"/>
              <a:t>число</a:t>
            </a:r>
            <a:r>
              <a:rPr lang="bg-BG" altLang="en-US" sz="2400" dirty="0" smtClean="0"/>
              <a:t> с фиксирана позиция на десетичната точка</a:t>
            </a:r>
            <a:r>
              <a:rPr lang="en-US" altLang="en-US" sz="2400" dirty="0" smtClean="0"/>
              <a:t>.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 smtClean="0"/>
          </a:p>
          <a:p>
            <a:pPr lvl="1"/>
            <a:endParaRPr lang="bg-BG" altLang="en-US" sz="2400" dirty="0" smtClean="0"/>
          </a:p>
          <a:p>
            <a:pPr lvl="1"/>
            <a:r>
              <a:rPr lang="bg-BG" altLang="en-US" sz="2400" dirty="0" smtClean="0"/>
              <a:t>Пример:</a:t>
            </a:r>
            <a:endParaRPr lang="en-US" altLang="en-US" sz="2400" dirty="0"/>
          </a:p>
          <a:p>
            <a:endParaRPr lang="en-US" sz="2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222" y="4800600"/>
            <a:ext cx="7983538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</a:rPr>
              <a:t>Реални </a:t>
            </a:r>
            <a:r>
              <a:rPr lang="bg-BG" altLang="en-US" dirty="0" smtClean="0">
                <a:solidFill>
                  <a:schemeClr val="tx2"/>
                </a:solidFill>
              </a:rPr>
              <a:t>числа: представяне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4" y="3505200"/>
            <a:ext cx="5667375" cy="904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Callout 3 4"/>
          <p:cNvSpPr/>
          <p:nvPr/>
        </p:nvSpPr>
        <p:spPr>
          <a:xfrm>
            <a:off x="5140324" y="6248400"/>
            <a:ext cx="877888" cy="457200"/>
          </a:xfrm>
          <a:prstGeom prst="borderCallout3">
            <a:avLst>
              <a:gd name="adj1" fmla="val 14205"/>
              <a:gd name="adj2" fmla="val 104112"/>
              <a:gd name="adj3" fmla="val -19886"/>
              <a:gd name="adj4" fmla="val 139572"/>
              <a:gd name="adj5" fmla="val -46969"/>
              <a:gd name="adj6" fmla="val 171675"/>
              <a:gd name="adj7" fmla="val -72517"/>
              <a:gd name="adj8" fmla="val 202360"/>
            </a:avLst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i="1" dirty="0" smtClean="0">
                <a:solidFill>
                  <a:schemeClr val="bg1"/>
                </a:solidFill>
              </a:rPr>
              <a:t>знак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9" name="Line Callout 3 8"/>
          <p:cNvSpPr/>
          <p:nvPr/>
        </p:nvSpPr>
        <p:spPr>
          <a:xfrm>
            <a:off x="7466012" y="6251864"/>
            <a:ext cx="2020888" cy="457200"/>
          </a:xfrm>
          <a:prstGeom prst="borderCallout3">
            <a:avLst>
              <a:gd name="adj1" fmla="val -13068"/>
              <a:gd name="adj2" fmla="val 37429"/>
              <a:gd name="adj3" fmla="val -31251"/>
              <a:gd name="adj4" fmla="val 32694"/>
              <a:gd name="adj5" fmla="val -53787"/>
              <a:gd name="adj6" fmla="val 28426"/>
              <a:gd name="adj7" fmla="val -71191"/>
              <a:gd name="adj8" fmla="val 27191"/>
            </a:avLst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i="1" dirty="0" smtClean="0">
                <a:solidFill>
                  <a:schemeClr val="bg1"/>
                </a:solidFill>
              </a:rPr>
              <a:t>число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2" name="Line Callout 3 11"/>
          <p:cNvSpPr/>
          <p:nvPr/>
        </p:nvSpPr>
        <p:spPr>
          <a:xfrm>
            <a:off x="9980612" y="6251864"/>
            <a:ext cx="1752600" cy="457200"/>
          </a:xfrm>
          <a:prstGeom prst="borderCallout3">
            <a:avLst>
              <a:gd name="adj1" fmla="val -15341"/>
              <a:gd name="adj2" fmla="val 37912"/>
              <a:gd name="adj3" fmla="val -49432"/>
              <a:gd name="adj4" fmla="val 25626"/>
              <a:gd name="adj5" fmla="val -84659"/>
              <a:gd name="adj6" fmla="val 11613"/>
              <a:gd name="adj7" fmla="val -110963"/>
              <a:gd name="adj8" fmla="val 109"/>
            </a:avLst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i="1" dirty="0" smtClean="0">
                <a:solidFill>
                  <a:schemeClr val="bg1"/>
                </a:solidFill>
              </a:rPr>
              <a:t>отместване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05610" y="5621914"/>
            <a:ext cx="279401" cy="302635"/>
          </a:xfrm>
          <a:prstGeom prst="rect">
            <a:avLst/>
          </a:prstGeom>
          <a:solidFill>
            <a:schemeClr val="accent4">
              <a:lumMod val="75000"/>
              <a:alpha val="43000"/>
            </a:schemeClr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466012" y="5562600"/>
            <a:ext cx="1295400" cy="361950"/>
          </a:xfrm>
          <a:prstGeom prst="rect">
            <a:avLst/>
          </a:prstGeom>
          <a:solidFill>
            <a:schemeClr val="accent4">
              <a:lumMod val="75000"/>
              <a:alpha val="43000"/>
            </a:schemeClr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29799" y="5486400"/>
            <a:ext cx="379413" cy="271030"/>
          </a:xfrm>
          <a:prstGeom prst="rect">
            <a:avLst/>
          </a:prstGeom>
          <a:solidFill>
            <a:schemeClr val="accent4">
              <a:lumMod val="75000"/>
              <a:alpha val="43000"/>
            </a:schemeClr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7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6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sz="2800" dirty="0" smtClean="0"/>
              <a:t>За решаване на проблема с прецизността и точността, за представяне на реалните числа се използва т.нар. </a:t>
            </a:r>
            <a:r>
              <a:rPr lang="en-US" altLang="en-US" sz="2800" dirty="0" smtClean="0"/>
              <a:t>“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представяне с плаваща запетая</a:t>
            </a:r>
            <a:r>
              <a:rPr lang="en-US" altLang="en-US" sz="2800" dirty="0"/>
              <a:t>”</a:t>
            </a:r>
            <a:r>
              <a:rPr lang="bg-BG" altLang="en-US" sz="2800" dirty="0" smtClean="0"/>
              <a:t>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i="1" dirty="0" smtClean="0"/>
              <a:t>floating-point</a:t>
            </a:r>
            <a:r>
              <a:rPr lang="bg-BG" altLang="en-US" sz="2800" dirty="0" smtClean="0"/>
              <a:t>)</a:t>
            </a:r>
            <a:r>
              <a:rPr lang="en-US" altLang="en-US" sz="2800" dirty="0" smtClean="0"/>
              <a:t>. </a:t>
            </a:r>
            <a:endParaRPr lang="en-US" altLang="en-US" sz="2800" dirty="0"/>
          </a:p>
          <a:p>
            <a:pPr lvl="1"/>
            <a:r>
              <a:rPr lang="bg-BG" altLang="en-US" sz="2400" dirty="0" smtClean="0"/>
              <a:t>Числото се представя като съставено от три елемента (т.нар. 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научна нотация</a:t>
            </a:r>
            <a:r>
              <a:rPr lang="bg-BG" altLang="en-US" sz="2400" dirty="0" smtClean="0"/>
              <a:t>): </a:t>
            </a:r>
            <a:r>
              <a:rPr lang="bg-BG" altLang="en-US" sz="2400" i="1" dirty="0" smtClean="0"/>
              <a:t>знак</a:t>
            </a:r>
            <a:r>
              <a:rPr lang="bg-BG" altLang="en-US" sz="2400" dirty="0" smtClean="0"/>
              <a:t>, </a:t>
            </a:r>
            <a:r>
              <a:rPr lang="bg-BG" altLang="en-US" sz="2400" i="1" dirty="0" smtClean="0"/>
              <a:t>отместване</a:t>
            </a:r>
            <a:r>
              <a:rPr lang="bg-BG" altLang="en-US" sz="2400" dirty="0" smtClean="0"/>
              <a:t>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s</a:t>
            </a:r>
            <a:r>
              <a:rPr lang="en-US" altLang="en-US" sz="2400" dirty="0" smtClean="0"/>
              <a:t>hifter</a:t>
            </a:r>
            <a:r>
              <a:rPr lang="bg-BG" altLang="en-US" sz="2400" dirty="0" smtClean="0"/>
              <a:t>) и </a:t>
            </a:r>
            <a:r>
              <a:rPr lang="bg-BG" altLang="en-US" sz="2400" i="1" dirty="0" smtClean="0"/>
              <a:t>число</a:t>
            </a:r>
            <a:r>
              <a:rPr lang="bg-BG" altLang="en-US" sz="2400" dirty="0" smtClean="0"/>
              <a:t> с фиксирана позиция на десетичната точка</a:t>
            </a:r>
            <a:r>
              <a:rPr lang="en-US" altLang="en-US" sz="2400" dirty="0" smtClean="0"/>
              <a:t>.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 smtClean="0"/>
          </a:p>
          <a:p>
            <a:pPr lvl="1"/>
            <a:endParaRPr lang="bg-BG" altLang="en-US" sz="2400" dirty="0" smtClean="0"/>
          </a:p>
          <a:p>
            <a:pPr lvl="1"/>
            <a:r>
              <a:rPr lang="bg-BG" altLang="en-US" sz="2400" dirty="0" smtClean="0"/>
              <a:t>Пример:</a:t>
            </a:r>
            <a:endParaRPr lang="en-US" altLang="en-US" sz="2400" dirty="0"/>
          </a:p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</a:rPr>
              <a:t>Реални </a:t>
            </a:r>
            <a:r>
              <a:rPr lang="bg-BG" altLang="en-US" dirty="0" smtClean="0">
                <a:solidFill>
                  <a:schemeClr val="tx2"/>
                </a:solidFill>
              </a:rPr>
              <a:t>числа: представяне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4" y="3505200"/>
            <a:ext cx="5667375" cy="904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2" y="5181600"/>
            <a:ext cx="6707188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89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</a:rPr>
              <a:t>Реални числа: </a:t>
            </a:r>
            <a:r>
              <a:rPr lang="bg-BG" altLang="en-US" dirty="0" smtClean="0">
                <a:solidFill>
                  <a:schemeClr val="tx2"/>
                </a:solidFill>
              </a:rPr>
              <a:t>нормализация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Същност</a:t>
            </a:r>
          </a:p>
          <a:p>
            <a:pPr lvl="1"/>
            <a:r>
              <a:rPr lang="bg-BG" altLang="en-US" dirty="0" smtClean="0"/>
              <a:t>По аналогия с научната нотация, методът с плаваща запетая използват само една ненулева цифра вляво от десетичната запетая.</a:t>
            </a:r>
          </a:p>
          <a:p>
            <a:pPr lvl="1"/>
            <a:r>
              <a:rPr lang="bg-BG" altLang="en-US" dirty="0" smtClean="0"/>
              <a:t>Промяната на стойността на отместването за да се получи само една ненулева цифра се нарича </a:t>
            </a:r>
            <a:r>
              <a:rPr lang="bg-BG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нормализация</a:t>
            </a:r>
            <a:r>
              <a:rPr lang="bg-BG" altLang="en-US" dirty="0" smtClean="0"/>
              <a:t> на двоичното число.</a:t>
            </a:r>
            <a:endParaRPr lang="en-US" altLang="en-US" dirty="0" smtClean="0"/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48" y="4211782"/>
            <a:ext cx="9526588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573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>
                <a:solidFill>
                  <a:schemeClr val="tx2"/>
                </a:solidFill>
              </a:rPr>
              <a:t>Реални числа: представяне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Представяне </a:t>
            </a:r>
            <a:r>
              <a:rPr lang="en-US" altLang="en-US" dirty="0" smtClean="0"/>
              <a:t>“</a:t>
            </a:r>
            <a:r>
              <a:rPr lang="bg-BG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Знак, Мантиса, Порядък</a:t>
            </a:r>
            <a:r>
              <a:rPr lang="en-US" altLang="en-US" dirty="0" smtClean="0"/>
              <a:t>”</a:t>
            </a:r>
            <a:r>
              <a:rPr lang="bg-BG" altLang="en-US" dirty="0" smtClean="0"/>
              <a:t> </a:t>
            </a:r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Знак – това е знакът на числото при научна нотация</a:t>
            </a:r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Порядък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Exponent)</a:t>
            </a:r>
            <a:r>
              <a:rPr lang="bg-BG" altLang="en-US" dirty="0" smtClean="0"/>
              <a:t> – това е отместването (степенния показател) на нормализираното число.</a:t>
            </a:r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Мантиса – това полученото число с фиксирана запетая след нормализацията, като е изпусната най-лявата цифра (по подразбиране тя е винаги 1).</a:t>
            </a:r>
          </a:p>
          <a:p>
            <a:pPr lvl="2">
              <a:spcBef>
                <a:spcPts val="400"/>
              </a:spcBef>
            </a:pPr>
            <a:r>
              <a:rPr lang="bg-BG" altLang="en-US" dirty="0" smtClean="0"/>
              <a:t>Тъй като в компютрите числата се представят в двоичен код, то най-лявата цифра на нормализираното число (цифрата преди десетичната точка) има стойност 1 (единица). </a:t>
            </a:r>
            <a:endParaRPr lang="en-US" altLang="en-US" dirty="0" smtClean="0"/>
          </a:p>
          <a:p>
            <a:pPr lvl="1">
              <a:spcBef>
                <a:spcPts val="400"/>
              </a:spcBef>
            </a:pPr>
            <a:r>
              <a:rPr lang="bg-BG" altLang="en-US" dirty="0" smtClean="0"/>
              <a:t>Характерна особеност на това представяне е, че мантисата заедно със знака реализират кодиране „</a:t>
            </a:r>
            <a:r>
              <a:rPr lang="bg-BG" altLang="en-US" dirty="0" err="1" smtClean="0"/>
              <a:t>Знак+Стойност</a:t>
            </a:r>
            <a:r>
              <a:rPr lang="bg-BG" altLang="en-US" dirty="0" smtClean="0"/>
              <a:t>“.</a:t>
            </a:r>
            <a:endParaRPr lang="en-US" altLang="en-US" dirty="0"/>
          </a:p>
          <a:p>
            <a:pPr>
              <a:spcBef>
                <a:spcPts val="400"/>
              </a:spcBef>
            </a:pP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872" y="4953000"/>
            <a:ext cx="5286375" cy="166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62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Представяне на </a:t>
            </a:r>
            <a:r>
              <a:rPr lang="bg-BG" smtClean="0"/>
              <a:t>специфични стойности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bg-BG" dirty="0" smtClean="0"/>
              <a:t>0 (нула)</a:t>
            </a:r>
            <a:endParaRPr lang="en-US" dirty="0" smtClean="0"/>
          </a:p>
          <a:p>
            <a:pPr lvl="1"/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всеки</a:t>
            </a:r>
            <a:r>
              <a:rPr lang="ru-RU" dirty="0"/>
              <a:t> бит е </a:t>
            </a:r>
            <a:r>
              <a:rPr lang="ru-RU" dirty="0" smtClean="0"/>
              <a:t>0 (</a:t>
            </a:r>
            <a:r>
              <a:rPr lang="ru-RU" dirty="0" err="1" smtClean="0"/>
              <a:t>битът</a:t>
            </a:r>
            <a:r>
              <a:rPr lang="ru-RU" dirty="0" smtClean="0"/>
              <a:t> </a:t>
            </a:r>
            <a:r>
              <a:rPr lang="bg-BG" dirty="0"/>
              <a:t>з</a:t>
            </a:r>
            <a:r>
              <a:rPr lang="ru-RU" dirty="0" smtClean="0"/>
              <a:t>а </a:t>
            </a:r>
            <a:r>
              <a:rPr lang="ru-RU" dirty="0"/>
              <a:t>знака не е </a:t>
            </a:r>
            <a:r>
              <a:rPr lang="ru-RU" dirty="0" err="1" smtClean="0"/>
              <a:t>разглежда</a:t>
            </a:r>
            <a:r>
              <a:rPr lang="ru-RU" dirty="0" smtClean="0"/>
              <a:t>), </a:t>
            </a:r>
            <a:r>
              <a:rPr lang="ru-RU" dirty="0" err="1"/>
              <a:t>тогава</a:t>
            </a:r>
            <a:r>
              <a:rPr lang="ru-RU" dirty="0"/>
              <a:t> </a:t>
            </a:r>
            <a:r>
              <a:rPr lang="ru-RU" dirty="0" err="1"/>
              <a:t>числото</a:t>
            </a:r>
            <a:r>
              <a:rPr lang="ru-RU" dirty="0"/>
              <a:t> се </a:t>
            </a:r>
            <a:r>
              <a:rPr lang="ru-RU" dirty="0" err="1"/>
              <a:t>счита</a:t>
            </a:r>
            <a:r>
              <a:rPr lang="ru-RU" dirty="0"/>
              <a:t> за </a:t>
            </a:r>
            <a:r>
              <a:rPr lang="ru-RU" dirty="0" smtClean="0"/>
              <a:t>0 (</a:t>
            </a:r>
            <a:r>
              <a:rPr lang="ru-RU" dirty="0" err="1" smtClean="0"/>
              <a:t>нула</a:t>
            </a:r>
            <a:r>
              <a:rPr lang="ru-RU" dirty="0" smtClean="0"/>
              <a:t>).</a:t>
            </a:r>
            <a:endParaRPr lang="en-US" dirty="0" smtClean="0"/>
          </a:p>
          <a:p>
            <a:pPr lvl="2"/>
            <a:r>
              <a:rPr lang="bg-BG" dirty="0" smtClean="0"/>
              <a:t>Проблем</a:t>
            </a:r>
            <a:r>
              <a:rPr lang="en-US" dirty="0" smtClean="0"/>
              <a:t>: </a:t>
            </a:r>
            <a:r>
              <a:rPr lang="bg-BG" dirty="0" smtClean="0"/>
              <a:t>как се представя тогава числото</a:t>
            </a:r>
            <a:r>
              <a:rPr lang="en-US" dirty="0" smtClean="0"/>
              <a:t>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1.0</a:t>
            </a:r>
            <a:r>
              <a:rPr lang="bg-BG" dirty="0" smtClean="0"/>
              <a:t>, защото в мантисата старшият бит се изпуска (</a:t>
            </a:r>
            <a:r>
              <a:rPr lang="bg-BG" i="1" dirty="0" smtClean="0"/>
              <a:t>той е единствената 1 </a:t>
            </a:r>
            <a:r>
              <a:rPr lang="bg-BG" dirty="0" smtClean="0"/>
              <a:t>в числото) ?</a:t>
            </a:r>
            <a:endParaRPr lang="en-US" dirty="0" smtClean="0"/>
          </a:p>
          <a:p>
            <a:pPr lvl="2"/>
            <a:r>
              <a:rPr lang="bg-BG" dirty="0" smtClean="0"/>
              <a:t>Допълнителен проблем е използването на порядъка, което най-добре се вижда при реални числа с единична (известни като </a:t>
            </a:r>
            <a:r>
              <a:rPr lang="en-US" i="1" dirty="0" smtClean="0"/>
              <a:t>float</a:t>
            </a:r>
            <a:r>
              <a:rPr lang="en-US" dirty="0" smtClean="0"/>
              <a:t>)</a:t>
            </a:r>
            <a:r>
              <a:rPr lang="bg-BG" dirty="0" smtClean="0"/>
              <a:t> и двойна точност</a:t>
            </a:r>
            <a:r>
              <a:rPr lang="en-US" dirty="0" smtClean="0"/>
              <a:t> (</a:t>
            </a:r>
            <a:r>
              <a:rPr lang="bg-BG" dirty="0"/>
              <a:t>известни като </a:t>
            </a:r>
            <a:r>
              <a:rPr lang="en-US" dirty="0" smtClean="0"/>
              <a:t>double).</a:t>
            </a:r>
          </a:p>
          <a:p>
            <a:r>
              <a:rPr lang="en-US" altLang="en-US" dirty="0"/>
              <a:t>Storing Zero</a:t>
            </a:r>
          </a:p>
          <a:p>
            <a:pPr lvl="1"/>
            <a:r>
              <a:rPr lang="en-US" altLang="en-US" dirty="0"/>
              <a:t>A real number with an integral part and the fractional part set to zero (0.0), cannot be stored using the steps discussed above. </a:t>
            </a:r>
          </a:p>
          <a:p>
            <a:pPr lvl="2"/>
            <a:r>
              <a:rPr lang="en-US" altLang="en-US" dirty="0"/>
              <a:t>To handle this special case, it is agreed that in this case the </a:t>
            </a:r>
            <a:r>
              <a:rPr lang="en-US" altLang="en-US" i="1" dirty="0"/>
              <a:t>sign</a:t>
            </a:r>
            <a:r>
              <a:rPr lang="en-US" altLang="en-US" dirty="0"/>
              <a:t>, </a:t>
            </a:r>
            <a:r>
              <a:rPr lang="en-US" altLang="en-US" i="1" dirty="0"/>
              <a:t>exponent</a:t>
            </a:r>
            <a:r>
              <a:rPr lang="en-US" altLang="en-US" dirty="0"/>
              <a:t> and the </a:t>
            </a:r>
            <a:r>
              <a:rPr lang="en-US" altLang="en-US" i="1" dirty="0"/>
              <a:t>mantissa</a:t>
            </a:r>
            <a:r>
              <a:rPr lang="en-US" altLang="en-US" dirty="0"/>
              <a:t> are set to </a:t>
            </a:r>
            <a:r>
              <a:rPr lang="en-US" altLang="en-US" dirty="0" smtClean="0"/>
              <a:t>0s.</a:t>
            </a:r>
            <a:endParaRPr lang="en-US" dirty="0" smtClean="0"/>
          </a:p>
          <a:p>
            <a:r>
              <a:rPr lang="bg-BG" dirty="0" smtClean="0"/>
              <a:t>Представяне на безкрайност (</a:t>
            </a:r>
            <a:r>
              <a:rPr lang="bg-BG" dirty="0"/>
              <a:t>−∞ и +∞</a:t>
            </a:r>
            <a:r>
              <a:rPr lang="bg-BG" dirty="0" smtClean="0">
                <a:latin typeface="Arial"/>
                <a:cs typeface="Arial"/>
              </a:rPr>
              <a:t>)</a:t>
            </a:r>
            <a:endParaRPr lang="en-US" dirty="0" smtClean="0"/>
          </a:p>
          <a:p>
            <a:pPr lvl="1"/>
            <a:r>
              <a:rPr lang="bg-BG" dirty="0" smtClean="0"/>
              <a:t>В този случай всички битове на порядъка имат стойност 1 – това намалява диапазона на </a:t>
            </a:r>
            <a:r>
              <a:rPr lang="bg-BG" dirty="0" err="1" smtClean="0"/>
              <a:t>представимите</a:t>
            </a:r>
            <a:r>
              <a:rPr lang="bg-BG" dirty="0" smtClean="0"/>
              <a:t> числа</a:t>
            </a:r>
            <a:r>
              <a:rPr lang="en-US" dirty="0" smtClean="0"/>
              <a:t>.</a:t>
            </a:r>
          </a:p>
          <a:p>
            <a:pPr lvl="1"/>
            <a:r>
              <a:rPr lang="bg-BG" dirty="0" smtClean="0"/>
              <a:t>Проблем: как се различават </a:t>
            </a:r>
            <a:r>
              <a:rPr lang="bg-BG" dirty="0"/>
              <a:t>−∞ от +∞ </a:t>
            </a:r>
            <a:r>
              <a:rPr lang="bg-BG" dirty="0" smtClean="0">
                <a:latin typeface="Arial"/>
                <a:cs typeface="Arial"/>
              </a:rPr>
              <a:t>?</a:t>
            </a:r>
            <a:endParaRPr lang="en-US" dirty="0" smtClean="0"/>
          </a:p>
          <a:p>
            <a:r>
              <a:rPr lang="bg-BG" dirty="0" smtClean="0"/>
              <a:t>Няма стойност (</a:t>
            </a:r>
            <a:r>
              <a:rPr lang="en-US" dirty="0" err="1" smtClean="0"/>
              <a:t>NaN</a:t>
            </a:r>
            <a:r>
              <a:rPr lang="bg-BG" dirty="0" smtClean="0"/>
              <a:t> - </a:t>
            </a:r>
            <a:r>
              <a:rPr lang="en-US" dirty="0" smtClean="0"/>
              <a:t>Not-a-number value</a:t>
            </a:r>
            <a:r>
              <a:rPr lang="bg-BG" dirty="0" smtClean="0"/>
              <a:t>)</a:t>
            </a:r>
            <a:endParaRPr lang="en-US" dirty="0" smtClean="0"/>
          </a:p>
          <a:p>
            <a:pPr lvl="1"/>
            <a:r>
              <a:rPr lang="bg-BG" dirty="0" smtClean="0"/>
              <a:t>Всеки бит на порядъка е 1 и на мантисата има </a:t>
            </a:r>
            <a:r>
              <a:rPr lang="bg-BG" dirty="0"/>
              <a:t>стойност </a:t>
            </a:r>
            <a:r>
              <a:rPr lang="en-US" dirty="0"/>
              <a:t>ǂ</a:t>
            </a:r>
            <a:r>
              <a:rPr lang="bg-BG" dirty="0"/>
              <a:t> 0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+</a:t>
            </a:r>
            <a:r>
              <a:rPr lang="en-US" dirty="0" err="1" smtClean="0"/>
              <a:t>NaN</a:t>
            </a:r>
            <a:r>
              <a:rPr lang="en-US" dirty="0" smtClean="0"/>
              <a:t>/-</a:t>
            </a:r>
            <a:r>
              <a:rPr lang="en-US" dirty="0" err="1" smtClean="0"/>
              <a:t>NaN</a:t>
            </a:r>
            <a:r>
              <a:rPr lang="bg-BG" dirty="0" smtClean="0"/>
              <a:t> ?</a:t>
            </a:r>
          </a:p>
          <a:p>
            <a:pPr lvl="1"/>
            <a:r>
              <a:rPr lang="en-US" dirty="0" err="1" smtClean="0"/>
              <a:t>qNan</a:t>
            </a:r>
            <a:r>
              <a:rPr lang="en-US" dirty="0" smtClean="0"/>
              <a:t> (quiet </a:t>
            </a:r>
            <a:r>
              <a:rPr lang="en-US" dirty="0" err="1" smtClean="0"/>
              <a:t>NaN</a:t>
            </a:r>
            <a:r>
              <a:rPr lang="en-US" dirty="0" smtClean="0"/>
              <a:t>) vs. </a:t>
            </a:r>
            <a:r>
              <a:rPr lang="en-US" dirty="0" err="1" smtClean="0"/>
              <a:t>sNaN</a:t>
            </a:r>
            <a:r>
              <a:rPr lang="en-US" dirty="0" smtClean="0"/>
              <a:t> (signaling </a:t>
            </a:r>
            <a:r>
              <a:rPr lang="en-US" dirty="0" err="1" smtClean="0"/>
              <a:t>NaN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4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2"/>
                </a:solidFill>
              </a:rPr>
              <a:t>IEEE Standard</a:t>
            </a:r>
            <a:r>
              <a:rPr lang="bg-BG" altLang="en-US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>
                <a:solidFill>
                  <a:schemeClr val="tx2"/>
                </a:solidFill>
              </a:rPr>
              <a:t>Excess System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altLang="en-US" dirty="0" smtClean="0"/>
              <a:t>Това е стандарт за представяне на числата, който е използван да замени представянето в допълнителен код на порядъка.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Порядъкът показва на колко бита е преместена мантисата за да се получи старшата 1</a:t>
            </a:r>
            <a:r>
              <a:rPr lang="bg-BG" altLang="en-US" baseline="30000" dirty="0" smtClean="0"/>
              <a:t>-а</a:t>
            </a:r>
            <a:r>
              <a:rPr lang="bg-BG" altLang="en-US" dirty="0" smtClean="0"/>
              <a:t>, т.е порядъкът може да има положителна или отрицателна стойност.</a:t>
            </a:r>
            <a:r>
              <a:rPr lang="en-US" altLang="en-US" dirty="0" smtClean="0"/>
              <a:t> 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Това създава нееднородност на обработките.</a:t>
            </a:r>
            <a:endParaRPr lang="en-US" altLang="en-US" dirty="0" smtClean="0"/>
          </a:p>
          <a:p>
            <a:r>
              <a:rPr lang="bg-BG" altLang="en-US" dirty="0" smtClean="0"/>
              <a:t>В стандарта </a:t>
            </a:r>
            <a:r>
              <a:rPr lang="en-US" altLang="en-US" i="1" dirty="0" smtClean="0"/>
              <a:t>Excess</a:t>
            </a:r>
            <a:r>
              <a:rPr lang="bg-BG" altLang="en-US" dirty="0" smtClean="0"/>
              <a:t> порядъкът се съхранява като </a:t>
            </a:r>
            <a:r>
              <a:rPr lang="bg-BG" altLang="en-US" dirty="0" err="1" smtClean="0"/>
              <a:t>беззнаково</a:t>
            </a:r>
            <a:r>
              <a:rPr lang="bg-BG" altLang="en-US" dirty="0" smtClean="0"/>
              <a:t> цяло число, независимо че реално той може да има и отрицателна стойност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Това се постига чрез добавяне на константна положителна стойност, при което порядъкът задължително става положително число</a:t>
            </a:r>
            <a:r>
              <a:rPr lang="en-US" altLang="en-US" dirty="0" smtClean="0"/>
              <a:t>. </a:t>
            </a:r>
          </a:p>
          <a:p>
            <a:pPr lvl="2"/>
            <a:r>
              <a:rPr lang="bg-BG" altLang="en-US" dirty="0" smtClean="0"/>
              <a:t>Стойността на отместването </a:t>
            </a:r>
            <a:r>
              <a:rPr lang="en-US" altLang="en-US" dirty="0" smtClean="0"/>
              <a:t>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</a:t>
            </a:r>
            <a:r>
              <a:rPr lang="en-US" altLang="en-US" dirty="0" smtClean="0"/>
              <a:t>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bias</a:t>
            </a:r>
            <a:r>
              <a:rPr lang="en-US" altLang="en-US" dirty="0" smtClean="0"/>
              <a:t>)</a:t>
            </a:r>
            <a:r>
              <a:rPr lang="bg-BG" altLang="en-US" dirty="0" smtClean="0"/>
              <a:t> се определя по формулата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−1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− 1</a:t>
            </a:r>
            <a:r>
              <a:rPr lang="en-US" altLang="en-US" dirty="0"/>
              <a:t>, </a:t>
            </a:r>
            <a:r>
              <a:rPr lang="bg-BG" altLang="en-US" dirty="0" smtClean="0"/>
              <a:t>където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 </a:t>
            </a:r>
            <a:r>
              <a:rPr lang="bg-BG" altLang="en-US" dirty="0" smtClean="0"/>
              <a:t>е размерът на порядъка (в брой битове).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9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2"/>
                </a:solidFill>
              </a:rPr>
              <a:t>IEEE </a:t>
            </a:r>
            <a:r>
              <a:rPr lang="en-US" altLang="en-US" dirty="0" smtClean="0">
                <a:solidFill>
                  <a:schemeClr val="tx2"/>
                </a:solidFill>
              </a:rPr>
              <a:t>Standard</a:t>
            </a:r>
            <a:r>
              <a:rPr lang="bg-BG" altLang="en-US" dirty="0" smtClean="0">
                <a:solidFill>
                  <a:schemeClr val="tx2"/>
                </a:solidFill>
              </a:rPr>
              <a:t>: </a:t>
            </a:r>
            <a:r>
              <a:rPr lang="en-US" dirty="0" smtClean="0"/>
              <a:t>Excess_127</a:t>
            </a:r>
            <a:r>
              <a:rPr lang="bg-BG" dirty="0" smtClean="0"/>
              <a:t> и </a:t>
            </a:r>
            <a:r>
              <a:rPr lang="en-US" dirty="0" smtClean="0"/>
              <a:t>Excess_1</a:t>
            </a:r>
            <a:r>
              <a:rPr lang="bg-BG" dirty="0" smtClean="0"/>
              <a:t>023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Стандарт за реални числа с единична точност </a:t>
            </a:r>
            <a:r>
              <a:rPr lang="en-US" dirty="0" smtClean="0"/>
              <a:t>(Excess_127)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bg-BG" dirty="0"/>
              <a:t>Стандарт за реални числа с </a:t>
            </a:r>
            <a:r>
              <a:rPr lang="bg-BG" dirty="0" smtClean="0"/>
              <a:t>двойна точност</a:t>
            </a:r>
            <a:r>
              <a:rPr lang="en-US" dirty="0" smtClean="0"/>
              <a:t>(Excess_1023)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2" y="1864242"/>
            <a:ext cx="66770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2" y="3705225"/>
            <a:ext cx="83343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17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Excess_127</a:t>
            </a:r>
            <a:r>
              <a:rPr lang="bg-BG" altLang="en-US" dirty="0" smtClean="0">
                <a:solidFill>
                  <a:schemeClr val="tx2"/>
                </a:solidFill>
              </a:rPr>
              <a:t>: пример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Представяне на числото </a:t>
            </a: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en-US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161.875</a:t>
            </a:r>
            <a:r>
              <a:rPr lang="bg-BG" altLang="en-US" dirty="0" smtClean="0"/>
              <a:t> като число с плаваща запетая и единична точност, т.е. в  </a:t>
            </a:r>
            <a:r>
              <a:rPr lang="en-US" altLang="en-US" i="1" dirty="0" smtClean="0"/>
              <a:t>Excess_127.</a:t>
            </a:r>
            <a:endParaRPr lang="en-US" altLang="en-US" i="1" dirty="0"/>
          </a:p>
          <a:p>
            <a:pPr lvl="1" algn="just"/>
            <a:r>
              <a:rPr lang="bg-BG" altLang="en-US" dirty="0" smtClean="0"/>
              <a:t>Знакът е отрицателен, т.е.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1</a:t>
            </a:r>
            <a:r>
              <a:rPr lang="en-US" altLang="en-US" dirty="0"/>
              <a:t>.</a:t>
            </a:r>
          </a:p>
          <a:p>
            <a:pPr lvl="1" algn="just"/>
            <a:r>
              <a:rPr lang="bg-BG" altLang="en-US" dirty="0" smtClean="0"/>
              <a:t>Двоичен еквивалент</a:t>
            </a:r>
            <a:r>
              <a:rPr lang="en-US" altLang="en-US" dirty="0" smtClean="0"/>
              <a:t>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161.875= (10100001.111)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/>
              <a:t>.</a:t>
            </a:r>
          </a:p>
          <a:p>
            <a:pPr lvl="1" algn="just"/>
            <a:r>
              <a:rPr lang="bg-BG" altLang="en-US" dirty="0" smtClean="0"/>
              <a:t>Нормализация</a:t>
            </a:r>
            <a:r>
              <a:rPr lang="en-US" altLang="en-US" dirty="0" smtClean="0"/>
              <a:t>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(10100001.111)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(1.0100001111)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× 2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pPr lvl="1" algn="just"/>
            <a:r>
              <a:rPr lang="bg-BG" altLang="en-US" dirty="0" smtClean="0"/>
              <a:t>Мантиса: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 = (0100001111)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en-US" dirty="0"/>
          </a:p>
          <a:p>
            <a:pPr lvl="1" algn="just"/>
            <a:r>
              <a:rPr lang="bg-BG" altLang="en-US" dirty="0" smtClean="0"/>
              <a:t>Отместване на порядъка: </a:t>
            </a:r>
            <a:r>
              <a:rPr lang="en-US" altLang="en-US" dirty="0" smtClean="0"/>
              <a:t>E </a:t>
            </a:r>
            <a:r>
              <a:rPr lang="en-US" altLang="en-US" dirty="0"/>
              <a:t>=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 + 127 = 134 = (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10000110)</a:t>
            </a:r>
            <a:r>
              <a:rPr lang="en-US" altLang="en-US" baseline="-25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bg-BG" altLang="en-US" baseline="-25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altLang="en-US" dirty="0"/>
          </a:p>
          <a:p>
            <a:pPr lvl="1" algn="just"/>
            <a:r>
              <a:rPr lang="bg-BG" altLang="en-US" dirty="0" smtClean="0"/>
              <a:t>Представяне</a:t>
            </a:r>
            <a:r>
              <a:rPr lang="en-US" altLang="en-US" dirty="0" smtClean="0"/>
              <a:t>:</a:t>
            </a:r>
          </a:p>
          <a:p>
            <a:pPr lvl="1" algn="just"/>
            <a:endParaRPr lang="en-US" altLang="en-US" dirty="0"/>
          </a:p>
          <a:p>
            <a:pPr lvl="1" algn="just"/>
            <a:endParaRPr lang="en-US" altLang="en-US" dirty="0" smtClean="0"/>
          </a:p>
          <a:p>
            <a:pPr lvl="1" algn="just"/>
            <a:r>
              <a:rPr lang="bg-BG" altLang="en-US" dirty="0" smtClean="0"/>
              <a:t>Съхранение в компютъра (4 </a:t>
            </a:r>
            <a:r>
              <a:rPr lang="bg-BG" altLang="en-US" dirty="0" err="1" smtClean="0"/>
              <a:t>байтово</a:t>
            </a:r>
            <a:r>
              <a:rPr lang="bg-BG" altLang="en-US" dirty="0" smtClean="0"/>
              <a:t> реално число)</a:t>
            </a:r>
            <a:endParaRPr lang="en-US" altLang="en-US" dirty="0" smtClean="0"/>
          </a:p>
          <a:p>
            <a:pPr marL="0" lvl="1" indent="0" algn="ctr">
              <a:spcBef>
                <a:spcPts val="3000"/>
              </a:spcBef>
              <a:buSzPct val="70000"/>
              <a:buNone/>
            </a:pPr>
            <a: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11000011010000111100000000000000</a:t>
            </a:r>
            <a:endParaRPr lang="en-US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12" y="4297680"/>
            <a:ext cx="68389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689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Excess_127</a:t>
            </a:r>
            <a:r>
              <a:rPr lang="bg-BG" altLang="en-US" dirty="0">
                <a:solidFill>
                  <a:schemeClr val="tx2"/>
                </a:solidFill>
              </a:rPr>
              <a:t>: пример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Представяне на числото </a:t>
            </a: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–0.0234375</a:t>
            </a:r>
            <a:r>
              <a:rPr lang="bg-BG" altLang="en-US" dirty="0" smtClean="0"/>
              <a:t> </a:t>
            </a:r>
            <a:r>
              <a:rPr lang="bg-BG" altLang="en-US" dirty="0"/>
              <a:t>като число с плаваща запетая и единична точност, т.е. в  </a:t>
            </a:r>
            <a:r>
              <a:rPr lang="en-US" altLang="en-US" i="1" dirty="0" smtClean="0"/>
              <a:t>Excess_127.</a:t>
            </a:r>
            <a:endParaRPr lang="en-US" altLang="en-US" i="1" dirty="0"/>
          </a:p>
          <a:p>
            <a:pPr lvl="1" algn="just"/>
            <a:r>
              <a:rPr lang="bg-BG" altLang="en-US" dirty="0"/>
              <a:t>Знакът е отрицателен, т.е.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1</a:t>
            </a:r>
            <a:r>
              <a:rPr lang="en-US" altLang="en-US" dirty="0"/>
              <a:t>.</a:t>
            </a:r>
          </a:p>
          <a:p>
            <a:pPr lvl="1" algn="just"/>
            <a:r>
              <a:rPr lang="bg-BG" altLang="en-US" dirty="0"/>
              <a:t>Двоичен еквивалент</a:t>
            </a:r>
            <a:r>
              <a:rPr lang="en-US" altLang="en-US" dirty="0"/>
              <a:t>: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0.0234375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(0.0000011)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 algn="just"/>
            <a:r>
              <a:rPr lang="bg-BG" altLang="en-US" dirty="0" smtClean="0"/>
              <a:t>Нормализация</a:t>
            </a:r>
            <a:r>
              <a:rPr lang="en-US" altLang="en-US" dirty="0" smtClean="0"/>
              <a:t>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(0.0000011)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(1.1)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× 2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−6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pPr lvl="1" algn="just"/>
            <a:r>
              <a:rPr lang="bg-BG" altLang="en-US" dirty="0" smtClean="0"/>
              <a:t>Мантиса: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 = (1)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en-US" dirty="0"/>
          </a:p>
          <a:p>
            <a:pPr lvl="1" algn="just"/>
            <a:r>
              <a:rPr lang="bg-BG" altLang="en-US" dirty="0"/>
              <a:t>Отместване на порядъка: </a:t>
            </a:r>
            <a:r>
              <a:rPr lang="en-US" altLang="en-US" dirty="0" smtClean="0"/>
              <a:t>E </a:t>
            </a:r>
            <a:r>
              <a:rPr lang="en-US" altLang="en-US" dirty="0"/>
              <a:t>=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–6 + 127 = 121 = (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01111001)</a:t>
            </a:r>
            <a:r>
              <a:rPr lang="en-US" altLang="en-US" baseline="-25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 algn="just"/>
            <a:r>
              <a:rPr lang="bg-BG" altLang="en-US" dirty="0"/>
              <a:t>Представяне </a:t>
            </a:r>
            <a:r>
              <a:rPr lang="en-US" altLang="en-US" dirty="0" smtClean="0"/>
              <a:t>:</a:t>
            </a:r>
          </a:p>
          <a:p>
            <a:pPr lvl="1" algn="just"/>
            <a:endParaRPr lang="en-US" altLang="en-US" dirty="0"/>
          </a:p>
          <a:p>
            <a:pPr lvl="1" algn="just"/>
            <a:endParaRPr lang="en-US" altLang="en-US" dirty="0" smtClean="0"/>
          </a:p>
          <a:p>
            <a:pPr lvl="1" algn="just"/>
            <a:r>
              <a:rPr lang="bg-BG" altLang="en-US" dirty="0"/>
              <a:t>Съхранение в компютъра (4 </a:t>
            </a:r>
            <a:r>
              <a:rPr lang="bg-BG" altLang="en-US" dirty="0" err="1"/>
              <a:t>байтово</a:t>
            </a:r>
            <a:r>
              <a:rPr lang="bg-BG" altLang="en-US" dirty="0"/>
              <a:t> реално число)</a:t>
            </a:r>
            <a:endParaRPr lang="en-US" altLang="en-US" dirty="0"/>
          </a:p>
          <a:p>
            <a:pPr marL="0" lvl="1" indent="0" algn="ctr">
              <a:spcBef>
                <a:spcPts val="2400"/>
              </a:spcBef>
              <a:buSzPct val="70000"/>
              <a:buNone/>
            </a:pPr>
            <a: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10111100110000000000000000000000</a:t>
            </a:r>
            <a:endParaRPr lang="en-US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lvl="1" indent="0" algn="ctr">
              <a:spcBef>
                <a:spcPts val="1400"/>
              </a:spcBef>
              <a:buSzPct val="70000"/>
              <a:buNone/>
            </a:pPr>
            <a:endParaRPr lang="en-US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/>
            <a:endParaRPr lang="en-US" altLang="en-US" dirty="0"/>
          </a:p>
          <a:p>
            <a:endParaRPr lang="en-US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12" y="4343400"/>
            <a:ext cx="68484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28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Excess_127</a:t>
            </a:r>
            <a:r>
              <a:rPr lang="bg-BG" altLang="en-US" dirty="0">
                <a:solidFill>
                  <a:schemeClr val="tx2"/>
                </a:solidFill>
              </a:rPr>
              <a:t>: пример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Кое десетично число се представя чрез записа </a:t>
            </a:r>
            <a:r>
              <a:rPr lang="en-US" alt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11001010000000000111000100001111)</a:t>
            </a:r>
            <a:r>
              <a:rPr lang="en-US" altLang="en-US" sz="28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800" dirty="0" smtClean="0"/>
              <a:t> ако е използваният формат е </a:t>
            </a:r>
            <a:r>
              <a:rPr lang="en-US" altLang="en-US" i="1" dirty="0" smtClean="0"/>
              <a:t>Excess_127</a:t>
            </a:r>
            <a:r>
              <a:rPr lang="bg-BG" altLang="en-US" i="1" dirty="0" smtClean="0"/>
              <a:t> ?</a:t>
            </a:r>
            <a:endParaRPr lang="en-US" altLang="en-US" i="1" dirty="0"/>
          </a:p>
          <a:p>
            <a:pPr lvl="1" algn="just"/>
            <a:r>
              <a:rPr lang="bg-BG" altLang="en-US" dirty="0" smtClean="0"/>
              <a:t>Разделяне на Знак, Порядък, Мантиса</a:t>
            </a:r>
            <a:endParaRPr lang="en-US" altLang="en-US" dirty="0" smtClean="0"/>
          </a:p>
          <a:p>
            <a:pPr marL="438150" lvl="1" indent="0" algn="just">
              <a:buNone/>
            </a:pPr>
            <a:r>
              <a:rPr lang="en-US" altLang="en-US" dirty="0" smtClean="0"/>
              <a:t> </a:t>
            </a:r>
          </a:p>
          <a:p>
            <a:pPr lvl="1" algn="just"/>
            <a:endParaRPr lang="en-US" altLang="en-US" dirty="0"/>
          </a:p>
          <a:p>
            <a:pPr lvl="1" algn="just">
              <a:lnSpc>
                <a:spcPct val="100000"/>
              </a:lnSpc>
            </a:pPr>
            <a:r>
              <a:rPr lang="bg-BG" altLang="en-US" dirty="0" smtClean="0"/>
              <a:t>Е = 10010100</a:t>
            </a:r>
            <a:r>
              <a:rPr lang="bg-BG" altLang="en-US" baseline="-25000" dirty="0" smtClean="0"/>
              <a:t>2</a:t>
            </a:r>
            <a:r>
              <a:rPr lang="bg-BG" altLang="en-US" dirty="0" smtClean="0"/>
              <a:t> = 148</a:t>
            </a:r>
            <a:r>
              <a:rPr lang="bg-BG" altLang="en-US" baseline="-25000" dirty="0" smtClean="0"/>
              <a:t>10</a:t>
            </a:r>
            <a:r>
              <a:rPr lang="bg-BG" altLang="en-US" dirty="0" smtClean="0"/>
              <a:t> </a:t>
            </a:r>
            <a:r>
              <a:rPr lang="en-US" altLang="en-US" dirty="0"/>
              <a:t>⇒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− 127 = 148 − 127 = 21</a:t>
            </a:r>
            <a:r>
              <a:rPr lang="en-US" altLang="en-US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bg-BG" altLang="en-US" dirty="0" smtClean="0"/>
              <a:t>Числото в научна нотация: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1.00000000111000100001111)</a:t>
            </a:r>
            <a:r>
              <a:rPr lang="en-US" altLang="en-US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× 2</a:t>
            </a:r>
            <a:r>
              <a:rPr lang="en-US" altLang="en-US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altLang="en-US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bg-BG" altLang="en-US" dirty="0" smtClean="0"/>
              <a:t>Реална стойност</a:t>
            </a:r>
            <a:r>
              <a:rPr lang="en-US" altLang="en-US" dirty="0" smtClean="0"/>
              <a:t>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1000000001110001000011.11)</a:t>
            </a:r>
            <a:r>
              <a:rPr lang="en-US" altLang="en-US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2104378.75</a:t>
            </a:r>
            <a:r>
              <a:rPr lang="en-US" altLang="en-US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bg-BG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en-US" altLang="en-US" dirty="0"/>
              <a:t>⇒ </a:t>
            </a:r>
            <a:r>
              <a:rPr lang="bg-BG" altLang="en-US" dirty="0"/>
              <a:t>числото е с </a:t>
            </a:r>
            <a:r>
              <a:rPr lang="bg-BG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отрицателен</a:t>
            </a:r>
            <a:r>
              <a:rPr lang="bg-BG" altLang="en-US" dirty="0"/>
              <a:t> знак</a:t>
            </a:r>
            <a:r>
              <a:rPr lang="en-US" altLang="en-US" dirty="0"/>
              <a:t>.</a:t>
            </a:r>
          </a:p>
          <a:p>
            <a:pPr lvl="1" algn="just">
              <a:lnSpc>
                <a:spcPct val="100000"/>
              </a:lnSpc>
            </a:pPr>
            <a:r>
              <a:rPr lang="bg-BG" altLang="en-US" dirty="0" smtClean="0"/>
              <a:t>Крайна стойност:</a:t>
            </a:r>
            <a:r>
              <a:rPr lang="en-US" altLang="en-US" dirty="0" smtClean="0"/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−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2104378.75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2" y="2819400"/>
            <a:ext cx="5495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31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>
                <a:solidFill>
                  <a:schemeClr val="tx2"/>
                </a:solidFill>
              </a:rPr>
              <a:t>Препълване и Загуба на значимост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r>
              <a:rPr lang="bg-BG" sz="2800" dirty="0" smtClean="0"/>
              <a:t>Същност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Препълване </a:t>
            </a:r>
            <a:r>
              <a:rPr lang="bg-BG" sz="2400" dirty="0"/>
              <a:t>(</a:t>
            </a:r>
            <a:r>
              <a:rPr lang="bg-BG" sz="2400" dirty="0" err="1"/>
              <a:t>англ</a:t>
            </a:r>
            <a:r>
              <a:rPr lang="bg-BG" sz="2400" dirty="0"/>
              <a:t>. </a:t>
            </a:r>
            <a:r>
              <a:rPr lang="en-US" sz="2400" dirty="0" smtClean="0"/>
              <a:t>Overflow</a:t>
            </a:r>
            <a:r>
              <a:rPr lang="en-US" sz="2400" dirty="0"/>
              <a:t>)</a:t>
            </a:r>
            <a:r>
              <a:rPr lang="bg-BG" sz="2400" dirty="0" smtClean="0"/>
              <a:t> – невъзможност да се представят числа, чиято абсолютна стойност е по-голяма от максимално голямото число за конкретния компютър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Загуба на значимост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en-US" sz="2400" dirty="0" smtClean="0"/>
              <a:t>Underflow)</a:t>
            </a:r>
            <a:r>
              <a:rPr lang="bg-BG" sz="2400" dirty="0" smtClean="0"/>
              <a:t> – поради необходимостта от нормализация е възможно много малки числа да не могат да се представят, защото порядъкът не може да запише необходимото число (степенния показател след нормализация)</a:t>
            </a:r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bg-BG" sz="2400" dirty="0" smtClean="0"/>
          </a:p>
          <a:p>
            <a:pPr lvl="1">
              <a:spcBef>
                <a:spcPts val="0"/>
              </a:spcBef>
            </a:pPr>
            <a:r>
              <a:rPr lang="bg-BG" sz="2400" dirty="0" smtClean="0"/>
              <a:t>В </a:t>
            </a:r>
            <a:r>
              <a:rPr lang="en-US" sz="2400" dirty="0" smtClean="0"/>
              <a:t>Excess_127</a:t>
            </a:r>
            <a:r>
              <a:rPr lang="bg-BG" sz="2400" dirty="0" smtClean="0"/>
              <a:t>:</a:t>
            </a:r>
          </a:p>
          <a:p>
            <a:pPr lvl="2"/>
            <a:r>
              <a:rPr lang="en-US" sz="2000" dirty="0" smtClean="0"/>
              <a:t>–</a:t>
            </a:r>
            <a:r>
              <a:rPr lang="en-US" sz="2000" dirty="0" err="1" smtClean="0"/>
              <a:t>Max_Value</a:t>
            </a:r>
            <a:r>
              <a:rPr lang="en-US" sz="2000" dirty="0" smtClean="0"/>
              <a:t> =  – (1 - 2</a:t>
            </a:r>
            <a:r>
              <a:rPr lang="en-US" sz="2000" baseline="30000" dirty="0" smtClean="0"/>
              <a:t>-24</a:t>
            </a:r>
            <a:r>
              <a:rPr lang="en-US" sz="2000" dirty="0" smtClean="0"/>
              <a:t>) × 2</a:t>
            </a:r>
            <a:r>
              <a:rPr lang="en-US" sz="2000" baseline="30000" dirty="0" smtClean="0"/>
              <a:t>+128  </a:t>
            </a:r>
            <a:r>
              <a:rPr lang="en-US" sz="2000" dirty="0" smtClean="0"/>
              <a:t>,</a:t>
            </a:r>
            <a:r>
              <a:rPr lang="en-US" sz="2000" baseline="30000" dirty="0" smtClean="0"/>
              <a:t> </a:t>
            </a:r>
            <a:r>
              <a:rPr lang="en-US" sz="2000" dirty="0" smtClean="0"/>
              <a:t>+</a:t>
            </a:r>
            <a:r>
              <a:rPr lang="en-US" sz="2000" dirty="0" err="1" smtClean="0"/>
              <a:t>Max_Value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 + (1 - 2</a:t>
            </a:r>
            <a:r>
              <a:rPr lang="en-US" sz="2000" baseline="30000" dirty="0" smtClean="0"/>
              <a:t>-24</a:t>
            </a:r>
            <a:r>
              <a:rPr lang="en-US" sz="2000" dirty="0"/>
              <a:t>) × </a:t>
            </a:r>
            <a:r>
              <a:rPr lang="en-US" sz="2000" dirty="0" smtClean="0"/>
              <a:t>2</a:t>
            </a:r>
            <a:r>
              <a:rPr lang="en-US" sz="2000" baseline="30000" dirty="0" smtClean="0"/>
              <a:t>+128</a:t>
            </a:r>
          </a:p>
          <a:p>
            <a:pPr lvl="2"/>
            <a:r>
              <a:rPr lang="en-US" sz="2000" dirty="0"/>
              <a:t>–</a:t>
            </a:r>
            <a:r>
              <a:rPr lang="en-US" sz="2000" dirty="0" err="1" smtClean="0"/>
              <a:t>Min_Value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  – (1 - 2</a:t>
            </a:r>
            <a:r>
              <a:rPr lang="en-US" sz="2000" baseline="30000" dirty="0" smtClean="0"/>
              <a:t>-1</a:t>
            </a:r>
            <a:r>
              <a:rPr lang="en-US" sz="2000" dirty="0" smtClean="0"/>
              <a:t>) </a:t>
            </a:r>
            <a:r>
              <a:rPr lang="en-US" sz="2000" dirty="0"/>
              <a:t>× </a:t>
            </a:r>
            <a:r>
              <a:rPr lang="en-US" sz="2000" dirty="0" smtClean="0"/>
              <a:t>2</a:t>
            </a:r>
            <a:r>
              <a:rPr lang="en-US" sz="2000" baseline="30000" dirty="0"/>
              <a:t>-127 </a:t>
            </a:r>
            <a:r>
              <a:rPr lang="en-US" sz="2000" dirty="0"/>
              <a:t>,</a:t>
            </a:r>
            <a:r>
              <a:rPr lang="en-US" sz="2000" baseline="30000" dirty="0"/>
              <a:t> </a:t>
            </a:r>
            <a:r>
              <a:rPr lang="en-US" sz="2000" baseline="30000" dirty="0" smtClean="0"/>
              <a:t> </a:t>
            </a:r>
            <a:r>
              <a:rPr lang="en-US" sz="2000" dirty="0" smtClean="0"/>
              <a:t>+</a:t>
            </a:r>
            <a:r>
              <a:rPr lang="en-US" sz="2000" dirty="0" err="1" smtClean="0"/>
              <a:t>Min_Value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  + (1 - 2</a:t>
            </a:r>
            <a:r>
              <a:rPr lang="en-US" sz="2000" baseline="30000" dirty="0" smtClean="0"/>
              <a:t>-1</a:t>
            </a:r>
            <a:r>
              <a:rPr lang="en-US" sz="2000" dirty="0" smtClean="0"/>
              <a:t>) </a:t>
            </a:r>
            <a:r>
              <a:rPr lang="en-US" sz="2000" dirty="0"/>
              <a:t>× </a:t>
            </a:r>
            <a:r>
              <a:rPr lang="en-US" sz="2000" dirty="0" smtClean="0"/>
              <a:t>2</a:t>
            </a:r>
            <a:r>
              <a:rPr lang="en-US" sz="2000" baseline="30000" dirty="0" smtClean="0"/>
              <a:t>-127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212" y="3962400"/>
            <a:ext cx="843368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45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>
                <a:solidFill>
                  <a:schemeClr val="tx2"/>
                </a:solidFill>
              </a:rPr>
              <a:t>Съхранение на текст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595950" cy="5562600"/>
          </a:xfrm>
        </p:spPr>
        <p:txBody>
          <a:bodyPr>
            <a:normAutofit fontScale="85000" lnSpcReduction="20000"/>
          </a:bodyPr>
          <a:lstStyle/>
          <a:p>
            <a:r>
              <a:rPr lang="bg-BG" altLang="en-US" dirty="0" smtClean="0"/>
              <a:t>Всеки текст (на произволен език) може да се разглежда като последователност от символи на езика, използвани за изразяване на текстовата информация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Необходимо е да се използва битова последователност за представяне на всички символи на езика + цифри + символи за пунктуация + някои специални символи (за </a:t>
            </a:r>
            <a:r>
              <a:rPr lang="bg-BG" altLang="en-US" dirty="0" err="1" smtClean="0"/>
              <a:t>четлимост</a:t>
            </a:r>
            <a:r>
              <a:rPr lang="bg-BG" altLang="en-US" dirty="0" smtClean="0"/>
              <a:t>, разделение на текста или за подравняване).</a:t>
            </a:r>
          </a:p>
          <a:p>
            <a:pPr lvl="1"/>
            <a:r>
              <a:rPr lang="bg-BG" altLang="en-US" dirty="0" smtClean="0"/>
              <a:t>Битовата последователност за кодиране на символите от даден език се нарича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кодова таблица</a:t>
            </a:r>
            <a:r>
              <a:rPr lang="bg-BG" altLang="en-US" dirty="0" smtClean="0"/>
              <a:t>.</a:t>
            </a:r>
          </a:p>
          <a:p>
            <a:pPr lvl="1"/>
            <a:r>
              <a:rPr lang="bg-BG" altLang="en-US" dirty="0" smtClean="0"/>
              <a:t>Пример: За английския език са необходими </a:t>
            </a:r>
            <a:r>
              <a:rPr lang="en-US" altLang="en-US" dirty="0" smtClean="0"/>
              <a:t>26 </a:t>
            </a:r>
            <a:r>
              <a:rPr lang="bg-BG" altLang="en-US" dirty="0" smtClean="0"/>
              <a:t>символа за главни букви</a:t>
            </a:r>
            <a:r>
              <a:rPr lang="en-US" altLang="en-US" dirty="0" smtClean="0"/>
              <a:t> </a:t>
            </a:r>
            <a:r>
              <a:rPr lang="en-US" altLang="en-US" dirty="0"/>
              <a:t>(A, B, C,…, Z</a:t>
            </a:r>
            <a:r>
              <a:rPr lang="en-US" altLang="en-US" dirty="0" smtClean="0"/>
              <a:t>), </a:t>
            </a:r>
            <a:r>
              <a:rPr lang="en-US" altLang="en-US" dirty="0"/>
              <a:t>26 </a:t>
            </a:r>
            <a:r>
              <a:rPr lang="bg-BG" altLang="en-US" dirty="0" smtClean="0"/>
              <a:t>символа за малки букви </a:t>
            </a:r>
            <a:r>
              <a:rPr lang="en-US" altLang="en-US" dirty="0" smtClean="0"/>
              <a:t>(a</a:t>
            </a:r>
            <a:r>
              <a:rPr lang="en-US" altLang="en-US" dirty="0"/>
              <a:t>, b, c, …, z</a:t>
            </a:r>
            <a:r>
              <a:rPr lang="en-US" altLang="en-US" dirty="0" smtClean="0"/>
              <a:t>), </a:t>
            </a:r>
            <a:r>
              <a:rPr lang="bg-BG" altLang="en-US" dirty="0" smtClean="0"/>
              <a:t>10 символа за цифри</a:t>
            </a:r>
            <a:r>
              <a:rPr lang="en-US" altLang="en-US" dirty="0" smtClean="0"/>
              <a:t> </a:t>
            </a:r>
            <a:r>
              <a:rPr lang="en-US" altLang="en-US" dirty="0"/>
              <a:t>(0, 1, 2, …, 9</a:t>
            </a:r>
            <a:r>
              <a:rPr lang="en-US" altLang="en-US" dirty="0" smtClean="0"/>
              <a:t>)</a:t>
            </a:r>
            <a:r>
              <a:rPr lang="bg-BG" altLang="en-US" dirty="0" smtClean="0"/>
              <a:t>, символи за пунктуация и символи за разделени и подравняване (например табулация, нов ред, празен символ)</a:t>
            </a:r>
            <a:r>
              <a:rPr lang="en-US" altLang="en-US" dirty="0" smtClean="0"/>
              <a:t>. </a:t>
            </a:r>
          </a:p>
          <a:p>
            <a:r>
              <a:rPr lang="bg-BG" altLang="en-US" sz="3100" dirty="0" smtClean="0"/>
              <a:t>Кодови таблици</a:t>
            </a:r>
            <a:endParaRPr lang="en-US" altLang="en-US" sz="3100" dirty="0"/>
          </a:p>
          <a:p>
            <a:pPr lvl="1"/>
            <a:r>
              <a:rPr lang="en-US" altLang="en-US" dirty="0" smtClean="0"/>
              <a:t>ASCII</a:t>
            </a:r>
            <a:r>
              <a:rPr lang="bg-BG" altLang="en-US" dirty="0" smtClean="0"/>
              <a:t>  (</a:t>
            </a:r>
            <a:r>
              <a:rPr lang="en-US" dirty="0"/>
              <a:t>American Standard Code for Information </a:t>
            </a:r>
            <a:r>
              <a:rPr lang="en-US" dirty="0" smtClean="0"/>
              <a:t>Interchange</a:t>
            </a:r>
            <a:r>
              <a:rPr lang="bg-BG" dirty="0" smtClean="0"/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IBM EBCDIC</a:t>
            </a:r>
            <a:r>
              <a:rPr lang="bg-BG" altLang="en-US" dirty="0" smtClean="0"/>
              <a:t> (</a:t>
            </a:r>
            <a:r>
              <a:rPr lang="en-US" dirty="0"/>
              <a:t>Extended Binary Coded Decimal Interchange </a:t>
            </a:r>
            <a:r>
              <a:rPr lang="en-US" dirty="0" smtClean="0"/>
              <a:t>Code</a:t>
            </a:r>
            <a:r>
              <a:rPr lang="bg-BG" dirty="0" smtClean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Unicode</a:t>
            </a:r>
          </a:p>
          <a:p>
            <a:pPr lvl="1"/>
            <a:r>
              <a:rPr lang="bg-BG" altLang="en-US" dirty="0" smtClean="0"/>
              <a:t>други</a:t>
            </a: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2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>
                <a:solidFill>
                  <a:schemeClr val="tx2"/>
                </a:solidFill>
              </a:rPr>
              <a:t>Съхранение на Аудио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10200"/>
          </a:xfrm>
        </p:spPr>
        <p:txBody>
          <a:bodyPr/>
          <a:lstStyle/>
          <a:p>
            <a:r>
              <a:rPr lang="bg-BG" altLang="en-US" dirty="0" smtClean="0"/>
              <a:t>Под термина „аудио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Audio</a:t>
            </a:r>
            <a:r>
              <a:rPr lang="bg-BG" altLang="en-US" dirty="0" smtClean="0"/>
              <a:t>)</a:t>
            </a:r>
            <a:r>
              <a:rPr lang="en-US" altLang="en-US" dirty="0" smtClean="0"/>
              <a:t> </a:t>
            </a:r>
            <a:r>
              <a:rPr lang="bg-BG" altLang="en-US" dirty="0" smtClean="0"/>
              <a:t>в компютърната техника се разбира звук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/>
              <a:t>sound </a:t>
            </a:r>
            <a:r>
              <a:rPr lang="bg-BG" altLang="en-US" dirty="0" smtClean="0"/>
              <a:t>) или музика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music</a:t>
            </a:r>
            <a:r>
              <a:rPr lang="bg-BG" altLang="en-US" dirty="0" smtClean="0"/>
              <a:t>)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По природа аудио-данните са различни от числата и текста, защото са аналогов тип данни, т.е. това не са дискретни данни</a:t>
            </a:r>
            <a:r>
              <a:rPr lang="en-US" altLang="en-US" dirty="0" smtClean="0"/>
              <a:t>. </a:t>
            </a:r>
          </a:p>
          <a:p>
            <a:pPr lvl="2"/>
            <a:r>
              <a:rPr lang="bg-BG" altLang="en-US" dirty="0" smtClean="0"/>
              <a:t>Следователно, ако трябва да се представят напълно точно е необходим безкраен брой от безкрайни по размер числа</a:t>
            </a:r>
            <a:r>
              <a:rPr lang="bg-BG" altLang="en-US" dirty="0"/>
              <a:t> </a:t>
            </a:r>
            <a:r>
              <a:rPr lang="bg-BG" altLang="en-US" dirty="0" smtClean="0"/>
              <a:t>– за </a:t>
            </a:r>
            <a:r>
              <a:rPr lang="bg-BG" altLang="en-US" dirty="0"/>
              <a:t>1 сек. това изисква около </a:t>
            </a:r>
            <a:r>
              <a:rPr lang="en-US" altLang="en-US" dirty="0"/>
              <a:t>40</a:t>
            </a:r>
            <a:r>
              <a:rPr lang="bg-BG" altLang="en-US" dirty="0"/>
              <a:t> </a:t>
            </a:r>
            <a:r>
              <a:rPr lang="en-US" altLang="en-US" dirty="0"/>
              <a:t>000 </a:t>
            </a:r>
            <a:r>
              <a:rPr lang="bg-BG" altLang="en-US" dirty="0"/>
              <a:t>реални </a:t>
            </a:r>
            <a:r>
              <a:rPr lang="bg-BG" altLang="en-US" dirty="0" smtClean="0"/>
              <a:t>стойности (това е </a:t>
            </a:r>
            <a:r>
              <a:rPr lang="bg-BG" altLang="en-US" dirty="0"/>
              <a:t>достатъчно добро </a:t>
            </a:r>
            <a:r>
              <a:rPr lang="bg-BG" altLang="en-US" dirty="0" err="1" smtClean="0"/>
              <a:t>приближение</a:t>
            </a:r>
            <a:r>
              <a:rPr lang="bg-BG" altLang="en-US" dirty="0" smtClean="0"/>
              <a:t>)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 lvl="2"/>
            <a:r>
              <a:rPr lang="bg-BG" altLang="en-US" dirty="0" smtClean="0"/>
              <a:t>Това налага да се съхранява само част от информацията за сигнала, която да позволява възстановяването на сигнала без загуба на качество.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12" y="4828852"/>
            <a:ext cx="6605260" cy="1855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703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err="1" smtClean="0">
                <a:solidFill>
                  <a:schemeClr val="tx2"/>
                </a:solidFill>
              </a:rPr>
              <a:t>Дискретизация</a:t>
            </a:r>
            <a:r>
              <a:rPr lang="bg-BG" altLang="en-US" dirty="0" smtClean="0">
                <a:solidFill>
                  <a:schemeClr val="tx2"/>
                </a:solidFill>
              </a:rPr>
              <a:t> на сигнал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altLang="en-US" dirty="0" smtClean="0"/>
              <a:t>Тъй като не е възможно съхранение на аналоговия сигнал, то в компютрите се използва т.нар. дигитализация на сигнала</a:t>
            </a:r>
          </a:p>
          <a:p>
            <a:pPr lvl="1"/>
            <a:r>
              <a:rPr lang="bg-BG" altLang="en-US" dirty="0" smtClean="0"/>
              <a:t>Съхраняват се дискретни стойности на сигнала в дискретни моменти от времето.</a:t>
            </a:r>
          </a:p>
          <a:p>
            <a:r>
              <a:rPr lang="bg-BG" altLang="en-US" dirty="0" err="1" smtClean="0"/>
              <a:t>Дискретизация</a:t>
            </a:r>
            <a:r>
              <a:rPr lang="bg-BG" altLang="en-US" dirty="0" smtClean="0"/>
              <a:t> по време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Sampling). </a:t>
            </a:r>
          </a:p>
          <a:p>
            <a:pPr lvl="1"/>
            <a:r>
              <a:rPr lang="bg-BG" altLang="en-US" dirty="0" smtClean="0"/>
              <a:t>Използва се крайно множество от моменти, в които се измерва стойността на сигнала – тези стойности се наричат „</a:t>
            </a: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извадка</a:t>
            </a:r>
            <a:r>
              <a:rPr lang="bg-BG" altLang="en-US" dirty="0" smtClean="0"/>
              <a:t>“</a:t>
            </a:r>
            <a:r>
              <a:rPr lang="en-US" altLang="en-US" dirty="0" smtClean="0"/>
              <a:t>. 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Използва се извадка със стандартна стъпка, т.е. измерванията са на точно определени и фиксирани интервали.</a:t>
            </a:r>
          </a:p>
          <a:p>
            <a:pPr lvl="1"/>
            <a:r>
              <a:rPr lang="bg-BG" altLang="en-US" dirty="0" smtClean="0"/>
              <a:t>Качеството на извадката е от ключово значение за определяне на качеството на възпроизвеждане на тоновете.</a:t>
            </a:r>
          </a:p>
          <a:p>
            <a:pPr lvl="2"/>
            <a:r>
              <a:rPr lang="bg-BG" altLang="en-US" dirty="0" smtClean="0"/>
              <a:t>Проблемът с обертоновете.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12" y="3657600"/>
            <a:ext cx="7462547" cy="2129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58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err="1">
                <a:solidFill>
                  <a:schemeClr val="tx2"/>
                </a:solidFill>
              </a:rPr>
              <a:t>Дискретизация</a:t>
            </a:r>
            <a:r>
              <a:rPr lang="bg-BG" altLang="en-US" dirty="0">
                <a:solidFill>
                  <a:schemeClr val="tx2"/>
                </a:solidFill>
              </a:rPr>
              <a:t> на сигнал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altLang="en-US" dirty="0" smtClean="0"/>
              <a:t>Проблем:</a:t>
            </a:r>
          </a:p>
          <a:p>
            <a:pPr lvl="1"/>
            <a:r>
              <a:rPr lang="bg-BG" altLang="en-US" dirty="0" smtClean="0"/>
              <a:t>За да може да се представи измерената стойността на сигнала, е необходимо число с плаваща запетая</a:t>
            </a:r>
            <a:r>
              <a:rPr lang="en-US" altLang="en-US" dirty="0" smtClean="0"/>
              <a:t>. 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Проблем: работата с реални числа е много-много по-бавна от работата с цели числа, а и не всички компютри имат специализирано устройство за работа с реални числа (</a:t>
            </a:r>
            <a:r>
              <a:rPr lang="en-US" altLang="en-US" dirty="0" smtClean="0"/>
              <a:t>FPU – Floating Point Unit).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Решение: за представяне на стойността се използва цяло </a:t>
            </a:r>
            <a:r>
              <a:rPr lang="bg-BG" altLang="en-US" dirty="0" err="1" smtClean="0"/>
              <a:t>беззнаково</a:t>
            </a:r>
            <a:r>
              <a:rPr lang="bg-BG" altLang="en-US" dirty="0" smtClean="0"/>
              <a:t> число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unsigned integer). </a:t>
            </a:r>
          </a:p>
          <a:p>
            <a:r>
              <a:rPr lang="bg-BG" altLang="en-US" dirty="0" err="1"/>
              <a:t>Дискретизация</a:t>
            </a:r>
            <a:r>
              <a:rPr lang="bg-BG" altLang="en-US" dirty="0"/>
              <a:t> по ниво (</a:t>
            </a:r>
            <a:r>
              <a:rPr lang="bg-BG" altLang="en-US" dirty="0" err="1"/>
              <a:t>англ</a:t>
            </a:r>
            <a:r>
              <a:rPr lang="bg-BG" altLang="en-US" dirty="0"/>
              <a:t>.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Quantization</a:t>
            </a:r>
            <a:r>
              <a:rPr lang="bg-BG" altLang="en-US" dirty="0"/>
              <a:t>)</a:t>
            </a:r>
          </a:p>
          <a:p>
            <a:pPr lvl="1"/>
            <a:r>
              <a:rPr lang="bg-BG" altLang="en-US" dirty="0" smtClean="0"/>
              <a:t>Това е процес на „закръгление“ на реалната стойност на сигнала до съответна цяла стойност. Системите използват някой от двата двата възможни варианта</a:t>
            </a:r>
          </a:p>
          <a:p>
            <a:pPr lvl="2"/>
            <a:r>
              <a:rPr lang="bg-BG" altLang="en-US" dirty="0" smtClean="0"/>
              <a:t>Заместване с най-близкото цяло число: </a:t>
            </a:r>
            <a:r>
              <a:rPr lang="en-US" altLang="en-US" dirty="0" smtClean="0"/>
              <a:t>17.2</a:t>
            </a:r>
            <a:r>
              <a:rPr lang="bg-BG" altLang="en-US" dirty="0" smtClean="0"/>
              <a:t> -&gt; 17, </a:t>
            </a:r>
            <a:r>
              <a:rPr lang="en-US" altLang="en-US" dirty="0" smtClean="0"/>
              <a:t>17.7</a:t>
            </a:r>
            <a:r>
              <a:rPr lang="bg-BG" altLang="en-US" dirty="0" smtClean="0"/>
              <a:t> -&gt; 18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Отрязване на дробната част: 17.2 -&gt; 17, </a:t>
            </a:r>
            <a:r>
              <a:rPr lang="bg-BG" altLang="en-US" dirty="0" err="1" smtClean="0"/>
              <a:t>17</a:t>
            </a:r>
            <a:r>
              <a:rPr lang="bg-BG" altLang="en-US" dirty="0" smtClean="0"/>
              <a:t>.7 -&gt; 17.</a:t>
            </a:r>
          </a:p>
          <a:p>
            <a:pPr lvl="1"/>
            <a:r>
              <a:rPr lang="bg-BG" altLang="en-US" dirty="0"/>
              <a:t>Това задължително въвежда </a:t>
            </a:r>
            <a:r>
              <a:rPr lang="bg-BG" altLang="en-US" dirty="0" smtClean="0"/>
              <a:t>„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грешка</a:t>
            </a:r>
            <a:r>
              <a:rPr lang="bg-BG" altLang="en-US" dirty="0" smtClean="0"/>
              <a:t>“.</a:t>
            </a:r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2" y="1371600"/>
            <a:ext cx="7105651" cy="5204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736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err="1">
                <a:solidFill>
                  <a:schemeClr val="tx2"/>
                </a:solidFill>
              </a:rPr>
              <a:t>Дискретизация</a:t>
            </a:r>
            <a:r>
              <a:rPr lang="bg-BG" altLang="en-US" dirty="0">
                <a:solidFill>
                  <a:schemeClr val="tx2"/>
                </a:solidFill>
              </a:rPr>
              <a:t> на </a:t>
            </a:r>
            <a:r>
              <a:rPr lang="bg-BG" altLang="en-US" dirty="0" smtClean="0">
                <a:solidFill>
                  <a:schemeClr val="tx2"/>
                </a:solidFill>
              </a:rPr>
              <a:t>сигнал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altLang="en-US" dirty="0" smtClean="0"/>
              <a:t>Кодиране на </a:t>
            </a:r>
            <a:r>
              <a:rPr lang="bg-BG" altLang="en-US" dirty="0" err="1" smtClean="0"/>
              <a:t>дискретизиран</a:t>
            </a:r>
            <a:r>
              <a:rPr lang="bg-BG" altLang="en-US" dirty="0" smtClean="0"/>
              <a:t> сигнал </a:t>
            </a:r>
          </a:p>
          <a:p>
            <a:pPr lvl="1" algn="just"/>
            <a:r>
              <a:rPr lang="bg-BG" altLang="en-US" dirty="0" smtClean="0"/>
              <a:t>Под този термин се разбира изборът на съответствие между стойност на измерения сигнал в даден моменти и битовата поредица, представяща тази стойност</a:t>
            </a:r>
            <a:r>
              <a:rPr lang="en-US" altLang="en-US" dirty="0" smtClean="0"/>
              <a:t>. </a:t>
            </a:r>
          </a:p>
          <a:p>
            <a:pPr lvl="1" algn="just"/>
            <a:r>
              <a:rPr lang="bg-BG" altLang="en-US" dirty="0" smtClean="0"/>
              <a:t>Използват се и двете възможности: само положителни стойности или отрицателни и положителни стойности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 lvl="1" algn="just"/>
            <a:r>
              <a:rPr lang="bg-BG" altLang="en-US" dirty="0" smtClean="0"/>
              <a:t>Броят на битовете за представяне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bit depth) </a:t>
            </a:r>
            <a:r>
              <a:rPr lang="bg-BG" altLang="en-US" dirty="0" smtClean="0"/>
              <a:t>на една стойност на сигнала</a:t>
            </a:r>
            <a:r>
              <a:rPr lang="en-US" altLang="en-US" dirty="0" smtClean="0"/>
              <a:t> </a:t>
            </a:r>
            <a:r>
              <a:rPr lang="bg-BG" altLang="en-US" dirty="0" smtClean="0"/>
              <a:t>и честотата на </a:t>
            </a:r>
            <a:r>
              <a:rPr lang="bg-BG" altLang="en-US" dirty="0" err="1" smtClean="0"/>
              <a:t>дискретизация</a:t>
            </a:r>
            <a:r>
              <a:rPr lang="bg-BG" altLang="en-US" dirty="0" smtClean="0"/>
              <a:t> на сигнала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Sample rate) </a:t>
            </a:r>
            <a:r>
              <a:rPr lang="bg-BG" altLang="en-US" dirty="0" smtClean="0"/>
              <a:t>са двете основни характеристики за качеството на </a:t>
            </a:r>
            <a:r>
              <a:rPr lang="bg-BG" altLang="en-US" dirty="0" err="1" smtClean="0"/>
              <a:t>дискретизирания</a:t>
            </a:r>
            <a:r>
              <a:rPr lang="bg-BG" altLang="en-US" dirty="0" smtClean="0"/>
              <a:t> сигнал</a:t>
            </a:r>
            <a:r>
              <a:rPr lang="en-US" altLang="en-US" dirty="0" smtClean="0"/>
              <a:t>. </a:t>
            </a:r>
            <a:r>
              <a:rPr lang="bg-BG" altLang="en-US" dirty="0" smtClean="0"/>
              <a:t>Тяхното произведение се означава с английския термин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 rate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dirty="0" smtClean="0"/>
              <a:t>(измерва се в </a:t>
            </a:r>
            <a:r>
              <a:rPr lang="en-US" altLang="en-US" i="1" dirty="0" smtClean="0"/>
              <a:t>kbps</a:t>
            </a:r>
            <a:r>
              <a:rPr lang="en-US" altLang="en-US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561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Изображения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562600"/>
          </a:xfrm>
        </p:spPr>
        <p:txBody>
          <a:bodyPr>
            <a:normAutofit/>
          </a:bodyPr>
          <a:lstStyle/>
          <a:p>
            <a:pPr algn="just"/>
            <a:r>
              <a:rPr lang="bg-BG" altLang="en-US" sz="2800" dirty="0" smtClean="0"/>
              <a:t>За съхранение на изображения (</a:t>
            </a:r>
            <a:r>
              <a:rPr lang="bg-BG" altLang="en-US" sz="2800" dirty="0" err="1" smtClean="0"/>
              <a:t>разг</a:t>
            </a:r>
            <a:r>
              <a:rPr lang="bg-BG" altLang="en-US" sz="2800" dirty="0" smtClean="0"/>
              <a:t>. картинки) в компютрите се използват два основни формата</a:t>
            </a:r>
            <a:r>
              <a:rPr lang="en-US" altLang="en-US" sz="2800" dirty="0" smtClean="0"/>
              <a:t>: </a:t>
            </a:r>
          </a:p>
          <a:p>
            <a:pPr lvl="1" algn="just"/>
            <a:r>
              <a:rPr lang="bg-BG" altLang="en-US" sz="2400" dirty="0" err="1" smtClean="0"/>
              <a:t>Растерни</a:t>
            </a:r>
            <a:r>
              <a:rPr lang="bg-BG" altLang="en-US" sz="2400" dirty="0" smtClean="0"/>
              <a:t> изображения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 </a:t>
            </a:r>
            <a:r>
              <a:rPr lang="en-US" altLang="en-US" sz="2400" dirty="0" smtClean="0"/>
              <a:t>Bitmap/raster images)</a:t>
            </a:r>
          </a:p>
          <a:p>
            <a:pPr lvl="1" algn="just"/>
            <a:r>
              <a:rPr lang="bg-BG" altLang="en-US" sz="2400" dirty="0" smtClean="0"/>
              <a:t>Векторни изображения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 </a:t>
            </a:r>
            <a:r>
              <a:rPr lang="en-US" altLang="en-US" sz="2400" dirty="0" smtClean="0"/>
              <a:t>vector images).</a:t>
            </a:r>
          </a:p>
          <a:p>
            <a:pPr algn="just"/>
            <a:r>
              <a:rPr lang="bg-BG" alt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Растерните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изображения</a:t>
            </a:r>
            <a:r>
              <a:rPr lang="bg-BG" altLang="en-US" sz="2800" dirty="0" smtClean="0"/>
              <a:t> се използват за съхранение на аналогово изображение (например фотографско изображение) в компютъра</a:t>
            </a:r>
            <a:r>
              <a:rPr lang="en-US" altLang="en-US" sz="2800" dirty="0" smtClean="0"/>
              <a:t>. </a:t>
            </a:r>
          </a:p>
          <a:p>
            <a:pPr lvl="1" algn="just"/>
            <a:r>
              <a:rPr lang="bg-BG" altLang="en-US" sz="2400" dirty="0" smtClean="0"/>
              <a:t>Фотографското изображение по характер е по-близко до аналогово изображение, отколкото до цифрово изображение, т.е. необходимо е да се извърши </a:t>
            </a:r>
            <a:r>
              <a:rPr lang="bg-BG" altLang="en-US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специфична форма на дигитализация.</a:t>
            </a:r>
          </a:p>
          <a:p>
            <a:pPr lvl="1" algn="just"/>
            <a:r>
              <a:rPr lang="bg-BG" altLang="en-US" sz="2400" dirty="0" smtClean="0"/>
              <a:t>Разликата между дигитализацията на изображение и звук е в това, че измерването на силата на сигнала (в случая на изображение това е интензитетът на цвета) варира в пространството,  а не във времето.</a:t>
            </a:r>
            <a:endParaRPr lang="en-US" altLang="en-US" sz="2400" dirty="0" smtClean="0"/>
          </a:p>
          <a:p>
            <a:pPr lvl="1" algn="just"/>
            <a:r>
              <a:rPr lang="bg-BG" altLang="en-US" sz="2400" dirty="0" err="1"/>
              <a:t>Дискретизираните</a:t>
            </a:r>
            <a:r>
              <a:rPr lang="bg-BG" altLang="en-US" sz="2400" dirty="0"/>
              <a:t> стойности се наричат </a:t>
            </a:r>
            <a:r>
              <a:rPr lang="bg-BG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пиксели</a:t>
            </a:r>
            <a:r>
              <a:rPr lang="bg-BG" altLang="en-US" sz="2400" dirty="0"/>
              <a:t> (</a:t>
            </a:r>
            <a:r>
              <a:rPr lang="bg-BG" altLang="en-US" sz="2400" dirty="0" err="1"/>
              <a:t>англ</a:t>
            </a:r>
            <a:r>
              <a:rPr lang="bg-BG" altLang="en-US" sz="2400" dirty="0"/>
              <a:t>. </a:t>
            </a:r>
            <a:r>
              <a:rPr lang="en-US" altLang="en-US" sz="2400" dirty="0"/>
              <a:t>pixels </a:t>
            </a:r>
            <a:r>
              <a:rPr lang="bg-BG" altLang="en-US" sz="2400" dirty="0"/>
              <a:t>- </a:t>
            </a:r>
            <a:r>
              <a:rPr lang="en-US" altLang="en-US" sz="2400" dirty="0"/>
              <a:t>picture elements).</a:t>
            </a:r>
          </a:p>
        </p:txBody>
      </p:sp>
    </p:spTree>
    <p:extLst>
      <p:ext uri="{BB962C8B-B14F-4D97-AF65-F5344CB8AC3E}">
        <p14:creationId xmlns:p14="http://schemas.microsoft.com/office/powerpoint/2010/main" val="331377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Растерни</a:t>
            </a:r>
            <a:r>
              <a:rPr lang="bg-BG" dirty="0" smtClean="0"/>
              <a:t> изображения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pPr marL="347663" lvl="2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sz="2800" dirty="0"/>
              <a:t>Процесът на дигитализация на изображение се означава с два термина: </a:t>
            </a:r>
            <a:endParaRPr lang="bg-BG" altLang="en-US" sz="2800" dirty="0" smtClean="0"/>
          </a:p>
          <a:p>
            <a:pPr marL="520701" lvl="3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Растеризация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400" dirty="0" smtClean="0"/>
              <a:t>- това </a:t>
            </a:r>
            <a:r>
              <a:rPr lang="bg-BG" altLang="en-US" sz="2400" dirty="0"/>
              <a:t>е алгоритмично определяне на стойността на </a:t>
            </a:r>
            <a:r>
              <a:rPr lang="bg-BG" altLang="en-US" sz="2400" dirty="0" smtClean="0"/>
              <a:t>пикселите</a:t>
            </a:r>
            <a:r>
              <a:rPr lang="bg-BG" altLang="en-US" sz="2400" dirty="0"/>
              <a:t>.</a:t>
            </a:r>
            <a:endParaRPr lang="bg-BG" altLang="en-US" sz="2400" dirty="0" smtClean="0"/>
          </a:p>
          <a:p>
            <a:pPr marL="520701" lvl="3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Сканиране </a:t>
            </a:r>
            <a:r>
              <a:rPr lang="bg-BG" altLang="en-US" sz="2400" dirty="0" smtClean="0"/>
              <a:t>-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400" dirty="0" smtClean="0"/>
              <a:t>апаратно </a:t>
            </a:r>
            <a:r>
              <a:rPr lang="bg-BG" altLang="en-US" sz="2400" dirty="0"/>
              <a:t>измерване на стойността на </a:t>
            </a:r>
            <a:r>
              <a:rPr lang="bg-BG" altLang="en-US" sz="2400" dirty="0" smtClean="0"/>
              <a:t>пикселите.</a:t>
            </a:r>
            <a:endParaRPr lang="en-US" altLang="en-US" sz="2400" dirty="0"/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Разрешителна способност (/Резолюция) на изображение</a:t>
            </a:r>
            <a:endParaRPr lang="en-US" altLang="en-US" sz="2800" dirty="0"/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Определя се от броя на пиксели по двете оси</a:t>
            </a:r>
            <a:r>
              <a:rPr lang="en-US" altLang="en-US" sz="2400" dirty="0" smtClean="0"/>
              <a:t>. </a:t>
            </a:r>
            <a:endParaRPr lang="en-US" altLang="en-US" sz="2400" dirty="0"/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Качеството на </a:t>
            </a:r>
            <a:r>
              <a:rPr lang="bg-BG" altLang="en-US" sz="2400" dirty="0" err="1" smtClean="0"/>
              <a:t>дискретизацията</a:t>
            </a:r>
            <a:r>
              <a:rPr lang="bg-BG" altLang="en-US" sz="2400" dirty="0" smtClean="0"/>
              <a:t> се определя от това дали човешкото око възприема линиите в изображение като прекъснати или като непрекъснати</a:t>
            </a:r>
            <a:r>
              <a:rPr lang="en-US" altLang="en-US" sz="2400" dirty="0" smtClean="0"/>
              <a:t>.</a:t>
            </a:r>
            <a:r>
              <a:rPr lang="bg-BG" altLang="en-US" sz="2400" dirty="0" smtClean="0"/>
              <a:t> Това зависи от гъстотата на пикселите, която се измерва в </a:t>
            </a:r>
            <a:r>
              <a:rPr lang="en-US" altLang="en-US" sz="2400" dirty="0" smtClean="0"/>
              <a:t>dpi (dot per inch).</a:t>
            </a:r>
            <a:endParaRPr lang="en-US" altLang="en-US" sz="2400" dirty="0"/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Основни недостатъци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Много голям размер</a:t>
            </a:r>
            <a:r>
              <a:rPr lang="en-US" altLang="en-US" sz="2400" dirty="0" smtClean="0"/>
              <a:t>, </a:t>
            </a:r>
            <a:r>
              <a:rPr lang="bg-BG" altLang="en-US" sz="2400" dirty="0" smtClean="0"/>
              <a:t>поради което изображения се </a:t>
            </a:r>
            <a:r>
              <a:rPr lang="bg-BG" altLang="en-US" sz="2400" dirty="0" err="1" smtClean="0"/>
              <a:t>дигитализират</a:t>
            </a:r>
            <a:r>
              <a:rPr lang="bg-BG" altLang="en-US" sz="2400" dirty="0" smtClean="0"/>
              <a:t> с различно </a:t>
            </a:r>
            <a:r>
              <a:rPr lang="en-US" altLang="en-US" sz="2400" dirty="0" smtClean="0"/>
              <a:t>DPI</a:t>
            </a:r>
            <a:r>
              <a:rPr lang="bg-BG" altLang="en-US" sz="2400" dirty="0" smtClean="0"/>
              <a:t> според предназначението им.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Трудно се преобразува </a:t>
            </a:r>
            <a:r>
              <a:rPr lang="bg-BG" altLang="en-US" sz="2400" dirty="0" err="1" smtClean="0"/>
              <a:t>дигитализирано</a:t>
            </a:r>
            <a:r>
              <a:rPr lang="bg-BG" altLang="en-US" sz="2400" dirty="0" smtClean="0"/>
              <a:t> изображение с една разделителна способност в изображение в друга разделителна способност – винаги се внася допълнителна грешка.</a:t>
            </a:r>
            <a:endParaRPr lang="en-US" altLang="en-US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56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Векторни изображения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300"/>
              </a:spcBef>
            </a:pPr>
            <a:r>
              <a:rPr lang="bg-BG" altLang="en-US" sz="2800" dirty="0" smtClean="0"/>
              <a:t>При векторната графика изображението не се </a:t>
            </a:r>
            <a:r>
              <a:rPr lang="bg-BG" altLang="en-US" sz="2800" dirty="0" err="1" smtClean="0"/>
              <a:t>дискретизира</a:t>
            </a:r>
            <a:r>
              <a:rPr lang="bg-BG" altLang="en-US" sz="2800" dirty="0" smtClean="0"/>
              <a:t> на масив от пиксели, а се представя (декомпозира) като комбинация от базови геометрични форми (линии, фигури, …)</a:t>
            </a:r>
          </a:p>
          <a:p>
            <a:pPr algn="just">
              <a:spcBef>
                <a:spcPts val="300"/>
              </a:spcBef>
            </a:pPr>
            <a:r>
              <a:rPr lang="bg-BG" altLang="en-US" sz="2800" dirty="0" smtClean="0"/>
              <a:t>При съхранение на изображението всяка от базовите геометрични форми се съхранява в параметрична форма:</a:t>
            </a:r>
            <a:r>
              <a:rPr lang="en-US" altLang="en-US" sz="2800" dirty="0" smtClean="0"/>
              <a:t> </a:t>
            </a:r>
          </a:p>
          <a:p>
            <a:pPr lvl="1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Функционално описание на примитива</a:t>
            </a:r>
          </a:p>
          <a:p>
            <a:pPr lvl="2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Пример: за окръжност се съхранява радиуса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Разположение</a:t>
            </a:r>
          </a:p>
          <a:p>
            <a:pPr lvl="2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Пример: </a:t>
            </a:r>
            <a:r>
              <a:rPr lang="bg-BG" altLang="en-US" dirty="0"/>
              <a:t>за окръжност се съхранява </a:t>
            </a:r>
            <a:r>
              <a:rPr lang="bg-BG" altLang="en-US" dirty="0" smtClean="0"/>
              <a:t>център на окръжността.</a:t>
            </a:r>
          </a:p>
          <a:p>
            <a:pPr lvl="1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Тип и цвят на линията</a:t>
            </a:r>
          </a:p>
          <a:p>
            <a:pPr lvl="2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Пример: пунктирана линия, зелен цвят</a:t>
            </a:r>
            <a:endParaRPr lang="en-US" altLang="en-US" dirty="0"/>
          </a:p>
          <a:p>
            <a:pPr lvl="1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Тип и цвят на запълване</a:t>
            </a:r>
          </a:p>
          <a:p>
            <a:pPr lvl="2" algn="just">
              <a:lnSpc>
                <a:spcPct val="100000"/>
              </a:lnSpc>
              <a:spcBef>
                <a:spcPts val="300"/>
              </a:spcBef>
            </a:pPr>
            <a:r>
              <a:rPr lang="bg-BG" altLang="en-US" dirty="0" smtClean="0"/>
              <a:t>Пример: плътно запълване, черен цвят</a:t>
            </a:r>
            <a:r>
              <a:rPr lang="en-US" alt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1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Представяне на цвят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 marL="347663" lvl="1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altLang="en-US" dirty="0"/>
              <a:t>В компютрите качеството на пресъздаване на реалния цвят зависи от броя битове за представяне на информацията за цвета (</a:t>
            </a:r>
            <a:r>
              <a:rPr lang="bg-BG" altLang="en-US" dirty="0" err="1"/>
              <a:t>англ</a:t>
            </a:r>
            <a:r>
              <a:rPr lang="bg-BG" altLang="en-US" dirty="0"/>
              <a:t>.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olor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depth</a:t>
            </a:r>
            <a:r>
              <a:rPr lang="bg-BG" altLang="en-US" dirty="0"/>
              <a:t>) и интерпретацията на тази битова поредица (</a:t>
            </a:r>
            <a:r>
              <a:rPr lang="bg-BG" altLang="en-US" dirty="0" err="1"/>
              <a:t>англ</a:t>
            </a:r>
            <a:r>
              <a:rPr lang="bg-BG" altLang="en-US" dirty="0"/>
              <a:t>.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 coding system</a:t>
            </a:r>
            <a:r>
              <a:rPr lang="en-US" altLang="en-US" dirty="0"/>
              <a:t>). 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В </a:t>
            </a:r>
            <a:r>
              <a:rPr lang="bg-BG" altLang="en-US" sz="2400" dirty="0"/>
              <a:t>реалността възприемането на цвета е как очите ни реагират на лъча светлина – по-точно как фото-рецепторите в очите ни възприемат светлината.</a:t>
            </a:r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Дълбочина на цвета</a:t>
            </a:r>
            <a:endParaRPr lang="en-US" altLang="en-US" sz="2800" dirty="0" smtClean="0"/>
          </a:p>
          <a:p>
            <a:pPr lvl="1">
              <a:spcBef>
                <a:spcPts val="300"/>
              </a:spcBef>
            </a:pPr>
            <a:r>
              <a:rPr lang="en-US" sz="2400" dirty="0"/>
              <a:t>True colors</a:t>
            </a:r>
            <a:r>
              <a:rPr lang="bg-BG" sz="2400" dirty="0"/>
              <a:t> – това е система, при която се използват 24 бита за цвят за всеки пиксел (най-често са разпределени по 8 бита за синьо</a:t>
            </a:r>
            <a:r>
              <a:rPr lang="en-US" sz="2400" dirty="0"/>
              <a:t> (B)</a:t>
            </a:r>
            <a:r>
              <a:rPr lang="bg-BG" sz="2400" dirty="0"/>
              <a:t>, зелено</a:t>
            </a:r>
            <a:r>
              <a:rPr lang="en-US" sz="2400" dirty="0"/>
              <a:t> (G)</a:t>
            </a:r>
            <a:r>
              <a:rPr lang="bg-BG" sz="2400" dirty="0"/>
              <a:t> и червено</a:t>
            </a:r>
            <a:r>
              <a:rPr lang="en-US" sz="2400" dirty="0"/>
              <a:t>(R</a:t>
            </a:r>
            <a:r>
              <a:rPr lang="bg-BG" sz="2400" dirty="0"/>
              <a:t>)</a:t>
            </a:r>
            <a:r>
              <a:rPr lang="en-US" altLang="en-US" sz="2400" dirty="0"/>
              <a:t>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/>
              <a:t>Индексирани цветове (</a:t>
            </a:r>
            <a:r>
              <a:rPr lang="bg-BG" altLang="en-US" sz="2400" dirty="0" err="1"/>
              <a:t>англ</a:t>
            </a:r>
            <a:r>
              <a:rPr lang="bg-BG" altLang="en-US" sz="2400" dirty="0"/>
              <a:t>. </a:t>
            </a:r>
            <a:r>
              <a:rPr lang="en-US" altLang="en-US" sz="2400" dirty="0"/>
              <a:t>Indexed color</a:t>
            </a:r>
            <a:r>
              <a:rPr lang="bg-BG" altLang="en-US" sz="2400" dirty="0"/>
              <a:t>) – това е система, при която цветът на всеки пиксел се описва като пореден номер в таблица, където за всеки цвят са описани стойностите на </a:t>
            </a:r>
            <a:r>
              <a:rPr lang="en-US" altLang="en-US" sz="2400" dirty="0"/>
              <a:t>RGB.</a:t>
            </a:r>
            <a:r>
              <a:rPr lang="bg-BG" altLang="en-US" sz="2400" dirty="0"/>
              <a:t> Броят битове за всеки от отделните цветове не е задължително да е еднакъв.</a:t>
            </a:r>
            <a:endParaRPr lang="en-US" altLang="en-US" sz="2400" dirty="0"/>
          </a:p>
          <a:p>
            <a:pPr>
              <a:spcBef>
                <a:spcPts val="3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900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Представяне на цвят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Разпределението и интерпретацията на битовата поредица за представяне на цвета зависи от избраната система за кодирана на цвета </a:t>
            </a:r>
            <a:r>
              <a:rPr lang="bg-BG" altLang="en-US" sz="2800" dirty="0"/>
              <a:t>(</a:t>
            </a:r>
            <a:r>
              <a:rPr lang="bg-BG" altLang="en-US" sz="2800" dirty="0" err="1"/>
              <a:t>англ</a:t>
            </a:r>
            <a:r>
              <a:rPr lang="bg-BG" altLang="en-US" sz="2800" dirty="0"/>
              <a:t>. </a:t>
            </a:r>
            <a:r>
              <a:rPr lang="en-US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 coding system</a:t>
            </a:r>
            <a:r>
              <a:rPr lang="en-US" altLang="en-US" sz="2800" dirty="0"/>
              <a:t>)</a:t>
            </a:r>
            <a:r>
              <a:rPr lang="bg-BG" sz="2800" dirty="0" smtClean="0"/>
              <a:t>.</a:t>
            </a:r>
          </a:p>
          <a:p>
            <a:pPr>
              <a:spcBef>
                <a:spcPts val="300"/>
              </a:spcBef>
            </a:pPr>
            <a:r>
              <a:rPr lang="bg-BG" sz="2800" dirty="0" smtClean="0"/>
              <a:t>Според използването и възпроизвеждането на цвета (преобразуването от цифров вид в аналогов цвят), системите се делят на: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Адитивни модели – използва се при </a:t>
            </a:r>
            <a:r>
              <a:rPr lang="bg-BG" sz="2400" dirty="0" err="1" smtClean="0"/>
              <a:t>излъчвателни</a:t>
            </a:r>
            <a:r>
              <a:rPr lang="bg-BG" sz="2400" dirty="0" smtClean="0"/>
              <a:t> устройства (монитор, телевизор, прожектор, …)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Най-известният модел е </a:t>
            </a:r>
            <a:r>
              <a:rPr lang="en-US" sz="2000" dirty="0" smtClean="0"/>
              <a:t>RGB, </a:t>
            </a:r>
            <a:r>
              <a:rPr lang="bg-BG" sz="2000" dirty="0" smtClean="0"/>
              <a:t>който има много модификации.</a:t>
            </a:r>
          </a:p>
          <a:p>
            <a:pPr lvl="1">
              <a:spcBef>
                <a:spcPts val="300"/>
              </a:spcBef>
            </a:pPr>
            <a:r>
              <a:rPr lang="bg-BG" sz="2400" dirty="0" err="1" smtClean="0"/>
              <a:t>Субтрактивни</a:t>
            </a:r>
            <a:r>
              <a:rPr lang="bg-BG" sz="2400" dirty="0" smtClean="0"/>
              <a:t> модели – използва се при печатани документи (принтер, плотер, …)</a:t>
            </a:r>
          </a:p>
          <a:p>
            <a:pPr lvl="2">
              <a:spcBef>
                <a:spcPts val="300"/>
              </a:spcBef>
            </a:pPr>
            <a:r>
              <a:rPr lang="bg-BG" sz="2000" dirty="0"/>
              <a:t>Най-известният модел е </a:t>
            </a:r>
            <a:r>
              <a:rPr lang="en-US" sz="2000" dirty="0" smtClean="0"/>
              <a:t>CMYK</a:t>
            </a:r>
            <a:r>
              <a:rPr lang="bg-BG" sz="20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Формални модели – това са научни системи за описание на светлинните модели и ефекти</a:t>
            </a:r>
            <a:r>
              <a:rPr lang="en-US" sz="2400" dirty="0" smtClean="0"/>
              <a:t>.</a:t>
            </a:r>
          </a:p>
          <a:p>
            <a:pPr lvl="2">
              <a:spcBef>
                <a:spcPts val="300"/>
              </a:spcBef>
            </a:pPr>
            <a:r>
              <a:rPr lang="bg-BG" sz="2000" dirty="0"/>
              <a:t>Най-известният модел е </a:t>
            </a:r>
            <a:r>
              <a:rPr lang="en-US" sz="2000" dirty="0" smtClean="0"/>
              <a:t>CIE</a:t>
            </a:r>
            <a:r>
              <a:rPr lang="bg-BG" sz="2000" dirty="0" smtClean="0"/>
              <a:t>.</a:t>
            </a:r>
            <a:endParaRPr lang="bg-BG" sz="2000" dirty="0"/>
          </a:p>
          <a:p>
            <a:pPr lvl="2">
              <a:spcBef>
                <a:spcPts val="3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850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Представяне на цвят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2800" dirty="0" smtClean="0"/>
              <a:t>CIE </a:t>
            </a:r>
            <a:r>
              <a:rPr lang="bg-BG" sz="2800" dirty="0" smtClean="0"/>
              <a:t>модел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CMIK</a:t>
            </a:r>
          </a:p>
          <a:p>
            <a:pPr lvl="1">
              <a:spcBef>
                <a:spcPts val="300"/>
              </a:spcBef>
            </a:pPr>
            <a:r>
              <a:rPr lang="en-US" sz="2400" dirty="0" err="1" smtClean="0"/>
              <a:t>sRGB</a:t>
            </a:r>
            <a:endParaRPr lang="bg-BG" sz="2400" dirty="0" smtClean="0"/>
          </a:p>
          <a:p>
            <a:pPr lvl="1">
              <a:spcBef>
                <a:spcPts val="300"/>
              </a:spcBef>
            </a:pPr>
            <a:r>
              <a:rPr lang="en-US" sz="2400" dirty="0" err="1" smtClean="0"/>
              <a:t>Colormatch</a:t>
            </a:r>
            <a:r>
              <a:rPr lang="en-US" sz="2400" dirty="0" smtClean="0"/>
              <a:t> RGB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Adobe RGB</a:t>
            </a:r>
          </a:p>
          <a:p>
            <a:pPr lvl="1">
              <a:spcBef>
                <a:spcPts val="300"/>
              </a:spcBef>
            </a:pPr>
            <a:r>
              <a:rPr lang="en-US" sz="2400" dirty="0" err="1" smtClean="0"/>
              <a:t>ProPhoto</a:t>
            </a:r>
            <a:r>
              <a:rPr lang="en-US" sz="2400" dirty="0" smtClean="0"/>
              <a:t> RGB</a:t>
            </a:r>
          </a:p>
          <a:p>
            <a:pPr>
              <a:spcBef>
                <a:spcPts val="300"/>
              </a:spcBef>
            </a:pPr>
            <a:r>
              <a:rPr lang="bg-BG" sz="2800" dirty="0" smtClean="0"/>
              <a:t>Линия на бялото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т.нар. „Линия на </a:t>
            </a:r>
            <a:r>
              <a:rPr lang="bg-BG" sz="2400" dirty="0" err="1" smtClean="0"/>
              <a:t>нажежяване</a:t>
            </a:r>
            <a:r>
              <a:rPr lang="bg-BG" sz="2400" dirty="0" smtClean="0"/>
              <a:t>“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460267"/>
            <a:ext cx="5877960" cy="624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2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Видео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102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altLang="en-US" sz="2800" dirty="0" smtClean="0"/>
              <a:t>Видеото представлява последователност от статични кадри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frames</a:t>
            </a:r>
            <a:r>
              <a:rPr lang="en-US" altLang="en-US" sz="2800" dirty="0" smtClean="0"/>
              <a:t>)</a:t>
            </a:r>
            <a:r>
              <a:rPr lang="bg-BG" altLang="en-US" sz="2800" dirty="0" smtClean="0"/>
              <a:t>, които се визуализират като непрекъсната последователност</a:t>
            </a:r>
            <a:r>
              <a:rPr lang="en-US" altLang="en-US" sz="2800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Всеки кадър е дискретен запис на характеристиките на пространството (цвят и интензитет на обектите) в конкретен момент от времето</a:t>
            </a:r>
            <a:r>
              <a:rPr lang="en-US" altLang="en-US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Качеството на видеото се определя от качеството на единичния кадър (това е качество на изображението) и </a:t>
            </a:r>
            <a:r>
              <a:rPr lang="bg-BG" altLang="en-US" sz="2400" dirty="0" err="1" smtClean="0"/>
              <a:t>дискретизацията</a:t>
            </a:r>
            <a:r>
              <a:rPr lang="bg-BG" altLang="en-US" sz="2400" dirty="0" smtClean="0"/>
              <a:t> във времето, т.е. броя кадри за 1 сек.</a:t>
            </a:r>
            <a:r>
              <a:rPr lang="en-US" altLang="en-US" sz="2400" dirty="0" smtClean="0"/>
              <a:t> </a:t>
            </a:r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Два основни вида описание: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Абсолютно представяне – изображението за всеки кадър</a:t>
            </a:r>
            <a:r>
              <a:rPr lang="en-US" altLang="en-US" sz="2400" dirty="0" smtClean="0"/>
              <a:t> </a:t>
            </a:r>
            <a:r>
              <a:rPr lang="bg-BG" altLang="en-US" sz="2400" dirty="0" smtClean="0"/>
              <a:t>е напълно самостоятелно, т.е. възстановяването на видеото може да започне от произволно място нататък.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Относително представяне – съхранява се началния кадър и измененията от кадър в кадър, т.е. ако няма информация за предходните кадри не може да се формира текущия кадър.</a:t>
            </a:r>
            <a:endParaRPr lang="en-US" altLang="en-US" sz="2400" dirty="0"/>
          </a:p>
          <a:p>
            <a:pPr>
              <a:spcBef>
                <a:spcPts val="3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216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Пирамида на знанието (</a:t>
            </a:r>
            <a:r>
              <a:rPr lang="en-US" dirty="0" smtClean="0"/>
              <a:t>WISDOM</a:t>
            </a:r>
            <a:r>
              <a:rPr lang="bg-BG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Пирамидата </a:t>
            </a:r>
            <a:r>
              <a:rPr lang="ru-RU" sz="2800" dirty="0"/>
              <a:t>на знанието (йерархия на мъдростта, информационна йерархия) се отнася до популярното представяне на връзките между данни, информация, знание и мъдрост</a:t>
            </a:r>
            <a:endParaRPr lang="en-US" sz="2800" dirty="0" smtClean="0"/>
          </a:p>
          <a:p>
            <a:pPr lvl="1"/>
            <a:r>
              <a:rPr lang="ru-RU" sz="2400" dirty="0"/>
              <a:t>Всяко стъпало нагоре по </a:t>
            </a:r>
            <a:r>
              <a:rPr lang="ru-RU" sz="2400" dirty="0" smtClean="0"/>
              <a:t>пирамидата отговаря </a:t>
            </a:r>
            <a:r>
              <a:rPr lang="ru-RU" sz="2400" dirty="0"/>
              <a:t>на въпроси и добавя стойност </a:t>
            </a:r>
            <a:r>
              <a:rPr lang="ru-RU" sz="2400" dirty="0" smtClean="0"/>
              <a:t>към </a:t>
            </a:r>
            <a:r>
              <a:rPr lang="ru-RU" sz="2400" dirty="0"/>
              <a:t>първоначалните данни</a:t>
            </a:r>
            <a:r>
              <a:rPr lang="ru-RU" sz="2400" dirty="0" smtClean="0"/>
              <a:t>.</a:t>
            </a:r>
          </a:p>
          <a:p>
            <a:pPr lvl="1"/>
            <a:r>
              <a:rPr lang="ru-RU" sz="2400" dirty="0" smtClean="0"/>
              <a:t>На </a:t>
            </a:r>
            <a:r>
              <a:rPr lang="ru-RU" sz="2400" dirty="0"/>
              <a:t>колкото повече въпроси отговорим, </a:t>
            </a:r>
            <a:r>
              <a:rPr lang="ru-RU" sz="2400" dirty="0" smtClean="0"/>
              <a:t> толкова </a:t>
            </a:r>
            <a:r>
              <a:rPr lang="ru-RU" sz="2400" dirty="0"/>
              <a:t>по-високо се изкачваме </a:t>
            </a:r>
            <a:r>
              <a:rPr lang="ru-RU" sz="2400" dirty="0" smtClean="0"/>
              <a:t>в </a:t>
            </a:r>
            <a:r>
              <a:rPr lang="ru-RU" sz="2400" dirty="0"/>
              <a:t>пирамидата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Колкото </a:t>
            </a:r>
            <a:r>
              <a:rPr lang="ru-RU" sz="2000" dirty="0"/>
              <a:t>повече обогатяваме нашите данни със значение и контекст, толкова повече знания и прозрения извличаме от тях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 smtClean="0"/>
              <a:t>На </a:t>
            </a:r>
            <a:r>
              <a:rPr lang="ru-RU" sz="2400" dirty="0"/>
              <a:t>върха на пирамидата сме превърнали знанията и прозренията в учебен опит, който ръководи нашите действия</a:t>
            </a:r>
            <a:r>
              <a:rPr lang="ru-RU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12" y="2514600"/>
            <a:ext cx="495223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4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Пирамида на знанието (</a:t>
            </a:r>
            <a:r>
              <a:rPr lang="en-US" dirty="0"/>
              <a:t>WISDOM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Данни (англ.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sz="2800" dirty="0" smtClean="0"/>
              <a:t> </a:t>
            </a:r>
            <a:r>
              <a:rPr lang="bg-BG" sz="2800" dirty="0" smtClean="0"/>
              <a:t>)</a:t>
            </a:r>
            <a:endParaRPr lang="en-US" sz="2800" dirty="0" smtClean="0"/>
          </a:p>
          <a:p>
            <a:pPr lvl="1"/>
            <a:r>
              <a:rPr lang="ru-RU" sz="2400" dirty="0"/>
              <a:t>Това е колекция от факти в сурова или неорганизирана форма, като числа или знаци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Без </a:t>
            </a:r>
            <a:r>
              <a:rPr lang="ru-RU" sz="2000" dirty="0"/>
              <a:t>контекст данните могат да означават малко</a:t>
            </a:r>
            <a:r>
              <a:rPr lang="ru-RU" sz="2000" dirty="0" smtClean="0"/>
              <a:t>.</a:t>
            </a:r>
          </a:p>
          <a:p>
            <a:pPr lvl="3"/>
            <a:r>
              <a:rPr lang="ru-RU" sz="1600" dirty="0" smtClean="0"/>
              <a:t>Пример</a:t>
            </a:r>
            <a:r>
              <a:rPr lang="ru-RU" sz="1600" dirty="0"/>
              <a:t>: 28022017 е просто поредица от числа без видимо значение</a:t>
            </a:r>
            <a:r>
              <a:rPr lang="ru-RU" sz="1600" dirty="0" smtClean="0"/>
              <a:t>.</a:t>
            </a:r>
          </a:p>
          <a:p>
            <a:pPr lvl="2"/>
            <a:r>
              <a:rPr lang="ru-RU" sz="2000" dirty="0" smtClean="0"/>
              <a:t>Чрез </a:t>
            </a:r>
            <a:r>
              <a:rPr lang="ru-RU" sz="2000" dirty="0"/>
              <a:t>добавяне на контекст и стойност към числата, те вече имат повече значение. </a:t>
            </a:r>
            <a:endParaRPr lang="ru-RU" sz="2000" dirty="0" smtClean="0"/>
          </a:p>
          <a:p>
            <a:pPr lvl="2"/>
            <a:r>
              <a:rPr lang="ru-RU" sz="2000" dirty="0" smtClean="0"/>
              <a:t>Данните могат да се структурират, т.е. да се дабави допълнително семнатика</a:t>
            </a:r>
          </a:p>
          <a:p>
            <a:pPr lvl="3"/>
            <a:r>
              <a:rPr lang="ru-RU" sz="1600" dirty="0"/>
              <a:t>Пример: 28022017 е </a:t>
            </a:r>
            <a:r>
              <a:rPr lang="ru-RU" sz="1600" dirty="0" smtClean="0"/>
              <a:t>десетично число.</a:t>
            </a:r>
            <a:endParaRPr lang="ru-RU" sz="1600" dirty="0"/>
          </a:p>
          <a:p>
            <a:pPr lvl="1"/>
            <a:r>
              <a:rPr lang="ru-RU" sz="2400" dirty="0" smtClean="0"/>
              <a:t>По </a:t>
            </a:r>
            <a:r>
              <a:rPr lang="ru-RU" sz="2400" dirty="0"/>
              <a:t>този начин сме трансформирали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необработената </a:t>
            </a:r>
            <a:r>
              <a:rPr lang="ru-RU" sz="2400" dirty="0"/>
              <a:t>последователност от числа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в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информация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Пример</a:t>
            </a:r>
            <a:r>
              <a:rPr lang="ru-RU" sz="2000" dirty="0"/>
              <a:t>: 28 февруари 2017 </a:t>
            </a:r>
            <a:r>
              <a:rPr lang="ru-RU" sz="2000" dirty="0" smtClean="0"/>
              <a:t>г</a:t>
            </a:r>
            <a:endParaRPr lang="bg-BG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412" y="3790071"/>
            <a:ext cx="2953268" cy="269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Пирамида на знанието (</a:t>
            </a:r>
            <a:r>
              <a:rPr lang="en-US" dirty="0"/>
              <a:t>WISDOM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Информация (англ.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bg-BG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u-RU" sz="2400" dirty="0"/>
              <a:t>Това са данни, които са „почистени“ от грешки и допълнително обработени по начин, който улеснява измерването, визуализирането и анализирането за конкретна цел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r>
              <a:rPr lang="ru-RU" sz="2400" dirty="0"/>
              <a:t>Като задаваме подходящи въпроси за „кой“, „какво“, „кога“, „къде“ и т.н., можем да извлечем ценна информация от данните и да я направим по-полезна за нас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2"/>
            <a:r>
              <a:rPr lang="ru-RU" sz="2000" dirty="0"/>
              <a:t>В зависимост от тази цел обработката на данни може да включва различни операции като комбиниране на различни набори от данни (обобщаване), гарантиране, че събраните данни са уместни и точни (валидиране) и др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/>
            <a:r>
              <a:rPr lang="ru-RU" sz="2400" dirty="0"/>
              <a:t>Когато стигнем до въпроса „как“, това прави скока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от </a:t>
            </a:r>
            <a:r>
              <a:rPr lang="ru-RU" sz="2400" dirty="0"/>
              <a:t>информацията към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знанието</a:t>
            </a:r>
            <a:r>
              <a:rPr lang="ru-RU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771" y="4267200"/>
            <a:ext cx="2835404" cy="247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4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Пирамида на знанието (</a:t>
            </a:r>
            <a:r>
              <a:rPr lang="en-US" dirty="0"/>
              <a:t>WISDOM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Знание (англ.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Knowledge</a:t>
            </a:r>
            <a:r>
              <a:rPr lang="bg-BG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dirty="0" smtClean="0"/>
          </a:p>
          <a:p>
            <a:pPr lvl="1"/>
            <a:r>
              <a:rPr lang="ru-RU" sz="2400" dirty="0"/>
              <a:t>Когато не просто разглеждаме информацията като описание на събрани факти, но и разбираме как да я приложим, за да постигнем целите си, ние я превръщаме в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знание</a:t>
            </a:r>
            <a:r>
              <a:rPr lang="en-US" sz="2400" dirty="0" smtClean="0"/>
              <a:t>.</a:t>
            </a:r>
          </a:p>
          <a:p>
            <a:pPr lvl="2"/>
            <a:r>
              <a:rPr lang="ru-RU" sz="2000" dirty="0"/>
              <a:t>„Как“ можем да приложим информацията, за да постигнем целта си</a:t>
            </a:r>
            <a:r>
              <a:rPr lang="ru-RU" sz="2000" dirty="0" smtClean="0"/>
              <a:t>?</a:t>
            </a:r>
          </a:p>
          <a:p>
            <a:pPr lvl="2"/>
            <a:r>
              <a:rPr lang="ru-RU" sz="2000" dirty="0" smtClean="0"/>
              <a:t>„</a:t>
            </a:r>
            <a:r>
              <a:rPr lang="ru-RU" sz="2000" dirty="0"/>
              <a:t>Как“ информацията, извлечена от събраните данни, е </a:t>
            </a:r>
            <a:r>
              <a:rPr lang="ru-RU" sz="2000" dirty="0" smtClean="0"/>
              <a:t>свързана и приложима за </a:t>
            </a:r>
            <a:r>
              <a:rPr lang="ru-RU" sz="2000" dirty="0"/>
              <a:t>нашите цели</a:t>
            </a:r>
            <a:r>
              <a:rPr lang="ru-RU" sz="2000" dirty="0" smtClean="0"/>
              <a:t>?</a:t>
            </a:r>
          </a:p>
          <a:p>
            <a:pPr lvl="2"/>
            <a:r>
              <a:rPr lang="ru-RU" sz="2000" dirty="0" smtClean="0"/>
              <a:t>„</a:t>
            </a:r>
            <a:r>
              <a:rPr lang="ru-RU" sz="2000" dirty="0"/>
              <a:t>Как“ частите от тази информация са свързани с други части, за да добавят повече смисъл и стойност</a:t>
            </a:r>
            <a:r>
              <a:rPr lang="ru-RU" sz="2000" dirty="0" smtClean="0"/>
              <a:t>?</a:t>
            </a:r>
          </a:p>
          <a:p>
            <a:pPr lvl="1"/>
            <a:r>
              <a:rPr lang="ru-RU" sz="2400" dirty="0"/>
              <a:t>Докато разкриваме връзки, които не са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явно посочени </a:t>
            </a:r>
            <a:r>
              <a:rPr lang="ru-RU" sz="2400" dirty="0"/>
              <a:t>като информация,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получаваме по-дълбоко разбиране за </a:t>
            </a:r>
            <a:br>
              <a:rPr lang="ru-RU" sz="2400" dirty="0" smtClean="0"/>
            </a:br>
            <a:r>
              <a:rPr lang="ru-RU" sz="2400" dirty="0" smtClean="0"/>
              <a:t>семантиката на данните</a:t>
            </a:r>
            <a:r>
              <a:rPr lang="en-US" sz="2400" dirty="0" smtClean="0"/>
              <a:t>.</a:t>
            </a:r>
            <a:endParaRPr lang="en-US" sz="2400" dirty="0"/>
          </a:p>
          <a:p>
            <a:pPr lvl="2"/>
            <a:r>
              <a:rPr lang="ru-RU" sz="2000" dirty="0" smtClean="0"/>
              <a:t>Знание най-често </a:t>
            </a:r>
            <a:r>
              <a:rPr lang="ru-RU" sz="2000" dirty="0"/>
              <a:t>е предимството, което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можете да получите имат </a:t>
            </a:r>
            <a:r>
              <a:rPr lang="ru-RU" sz="2000" dirty="0"/>
              <a:t>пред своите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конкуренти</a:t>
            </a:r>
            <a:r>
              <a:rPr lang="en-US" sz="2000" dirty="0" smtClean="0"/>
              <a:t>.</a:t>
            </a:r>
            <a:endParaRPr lang="en-US" sz="1800" i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212" y="4267200"/>
            <a:ext cx="4491810" cy="201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8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Пирамида на знанието (</a:t>
            </a:r>
            <a:r>
              <a:rPr lang="en-US" dirty="0"/>
              <a:t>WISDOM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Мъдрост (англ. 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Wisdom</a:t>
            </a:r>
            <a:r>
              <a:rPr lang="bg-BG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3000" dirty="0" smtClean="0"/>
          </a:p>
          <a:p>
            <a:pPr lvl="1"/>
            <a:r>
              <a:rPr lang="ru-RU" sz="2600" dirty="0"/>
              <a:t>Мъдростта може да се определи като способността да се разбере </a:t>
            </a:r>
            <a:r>
              <a:rPr lang="ru-RU" sz="2600" dirty="0" smtClean="0"/>
              <a:t>природата, </a:t>
            </a:r>
            <a:r>
              <a:rPr lang="ru-RU" sz="2600" dirty="0"/>
              <a:t>която е парадоксална, противоречива и </a:t>
            </a:r>
            <a:r>
              <a:rPr lang="ru-RU" sz="2600" dirty="0" smtClean="0"/>
              <a:t>непрекъснато се променя </a:t>
            </a:r>
            <a:r>
              <a:rPr lang="ru-RU" sz="2600" dirty="0"/>
              <a:t>промяна.</a:t>
            </a:r>
            <a:endParaRPr lang="en-US" sz="2600" dirty="0"/>
          </a:p>
          <a:p>
            <a:pPr lvl="2"/>
            <a:r>
              <a:rPr lang="bg-BG" sz="2200" dirty="0" smtClean="0"/>
              <a:t>Мъдростта не е интелигентност: </a:t>
            </a:r>
            <a:r>
              <a:rPr lang="ru-RU" sz="2200" dirty="0" smtClean="0"/>
              <a:t>Интелигентността </a:t>
            </a:r>
            <a:r>
              <a:rPr lang="ru-RU" sz="2200" dirty="0"/>
              <a:t>може да се определи като способност за логично мислене, концептуализиране и абстрахиране от реалността. </a:t>
            </a:r>
            <a:endParaRPr lang="en-US" sz="2200" dirty="0" smtClean="0"/>
          </a:p>
          <a:p>
            <a:pPr lvl="1"/>
            <a:r>
              <a:rPr lang="ru-RU" sz="2600" dirty="0" smtClean="0"/>
              <a:t>Мъдростта е </a:t>
            </a:r>
            <a:r>
              <a:rPr lang="ru-RU" sz="2600" dirty="0"/>
              <a:t>знание, приложено за дадено </a:t>
            </a:r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 smtClean="0"/>
              <a:t>действие в конкретен сценарий.</a:t>
            </a:r>
            <a:endParaRPr lang="en-US" sz="2600" dirty="0" smtClean="0"/>
          </a:p>
          <a:p>
            <a:pPr lvl="2"/>
            <a:r>
              <a:rPr lang="ru-RU" sz="2200" dirty="0"/>
              <a:t>Когато използваме </a:t>
            </a:r>
            <a:r>
              <a:rPr lang="ru-RU" sz="2200" dirty="0" smtClean="0"/>
              <a:t>знания </a:t>
            </a:r>
            <a:r>
              <a:rPr lang="ru-RU" sz="2200" dirty="0"/>
              <a:t>и прозренията, </a:t>
            </a: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200" dirty="0" smtClean="0"/>
              <a:t>получени от </a:t>
            </a:r>
            <a:r>
              <a:rPr lang="ru-RU" sz="2200" dirty="0"/>
              <a:t>информацията, за да вземем </a:t>
            </a: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200" dirty="0" smtClean="0"/>
              <a:t>проактивни </a:t>
            </a:r>
            <a:r>
              <a:rPr lang="ru-RU" sz="2200" dirty="0"/>
              <a:t>решения, </a:t>
            </a:r>
            <a:r>
              <a:rPr lang="ru-RU" sz="2200" dirty="0" smtClean="0"/>
              <a:t>то ние сме преминали </a:t>
            </a:r>
            <a:br>
              <a:rPr lang="ru-RU" sz="2200" dirty="0" smtClean="0"/>
            </a:br>
            <a:r>
              <a:rPr lang="ru-RU" sz="2200" dirty="0" smtClean="0"/>
              <a:t>към „мъдростта“.</a:t>
            </a:r>
          </a:p>
          <a:p>
            <a:pPr lvl="2"/>
            <a:r>
              <a:rPr lang="ru-RU" sz="2200" dirty="0" smtClean="0"/>
              <a:t>Трябва </a:t>
            </a:r>
            <a:r>
              <a:rPr lang="ru-RU" sz="2200" dirty="0"/>
              <a:t>да отговорим на въпроси </a:t>
            </a:r>
            <a:r>
              <a:rPr lang="ru-RU" sz="2200" dirty="0" smtClean="0"/>
              <a:t>като </a:t>
            </a:r>
            <a:br>
              <a:rPr lang="ru-RU" sz="2200" dirty="0" smtClean="0"/>
            </a:br>
            <a:r>
              <a:rPr lang="ru-RU" sz="2200" dirty="0" smtClean="0"/>
              <a:t>„</a:t>
            </a:r>
            <a:r>
              <a:rPr lang="ru-RU" sz="2200" dirty="0"/>
              <a:t>Защо да правим нещо?“ и </a:t>
            </a:r>
            <a:r>
              <a:rPr lang="ru-RU" sz="2200" dirty="0" smtClean="0"/>
              <a:t>„</a:t>
            </a:r>
            <a:r>
              <a:rPr lang="ru-RU" sz="2200" dirty="0"/>
              <a:t>Кое е най-доброто?“.</a:t>
            </a:r>
            <a:endParaRPr lang="en-US" sz="2200" i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371" y="3886200"/>
            <a:ext cx="3654981" cy="24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2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bg-BG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bg-BG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indent="0" algn="ctr">
              <a:buNone/>
            </a:pPr>
            <a:r>
              <a:rPr lang="bg-BG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Битови манипулации </a:t>
            </a:r>
          </a:p>
          <a:p>
            <a:pPr marL="0" indent="0" algn="ctr">
              <a:buNone/>
            </a:pPr>
            <a:r>
              <a:rPr lang="bg-BG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</a:p>
          <a:p>
            <a:pPr marL="0" indent="0" algn="ctr">
              <a:buNone/>
            </a:pPr>
            <a:r>
              <a:rPr lang="bg-BG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Аритметични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61305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Машинни езици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Машинни езици</a:t>
            </a:r>
          </a:p>
          <a:p>
            <a:pPr lvl="1"/>
            <a:r>
              <a:rPr lang="bg-BG" dirty="0" smtClean="0"/>
              <a:t>Поредица от въвеждани битове, които директно управляват процесора или модифицират паметта</a:t>
            </a:r>
            <a:endParaRPr lang="en-US" dirty="0"/>
          </a:p>
          <a:p>
            <a:pPr lvl="2"/>
            <a:r>
              <a:rPr lang="bg-BG" dirty="0" smtClean="0"/>
              <a:t>Основни команди: събиране, изваждане, сравнение, преместване, преход</a:t>
            </a:r>
            <a:r>
              <a:rPr lang="en-US" dirty="0" smtClean="0"/>
              <a:t>.</a:t>
            </a:r>
          </a:p>
          <a:p>
            <a:pPr lvl="1"/>
            <a:r>
              <a:rPr lang="bg-BG" dirty="0" smtClean="0"/>
              <a:t>Пример</a:t>
            </a:r>
            <a:r>
              <a:rPr lang="en-US" dirty="0" smtClean="0"/>
              <a:t>: </a:t>
            </a:r>
            <a:r>
              <a:rPr lang="bg-BG" dirty="0" smtClean="0"/>
              <a:t>Машинна програма (в шестнадесетични кодове) за процесор </a:t>
            </a:r>
            <a:r>
              <a:rPr lang="en-US" dirty="0" smtClean="0"/>
              <a:t>x86 </a:t>
            </a:r>
            <a:r>
              <a:rPr lang="en-US" dirty="0"/>
              <a:t>(Pentium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907" y="4191000"/>
            <a:ext cx="10336213" cy="226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40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Асемблерни езици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Асемблерни езици </a:t>
            </a:r>
            <a:r>
              <a:rPr lang="en-US" dirty="0" smtClean="0"/>
              <a:t>– </a:t>
            </a:r>
            <a:r>
              <a:rPr lang="bg-BG" dirty="0" smtClean="0"/>
              <a:t>това е множество от </a:t>
            </a:r>
            <a:r>
              <a:rPr lang="bg-BG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мненонични</a:t>
            </a:r>
            <a:r>
              <a:rPr lang="bg-BG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означения </a:t>
            </a:r>
            <a:r>
              <a:rPr lang="bg-BG" dirty="0" smtClean="0"/>
              <a:t>за машинните команди на съответния процесор</a:t>
            </a:r>
            <a:r>
              <a:rPr lang="en-US" dirty="0" smtClean="0"/>
              <a:t>.</a:t>
            </a:r>
          </a:p>
          <a:p>
            <a:pPr lvl="1"/>
            <a:r>
              <a:rPr lang="bg-BG" dirty="0" smtClean="0"/>
              <a:t>Всяка машинна инструкция има съответната </a:t>
            </a:r>
            <a:r>
              <a:rPr lang="bg-BG" dirty="0" err="1" smtClean="0"/>
              <a:t>мненомична</a:t>
            </a:r>
            <a:r>
              <a:rPr lang="bg-BG" dirty="0" smtClean="0"/>
              <a:t> команда</a:t>
            </a:r>
            <a:endParaRPr lang="en-US" dirty="0"/>
          </a:p>
          <a:p>
            <a:pPr lvl="2"/>
            <a:r>
              <a:rPr lang="bg-BG" dirty="0" smtClean="0"/>
              <a:t>Асемблерните езици са машинно-зависими, т.е. за всеки нов процесор се налага преписване на програмата.</a:t>
            </a:r>
            <a:endParaRPr lang="en-US" dirty="0"/>
          </a:p>
          <a:p>
            <a:pPr lvl="2"/>
            <a:r>
              <a:rPr lang="bg-BG" dirty="0" smtClean="0"/>
              <a:t>Големи програми се пишат трудно и се разбират още по-трудно</a:t>
            </a:r>
            <a:endParaRPr lang="en-US" dirty="0"/>
          </a:p>
          <a:p>
            <a:pPr lvl="1"/>
            <a:r>
              <a:rPr lang="bg-BG" dirty="0" smtClean="0"/>
              <a:t>Асемблер – това е системна програма за транслиране (преобразуване) от </a:t>
            </a:r>
            <a:r>
              <a:rPr lang="bg-BG" dirty="0" err="1" smtClean="0"/>
              <a:t>мненомични</a:t>
            </a:r>
            <a:r>
              <a:rPr lang="bg-BG" dirty="0" smtClean="0"/>
              <a:t> кодове в машинни команди.</a:t>
            </a:r>
            <a:endParaRPr lang="en-US" dirty="0"/>
          </a:p>
          <a:p>
            <a:pPr lvl="1"/>
            <a:r>
              <a:rPr lang="bg-BG" dirty="0" smtClean="0"/>
              <a:t>Пример: </a:t>
            </a:r>
          </a:p>
          <a:p>
            <a:pPr lvl="2"/>
            <a:r>
              <a:rPr lang="bg-BG" dirty="0" smtClean="0"/>
              <a:t>Асемблерните езици за фамилията </a:t>
            </a:r>
            <a:r>
              <a:rPr lang="en-US" dirty="0" smtClean="0"/>
              <a:t>x86</a:t>
            </a:r>
            <a:r>
              <a:rPr lang="bg-BG" dirty="0" smtClean="0"/>
              <a:t> се променят при всеки нов процесор.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9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Асемблерни езици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Асемблерни езици </a:t>
            </a:r>
            <a:r>
              <a:rPr lang="en-US" dirty="0"/>
              <a:t>– </a:t>
            </a:r>
            <a:r>
              <a:rPr lang="bg-BG" dirty="0"/>
              <a:t>това е множество от </a:t>
            </a:r>
            <a:r>
              <a:rPr lang="bg-BG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мненонични</a:t>
            </a:r>
            <a:r>
              <a:rPr lang="bg-BG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означения </a:t>
            </a:r>
            <a:r>
              <a:rPr lang="bg-BG" dirty="0"/>
              <a:t>за машинните команди на съответния процесор</a:t>
            </a:r>
            <a:r>
              <a:rPr lang="en-US" dirty="0"/>
              <a:t>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2" y="2209800"/>
            <a:ext cx="9239251" cy="444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40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2"/>
                </a:solidFill>
              </a:rPr>
              <a:t>Логически операции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Логическите операции </a:t>
            </a:r>
            <a:r>
              <a:rPr lang="bg-BG" altLang="en-US" dirty="0" smtClean="0"/>
              <a:t>са операции, които прилагат една и съща обработка (избраната операция)</a:t>
            </a:r>
            <a:r>
              <a:rPr lang="bg-BG" altLang="en-US" dirty="0"/>
              <a:t> поотделно </a:t>
            </a:r>
            <a:r>
              <a:rPr lang="bg-BG" altLang="en-US" dirty="0" smtClean="0"/>
              <a:t>за:</a:t>
            </a:r>
          </a:p>
          <a:p>
            <a:pPr lvl="1"/>
            <a:r>
              <a:rPr lang="bg-BG" altLang="en-US" dirty="0" smtClean="0"/>
              <a:t>всеки бит на числото </a:t>
            </a:r>
          </a:p>
          <a:p>
            <a:pPr lvl="1"/>
            <a:r>
              <a:rPr lang="bg-BG" altLang="en-US" dirty="0" smtClean="0"/>
              <a:t>всяка двойка съответни битове в две числа </a:t>
            </a:r>
          </a:p>
          <a:p>
            <a:r>
              <a:rPr lang="bg-BG" altLang="en-US" dirty="0" smtClean="0"/>
              <a:t>Същност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Логическите операции се извършват на ниво бит, т.е. логическата операция върху последователност (група) от </a:t>
            </a:r>
            <a:r>
              <a:rPr lang="en-US" altLang="en-US" dirty="0" smtClean="0"/>
              <a:t>N </a:t>
            </a:r>
            <a:r>
              <a:rPr lang="bg-BG" altLang="en-US" dirty="0" smtClean="0"/>
              <a:t>бита се реализира като последователност от </a:t>
            </a:r>
            <a:r>
              <a:rPr lang="en-US" altLang="en-US" dirty="0" smtClean="0"/>
              <a:t>N</a:t>
            </a:r>
            <a:r>
              <a:rPr lang="bg-BG" altLang="en-US" dirty="0" smtClean="0"/>
              <a:t> логически операции на ниво самостоятелен бит.</a:t>
            </a:r>
            <a:r>
              <a:rPr lang="en-US" altLang="en-US" dirty="0" smtClean="0"/>
              <a:t> 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tx2"/>
                </a:solidFill>
              </a:rPr>
              <a:t>Логически операции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Тъй като всеки бит има стойности 0 и 1, за да може да се използват правилата на Булевата алгебра, се приема че 0 отговаря на „</a:t>
            </a:r>
            <a:r>
              <a:rPr lang="bg-BG" altLang="en-US" i="1" dirty="0" smtClean="0"/>
              <a:t>лъжа</a:t>
            </a:r>
            <a:r>
              <a:rPr lang="bg-BG" altLang="en-US" dirty="0" smtClean="0"/>
              <a:t>“, а 1 отговаря на „</a:t>
            </a:r>
            <a:r>
              <a:rPr lang="bg-BG" altLang="en-US" i="1" dirty="0" smtClean="0"/>
              <a:t>истина</a:t>
            </a:r>
            <a:r>
              <a:rPr lang="bg-BG" altLang="en-US" dirty="0" smtClean="0"/>
              <a:t>“</a:t>
            </a:r>
            <a:r>
              <a:rPr lang="en-US" altLang="en-US" dirty="0" smtClean="0"/>
              <a:t>.  </a:t>
            </a:r>
          </a:p>
          <a:p>
            <a:pPr marL="0" indent="0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Основни </a:t>
            </a:r>
            <a:b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операции</a:t>
            </a:r>
            <a:r>
              <a:rPr lang="en-US" alt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212" y="990600"/>
            <a:ext cx="76200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29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tx2"/>
                </a:solidFill>
              </a:rPr>
              <a:t>Логически операции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 lnSpcReduction="10000"/>
          </a:bodyPr>
          <a:lstStyle/>
          <a:p>
            <a:r>
              <a:rPr lang="bg-BG" altLang="en-US" dirty="0" smtClean="0"/>
              <a:t>Използват се за манипулиране и проверка на стойността на конкретен бит в битова поредица.</a:t>
            </a:r>
          </a:p>
          <a:p>
            <a:pPr lvl="1"/>
            <a:r>
              <a:rPr lang="bg-BG" altLang="en-US" dirty="0" smtClean="0"/>
              <a:t>Използват се два операнда - първият операнд е обработвания, а вторият операнд се използва за определяне в кой бит трябва да се извърши промяната (жаргонно се нарича „маска“).</a:t>
            </a:r>
          </a:p>
          <a:p>
            <a:r>
              <a:rPr lang="bg-BG" altLang="en-US" dirty="0" smtClean="0"/>
              <a:t>Основни обработки</a:t>
            </a:r>
          </a:p>
          <a:p>
            <a:pPr lvl="1"/>
            <a:r>
              <a:rPr lang="bg-BG" altLang="en-US" dirty="0" smtClean="0"/>
              <a:t>Присвояване на стойност 0 на конкретен бит.</a:t>
            </a:r>
          </a:p>
          <a:p>
            <a:pPr lvl="1"/>
            <a:r>
              <a:rPr lang="bg-BG" altLang="en-US" dirty="0" smtClean="0"/>
              <a:t>Присвояване на стойност 1 на конкретен бит.  </a:t>
            </a:r>
          </a:p>
          <a:p>
            <a:pPr lvl="1"/>
            <a:r>
              <a:rPr lang="bg-BG" altLang="en-US" dirty="0" smtClean="0"/>
              <a:t>Проверка на стойността на конкретен бит.</a:t>
            </a:r>
          </a:p>
          <a:p>
            <a:pPr lvl="1"/>
            <a:r>
              <a:rPr lang="bg-BG" altLang="en-US" dirty="0" smtClean="0"/>
              <a:t>Обръщане на стойността на конкретен бит.</a:t>
            </a:r>
          </a:p>
          <a:p>
            <a:pPr lvl="1"/>
            <a:r>
              <a:rPr lang="bg-BG" altLang="en-US" dirty="0" smtClean="0"/>
              <a:t>Логическо преместване на битовете.</a:t>
            </a:r>
          </a:p>
          <a:p>
            <a:pPr lvl="1"/>
            <a:r>
              <a:rPr lang="bg-BG" altLang="en-US" dirty="0" smtClean="0"/>
              <a:t>Аритметично преместване на битовете.</a:t>
            </a:r>
          </a:p>
          <a:p>
            <a:pPr lvl="1"/>
            <a:endParaRPr lang="bg-BG" altLang="en-US" dirty="0" smtClean="0"/>
          </a:p>
          <a:p>
            <a:endParaRPr lang="bg-BG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184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Използване на логически операции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672150" cy="5410200"/>
          </a:xfrm>
        </p:spPr>
        <p:txBody>
          <a:bodyPr/>
          <a:lstStyle/>
          <a:p>
            <a:r>
              <a:rPr lang="bg-BG" altLang="en-US" dirty="0" smtClean="0"/>
              <a:t>Нулиране на конкретен бит</a:t>
            </a:r>
          </a:p>
          <a:p>
            <a:pPr lvl="1"/>
            <a:r>
              <a:rPr lang="bg-BG" altLang="en-US" dirty="0" smtClean="0"/>
              <a:t>Пример: да се нулират трите най-младши бита в числото</a:t>
            </a:r>
            <a:r>
              <a:rPr lang="en-US" altLang="en-US" dirty="0" smtClean="0"/>
              <a:t>.</a:t>
            </a:r>
            <a:endParaRPr lang="bg-BG" altLang="en-US" dirty="0" smtClean="0"/>
          </a:p>
          <a:p>
            <a:r>
              <a:rPr lang="bg-BG" altLang="en-US" dirty="0" smtClean="0"/>
              <a:t>Обръщане на стойността на конкретен бит</a:t>
            </a:r>
          </a:p>
          <a:p>
            <a:pPr lvl="1"/>
            <a:r>
              <a:rPr lang="bg-BG" altLang="en-US" dirty="0" smtClean="0"/>
              <a:t>Пример: да се </a:t>
            </a:r>
            <a:r>
              <a:rPr lang="bg-BG" altLang="en-US" dirty="0" err="1" smtClean="0"/>
              <a:t>инвертират</a:t>
            </a:r>
            <a:r>
              <a:rPr lang="bg-BG" altLang="en-US" dirty="0" smtClean="0"/>
              <a:t> стойностите на бит 2 и 3</a:t>
            </a:r>
          </a:p>
          <a:p>
            <a:r>
              <a:rPr lang="bg-BG" altLang="en-US" dirty="0" smtClean="0"/>
              <a:t>Задаване на стойност 1 за конкретен бит</a:t>
            </a:r>
          </a:p>
          <a:p>
            <a:pPr lvl="1"/>
            <a:r>
              <a:rPr lang="bg-BG" altLang="en-US" dirty="0" smtClean="0"/>
              <a:t>Пример: най-старшият бит да стане със стойност 1</a:t>
            </a:r>
          </a:p>
          <a:p>
            <a:r>
              <a:rPr lang="bg-BG" altLang="en-US" dirty="0" smtClean="0"/>
              <a:t>Проверка на стойността на конкретен бит</a:t>
            </a:r>
          </a:p>
          <a:p>
            <a:pPr lvl="1"/>
            <a:r>
              <a:rPr lang="bg-BG" altLang="en-US" dirty="0" smtClean="0"/>
              <a:t>Пример: проверка на бит 6</a:t>
            </a:r>
            <a:endParaRPr lang="bg-BG" altLang="en-US" dirty="0"/>
          </a:p>
          <a:p>
            <a:pPr lvl="1"/>
            <a:endParaRPr lang="en-US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61" y="2133600"/>
            <a:ext cx="67262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61" y="3276600"/>
            <a:ext cx="67262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61" y="4419600"/>
            <a:ext cx="67262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937" y="3752850"/>
            <a:ext cx="8259762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01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Логическо преместване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Прилага се върху числа без знак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Причината е, че преместването на битовете променя стойността на най-старшия бит (т.е. на бита за знак)</a:t>
            </a:r>
            <a:r>
              <a:rPr lang="en-US" altLang="en-US" dirty="0" smtClean="0"/>
              <a:t>. </a:t>
            </a:r>
          </a:p>
          <a:p>
            <a:pPr>
              <a:spcBef>
                <a:spcPts val="600"/>
              </a:spcBef>
            </a:pPr>
            <a:r>
              <a:rPr lang="bg-BG" altLang="en-US" dirty="0" smtClean="0"/>
              <a:t>Два варианта на реализация</a:t>
            </a:r>
            <a:r>
              <a:rPr lang="en-US" altLang="en-US" dirty="0" smtClean="0"/>
              <a:t>:</a:t>
            </a:r>
          </a:p>
          <a:p>
            <a:pPr lvl="1"/>
            <a:r>
              <a:rPr lang="bg-BG" altLang="en-US" dirty="0" smtClean="0"/>
              <a:t>Обикновено преместване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bg-BG" altLang="en-US" dirty="0" smtClean="0"/>
          </a:p>
          <a:p>
            <a:pPr lvl="1"/>
            <a:endParaRPr lang="en-US" altLang="en-US" dirty="0"/>
          </a:p>
          <a:p>
            <a:pPr lvl="1"/>
            <a:r>
              <a:rPr lang="bg-BG" altLang="en-US" dirty="0" smtClean="0"/>
              <a:t>Циклично преместване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634" y="3505200"/>
            <a:ext cx="6438900" cy="100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768" y="5513249"/>
            <a:ext cx="6449717" cy="96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58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Аритметично преместване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Реализира се при знакови цели числа, съхранявани в допълнителен код.</a:t>
            </a:r>
            <a:r>
              <a:rPr lang="en-US" altLang="en-US" dirty="0" smtClean="0"/>
              <a:t> 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pPr lvl="1"/>
            <a:endParaRPr lang="bg-BG" altLang="en-US" dirty="0" smtClean="0"/>
          </a:p>
          <a:p>
            <a:pPr lvl="1"/>
            <a:endParaRPr lang="bg-BG" altLang="en-US" dirty="0" smtClean="0"/>
          </a:p>
          <a:p>
            <a:pPr lvl="1"/>
            <a:r>
              <a:rPr lang="bg-BG" altLang="en-US" dirty="0" smtClean="0"/>
              <a:t>Пример</a:t>
            </a:r>
            <a:r>
              <a:rPr lang="en-US" altLang="en-US" dirty="0" smtClean="0"/>
              <a:t>: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2" y="2286000"/>
            <a:ext cx="8382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2" y="5410200"/>
            <a:ext cx="4648200" cy="879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2" y="5399915"/>
            <a:ext cx="4476750" cy="924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15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>
                <a:solidFill>
                  <a:schemeClr val="tx2"/>
                </a:solidFill>
              </a:rPr>
              <a:t>Аритметични операции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Базовите аритметични действия, реализирани в компютрите са четири:</a:t>
            </a:r>
          </a:p>
          <a:p>
            <a:pPr lvl="1"/>
            <a:r>
              <a:rPr lang="bg-BG" altLang="en-US" dirty="0" smtClean="0"/>
              <a:t>Събиране, Изваждане, Умножение, Деление</a:t>
            </a:r>
          </a:p>
          <a:p>
            <a:pPr lvl="1"/>
            <a:r>
              <a:rPr lang="bg-BG" altLang="en-US" dirty="0" smtClean="0"/>
              <a:t>Други действия (степенуване, коренуване, логаритъм и т.н.) се реализират алгоритмично на основата на библиотечна функция (може да е и апаратно реализирана във </a:t>
            </a:r>
            <a:r>
              <a:rPr lang="en-US" altLang="en-US" dirty="0" smtClean="0"/>
              <a:t>FPU).</a:t>
            </a:r>
            <a:r>
              <a:rPr lang="bg-BG" altLang="en-US" dirty="0" smtClean="0"/>
              <a:t>  </a:t>
            </a:r>
            <a:r>
              <a:rPr lang="en-US" altLang="en-US" dirty="0" smtClean="0"/>
              <a:t> </a:t>
            </a:r>
          </a:p>
          <a:p>
            <a:r>
              <a:rPr lang="bg-BG" altLang="en-US" dirty="0" smtClean="0"/>
              <a:t>Операнди</a:t>
            </a:r>
          </a:p>
          <a:p>
            <a:pPr lvl="1"/>
            <a:r>
              <a:rPr lang="bg-BG" altLang="en-US" dirty="0"/>
              <a:t>Основният вид операнди са </a:t>
            </a:r>
            <a:r>
              <a:rPr lang="bg-BG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целите числа</a:t>
            </a:r>
            <a:r>
              <a:rPr lang="en-US" altLang="en-US" dirty="0"/>
              <a:t>.</a:t>
            </a:r>
            <a:endParaRPr lang="bg-BG" altLang="en-US" dirty="0"/>
          </a:p>
          <a:p>
            <a:pPr lvl="1"/>
            <a:r>
              <a:rPr lang="bg-BG" altLang="en-US" dirty="0"/>
              <a:t>Реализацията на действия с </a:t>
            </a:r>
            <a:r>
              <a:rPr lang="bg-BG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реалните числа </a:t>
            </a:r>
            <a:r>
              <a:rPr lang="bg-BG" altLang="en-US" dirty="0"/>
              <a:t>е директно (при наличие на </a:t>
            </a:r>
            <a:r>
              <a:rPr lang="en-US" altLang="en-US" dirty="0"/>
              <a:t>FPU) </a:t>
            </a:r>
            <a:r>
              <a:rPr lang="bg-BG" altLang="en-US" dirty="0"/>
              <a:t>или чрез библиотечна функция.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7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Операции върху цели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И четирите основни операции се изпълняват върху цели числа.</a:t>
            </a:r>
          </a:p>
          <a:p>
            <a:pPr lvl="1"/>
            <a:r>
              <a:rPr lang="bg-BG" dirty="0" smtClean="0"/>
              <a:t>Най-лесната за реализация е операцията събиране.</a:t>
            </a:r>
          </a:p>
          <a:p>
            <a:pPr lvl="1"/>
            <a:r>
              <a:rPr lang="bg-BG" dirty="0" smtClean="0"/>
              <a:t>Операцията изваждане е на основата на събиране, като умалителят (вторият операнд) се </a:t>
            </a:r>
            <a:r>
              <a:rPr lang="bg-BG" dirty="0" err="1" smtClean="0"/>
              <a:t>опреобразува</a:t>
            </a:r>
            <a:r>
              <a:rPr lang="bg-BG" dirty="0" smtClean="0"/>
              <a:t> в допълнителен код.</a:t>
            </a:r>
          </a:p>
          <a:p>
            <a:pPr lvl="1"/>
            <a:r>
              <a:rPr lang="bg-BG" dirty="0" smtClean="0"/>
              <a:t>Умножението се извършва по два начина: чрез последователно събиране (не е ефективно) или директно върху битовите поредици.</a:t>
            </a:r>
          </a:p>
          <a:p>
            <a:pPr lvl="1"/>
            <a:r>
              <a:rPr lang="bg-BG" dirty="0" smtClean="0"/>
              <a:t>Реализацията на „делене“ е по-сложна: може да се използва многократно изваждане (не е ефективно) или да се използва процедурата на Бут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Booth's multiplication algorithm</a:t>
            </a:r>
            <a:r>
              <a:rPr lang="en-US" dirty="0" smtClean="0"/>
              <a:t>)</a:t>
            </a:r>
            <a:r>
              <a:rPr lang="bg-BG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0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Операции върху цели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Събиране – трябва да се отчита както резултантната стойност, така и преноса.</a:t>
            </a:r>
          </a:p>
          <a:p>
            <a:pPr lvl="1"/>
            <a:r>
              <a:rPr lang="bg-BG" dirty="0" smtClean="0"/>
              <a:t>Ако има пренос от най-старшия бит, то той се губи - в някои случаи това води до т.нар. „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загуба на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значност</a:t>
            </a:r>
            <a:r>
              <a:rPr lang="bg-BG" dirty="0" smtClean="0"/>
              <a:t>“.</a:t>
            </a:r>
          </a:p>
          <a:p>
            <a:r>
              <a:rPr lang="bg-BG" dirty="0" smtClean="0"/>
              <a:t>Изваждане</a:t>
            </a:r>
          </a:p>
          <a:p>
            <a:pPr lvl="1"/>
            <a:r>
              <a:rPr lang="bg-BG" dirty="0" smtClean="0"/>
              <a:t>Използва се следното правило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/>
              <p:cNvSpPr>
                <a:spLocks noChangeArrowheads="1"/>
              </p:cNvSpPr>
              <p:nvPr/>
            </p:nvSpPr>
            <p:spPr bwMode="auto">
              <a:xfrm>
                <a:off x="3808412" y="4648200"/>
                <a:ext cx="4583306" cy="646331"/>
              </a:xfrm>
              <a:prstGeom prst="rect">
                <a:avLst/>
              </a:prstGeom>
              <a:solidFill>
                <a:srgbClr val="FFE07D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𝐴</m:t>
                      </m:r>
                      <m:r>
                        <a:rPr lang="bg-BG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𝐵</m:t>
                      </m:r>
                      <m:r>
                        <a:rPr lang="bg-BG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n-US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+(</m:t>
                      </m:r>
                      <m:acc>
                        <m:accPr>
                          <m:chr m:val="̅"/>
                          <m:ctrlPr>
                            <a:rPr lang="en-US" altLang="en-US" sz="3600" i="1" baseline="0" smtClean="0">
                              <a:solidFill>
                                <a:schemeClr val="tx2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altLang="en-US" sz="3600" b="0" i="1" baseline="0" smtClean="0">
                              <a:solidFill>
                                <a:schemeClr val="tx2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acc>
                      <m:r>
                        <a:rPr lang="bg-BG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altLang="en-US" sz="3600" b="0" i="1" baseline="0" smtClean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1)</m:t>
                      </m:r>
                    </m:oMath>
                  </m:oMathPara>
                </a14:m>
                <a:endParaRPr lang="en-US" altLang="en-US" sz="3600" baseline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8412" y="4648200"/>
                <a:ext cx="4583306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Callout 1 4"/>
          <p:cNvSpPr/>
          <p:nvPr/>
        </p:nvSpPr>
        <p:spPr>
          <a:xfrm>
            <a:off x="8609012" y="3810000"/>
            <a:ext cx="2209800" cy="533400"/>
          </a:xfrm>
          <a:prstGeom prst="borderCallout1">
            <a:avLst>
              <a:gd name="adj1" fmla="val 18750"/>
              <a:gd name="adj2" fmla="val -8333"/>
              <a:gd name="adj3" fmla="val 164372"/>
              <a:gd name="adj4" fmla="val -6835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dirty="0" smtClean="0">
                <a:solidFill>
                  <a:schemeClr val="tx2"/>
                </a:solidFill>
              </a:rPr>
              <a:t>Обратен код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rot="5400000">
            <a:off x="7313612" y="4913531"/>
            <a:ext cx="304800" cy="1066800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08712" y="5916706"/>
            <a:ext cx="25146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bg-BG" dirty="0"/>
              <a:t>Допълнителен код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74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Операции върху цели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en-US" sz="2400" dirty="0" smtClean="0"/>
              <a:t>A =</a:t>
            </a:r>
            <a:r>
              <a:rPr lang="bg-BG" sz="2400" dirty="0" smtClean="0"/>
              <a:t> </a:t>
            </a:r>
            <a:r>
              <a:rPr lang="en-US" sz="2400" dirty="0" smtClean="0"/>
              <a:t>+16,  B = +53 , R = A + B = +69</a:t>
            </a:r>
            <a:endParaRPr lang="bg-BG" sz="2400" dirty="0" smtClean="0"/>
          </a:p>
          <a:p>
            <a:pPr lvl="1"/>
            <a:r>
              <a:rPr lang="en-US" sz="2400" dirty="0"/>
              <a:t>A =</a:t>
            </a:r>
            <a:r>
              <a:rPr lang="bg-BG" sz="2400" dirty="0"/>
              <a:t> </a:t>
            </a:r>
            <a:r>
              <a:rPr lang="en-US" sz="2400" dirty="0" smtClean="0"/>
              <a:t>+</a:t>
            </a:r>
            <a:r>
              <a:rPr lang="bg-BG" sz="2400" dirty="0" smtClean="0"/>
              <a:t>53</a:t>
            </a:r>
            <a:r>
              <a:rPr lang="en-US" sz="2400" dirty="0" smtClean="0"/>
              <a:t>,  </a:t>
            </a:r>
            <a:r>
              <a:rPr lang="en-US" sz="2400" dirty="0"/>
              <a:t>B = </a:t>
            </a:r>
            <a:r>
              <a:rPr lang="bg-BG" sz="2400" dirty="0" smtClean="0"/>
              <a:t>-16</a:t>
            </a:r>
            <a:r>
              <a:rPr lang="en-US" sz="2400" dirty="0" smtClean="0"/>
              <a:t> </a:t>
            </a:r>
            <a:r>
              <a:rPr lang="en-US" sz="2400" dirty="0"/>
              <a:t>, </a:t>
            </a:r>
            <a:r>
              <a:rPr lang="en-US" sz="2400" dirty="0" smtClean="0"/>
              <a:t> R </a:t>
            </a:r>
            <a:r>
              <a:rPr lang="en-US" sz="2400" dirty="0"/>
              <a:t>= A + B = </a:t>
            </a:r>
            <a:r>
              <a:rPr lang="en-US" sz="2400" dirty="0" smtClean="0"/>
              <a:t>+</a:t>
            </a:r>
            <a:r>
              <a:rPr lang="bg-BG" sz="2400" dirty="0" smtClean="0"/>
              <a:t>37</a:t>
            </a:r>
          </a:p>
          <a:p>
            <a:pPr lvl="1"/>
            <a:r>
              <a:rPr lang="en-US" sz="2400" dirty="0" smtClean="0"/>
              <a:t>A</a:t>
            </a:r>
            <a:r>
              <a:rPr lang="bg-BG" sz="2400" dirty="0" smtClean="0"/>
              <a:t> = +53, </a:t>
            </a:r>
            <a:r>
              <a:rPr lang="en-US" sz="2400" dirty="0" smtClean="0"/>
              <a:t> B = -16 ,  R = A – B = +69</a:t>
            </a:r>
          </a:p>
          <a:p>
            <a:pPr lvl="1"/>
            <a:r>
              <a:rPr lang="en-US" sz="2400" dirty="0" smtClean="0"/>
              <a:t>A = -35 ,  B = +20,  R = A – B = -55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80220" y="3276560"/>
          <a:ext cx="7543800" cy="257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6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(+16)</a:t>
                      </a:r>
                      <a:r>
                        <a:rPr lang="en-US" sz="2400" baseline="-25000" dirty="0" smtClean="0"/>
                        <a:t>10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(00010000)</a:t>
                      </a:r>
                      <a:r>
                        <a:rPr lang="en-US" sz="2400" baseline="-25000" dirty="0" smtClean="0"/>
                        <a:t>2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(+53)</a:t>
                      </a:r>
                      <a:r>
                        <a:rPr lang="en-US" sz="2400" baseline="-25000" dirty="0" smtClean="0"/>
                        <a:t>10</a:t>
                      </a:r>
                      <a:r>
                        <a:rPr lang="en-US" sz="2400" dirty="0" smtClean="0"/>
                        <a:t>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(00110101)</a:t>
                      </a:r>
                      <a:r>
                        <a:rPr lang="en-US" sz="2400" baseline="-25000" dirty="0" smtClean="0"/>
                        <a:t>2</a:t>
                      </a:r>
                      <a:r>
                        <a:rPr lang="en-US" sz="2400" dirty="0" smtClean="0"/>
                        <a:t>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bg-BG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bg-BG" sz="2400" i="1" dirty="0" smtClean="0">
                          <a:solidFill>
                            <a:srgbClr val="C00000"/>
                          </a:solidFill>
                        </a:rPr>
                        <a:t>пренос</a:t>
                      </a:r>
                      <a:endParaRPr lang="en-US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 smtClean="0">
                          <a:solidFill>
                            <a:schemeClr val="bg1"/>
                          </a:solidFill>
                          <a:effectLst/>
                        </a:rPr>
                        <a:t>(0</a:t>
                      </a:r>
                      <a:r>
                        <a:rPr lang="en-US" sz="2400" b="0" i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111</a:t>
                      </a:r>
                      <a:r>
                        <a:rPr lang="en-US" sz="2400" b="0" i="1" dirty="0" smtClean="0">
                          <a:solidFill>
                            <a:schemeClr val="bg1"/>
                          </a:solidFill>
                          <a:effectLst/>
                        </a:rPr>
                        <a:t>0000)</a:t>
                      </a:r>
                      <a:r>
                        <a:rPr lang="en-US" sz="2400" b="0" i="1" baseline="-25000" dirty="0" smtClean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n-US" sz="2400" b="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  </a:t>
                      </a:r>
                      <a:endParaRPr lang="en-US" sz="24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R</a:t>
                      </a:r>
                      <a:r>
                        <a:rPr lang="en-US" sz="2400" baseline="0" dirty="0" smtClean="0"/>
                        <a:t> = A+B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(+69)</a:t>
                      </a:r>
                      <a:r>
                        <a:rPr lang="en-US" sz="2400" baseline="-25000" dirty="0" smtClean="0"/>
                        <a:t>10</a:t>
                      </a:r>
                      <a:r>
                        <a:rPr lang="en-US" sz="2400" dirty="0" smtClean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(01000101)</a:t>
                      </a:r>
                      <a:r>
                        <a:rPr lang="en-US" sz="2400" baseline="-25000" dirty="0" smtClean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3680220" y="4444476"/>
            <a:ext cx="7543800" cy="0"/>
          </a:xfrm>
          <a:prstGeom prst="line">
            <a:avLst/>
          </a:prstGeom>
          <a:ln w="2540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3699184" y="3276560"/>
          <a:ext cx="7543800" cy="257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6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(+</a:t>
                      </a:r>
                      <a:r>
                        <a:rPr lang="bg-BG" sz="2400" dirty="0" smtClean="0"/>
                        <a:t>53</a:t>
                      </a:r>
                      <a:r>
                        <a:rPr lang="en-US" sz="2400" dirty="0" smtClean="0"/>
                        <a:t>)</a:t>
                      </a:r>
                      <a:r>
                        <a:rPr lang="en-US" sz="2400" baseline="-25000" dirty="0" smtClean="0"/>
                        <a:t>10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(00110101)</a:t>
                      </a:r>
                      <a:r>
                        <a:rPr lang="en-US" sz="2400" baseline="-25000" dirty="0" smtClean="0"/>
                        <a:t>2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</a:t>
                      </a:r>
                      <a:r>
                        <a:rPr lang="bg-BG" sz="2400" dirty="0" smtClean="0"/>
                        <a:t>-16</a:t>
                      </a:r>
                      <a:r>
                        <a:rPr lang="en-US" sz="2400" dirty="0" smtClean="0"/>
                        <a:t>)</a:t>
                      </a:r>
                      <a:r>
                        <a:rPr lang="en-US" sz="2400" baseline="-25000" dirty="0" smtClean="0"/>
                        <a:t>10</a:t>
                      </a:r>
                      <a:r>
                        <a:rPr lang="en-US" sz="2400" dirty="0" smtClean="0"/>
                        <a:t>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(11110000)</a:t>
                      </a:r>
                      <a:r>
                        <a:rPr lang="en-US" sz="2400" baseline="-25000" dirty="0" smtClean="0"/>
                        <a:t>2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bg-BG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bg-BG" sz="2400" i="1" dirty="0" smtClean="0">
                          <a:solidFill>
                            <a:srgbClr val="C00000"/>
                          </a:solidFill>
                        </a:rPr>
                        <a:t>пренос</a:t>
                      </a:r>
                      <a:endParaRPr lang="en-US" sz="240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2400" b="0" i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11111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00</a:t>
                      </a:r>
                      <a:r>
                        <a:rPr lang="bg-BG" sz="24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00)</a:t>
                      </a:r>
                      <a:r>
                        <a:rPr lang="en-US" sz="2400" baseline="-25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400" dirty="0" smtClean="0"/>
                        <a:t>      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R</a:t>
                      </a:r>
                      <a:r>
                        <a:rPr lang="en-US" sz="2400" baseline="0" dirty="0" smtClean="0"/>
                        <a:t> = A+B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(+</a:t>
                      </a:r>
                      <a:r>
                        <a:rPr lang="bg-BG" sz="2400" dirty="0" smtClean="0"/>
                        <a:t>37</a:t>
                      </a:r>
                      <a:r>
                        <a:rPr lang="en-US" sz="2400" dirty="0" smtClean="0"/>
                        <a:t>)</a:t>
                      </a:r>
                      <a:r>
                        <a:rPr lang="en-US" sz="2400" baseline="-25000" dirty="0" smtClean="0"/>
                        <a:t>10</a:t>
                      </a:r>
                      <a:r>
                        <a:rPr lang="en-US" sz="2400" dirty="0" smtClean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(00100101)</a:t>
                      </a:r>
                      <a:r>
                        <a:rPr lang="en-US" sz="2400" baseline="-25000" dirty="0" smtClean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663180" y="3276560"/>
              <a:ext cx="7543800" cy="30327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60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6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168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A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(+</a:t>
                          </a:r>
                          <a:r>
                            <a:rPr lang="bg-BG" sz="2400" dirty="0" smtClean="0"/>
                            <a:t>53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10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(00110101)</a:t>
                          </a:r>
                          <a:r>
                            <a:rPr lang="en-US" sz="2400" baseline="-25000" dirty="0" smtClean="0"/>
                            <a:t>2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B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bg-BG" sz="2400" dirty="0" smtClean="0"/>
                            <a:t>-16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(11110000)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en-US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𝐁</m:t>
                                    </m:r>
                                  </m:e>
                                </m:acc>
                                <m:r>
                                  <a:rPr lang="bg-BG" altLang="en-US" sz="2400" b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(00010000)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bg-BG" sz="2400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bg-BG" sz="2400" i="1" dirty="0" smtClean="0">
                              <a:solidFill>
                                <a:srgbClr val="C00000"/>
                              </a:solidFill>
                            </a:rPr>
                            <a:t>пренос</a:t>
                          </a:r>
                          <a:endParaRPr lang="en-US" sz="2400" i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2400" b="0" i="1" dirty="0" smtClean="0">
                              <a:solidFill>
                                <a:schemeClr val="bg1"/>
                              </a:solidFill>
                              <a:effectLst/>
                            </a:rPr>
                            <a:t>00</a:t>
                          </a:r>
                          <a:r>
                            <a:rPr lang="en-US" sz="2400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111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</a:t>
                          </a:r>
                          <a:r>
                            <a:rPr lang="bg-BG" sz="2400" dirty="0" smtClean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00)</a:t>
                          </a:r>
                          <a:r>
                            <a:rPr lang="en-US" sz="2400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2400" dirty="0" smtClean="0"/>
                            <a:t>      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46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R</a:t>
                          </a:r>
                          <a:r>
                            <a:rPr lang="en-US" sz="2400" baseline="0" dirty="0" smtClean="0"/>
                            <a:t> = A - B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(+69)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(01000101)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0446030"/>
                  </p:ext>
                </p:extLst>
              </p:nvPr>
            </p:nvGraphicFramePr>
            <p:xfrm>
              <a:off x="3663180" y="3276560"/>
              <a:ext cx="7543800" cy="30327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60115"/>
                    <a:gridCol w="2066795"/>
                    <a:gridCol w="3616890"/>
                  </a:tblGrid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A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(+</a:t>
                          </a:r>
                          <a:r>
                            <a:rPr lang="bg-BG" sz="2400" dirty="0" smtClean="0"/>
                            <a:t>53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10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(00110101)</a:t>
                          </a:r>
                          <a:r>
                            <a:rPr lang="en-US" sz="2400" baseline="-25000" dirty="0" smtClean="0"/>
                            <a:t>2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B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bg-BG" sz="2400" dirty="0" smtClean="0"/>
                            <a:t>-16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(11110000)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28" t="-209333" r="-305902" b="-3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(00010000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endParaRPr lang="bg-BG" sz="2400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bg-BG" sz="2400" i="1" dirty="0" smtClean="0">
                              <a:solidFill>
                                <a:srgbClr val="C00000"/>
                              </a:solidFill>
                            </a:rPr>
                            <a:t>пренос</a:t>
                          </a:r>
                          <a:endParaRPr lang="en-US" sz="2400" i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2400" b="0" i="1" dirty="0" smtClean="0">
                              <a:solidFill>
                                <a:schemeClr val="bg1"/>
                              </a:solidFill>
                              <a:effectLst/>
                            </a:rPr>
                            <a:t>00</a:t>
                          </a:r>
                          <a:r>
                            <a:rPr lang="en-US" sz="2400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111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</a:t>
                          </a:r>
                          <a:r>
                            <a:rPr lang="bg-BG" sz="2400" dirty="0" smtClean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00)</a:t>
                          </a:r>
                          <a:r>
                            <a:rPr lang="en-US" sz="2400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2400" dirty="0" smtClean="0"/>
                            <a:t>      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R</a:t>
                          </a:r>
                          <a:r>
                            <a:rPr lang="en-US" sz="2400" baseline="0" dirty="0" smtClean="0"/>
                            <a:t> = A - B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(+69)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en-US" sz="2400" dirty="0" smtClean="0"/>
                            <a:t>01000101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5" name="Rectangle 24"/>
          <p:cNvSpPr/>
          <p:nvPr/>
        </p:nvSpPr>
        <p:spPr>
          <a:xfrm>
            <a:off x="8311380" y="3809960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415708" y="4258540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680220" y="3276560"/>
              <a:ext cx="7543800" cy="30327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60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6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168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A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(-35)</a:t>
                          </a:r>
                          <a:r>
                            <a:rPr lang="en-US" sz="2400" baseline="-25000" dirty="0" smtClean="0"/>
                            <a:t>10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en-US" altLang="en-US" sz="24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11011101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B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(+20)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en-US" altLang="en-US" sz="2400" baseline="0" dirty="0" smtClean="0">
                              <a:effectLst/>
                            </a:rPr>
                            <a:t>00010100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en-US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𝐁</m:t>
                                    </m:r>
                                  </m:e>
                                </m:acc>
                                <m:r>
                                  <a:rPr lang="bg-BG" altLang="en-US" sz="2400" b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(11101100)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bg-BG" sz="2400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bg-BG" sz="2400" i="1" dirty="0" smtClean="0">
                              <a:solidFill>
                                <a:srgbClr val="C00000"/>
                              </a:solidFill>
                            </a:rPr>
                            <a:t>пренос</a:t>
                          </a:r>
                          <a:endParaRPr lang="en-US" sz="2400" i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2400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111111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0000)</a:t>
                          </a:r>
                          <a:r>
                            <a:rPr lang="en-US" sz="2400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2400" dirty="0" smtClean="0"/>
                            <a:t>      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46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R</a:t>
                          </a:r>
                          <a:r>
                            <a:rPr lang="en-US" sz="2400" baseline="0" dirty="0" smtClean="0"/>
                            <a:t> = A - B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(-55)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(11001001)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388382"/>
                  </p:ext>
                </p:extLst>
              </p:nvPr>
            </p:nvGraphicFramePr>
            <p:xfrm>
              <a:off x="3680220" y="3276560"/>
              <a:ext cx="7543800" cy="30327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60115"/>
                    <a:gridCol w="2066795"/>
                    <a:gridCol w="3616890"/>
                  </a:tblGrid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A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(-35)</a:t>
                          </a:r>
                          <a:r>
                            <a:rPr lang="en-US" sz="2400" baseline="-25000" dirty="0" smtClean="0"/>
                            <a:t>10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en-US" altLang="en-US" sz="24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11011101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B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(+20)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</a:t>
                          </a:r>
                          <a:r>
                            <a:rPr lang="en-US" altLang="en-US" sz="2400" baseline="0" dirty="0" smtClean="0">
                              <a:effectLst/>
                            </a:rPr>
                            <a:t>00010100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8" t="-209333" r="-305902" b="-3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(11101100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endParaRPr lang="bg-BG" sz="2400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bg-BG" sz="2400" i="1" dirty="0" smtClean="0">
                              <a:solidFill>
                                <a:srgbClr val="C00000"/>
                              </a:solidFill>
                            </a:rPr>
                            <a:t>пренос</a:t>
                          </a:r>
                          <a:endParaRPr lang="en-US" sz="2400" i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2400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111111</a:t>
                          </a:r>
                          <a:r>
                            <a:rPr lang="en-US" sz="2400" dirty="0" smtClean="0">
                              <a:solidFill>
                                <a:schemeClr val="bg1"/>
                              </a:solidFill>
                            </a:rPr>
                            <a:t>0000)</a:t>
                          </a:r>
                          <a:r>
                            <a:rPr lang="en-US" sz="2400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2400" dirty="0" smtClean="0"/>
                            <a:t>       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R</a:t>
                          </a:r>
                          <a:r>
                            <a:rPr lang="en-US" sz="2400" baseline="0" dirty="0" smtClean="0"/>
                            <a:t> = A - B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(-55)</a:t>
                          </a:r>
                          <a:r>
                            <a:rPr lang="en-US" sz="2400" baseline="-25000" dirty="0" smtClean="0"/>
                            <a:t>10</a:t>
                          </a:r>
                          <a:r>
                            <a:rPr lang="en-US" sz="2400" dirty="0" smtClean="0"/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(1</a:t>
                          </a:r>
                          <a:r>
                            <a:rPr lang="en-US" sz="2400" dirty="0" smtClean="0"/>
                            <a:t>1001001</a:t>
                          </a:r>
                          <a:r>
                            <a:rPr lang="en-US" sz="2400" dirty="0" smtClean="0"/>
                            <a:t>)</a:t>
                          </a:r>
                          <a:r>
                            <a:rPr lang="en-US" sz="2400" baseline="-25000" dirty="0" smtClean="0"/>
                            <a:t>2</a:t>
                          </a:r>
                          <a:endParaRPr lang="en-US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9" name="Rectangle 28"/>
          <p:cNvSpPr/>
          <p:nvPr/>
        </p:nvSpPr>
        <p:spPr>
          <a:xfrm>
            <a:off x="8305772" y="3780616"/>
            <a:ext cx="2133092" cy="396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593804" y="4258540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3699184" y="3269724"/>
            <a:ext cx="7543800" cy="0"/>
          </a:xfrm>
          <a:prstGeom prst="line">
            <a:avLst/>
          </a:prstGeom>
          <a:ln w="2540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663180" y="5040756"/>
            <a:ext cx="7543800" cy="0"/>
          </a:xfrm>
          <a:prstGeom prst="line">
            <a:avLst/>
          </a:prstGeom>
          <a:ln w="2540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661256" y="5040756"/>
            <a:ext cx="7543800" cy="0"/>
          </a:xfrm>
          <a:prstGeom prst="line">
            <a:avLst/>
          </a:prstGeom>
          <a:ln w="2540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588356" y="5148768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582908" y="5832844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311380" y="5158640"/>
            <a:ext cx="2057400" cy="35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235688" y="5652824"/>
            <a:ext cx="2057400" cy="576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4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7" grpId="1" animBg="1"/>
      <p:bldP spid="29" grpId="0" animBg="1"/>
      <p:bldP spid="30" grpId="0" animBg="1"/>
      <p:bldP spid="30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Цели числа във формата „</a:t>
            </a:r>
            <a:r>
              <a:rPr lang="bg-BG" altLang="en-US" dirty="0">
                <a:solidFill>
                  <a:schemeClr val="tx2"/>
                </a:solidFill>
              </a:rPr>
              <a:t> </a:t>
            </a:r>
            <a:r>
              <a:rPr lang="bg-BG" altLang="en-US" dirty="0" err="1">
                <a:solidFill>
                  <a:schemeClr val="tx2"/>
                </a:solidFill>
              </a:rPr>
              <a:t>Знак+Стойност</a:t>
            </a:r>
            <a:r>
              <a:rPr lang="bg-BG" dirty="0" smtClean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Основен проблем</a:t>
            </a:r>
          </a:p>
          <a:p>
            <a:pPr lvl="1"/>
            <a:r>
              <a:rPr lang="bg-BG" dirty="0" smtClean="0"/>
              <a:t>Четири  възможни комбинации за всяко действие: всяко число има знак и стойност.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7384" y="5661248"/>
            <a:ext cx="483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solidFill>
                  <a:schemeClr val="tx2"/>
                </a:solidFill>
              </a:rPr>
              <a:t>A</a:t>
            </a:r>
            <a:r>
              <a:rPr lang="en-US" sz="2000" i="1" baseline="-25000" dirty="0">
                <a:solidFill>
                  <a:schemeClr val="tx2"/>
                </a:solidFill>
              </a:rPr>
              <a:t>S</a:t>
            </a:r>
            <a:r>
              <a:rPr lang="en-US" sz="2000" i="1" dirty="0" smtClean="0">
                <a:solidFill>
                  <a:schemeClr val="tx2"/>
                </a:solidFill>
              </a:rPr>
              <a:t>, B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S</a:t>
            </a:r>
            <a:r>
              <a:rPr lang="en-US" sz="2000" i="1" dirty="0" smtClean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знак</a:t>
            </a:r>
          </a:p>
          <a:p>
            <a:r>
              <a:rPr lang="en-US" sz="2000" i="1" dirty="0" smtClean="0">
                <a:solidFill>
                  <a:schemeClr val="tx2"/>
                </a:solidFill>
              </a:rPr>
              <a:t>A</a:t>
            </a:r>
            <a:r>
              <a:rPr lang="bg-BG" sz="2000" i="1" baseline="-25000" dirty="0">
                <a:solidFill>
                  <a:schemeClr val="tx2"/>
                </a:solidFill>
              </a:rPr>
              <a:t>М</a:t>
            </a:r>
            <a:r>
              <a:rPr lang="en-US" sz="2000" i="1" dirty="0" smtClean="0">
                <a:solidFill>
                  <a:schemeClr val="tx2"/>
                </a:solidFill>
              </a:rPr>
              <a:t>,  B</a:t>
            </a:r>
            <a:r>
              <a:rPr lang="bg-BG" sz="2000" i="1" baseline="-25000" dirty="0" smtClean="0">
                <a:solidFill>
                  <a:schemeClr val="tx2"/>
                </a:solidFill>
              </a:rPr>
              <a:t>М</a:t>
            </a:r>
            <a:r>
              <a:rPr lang="en-US" sz="2000" i="1" dirty="0" smtClean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мантиса</a:t>
            </a:r>
          </a:p>
          <a:p>
            <a:r>
              <a:rPr lang="en-US" sz="2000" i="1" dirty="0" smtClean="0">
                <a:solidFill>
                  <a:schemeClr val="tx2"/>
                </a:solidFill>
              </a:rPr>
              <a:t>O -&gt; </a:t>
            </a:r>
            <a:r>
              <a:rPr lang="bg-BG" sz="2000" i="1" dirty="0" smtClean="0">
                <a:solidFill>
                  <a:schemeClr val="tx2"/>
                </a:solidFill>
              </a:rPr>
              <a:t>флаг за пренос от старши бит</a:t>
            </a:r>
            <a:endParaRPr lang="en-US" sz="2000" i="1" dirty="0">
              <a:solidFill>
                <a:schemeClr val="tx2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072" y="1233064"/>
            <a:ext cx="5989291" cy="5453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702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Цели числа във формата „</a:t>
            </a:r>
            <a:r>
              <a:rPr lang="bg-BG" altLang="en-US" dirty="0">
                <a:solidFill>
                  <a:schemeClr val="tx2"/>
                </a:solidFill>
              </a:rPr>
              <a:t> </a:t>
            </a:r>
            <a:r>
              <a:rPr lang="bg-BG" altLang="en-US" dirty="0" err="1">
                <a:solidFill>
                  <a:schemeClr val="tx2"/>
                </a:solidFill>
              </a:rPr>
              <a:t>Знак+Стойност</a:t>
            </a:r>
            <a:r>
              <a:rPr lang="bg-BG" dirty="0" smtClean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</a:p>
          <a:p>
            <a:pPr lvl="1"/>
            <a:r>
              <a:rPr lang="en-US" dirty="0" smtClean="0"/>
              <a:t>A</a:t>
            </a:r>
            <a:r>
              <a:rPr lang="bg-BG" dirty="0" smtClean="0"/>
              <a:t> = </a:t>
            </a:r>
            <a:r>
              <a:rPr lang="en-US" dirty="0" smtClean="0"/>
              <a:t>+17</a:t>
            </a:r>
            <a:r>
              <a:rPr lang="bg-BG" dirty="0" smtClean="0"/>
              <a:t>, </a:t>
            </a:r>
            <a:r>
              <a:rPr lang="en-US" dirty="0" smtClean="0"/>
              <a:t>B</a:t>
            </a:r>
            <a:r>
              <a:rPr lang="bg-BG" dirty="0" smtClean="0"/>
              <a:t> = </a:t>
            </a:r>
            <a:r>
              <a:rPr lang="en-US" dirty="0" smtClean="0"/>
              <a:t>-22, R = A + B = -5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704" y="2564904"/>
            <a:ext cx="10267592" cy="2772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73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Цели числа във формата „</a:t>
            </a:r>
            <a:r>
              <a:rPr lang="bg-BG" altLang="en-US" dirty="0">
                <a:solidFill>
                  <a:schemeClr val="tx2"/>
                </a:solidFill>
              </a:rPr>
              <a:t> </a:t>
            </a:r>
            <a:r>
              <a:rPr lang="bg-BG" altLang="en-US" dirty="0" err="1">
                <a:solidFill>
                  <a:schemeClr val="tx2"/>
                </a:solidFill>
              </a:rPr>
              <a:t>Знак+Стойност</a:t>
            </a:r>
            <a:r>
              <a:rPr lang="bg-BG" dirty="0" smtClean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</a:p>
          <a:p>
            <a:pPr lvl="1"/>
            <a:r>
              <a:rPr lang="en-US" dirty="0"/>
              <a:t>A</a:t>
            </a:r>
            <a:r>
              <a:rPr lang="bg-BG" dirty="0"/>
              <a:t> = </a:t>
            </a:r>
            <a:r>
              <a:rPr lang="en-US" dirty="0"/>
              <a:t>+17</a:t>
            </a:r>
            <a:r>
              <a:rPr lang="bg-BG" dirty="0"/>
              <a:t>, </a:t>
            </a:r>
            <a:r>
              <a:rPr lang="en-US" dirty="0"/>
              <a:t>B</a:t>
            </a:r>
            <a:r>
              <a:rPr lang="bg-BG" dirty="0"/>
              <a:t> = </a:t>
            </a:r>
            <a:r>
              <a:rPr lang="en-US" dirty="0"/>
              <a:t>-22, R = A + B = -5</a:t>
            </a:r>
          </a:p>
          <a:p>
            <a:pPr lvl="1"/>
            <a:r>
              <a:rPr lang="en-US" dirty="0" smtClean="0"/>
              <a:t>A</a:t>
            </a:r>
            <a:r>
              <a:rPr lang="bg-BG" dirty="0" smtClean="0"/>
              <a:t> = -81, </a:t>
            </a:r>
            <a:r>
              <a:rPr lang="en-US" dirty="0" smtClean="0"/>
              <a:t>B</a:t>
            </a:r>
            <a:r>
              <a:rPr lang="bg-BG" dirty="0" smtClean="0"/>
              <a:t> = </a:t>
            </a:r>
            <a:r>
              <a:rPr lang="en-US" dirty="0" smtClean="0"/>
              <a:t>-22, R = A – B = -59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339" y="3104964"/>
            <a:ext cx="9889004" cy="212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3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Действия с реални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30366" cy="5410200"/>
          </a:xfrm>
        </p:spPr>
        <p:txBody>
          <a:bodyPr/>
          <a:lstStyle/>
          <a:p>
            <a:r>
              <a:rPr lang="bg-BG" dirty="0" smtClean="0"/>
              <a:t>Четирите основни действия могат да се извършват и върху реални числа, съхранявани във формат с плаваща запетая.</a:t>
            </a:r>
          </a:p>
          <a:p>
            <a:pPr lvl="1"/>
            <a:r>
              <a:rPr lang="bg-BG" dirty="0" smtClean="0"/>
              <a:t>Събирането и изваждането се реализира като събиране и изваждане на цели числа във формата „знак-стойност“, но се изисква подравняване на позицията на десетичната точка.</a:t>
            </a:r>
          </a:p>
          <a:p>
            <a:pPr lvl="1"/>
            <a:r>
              <a:rPr lang="bg-BG" dirty="0" smtClean="0"/>
              <a:t>Умножението и делението се реализира като умножение </a:t>
            </a:r>
            <a:r>
              <a:rPr lang="bg-BG" dirty="0"/>
              <a:t>и </a:t>
            </a:r>
            <a:r>
              <a:rPr lang="bg-BG" dirty="0" smtClean="0"/>
              <a:t>деление на цели </a:t>
            </a:r>
            <a:r>
              <a:rPr lang="bg-BG" dirty="0"/>
              <a:t>числа във формата „знак-стойност</a:t>
            </a:r>
            <a:r>
              <a:rPr lang="bg-BG" dirty="0" smtClean="0"/>
              <a:t>“.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7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Действия с реални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30366" cy="5410200"/>
          </a:xfrm>
        </p:spPr>
        <p:txBody>
          <a:bodyPr>
            <a:normAutofit/>
          </a:bodyPr>
          <a:lstStyle/>
          <a:p>
            <a:r>
              <a:rPr lang="bg-BG" sz="3000" dirty="0" smtClean="0"/>
              <a:t>Общ алгоритъм </a:t>
            </a:r>
            <a:endParaRPr lang="en-US" sz="3000" dirty="0"/>
          </a:p>
          <a:p>
            <a:pPr lvl="1"/>
            <a:r>
              <a:rPr lang="bg-BG" sz="2700" dirty="0" smtClean="0"/>
              <a:t>Събиране</a:t>
            </a:r>
            <a:r>
              <a:rPr lang="en-US" sz="2700" dirty="0" smtClean="0"/>
              <a:t> </a:t>
            </a:r>
            <a:r>
              <a:rPr lang="bg-BG" sz="2700" dirty="0" smtClean="0"/>
              <a:t>и Изваждане</a:t>
            </a:r>
            <a:endParaRPr lang="en-US" sz="2700" dirty="0"/>
          </a:p>
        </p:txBody>
      </p:sp>
      <p:sp>
        <p:nvSpPr>
          <p:cNvPr id="4" name="TextBox 3"/>
          <p:cNvSpPr txBox="1"/>
          <p:nvPr/>
        </p:nvSpPr>
        <p:spPr>
          <a:xfrm>
            <a:off x="945840" y="4869160"/>
            <a:ext cx="50150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solidFill>
                  <a:schemeClr val="tx2"/>
                </a:solidFill>
              </a:rPr>
              <a:t>A</a:t>
            </a:r>
            <a:r>
              <a:rPr lang="en-US" sz="2000" i="1" baseline="-25000" dirty="0">
                <a:solidFill>
                  <a:schemeClr val="tx2"/>
                </a:solidFill>
              </a:rPr>
              <a:t>S</a:t>
            </a:r>
            <a:r>
              <a:rPr lang="en-US" sz="2000" i="1" dirty="0" smtClean="0">
                <a:solidFill>
                  <a:schemeClr val="tx2"/>
                </a:solidFill>
              </a:rPr>
              <a:t>, B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S</a:t>
            </a:r>
            <a:r>
              <a:rPr lang="bg-BG" sz="2000" i="1" baseline="-25000" dirty="0" smtClean="0">
                <a:solidFill>
                  <a:schemeClr val="tx2"/>
                </a:solidFill>
              </a:rPr>
              <a:t>, </a:t>
            </a:r>
            <a:r>
              <a:rPr lang="en-US" sz="2000" i="1" dirty="0" smtClean="0">
                <a:solidFill>
                  <a:schemeClr val="tx2"/>
                </a:solidFill>
              </a:rPr>
              <a:t>R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S</a:t>
            </a:r>
            <a:r>
              <a:rPr lang="en-US" sz="2000" i="1" dirty="0" smtClean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знак</a:t>
            </a:r>
          </a:p>
          <a:p>
            <a:r>
              <a:rPr lang="en-US" sz="2000" i="1" dirty="0" smtClean="0">
                <a:solidFill>
                  <a:schemeClr val="tx2"/>
                </a:solidFill>
              </a:rPr>
              <a:t>A</a:t>
            </a:r>
            <a:r>
              <a:rPr lang="bg-BG" sz="2000" i="1" baseline="-25000" dirty="0">
                <a:solidFill>
                  <a:schemeClr val="tx2"/>
                </a:solidFill>
              </a:rPr>
              <a:t>М</a:t>
            </a:r>
            <a:r>
              <a:rPr lang="en-US" sz="2000" i="1" dirty="0" smtClean="0">
                <a:solidFill>
                  <a:schemeClr val="tx2"/>
                </a:solidFill>
              </a:rPr>
              <a:t>,  B</a:t>
            </a:r>
            <a:r>
              <a:rPr lang="bg-BG" sz="2000" i="1" baseline="-25000" dirty="0" smtClean="0">
                <a:solidFill>
                  <a:schemeClr val="tx2"/>
                </a:solidFill>
              </a:rPr>
              <a:t>М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, </a:t>
            </a:r>
            <a:r>
              <a:rPr lang="en-US" sz="2000" i="1" dirty="0" smtClean="0">
                <a:solidFill>
                  <a:schemeClr val="tx2"/>
                </a:solidFill>
              </a:rPr>
              <a:t>R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M</a:t>
            </a:r>
            <a:r>
              <a:rPr lang="en-US" sz="2000" i="1" dirty="0" smtClean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мантиса</a:t>
            </a:r>
          </a:p>
          <a:p>
            <a:r>
              <a:rPr lang="en-US" sz="2000" i="1" dirty="0" smtClean="0">
                <a:solidFill>
                  <a:schemeClr val="tx2"/>
                </a:solidFill>
              </a:rPr>
              <a:t>A</a:t>
            </a:r>
            <a:r>
              <a:rPr lang="en-US" sz="2000" i="1" baseline="-25000" dirty="0">
                <a:solidFill>
                  <a:schemeClr val="tx2"/>
                </a:solidFill>
              </a:rPr>
              <a:t>E</a:t>
            </a:r>
            <a:r>
              <a:rPr lang="en-US" sz="2000" i="1" dirty="0" smtClean="0">
                <a:solidFill>
                  <a:schemeClr val="tx2"/>
                </a:solidFill>
              </a:rPr>
              <a:t>, B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E, </a:t>
            </a:r>
            <a:r>
              <a:rPr lang="en-US" sz="2000" i="1" dirty="0" smtClean="0">
                <a:solidFill>
                  <a:schemeClr val="tx2"/>
                </a:solidFill>
              </a:rPr>
              <a:t>R</a:t>
            </a:r>
            <a:r>
              <a:rPr lang="en-US" sz="2000" i="1" baseline="-25000" dirty="0" smtClean="0">
                <a:solidFill>
                  <a:schemeClr val="tx2"/>
                </a:solidFill>
              </a:rPr>
              <a:t>E</a:t>
            </a:r>
            <a:r>
              <a:rPr lang="en-US" sz="2000" i="1" dirty="0" smtClean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експонента</a:t>
            </a:r>
          </a:p>
          <a:p>
            <a:r>
              <a:rPr lang="en-US" sz="2000" i="1" dirty="0" err="1" smtClean="0">
                <a:solidFill>
                  <a:schemeClr val="tx2"/>
                </a:solidFill>
              </a:rPr>
              <a:t>Shift</a:t>
            </a:r>
            <a:r>
              <a:rPr lang="en-US" sz="2000" i="1" baseline="-25000" dirty="0" err="1" smtClean="0">
                <a:solidFill>
                  <a:schemeClr val="tx2"/>
                </a:solidFill>
              </a:rPr>
              <a:t>R</a:t>
            </a:r>
            <a:r>
              <a:rPr lang="en-US" sz="2000" i="1" dirty="0" smtClean="0">
                <a:solidFill>
                  <a:schemeClr val="tx2"/>
                </a:solidFill>
              </a:rPr>
              <a:t>()</a:t>
            </a:r>
            <a:r>
              <a:rPr lang="en-US" sz="2000" i="1" dirty="0">
                <a:solidFill>
                  <a:schemeClr val="tx2"/>
                </a:solidFill>
              </a:rPr>
              <a:t> -&gt; </a:t>
            </a:r>
            <a:r>
              <a:rPr lang="bg-BG" sz="2000" i="1" dirty="0" smtClean="0">
                <a:solidFill>
                  <a:schemeClr val="tx2"/>
                </a:solidFill>
              </a:rPr>
              <a:t>преместване надясно </a:t>
            </a:r>
            <a:r>
              <a:rPr lang="en-US" sz="2000" i="1" dirty="0" smtClean="0">
                <a:solidFill>
                  <a:schemeClr val="tx2"/>
                </a:solidFill>
              </a:rPr>
              <a:t/>
            </a:r>
            <a:br>
              <a:rPr lang="en-US" sz="2000" i="1" dirty="0" smtClean="0">
                <a:solidFill>
                  <a:schemeClr val="tx2"/>
                </a:solidFill>
              </a:rPr>
            </a:br>
            <a:r>
              <a:rPr lang="en-US" sz="2000" i="1" dirty="0" smtClean="0">
                <a:solidFill>
                  <a:schemeClr val="tx2"/>
                </a:solidFill>
              </a:rPr>
              <a:t>                 </a:t>
            </a:r>
            <a:r>
              <a:rPr lang="bg-BG" sz="2000" i="1" dirty="0" smtClean="0">
                <a:solidFill>
                  <a:schemeClr val="tx2"/>
                </a:solidFill>
              </a:rPr>
              <a:t>на 1 бит</a:t>
            </a:r>
            <a:endParaRPr lang="en-US" sz="2000" i="1" dirty="0" smtClean="0">
              <a:solidFill>
                <a:schemeClr val="tx2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624" y="60743"/>
            <a:ext cx="6583424" cy="6709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91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Действия с реални числа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  <a:r>
              <a:rPr lang="en-US" dirty="0" smtClean="0"/>
              <a:t> 1</a:t>
            </a:r>
            <a:r>
              <a:rPr lang="bg-BG" dirty="0" smtClean="0"/>
              <a:t>:</a:t>
            </a:r>
          </a:p>
          <a:p>
            <a:pPr lvl="1"/>
            <a:r>
              <a:rPr lang="en-US" altLang="en-US" dirty="0" smtClean="0"/>
              <a:t>A</a:t>
            </a:r>
            <a:r>
              <a:rPr lang="bg-BG" altLang="en-US" dirty="0" smtClean="0"/>
              <a:t> = </a:t>
            </a:r>
            <a:r>
              <a:rPr lang="en-US" altLang="en-US" dirty="0" smtClean="0"/>
              <a:t>+5.75</a:t>
            </a:r>
            <a:r>
              <a:rPr lang="bg-BG" altLang="en-US" dirty="0" smtClean="0"/>
              <a:t>, </a:t>
            </a:r>
            <a:r>
              <a:rPr lang="en-US" altLang="en-US" dirty="0" smtClean="0"/>
              <a:t> B = +161.875,  R = A + B = +167.625.</a:t>
            </a:r>
            <a:endParaRPr lang="en-US" altLang="en-US" dirty="0"/>
          </a:p>
          <a:p>
            <a:pPr lvl="1"/>
            <a:endParaRPr 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0" y="2240868"/>
            <a:ext cx="8559800" cy="176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880" y="2331839"/>
            <a:ext cx="8018463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573" y="4293096"/>
            <a:ext cx="7839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30" y="4293096"/>
            <a:ext cx="8342313" cy="132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287595" y="6057292"/>
            <a:ext cx="80422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 = 2</a:t>
            </a:r>
            <a:r>
              <a:rPr lang="en-US" altLang="en-US" sz="2400" baseline="30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134</a:t>
            </a:r>
            <a:r>
              <a:rPr lang="en-US" altLang="en-US" sz="2400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−127</a:t>
            </a:r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× 1.0100111101= 10100111.101</a:t>
            </a:r>
            <a:r>
              <a:rPr lang="en-US" altLang="en-US" sz="2400" baseline="-25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167.625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39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Действия с реални числа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  <a:r>
              <a:rPr lang="en-US" dirty="0" smtClean="0"/>
              <a:t> 2</a:t>
            </a:r>
            <a:r>
              <a:rPr lang="bg-BG" dirty="0" smtClean="0"/>
              <a:t>:</a:t>
            </a:r>
          </a:p>
          <a:p>
            <a:pPr lvl="1"/>
            <a:r>
              <a:rPr lang="en-US" altLang="en-US" dirty="0" smtClean="0"/>
              <a:t>A</a:t>
            </a:r>
            <a:r>
              <a:rPr lang="bg-BG" altLang="en-US" dirty="0" smtClean="0"/>
              <a:t> = </a:t>
            </a:r>
            <a:r>
              <a:rPr lang="en-US" altLang="en-US" dirty="0" smtClean="0"/>
              <a:t>+5.75</a:t>
            </a:r>
            <a:r>
              <a:rPr lang="bg-BG" altLang="en-US" dirty="0" smtClean="0"/>
              <a:t>, </a:t>
            </a:r>
            <a:r>
              <a:rPr lang="en-US" altLang="en-US" dirty="0" smtClean="0"/>
              <a:t> B = </a:t>
            </a:r>
            <a:r>
              <a:rPr lang="en-US" altLang="en-US" dirty="0"/>
              <a:t>−7.0234375</a:t>
            </a:r>
            <a:r>
              <a:rPr lang="en-US" altLang="en-US" dirty="0" smtClean="0"/>
              <a:t>,  R = A + B </a:t>
            </a:r>
            <a:r>
              <a:rPr lang="en-US" altLang="en-US" dirty="0"/>
              <a:t>= − 1.2734375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/>
            <a:endParaRPr lang="en-US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024" y="2492896"/>
            <a:ext cx="7983537" cy="171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32" y="2448446"/>
            <a:ext cx="8054975" cy="176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832" y="4293096"/>
            <a:ext cx="798353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802" y="4329608"/>
            <a:ext cx="80184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610136" y="5949280"/>
            <a:ext cx="71647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 = − 2</a:t>
            </a:r>
            <a:r>
              <a:rPr lang="en-US" altLang="en-US" sz="2400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127−127</a:t>
            </a:r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× 1.0100011 = − 1.2734375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23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 smtClean="0"/>
          </a:p>
          <a:p>
            <a:pPr marL="0" indent="0" algn="ctr">
              <a:buNone/>
            </a:pPr>
            <a:r>
              <a:rPr lang="bg-BG" sz="4400" b="1" dirty="0" smtClean="0"/>
              <a:t>Въпроси</a:t>
            </a:r>
            <a:r>
              <a:rPr lang="en-US" sz="4400" b="1" dirty="0" smtClean="0"/>
              <a:t>?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6487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2787947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TS102787947</Template>
  <TotalTime>0</TotalTime>
  <Words>6391</Words>
  <Application>Microsoft Office PowerPoint</Application>
  <PresentationFormat>Custom</PresentationFormat>
  <Paragraphs>723</Paragraphs>
  <Slides>78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Calibri</vt:lpstr>
      <vt:lpstr>Cambria Math</vt:lpstr>
      <vt:lpstr>Consolas</vt:lpstr>
      <vt:lpstr>Euphemia</vt:lpstr>
      <vt:lpstr>Times New Roman</vt:lpstr>
      <vt:lpstr>Wingdings</vt:lpstr>
      <vt:lpstr>TS102787947</vt:lpstr>
      <vt:lpstr>Програмиране и Данни</vt:lpstr>
      <vt:lpstr>Малко история</vt:lpstr>
      <vt:lpstr>Малко история</vt:lpstr>
      <vt:lpstr>Машина на Тюринг</vt:lpstr>
      <vt:lpstr>Машина на Тюринг</vt:lpstr>
      <vt:lpstr>Машина на Тюринг</vt:lpstr>
      <vt:lpstr>Числата на Гьодел</vt:lpstr>
      <vt:lpstr>Числата на Гьодел</vt:lpstr>
      <vt:lpstr>Модел на фон Нойман</vt:lpstr>
      <vt:lpstr>Модел на фон Нойман</vt:lpstr>
      <vt:lpstr>Концепцията „Програма“</vt:lpstr>
      <vt:lpstr>Изпълнение на инструкциите</vt:lpstr>
      <vt:lpstr>PowerPoint Presentation</vt:lpstr>
      <vt:lpstr>Генерични видове данни</vt:lpstr>
      <vt:lpstr>Кодиране на данни</vt:lpstr>
      <vt:lpstr>BCD-числа</vt:lpstr>
      <vt:lpstr>BCD-числа</vt:lpstr>
      <vt:lpstr>Excess-3</vt:lpstr>
      <vt:lpstr>Excess-3</vt:lpstr>
      <vt:lpstr>Сив код (Gray code)</vt:lpstr>
      <vt:lpstr>Съхраняване на цели числа</vt:lpstr>
      <vt:lpstr>Беззнакови цели числа</vt:lpstr>
      <vt:lpstr>Представяне „Знак+Стойност“</vt:lpstr>
      <vt:lpstr>Обратен код на число</vt:lpstr>
      <vt:lpstr>Допълнителен код</vt:lpstr>
      <vt:lpstr>Допълнителен код</vt:lpstr>
      <vt:lpstr>Реални числа</vt:lpstr>
      <vt:lpstr>Реални числа: точност и правилност</vt:lpstr>
      <vt:lpstr>Реални числа: представяне</vt:lpstr>
      <vt:lpstr>Реални числа: представяне</vt:lpstr>
      <vt:lpstr>Реални числа: нормализация</vt:lpstr>
      <vt:lpstr>Реални числа: представяне</vt:lpstr>
      <vt:lpstr>Представяне на специфични стойности</vt:lpstr>
      <vt:lpstr>IEEE Standard Excess System</vt:lpstr>
      <vt:lpstr>IEEE Standard: Excess_127 и Excess_1023</vt:lpstr>
      <vt:lpstr>Excess_127: пример</vt:lpstr>
      <vt:lpstr>Excess_127: пример</vt:lpstr>
      <vt:lpstr>Excess_127: пример</vt:lpstr>
      <vt:lpstr>Препълване и Загуба на значимост</vt:lpstr>
      <vt:lpstr>Съхранение на текст</vt:lpstr>
      <vt:lpstr>Съхранение на Аудио</vt:lpstr>
      <vt:lpstr>Дискретизация на сигнал</vt:lpstr>
      <vt:lpstr>Дискретизация на сигнал</vt:lpstr>
      <vt:lpstr>Дискретизация на сигнал</vt:lpstr>
      <vt:lpstr>Изображения</vt:lpstr>
      <vt:lpstr>Растерни изображения</vt:lpstr>
      <vt:lpstr>Векторни изображения</vt:lpstr>
      <vt:lpstr>Представяне на цвят</vt:lpstr>
      <vt:lpstr>Представяне на цвят</vt:lpstr>
      <vt:lpstr>Представяне на цвят</vt:lpstr>
      <vt:lpstr>Видео</vt:lpstr>
      <vt:lpstr>Пирамида на знанието (WISDOM)</vt:lpstr>
      <vt:lpstr>Пирамида на знанието (WISDOM)</vt:lpstr>
      <vt:lpstr>Пирамида на знанието (WISDOM)</vt:lpstr>
      <vt:lpstr>Пирамида на знанието (WISDOM)</vt:lpstr>
      <vt:lpstr>Пирамида на знанието (WISDOM)</vt:lpstr>
      <vt:lpstr>PowerPoint Presentation</vt:lpstr>
      <vt:lpstr>Машинни езици</vt:lpstr>
      <vt:lpstr>Асемблерни езици</vt:lpstr>
      <vt:lpstr>Асемблерни езици</vt:lpstr>
      <vt:lpstr>Логически операции</vt:lpstr>
      <vt:lpstr>Логически операции</vt:lpstr>
      <vt:lpstr>Логически операции</vt:lpstr>
      <vt:lpstr>Използване на логически операции</vt:lpstr>
      <vt:lpstr>Логическо преместване</vt:lpstr>
      <vt:lpstr>Аритметично преместване</vt:lpstr>
      <vt:lpstr>Аритметични операции</vt:lpstr>
      <vt:lpstr>Операции върху цели числа</vt:lpstr>
      <vt:lpstr>Операции върху цели числа</vt:lpstr>
      <vt:lpstr>Операции върху цели числа</vt:lpstr>
      <vt:lpstr>Цели числа във формата „ Знак+Стойност“</vt:lpstr>
      <vt:lpstr>Цели числа във формата „ Знак+Стойност“</vt:lpstr>
      <vt:lpstr>Цели числа във формата „ Знак+Стойност“</vt:lpstr>
      <vt:lpstr>Действия с реални числа</vt:lpstr>
      <vt:lpstr>Действия с реални числа</vt:lpstr>
      <vt:lpstr>Действия с реални числа</vt:lpstr>
      <vt:lpstr>Действия с реални числа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2014-02-04T07:26:08Z</dcterms:created>
  <dcterms:modified xsi:type="dcterms:W3CDTF">2023-02-21T06:06:34Z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