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00"/>
  </p:notesMasterIdLst>
  <p:handoutMasterIdLst>
    <p:handoutMasterId r:id="rId101"/>
  </p:handoutMasterIdLst>
  <p:sldIdLst>
    <p:sldId id="256" r:id="rId3"/>
    <p:sldId id="307" r:id="rId4"/>
    <p:sldId id="316" r:id="rId5"/>
    <p:sldId id="317" r:id="rId6"/>
    <p:sldId id="319" r:id="rId7"/>
    <p:sldId id="318" r:id="rId8"/>
    <p:sldId id="324" r:id="rId9"/>
    <p:sldId id="321" r:id="rId10"/>
    <p:sldId id="322" r:id="rId11"/>
    <p:sldId id="323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25" r:id="rId22"/>
    <p:sldId id="335" r:id="rId23"/>
    <p:sldId id="336" r:id="rId24"/>
    <p:sldId id="337" r:id="rId25"/>
    <p:sldId id="342" r:id="rId26"/>
    <p:sldId id="343" r:id="rId27"/>
    <p:sldId id="344" r:id="rId28"/>
    <p:sldId id="345" r:id="rId29"/>
    <p:sldId id="339" r:id="rId30"/>
    <p:sldId id="347" r:id="rId31"/>
    <p:sldId id="346" r:id="rId32"/>
    <p:sldId id="348" r:id="rId33"/>
    <p:sldId id="349" r:id="rId34"/>
    <p:sldId id="350" r:id="rId35"/>
    <p:sldId id="351" r:id="rId36"/>
    <p:sldId id="338" r:id="rId37"/>
    <p:sldId id="352" r:id="rId38"/>
    <p:sldId id="353" r:id="rId39"/>
    <p:sldId id="354" r:id="rId40"/>
    <p:sldId id="355" r:id="rId41"/>
    <p:sldId id="356" r:id="rId42"/>
    <p:sldId id="359" r:id="rId43"/>
    <p:sldId id="360" r:id="rId44"/>
    <p:sldId id="358" r:id="rId45"/>
    <p:sldId id="361" r:id="rId46"/>
    <p:sldId id="362" r:id="rId47"/>
    <p:sldId id="363" r:id="rId48"/>
    <p:sldId id="364" r:id="rId49"/>
    <p:sldId id="365" r:id="rId50"/>
    <p:sldId id="366" r:id="rId51"/>
    <p:sldId id="368" r:id="rId52"/>
    <p:sldId id="369" r:id="rId53"/>
    <p:sldId id="370" r:id="rId54"/>
    <p:sldId id="371" r:id="rId55"/>
    <p:sldId id="372" r:id="rId56"/>
    <p:sldId id="373" r:id="rId57"/>
    <p:sldId id="374" r:id="rId58"/>
    <p:sldId id="375" r:id="rId59"/>
    <p:sldId id="376" r:id="rId60"/>
    <p:sldId id="377" r:id="rId61"/>
    <p:sldId id="357" r:id="rId62"/>
    <p:sldId id="378" r:id="rId63"/>
    <p:sldId id="379" r:id="rId64"/>
    <p:sldId id="380" r:id="rId65"/>
    <p:sldId id="381" r:id="rId66"/>
    <p:sldId id="382" r:id="rId67"/>
    <p:sldId id="383" r:id="rId68"/>
    <p:sldId id="384" r:id="rId69"/>
    <p:sldId id="385" r:id="rId70"/>
    <p:sldId id="386" r:id="rId71"/>
    <p:sldId id="387" r:id="rId72"/>
    <p:sldId id="388" r:id="rId73"/>
    <p:sldId id="389" r:id="rId74"/>
    <p:sldId id="390" r:id="rId75"/>
    <p:sldId id="391" r:id="rId76"/>
    <p:sldId id="392" r:id="rId77"/>
    <p:sldId id="393" r:id="rId78"/>
    <p:sldId id="394" r:id="rId79"/>
    <p:sldId id="395" r:id="rId80"/>
    <p:sldId id="396" r:id="rId81"/>
    <p:sldId id="398" r:id="rId82"/>
    <p:sldId id="399" r:id="rId83"/>
    <p:sldId id="400" r:id="rId84"/>
    <p:sldId id="401" r:id="rId85"/>
    <p:sldId id="402" r:id="rId86"/>
    <p:sldId id="405" r:id="rId87"/>
    <p:sldId id="403" r:id="rId88"/>
    <p:sldId id="404" r:id="rId89"/>
    <p:sldId id="406" r:id="rId90"/>
    <p:sldId id="407" r:id="rId91"/>
    <p:sldId id="408" r:id="rId92"/>
    <p:sldId id="409" r:id="rId93"/>
    <p:sldId id="410" r:id="rId94"/>
    <p:sldId id="411" r:id="rId95"/>
    <p:sldId id="340" r:id="rId96"/>
    <p:sldId id="412" r:id="rId97"/>
    <p:sldId id="315" r:id="rId98"/>
    <p:sldId id="314" r:id="rId9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009"/>
    <a:srgbClr val="000099"/>
    <a:srgbClr val="452603"/>
    <a:srgbClr val="F4D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98" autoAdjust="0"/>
  </p:normalViewPr>
  <p:slideViewPr>
    <p:cSldViewPr showGuides="1">
      <p:cViewPr>
        <p:scale>
          <a:sx n="100" d="100"/>
          <a:sy n="100" d="100"/>
        </p:scale>
        <p:origin x="72" y="126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314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3/25/2023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9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1969 г. - </a:t>
            </a:r>
            <a:r>
              <a:rPr lang="ru-RU" dirty="0" smtClean="0"/>
              <a:t> годината на раждането на Линус Торвалдс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1969 г. - </a:t>
            </a:r>
            <a:r>
              <a:rPr lang="ru-RU" dirty="0" smtClean="0"/>
              <a:t> годината на раждането на Линус Торвалдс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48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ANSI - Американския национален институт по стандартизация</a:t>
            </a:r>
          </a:p>
          <a:p>
            <a:r>
              <a:rPr lang="ru-RU" dirty="0" smtClean="0"/>
              <a:t>ISO - Международна организация по стандартизация.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ANSI - Американския национален институт по стандартизация</a:t>
            </a:r>
          </a:p>
          <a:p>
            <a:r>
              <a:rPr lang="ru-RU" dirty="0" smtClean="0"/>
              <a:t>ISO - Международна организация по стандартизация.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70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ANSI - Американския национален институт по стандартизация</a:t>
            </a:r>
          </a:p>
          <a:p>
            <a:r>
              <a:rPr lang="ru-RU" dirty="0" smtClean="0"/>
              <a:t>ISO - Международна организация по стандартизация.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1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IEEE  - Института на инженерите по електротехника и електроника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http: //www.pasc.org).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24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IEEE  - Института на инженерите по електротехника и електроника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http: //www.pasc.org).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SUSv3</a:t>
            </a:r>
            <a:r>
              <a:rPr lang="bg-BG" dirty="0" smtClean="0"/>
              <a:t> - </a:t>
            </a:r>
            <a:r>
              <a:rPr lang="ru-RU" dirty="0" smtClean="0"/>
              <a:t>Единна </a:t>
            </a:r>
            <a:r>
              <a:rPr lang="en-US" dirty="0" smtClean="0"/>
              <a:t>UNIX </a:t>
            </a:r>
            <a:r>
              <a:rPr lang="ru-RU" dirty="0" smtClean="0"/>
              <a:t>спецификация версия 3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18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GNU - рекурсивно дефиниран акроним, взет от фразата GNU's not UNIX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69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dirty="0" smtClean="0"/>
              <a:t>Многозадачността означава, че множество процеси (т.е. изпълняващи се програми) могат да се намират едновременно в паметта и всеки може да получава използването на процесора(ите). </a:t>
            </a:r>
          </a:p>
          <a:p>
            <a:pPr lvl="0"/>
            <a:r>
              <a:rPr lang="ru-RU" dirty="0" smtClean="0"/>
              <a:t>Превантивно означава, че правилата, управляващи кои процеси получават използването на процесора и за колко време, се определят от планировчика на процеса на ядрото (а не от самите процеси).</a:t>
            </a:r>
            <a:endParaRPr lang="bg-BG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55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22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24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59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40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83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В </a:t>
            </a:r>
            <a:r>
              <a:rPr lang="en-US" dirty="0" smtClean="0"/>
              <a:t>x86-32</a:t>
            </a:r>
            <a:r>
              <a:rPr lang="bg-BG" dirty="0" smtClean="0"/>
              <a:t> има и друг механизъм – използва се инструкцията </a:t>
            </a:r>
            <a:r>
              <a:rPr lang="en-US" dirty="0" smtClean="0"/>
              <a:t>“</a:t>
            </a:r>
            <a:r>
              <a:rPr lang="en-US" dirty="0" err="1" smtClean="0"/>
              <a:t>sysenter</a:t>
            </a:r>
            <a:r>
              <a:rPr lang="en-US" dirty="0" smtClean="0"/>
              <a:t>”</a:t>
            </a:r>
            <a:endParaRPr lang="bg-BG" dirty="0" smtClean="0"/>
          </a:p>
          <a:p>
            <a:r>
              <a:rPr lang="en-US" sz="1200" dirty="0" err="1" smtClean="0"/>
              <a:t>system_call</a:t>
            </a:r>
            <a:r>
              <a:rPr lang="en-US" sz="1200" dirty="0" smtClean="0"/>
              <a:t>() </a:t>
            </a:r>
            <a:r>
              <a:rPr lang="bg-BG" sz="1200" dirty="0" smtClean="0"/>
              <a:t>се </a:t>
            </a:r>
            <a:r>
              <a:rPr lang="ru-RU" sz="1200" dirty="0" smtClean="0"/>
              <a:t>намира във файла за асемблиране arch/i386/entry.S)</a:t>
            </a:r>
            <a:r>
              <a:rPr lang="ru-RU" sz="1600" dirty="0" smtClean="0"/>
              <a:t>, </a:t>
            </a:r>
          </a:p>
          <a:p>
            <a:r>
              <a:rPr lang="ru-RU" sz="1600" dirty="0" smtClean="0"/>
              <a:t>Системната сървисна подпрограма се намира чрез използване на номера на системното повикване за индексиране на таблица с всички рутини за обслужване на системни повиквания (променливата на ядрото sys_call_table).  </a:t>
            </a:r>
            <a:r>
              <a:rPr lang="ru-RU" sz="1200" dirty="0" smtClean="0"/>
              <a:t>Ако процедурата за обслужване на системното повикване има някакви аргументи, тя първо проверява тяхната валидност; например проверява дали адресите сочат към валидни места в потребителската памет. След това обслужващата рутина изпълнява необходимата задача, която може да включва промяна на стойности на адреси, посочени в дадените аргументи, и прехвърляне на данни между потребителската памет и паметта на ядрото (например при входно-изходни операции). Накрая обслужващата рутина връща състояние на резултата на рутината system_call().</a:t>
            </a:r>
            <a:endParaRPr lang="bg-BG" sz="120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33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0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Предназначението на тези функции е много разнообразно и включва такива задачи като отваряне на файл, преобразуване на време в четим от човека формат и сравняване на два символни низа. 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12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Предназначението на тези функции е много разнообразно и включва такива задачи като отваряне на файл, преобразуване на време в четим от човека формат и сравняване на два символни низа. 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89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/>
              <a:t>Много часове време за отстраняване на грешки могат да бъдат загубени, защото не е направена проверка на връщането на състоянието на системно извикване или библиотечна функция, която "не би могла да се провали".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/>
              <a:t>Много часове време за отстраняване на грешки могат да бъдат загубени, защото не е направена проверка на връщането на състоянието на системно извикване или библиотечна функция, която "не би могла да се провали".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5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/>
              <a:t>Много часове време за отстраняване на грешки могат да бъдат загубени, защото не е направена проверка на връщането на състоянието на системно извикване или библиотечна функция, която "не би могла да се провали".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35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33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bg2">
              <a:lumMod val="50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1012" y="6195695"/>
            <a:ext cx="16001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4412" y="6172200"/>
            <a:ext cx="4953000" cy="4311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bg-BG" dirty="0" smtClean="0"/>
              <a:t>Системно програмиране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0812" y="5809005"/>
            <a:ext cx="906705" cy="9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>
              <a:lnSpc>
                <a:spcPct val="100000"/>
              </a:lnSpc>
              <a:spcBef>
                <a:spcPts val="6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/>
          <a:lstStyle/>
          <a:p>
            <a:fld id="{C2C6F8EA-316C-41DE-B9A4-EDCC3A85ED9A}" type="datetimeFigureOut">
              <a:rPr lang="en-US"/>
              <a:t>3/25/2023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961812" y="0"/>
            <a:ext cx="227013" cy="6858000"/>
          </a:xfrm>
          <a:prstGeom prst="rect">
            <a:avLst/>
          </a:prstGeom>
          <a:solidFill>
            <a:schemeClr val="bg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4715" y="0"/>
            <a:ext cx="448089" cy="6858000"/>
          </a:xfrm>
          <a:prstGeom prst="rect">
            <a:avLst/>
          </a:prstGeom>
          <a:solidFill>
            <a:schemeClr val="bg2">
              <a:lumMod val="5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" y="0"/>
            <a:ext cx="227011" cy="6858000"/>
          </a:xfrm>
          <a:prstGeom prst="rect">
            <a:avLst/>
          </a:prstGeom>
          <a:solidFill>
            <a:schemeClr val="bg2">
              <a:lumMod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7013" y="4338"/>
            <a:ext cx="455791" cy="455910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 flipV="1">
            <a:off x="227012" y="0"/>
            <a:ext cx="455792" cy="3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227013" y="460248"/>
            <a:ext cx="45579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227012" y="-3048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811" y="177800"/>
            <a:ext cx="10896541" cy="724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662" y="1143000"/>
            <a:ext cx="1090075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1236" y="6629400"/>
            <a:ext cx="420576" cy="225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1739" y="34237"/>
            <a:ext cx="385848" cy="39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anose="020F0502020204030204" pitchFamily="34" charset="0"/>
          <a:ea typeface="+mj-ea"/>
          <a:cs typeface="+mj-cs"/>
        </a:defRPr>
      </a:lvl1pPr>
    </p:titleStyle>
    <p:bodyStyle>
      <a:lvl1pPr marL="347663" indent="-347663" algn="l" defTabSz="914400" rtl="0" eaLnBrk="1" latinLnBrk="0" hangingPunct="1">
        <a:lnSpc>
          <a:spcPct val="90000"/>
        </a:lnSpc>
        <a:spcBef>
          <a:spcPts val="1400"/>
        </a:spcBef>
        <a:buSzPct val="70000"/>
        <a:buFont typeface="Wingdings" panose="05000000000000000000" pitchFamily="2" charset="2"/>
        <a:buChar char="Ä"/>
        <a:defRPr sz="32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1pPr>
      <a:lvl2pPr marL="741363" indent="-303213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Wingdings" panose="05000000000000000000" pitchFamily="2" charset="2"/>
        <a:buChar char="ü"/>
        <a:defRPr sz="2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300038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Wingdings" panose="05000000000000000000" pitchFamily="2" charset="2"/>
        <a:buChar char="û"/>
        <a:defRPr sz="24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3pPr>
      <a:lvl4pPr marL="1316038" indent="-1920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4pPr>
      <a:lvl5pPr marL="1655763" indent="-1920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l.mtu.edu/cs4411.ck/www/NOTES/process/fork/create.html" TargetMode="External"/><Relationship Id="rId7" Type="http://schemas.openxmlformats.org/officeDocument/2006/relationships/hyperlink" Target="https://blog.purestorage.com/purely-informational/task-vs-process-in-linux/" TargetMode="External"/><Relationship Id="rId2" Type="http://schemas.openxmlformats.org/officeDocument/2006/relationships/hyperlink" Target="http://www.it.uu.se/education/course/homepage/os/vt18/module-2/process-manage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lprocus.com/unix-architecture-and-properties/" TargetMode="External"/><Relationship Id="rId5" Type="http://schemas.openxmlformats.org/officeDocument/2006/relationships/hyperlink" Target="https://www.geeksforgeeks.org/wait-system-call-c/" TargetMode="External"/><Relationship Id="rId4" Type="http://schemas.openxmlformats.org/officeDocument/2006/relationships/hyperlink" Target="https://man7.org/linux/man-pages/man2/fork.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Unix &amp; Linux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5412" y="6329299"/>
            <a:ext cx="4736065" cy="5073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bg-BG" dirty="0" smtClean="0"/>
              <a:t>Системно програмиране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bg-BG" sz="2800" dirty="0" smtClean="0"/>
              <a:t>Както повечето многозадачни ОС, </a:t>
            </a:r>
            <a:r>
              <a:rPr lang="en-US" sz="2800" dirty="0" smtClean="0"/>
              <a:t>Unix </a:t>
            </a:r>
            <a:r>
              <a:rPr lang="ru-RU" sz="2800" dirty="0" smtClean="0"/>
              <a:t>е предназначена да действа като интерфейс </a:t>
            </a:r>
            <a:r>
              <a:rPr lang="ru-RU" sz="2800" dirty="0"/>
              <a:t>между </a:t>
            </a:r>
            <a:r>
              <a:rPr lang="ru-RU" sz="2800" dirty="0" smtClean="0"/>
              <a:t>хардуер </a:t>
            </a:r>
            <a:r>
              <a:rPr lang="ru-RU" sz="2800" dirty="0"/>
              <a:t>и </a:t>
            </a:r>
            <a:r>
              <a:rPr lang="ru-RU" sz="2800" dirty="0" smtClean="0"/>
              <a:t>потребителски софтуер. 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Интерфейсът </a:t>
            </a:r>
            <a:r>
              <a:rPr lang="bg-BG" sz="2400" dirty="0" smtClean="0"/>
              <a:t>реализира </a:t>
            </a:r>
            <a:r>
              <a:rPr lang="ru-RU" sz="2400" dirty="0" smtClean="0"/>
              <a:t>специални </a:t>
            </a:r>
            <a:r>
              <a:rPr lang="ru-RU" sz="2400" dirty="0"/>
              <a:t>системни и приложни програмни интерфейси, предназначени да изпълняват </a:t>
            </a:r>
            <a:r>
              <a:rPr lang="ru-RU" sz="2400" dirty="0" smtClean="0"/>
              <a:t>три основни групи задачи: </a:t>
            </a:r>
            <a:r>
              <a:rPr lang="bg-BG" sz="2400" dirty="0" smtClean="0"/>
              <a:t>управление на процесите,  на паметта и на В/И операции.</a:t>
            </a:r>
          </a:p>
          <a:p>
            <a:pPr>
              <a:spcBef>
                <a:spcPts val="400"/>
              </a:spcBef>
            </a:pPr>
            <a:r>
              <a:rPr lang="ru-RU" sz="2800" dirty="0" smtClean="0"/>
              <a:t>Управление </a:t>
            </a:r>
            <a:r>
              <a:rPr lang="ru-RU" sz="2800" dirty="0"/>
              <a:t>на процесите, което включва следния набор от основни функции: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стартиране</a:t>
            </a:r>
            <a:r>
              <a:rPr lang="ru-RU" sz="2400" dirty="0"/>
              <a:t>, </a:t>
            </a:r>
            <a:r>
              <a:rPr lang="ru-RU" sz="2400" dirty="0" smtClean="0"/>
              <a:t>спиране и </a:t>
            </a:r>
            <a:r>
              <a:rPr lang="ru-RU" sz="2400" dirty="0"/>
              <a:t>премахване на задачата от изпълнение;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задаване и </a:t>
            </a:r>
            <a:r>
              <a:rPr lang="ru-RU" sz="2400" dirty="0"/>
              <a:t>промяна на приоритета на задача;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взаимодействие </a:t>
            </a:r>
            <a:r>
              <a:rPr lang="ru-RU" sz="2400" dirty="0"/>
              <a:t>на задачите помежду си (използвайки механизми на сигнали, семафори, опашки, канали);</a:t>
            </a:r>
          </a:p>
          <a:p>
            <a:pPr lvl="1">
              <a:spcBef>
                <a:spcPts val="400"/>
              </a:spcBef>
            </a:pPr>
            <a:r>
              <a:rPr lang="en-US" sz="2400" dirty="0" smtClean="0"/>
              <a:t>R</a:t>
            </a:r>
            <a:r>
              <a:rPr lang="ru-RU" sz="2400" dirty="0" smtClean="0"/>
              <a:t>PC </a:t>
            </a:r>
            <a:r>
              <a:rPr lang="ru-RU" sz="2400" dirty="0"/>
              <a:t>(remote procedure call) </a:t>
            </a:r>
            <a:r>
              <a:rPr lang="bg-BG" sz="2400" dirty="0" smtClean="0"/>
              <a:t>като технология за </a:t>
            </a:r>
            <a:r>
              <a:rPr lang="ru-RU" sz="2400" dirty="0" smtClean="0"/>
              <a:t>дистанционно </a:t>
            </a:r>
            <a:r>
              <a:rPr lang="ru-RU" sz="2400" dirty="0"/>
              <a:t>извикване на подпрограми.</a:t>
            </a:r>
          </a:p>
          <a:p>
            <a:pPr>
              <a:spcBef>
                <a:spcPts val="400"/>
              </a:spcBef>
            </a:pPr>
            <a:endParaRPr lang="ru-RU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5515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400"/>
              </a:spcBef>
            </a:pPr>
            <a:r>
              <a:rPr lang="bg-BG" sz="2800" dirty="0"/>
              <a:t>Както повечето многозадачни ОС, </a:t>
            </a:r>
            <a:r>
              <a:rPr lang="en-US" sz="2800" dirty="0"/>
              <a:t>Unix </a:t>
            </a:r>
            <a:r>
              <a:rPr lang="ru-RU" sz="2800" dirty="0"/>
              <a:t>е предназначена да действа като интерфейс между хардуер и потребителски софтуер. </a:t>
            </a:r>
          </a:p>
          <a:p>
            <a:pPr lvl="1">
              <a:spcBef>
                <a:spcPts val="400"/>
              </a:spcBef>
            </a:pPr>
            <a:r>
              <a:rPr lang="ru-RU" sz="2400" dirty="0"/>
              <a:t>Интерфейсът </a:t>
            </a:r>
            <a:r>
              <a:rPr lang="bg-BG" sz="2400" dirty="0"/>
              <a:t>реализира </a:t>
            </a:r>
            <a:r>
              <a:rPr lang="ru-RU" sz="2400" dirty="0"/>
              <a:t>специални системни и приложни програмни интерфейси, предназначени да изпълняват три основни групи задачи: </a:t>
            </a:r>
            <a:r>
              <a:rPr lang="bg-BG" sz="2400" dirty="0"/>
              <a:t>управление на процесите,  на паметта и на В/И операции.</a:t>
            </a:r>
          </a:p>
          <a:p>
            <a:pPr>
              <a:spcBef>
                <a:spcPts val="400"/>
              </a:spcBef>
            </a:pPr>
            <a:r>
              <a:rPr lang="ru-RU" sz="2800" dirty="0"/>
              <a:t>Управление на паметта:</a:t>
            </a:r>
          </a:p>
          <a:p>
            <a:pPr lvl="1">
              <a:spcBef>
                <a:spcPts val="400"/>
              </a:spcBef>
            </a:pPr>
            <a:r>
              <a:rPr lang="ru-RU" sz="2400" dirty="0"/>
              <a:t>заявка за разпределяне на блок памет;</a:t>
            </a:r>
          </a:p>
          <a:p>
            <a:pPr lvl="1">
              <a:spcBef>
                <a:spcPts val="400"/>
              </a:spcBef>
            </a:pPr>
            <a:r>
              <a:rPr lang="ru-RU" sz="2400" dirty="0"/>
              <a:t>освобождаване на паметта;</a:t>
            </a:r>
          </a:p>
          <a:p>
            <a:pPr lvl="1">
              <a:spcBef>
                <a:spcPts val="400"/>
              </a:spcBef>
            </a:pPr>
            <a:r>
              <a:rPr lang="ru-RU" sz="2400" dirty="0"/>
              <a:t>промяна на параметрите на блока памет (паметта може да бъде заключена от процеса или споделена);</a:t>
            </a:r>
          </a:p>
          <a:p>
            <a:pPr lvl="1">
              <a:spcBef>
                <a:spcPts val="400"/>
              </a:spcBef>
            </a:pPr>
            <a:r>
              <a:rPr lang="ru-RU" sz="2400" dirty="0"/>
              <a:t>управление на файлове в памет (не е налично за всички версии на </a:t>
            </a:r>
            <a:r>
              <a:rPr lang="en-US" sz="2400" dirty="0"/>
              <a:t>Linux</a:t>
            </a:r>
            <a:r>
              <a:rPr lang="ru-RU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7194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bg-BG" sz="2800" dirty="0" smtClean="0"/>
              <a:t>Както повечето многозадачни ОС, </a:t>
            </a:r>
            <a:r>
              <a:rPr lang="en-US" sz="2800" dirty="0" smtClean="0"/>
              <a:t>Unix </a:t>
            </a:r>
            <a:r>
              <a:rPr lang="ru-RU" sz="2800" dirty="0" smtClean="0"/>
              <a:t>е предназначена да действа като интерфейс </a:t>
            </a:r>
            <a:r>
              <a:rPr lang="ru-RU" sz="2800" dirty="0"/>
              <a:t>между </a:t>
            </a:r>
            <a:r>
              <a:rPr lang="ru-RU" sz="2800" dirty="0" smtClean="0"/>
              <a:t>хардуер </a:t>
            </a:r>
            <a:r>
              <a:rPr lang="ru-RU" sz="2800" dirty="0"/>
              <a:t>и </a:t>
            </a:r>
            <a:r>
              <a:rPr lang="ru-RU" sz="2800" dirty="0" smtClean="0"/>
              <a:t>потребителски софтуер. 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Интерфейсът </a:t>
            </a:r>
            <a:r>
              <a:rPr lang="bg-BG" sz="2400" dirty="0" smtClean="0"/>
              <a:t>реализира </a:t>
            </a:r>
            <a:r>
              <a:rPr lang="ru-RU" sz="2400" dirty="0" smtClean="0"/>
              <a:t>специални </a:t>
            </a:r>
            <a:r>
              <a:rPr lang="ru-RU" sz="2400" dirty="0"/>
              <a:t>системни и приложни програмни интерфейси, предназначени да изпълняват </a:t>
            </a:r>
            <a:r>
              <a:rPr lang="ru-RU" sz="2400" dirty="0" smtClean="0"/>
              <a:t>три основни групи задачи: </a:t>
            </a:r>
            <a:r>
              <a:rPr lang="bg-BG" sz="2400" dirty="0" smtClean="0"/>
              <a:t>управление на процесите,  на паметта и на В/И операции.</a:t>
            </a:r>
          </a:p>
          <a:p>
            <a:pPr>
              <a:spcBef>
                <a:spcPts val="400"/>
              </a:spcBef>
            </a:pPr>
            <a:r>
              <a:rPr lang="ru-RU" sz="2800" dirty="0" smtClean="0"/>
              <a:t>Управление на В/И операции:</a:t>
            </a:r>
            <a:endParaRPr lang="ru-RU" sz="2800" dirty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управление </a:t>
            </a:r>
            <a:r>
              <a:rPr lang="ru-RU" sz="2400" dirty="0"/>
              <a:t>на виртуални устройства (I/O управлението е привилегирована функция на ОС);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файлови подсистеми: заявки </a:t>
            </a:r>
            <a:r>
              <a:rPr lang="ru-RU" sz="2400" dirty="0"/>
              <a:t>към системата за </a:t>
            </a:r>
            <a:r>
              <a:rPr lang="ru-RU" sz="2400" dirty="0" smtClean="0"/>
              <a:t>управление, за </a:t>
            </a:r>
            <a:r>
              <a:rPr lang="ru-RU" sz="2400" dirty="0"/>
              <a:t>създаване, </a:t>
            </a:r>
            <a:r>
              <a:rPr lang="ru-RU" sz="2400" dirty="0" smtClean="0"/>
              <a:t>за модифициране </a:t>
            </a:r>
            <a:r>
              <a:rPr lang="ru-RU" sz="2400" dirty="0"/>
              <a:t>и </a:t>
            </a:r>
            <a:r>
              <a:rPr lang="ru-RU" sz="2400" dirty="0" smtClean="0"/>
              <a:t>за изтриване </a:t>
            </a:r>
            <a:r>
              <a:rPr lang="ru-RU" sz="2400" dirty="0"/>
              <a:t>на файлове</a:t>
            </a:r>
            <a:r>
              <a:rPr lang="ru-RU" sz="2400" dirty="0" smtClean="0"/>
              <a:t>.</a:t>
            </a:r>
            <a:endParaRPr lang="ru-RU" sz="2400" dirty="0"/>
          </a:p>
          <a:p>
            <a:pPr lvl="1">
              <a:spcBef>
                <a:spcPts val="400"/>
              </a:spcBef>
            </a:pPr>
            <a:r>
              <a:rPr lang="ru-RU" sz="2400" dirty="0"/>
              <a:t>Обикновено този интерфейс се нарича ядро ​​(ядро), тъй като има сравнително малък обем и формира основата на ОС. На фиг. Фигура 1.1 е диаграма, показваща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125891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ru-RU" dirty="0"/>
              <a:t>Архитектура на </a:t>
            </a:r>
            <a:r>
              <a:rPr lang="ru-RU" dirty="0" smtClean="0"/>
              <a:t>U</a:t>
            </a:r>
            <a:r>
              <a:rPr lang="en-US" dirty="0" smtClean="0"/>
              <a:t>nix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6481150" cy="54102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400"/>
              </a:spcBef>
            </a:pPr>
            <a:r>
              <a:rPr lang="ru-RU" sz="2800" dirty="0" smtClean="0"/>
              <a:t>Архитектурата </a:t>
            </a:r>
            <a:r>
              <a:rPr lang="ru-RU" sz="2800" dirty="0"/>
              <a:t>на </a:t>
            </a:r>
            <a:r>
              <a:rPr lang="en-US" sz="2800" dirty="0" smtClean="0"/>
              <a:t>Unix e </a:t>
            </a:r>
            <a:r>
              <a:rPr lang="ru-RU" sz="2800" dirty="0" smtClean="0"/>
              <a:t>четирислойна</a:t>
            </a:r>
            <a:r>
              <a:rPr lang="en-US" sz="2800" dirty="0" smtClean="0"/>
              <a:t>:</a:t>
            </a:r>
            <a:r>
              <a:rPr lang="ru-RU" sz="2800" dirty="0" smtClean="0"/>
              <a:t> </a:t>
            </a:r>
            <a:endParaRPr lang="en-US" sz="28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Състои </a:t>
            </a:r>
            <a:r>
              <a:rPr lang="ru-RU" sz="2400" dirty="0"/>
              <a:t>се </a:t>
            </a:r>
            <a:r>
              <a:rPr lang="ru-RU" sz="2400" dirty="0" smtClean="0"/>
              <a:t>от</a:t>
            </a:r>
            <a:r>
              <a:rPr lang="en-US" sz="2400" dirty="0" smtClean="0"/>
              <a:t>:</a:t>
            </a:r>
            <a:r>
              <a:rPr lang="ru-RU" sz="2400" dirty="0" smtClean="0"/>
              <a:t> </a:t>
            </a:r>
            <a:endParaRPr lang="en-US" sz="24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хардуер</a:t>
            </a:r>
            <a:r>
              <a:rPr lang="ru-RU" sz="2000" dirty="0"/>
              <a:t>, 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ядро</a:t>
            </a:r>
            <a:r>
              <a:rPr lang="ru-RU" sz="2000" dirty="0"/>
              <a:t>, 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интерфейс </a:t>
            </a:r>
            <a:r>
              <a:rPr lang="ru-RU" sz="2000" dirty="0"/>
              <a:t>за системно извикване (shell) и 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библиотеки </a:t>
            </a:r>
            <a:r>
              <a:rPr lang="ru-RU" sz="2000" dirty="0"/>
              <a:t>на приложения/инструменти, помощни програми и т.н</a:t>
            </a:r>
            <a:r>
              <a:rPr lang="ru-RU" sz="2000" dirty="0" smtClean="0"/>
              <a:t>....</a:t>
            </a:r>
            <a:endParaRPr lang="en-US" sz="20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Ядрото </a:t>
            </a:r>
            <a:r>
              <a:rPr lang="ru-RU" sz="2400" dirty="0"/>
              <a:t>контролира хардуера на компютъра и се намира в основата на архитектурата. </a:t>
            </a:r>
            <a:endParaRPr lang="en-US" sz="24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Системните </a:t>
            </a:r>
            <a:r>
              <a:rPr lang="ru-RU" sz="2400" dirty="0"/>
              <a:t>повиквания действат като интерфейс между ядрото и други библиотеки. </a:t>
            </a:r>
            <a:endParaRPr lang="en-US" sz="24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Библиотеки</a:t>
            </a:r>
            <a:r>
              <a:rPr lang="en-US" sz="2400" dirty="0" smtClean="0"/>
              <a:t> </a:t>
            </a:r>
            <a:r>
              <a:rPr lang="ru-RU" sz="2400" dirty="0" smtClean="0"/>
              <a:t>включват </a:t>
            </a:r>
            <a:r>
              <a:rPr lang="ru-RU" sz="2400" dirty="0"/>
              <a:t>общи функции и са изградени върху системните извиквания. </a:t>
            </a:r>
            <a:endParaRPr lang="en-US" sz="24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Shell </a:t>
            </a:r>
            <a:r>
              <a:rPr lang="ru-RU" sz="2400" dirty="0"/>
              <a:t>е специално приложение, което предоставя интерфейс към другите приложения на архитектурата.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612" y="3124200"/>
            <a:ext cx="330563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9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ru-RU" dirty="0"/>
              <a:t>Архитектура на </a:t>
            </a:r>
            <a:r>
              <a:rPr lang="ru-RU" dirty="0" smtClean="0"/>
              <a:t>U</a:t>
            </a:r>
            <a:r>
              <a:rPr lang="en-US" dirty="0" smtClean="0"/>
              <a:t>nix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6633550" cy="57150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800" dirty="0" smtClean="0"/>
              <a:t>Архитектурата </a:t>
            </a:r>
            <a:r>
              <a:rPr lang="ru-RU" sz="2800" dirty="0"/>
              <a:t>на </a:t>
            </a:r>
            <a:r>
              <a:rPr lang="en-US" sz="2800" dirty="0" smtClean="0"/>
              <a:t>Unix e </a:t>
            </a:r>
            <a:r>
              <a:rPr lang="ru-RU" sz="2800" dirty="0" smtClean="0"/>
              <a:t>четирислойна</a:t>
            </a:r>
            <a:r>
              <a:rPr lang="en-US" sz="2800" dirty="0" smtClean="0"/>
              <a:t>:</a:t>
            </a:r>
            <a:r>
              <a:rPr lang="ru-RU" sz="2800" dirty="0" smtClean="0"/>
              <a:t> </a:t>
            </a:r>
            <a:endParaRPr lang="en-US" sz="28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400" dirty="0" smtClean="0"/>
              <a:t>O</a:t>
            </a:r>
            <a:r>
              <a:rPr lang="ru-RU" sz="2400" dirty="0" smtClean="0"/>
              <a:t>сновните </a:t>
            </a:r>
            <a:r>
              <a:rPr lang="ru-RU" sz="2400" dirty="0"/>
              <a:t>категории </a:t>
            </a:r>
            <a:r>
              <a:rPr lang="ru-RU" sz="2400" dirty="0" smtClean="0"/>
              <a:t>команди</a:t>
            </a:r>
            <a:endParaRPr lang="en-US" sz="24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„</a:t>
            </a:r>
            <a:r>
              <a:rPr lang="ru-RU" sz="2100" dirty="0"/>
              <a:t>sh“ – команди на обвивката, осигуряващи основен потребителски </a:t>
            </a:r>
            <a:r>
              <a:rPr lang="ru-RU" sz="2100" dirty="0" smtClean="0"/>
              <a:t>интерфейс; </a:t>
            </a:r>
            <a:endParaRPr lang="en-US" sz="21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„системни помощни </a:t>
            </a:r>
            <a:r>
              <a:rPr lang="ru-RU" sz="2100" dirty="0"/>
              <a:t>програми</a:t>
            </a:r>
            <a:r>
              <a:rPr lang="ru-RU" sz="2100" dirty="0" smtClean="0"/>
              <a:t>“ – формират основния </a:t>
            </a:r>
            <a:r>
              <a:rPr lang="ru-RU" sz="2100" dirty="0"/>
              <a:t>набор от инструменти на </a:t>
            </a:r>
            <a:r>
              <a:rPr lang="ru-RU" sz="2100" dirty="0" smtClean="0"/>
              <a:t>Unix; </a:t>
            </a:r>
            <a:endParaRPr lang="en-US" sz="21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„административни инструменти“; и</a:t>
            </a:r>
            <a:endParaRPr lang="en-US" sz="21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100" dirty="0"/>
              <a:t>„</a:t>
            </a:r>
            <a:r>
              <a:rPr lang="ru-RU" sz="2100" dirty="0" smtClean="0"/>
              <a:t>потребителски </a:t>
            </a:r>
            <a:r>
              <a:rPr lang="ru-RU" sz="2100" dirty="0"/>
              <a:t>помощни </a:t>
            </a:r>
            <a:r>
              <a:rPr lang="ru-RU" sz="2100" dirty="0" smtClean="0"/>
              <a:t>програми</a:t>
            </a:r>
            <a:r>
              <a:rPr lang="ru-RU" sz="2100" dirty="0"/>
              <a:t>“</a:t>
            </a:r>
            <a:r>
              <a:rPr lang="ru-RU" sz="2100" dirty="0" smtClean="0"/>
              <a:t> </a:t>
            </a:r>
            <a:r>
              <a:rPr lang="en-US" sz="2100" dirty="0" smtClean="0"/>
              <a:t>– </a:t>
            </a:r>
            <a:r>
              <a:rPr lang="bg-BG" sz="2100" dirty="0" smtClean="0"/>
              <a:t>това са</a:t>
            </a:r>
            <a:r>
              <a:rPr lang="ru-RU" sz="2100" dirty="0" smtClean="0"/>
              <a:t> </a:t>
            </a:r>
            <a:r>
              <a:rPr lang="ru-RU" sz="2100" dirty="0"/>
              <a:t>инструменти за управление на </a:t>
            </a:r>
            <a:r>
              <a:rPr lang="ru-RU" sz="2100" dirty="0" smtClean="0"/>
              <a:t>средата.</a:t>
            </a:r>
            <a:endParaRPr lang="ru-RU" sz="21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Освен </a:t>
            </a:r>
            <a:r>
              <a:rPr lang="ru-RU" sz="2400" dirty="0"/>
              <a:t>това има команди за приложения с общо предназначение, </a:t>
            </a:r>
            <a:r>
              <a:rPr lang="ru-RU" sz="2400" dirty="0" smtClean="0"/>
              <a:t>например като въвеждане и форматиране </a:t>
            </a:r>
            <a:r>
              <a:rPr lang="ru-RU" sz="2400" dirty="0"/>
              <a:t>на </a:t>
            </a:r>
            <a:r>
              <a:rPr lang="ru-RU" sz="2400" dirty="0" smtClean="0"/>
              <a:t>документи.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Някои </a:t>
            </a:r>
            <a:r>
              <a:rPr lang="ru-RU" sz="2400" dirty="0"/>
              <a:t>Unix системи </a:t>
            </a:r>
            <a:r>
              <a:rPr lang="ru-RU" sz="2400" dirty="0" smtClean="0"/>
              <a:t>включват допълнителни пакети </a:t>
            </a:r>
            <a:r>
              <a:rPr lang="ru-RU" sz="2400" dirty="0"/>
              <a:t>като TeX и Ghostscript. </a:t>
            </a:r>
            <a:endParaRPr lang="ru-RU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Има възможност </a:t>
            </a:r>
            <a:r>
              <a:rPr lang="ru-RU" sz="2400" dirty="0"/>
              <a:t>за създаване на независими от устройството прости векторни диаграми. </a:t>
            </a:r>
            <a:endParaRPr lang="ru-RU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Поддържа се </a:t>
            </a:r>
            <a:r>
              <a:rPr lang="ru-RU" sz="2400" dirty="0"/>
              <a:t>междусистемна комуникация, както и комуникация между </a:t>
            </a:r>
            <a:r>
              <a:rPr lang="ru-RU" sz="2400" dirty="0" smtClean="0"/>
              <a:t>потребители.</a:t>
            </a:r>
            <a:endParaRPr lang="ru-R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102" y="1371600"/>
            <a:ext cx="39642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4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612" y="3971479"/>
            <a:ext cx="3960000" cy="25314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на U</a:t>
            </a:r>
            <a:r>
              <a:rPr lang="en-US" dirty="0"/>
              <a:t>nix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Както всяка ОС, </a:t>
            </a:r>
            <a:r>
              <a:rPr lang="en-US" dirty="0" smtClean="0"/>
              <a:t>Unix </a:t>
            </a:r>
            <a:r>
              <a:rPr lang="bg-BG" dirty="0" smtClean="0"/>
              <a:t>осигурява механизъм за </a:t>
            </a:r>
            <a:r>
              <a:rPr lang="ru-RU" dirty="0" smtClean="0"/>
              <a:t>приложните </a:t>
            </a:r>
            <a:r>
              <a:rPr lang="ru-RU" dirty="0"/>
              <a:t>програми </a:t>
            </a:r>
            <a:r>
              <a:rPr lang="ru-RU" dirty="0" smtClean="0"/>
              <a:t>за </a:t>
            </a:r>
            <a:r>
              <a:rPr lang="ru-RU" dirty="0"/>
              <a:t>достъп до системни услуги. </a:t>
            </a:r>
            <a:endParaRPr lang="ru-RU" dirty="0" smtClean="0"/>
          </a:p>
          <a:p>
            <a:pPr lvl="1"/>
            <a:r>
              <a:rPr lang="ru-RU" dirty="0" smtClean="0"/>
              <a:t>Всички </a:t>
            </a:r>
            <a:r>
              <a:rPr lang="ru-RU" dirty="0"/>
              <a:t>реализации на UNIX имат строго определен брой входни точки към ядрото, които се наричат ​​системни </a:t>
            </a:r>
            <a:r>
              <a:rPr lang="ru-RU" dirty="0" smtClean="0"/>
              <a:t>извиквания (англ. </a:t>
            </a:r>
            <a:r>
              <a:rPr lang="en-US" dirty="0" smtClean="0"/>
              <a:t>System calls</a:t>
            </a:r>
            <a:r>
              <a:rPr lang="ru-RU" dirty="0" smtClean="0"/>
              <a:t>): FreeBSD </a:t>
            </a:r>
            <a:r>
              <a:rPr lang="ru-RU" dirty="0"/>
              <a:t>8.0 има над </a:t>
            </a:r>
            <a:r>
              <a:rPr lang="ru-RU" dirty="0" smtClean="0"/>
              <a:t>450</a:t>
            </a:r>
            <a:r>
              <a:rPr lang="en-US" dirty="0" smtClean="0"/>
              <a:t>, </a:t>
            </a:r>
            <a:r>
              <a:rPr lang="bg-BG" dirty="0" smtClean="0"/>
              <a:t>докато </a:t>
            </a:r>
            <a:r>
              <a:rPr lang="ru-RU" dirty="0" smtClean="0"/>
              <a:t>Linux с </a:t>
            </a:r>
            <a:r>
              <a:rPr lang="ru-RU" dirty="0"/>
              <a:t>версия на ядрото 3.2.0 има </a:t>
            </a:r>
            <a:r>
              <a:rPr lang="ru-RU" dirty="0" smtClean="0"/>
              <a:t>380.</a:t>
            </a:r>
          </a:p>
          <a:p>
            <a:pPr lvl="1"/>
            <a:r>
              <a:rPr lang="ru-RU" dirty="0" smtClean="0"/>
              <a:t>Механизъм за реализация</a:t>
            </a: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212" y="3971478"/>
            <a:ext cx="3960000" cy="253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4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</a:t>
            </a:r>
            <a:r>
              <a:rPr lang="bg-BG" dirty="0" smtClean="0"/>
              <a:t>характеристики </a:t>
            </a:r>
            <a:r>
              <a:rPr lang="ru-RU" dirty="0"/>
              <a:t>на </a:t>
            </a:r>
            <a:r>
              <a:rPr lang="ru-RU" dirty="0" smtClean="0"/>
              <a:t>U</a:t>
            </a:r>
            <a:r>
              <a:rPr lang="en-US" dirty="0" smtClean="0"/>
              <a:t>nix</a:t>
            </a:r>
            <a:r>
              <a:rPr lang="ru-RU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Многопотребителски </a:t>
            </a:r>
            <a:r>
              <a:rPr lang="ru-RU" sz="2800" dirty="0" smtClean="0"/>
              <a:t>достъп</a:t>
            </a:r>
            <a:endParaRPr lang="en-US" sz="2800" dirty="0" smtClean="0"/>
          </a:p>
          <a:p>
            <a:pPr lvl="1"/>
            <a:r>
              <a:rPr lang="ru-RU" sz="2400" dirty="0" smtClean="0"/>
              <a:t>Множество </a:t>
            </a:r>
            <a:r>
              <a:rPr lang="ru-RU" sz="2400" dirty="0"/>
              <a:t>потребители могат да работят в системата едновременно чрез свързване през точка, известна като терминал.</a:t>
            </a:r>
          </a:p>
          <a:p>
            <a:r>
              <a:rPr lang="ru-RU" sz="2800" dirty="0" smtClean="0"/>
              <a:t>Многозадачност</a:t>
            </a:r>
            <a:endParaRPr lang="en-US" sz="2800" dirty="0" smtClean="0"/>
          </a:p>
          <a:p>
            <a:pPr lvl="1"/>
            <a:r>
              <a:rPr lang="ru-RU" sz="2400" dirty="0" smtClean="0"/>
              <a:t>Осигурява </a:t>
            </a:r>
            <a:r>
              <a:rPr lang="ru-RU" sz="2400" dirty="0"/>
              <a:t>възможност за стартиране на множество програми или процеси от множество потребители в една система.</a:t>
            </a:r>
          </a:p>
          <a:p>
            <a:r>
              <a:rPr lang="ru-RU" sz="2800" dirty="0" smtClean="0"/>
              <a:t>Преносимост</a:t>
            </a:r>
            <a:endParaRPr lang="en-US" sz="2800" dirty="0" smtClean="0"/>
          </a:p>
          <a:p>
            <a:pPr lvl="1"/>
            <a:r>
              <a:rPr lang="ru-RU" sz="2400" dirty="0" smtClean="0"/>
              <a:t>Осигурява </a:t>
            </a:r>
            <a:r>
              <a:rPr lang="ru-RU" sz="2400" dirty="0"/>
              <a:t>гъвкавост за използване на множество хардуерни архитектури. </a:t>
            </a:r>
            <a:endParaRPr lang="en-US" sz="2400" dirty="0" smtClean="0"/>
          </a:p>
          <a:p>
            <a:pPr lvl="1"/>
            <a:r>
              <a:rPr lang="ru-RU" sz="2400" dirty="0" smtClean="0"/>
              <a:t>Тъй </a:t>
            </a:r>
            <a:r>
              <a:rPr lang="ru-RU" sz="2400" dirty="0"/>
              <a:t>като използва език от високо ниво, е лесно да се разбере и модифицира Unix кодът според хардуерната архитектура на компютъра. </a:t>
            </a:r>
            <a:endParaRPr lang="en-US" sz="2400" dirty="0" smtClean="0"/>
          </a:p>
          <a:p>
            <a:pPr lvl="2"/>
            <a:r>
              <a:rPr lang="ru-RU" sz="2000" dirty="0" smtClean="0"/>
              <a:t>По </a:t>
            </a:r>
            <a:r>
              <a:rPr lang="ru-RU" sz="2000" dirty="0"/>
              <a:t>този начин, за да работи върху нова хардуерна архитектура, потребителят трябва просто да модифицира Unix кода и да стартира в системата</a:t>
            </a:r>
            <a:r>
              <a:rPr lang="ru-RU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828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</a:t>
            </a:r>
            <a:r>
              <a:rPr lang="bg-BG" dirty="0" smtClean="0"/>
              <a:t>характеристики </a:t>
            </a:r>
            <a:r>
              <a:rPr lang="ru-RU" dirty="0"/>
              <a:t>на </a:t>
            </a:r>
            <a:r>
              <a:rPr lang="ru-RU" dirty="0" smtClean="0"/>
              <a:t>U</a:t>
            </a:r>
            <a:r>
              <a:rPr lang="en-US" dirty="0" smtClean="0"/>
              <a:t>nix</a:t>
            </a:r>
            <a:r>
              <a:rPr lang="ru-RU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Процеси</a:t>
            </a:r>
            <a:endParaRPr lang="en-US" sz="2800" dirty="0" smtClean="0"/>
          </a:p>
          <a:p>
            <a:pPr lvl="1"/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Процесите</a:t>
            </a:r>
            <a:r>
              <a:rPr lang="ru-RU" sz="2400" dirty="0"/>
              <a:t> са изпълнението на програмите или файловете. </a:t>
            </a:r>
          </a:p>
          <a:p>
            <a:r>
              <a:rPr lang="ru-RU" sz="2800" dirty="0"/>
              <a:t>Файлова подсистема</a:t>
            </a:r>
          </a:p>
          <a:p>
            <a:pPr lvl="1"/>
            <a:r>
              <a:rPr lang="ru-RU" sz="2400" dirty="0" smtClean="0"/>
              <a:t>Лесна поддръжка на файловете</a:t>
            </a:r>
          </a:p>
          <a:p>
            <a:pPr lvl="1"/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Файловете</a:t>
            </a:r>
            <a:r>
              <a:rPr lang="ru-RU" sz="2400" dirty="0" smtClean="0"/>
              <a:t> са множество от данни, записани от потребителя като същност (англ. </a:t>
            </a:r>
            <a:r>
              <a:rPr lang="en-US" sz="2400" dirty="0" smtClean="0"/>
              <a:t>entity) </a:t>
            </a:r>
            <a:r>
              <a:rPr lang="bg-BG" sz="2400" dirty="0" smtClean="0"/>
              <a:t>със собствено уникално име.</a:t>
            </a:r>
            <a:r>
              <a:rPr lang="ru-RU" sz="2400" dirty="0" smtClean="0"/>
              <a:t> </a:t>
            </a:r>
            <a:endParaRPr lang="en-US" sz="2400" dirty="0" smtClean="0"/>
          </a:p>
          <a:p>
            <a:pPr lvl="2"/>
            <a:r>
              <a:rPr lang="ru-RU" sz="2000" dirty="0" smtClean="0"/>
              <a:t>Включва </a:t>
            </a:r>
            <a:r>
              <a:rPr lang="ru-RU" sz="2000" dirty="0"/>
              <a:t>документи, инструкции за програмиране и т.н. </a:t>
            </a:r>
            <a:endParaRPr lang="en-US" sz="2000" dirty="0" smtClean="0"/>
          </a:p>
          <a:p>
            <a:pPr lvl="2"/>
            <a:r>
              <a:rPr lang="ru-RU" sz="2000" dirty="0" smtClean="0"/>
              <a:t>Файлова</a:t>
            </a:r>
            <a:r>
              <a:rPr lang="bg-BG" sz="2000" dirty="0" smtClean="0"/>
              <a:t>та </a:t>
            </a:r>
            <a:r>
              <a:rPr lang="ru-RU" sz="2000" dirty="0" smtClean="0"/>
              <a:t>структура е йерархична с дървовидна структура, като започва </a:t>
            </a:r>
            <a:r>
              <a:rPr lang="ru-RU" sz="2000" dirty="0"/>
              <a:t>с основна </a:t>
            </a:r>
            <a:r>
              <a:rPr lang="ru-RU" sz="2000" dirty="0" smtClean="0"/>
              <a:t>директория (англ. </a:t>
            </a:r>
            <a:r>
              <a:rPr lang="en-US" sz="2000" dirty="0" smtClean="0"/>
              <a:t>Root)</a:t>
            </a:r>
            <a:r>
              <a:rPr lang="ru-RU" sz="2000" dirty="0" smtClean="0"/>
              <a:t>, </a:t>
            </a:r>
            <a:r>
              <a:rPr lang="ru-RU" sz="2000" dirty="0"/>
              <a:t>последвана от поддиректориите, </a:t>
            </a:r>
            <a:r>
              <a:rPr lang="ru-RU" sz="2000" dirty="0" smtClean="0"/>
              <a:t>докато завърши с файловете в най-долната поддиректория.</a:t>
            </a:r>
          </a:p>
          <a:p>
            <a:r>
              <a:rPr lang="ru-RU" sz="2800" dirty="0"/>
              <a:t>Има голямо разнообразие от инструменти за разработка на софтуер и поддръжка на софтуер</a:t>
            </a:r>
            <a:r>
              <a:rPr lang="ru-RU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293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</a:t>
            </a:r>
            <a:r>
              <a:rPr lang="bg-BG" dirty="0" smtClean="0"/>
              <a:t>характеристики </a:t>
            </a:r>
            <a:r>
              <a:rPr lang="ru-RU" dirty="0"/>
              <a:t>на </a:t>
            </a:r>
            <a:r>
              <a:rPr lang="ru-RU" dirty="0" smtClean="0"/>
              <a:t>U</a:t>
            </a:r>
            <a:r>
              <a:rPr lang="en-US" dirty="0" smtClean="0"/>
              <a:t>nix</a:t>
            </a:r>
            <a:r>
              <a:rPr lang="ru-RU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Комуникация</a:t>
            </a:r>
          </a:p>
          <a:p>
            <a:pPr lvl="1"/>
            <a:r>
              <a:rPr lang="ru-RU" sz="2400" dirty="0" smtClean="0"/>
              <a:t>Заявките </a:t>
            </a:r>
            <a:r>
              <a:rPr lang="ru-RU" sz="2400" dirty="0"/>
              <a:t>и командите, дадени от потребителя, се изпълняват от ядрото и обвивката заедно. </a:t>
            </a:r>
            <a:endParaRPr lang="ru-RU" sz="2400" dirty="0" smtClean="0"/>
          </a:p>
          <a:p>
            <a:pPr lvl="1"/>
            <a:r>
              <a:rPr lang="ru-RU" sz="2400" dirty="0" smtClean="0"/>
              <a:t>Потребителят </a:t>
            </a:r>
            <a:r>
              <a:rPr lang="ru-RU" sz="2400" dirty="0"/>
              <a:t>комуникира със системата с помощта на Shell. </a:t>
            </a:r>
            <a:endParaRPr lang="ru-RU" sz="2400" dirty="0" smtClean="0"/>
          </a:p>
          <a:p>
            <a:pPr lvl="1"/>
            <a:r>
              <a:rPr lang="ru-RU" sz="2400" dirty="0" smtClean="0"/>
              <a:t>Осигурява се </a:t>
            </a:r>
            <a:r>
              <a:rPr lang="ru-RU" sz="2400" dirty="0"/>
              <a:t>междусистемна комуникация чрез </a:t>
            </a:r>
            <a:r>
              <a:rPr lang="ru-RU" sz="2400" dirty="0" smtClean="0"/>
              <a:t>UUCP</a:t>
            </a:r>
          </a:p>
          <a:p>
            <a:pPr lvl="1"/>
            <a:r>
              <a:rPr lang="ru-RU" sz="2400" dirty="0" smtClean="0"/>
              <a:t>Използва се TCP/IP </a:t>
            </a:r>
            <a:r>
              <a:rPr lang="ru-RU" sz="2400" dirty="0"/>
              <a:t>протокола.</a:t>
            </a:r>
          </a:p>
          <a:p>
            <a:pPr lvl="1"/>
            <a:r>
              <a:rPr lang="ru-RU" sz="2400" dirty="0" smtClean="0"/>
              <a:t>Реализирани са канали </a:t>
            </a:r>
            <a:r>
              <a:rPr lang="ru-RU" sz="2400" dirty="0"/>
              <a:t>и филтри на потребителя за проектиране на сложни програми от прости </a:t>
            </a:r>
            <a:r>
              <a:rPr lang="ru-RU" sz="2400" dirty="0" smtClean="0"/>
              <a:t>програми</a:t>
            </a:r>
            <a:r>
              <a:rPr lang="ru-RU" sz="2400" dirty="0"/>
              <a:t>.</a:t>
            </a:r>
          </a:p>
          <a:p>
            <a:r>
              <a:rPr lang="ru-RU" sz="2800" dirty="0"/>
              <a:t>Unix дава на потребителя гъвкавостта да променя кода на </a:t>
            </a:r>
            <a:r>
              <a:rPr lang="ru-RU" sz="2800" dirty="0" smtClean="0"/>
              <a:t>ОС според </a:t>
            </a:r>
            <a:r>
              <a:rPr lang="ru-RU" sz="2800" dirty="0"/>
              <a:t>техните изисквания. </a:t>
            </a:r>
            <a:endParaRPr lang="ru-RU" sz="2800" dirty="0" smtClean="0"/>
          </a:p>
          <a:p>
            <a:pPr lvl="1"/>
            <a:r>
              <a:rPr lang="ru-RU" sz="2400" dirty="0" smtClean="0"/>
              <a:t>По </a:t>
            </a:r>
            <a:r>
              <a:rPr lang="ru-RU" sz="2400" dirty="0"/>
              <a:t>този начин е лесно да пренесете Unix кода на различни видове хардуер.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53723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История на </a:t>
            </a:r>
            <a:r>
              <a:rPr lang="en-US" dirty="0" smtClean="0"/>
              <a:t>Unix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sz="2800" dirty="0" smtClean="0"/>
              <a:t>Първата версия </a:t>
            </a:r>
            <a:r>
              <a:rPr lang="ru-RU" sz="2800" dirty="0"/>
              <a:t>на UNIX е </a:t>
            </a:r>
            <a:r>
              <a:rPr lang="ru-RU" sz="2800" dirty="0" smtClean="0"/>
              <a:t>създадена през </a:t>
            </a:r>
            <a:r>
              <a:rPr lang="ru-RU" sz="2800" dirty="0"/>
              <a:t>1969 г</a:t>
            </a:r>
            <a:r>
              <a:rPr lang="ru-RU" sz="2800" dirty="0" smtClean="0"/>
              <a:t>. </a:t>
            </a:r>
            <a:r>
              <a:rPr lang="ru-RU" sz="2800" dirty="0"/>
              <a:t>от Кен Томпсън в Bell </a:t>
            </a:r>
            <a:r>
              <a:rPr lang="ru-RU" sz="2800" dirty="0" smtClean="0"/>
              <a:t>Laboratories</a:t>
            </a:r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Подразделение на корпорация </a:t>
            </a:r>
            <a:r>
              <a:rPr lang="ru-RU" sz="2400" dirty="0"/>
              <a:t>AT&amp;T. </a:t>
            </a:r>
            <a:endParaRPr lang="ru-RU" sz="2400" dirty="0" smtClean="0"/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Тази </a:t>
            </a:r>
            <a:r>
              <a:rPr lang="ru-RU" sz="2400" dirty="0"/>
              <a:t>реализация е написана на асемблер за миникомпютъра Digital PDP-7. </a:t>
            </a:r>
            <a:endParaRPr lang="ru-RU" sz="2400" dirty="0" smtClean="0"/>
          </a:p>
          <a:p>
            <a:pPr>
              <a:lnSpc>
                <a:spcPct val="110000"/>
              </a:lnSpc>
            </a:pPr>
            <a:r>
              <a:rPr lang="ru-RU" sz="2800" dirty="0" smtClean="0"/>
              <a:t>До </a:t>
            </a:r>
            <a:r>
              <a:rPr lang="ru-RU" sz="2800" dirty="0"/>
              <a:t>1973 г. езикът C вече беше доведен до състояние, което направи възможно почти пълното пренаписване на ядрото на UNIX в него. </a:t>
            </a:r>
            <a:endParaRPr lang="ru-RU" sz="2800" dirty="0" smtClean="0"/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Така </a:t>
            </a:r>
            <a:r>
              <a:rPr lang="ru-RU" sz="2400" dirty="0"/>
              <a:t>UNIX стана една от най-ранните </a:t>
            </a:r>
            <a:r>
              <a:rPr lang="ru-RU" sz="2400" dirty="0" smtClean="0"/>
              <a:t>ОС, </a:t>
            </a:r>
            <a:r>
              <a:rPr lang="ru-RU" sz="2400" dirty="0"/>
              <a:t>написани на език от високо </a:t>
            </a:r>
            <a:r>
              <a:rPr lang="ru-RU" sz="2400" dirty="0" smtClean="0"/>
              <a:t>ниво – това позволява </a:t>
            </a:r>
            <a:r>
              <a:rPr lang="en-US" sz="2400" dirty="0" smtClean="0"/>
              <a:t>Unix</a:t>
            </a:r>
            <a:r>
              <a:rPr lang="bg-BG" sz="2400" dirty="0" smtClean="0"/>
              <a:t> </a:t>
            </a:r>
            <a:r>
              <a:rPr lang="ru-RU" sz="2400" dirty="0" smtClean="0"/>
              <a:t>по-късно да </a:t>
            </a:r>
            <a:r>
              <a:rPr lang="ru-RU" sz="2400" dirty="0"/>
              <a:t>бъде </a:t>
            </a:r>
            <a:r>
              <a:rPr lang="ru-RU" sz="2400" dirty="0" smtClean="0"/>
              <a:t>пренесена </a:t>
            </a:r>
            <a:r>
              <a:rPr lang="ru-RU" sz="2400" dirty="0"/>
              <a:t>към други хардуерни </a:t>
            </a:r>
            <a:r>
              <a:rPr lang="ru-RU" sz="2400" dirty="0" smtClean="0"/>
              <a:t>платформи.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 </a:t>
            </a:r>
            <a:r>
              <a:rPr lang="en-US" sz="2800" dirty="0" smtClean="0"/>
              <a:t>UNIX</a:t>
            </a:r>
            <a:r>
              <a:rPr lang="bg-BG" sz="2800" dirty="0" smtClean="0"/>
              <a:t> </a:t>
            </a:r>
            <a:r>
              <a:rPr lang="en-US" sz="2800" dirty="0" smtClean="0"/>
              <a:t>BSD</a:t>
            </a:r>
            <a:endParaRPr lang="bg-BG" sz="2800" dirty="0" smtClean="0"/>
          </a:p>
          <a:p>
            <a:pPr lvl="1">
              <a:lnSpc>
                <a:spcPct val="110000"/>
              </a:lnSpc>
            </a:pPr>
            <a:r>
              <a:rPr lang="en-US" sz="2400" dirty="0"/>
              <a:t>BSD</a:t>
            </a:r>
            <a:r>
              <a:rPr lang="bg-BG" sz="2400" dirty="0"/>
              <a:t> – </a:t>
            </a:r>
            <a:r>
              <a:rPr lang="en-US" sz="2400" dirty="0"/>
              <a:t>Berkeley</a:t>
            </a:r>
            <a:r>
              <a:rPr lang="bg-BG" sz="2400" dirty="0"/>
              <a:t> </a:t>
            </a:r>
            <a:r>
              <a:rPr lang="en-US" sz="2400" dirty="0"/>
              <a:t>Software </a:t>
            </a:r>
            <a:r>
              <a:rPr lang="en-US" sz="2400" dirty="0" smtClean="0"/>
              <a:t>Distribution</a:t>
            </a:r>
            <a:endParaRPr lang="bg-BG" sz="2400" dirty="0" smtClean="0"/>
          </a:p>
          <a:p>
            <a:pPr lvl="2">
              <a:lnSpc>
                <a:spcPct val="110000"/>
              </a:lnSpc>
            </a:pPr>
            <a:r>
              <a:rPr lang="bg-BG" sz="2000" dirty="0"/>
              <a:t>Т</a:t>
            </a:r>
            <a:r>
              <a:rPr lang="bg-BG" sz="2000" dirty="0" smtClean="0"/>
              <a:t>ова е версия на </a:t>
            </a:r>
            <a:r>
              <a:rPr lang="en-US" sz="2000" dirty="0" smtClean="0"/>
              <a:t>UNIX</a:t>
            </a:r>
            <a:r>
              <a:rPr lang="en-US" sz="2000" dirty="0"/>
              <a:t>, </a:t>
            </a:r>
            <a:r>
              <a:rPr lang="bg-BG" sz="2000" dirty="0"/>
              <a:t>която </a:t>
            </a:r>
            <a:r>
              <a:rPr lang="bg-BG" sz="2000" dirty="0" smtClean="0"/>
              <a:t>включва </a:t>
            </a:r>
            <a:r>
              <a:rPr lang="bg-BG" sz="2000" dirty="0"/>
              <a:t>собствен изходен </a:t>
            </a:r>
            <a:r>
              <a:rPr lang="bg-BG" sz="2000" dirty="0" smtClean="0"/>
              <a:t>код</a:t>
            </a:r>
          </a:p>
          <a:p>
            <a:pPr lvl="1">
              <a:lnSpc>
                <a:spcPct val="110000"/>
              </a:lnSpc>
            </a:pPr>
            <a:r>
              <a:rPr lang="bg-BG" sz="2400" dirty="0" smtClean="0"/>
              <a:t>Първата </a:t>
            </a:r>
            <a:r>
              <a:rPr lang="bg-BG" sz="2400" dirty="0"/>
              <a:t>пълна </a:t>
            </a:r>
            <a:r>
              <a:rPr lang="bg-BG" sz="2400" dirty="0" smtClean="0"/>
              <a:t>дистрибуция е 3</a:t>
            </a:r>
            <a:r>
              <a:rPr lang="en-US" sz="2400" dirty="0" smtClean="0"/>
              <a:t>BSD</a:t>
            </a:r>
            <a:r>
              <a:rPr lang="bg-BG" sz="2400" dirty="0" smtClean="0"/>
              <a:t> (</a:t>
            </a:r>
            <a:r>
              <a:rPr lang="bg-BG" sz="2400" dirty="0"/>
              <a:t>декември 1979 г</a:t>
            </a:r>
            <a:r>
              <a:rPr lang="bg-BG" sz="2400" dirty="0" smtClean="0"/>
              <a:t>.)</a:t>
            </a:r>
            <a:r>
              <a:rPr lang="en-US" sz="2400" dirty="0" smtClean="0"/>
              <a:t>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17204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История на </a:t>
            </a:r>
            <a:r>
              <a:rPr lang="en-US" dirty="0" smtClean="0"/>
              <a:t>Unix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sz="2800" dirty="0" smtClean="0"/>
              <a:t>UNIX </a:t>
            </a:r>
            <a:r>
              <a:rPr lang="ru-RU" sz="2800" dirty="0"/>
              <a:t>System III </a:t>
            </a:r>
            <a:r>
              <a:rPr lang="ru-RU" sz="2800" dirty="0" smtClean="0"/>
              <a:t>(</a:t>
            </a:r>
            <a:r>
              <a:rPr lang="ru-RU" sz="2800" dirty="0"/>
              <a:t>1981 </a:t>
            </a:r>
            <a:r>
              <a:rPr lang="ru-RU" sz="2800" dirty="0" smtClean="0"/>
              <a:t>г.) </a:t>
            </a:r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Тази </a:t>
            </a:r>
            <a:r>
              <a:rPr lang="ru-RU" sz="2400" dirty="0"/>
              <a:t>версия е създадена от UNIX Support Group (USG) на AT&amp;T.</a:t>
            </a:r>
          </a:p>
          <a:p>
            <a:pPr>
              <a:lnSpc>
                <a:spcPct val="110000"/>
              </a:lnSpc>
            </a:pPr>
            <a:r>
              <a:rPr lang="ru-RU" sz="2800" dirty="0" smtClean="0"/>
              <a:t>UNIX </a:t>
            </a:r>
            <a:r>
              <a:rPr lang="ru-RU" sz="2800" dirty="0"/>
              <a:t>System V </a:t>
            </a:r>
            <a:r>
              <a:rPr lang="ru-RU" sz="2800" dirty="0" smtClean="0"/>
              <a:t>(1983 </a:t>
            </a:r>
            <a:r>
              <a:rPr lang="ru-RU" sz="2800" dirty="0"/>
              <a:t>г</a:t>
            </a:r>
            <a:r>
              <a:rPr lang="ru-RU" sz="2800" dirty="0" smtClean="0"/>
              <a:t>.</a:t>
            </a:r>
            <a:r>
              <a:rPr lang="bg-BG" sz="2800" dirty="0"/>
              <a:t>)</a:t>
            </a:r>
            <a:r>
              <a:rPr lang="ru-RU" sz="2800" dirty="0" smtClean="0"/>
              <a:t> </a:t>
            </a:r>
          </a:p>
          <a:p>
            <a:pPr lvl="1">
              <a:lnSpc>
                <a:spcPct val="110000"/>
              </a:lnSpc>
            </a:pPr>
            <a:r>
              <a:rPr lang="ru-RU" sz="2400" dirty="0"/>
              <a:t>System V е лицензиран за много търговски доставчици, които са използвали тази версия като основа за свои собствени внедрявания на UNIX.</a:t>
            </a:r>
          </a:p>
          <a:p>
            <a:pPr>
              <a:lnSpc>
                <a:spcPct val="110000"/>
              </a:lnSpc>
            </a:pPr>
            <a:r>
              <a:rPr lang="ru-RU" sz="2800" dirty="0" smtClean="0"/>
              <a:t>System </a:t>
            </a:r>
            <a:r>
              <a:rPr lang="ru-RU" sz="2800" dirty="0"/>
              <a:t>V Release 4 (SVR4) </a:t>
            </a:r>
            <a:endParaRPr lang="ru-RU" sz="2800" dirty="0" smtClean="0"/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Излиа през </a:t>
            </a:r>
            <a:r>
              <a:rPr lang="ru-RU" sz="2400" dirty="0"/>
              <a:t>1989 г</a:t>
            </a:r>
            <a:r>
              <a:rPr lang="ru-RU" sz="2400" dirty="0" smtClean="0"/>
              <a:t>.</a:t>
            </a:r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много </a:t>
            </a:r>
            <a:r>
              <a:rPr lang="ru-RU" sz="2400" dirty="0"/>
              <a:t>функции от BSD бяха пренесени в System V, включително мрежови обекти. </a:t>
            </a:r>
            <a:endParaRPr lang="ru-RU" sz="2400" dirty="0" smtClean="0"/>
          </a:p>
          <a:p>
            <a:pPr>
              <a:lnSpc>
                <a:spcPct val="110000"/>
              </a:lnSpc>
            </a:pPr>
            <a:r>
              <a:rPr lang="ru-RU" sz="2800" dirty="0" smtClean="0"/>
              <a:t>Поради </a:t>
            </a:r>
            <a:r>
              <a:rPr lang="ru-RU" sz="2800" dirty="0"/>
              <a:t>голямото разнообразие от реализации на </a:t>
            </a:r>
            <a:r>
              <a:rPr lang="ru-RU" sz="2800" dirty="0" smtClean="0"/>
              <a:t>UNIX се появява нуждата от стандартизация.</a:t>
            </a:r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Основно базирани на BSD  </a:t>
            </a:r>
            <a:r>
              <a:rPr lang="ru-RU" sz="2400" dirty="0"/>
              <a:t>и на System </a:t>
            </a:r>
            <a:r>
              <a:rPr lang="ru-RU" sz="2400" dirty="0" smtClean="0"/>
              <a:t>V</a:t>
            </a:r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Това затруднява пренасянето на </a:t>
            </a:r>
            <a:r>
              <a:rPr lang="ru-RU" sz="2400" dirty="0"/>
              <a:t>софтуерни продукти от една UNIX реализация в друга</a:t>
            </a:r>
            <a:r>
              <a:rPr lang="ru-RU" sz="2400" dirty="0" smtClean="0"/>
              <a:t>.</a:t>
            </a:r>
            <a:endParaRPr lang="ru-RU" sz="2400" dirty="0"/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Езика C става основен за UNIX системи и това улесня пренася </a:t>
            </a:r>
            <a:r>
              <a:rPr lang="ru-RU" sz="2400" dirty="0"/>
              <a:t>на </a:t>
            </a:r>
            <a:r>
              <a:rPr lang="ru-RU" sz="2400" dirty="0" smtClean="0"/>
              <a:t>софтуер.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70766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Език за програмиране „</a:t>
            </a:r>
            <a:r>
              <a:rPr lang="en-US" dirty="0" smtClean="0"/>
              <a:t>C</a:t>
            </a:r>
            <a:r>
              <a:rPr lang="bg-BG" dirty="0" smtClean="0"/>
              <a:t>“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 smtClean="0"/>
              <a:t>През 1978 </a:t>
            </a:r>
            <a:r>
              <a:rPr lang="ru-RU" sz="2800" dirty="0"/>
              <a:t>г. Kernighan и Ritchie </a:t>
            </a:r>
            <a:r>
              <a:rPr lang="ru-RU" sz="2800" dirty="0" smtClean="0"/>
              <a:t>публикуват книгата «The </a:t>
            </a:r>
            <a:r>
              <a:rPr lang="ru-RU" sz="2800" dirty="0"/>
              <a:t>C Programming Language». </a:t>
            </a:r>
            <a:endParaRPr lang="ru-RU" sz="2800" dirty="0" smtClean="0"/>
          </a:p>
          <a:p>
            <a:pPr lvl="1"/>
            <a:r>
              <a:rPr lang="ru-RU" sz="2400" dirty="0" smtClean="0"/>
              <a:t>Това е стандарта </a:t>
            </a:r>
            <a:r>
              <a:rPr lang="ru-RU" sz="2400" dirty="0"/>
              <a:t>за езика C, на който е написано UINX </a:t>
            </a:r>
            <a:r>
              <a:rPr lang="ru-RU" sz="2400" dirty="0" smtClean="0"/>
              <a:t>ядрото.</a:t>
            </a:r>
          </a:p>
          <a:p>
            <a:pPr lvl="1"/>
            <a:r>
              <a:rPr lang="ru-RU" sz="2400" dirty="0" smtClean="0"/>
              <a:t>Второто </a:t>
            </a:r>
            <a:r>
              <a:rPr lang="ru-RU" sz="2400" dirty="0"/>
              <a:t>издание на «The C Programming Language» (1988</a:t>
            </a:r>
            <a:r>
              <a:rPr lang="ru-RU" sz="2400" dirty="0" smtClean="0"/>
              <a:t>) представлява описание на </a:t>
            </a:r>
            <a:r>
              <a:rPr lang="en-US" sz="2400" dirty="0" smtClean="0"/>
              <a:t>ANSI </a:t>
            </a:r>
            <a:r>
              <a:rPr lang="bg-BG" sz="2400" dirty="0" smtClean="0"/>
              <a:t>стандарта за езика </a:t>
            </a:r>
            <a:r>
              <a:rPr lang="en-US" sz="2400" dirty="0" smtClean="0"/>
              <a:t>C.</a:t>
            </a:r>
            <a:endParaRPr lang="bg-BG" sz="2400" dirty="0"/>
          </a:p>
          <a:p>
            <a:r>
              <a:rPr lang="ru-RU" sz="2800" dirty="0" smtClean="0"/>
              <a:t>През 1985 </a:t>
            </a:r>
            <a:r>
              <a:rPr lang="ru-RU" sz="2800" dirty="0"/>
              <a:t>г. </a:t>
            </a:r>
            <a:r>
              <a:rPr lang="ru-RU" sz="2800" dirty="0" smtClean="0"/>
              <a:t> </a:t>
            </a:r>
            <a:r>
              <a:rPr lang="bg-BG" sz="2800" dirty="0" smtClean="0"/>
              <a:t>се</a:t>
            </a:r>
            <a:r>
              <a:rPr lang="ru-RU" sz="2800" dirty="0" smtClean="0"/>
              <a:t> поява езика </a:t>
            </a:r>
            <a:r>
              <a:rPr lang="ru-RU" sz="2800" dirty="0"/>
              <a:t>C++ </a:t>
            </a:r>
            <a:r>
              <a:rPr lang="ru-RU" sz="2800" dirty="0" smtClean="0"/>
              <a:t>и това дава основания за обмислянето на специфични </a:t>
            </a:r>
            <a:r>
              <a:rPr lang="ru-RU" sz="2800" dirty="0"/>
              <a:t>подобрения и </a:t>
            </a:r>
            <a:r>
              <a:rPr lang="ru-RU" sz="2800" dirty="0" smtClean="0"/>
              <a:t>допълнения на езика C</a:t>
            </a:r>
            <a:r>
              <a:rPr lang="ru-RU" sz="2800" dirty="0"/>
              <a:t>, без да се нарушава съвместимостта със съществуващите програми. </a:t>
            </a:r>
            <a:endParaRPr lang="ru-RU" sz="2800" dirty="0" smtClean="0"/>
          </a:p>
          <a:p>
            <a:pPr lvl="1"/>
            <a:r>
              <a:rPr lang="ru-RU" sz="2400" dirty="0" smtClean="0"/>
              <a:t>прототипи </a:t>
            </a:r>
            <a:r>
              <a:rPr lang="ru-RU" sz="2400" dirty="0"/>
              <a:t>на </a:t>
            </a:r>
            <a:r>
              <a:rPr lang="ru-RU" sz="2400" dirty="0" smtClean="0"/>
              <a:t>функции</a:t>
            </a:r>
            <a:r>
              <a:rPr lang="ru-RU" sz="2400" dirty="0"/>
              <a:t>;</a:t>
            </a:r>
            <a:endParaRPr lang="ru-RU" sz="2400" dirty="0" smtClean="0"/>
          </a:p>
          <a:p>
            <a:pPr lvl="1"/>
            <a:r>
              <a:rPr lang="ru-RU" sz="2400" dirty="0" smtClean="0"/>
              <a:t>присвоявания </a:t>
            </a:r>
            <a:r>
              <a:rPr lang="ru-RU" sz="2400" dirty="0"/>
              <a:t>на </a:t>
            </a:r>
            <a:r>
              <a:rPr lang="ru-RU" sz="2400" dirty="0" smtClean="0"/>
              <a:t>структури; </a:t>
            </a:r>
          </a:p>
          <a:p>
            <a:pPr lvl="1"/>
            <a:r>
              <a:rPr lang="ru-RU" sz="2400" dirty="0" smtClean="0"/>
              <a:t>спецификатори </a:t>
            </a:r>
            <a:r>
              <a:rPr lang="ru-RU" sz="2400" dirty="0"/>
              <a:t>на типове (const и volatile</a:t>
            </a:r>
            <a:r>
              <a:rPr lang="ru-RU" sz="2400" dirty="0" smtClean="0"/>
              <a:t>); </a:t>
            </a:r>
          </a:p>
          <a:p>
            <a:pPr lvl="1"/>
            <a:r>
              <a:rPr lang="ru-RU" sz="2400" dirty="0" smtClean="0"/>
              <a:t>изброими типове; </a:t>
            </a:r>
            <a:r>
              <a:rPr lang="ru-RU" sz="2400" dirty="0"/>
              <a:t>и </a:t>
            </a:r>
            <a:endParaRPr lang="ru-RU" sz="2400" dirty="0" smtClean="0"/>
          </a:p>
          <a:p>
            <a:pPr lvl="1"/>
            <a:r>
              <a:rPr lang="ru-RU" sz="2400" dirty="0" smtClean="0"/>
              <a:t>ключовата </a:t>
            </a:r>
            <a:r>
              <a:rPr lang="ru-RU" sz="2400" dirty="0"/>
              <a:t>дума void.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161295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Език за програмиране „</a:t>
            </a:r>
            <a:r>
              <a:rPr lang="en-US" dirty="0" smtClean="0"/>
              <a:t>C</a:t>
            </a:r>
            <a:r>
              <a:rPr lang="bg-BG" dirty="0" smtClean="0"/>
              <a:t>“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Стандартизация на </a:t>
            </a:r>
            <a:r>
              <a:rPr lang="ru-RU" dirty="0"/>
              <a:t>езика </a:t>
            </a:r>
            <a:r>
              <a:rPr lang="ru-RU" dirty="0" smtClean="0"/>
              <a:t>C </a:t>
            </a:r>
          </a:p>
          <a:p>
            <a:pPr lvl="1"/>
            <a:r>
              <a:rPr lang="ru-RU" dirty="0" smtClean="0"/>
              <a:t>C89</a:t>
            </a:r>
            <a:r>
              <a:rPr lang="en-US" dirty="0" smtClean="0"/>
              <a:t> </a:t>
            </a:r>
            <a:r>
              <a:rPr lang="ru-RU" dirty="0" smtClean="0"/>
              <a:t>(</a:t>
            </a:r>
            <a:r>
              <a:rPr lang="ru-RU" dirty="0"/>
              <a:t>много </a:t>
            </a:r>
            <a:r>
              <a:rPr lang="ru-RU" dirty="0" smtClean="0"/>
              <a:t>по-рядко ISO C90)</a:t>
            </a:r>
          </a:p>
          <a:p>
            <a:pPr lvl="2"/>
            <a:r>
              <a:rPr lang="ru-RU" dirty="0" smtClean="0"/>
              <a:t>През 1989 </a:t>
            </a:r>
            <a:r>
              <a:rPr lang="ru-RU" dirty="0"/>
              <a:t>г. </a:t>
            </a:r>
            <a:r>
              <a:rPr lang="ru-RU" dirty="0" smtClean="0"/>
              <a:t>е одобрен </a:t>
            </a:r>
            <a:r>
              <a:rPr lang="ru-RU" dirty="0"/>
              <a:t>от </a:t>
            </a:r>
            <a:r>
              <a:rPr lang="ru-RU" dirty="0" smtClean="0"/>
              <a:t>ANSI-стандарта </a:t>
            </a:r>
            <a:r>
              <a:rPr lang="ru-RU" dirty="0"/>
              <a:t>за език C (X3.159-1989</a:t>
            </a:r>
            <a:r>
              <a:rPr lang="ru-RU" dirty="0" smtClean="0"/>
              <a:t>)</a:t>
            </a:r>
          </a:p>
          <a:p>
            <a:pPr lvl="2"/>
            <a:r>
              <a:rPr lang="ru-RU" dirty="0" smtClean="0"/>
              <a:t>През 1990 </a:t>
            </a:r>
            <a:r>
              <a:rPr lang="ru-RU" dirty="0"/>
              <a:t>г. </a:t>
            </a:r>
            <a:r>
              <a:rPr lang="ru-RU" dirty="0" smtClean="0"/>
              <a:t>този стандарт е приет и от ISO (ISO</a:t>
            </a:r>
            <a:r>
              <a:rPr lang="ru-RU" dirty="0"/>
              <a:t>/ IEC 9899:1990) </a:t>
            </a:r>
            <a:endParaRPr lang="ru-RU" dirty="0" smtClean="0"/>
          </a:p>
          <a:p>
            <a:pPr lvl="2"/>
            <a:r>
              <a:rPr lang="ru-RU" dirty="0" smtClean="0"/>
              <a:t>Заедно </a:t>
            </a:r>
            <a:r>
              <a:rPr lang="ru-RU" dirty="0"/>
              <a:t>с дефинирането на синтаксиса и семантиката на езика C, този стандарт предостави описание на стандартната библиотека на C, включително функции на stdio, функции за обработка на низове, математически функции, различни заглавни файлове и т.н. </a:t>
            </a:r>
            <a:endParaRPr lang="ru-RU" dirty="0" smtClean="0"/>
          </a:p>
          <a:p>
            <a:pPr lvl="2"/>
            <a:r>
              <a:rPr lang="ru-RU" dirty="0" smtClean="0"/>
              <a:t>Това е версията на езика </a:t>
            </a:r>
            <a:r>
              <a:rPr lang="en-US" dirty="0" smtClean="0"/>
              <a:t>C</a:t>
            </a:r>
            <a:r>
              <a:rPr lang="ru-RU" dirty="0" smtClean="0"/>
              <a:t>, описана във </a:t>
            </a:r>
            <a:r>
              <a:rPr lang="ru-RU" dirty="0"/>
              <a:t>второто </a:t>
            </a:r>
            <a:r>
              <a:rPr lang="ru-RU" dirty="0" smtClean="0"/>
              <a:t>издание на </a:t>
            </a:r>
            <a:r>
              <a:rPr lang="ru-RU" dirty="0"/>
              <a:t>«The C Programming Language» </a:t>
            </a:r>
            <a:r>
              <a:rPr lang="ru-RU" dirty="0" smtClean="0"/>
              <a:t>(</a:t>
            </a:r>
            <a:r>
              <a:rPr lang="ru-RU" dirty="0"/>
              <a:t>1988</a:t>
            </a:r>
            <a:r>
              <a:rPr lang="ru-RU" dirty="0" smtClean="0"/>
              <a:t>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8406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Език за програмиране „</a:t>
            </a:r>
            <a:r>
              <a:rPr lang="en-US" dirty="0" smtClean="0"/>
              <a:t>C</a:t>
            </a:r>
            <a:r>
              <a:rPr lang="bg-BG" dirty="0" smtClean="0"/>
              <a:t>“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Стандартизация на </a:t>
            </a:r>
            <a:r>
              <a:rPr lang="ru-RU" dirty="0"/>
              <a:t>езика </a:t>
            </a:r>
            <a:r>
              <a:rPr lang="ru-RU" dirty="0" smtClean="0"/>
              <a:t>C </a:t>
            </a:r>
          </a:p>
          <a:p>
            <a:pPr lvl="1"/>
            <a:r>
              <a:rPr lang="ru-RU" dirty="0" smtClean="0"/>
              <a:t>C99</a:t>
            </a:r>
          </a:p>
          <a:p>
            <a:pPr lvl="2"/>
            <a:r>
              <a:rPr lang="ru-RU" dirty="0" smtClean="0"/>
              <a:t>Това е ревизираната версия  на </a:t>
            </a:r>
            <a:r>
              <a:rPr lang="ru-RU" dirty="0"/>
              <a:t>стандарта за език </a:t>
            </a:r>
            <a:r>
              <a:rPr lang="ru-RU" dirty="0" smtClean="0"/>
              <a:t>C, която е приета от ISO </a:t>
            </a:r>
            <a:r>
              <a:rPr lang="ru-RU" dirty="0"/>
              <a:t>през 1999 г. </a:t>
            </a:r>
            <a:endParaRPr lang="ru-RU" dirty="0" smtClean="0"/>
          </a:p>
          <a:p>
            <a:pPr lvl="2"/>
            <a:r>
              <a:rPr lang="ru-RU" dirty="0" smtClean="0"/>
              <a:t>Включва няколко </a:t>
            </a:r>
            <a:r>
              <a:rPr lang="ru-RU" dirty="0"/>
              <a:t>промени в езика и неговата стандартна </a:t>
            </a:r>
            <a:r>
              <a:rPr lang="ru-RU" dirty="0" smtClean="0"/>
              <a:t>библиотека: появява се типове </a:t>
            </a:r>
            <a:r>
              <a:rPr lang="en-US" dirty="0" smtClean="0"/>
              <a:t>long </a:t>
            </a:r>
            <a:r>
              <a:rPr lang="en-US" dirty="0" err="1" smtClean="0"/>
              <a:t>long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dirty="0" smtClean="0"/>
              <a:t>Boolean;</a:t>
            </a:r>
            <a:r>
              <a:rPr lang="ru-RU" dirty="0" smtClean="0"/>
              <a:t> </a:t>
            </a:r>
            <a:r>
              <a:rPr lang="bg-BG" dirty="0" smtClean="0"/>
              <a:t>редови </a:t>
            </a:r>
            <a:r>
              <a:rPr lang="ru-RU" dirty="0" smtClean="0"/>
              <a:t>на </a:t>
            </a:r>
            <a:r>
              <a:rPr lang="ru-RU" dirty="0"/>
              <a:t>коментар </a:t>
            </a:r>
            <a:r>
              <a:rPr lang="ru-RU" dirty="0" smtClean="0"/>
              <a:t>(//) като в </a:t>
            </a:r>
            <a:r>
              <a:rPr lang="en-US" dirty="0" smtClean="0"/>
              <a:t>C++;</a:t>
            </a:r>
            <a:r>
              <a:rPr lang="ru-RU" dirty="0" smtClean="0"/>
              <a:t> масиви </a:t>
            </a:r>
            <a:r>
              <a:rPr lang="ru-RU" dirty="0"/>
              <a:t>с променлива </a:t>
            </a:r>
            <a:r>
              <a:rPr lang="ru-RU" dirty="0" smtClean="0"/>
              <a:t>дължина</a:t>
            </a:r>
            <a:r>
              <a:rPr lang="en-US" dirty="0" smtClean="0"/>
              <a:t> </a:t>
            </a:r>
            <a:r>
              <a:rPr lang="bg-BG" dirty="0" smtClean="0"/>
              <a:t>и други</a:t>
            </a:r>
            <a:r>
              <a:rPr lang="ru-RU" dirty="0" smtClean="0"/>
              <a:t>.</a:t>
            </a:r>
            <a:endParaRPr lang="ru-RU" dirty="0"/>
          </a:p>
          <a:p>
            <a:pPr lvl="2"/>
            <a:r>
              <a:rPr lang="ru-RU" dirty="0"/>
              <a:t>В исторически план C89 често се нарича ANSI C и това име все още понякога се използва в този </a:t>
            </a:r>
            <a:r>
              <a:rPr lang="ru-RU" dirty="0" smtClean="0"/>
              <a:t>смисъл: след </a:t>
            </a:r>
            <a:r>
              <a:rPr lang="ru-RU" dirty="0"/>
              <a:t>като комитетът ANSI прие преработената версия на C99, би било правилно да се смята, че стандартът ANSI C трябва да се нарича C99.</a:t>
            </a:r>
          </a:p>
          <a:p>
            <a:pPr lvl="1"/>
            <a:r>
              <a:rPr lang="ru-RU" dirty="0"/>
              <a:t>Стандартите на езика C са независими от </a:t>
            </a:r>
            <a:r>
              <a:rPr lang="ru-RU" dirty="0" smtClean="0"/>
              <a:t>ОС, </a:t>
            </a:r>
            <a:r>
              <a:rPr lang="ru-RU" dirty="0"/>
              <a:t>т.е. не са обвързани със системата UNIX. </a:t>
            </a:r>
            <a:endParaRPr lang="ru-RU" dirty="0" smtClean="0"/>
          </a:p>
          <a:p>
            <a:pPr lvl="2"/>
            <a:r>
              <a:rPr lang="ru-RU" dirty="0" smtClean="0"/>
              <a:t>Това </a:t>
            </a:r>
            <a:r>
              <a:rPr lang="ru-RU" dirty="0"/>
              <a:t>означава, че програмите на C, написани само със стандартната библиотека на C, трябва да бъдат пренесени към всеки компютър и операционна система, които осигуряват реализация на езика C.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418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Стандарти </a:t>
            </a:r>
            <a:r>
              <a:rPr lang="en-US" dirty="0" smtClean="0"/>
              <a:t>POSIX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Терминът </a:t>
            </a:r>
            <a:r>
              <a:rPr lang="ru-RU" dirty="0" smtClean="0"/>
              <a:t>POSIX се </a:t>
            </a:r>
            <a:r>
              <a:rPr lang="ru-RU" dirty="0"/>
              <a:t>отнася до група стандарти, разработени под ръководството на </a:t>
            </a:r>
            <a:r>
              <a:rPr lang="ru-RU" dirty="0" smtClean="0"/>
              <a:t>IEEE, </a:t>
            </a:r>
            <a:r>
              <a:rPr lang="ru-RU" dirty="0"/>
              <a:t>и по-конкретно, неговия Комитет за стандарти за преносими приложения (PASC). </a:t>
            </a:r>
            <a:r>
              <a:rPr lang="ru-RU" dirty="0" smtClean="0"/>
              <a:t> </a:t>
            </a:r>
          </a:p>
          <a:p>
            <a:pPr lvl="1"/>
            <a:r>
              <a:rPr lang="ru-RU" dirty="0"/>
              <a:t>POSIX </a:t>
            </a:r>
            <a:r>
              <a:rPr lang="ru-RU" dirty="0" smtClean="0"/>
              <a:t>- Portable </a:t>
            </a:r>
            <a:r>
              <a:rPr lang="ru-RU" dirty="0"/>
              <a:t>Operating System </a:t>
            </a:r>
            <a:r>
              <a:rPr lang="ru-RU" dirty="0" smtClean="0"/>
              <a:t>Interface</a:t>
            </a:r>
          </a:p>
          <a:p>
            <a:pPr lvl="2"/>
            <a:r>
              <a:rPr lang="ru-RU" dirty="0" smtClean="0"/>
              <a:t>Целта </a:t>
            </a:r>
            <a:r>
              <a:rPr lang="ru-RU" dirty="0"/>
              <a:t>на стандартите PASC е да насърчат преносимостта на приложенията на ниво изходен код. </a:t>
            </a:r>
            <a:endParaRPr lang="ru-RU" dirty="0" smtClean="0"/>
          </a:p>
          <a:p>
            <a:pPr lvl="2"/>
            <a:r>
              <a:rPr lang="ru-RU" dirty="0" smtClean="0"/>
              <a:t>Последният </a:t>
            </a:r>
            <a:r>
              <a:rPr lang="ru-RU" dirty="0"/>
              <a:t>X се появи, защото имената на повечето варианти на UNIX завършваха на X.</a:t>
            </a:r>
          </a:p>
          <a:p>
            <a:r>
              <a:rPr lang="ru-RU" dirty="0"/>
              <a:t>POSIX.1 стана стандарт на IEEE през 1988 г. </a:t>
            </a:r>
            <a:endParaRPr lang="ru-RU" dirty="0" smtClean="0"/>
          </a:p>
          <a:p>
            <a:pPr lvl="1"/>
            <a:r>
              <a:rPr lang="ru-RU" dirty="0" smtClean="0"/>
              <a:t>След няколко </a:t>
            </a:r>
            <a:r>
              <a:rPr lang="ru-RU" dirty="0"/>
              <a:t>ревизии беше приет като ISO стандарт през 1990 г. (ISO/IEC 9945-1:1990). </a:t>
            </a:r>
            <a:endParaRPr lang="ru-RU" dirty="0" smtClean="0"/>
          </a:p>
          <a:p>
            <a:pPr lvl="1"/>
            <a:r>
              <a:rPr lang="ru-RU" dirty="0" smtClean="0"/>
              <a:t>Стандартът дефинира интерфейс </a:t>
            </a:r>
            <a:r>
              <a:rPr lang="ru-RU" dirty="0"/>
              <a:t>за програмиране на приложения (API) за набор от услуги, които трябва да бъдат достъпни за C програмите, но не изисква някаква конкретна реализация, която да бъде свързана с интерфейса. </a:t>
            </a:r>
            <a:endParaRPr lang="ru-RU" dirty="0" smtClean="0"/>
          </a:p>
          <a:p>
            <a:pPr lvl="2"/>
            <a:r>
              <a:rPr lang="ru-RU" dirty="0" smtClean="0"/>
              <a:t>Това </a:t>
            </a:r>
            <a:r>
              <a:rPr lang="ru-RU" dirty="0"/>
              <a:t>означава, че интерфейсът може да бъде реализиран от всяка операционна система, не непременно UNIX. </a:t>
            </a:r>
            <a:endParaRPr lang="ru-RU" dirty="0" smtClean="0"/>
          </a:p>
          <a:p>
            <a:pPr lvl="1"/>
            <a:r>
              <a:rPr lang="ru-RU" dirty="0" smtClean="0"/>
              <a:t>Операционна </a:t>
            </a:r>
            <a:r>
              <a:rPr lang="ru-RU" dirty="0"/>
              <a:t>система, която може да се справи с тази задача, може да бъде сертифицирана за съвместима с POSIX.1.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6327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Стандарти </a:t>
            </a:r>
            <a:r>
              <a:rPr lang="en-US" dirty="0" smtClean="0"/>
              <a:t>POSIX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Развитие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IEEE </a:t>
            </a:r>
            <a:r>
              <a:rPr lang="en-US" sz="2000" dirty="0"/>
              <a:t>POSIX 1003.1c (POSIX.1c</a:t>
            </a:r>
            <a:r>
              <a:rPr lang="en-US" sz="2000" dirty="0" smtClean="0"/>
              <a:t>)</a:t>
            </a:r>
            <a:r>
              <a:rPr lang="bg-BG" sz="2000" dirty="0" smtClean="0"/>
              <a:t> е</a:t>
            </a:r>
            <a:r>
              <a:rPr lang="en-US" sz="2000" dirty="0" smtClean="0"/>
              <a:t> </a:t>
            </a:r>
            <a:r>
              <a:rPr lang="ru-RU" sz="2000" dirty="0"/>
              <a:t>одобрен през 1995 г</a:t>
            </a:r>
            <a:r>
              <a:rPr lang="ru-RU" sz="2000" dirty="0" smtClean="0"/>
              <a:t>. </a:t>
            </a:r>
            <a:r>
              <a:rPr lang="bg-BG" sz="2000" dirty="0"/>
              <a:t>и</a:t>
            </a:r>
            <a:r>
              <a:rPr lang="ru-RU" sz="2000" dirty="0" smtClean="0"/>
              <a:t>  </a:t>
            </a:r>
            <a:r>
              <a:rPr lang="ru-RU" sz="2000" dirty="0"/>
              <a:t>дефинира </a:t>
            </a:r>
            <a:r>
              <a:rPr lang="ru-RU" sz="2000" dirty="0" smtClean="0"/>
              <a:t>«нишките» </a:t>
            </a:r>
            <a:r>
              <a:rPr lang="ru-RU" sz="2000" dirty="0"/>
              <a:t>в </a:t>
            </a:r>
            <a:r>
              <a:rPr lang="en-US" sz="2000" dirty="0"/>
              <a:t>POSIX</a:t>
            </a:r>
            <a:r>
              <a:rPr lang="en-US" sz="2000" dirty="0" smtClean="0"/>
              <a:t>.</a:t>
            </a:r>
            <a:endParaRPr lang="bg-BG" sz="20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IEEE </a:t>
            </a:r>
            <a:r>
              <a:rPr lang="en-US" sz="2000" dirty="0"/>
              <a:t>POSIX 1003.1g (</a:t>
            </a:r>
            <a:r>
              <a:rPr lang="en-US" sz="2000" dirty="0" err="1"/>
              <a:t>POSIX.lg</a:t>
            </a:r>
            <a:r>
              <a:rPr lang="en-US" sz="2000" dirty="0"/>
              <a:t>) </a:t>
            </a:r>
            <a:r>
              <a:rPr lang="ru-RU" sz="2000" dirty="0"/>
              <a:t>дефинира </a:t>
            </a:r>
            <a:r>
              <a:rPr lang="en-US" sz="2000" dirty="0"/>
              <a:t>API </a:t>
            </a:r>
            <a:r>
              <a:rPr lang="ru-RU" sz="2000" dirty="0"/>
              <a:t>за работа в мрежа, включително сокети</a:t>
            </a:r>
            <a:r>
              <a:rPr lang="ru-RU" sz="2000" dirty="0" smtClean="0"/>
              <a:t>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IEEE </a:t>
            </a:r>
            <a:r>
              <a:rPr lang="en-US" sz="2000" dirty="0"/>
              <a:t>POSIX 1003.Id (</a:t>
            </a:r>
            <a:r>
              <a:rPr lang="en-US" sz="2000" dirty="0" err="1"/>
              <a:t>POSIX.Id</a:t>
            </a:r>
            <a:r>
              <a:rPr lang="en-US" sz="2000" dirty="0" smtClean="0"/>
              <a:t>)</a:t>
            </a:r>
            <a:r>
              <a:rPr lang="ru-RU" sz="2000" dirty="0"/>
              <a:t> дефинират допълнителни разширения в реално време към основния стандарт </a:t>
            </a:r>
            <a:r>
              <a:rPr lang="en-US" sz="2000" dirty="0"/>
              <a:t>POSIX.</a:t>
            </a:r>
            <a:endParaRPr lang="bg-BG" sz="20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POSIX 1003.Id </a:t>
            </a:r>
            <a:r>
              <a:rPr lang="bg-BG" sz="2000" dirty="0" smtClean="0"/>
              <a:t>е </a:t>
            </a:r>
            <a:r>
              <a:rPr lang="ru-RU" sz="2000" dirty="0" smtClean="0"/>
              <a:t>одобрен </a:t>
            </a:r>
            <a:r>
              <a:rPr lang="ru-RU" sz="2000" dirty="0"/>
              <a:t>през 1999 </a:t>
            </a:r>
            <a:r>
              <a:rPr lang="ru-RU" sz="2000" dirty="0" smtClean="0"/>
              <a:t>г.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000" dirty="0" err="1" smtClean="0"/>
              <a:t>POSIX.lj</a:t>
            </a:r>
            <a:r>
              <a:rPr lang="bg-BG" sz="2000" dirty="0" smtClean="0"/>
              <a:t> е </a:t>
            </a:r>
            <a:r>
              <a:rPr lang="ru-RU" sz="2000" dirty="0" smtClean="0"/>
              <a:t>одобрен </a:t>
            </a:r>
            <a:r>
              <a:rPr lang="ru-RU" sz="2000" dirty="0"/>
              <a:t>през 2000 г</a:t>
            </a:r>
            <a:r>
              <a:rPr lang="ru-RU" sz="2000" dirty="0" smtClean="0"/>
              <a:t>. </a:t>
            </a:r>
            <a:endParaRPr lang="bg-BG" sz="20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През </a:t>
            </a:r>
            <a:r>
              <a:rPr lang="ru-RU" sz="2400" dirty="0"/>
              <a:t>декември 2001 г. беше одобрен </a:t>
            </a:r>
            <a:r>
              <a:rPr lang="en-US" sz="2400" dirty="0"/>
              <a:t>POSIX </a:t>
            </a:r>
            <a:r>
              <a:rPr lang="en-US" sz="2400" dirty="0" smtClean="0"/>
              <a:t>1003.1-2001</a:t>
            </a:r>
            <a:endParaRPr lang="bg-BG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Този </a:t>
            </a:r>
            <a:r>
              <a:rPr lang="ru-RU" sz="2400" dirty="0"/>
              <a:t>стандарт е известен също като </a:t>
            </a:r>
            <a:r>
              <a:rPr lang="en-US" sz="2400" dirty="0" smtClean="0"/>
              <a:t>SUSv3</a:t>
            </a:r>
            <a:r>
              <a:rPr lang="bg-BG" sz="2400" dirty="0" smtClean="0"/>
              <a:t> (п</a:t>
            </a:r>
            <a:r>
              <a:rPr lang="ru-RU" sz="2400" dirty="0" smtClean="0"/>
              <a:t>онякога </a:t>
            </a:r>
            <a:r>
              <a:rPr lang="en-US" sz="2400" dirty="0" smtClean="0"/>
              <a:t>POSIX.1-2001</a:t>
            </a:r>
            <a:r>
              <a:rPr lang="bg-BG" sz="2400" dirty="0" smtClean="0"/>
              <a:t>)</a:t>
            </a:r>
            <a:r>
              <a:rPr lang="en-US" sz="2400" dirty="0" smtClean="0"/>
              <a:t>.</a:t>
            </a:r>
            <a:endParaRPr lang="bg-BG" sz="2400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1800" dirty="0" smtClean="0"/>
              <a:t>SUSv3 </a:t>
            </a:r>
            <a:r>
              <a:rPr lang="ru-RU" sz="1800" dirty="0"/>
              <a:t>включва </a:t>
            </a:r>
            <a:r>
              <a:rPr lang="ru-RU" sz="1800" dirty="0" smtClean="0"/>
              <a:t>и спецификацията </a:t>
            </a:r>
            <a:r>
              <a:rPr lang="ru-RU" sz="1800" dirty="0"/>
              <a:t>на X/Open CURSES </a:t>
            </a:r>
            <a:endParaRPr lang="ru-RU" sz="18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SUSv4 дефинира </a:t>
            </a:r>
            <a:r>
              <a:rPr lang="ru-RU" sz="2400" dirty="0"/>
              <a:t>372 функции и три заглавни файла за API за контрол на екрана на curses</a:t>
            </a:r>
            <a:r>
              <a:rPr lang="ru-RU" sz="2400" dirty="0" smtClean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През </a:t>
            </a:r>
            <a:r>
              <a:rPr lang="ru-RU" sz="2400" dirty="0"/>
              <a:t>2008 г. POSIX 1003.1-2008 и </a:t>
            </a:r>
            <a:r>
              <a:rPr lang="ru-RU" sz="2400" dirty="0" smtClean="0"/>
              <a:t>SUSv4 се обединяват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Основната </a:t>
            </a:r>
            <a:r>
              <a:rPr lang="ru-RU" sz="2400" dirty="0"/>
              <a:t>част от стандарта е описанието на системните повиквания.</a:t>
            </a:r>
          </a:p>
        </p:txBody>
      </p:sp>
    </p:spTree>
    <p:extLst>
      <p:ext uri="{BB962C8B-B14F-4D97-AF65-F5344CB8AC3E}">
        <p14:creationId xmlns:p14="http://schemas.microsoft.com/office/powerpoint/2010/main" val="206539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POSIX </a:t>
            </a:r>
            <a:r>
              <a:rPr lang="en-US" dirty="0"/>
              <a:t>SUSv3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Състои се от 4 части:</a:t>
            </a:r>
          </a:p>
          <a:p>
            <a:pPr lvl="1"/>
            <a:r>
              <a:rPr lang="ru-RU" sz="2400" dirty="0"/>
              <a:t>Основни дефиниции (XBD). </a:t>
            </a:r>
            <a:endParaRPr lang="ru-RU" sz="2400" dirty="0" smtClean="0"/>
          </a:p>
          <a:p>
            <a:pPr lvl="2"/>
            <a:r>
              <a:rPr lang="ru-RU" sz="2000" dirty="0" smtClean="0"/>
              <a:t>Включва </a:t>
            </a:r>
            <a:r>
              <a:rPr lang="ru-RU" sz="2000" dirty="0"/>
              <a:t>дефиниции, термини, разпоредби и спецификации за съдържанието на заглавните </a:t>
            </a:r>
            <a:r>
              <a:rPr lang="ru-RU" sz="2000" dirty="0" smtClean="0"/>
              <a:t>файлове: общо </a:t>
            </a:r>
            <a:r>
              <a:rPr lang="ru-RU" sz="2000" dirty="0"/>
              <a:t>84 спецификации на заглавния файл.</a:t>
            </a:r>
          </a:p>
          <a:p>
            <a:pPr lvl="1"/>
            <a:r>
              <a:rPr lang="ru-RU" sz="2400" dirty="0"/>
              <a:t>Системни интерфейси (XSH). </a:t>
            </a:r>
            <a:endParaRPr lang="ru-RU" sz="2400" dirty="0" smtClean="0"/>
          </a:p>
          <a:p>
            <a:pPr lvl="2"/>
            <a:r>
              <a:rPr lang="ru-RU" sz="2000" dirty="0" smtClean="0"/>
              <a:t>Съдържа спецификации </a:t>
            </a:r>
            <a:r>
              <a:rPr lang="ru-RU" sz="2000" dirty="0"/>
              <a:t>за различни функции (имплементирани или като системни извиквания, или като библиотечни функции в конкретно изпълнение на UNIX</a:t>
            </a:r>
            <a:r>
              <a:rPr lang="ru-RU" sz="2000" dirty="0" smtClean="0"/>
              <a:t>): общо включва </a:t>
            </a:r>
            <a:r>
              <a:rPr lang="ru-RU" sz="2000" dirty="0"/>
              <a:t>1123 системни интерфейса.</a:t>
            </a:r>
          </a:p>
          <a:p>
            <a:pPr lvl="1"/>
            <a:r>
              <a:rPr lang="ru-RU" sz="2400" dirty="0"/>
              <a:t>Shell и помощни програми (XCU). </a:t>
            </a:r>
            <a:endParaRPr lang="ru-RU" sz="2400" dirty="0" smtClean="0"/>
          </a:p>
          <a:p>
            <a:pPr lvl="2"/>
            <a:r>
              <a:rPr lang="ru-RU" sz="2000" dirty="0" smtClean="0"/>
              <a:t>Дефинират се </a:t>
            </a:r>
            <a:r>
              <a:rPr lang="ru-RU" sz="2000" dirty="0"/>
              <a:t>функциите на обвивката и различни UNIX команди (помощни програми</a:t>
            </a:r>
            <a:r>
              <a:rPr lang="ru-RU" sz="2000" dirty="0" smtClean="0"/>
              <a:t>): общо 160 </a:t>
            </a:r>
            <a:r>
              <a:rPr lang="ru-RU" sz="2000" dirty="0"/>
              <a:t>помощни програми.</a:t>
            </a:r>
          </a:p>
          <a:p>
            <a:pPr lvl="1"/>
            <a:r>
              <a:rPr lang="ru-RU" sz="2400" dirty="0"/>
              <a:t>Обосновка (XRAT). </a:t>
            </a:r>
            <a:endParaRPr lang="ru-RU" sz="2400" dirty="0" smtClean="0"/>
          </a:p>
          <a:p>
            <a:pPr lvl="2"/>
            <a:r>
              <a:rPr lang="ru-RU" sz="2000" dirty="0" smtClean="0"/>
              <a:t>Включва </a:t>
            </a:r>
            <a:r>
              <a:rPr lang="ru-RU" sz="2000" dirty="0"/>
              <a:t>текстова информация и обяснения относно предишните части.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16916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Стандарти </a:t>
            </a:r>
            <a:r>
              <a:rPr lang="en-US" dirty="0" smtClean="0"/>
              <a:t>LSB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1053150" cy="541020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През 1985 </a:t>
            </a:r>
            <a:r>
              <a:rPr lang="ru-RU" dirty="0" smtClean="0"/>
              <a:t>г.е създаден </a:t>
            </a:r>
            <a:r>
              <a:rPr lang="en-US" dirty="0"/>
              <a:t> Free Software Foundation</a:t>
            </a:r>
            <a:r>
              <a:rPr lang="ru-RU" dirty="0" smtClean="0"/>
              <a:t> (</a:t>
            </a:r>
            <a:r>
              <a:rPr lang="ru-RU" dirty="0"/>
              <a:t>FSF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/>
              <a:t>Това е организация </a:t>
            </a:r>
            <a:r>
              <a:rPr lang="ru-RU" dirty="0"/>
              <a:t>с нестопанска </a:t>
            </a:r>
            <a:r>
              <a:rPr lang="ru-RU" dirty="0" smtClean="0"/>
              <a:t>цел и </a:t>
            </a:r>
            <a:r>
              <a:rPr lang="ru-RU" dirty="0"/>
              <a:t>е основана в подкрепа на проекта </a:t>
            </a:r>
            <a:r>
              <a:rPr lang="ru-RU" dirty="0" smtClean="0"/>
              <a:t>за разработване </a:t>
            </a:r>
            <a:r>
              <a:rPr lang="ru-RU" dirty="0"/>
              <a:t>на напълно свободен софтуер. </a:t>
            </a:r>
            <a:endParaRPr lang="ru-RU" dirty="0" smtClean="0"/>
          </a:p>
          <a:p>
            <a:pPr lvl="1"/>
            <a:r>
              <a:rPr lang="ru-RU" dirty="0" smtClean="0"/>
              <a:t>Проектът GNU стартира </a:t>
            </a:r>
            <a:r>
              <a:rPr lang="bg-BG" dirty="0" smtClean="0"/>
              <a:t>в момент, в който</a:t>
            </a:r>
            <a:r>
              <a:rPr lang="ru-RU" dirty="0" smtClean="0"/>
              <a:t> </a:t>
            </a:r>
            <a:r>
              <a:rPr lang="ru-RU" dirty="0"/>
              <a:t>BSD версията </a:t>
            </a:r>
            <a:r>
              <a:rPr lang="en-US" dirty="0" smtClean="0"/>
              <a:t>Unix</a:t>
            </a:r>
            <a:r>
              <a:rPr lang="bg-BG" dirty="0" smtClean="0"/>
              <a:t> </a:t>
            </a:r>
            <a:r>
              <a:rPr lang="ru-RU" dirty="0" smtClean="0"/>
              <a:t>не е безплатна. </a:t>
            </a:r>
          </a:p>
          <a:p>
            <a:pPr lvl="2"/>
            <a:r>
              <a:rPr lang="ru-RU" dirty="0" smtClean="0"/>
              <a:t>Изискваше се </a:t>
            </a:r>
            <a:r>
              <a:rPr lang="ru-RU" dirty="0"/>
              <a:t>лиценз от </a:t>
            </a:r>
            <a:r>
              <a:rPr lang="ru-RU" dirty="0" smtClean="0"/>
              <a:t>AT&amp;T, като потребителите </a:t>
            </a:r>
            <a:r>
              <a:rPr lang="ru-RU" dirty="0"/>
              <a:t>не </a:t>
            </a:r>
            <a:r>
              <a:rPr lang="ru-RU" dirty="0" smtClean="0"/>
              <a:t>можеха да </a:t>
            </a:r>
            <a:r>
              <a:rPr lang="ru-RU" dirty="0"/>
              <a:t>променят и разпространяват кода на AT&amp;T, който е част от BSD</a:t>
            </a:r>
            <a:r>
              <a:rPr lang="ru-RU" dirty="0" smtClean="0"/>
              <a:t>.</a:t>
            </a:r>
          </a:p>
          <a:p>
            <a:pPr lvl="1"/>
            <a:r>
              <a:rPr lang="ru-RU" dirty="0"/>
              <a:t>Един </a:t>
            </a:r>
            <a:r>
              <a:rPr lang="ru-RU" dirty="0" smtClean="0"/>
              <a:t>от най-важните резултати </a:t>
            </a:r>
            <a:r>
              <a:rPr lang="ru-RU" dirty="0"/>
              <a:t>от проекта GNU беше </a:t>
            </a:r>
            <a:r>
              <a:rPr lang="ru-RU" dirty="0" smtClean="0"/>
              <a:t>създаването на т.нар. GNU </a:t>
            </a:r>
            <a:r>
              <a:rPr lang="ru-RU" dirty="0"/>
              <a:t>General Public License (GPL</a:t>
            </a:r>
            <a:r>
              <a:rPr lang="ru-RU" dirty="0" smtClean="0"/>
              <a:t>)</a:t>
            </a:r>
            <a:r>
              <a:rPr lang="ru-RU" dirty="0"/>
              <a:t> през 1989 г</a:t>
            </a:r>
            <a:r>
              <a:rPr lang="ru-RU" dirty="0" smtClean="0"/>
              <a:t>.</a:t>
            </a:r>
          </a:p>
          <a:p>
            <a:pPr lvl="2"/>
            <a:r>
              <a:rPr lang="ru-RU" dirty="0"/>
              <a:t>Софтуерът, разпространяван под GPL, трябва да бъде наличен под формата на изходен код и трябва да предоставя права за разпространение в съответствие с условията на GPL. </a:t>
            </a:r>
            <a:endParaRPr lang="ru-RU" dirty="0" smtClean="0"/>
          </a:p>
          <a:p>
            <a:pPr lvl="2"/>
            <a:r>
              <a:rPr lang="ru-RU" dirty="0" smtClean="0"/>
              <a:t>Модификациите </a:t>
            </a:r>
            <a:r>
              <a:rPr lang="ru-RU" dirty="0"/>
              <a:t>на </a:t>
            </a:r>
            <a:r>
              <a:rPr lang="ru-RU" dirty="0" smtClean="0"/>
              <a:t>програми не </a:t>
            </a:r>
            <a:r>
              <a:rPr lang="ru-RU" dirty="0"/>
              <a:t>са забранени, но всяко разпространение на </a:t>
            </a:r>
            <a:r>
              <a:rPr lang="ru-RU" dirty="0" smtClean="0"/>
              <a:t>модифицирана </a:t>
            </a:r>
            <a:r>
              <a:rPr lang="ru-RU" dirty="0"/>
              <a:t>програма трябва също да </a:t>
            </a:r>
            <a:r>
              <a:rPr lang="ru-RU" dirty="0" smtClean="0"/>
              <a:t>отговаря на GPL</a:t>
            </a:r>
            <a:r>
              <a:rPr lang="ru-RU" dirty="0"/>
              <a:t>. </a:t>
            </a:r>
            <a:endParaRPr lang="ru-RU" dirty="0" smtClean="0"/>
          </a:p>
          <a:p>
            <a:pPr lvl="2"/>
            <a:r>
              <a:rPr lang="ru-RU" dirty="0" smtClean="0"/>
              <a:t>Ако </a:t>
            </a:r>
            <a:r>
              <a:rPr lang="ru-RU" dirty="0"/>
              <a:t>модифицираният софтуер се разпространява в изпълнима форма, авторът трябва също така да направи възможно придобиването на модифицираните изходни кодове. Първата версия на GPL е </a:t>
            </a:r>
            <a:r>
              <a:rPr lang="ru-RU" dirty="0" smtClean="0"/>
              <a:t>издадена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9099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 smtClean="0"/>
              <a:t>Самият </a:t>
            </a:r>
            <a:r>
              <a:rPr lang="ru-RU" sz="2800" dirty="0"/>
              <a:t>термин „</a:t>
            </a:r>
            <a:r>
              <a:rPr lang="en-US" sz="2800" dirty="0"/>
              <a:t>Linux</a:t>
            </a:r>
            <a:r>
              <a:rPr lang="ru-RU" sz="2800" dirty="0" smtClean="0"/>
              <a:t>“ обикновено </a:t>
            </a:r>
            <a:r>
              <a:rPr lang="ru-RU" sz="2800" dirty="0"/>
              <a:t>се използва за обозначаване на ядрото на UNIX-подобна </a:t>
            </a:r>
            <a:r>
              <a:rPr lang="bg-BG" sz="2800" dirty="0"/>
              <a:t>ОС</a:t>
            </a:r>
            <a:r>
              <a:rPr lang="ru-RU" sz="2800" dirty="0"/>
              <a:t>, както и широк набор от други софтуерни инструменти (инструменти и библиотеки), които заедно съставляват една цялостна операционна система.</a:t>
            </a:r>
          </a:p>
          <a:p>
            <a:pPr lvl="1"/>
            <a:r>
              <a:rPr lang="ru-RU" sz="2400" dirty="0" smtClean="0"/>
              <a:t>Ако се държи на точността, то името </a:t>
            </a:r>
            <a:r>
              <a:rPr lang="ru-RU" sz="2400" dirty="0"/>
              <a:t>„</a:t>
            </a:r>
            <a:r>
              <a:rPr lang="ru-RU" sz="2400" dirty="0" smtClean="0"/>
              <a:t>Linux</a:t>
            </a:r>
            <a:r>
              <a:rPr lang="ru-RU" sz="2400" dirty="0"/>
              <a:t>“</a:t>
            </a:r>
            <a:r>
              <a:rPr lang="ru-RU" sz="2400" dirty="0" smtClean="0"/>
              <a:t> </a:t>
            </a:r>
            <a:r>
              <a:rPr lang="ru-RU" sz="2400" dirty="0"/>
              <a:t>се отнася само за ядрото, разработено от Линус Торвалдс. </a:t>
            </a:r>
            <a:endParaRPr lang="ru-RU" sz="2400" dirty="0" smtClean="0"/>
          </a:p>
          <a:p>
            <a:pPr lvl="1"/>
            <a:r>
              <a:rPr lang="ru-RU" sz="2400" dirty="0"/>
              <a:t>В </a:t>
            </a:r>
            <a:r>
              <a:rPr lang="ru-RU" sz="2400" dirty="0" smtClean="0"/>
              <a:t>началото всеки потребител, който си инсталираше ядрото на </a:t>
            </a:r>
            <a:r>
              <a:rPr lang="ru-RU" sz="2400" dirty="0"/>
              <a:t>„</a:t>
            </a:r>
            <a:r>
              <a:rPr lang="en-US" sz="2400" dirty="0"/>
              <a:t>Linux</a:t>
            </a:r>
            <a:r>
              <a:rPr lang="ru-RU" sz="2400" dirty="0" smtClean="0"/>
              <a:t>“ е трябвало сам да си намери и инсталира средства за управление на файловата </a:t>
            </a:r>
            <a:r>
              <a:rPr lang="ru-RU" sz="2400" dirty="0"/>
              <a:t>система и </a:t>
            </a:r>
            <a:r>
              <a:rPr lang="ru-RU" sz="2400" dirty="0" smtClean="0"/>
              <a:t>някои от другите «задължителни» библиотеки и програмни инструменти</a:t>
            </a:r>
          </a:p>
          <a:p>
            <a:pPr lvl="1"/>
            <a:r>
              <a:rPr lang="ru-RU" sz="2400" dirty="0" smtClean="0"/>
              <a:t>Сега </a:t>
            </a:r>
            <a:r>
              <a:rPr lang="ru-RU" sz="2400" dirty="0"/>
              <a:t>процеса на </a:t>
            </a:r>
            <a:r>
              <a:rPr lang="ru-RU" sz="2400" dirty="0" smtClean="0"/>
              <a:t>инсталиране е автоматизиране в по-голямата </a:t>
            </a:r>
            <a:r>
              <a:rPr lang="bg-BG" sz="2400" dirty="0" smtClean="0"/>
              <a:t>си </a:t>
            </a:r>
            <a:r>
              <a:rPr lang="ru-RU" sz="2400" dirty="0" smtClean="0"/>
              <a:t>част и включва всичко необходимо като за другите </a:t>
            </a:r>
            <a:r>
              <a:rPr lang="en-US" sz="2400" dirty="0" smtClean="0"/>
              <a:t>Unix-</a:t>
            </a:r>
            <a:r>
              <a:rPr lang="bg-BG" sz="2400" dirty="0" smtClean="0"/>
              <a:t>подобни</a:t>
            </a:r>
            <a:r>
              <a:rPr lang="ru-RU" sz="2400" dirty="0" smtClean="0"/>
              <a:t> ОС.</a:t>
            </a:r>
            <a:endParaRPr lang="ru-RU" sz="2400" dirty="0"/>
          </a:p>
          <a:p>
            <a:r>
              <a:rPr lang="ru-RU" sz="2800" dirty="0" smtClean="0"/>
              <a:t>По-голямата </a:t>
            </a:r>
            <a:r>
              <a:rPr lang="ru-RU" sz="2800" dirty="0"/>
              <a:t>част от софтуера в дистрибуцията на Linux, включително ядрото, е лицензиран под GPL. 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358909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" y="1143000"/>
            <a:ext cx="10900750" cy="5410200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/>
              <a:t>Първите дистрибуции се появяват през 1992 г. </a:t>
            </a:r>
            <a:endParaRPr lang="ru-RU" sz="2800" dirty="0" smtClean="0"/>
          </a:p>
          <a:p>
            <a:pPr lvl="1"/>
            <a:r>
              <a:rPr lang="ru-RU" sz="2400" dirty="0" smtClean="0"/>
              <a:t>Най-старата </a:t>
            </a:r>
            <a:r>
              <a:rPr lang="ru-RU" sz="2400" dirty="0"/>
              <a:t>оцеляла търговска дистрибуция, Slackware, се появи през 1993 г. </a:t>
            </a:r>
            <a:endParaRPr lang="ru-RU" sz="2400" dirty="0" smtClean="0"/>
          </a:p>
          <a:p>
            <a:pPr lvl="1"/>
            <a:r>
              <a:rPr lang="ru-RU" sz="2400" dirty="0" smtClean="0"/>
              <a:t>Приблизително </a:t>
            </a:r>
            <a:r>
              <a:rPr lang="ru-RU" sz="2400" dirty="0"/>
              <a:t>по същото време се появи некомерсиална дистрибуция на Debian, скоро последвана от SUSE и RedHat. </a:t>
            </a:r>
            <a:endParaRPr lang="ru-RU" sz="2400" dirty="0" smtClean="0"/>
          </a:p>
          <a:p>
            <a:pPr lvl="1"/>
            <a:r>
              <a:rPr lang="ru-RU" sz="2400" dirty="0" smtClean="0"/>
              <a:t>Много популярна в </a:t>
            </a:r>
            <a:r>
              <a:rPr lang="ru-RU" sz="2400" dirty="0"/>
              <a:t>момента </a:t>
            </a:r>
            <a:r>
              <a:rPr lang="ru-RU" sz="2400" dirty="0" smtClean="0"/>
              <a:t>е дистрибуцията </a:t>
            </a:r>
            <a:r>
              <a:rPr lang="ru-RU" sz="2400" dirty="0"/>
              <a:t>на </a:t>
            </a:r>
            <a:r>
              <a:rPr lang="ru-RU" sz="2400" dirty="0" smtClean="0"/>
              <a:t>Ubuntu (2004 </a:t>
            </a:r>
            <a:r>
              <a:rPr lang="ru-RU" sz="2400" dirty="0"/>
              <a:t>г</a:t>
            </a:r>
            <a:r>
              <a:rPr lang="ru-RU" sz="2400" dirty="0" smtClean="0"/>
              <a:t>.)</a:t>
            </a:r>
          </a:p>
          <a:p>
            <a:r>
              <a:rPr lang="ru-RU" sz="2800" dirty="0" smtClean="0"/>
              <a:t>Общото на различните Linux-дистрибуции е, че при  ядрото</a:t>
            </a:r>
            <a:r>
              <a:rPr lang="ru-RU" sz="2800" dirty="0"/>
              <a:t>, glibc библиотеките и </a:t>
            </a:r>
            <a:r>
              <a:rPr lang="ru-RU" sz="2800" dirty="0" smtClean="0"/>
              <a:t>инструментите има стремец за спазване на няколко основни различни </a:t>
            </a:r>
            <a:r>
              <a:rPr lang="ru-RU" sz="2800" dirty="0"/>
              <a:t>UNIX </a:t>
            </a:r>
            <a:r>
              <a:rPr lang="ru-RU" sz="2800" dirty="0" smtClean="0"/>
              <a:t>стандарти: особено на POSIX </a:t>
            </a:r>
            <a:r>
              <a:rPr lang="ru-RU" sz="2800" dirty="0"/>
              <a:t>и единната UNIX спецификация (SUS).</a:t>
            </a:r>
          </a:p>
          <a:p>
            <a:pPr lvl="1"/>
            <a:r>
              <a:rPr lang="ru-RU" sz="2400" dirty="0" smtClean="0"/>
              <a:t>Поради съществуването на няколко дистрибутора на Linux и тъй като изпълнителите на ядрото нямат контрол върху съдържанието на дистрибуциите, няма стандартна търговска версия на Linux. </a:t>
            </a:r>
          </a:p>
          <a:p>
            <a:pPr lvl="1"/>
            <a:r>
              <a:rPr lang="ru-RU" sz="2400" dirty="0" smtClean="0"/>
              <a:t>Самостоятелната Linux дистрибуция на ядрото обикновено се основава на някаква възходяща версия на ядрото на Linux с набор от необходими промени.</a:t>
            </a:r>
          </a:p>
          <a:p>
            <a:pPr lvl="1"/>
            <a:r>
              <a:rPr lang="ru-RU" sz="2400" dirty="0" smtClean="0"/>
              <a:t>Резултатът беше предимно незначителни разлики в системите, предлагани от различни компании за разпространение на Linux.</a:t>
            </a:r>
          </a:p>
        </p:txBody>
      </p:sp>
    </p:spTree>
    <p:extLst>
      <p:ext uri="{BB962C8B-B14F-4D97-AF65-F5344CB8AC3E}">
        <p14:creationId xmlns:p14="http://schemas.microsoft.com/office/powerpoint/2010/main" val="65959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" y="1143000"/>
            <a:ext cx="10900750" cy="5410200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/>
              <a:t>Linux Standard Base (LSB</a:t>
            </a:r>
            <a:r>
              <a:rPr lang="ru-RU" sz="2800" dirty="0" smtClean="0"/>
              <a:t>)</a:t>
            </a:r>
          </a:p>
          <a:p>
            <a:pPr lvl="1"/>
            <a:r>
              <a:rPr lang="ru-RU" sz="2400" dirty="0" smtClean="0"/>
              <a:t>Това е рстандарт, който е разработен с цел да се осигури съвместимост </a:t>
            </a:r>
            <a:r>
              <a:rPr lang="ru-RU" sz="2400" dirty="0"/>
              <a:t>между различните дистрибуции на </a:t>
            </a:r>
            <a:r>
              <a:rPr lang="ru-RU" sz="2400" dirty="0" smtClean="0"/>
              <a:t>Linux.</a:t>
            </a:r>
          </a:p>
          <a:p>
            <a:pPr lvl="1"/>
            <a:r>
              <a:rPr lang="ru-RU" sz="2400" dirty="0" smtClean="0"/>
              <a:t>LSB </a:t>
            </a:r>
            <a:r>
              <a:rPr lang="ru-RU" sz="2400" dirty="0"/>
              <a:t>е </a:t>
            </a:r>
            <a:r>
              <a:rPr lang="ru-RU" sz="2400" dirty="0" smtClean="0"/>
              <a:t>дефинира набор </a:t>
            </a:r>
            <a:r>
              <a:rPr lang="ru-RU" sz="2400" dirty="0"/>
              <a:t>от стандарти за Linux </a:t>
            </a:r>
            <a:r>
              <a:rPr lang="ru-RU" sz="2400" dirty="0" smtClean="0"/>
              <a:t>системи:  те </a:t>
            </a:r>
            <a:r>
              <a:rPr lang="ru-RU" sz="2400" dirty="0"/>
              <a:t>предоставят възможност за стартиране на двоични приложения (т.е. компилирани програми) на всяка LSB-съвместима система. </a:t>
            </a:r>
            <a:endParaRPr lang="ru-RU" sz="2400" dirty="0" smtClean="0"/>
          </a:p>
          <a:p>
            <a:pPr lvl="2"/>
            <a:r>
              <a:rPr lang="ru-RU" sz="2000" dirty="0"/>
              <a:t>Преносимостта на изходния код означава способността да се напише програма на езика C и след това успешно да се компилира и стартира на всяка POSIX-съвместима система. </a:t>
            </a:r>
          </a:p>
          <a:p>
            <a:pPr lvl="1"/>
            <a:r>
              <a:rPr lang="ru-RU" sz="2400" dirty="0" smtClean="0"/>
              <a:t>Двоичната </a:t>
            </a:r>
            <a:r>
              <a:rPr lang="ru-RU" sz="2400" dirty="0"/>
              <a:t>преносимост, въведена от LSB, е различна от преносимостта на изходния код, въведена от стандарта POSIX. </a:t>
            </a:r>
            <a:endParaRPr lang="ru-RU" sz="2400" dirty="0" smtClean="0"/>
          </a:p>
          <a:p>
            <a:pPr lvl="2"/>
            <a:r>
              <a:rPr lang="ru-RU" sz="2000" dirty="0"/>
              <a:t>Двоичната съвместимост позволява програмите да се компилират веднъж на определена хардуерна платформа и след това да стартират на всяка съвместима реализация, работеща на тази хардуерна платформа. </a:t>
            </a:r>
          </a:p>
          <a:p>
            <a:pPr lvl="2"/>
            <a:r>
              <a:rPr lang="ru-RU" sz="2000" dirty="0" smtClean="0"/>
              <a:t>Двоичната </a:t>
            </a:r>
            <a:r>
              <a:rPr lang="ru-RU" sz="2000" dirty="0"/>
              <a:t>съвместимост е много по-претенциозна и обикновено не е постижима на различни хардуерни платформи. </a:t>
            </a:r>
            <a:endParaRPr lang="ru-RU" sz="2000" dirty="0" smtClean="0"/>
          </a:p>
          <a:p>
            <a:pPr lvl="1"/>
            <a:r>
              <a:rPr lang="ru-RU" sz="2400" dirty="0" smtClean="0"/>
              <a:t>Двоичната </a:t>
            </a:r>
            <a:r>
              <a:rPr lang="ru-RU" sz="2400" dirty="0"/>
              <a:t>преносимост е много важно изискване за търговската жизнеспособност на приложения, създадени на Linux от независими доставчици на софтуер (ISV).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326482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</a:t>
            </a:r>
            <a:r>
              <a:rPr lang="bg-BG" dirty="0" smtClean="0"/>
              <a:t> </a:t>
            </a:r>
            <a:r>
              <a:rPr lang="en-US" dirty="0" smtClean="0"/>
              <a:t>API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" y="1143000"/>
            <a:ext cx="10900750" cy="5410200"/>
          </a:xfrm>
        </p:spPr>
        <p:txBody>
          <a:bodyPr>
            <a:normAutofit/>
          </a:bodyPr>
          <a:lstStyle/>
          <a:p>
            <a:endParaRPr lang="bg-BG" sz="2800" dirty="0" smtClean="0"/>
          </a:p>
          <a:p>
            <a:endParaRPr lang="bg-BG" sz="2800" dirty="0"/>
          </a:p>
          <a:p>
            <a:endParaRPr lang="bg-BG" sz="2800" dirty="0" smtClean="0"/>
          </a:p>
          <a:p>
            <a:pPr marL="0" indent="0" algn="ctr">
              <a:buNone/>
            </a:pPr>
            <a:r>
              <a:rPr lang="en-US" sz="2800" dirty="0" smtClean="0"/>
              <a:t>Linux </a:t>
            </a:r>
            <a:r>
              <a:rPr lang="en-US" sz="2800" dirty="0"/>
              <a:t>API </a:t>
            </a:r>
            <a:r>
              <a:rPr lang="ru-RU" sz="2800" dirty="0"/>
              <a:t>е базиран на </a:t>
            </a:r>
            <a:r>
              <a:rPr lang="ru-RU" sz="2800" dirty="0" smtClean="0"/>
              <a:t>стандартите:</a:t>
            </a:r>
          </a:p>
          <a:p>
            <a:pPr marL="0" indent="0" algn="ctr">
              <a:buNone/>
            </a:pPr>
            <a:r>
              <a:rPr lang="ru-RU" sz="2800" dirty="0" smtClean="0"/>
              <a:t> </a:t>
            </a:r>
            <a:r>
              <a:rPr lang="en-US" sz="2800" dirty="0"/>
              <a:t>ANSI C (C99), POSIX 1003.1-2008 (SUSv4) </a:t>
            </a:r>
            <a:r>
              <a:rPr lang="ru-RU" sz="2800" dirty="0"/>
              <a:t>и </a:t>
            </a:r>
            <a:r>
              <a:rPr lang="en-US" sz="2800" dirty="0" smtClean="0"/>
              <a:t>LSB.</a:t>
            </a:r>
          </a:p>
          <a:p>
            <a:pPr marL="438150" lvl="1" indent="0">
              <a:buNone/>
            </a:pPr>
            <a:endParaRPr lang="bg-BG" sz="2400" dirty="0" smtClean="0"/>
          </a:p>
        </p:txBody>
      </p:sp>
    </p:spTree>
    <p:extLst>
      <p:ext uri="{BB962C8B-B14F-4D97-AF65-F5344CB8AC3E}">
        <p14:creationId xmlns:p14="http://schemas.microsoft.com/office/powerpoint/2010/main" val="27413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Ядро на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Изпълнимият файл на ядрото на Linux </a:t>
            </a:r>
            <a:r>
              <a:rPr lang="ru-RU" dirty="0" smtClean="0"/>
              <a:t>обикновено </a:t>
            </a:r>
            <a:r>
              <a:rPr lang="ru-RU" dirty="0"/>
              <a:t>се намира в името на пътя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boot/vmlinuz</a:t>
            </a:r>
          </a:p>
          <a:p>
            <a:pPr lvl="1"/>
            <a:r>
              <a:rPr lang="ru-RU" dirty="0" smtClean="0"/>
              <a:t>В </a:t>
            </a:r>
            <a:r>
              <a:rPr lang="ru-RU" dirty="0"/>
              <a:t>ранните </a:t>
            </a:r>
            <a:r>
              <a:rPr lang="ru-RU" dirty="0" smtClean="0"/>
              <a:t>версии на </a:t>
            </a:r>
            <a:r>
              <a:rPr lang="ru-RU" dirty="0"/>
              <a:t>UNIX ядрото се </a:t>
            </a:r>
            <a:r>
              <a:rPr lang="ru-RU" dirty="0" smtClean="0"/>
              <a:t>е наричало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unix</a:t>
            </a:r>
            <a:r>
              <a:rPr lang="ru-RU" dirty="0"/>
              <a:t>. </a:t>
            </a:r>
            <a:endParaRPr lang="ru-RU" dirty="0" smtClean="0"/>
          </a:p>
          <a:p>
            <a:pPr lvl="1"/>
            <a:r>
              <a:rPr lang="ru-RU" dirty="0" smtClean="0"/>
              <a:t>В по-късни версии на </a:t>
            </a:r>
            <a:r>
              <a:rPr lang="ru-RU" dirty="0"/>
              <a:t>UNIX, </a:t>
            </a:r>
            <a:r>
              <a:rPr lang="ru-RU" dirty="0" smtClean="0"/>
              <a:t>с появата на виртуална </a:t>
            </a:r>
            <a:r>
              <a:rPr lang="ru-RU" dirty="0"/>
              <a:t>памет</a:t>
            </a:r>
            <a:r>
              <a:rPr lang="ru-RU" dirty="0" smtClean="0"/>
              <a:t>, ядрото се преименувана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vmunix</a:t>
            </a:r>
            <a:r>
              <a:rPr lang="ru-RU" dirty="0"/>
              <a:t>. </a:t>
            </a:r>
            <a:endParaRPr lang="ru-RU" dirty="0" smtClean="0"/>
          </a:p>
          <a:p>
            <a:pPr lvl="1"/>
            <a:r>
              <a:rPr lang="ru-RU" dirty="0" smtClean="0"/>
              <a:t>В </a:t>
            </a:r>
            <a:r>
              <a:rPr lang="ru-RU" dirty="0"/>
              <a:t>Linux името на файла отразява името на системата, като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ru-RU" dirty="0"/>
              <a:t> замества </a:t>
            </a:r>
            <a:r>
              <a:rPr lang="ru-RU" dirty="0" smtClean="0"/>
              <a:t>крайната буква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ru-RU" dirty="0"/>
              <a:t>, </a:t>
            </a:r>
            <a:r>
              <a:rPr lang="ru-RU" dirty="0" smtClean="0"/>
              <a:t>защото ядрото </a:t>
            </a:r>
            <a:r>
              <a:rPr lang="ru-RU" dirty="0"/>
              <a:t>е </a:t>
            </a:r>
            <a:r>
              <a:rPr lang="ru-RU" i="1" dirty="0"/>
              <a:t>компресиран изпълним файл</a:t>
            </a:r>
            <a:r>
              <a:rPr lang="ru-RU" dirty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03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Ядро на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800" dirty="0" smtClean="0"/>
              <a:t>Основни характеристики: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Планиране на процеси: </a:t>
            </a:r>
            <a:endParaRPr lang="ru-RU" sz="2400" dirty="0" smtClean="0"/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sz="2000" dirty="0" smtClean="0"/>
              <a:t>Linux </a:t>
            </a:r>
            <a:r>
              <a:rPr lang="ru-RU" sz="2000" dirty="0"/>
              <a:t>е превантивна многозадачна </a:t>
            </a:r>
            <a:r>
              <a:rPr lang="bg-BG" sz="2000" dirty="0" smtClean="0"/>
              <a:t>ОС (англ. </a:t>
            </a:r>
            <a:r>
              <a:rPr lang="en-US" sz="2000" dirty="0" smtClean="0"/>
              <a:t>Preemptive multitasking OS)   </a:t>
            </a:r>
            <a:r>
              <a:rPr lang="bg-BG" sz="2000" dirty="0" smtClean="0"/>
              <a:t> </a:t>
            </a:r>
            <a:r>
              <a:rPr lang="ru-RU" sz="2000" dirty="0" smtClean="0"/>
              <a:t>както всички версии или производни</a:t>
            </a:r>
            <a:r>
              <a:rPr lang="en-US" sz="2000" dirty="0" smtClean="0"/>
              <a:t> </a:t>
            </a:r>
            <a:r>
              <a:rPr lang="bg-BG" sz="2000" dirty="0" smtClean="0"/>
              <a:t>дистрибуции</a:t>
            </a:r>
            <a:r>
              <a:rPr lang="ru-RU" sz="2000" dirty="0" smtClean="0"/>
              <a:t> на </a:t>
            </a:r>
            <a:r>
              <a:rPr lang="en-US" sz="2000" dirty="0" smtClean="0"/>
              <a:t>Unix OS</a:t>
            </a:r>
            <a:r>
              <a:rPr lang="ru-RU" sz="2000" dirty="0" smtClean="0"/>
              <a:t>. 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Управление на паметта: </a:t>
            </a:r>
            <a:endParaRPr lang="ru-RU" sz="2400" dirty="0" smtClean="0"/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sz="2000" dirty="0" smtClean="0"/>
              <a:t>Linux </a:t>
            </a:r>
            <a:r>
              <a:rPr lang="ru-RU" sz="2000" dirty="0"/>
              <a:t>използва управление на виртуална </a:t>
            </a:r>
            <a:r>
              <a:rPr lang="ru-RU" sz="2000" dirty="0" smtClean="0"/>
              <a:t>памет</a:t>
            </a:r>
          </a:p>
          <a:p>
            <a:pPr lvl="3">
              <a:lnSpc>
                <a:spcPct val="110000"/>
              </a:lnSpc>
              <a:spcBef>
                <a:spcPts val="300"/>
              </a:spcBef>
            </a:pPr>
            <a:r>
              <a:rPr lang="ru-RU" sz="1800" dirty="0" smtClean="0"/>
              <a:t>Процесите </a:t>
            </a:r>
            <a:r>
              <a:rPr lang="ru-RU" sz="1800" dirty="0"/>
              <a:t>са изолирани един от друг и от ядрото, така че един процес да не може да чете или модифицира паметта на друг процес или ядрото</a:t>
            </a:r>
            <a:r>
              <a:rPr lang="ru-RU" sz="1800" dirty="0" smtClean="0"/>
              <a:t>.</a:t>
            </a:r>
          </a:p>
          <a:p>
            <a:pPr lvl="3">
              <a:lnSpc>
                <a:spcPct val="110000"/>
              </a:lnSpc>
              <a:spcBef>
                <a:spcPts val="300"/>
              </a:spcBef>
            </a:pPr>
            <a:r>
              <a:rPr lang="ru-RU" sz="1800" dirty="0" smtClean="0"/>
              <a:t>Само </a:t>
            </a:r>
            <a:r>
              <a:rPr lang="ru-RU" sz="1800" dirty="0"/>
              <a:t>част от процес трябва да се съхранява в паметта, като по този начин се намаляват изискванията за памет на всеки процес и се позволява повече процеси да се държат в RAM едновременно. Това води до по-добро използване на процесора, тъй като увеличава вероятността във всеки един момент да има поне един процес, който процесорът(ите) може да </a:t>
            </a:r>
            <a:r>
              <a:rPr lang="ru-RU" sz="1800" dirty="0" smtClean="0"/>
              <a:t>изпълни.</a:t>
            </a:r>
          </a:p>
        </p:txBody>
      </p:sp>
    </p:spTree>
    <p:extLst>
      <p:ext uri="{BB962C8B-B14F-4D97-AF65-F5344CB8AC3E}">
        <p14:creationId xmlns:p14="http://schemas.microsoft.com/office/powerpoint/2010/main" val="388933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Ядро на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Основни характеристики: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Управление на изпълняваните квазипаралелно процеси</a:t>
            </a:r>
            <a:r>
              <a:rPr lang="ru-RU" sz="2400" dirty="0"/>
              <a:t>: </a:t>
            </a:r>
            <a:endParaRPr lang="ru-RU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При зареждане на нова </a:t>
            </a:r>
            <a:r>
              <a:rPr lang="ru-RU" sz="2000" dirty="0"/>
              <a:t>програма в </a:t>
            </a:r>
            <a:r>
              <a:rPr lang="ru-RU" sz="2000" dirty="0" smtClean="0"/>
              <a:t>паметта се предоставят всички необходимо ресурси ресурсите </a:t>
            </a:r>
            <a:r>
              <a:rPr lang="ru-RU" sz="2000" dirty="0"/>
              <a:t>(напр. CPU, памет и достъп до файлове</a:t>
            </a:r>
            <a:r>
              <a:rPr lang="ru-RU" sz="2000" dirty="0" smtClean="0"/>
              <a:t>). Това превръща програмата в процес. 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При завършване на процес, </a:t>
            </a:r>
            <a:r>
              <a:rPr lang="ru-RU" sz="2000" dirty="0"/>
              <a:t>ядрото </a:t>
            </a:r>
            <a:r>
              <a:rPr lang="ru-RU" sz="2000" dirty="0" smtClean="0"/>
              <a:t>гарантира освобождаването на </a:t>
            </a:r>
            <a:r>
              <a:rPr lang="ru-RU" sz="2000" dirty="0"/>
              <a:t>ресурсите</a:t>
            </a:r>
            <a:r>
              <a:rPr lang="ru-RU" sz="2000" dirty="0" smtClean="0"/>
              <a:t> </a:t>
            </a:r>
            <a:r>
              <a:rPr lang="ru-RU" sz="2000" dirty="0"/>
              <a:t>за последващо повторно </a:t>
            </a:r>
            <a:r>
              <a:rPr lang="ru-RU" sz="2000" dirty="0" smtClean="0"/>
              <a:t>използване.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Достъп </a:t>
            </a:r>
            <a:r>
              <a:rPr lang="ru-RU" sz="2400" dirty="0"/>
              <a:t>до устройства: </a:t>
            </a:r>
            <a:endParaRPr lang="ru-RU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Ядрото </a:t>
            </a:r>
            <a:r>
              <a:rPr lang="ru-RU" sz="2000" dirty="0"/>
              <a:t>предоставя на програмите интерфейс, който стандартизира и опростява достъпа до </a:t>
            </a:r>
            <a:r>
              <a:rPr lang="ru-RU" sz="2000" dirty="0" smtClean="0"/>
              <a:t>периферните устройства (</a:t>
            </a:r>
            <a:r>
              <a:rPr lang="ru-RU" sz="2000" dirty="0"/>
              <a:t>мишки, монитори, клавиатури, дискови и лентови устройства и т.н</a:t>
            </a:r>
            <a:r>
              <a:rPr lang="ru-RU" sz="2000" dirty="0" smtClean="0"/>
              <a:t>.): ядрото управлява (в ролята на арбитър) </a:t>
            </a:r>
            <a:r>
              <a:rPr lang="ru-RU" sz="2000" dirty="0"/>
              <a:t>достъпа от множество процеси до всяко </a:t>
            </a:r>
            <a:r>
              <a:rPr lang="ru-RU" sz="2000" dirty="0" smtClean="0"/>
              <a:t>от съществущо устройство</a:t>
            </a:r>
            <a:r>
              <a:rPr lang="ru-RU" sz="2000" dirty="0"/>
              <a:t>.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83782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Ядро на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Основни характеристики: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Управление на файлова система: </a:t>
            </a:r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ru-RU" sz="2000" dirty="0"/>
              <a:t>Създаване, извличане, актуализиране, изтриване на файлове на външни запомнящи устройства (например твърд диск).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Работа </a:t>
            </a:r>
            <a:r>
              <a:rPr lang="ru-RU" sz="2400" dirty="0"/>
              <a:t>в мрежа: </a:t>
            </a:r>
            <a:endParaRPr lang="ru-RU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Ядрото </a:t>
            </a:r>
            <a:r>
              <a:rPr lang="ru-RU" sz="2000" dirty="0"/>
              <a:t>предава и получава мрежови съобщения (пакети) от името на потребителските </a:t>
            </a:r>
            <a:r>
              <a:rPr lang="ru-RU" sz="2000" dirty="0" smtClean="0"/>
              <a:t>процеси: тази </a:t>
            </a:r>
            <a:r>
              <a:rPr lang="ru-RU" sz="2000" dirty="0"/>
              <a:t>задача включва маршрутизиране на мрежови пакети към целевата система</a:t>
            </a:r>
            <a:r>
              <a:rPr lang="ru-RU" sz="20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Предоставяне </a:t>
            </a:r>
            <a:r>
              <a:rPr lang="ru-RU" sz="2400" dirty="0"/>
              <a:t>на интерфейс за програмиране на приложения за системни повиквания (API): </a:t>
            </a:r>
            <a:endParaRPr lang="ru-RU" sz="2400" dirty="0" smtClean="0"/>
          </a:p>
          <a:p>
            <a:pPr lvl="2">
              <a:spcBef>
                <a:spcPts val="300"/>
              </a:spcBef>
            </a:pPr>
            <a:r>
              <a:rPr lang="ru-RU" sz="2000" dirty="0" smtClean="0"/>
              <a:t>Процесите </a:t>
            </a:r>
            <a:r>
              <a:rPr lang="ru-RU" sz="2000" dirty="0"/>
              <a:t>могат да поискат от ядрото да изпълнява различни задачи, използвайки входни точки на ядрото, известни като системни повиквания</a:t>
            </a:r>
            <a:r>
              <a:rPr lang="ru-RU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85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обръщения в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Системното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обръщение </a:t>
            </a:r>
            <a:r>
              <a:rPr lang="ru-RU" dirty="0"/>
              <a:t>е управлявана входна точка към ядрото, която позволява на процес да поиска от ядрото да извърши някакво действие от името на процеса. </a:t>
            </a:r>
            <a:endParaRPr lang="ru-RU" dirty="0" smtClean="0"/>
          </a:p>
          <a:p>
            <a:pPr lvl="1"/>
            <a:r>
              <a:rPr lang="ru-RU" dirty="0" smtClean="0"/>
              <a:t>Ядрото </a:t>
            </a:r>
            <a:r>
              <a:rPr lang="ru-RU" dirty="0"/>
              <a:t>позволява на програмите да имат достъп до определени услуги, използвайки </a:t>
            </a:r>
            <a:r>
              <a:rPr lang="ru-RU" dirty="0" smtClean="0"/>
              <a:t>API-интерфейс за осъществяване на системни обръщения. </a:t>
            </a:r>
          </a:p>
          <a:p>
            <a:pPr lvl="1"/>
            <a:r>
              <a:rPr lang="ru-RU" dirty="0" smtClean="0"/>
              <a:t>Тези </a:t>
            </a:r>
            <a:r>
              <a:rPr lang="ru-RU" dirty="0"/>
              <a:t>услуги </a:t>
            </a:r>
            <a:r>
              <a:rPr lang="ru-RU" dirty="0" smtClean="0"/>
              <a:t>включват създаване </a:t>
            </a:r>
            <a:r>
              <a:rPr lang="ru-RU" dirty="0"/>
              <a:t>на нов процес, извършване на </a:t>
            </a:r>
            <a:r>
              <a:rPr lang="ru-RU" dirty="0" smtClean="0"/>
              <a:t>В/И операция, създаване </a:t>
            </a:r>
            <a:r>
              <a:rPr lang="ru-RU" dirty="0"/>
              <a:t>на канали за комуникация между </a:t>
            </a:r>
            <a:r>
              <a:rPr lang="ru-RU" dirty="0" smtClean="0"/>
              <a:t>процесите, както и други действия.</a:t>
            </a:r>
            <a:endParaRPr lang="ru-RU" dirty="0"/>
          </a:p>
          <a:p>
            <a:r>
              <a:rPr lang="ru-RU" dirty="0" smtClean="0"/>
              <a:t>Общи характеристики на системните обръщения:</a:t>
            </a:r>
          </a:p>
          <a:p>
            <a:pPr lvl="1"/>
            <a:r>
              <a:rPr lang="ru-RU" dirty="0" smtClean="0"/>
              <a:t>Те може </a:t>
            </a:r>
            <a:r>
              <a:rPr lang="ru-RU" dirty="0"/>
              <a:t>да </a:t>
            </a:r>
            <a:r>
              <a:rPr lang="ru-RU" dirty="0" smtClean="0"/>
              <a:t>имат </a:t>
            </a:r>
            <a:r>
              <a:rPr lang="ru-RU" dirty="0"/>
              <a:t>набор от аргументи, указващи информацията, която да бъде предадена от потребителското пространство (т.е. от виртуалното адресно пространство на процеса) към пространството на ядрото и обратно</a:t>
            </a:r>
            <a:r>
              <a:rPr lang="ru-RU" dirty="0" smtClean="0"/>
              <a:t>.</a:t>
            </a:r>
          </a:p>
          <a:p>
            <a:pPr lvl="2"/>
            <a:r>
              <a:rPr lang="ru-RU" dirty="0" smtClean="0"/>
              <a:t>От </a:t>
            </a:r>
            <a:r>
              <a:rPr lang="ru-RU" dirty="0"/>
              <a:t>гледна точка на програмирането инициирането на системно извикване е много като извикване на езикова функция </a:t>
            </a:r>
            <a:r>
              <a:rPr lang="ru-RU" dirty="0" smtClean="0"/>
              <a:t>C: в </a:t>
            </a:r>
            <a:r>
              <a:rPr lang="ru-RU" dirty="0"/>
              <a:t>Linux сервизните процедури за системно </a:t>
            </a:r>
            <a:r>
              <a:rPr lang="ru-RU" dirty="0" smtClean="0"/>
              <a:t>обръщение  връщат </a:t>
            </a:r>
            <a:r>
              <a:rPr lang="ru-RU" dirty="0"/>
              <a:t>неотрицателна </a:t>
            </a:r>
            <a:r>
              <a:rPr lang="ru-RU" dirty="0" smtClean="0"/>
              <a:t>стойност като «успех»</a:t>
            </a:r>
          </a:p>
          <a:p>
            <a:pPr lvl="2"/>
            <a:r>
              <a:rPr lang="ru-RU" dirty="0" smtClean="0"/>
              <a:t>При </a:t>
            </a:r>
            <a:r>
              <a:rPr lang="ru-RU" dirty="0"/>
              <a:t>грешка </a:t>
            </a:r>
            <a:r>
              <a:rPr lang="ru-RU" dirty="0" smtClean="0"/>
              <a:t>функцията-обвивка </a:t>
            </a:r>
            <a:r>
              <a:rPr lang="ru-RU" dirty="0"/>
              <a:t>на C библиотеката </a:t>
            </a:r>
            <a:r>
              <a:rPr lang="ru-RU" dirty="0" smtClean="0"/>
              <a:t>копира </a:t>
            </a:r>
            <a:r>
              <a:rPr lang="ru-RU" dirty="0"/>
              <a:t>знака си (правейки го положителен</a:t>
            </a:r>
            <a:r>
              <a:rPr lang="ru-RU" dirty="0" smtClean="0"/>
              <a:t>) в </a:t>
            </a:r>
            <a:r>
              <a:rPr lang="ru-RU" i="1" dirty="0"/>
              <a:t>errno</a:t>
            </a:r>
            <a:r>
              <a:rPr lang="ru-RU" dirty="0"/>
              <a:t> и връща -</a:t>
            </a:r>
            <a:r>
              <a:rPr lang="ru-RU" dirty="0" smtClean="0"/>
              <a:t>1 като флаг за грешка</a:t>
            </a:r>
            <a:r>
              <a:rPr lang="ru-RU" dirty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3282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Команден интерпретатор </a:t>
            </a:r>
            <a:r>
              <a:rPr lang="en-US" dirty="0" smtClean="0"/>
              <a:t>Shell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Командният интерпретатор «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shell</a:t>
            </a:r>
            <a:r>
              <a:rPr lang="ru-RU" sz="2800" dirty="0"/>
              <a:t>»</a:t>
            </a:r>
            <a:r>
              <a:rPr lang="ru-RU" sz="2800" dirty="0" smtClean="0"/>
              <a:t> </a:t>
            </a:r>
            <a:r>
              <a:rPr lang="ru-RU" sz="2800" dirty="0"/>
              <a:t>е програма със специално предназначение, </a:t>
            </a:r>
            <a:r>
              <a:rPr lang="ru-RU" sz="2800" dirty="0" smtClean="0"/>
              <a:t>отговаряща за интерфейса с потребителите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Той </a:t>
            </a:r>
            <a:r>
              <a:rPr lang="ru-RU" sz="2400" dirty="0"/>
              <a:t>чете </a:t>
            </a:r>
            <a:r>
              <a:rPr lang="ru-RU" sz="2400" dirty="0" smtClean="0"/>
              <a:t>въведената команда от потребителя, стартира подходящи </a:t>
            </a:r>
            <a:r>
              <a:rPr lang="ru-RU" sz="2400" dirty="0"/>
              <a:t>програми </a:t>
            </a:r>
            <a:r>
              <a:rPr lang="ru-RU" sz="2400" dirty="0" smtClean="0"/>
              <a:t>за изпълнение на командата и в края връща отговор.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За много ОС командният </a:t>
            </a:r>
            <a:r>
              <a:rPr lang="ru-RU" sz="2400" dirty="0"/>
              <a:t>интерпретатор е неразделна част от </a:t>
            </a:r>
            <a:r>
              <a:rPr lang="ru-RU" sz="2400" dirty="0" smtClean="0"/>
              <a:t>ядрото. При </a:t>
            </a:r>
            <a:r>
              <a:rPr lang="ru-RU" sz="2400" dirty="0"/>
              <a:t>UNIX системите </a:t>
            </a:r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това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 потребителски процес</a:t>
            </a:r>
            <a:r>
              <a:rPr lang="ru-RU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Той не </a:t>
            </a:r>
            <a:r>
              <a:rPr lang="ru-RU" sz="2400" dirty="0"/>
              <a:t>само </a:t>
            </a:r>
            <a:r>
              <a:rPr lang="ru-RU" sz="2400" dirty="0" smtClean="0"/>
              <a:t>поддържа интерактивна работа, </a:t>
            </a:r>
            <a:r>
              <a:rPr lang="ru-RU" sz="2400" dirty="0"/>
              <a:t>но </a:t>
            </a:r>
            <a:r>
              <a:rPr lang="ru-RU" sz="2400" dirty="0" smtClean="0"/>
              <a:t>реализира интерпретиране </a:t>
            </a:r>
            <a:r>
              <a:rPr lang="ru-RU" sz="2400" dirty="0"/>
              <a:t>на </a:t>
            </a:r>
            <a:r>
              <a:rPr lang="ru-RU" sz="2400" dirty="0" smtClean="0"/>
              <a:t>специални скриптове, </a:t>
            </a:r>
            <a:r>
              <a:rPr lang="ru-RU" sz="2400" dirty="0"/>
              <a:t>които са текстови </a:t>
            </a:r>
            <a:r>
              <a:rPr lang="ru-RU" sz="2400" dirty="0" smtClean="0"/>
              <a:t>файлове с команди за съответния команден интерпретатор. 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Използват се специални скриптови </a:t>
            </a:r>
            <a:r>
              <a:rPr lang="ru-RU" sz="2000" dirty="0" smtClean="0"/>
              <a:t>езиците </a:t>
            </a:r>
            <a:r>
              <a:rPr lang="ru-RU" sz="2000" dirty="0"/>
              <a:t>за </a:t>
            </a:r>
            <a:r>
              <a:rPr lang="ru-RU" sz="2000" dirty="0" smtClean="0"/>
              <a:t>програмиране, имащи променливи</a:t>
            </a:r>
            <a:r>
              <a:rPr lang="ru-RU" sz="2000" dirty="0"/>
              <a:t>, цикъл и условни оператори, I/O команди и функции.</a:t>
            </a:r>
            <a:endParaRPr lang="ru-RU" sz="2000" dirty="0" smtClean="0"/>
          </a:p>
          <a:p>
            <a:pPr>
              <a:spcBef>
                <a:spcPts val="300"/>
              </a:spcBef>
            </a:pPr>
            <a:r>
              <a:rPr lang="en-US" sz="2800" dirty="0" smtClean="0"/>
              <a:t>Unix</a:t>
            </a:r>
            <a:r>
              <a:rPr lang="bg-BG" sz="2800" dirty="0" smtClean="0"/>
              <a:t> </a:t>
            </a:r>
            <a:r>
              <a:rPr lang="bg-BG" sz="2800" dirty="0"/>
              <a:t>ОС може да има няколко командни </a:t>
            </a:r>
            <a:r>
              <a:rPr lang="bg-BG" sz="2800" dirty="0" smtClean="0"/>
              <a:t>интерпретатора, като най-разпространените са: 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Bourne shell</a:t>
            </a:r>
            <a:r>
              <a:rPr lang="bg-BG" sz="2400" dirty="0" smtClean="0"/>
              <a:t>, </a:t>
            </a:r>
            <a:r>
              <a:rPr lang="en-US" sz="2400" dirty="0" smtClean="0"/>
              <a:t>C shell</a:t>
            </a:r>
            <a:r>
              <a:rPr lang="bg-BG" sz="2400" dirty="0" smtClean="0"/>
              <a:t>, </a:t>
            </a:r>
            <a:r>
              <a:rPr lang="en-US" sz="2400" dirty="0" err="1" smtClean="0"/>
              <a:t>Korn</a:t>
            </a:r>
            <a:r>
              <a:rPr lang="en-US" sz="2400" dirty="0" smtClean="0"/>
              <a:t> shell</a:t>
            </a:r>
            <a:r>
              <a:rPr lang="bg-BG" sz="2400" dirty="0" smtClean="0"/>
              <a:t> </a:t>
            </a:r>
            <a:r>
              <a:rPr lang="bg-BG" sz="2400" dirty="0"/>
              <a:t>и </a:t>
            </a:r>
            <a:r>
              <a:rPr lang="en-US" sz="2400" dirty="0" smtClean="0"/>
              <a:t>Bourne </a:t>
            </a:r>
            <a:r>
              <a:rPr lang="en-US" sz="2400" dirty="0"/>
              <a:t>again </a:t>
            </a:r>
            <a:r>
              <a:rPr lang="en-US" sz="2400" dirty="0" smtClean="0"/>
              <a:t>shell</a:t>
            </a:r>
            <a:endParaRPr lang="bg-BG" sz="2400" dirty="0"/>
          </a:p>
          <a:p>
            <a:pPr lvl="1">
              <a:spcBef>
                <a:spcPts val="300"/>
              </a:spcBef>
            </a:pPr>
            <a:endParaRPr lang="bg-BG" sz="2400" dirty="0"/>
          </a:p>
          <a:p>
            <a:pPr lvl="1">
              <a:spcBef>
                <a:spcPts val="300"/>
              </a:spcBef>
            </a:pPr>
            <a:endParaRPr lang="bg-BG" sz="2400" dirty="0" smtClean="0"/>
          </a:p>
          <a:p>
            <a:pPr lvl="1">
              <a:spcBef>
                <a:spcPts val="300"/>
              </a:spcBef>
            </a:pPr>
            <a:endParaRPr lang="bg-BG" sz="2400" dirty="0"/>
          </a:p>
          <a:p>
            <a:pPr>
              <a:spcBef>
                <a:spcPts val="300"/>
              </a:spcBef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7312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Команден интерпретатор </a:t>
            </a:r>
            <a:r>
              <a:rPr lang="en-US" dirty="0" smtClean="0"/>
              <a:t>Shell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sz="2800" dirty="0" err="1" smtClean="0"/>
              <a:t>sh</a:t>
            </a:r>
            <a:r>
              <a:rPr lang="en-US" sz="2800" dirty="0" smtClean="0"/>
              <a:t> </a:t>
            </a:r>
            <a:r>
              <a:rPr lang="en-US" sz="2800" dirty="0"/>
              <a:t>(Bourne </a:t>
            </a:r>
            <a:r>
              <a:rPr lang="en-US" sz="2800" dirty="0" smtClean="0"/>
              <a:t>shell)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Това е стандартният интерпретатор за </a:t>
            </a:r>
            <a:r>
              <a:rPr lang="en-US" sz="2400" dirty="0" smtClean="0"/>
              <a:t>Unix v7</a:t>
            </a:r>
            <a:endParaRPr lang="bg-BG" sz="2400" dirty="0" smtClean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Включва много от най-използваните функции и затова всички следващи включват реализации на </a:t>
            </a:r>
            <a:r>
              <a:rPr lang="bg-BG" sz="2400" dirty="0"/>
              <a:t>команден </a:t>
            </a:r>
            <a:r>
              <a:rPr lang="bg-BG" sz="2400" dirty="0" smtClean="0"/>
              <a:t>интерпретатор в себе си този интерпретатор.</a:t>
            </a:r>
          </a:p>
          <a:p>
            <a:pPr marL="347663" lvl="1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en-US" dirty="0" err="1"/>
              <a:t>csh</a:t>
            </a:r>
            <a:r>
              <a:rPr lang="en-US" dirty="0"/>
              <a:t> (C shell</a:t>
            </a:r>
            <a:r>
              <a:rPr lang="en-US" dirty="0" smtClean="0"/>
              <a:t>)</a:t>
            </a:r>
            <a:endParaRPr lang="bg-BG" dirty="0" smtClean="0"/>
          </a:p>
          <a:p>
            <a:pPr marL="749300" lvl="2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Това е стандарт за </a:t>
            </a:r>
            <a:r>
              <a:rPr lang="en-US" dirty="0" smtClean="0"/>
              <a:t>BSD</a:t>
            </a:r>
            <a:r>
              <a:rPr lang="bg-BG" dirty="0" smtClean="0"/>
              <a:t> версията на </a:t>
            </a:r>
            <a:r>
              <a:rPr lang="en-US" dirty="0" smtClean="0"/>
              <a:t>Unix</a:t>
            </a:r>
            <a:r>
              <a:rPr lang="bg-BG" dirty="0" smtClean="0"/>
              <a:t>, но не е съвместима с командите на </a:t>
            </a:r>
            <a:r>
              <a:rPr lang="en-US" dirty="0" smtClean="0"/>
              <a:t>Bourne shell</a:t>
            </a:r>
            <a:r>
              <a:rPr lang="bg-BG" dirty="0" smtClean="0"/>
              <a:t>.</a:t>
            </a:r>
          </a:p>
          <a:p>
            <a:pPr marL="749300" lvl="2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Синтаксисът напомня операторите в езика </a:t>
            </a:r>
            <a:r>
              <a:rPr lang="en-US" dirty="0" smtClean="0"/>
              <a:t>C</a:t>
            </a:r>
            <a:r>
              <a:rPr lang="bg-BG" dirty="0" smtClean="0"/>
              <a:t>.</a:t>
            </a:r>
          </a:p>
          <a:p>
            <a:pPr marL="749300" lvl="2" indent="-347663"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Добавят се много полезни функции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sz="2800" dirty="0" err="1" smtClean="0"/>
              <a:t>ksh</a:t>
            </a:r>
            <a:r>
              <a:rPr lang="en-US" sz="2800" dirty="0" smtClean="0"/>
              <a:t> (</a:t>
            </a:r>
            <a:r>
              <a:rPr lang="en-US" sz="2800" dirty="0" err="1" smtClean="0"/>
              <a:t>Korn</a:t>
            </a:r>
            <a:r>
              <a:rPr lang="en-US" sz="2800" dirty="0" smtClean="0"/>
              <a:t> </a:t>
            </a:r>
            <a:r>
              <a:rPr lang="en-US" sz="2800" dirty="0"/>
              <a:t>shell</a:t>
            </a:r>
            <a:r>
              <a:rPr lang="en-US" sz="2800" dirty="0" smtClean="0"/>
              <a:t>)</a:t>
            </a:r>
            <a:endParaRPr lang="bg-BG" sz="2800" dirty="0" smtClean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Тя е напълно съвместима с </a:t>
            </a:r>
            <a:r>
              <a:rPr lang="en-US" sz="2400" dirty="0"/>
              <a:t>Bourne </a:t>
            </a:r>
            <a:r>
              <a:rPr lang="en-US" sz="2400" dirty="0" smtClean="0"/>
              <a:t>shell</a:t>
            </a:r>
            <a:r>
              <a:rPr lang="bg-BG" sz="2400" dirty="0" smtClean="0"/>
              <a:t>, но същевременно реализира функции от </a:t>
            </a:r>
            <a:r>
              <a:rPr lang="en-US" sz="2400" dirty="0"/>
              <a:t>C </a:t>
            </a:r>
            <a:r>
              <a:rPr lang="en-US" sz="2400" dirty="0" smtClean="0"/>
              <a:t>shell</a:t>
            </a:r>
            <a:r>
              <a:rPr lang="bg-BG" sz="2400" dirty="0" smtClean="0"/>
              <a:t>.</a:t>
            </a:r>
            <a:endParaRPr lang="en-US" sz="2400" dirty="0"/>
          </a:p>
          <a:p>
            <a:pPr>
              <a:spcBef>
                <a:spcPts val="300"/>
              </a:spcBef>
            </a:pPr>
            <a:endParaRPr lang="bg-BG" sz="2800" dirty="0"/>
          </a:p>
          <a:p>
            <a:pPr>
              <a:spcBef>
                <a:spcPts val="300"/>
              </a:spcBef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25043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Команден интерпретатор </a:t>
            </a:r>
            <a:r>
              <a:rPr lang="en-US" dirty="0" smtClean="0"/>
              <a:t>Shell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sz="2800" dirty="0" smtClean="0"/>
              <a:t>bash </a:t>
            </a:r>
            <a:r>
              <a:rPr lang="en-US" sz="2800" dirty="0"/>
              <a:t>(Bourne again </a:t>
            </a:r>
            <a:r>
              <a:rPr lang="en-US" sz="2800" dirty="0" smtClean="0"/>
              <a:t>shell)</a:t>
            </a:r>
            <a:endParaRPr lang="bg-BG" sz="2800" dirty="0" smtClean="0"/>
          </a:p>
          <a:p>
            <a:pPr lvl="1">
              <a:spcBef>
                <a:spcPts val="300"/>
              </a:spcBef>
            </a:pPr>
            <a:r>
              <a:rPr lang="ru-RU" sz="2400" dirty="0"/>
              <a:t>Bash е може би най-широко използваната обвивка на Linux. </a:t>
            </a:r>
            <a:endParaRPr lang="ru-RU" sz="24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Тази </a:t>
            </a:r>
            <a:r>
              <a:rPr lang="ru-RU" sz="2400" dirty="0"/>
              <a:t>обвивка е повторното внедряване на обвивката на Bourne от проекта </a:t>
            </a:r>
            <a:r>
              <a:rPr lang="ru-RU" sz="2400" dirty="0" smtClean="0"/>
              <a:t>GNU</a:t>
            </a:r>
            <a:r>
              <a:rPr lang="en-US" sz="2400" dirty="0" smtClean="0"/>
              <a:t>: </a:t>
            </a:r>
            <a:r>
              <a:rPr lang="bg-BG" sz="2400" dirty="0" smtClean="0"/>
              <a:t>прието е за </a:t>
            </a:r>
            <a:r>
              <a:rPr lang="ru-RU" sz="2400" dirty="0" smtClean="0"/>
              <a:t>автори да се считат Brian </a:t>
            </a:r>
            <a:r>
              <a:rPr lang="ru-RU" sz="2400" dirty="0"/>
              <a:t>Fox и ChetRamey. </a:t>
            </a:r>
            <a:endParaRPr lang="ru-RU" sz="2400" dirty="0" smtClean="0"/>
          </a:p>
          <a:p>
            <a:pPr lvl="2">
              <a:spcBef>
                <a:spcPts val="300"/>
              </a:spcBef>
            </a:pPr>
            <a:r>
              <a:rPr lang="ru-RU" sz="2000" dirty="0"/>
              <a:t>В Linux, Bourne</a:t>
            </a:r>
            <a:r>
              <a:rPr lang="en-US" sz="2000" dirty="0"/>
              <a:t> shell (</a:t>
            </a:r>
            <a:r>
              <a:rPr lang="ru-RU" sz="2000" dirty="0"/>
              <a:t>sh</a:t>
            </a:r>
            <a:r>
              <a:rPr lang="en-US" sz="2000" dirty="0"/>
              <a:t>) </a:t>
            </a:r>
            <a:r>
              <a:rPr lang="bg-BG" sz="2000" dirty="0"/>
              <a:t>реално </a:t>
            </a:r>
            <a:r>
              <a:rPr lang="ru-RU" sz="2000" dirty="0"/>
              <a:t>се предоставя от bash, който емулирайки sh възможно най-точно.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Интерпретаторът </a:t>
            </a:r>
            <a:r>
              <a:rPr lang="ru-RU" sz="2400" dirty="0" smtClean="0"/>
              <a:t>предоставя </a:t>
            </a:r>
            <a:r>
              <a:rPr lang="ru-RU" sz="2400" dirty="0"/>
              <a:t>интерактивни функции, подобни на тези, налични </a:t>
            </a:r>
            <a:r>
              <a:rPr lang="ru-RU" sz="2400" dirty="0" smtClean="0"/>
              <a:t>C </a:t>
            </a:r>
            <a:r>
              <a:rPr lang="en-US" sz="2400" dirty="0" smtClean="0"/>
              <a:t>shell </a:t>
            </a:r>
            <a:r>
              <a:rPr lang="ru-RU" sz="2400" dirty="0" smtClean="0"/>
              <a:t>и Korn</a:t>
            </a:r>
            <a:r>
              <a:rPr lang="en-US" sz="2400" dirty="0" smtClean="0"/>
              <a:t> shell</a:t>
            </a:r>
            <a:r>
              <a:rPr lang="ru-RU" sz="2400" dirty="0" smtClean="0"/>
              <a:t>. </a:t>
            </a:r>
            <a:endParaRPr lang="en-US" sz="2400" dirty="0" smtClean="0"/>
          </a:p>
          <a:p>
            <a:pPr>
              <a:spcBef>
                <a:spcPts val="300"/>
              </a:spcBef>
            </a:pPr>
            <a:r>
              <a:rPr lang="ru-RU" sz="2800" dirty="0" smtClean="0"/>
              <a:t>POSIX.2-1992 </a:t>
            </a:r>
            <a:r>
              <a:rPr lang="ru-RU" sz="2800" dirty="0"/>
              <a:t>уточнява стандарт за обвивката, който се основава на текущата </a:t>
            </a:r>
            <a:r>
              <a:rPr lang="ru-RU" sz="2800" dirty="0" smtClean="0"/>
              <a:t>в този момент </a:t>
            </a:r>
            <a:r>
              <a:rPr lang="ru-RU" sz="2800" dirty="0"/>
              <a:t>версия на </a:t>
            </a:r>
            <a:r>
              <a:rPr lang="ru-RU" sz="2800" dirty="0" smtClean="0"/>
              <a:t>Korn </a:t>
            </a:r>
            <a:r>
              <a:rPr lang="en-US" sz="2800" dirty="0"/>
              <a:t>shell</a:t>
            </a:r>
            <a:r>
              <a:rPr lang="ru-RU" sz="2800" dirty="0" smtClean="0"/>
              <a:t>. 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В </a:t>
            </a:r>
            <a:r>
              <a:rPr lang="ru-RU" sz="2400" dirty="0"/>
              <a:t>днешно време обвивката на </a:t>
            </a:r>
            <a:r>
              <a:rPr lang="ru-RU" sz="2400" dirty="0" smtClean="0"/>
              <a:t>Korn </a:t>
            </a:r>
            <a:r>
              <a:rPr lang="en-US" sz="2400" dirty="0"/>
              <a:t>shell</a:t>
            </a:r>
            <a:r>
              <a:rPr lang="ru-RU" sz="2400" dirty="0" smtClean="0"/>
              <a:t> </a:t>
            </a:r>
            <a:r>
              <a:rPr lang="ru-RU" sz="2400" dirty="0"/>
              <a:t>и bash отговарят на POSIX, но предоставят редица разширения към стандарта и много от тези разширения се различават между двете обвивки.</a:t>
            </a:r>
            <a:endParaRPr lang="en-US" sz="2400" dirty="0"/>
          </a:p>
          <a:p>
            <a:pPr>
              <a:spcBef>
                <a:spcPts val="300"/>
              </a:spcBef>
            </a:pPr>
            <a:endParaRPr lang="bg-BG" sz="2800" dirty="0"/>
          </a:p>
          <a:p>
            <a:pPr>
              <a:spcBef>
                <a:spcPts val="300"/>
              </a:spcBef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392400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Потребители и групи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bg-BG" dirty="0" smtClean="0"/>
              <a:t>С цел управление на достъпа до файлове и други ресурси, както и на някои административни процеси, в </a:t>
            </a:r>
            <a:r>
              <a:rPr lang="en-US" dirty="0" smtClean="0"/>
              <a:t>Linux</a:t>
            </a:r>
            <a:r>
              <a:rPr lang="bg-BG" dirty="0" smtClean="0"/>
              <a:t> потребителите са организирани в групи.</a:t>
            </a:r>
          </a:p>
          <a:p>
            <a:r>
              <a:rPr lang="ru-RU" dirty="0"/>
              <a:t>Всеки потребител </a:t>
            </a:r>
            <a:r>
              <a:rPr lang="ru-RU" dirty="0" smtClean="0"/>
              <a:t>има потребителско име за вход в системата, както и съответен </a:t>
            </a:r>
            <a:r>
              <a:rPr lang="ru-RU" dirty="0"/>
              <a:t>цифров потребителски идентификатор (UID). </a:t>
            </a:r>
            <a:endParaRPr lang="ru-RU" dirty="0" smtClean="0"/>
          </a:p>
          <a:p>
            <a:pPr lvl="1"/>
            <a:r>
              <a:rPr lang="ru-RU" dirty="0" smtClean="0"/>
              <a:t>За </a:t>
            </a:r>
            <a:r>
              <a:rPr lang="ru-RU" dirty="0"/>
              <a:t>всеки потребител те се определят от ред </a:t>
            </a:r>
            <a:r>
              <a:rPr lang="ru-RU" dirty="0" smtClean="0"/>
              <a:t>в</a:t>
            </a:r>
            <a:r>
              <a:rPr lang="en-US" dirty="0" smtClean="0"/>
              <a:t> </a:t>
            </a:r>
            <a:r>
              <a:rPr lang="bg-BG" dirty="0" smtClean="0"/>
              <a:t>системния</a:t>
            </a:r>
            <a:r>
              <a:rPr lang="ru-RU" dirty="0" smtClean="0"/>
              <a:t> файл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etc/passwd</a:t>
            </a:r>
            <a:r>
              <a:rPr lang="ru-RU" dirty="0"/>
              <a:t>, който включва следната </a:t>
            </a:r>
            <a:r>
              <a:rPr lang="ru-RU" dirty="0" smtClean="0"/>
              <a:t>информация</a:t>
            </a:r>
            <a:r>
              <a:rPr lang="ru-RU" dirty="0"/>
              <a:t>:</a:t>
            </a:r>
          </a:p>
          <a:p>
            <a:pPr lvl="2"/>
            <a:r>
              <a:rPr lang="ru-RU" dirty="0"/>
              <a:t>Идентификатор на </a:t>
            </a:r>
            <a:r>
              <a:rPr lang="ru-RU" dirty="0" smtClean="0"/>
              <a:t>група (</a:t>
            </a:r>
            <a:r>
              <a:rPr lang="en-US" dirty="0" smtClean="0"/>
              <a:t>Group ID)</a:t>
            </a:r>
            <a:r>
              <a:rPr lang="ru-RU" dirty="0" smtClean="0"/>
              <a:t>: </a:t>
            </a:r>
            <a:r>
              <a:rPr lang="ru-RU" dirty="0"/>
              <a:t>числовият идентификатор </a:t>
            </a:r>
            <a:r>
              <a:rPr lang="ru-RU" dirty="0" smtClean="0"/>
              <a:t>първата </a:t>
            </a:r>
            <a:r>
              <a:rPr lang="ru-RU" dirty="0"/>
              <a:t>от групите, в които потребителят е член.</a:t>
            </a:r>
          </a:p>
          <a:p>
            <a:pPr lvl="2"/>
            <a:r>
              <a:rPr lang="ru-RU" dirty="0"/>
              <a:t>Домашна директория: първоначалната директория, в която се поставя потребителят след влизане.</a:t>
            </a:r>
          </a:p>
          <a:p>
            <a:pPr lvl="2"/>
            <a:r>
              <a:rPr lang="ru-RU" dirty="0"/>
              <a:t>Shell за влизане: името на програмата, която трябва да се изпълни за интерпретиране на потребителски команди.</a:t>
            </a:r>
          </a:p>
          <a:p>
            <a:pPr lvl="1"/>
            <a:r>
              <a:rPr lang="ru-RU" dirty="0"/>
              <a:t>Записът на паролата може също да включва паролата на потребителя в криптирана форма.</a:t>
            </a:r>
          </a:p>
          <a:p>
            <a:pPr lvl="2"/>
            <a:r>
              <a:rPr lang="ru-RU" dirty="0"/>
              <a:t>От съображения за сигурност обаче паролата често се съхранява в отделен файл с парола в сянка, който може да се чете само от привилегировани потребители.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6749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Потребители и групи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Всяка група се идентифицира с един ред </a:t>
            </a:r>
            <a:r>
              <a:rPr lang="ru-RU" dirty="0" smtClean="0"/>
              <a:t>в системния файл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etc/group</a:t>
            </a:r>
            <a:r>
              <a:rPr lang="ru-RU" dirty="0"/>
              <a:t>, който включва следната информация</a:t>
            </a:r>
            <a:r>
              <a:rPr lang="ru-RU" dirty="0" smtClean="0"/>
              <a:t>:</a:t>
            </a:r>
          </a:p>
          <a:p>
            <a:pPr lvl="1"/>
            <a:r>
              <a:rPr lang="ru-RU" dirty="0" smtClean="0"/>
              <a:t>Име </a:t>
            </a:r>
            <a:r>
              <a:rPr lang="ru-RU" dirty="0"/>
              <a:t>на група: </a:t>
            </a:r>
            <a:endParaRPr lang="ru-RU" dirty="0" smtClean="0"/>
          </a:p>
          <a:p>
            <a:pPr lvl="2"/>
            <a:r>
              <a:rPr lang="ru-RU" dirty="0" smtClean="0"/>
              <a:t>(</a:t>
            </a:r>
            <a:r>
              <a:rPr lang="ru-RU" dirty="0"/>
              <a:t>уникалното) име на групата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Идентификатор на </a:t>
            </a:r>
            <a:r>
              <a:rPr lang="ru-RU" dirty="0"/>
              <a:t>групата (GID): </a:t>
            </a:r>
            <a:endParaRPr lang="ru-RU" dirty="0" smtClean="0"/>
          </a:p>
          <a:p>
            <a:pPr lvl="2"/>
            <a:r>
              <a:rPr lang="ru-RU" dirty="0" smtClean="0"/>
              <a:t>цифровият </a:t>
            </a:r>
            <a:r>
              <a:rPr lang="ru-RU" dirty="0"/>
              <a:t>идентификатор, свързан с тази група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Потребителски </a:t>
            </a:r>
            <a:r>
              <a:rPr lang="ru-RU" dirty="0"/>
              <a:t>списък: </a:t>
            </a:r>
            <a:endParaRPr lang="ru-RU" dirty="0" smtClean="0"/>
          </a:p>
          <a:p>
            <a:pPr lvl="2"/>
            <a:r>
              <a:rPr lang="ru-RU" dirty="0" smtClean="0"/>
              <a:t>Това е списък </a:t>
            </a:r>
            <a:r>
              <a:rPr lang="ru-RU" dirty="0"/>
              <a:t>с имена за влизане на </a:t>
            </a:r>
            <a:r>
              <a:rPr lang="ru-RU" dirty="0" smtClean="0"/>
              <a:t>потребители, разделени </a:t>
            </a:r>
            <a:r>
              <a:rPr lang="ru-RU" dirty="0"/>
              <a:t>със </a:t>
            </a:r>
            <a:r>
              <a:rPr lang="ru-RU" dirty="0" smtClean="0"/>
              <a:t>запетаи: всички описани потребители са са </a:t>
            </a:r>
            <a:r>
              <a:rPr lang="ru-RU" dirty="0"/>
              <a:t>членове на тази група </a:t>
            </a:r>
            <a:r>
              <a:rPr lang="ru-RU" dirty="0" smtClean="0"/>
              <a:t>(съществуват някои ограничения за членовете на групата).</a:t>
            </a:r>
          </a:p>
          <a:p>
            <a:pPr lvl="2"/>
            <a:r>
              <a:rPr lang="ru-RU" dirty="0" smtClean="0"/>
              <a:t>В </a:t>
            </a:r>
            <a:r>
              <a:rPr lang="en-US" dirty="0" smtClean="0"/>
              <a:t>POSIX.1-1990</a:t>
            </a:r>
            <a:r>
              <a:rPr lang="bg-BG" dirty="0" smtClean="0"/>
              <a:t> е дефинирана възможността един потребител да е част от няколко групи.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7466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Потребители и групи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Има един (само един) потребител, който има специални привилегии в системата. Той се нарича </a:t>
            </a:r>
            <a:r>
              <a:rPr lang="bg-BG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супервайзор</a:t>
            </a:r>
            <a:r>
              <a:rPr lang="bg-BG" dirty="0" smtClean="0"/>
              <a:t>.</a:t>
            </a:r>
          </a:p>
          <a:p>
            <a:pPr lvl="1"/>
            <a:r>
              <a:rPr lang="ru-RU" dirty="0" smtClean="0"/>
              <a:t>Неговият акаунт има </a:t>
            </a:r>
            <a:r>
              <a:rPr lang="ru-RU" dirty="0"/>
              <a:t>потребителски идентификатор 0 и обикновено има root име за вход. </a:t>
            </a:r>
            <a:endParaRPr lang="ru-RU" dirty="0" smtClean="0"/>
          </a:p>
          <a:p>
            <a:pPr lvl="1"/>
            <a:r>
              <a:rPr lang="ru-RU" dirty="0" smtClean="0"/>
              <a:t>В </a:t>
            </a:r>
            <a:r>
              <a:rPr lang="ru-RU" dirty="0"/>
              <a:t>типичните UNIX системи </a:t>
            </a:r>
            <a:r>
              <a:rPr lang="ru-RU" dirty="0" smtClean="0"/>
              <a:t>супервайзорът «заобикаля» </a:t>
            </a:r>
            <a:r>
              <a:rPr lang="ru-RU" dirty="0"/>
              <a:t>всички проверки </a:t>
            </a:r>
            <a:r>
              <a:rPr lang="ru-RU" dirty="0" smtClean="0"/>
              <a:t>за права на достъп в </a:t>
            </a:r>
            <a:r>
              <a:rPr lang="ru-RU" dirty="0"/>
              <a:t>системата. </a:t>
            </a:r>
            <a:endParaRPr lang="ru-RU" dirty="0" smtClean="0"/>
          </a:p>
          <a:p>
            <a:pPr lvl="2"/>
            <a:r>
              <a:rPr lang="ru-RU" dirty="0" smtClean="0"/>
              <a:t>Така например той може </a:t>
            </a:r>
            <a:r>
              <a:rPr lang="ru-RU" dirty="0"/>
              <a:t>да има достъп до всеки файл в системата, независимо от разрешенията за този файл, и може да изпраща сигнали до всеки потребителски процес в системата. </a:t>
            </a:r>
            <a:endParaRPr lang="ru-RU" dirty="0" smtClean="0"/>
          </a:p>
          <a:p>
            <a:pPr lvl="1"/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Системният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администратор </a:t>
            </a:r>
            <a:r>
              <a:rPr lang="ru-RU" dirty="0"/>
              <a:t>използва акаунта на </a:t>
            </a:r>
            <a:r>
              <a:rPr lang="ru-RU" dirty="0" smtClean="0"/>
              <a:t>съпервайзора </a:t>
            </a:r>
            <a:r>
              <a:rPr lang="ru-RU" dirty="0"/>
              <a:t>за да изпълнява различни административни задачи в системата.</a:t>
            </a:r>
            <a:endParaRPr lang="bg-BG" dirty="0" smtClean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8177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обръщения в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Системното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обръщение </a:t>
            </a:r>
            <a:r>
              <a:rPr lang="ru-RU" dirty="0"/>
              <a:t>е управлявана входна точка към ядрото, която позволява на процес да поиска от ядрото да извърши някакво действие от името на процеса. </a:t>
            </a:r>
            <a:endParaRPr lang="ru-RU" dirty="0" smtClean="0"/>
          </a:p>
          <a:p>
            <a:pPr lvl="1"/>
            <a:r>
              <a:rPr lang="ru-RU" dirty="0" smtClean="0"/>
              <a:t>Ядрото </a:t>
            </a:r>
            <a:r>
              <a:rPr lang="ru-RU" dirty="0"/>
              <a:t>позволява на програмите да имат достъп до определени услуги, използвайки </a:t>
            </a:r>
            <a:r>
              <a:rPr lang="ru-RU" dirty="0" smtClean="0"/>
              <a:t>API-интерфейс за осъществяване на системни обръщения. </a:t>
            </a:r>
          </a:p>
          <a:p>
            <a:pPr lvl="1"/>
            <a:r>
              <a:rPr lang="ru-RU" dirty="0" smtClean="0"/>
              <a:t>Тези </a:t>
            </a:r>
            <a:r>
              <a:rPr lang="ru-RU" dirty="0"/>
              <a:t>услуги </a:t>
            </a:r>
            <a:r>
              <a:rPr lang="ru-RU" dirty="0" smtClean="0"/>
              <a:t>включват създаване </a:t>
            </a:r>
            <a:r>
              <a:rPr lang="ru-RU" dirty="0"/>
              <a:t>на нов процес, извършване на </a:t>
            </a:r>
            <a:r>
              <a:rPr lang="ru-RU" dirty="0" smtClean="0"/>
              <a:t>В/И операция, създаване </a:t>
            </a:r>
            <a:r>
              <a:rPr lang="ru-RU" dirty="0"/>
              <a:t>на канали за комуникация между </a:t>
            </a:r>
            <a:r>
              <a:rPr lang="ru-RU" dirty="0" smtClean="0"/>
              <a:t>процесите, както и други действия.</a:t>
            </a:r>
            <a:endParaRPr lang="ru-RU" dirty="0"/>
          </a:p>
          <a:p>
            <a:r>
              <a:rPr lang="ru-RU" dirty="0" smtClean="0"/>
              <a:t>Общи характеристики на системните обръщения:</a:t>
            </a:r>
          </a:p>
          <a:p>
            <a:pPr lvl="1"/>
            <a:r>
              <a:rPr lang="ru-RU" dirty="0" smtClean="0"/>
              <a:t>Те променя </a:t>
            </a:r>
            <a:r>
              <a:rPr lang="ru-RU" dirty="0"/>
              <a:t>състоянието на процесора от потребителски режим в режим на ядрото, като по този начин позволява на процесора да има достъп до защитената памет на ядрото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Те не се променя като множество. </a:t>
            </a:r>
          </a:p>
          <a:p>
            <a:pPr lvl="1"/>
            <a:r>
              <a:rPr lang="ru-RU" dirty="0" smtClean="0"/>
              <a:t>Всяко </a:t>
            </a:r>
            <a:r>
              <a:rPr lang="ru-RU" dirty="0"/>
              <a:t>системно повикване се идентифицира с уникален номер. </a:t>
            </a:r>
            <a:endParaRPr lang="ru-RU" dirty="0" smtClean="0"/>
          </a:p>
          <a:p>
            <a:pPr lvl="2"/>
            <a:r>
              <a:rPr lang="ru-RU" dirty="0" smtClean="0"/>
              <a:t>Обикновено </a:t>
            </a:r>
            <a:r>
              <a:rPr lang="ru-RU" dirty="0"/>
              <a:t>програмите не познават тази система за номериране; те идентифицират системните повиквания по име</a:t>
            </a:r>
            <a:r>
              <a:rPr lang="ru-R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40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12" y="2438400"/>
            <a:ext cx="7206413" cy="37212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Файлова подсистема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bg-BG" sz="2800" dirty="0" smtClean="0"/>
              <a:t>Използва се йерархична система, базирана на дървовидна форма.</a:t>
            </a:r>
            <a:endParaRPr lang="en-US" sz="2800" dirty="0" smtClean="0"/>
          </a:p>
          <a:p>
            <a:r>
              <a:rPr lang="ru-RU" sz="2800" dirty="0"/>
              <a:t>В рамките на файловата система всеки </a:t>
            </a:r>
            <a:r>
              <a:rPr lang="ru-RU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</a:t>
            </a:r>
            <a:r>
              <a:rPr lang="ru-RU" sz="2800" dirty="0"/>
              <a:t> е маркиран с тип, показващ какъв вид е файлът. </a:t>
            </a:r>
            <a:endParaRPr lang="en-US" sz="2800" dirty="0" smtClean="0"/>
          </a:p>
          <a:p>
            <a:pPr lvl="1"/>
            <a:r>
              <a:rPr lang="ru-RU" sz="2400" dirty="0" smtClean="0"/>
              <a:t>Най-често това са т.нар. обикновени </a:t>
            </a:r>
            <a:r>
              <a:rPr lang="ru-RU" sz="2400" dirty="0"/>
              <a:t>файлове с </a:t>
            </a:r>
            <a:r>
              <a:rPr lang="ru-RU" sz="2400" dirty="0" smtClean="0"/>
              <a:t>данни</a:t>
            </a:r>
            <a:r>
              <a:rPr lang="en-US" sz="2400" dirty="0" smtClean="0"/>
              <a:t> (</a:t>
            </a:r>
            <a:r>
              <a:rPr lang="bg-BG" sz="2400" dirty="0" smtClean="0"/>
              <a:t>англ.</a:t>
            </a:r>
            <a:r>
              <a:rPr lang="en-US" sz="2400" dirty="0" smtClean="0"/>
              <a:t> regular/plain files)</a:t>
            </a:r>
            <a:endParaRPr lang="ru-RU" sz="2400" dirty="0" smtClean="0"/>
          </a:p>
          <a:p>
            <a:pPr lvl="1"/>
            <a:r>
              <a:rPr lang="ru-RU" sz="2400" dirty="0" smtClean="0"/>
              <a:t>Съществуват и други </a:t>
            </a:r>
            <a:r>
              <a:rPr lang="ru-RU" sz="2400" dirty="0"/>
              <a:t>типове файлове включват устройства, канали, сокети, директории и символни връзки</a:t>
            </a:r>
            <a:r>
              <a:rPr lang="ru-RU" sz="2400" dirty="0" smtClean="0"/>
              <a:t>.</a:t>
            </a:r>
          </a:p>
          <a:p>
            <a:pPr lvl="1"/>
            <a:r>
              <a:rPr lang="ru-RU" sz="2400" dirty="0" smtClean="0"/>
              <a:t>В </a:t>
            </a:r>
            <a:r>
              <a:rPr lang="en-US" sz="2400" dirty="0" smtClean="0"/>
              <a:t>Linux</a:t>
            </a:r>
            <a:r>
              <a:rPr lang="bg-BG" sz="2400" dirty="0" smtClean="0"/>
              <a:t> т</a:t>
            </a:r>
            <a:r>
              <a:rPr lang="ru-RU" sz="2400" dirty="0" smtClean="0"/>
              <a:t>ерминът «файл» се </a:t>
            </a:r>
            <a:r>
              <a:rPr lang="ru-RU" sz="2400" dirty="0"/>
              <a:t>използва за обозначаване на файл от всякакъв тип, а не само обикновен </a:t>
            </a:r>
            <a:r>
              <a:rPr lang="ru-RU" sz="2400" dirty="0" smtClean="0"/>
              <a:t>файл с данни.</a:t>
            </a:r>
            <a:endParaRPr lang="en-US" sz="2400" dirty="0" smtClean="0"/>
          </a:p>
          <a:p>
            <a:r>
              <a:rPr lang="ru-RU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Директорията</a:t>
            </a:r>
            <a:r>
              <a:rPr lang="ru-RU" sz="2800" dirty="0"/>
              <a:t> е специален файл, чието съдържание е под формата на таблица с имена на файлове, съчетани с препратки към съответните файлове. </a:t>
            </a:r>
            <a:endParaRPr lang="ru-RU" sz="2800" dirty="0" smtClean="0"/>
          </a:p>
          <a:p>
            <a:pPr lvl="1"/>
            <a:r>
              <a:rPr lang="ru-RU" sz="2400" dirty="0" smtClean="0"/>
              <a:t>Според стандарта за </a:t>
            </a:r>
            <a:r>
              <a:rPr lang="en-US" sz="2400" dirty="0" smtClean="0"/>
              <a:t>Linux</a:t>
            </a:r>
            <a:r>
              <a:rPr lang="bg-BG" sz="2400" dirty="0" smtClean="0"/>
              <a:t>, </a:t>
            </a:r>
            <a:r>
              <a:rPr lang="ru-RU" sz="2400" dirty="0" smtClean="0"/>
              <a:t>файловете </a:t>
            </a:r>
            <a:r>
              <a:rPr lang="ru-RU" sz="2400" dirty="0"/>
              <a:t>могат да имат множество </a:t>
            </a:r>
            <a:r>
              <a:rPr lang="ru-RU" sz="2400" dirty="0" smtClean="0"/>
              <a:t>имена </a:t>
            </a:r>
            <a:r>
              <a:rPr lang="ru-RU" sz="2400" dirty="0"/>
              <a:t>в една и съща или в различни директории.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75215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Файлова подсистема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Всяка може </a:t>
            </a:r>
            <a:r>
              <a:rPr lang="ru-RU" sz="2800" dirty="0"/>
              <a:t>да съдържат връзки както към файлове, така и към други директории. </a:t>
            </a:r>
            <a:endParaRPr lang="ru-RU" sz="2800" dirty="0" smtClean="0"/>
          </a:p>
          <a:p>
            <a:pPr lvl="1"/>
            <a:r>
              <a:rPr lang="ru-RU" sz="2400" dirty="0" smtClean="0"/>
              <a:t>Връзките </a:t>
            </a:r>
            <a:r>
              <a:rPr lang="ru-RU" sz="2400" dirty="0"/>
              <a:t>между директориите установяват йерархията на директориите. </a:t>
            </a:r>
            <a:endParaRPr lang="ru-RU" sz="2400" dirty="0" smtClean="0"/>
          </a:p>
          <a:p>
            <a:pPr lvl="1"/>
            <a:r>
              <a:rPr lang="ru-RU" sz="2400" dirty="0"/>
              <a:t>Всяка директория съдържа поне два записа: </a:t>
            </a:r>
            <a:endParaRPr lang="ru-RU" sz="2400" dirty="0" smtClean="0"/>
          </a:p>
          <a:p>
            <a:pPr lvl="2"/>
            <a:r>
              <a:rPr lang="ru-RU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(точка)</a:t>
            </a:r>
            <a:r>
              <a:rPr lang="ru-RU" sz="2000" dirty="0"/>
              <a:t>, което е връзка към самата директория, и </a:t>
            </a:r>
            <a:endParaRPr lang="ru-RU" sz="2000" dirty="0" smtClean="0"/>
          </a:p>
          <a:p>
            <a:pPr lvl="2"/>
            <a:r>
              <a:rPr lang="ru-RU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 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(точка-точка), </a:t>
            </a:r>
            <a:r>
              <a:rPr lang="ru-RU" sz="2000" dirty="0"/>
              <a:t>което е връзка към нейната родителска директория, директорията над нея в йерархията. </a:t>
            </a:r>
            <a:endParaRPr lang="ru-RU" sz="2000" dirty="0" smtClean="0"/>
          </a:p>
          <a:p>
            <a:pPr lvl="1"/>
            <a:r>
              <a:rPr lang="ru-RU" sz="2400" dirty="0" smtClean="0"/>
              <a:t>Всяка </a:t>
            </a:r>
            <a:r>
              <a:rPr lang="ru-RU" sz="2400" dirty="0"/>
              <a:t>директория, с изключение на основната директория, има родител. </a:t>
            </a:r>
            <a:endParaRPr lang="ru-RU" sz="2400" dirty="0" smtClean="0"/>
          </a:p>
          <a:p>
            <a:pPr lvl="2"/>
            <a:r>
              <a:rPr lang="ru-RU" sz="2000" dirty="0" smtClean="0"/>
              <a:t>За </a:t>
            </a:r>
            <a:r>
              <a:rPr lang="ru-RU" sz="2000" dirty="0"/>
              <a:t>основната директория записът </a:t>
            </a:r>
            <a:r>
              <a:rPr lang="bg-BG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 (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точка-точка) </a:t>
            </a:r>
            <a:r>
              <a:rPr lang="ru-RU" sz="2000" dirty="0"/>
              <a:t>е връзка към самата основна директория </a:t>
            </a:r>
            <a:r>
              <a:rPr lang="ru-RU" sz="2000" dirty="0" smtClean="0"/>
              <a:t>(т.е. 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/..</a:t>
            </a:r>
            <a:r>
              <a:rPr lang="ru-RU" sz="2000" dirty="0" smtClean="0"/>
              <a:t> е еквивалентно на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ru-RU" sz="2000" dirty="0"/>
              <a:t>).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209287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Файлова подсистема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800" dirty="0" smtClean="0"/>
              <a:t>Освен класическата връзка с файловете, </a:t>
            </a:r>
            <a:r>
              <a:rPr lang="en-US" sz="2800" dirty="0" smtClean="0"/>
              <a:t>Linux </a:t>
            </a:r>
            <a:r>
              <a:rPr lang="bg-BG" sz="2800" dirty="0" smtClean="0"/>
              <a:t>дефинира и втора форма – т.нар. </a:t>
            </a:r>
            <a:r>
              <a:rPr lang="ru-RU" sz="2800" dirty="0" smtClean="0"/>
              <a:t>символната връзка (англ. </a:t>
            </a:r>
            <a:r>
              <a:rPr lang="en-US" sz="2800" dirty="0"/>
              <a:t>Symbolic </a:t>
            </a:r>
            <a:r>
              <a:rPr lang="en-US" sz="2800" dirty="0" smtClean="0"/>
              <a:t>links</a:t>
            </a:r>
            <a:r>
              <a:rPr lang="bg-BG" sz="2800" dirty="0" smtClean="0"/>
              <a:t>).</a:t>
            </a:r>
          </a:p>
          <a:p>
            <a:pPr lvl="1"/>
            <a:r>
              <a:rPr lang="ru-RU" sz="2400" dirty="0" smtClean="0"/>
              <a:t>Тази форма дефинира </a:t>
            </a:r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алтернативно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 за файл</a:t>
            </a:r>
            <a:r>
              <a:rPr lang="ru-RU" sz="2400" dirty="0"/>
              <a:t>. </a:t>
            </a:r>
            <a:endParaRPr lang="ru-RU" sz="2400" dirty="0" smtClean="0"/>
          </a:p>
          <a:p>
            <a:pPr lvl="1"/>
            <a:r>
              <a:rPr lang="ru-RU" sz="2400" dirty="0" smtClean="0"/>
              <a:t>Символната връзка </a:t>
            </a:r>
            <a:r>
              <a:rPr lang="ru-RU" sz="2400" dirty="0"/>
              <a:t>е специално маркиран файл, съдържащ името на друг файл. </a:t>
            </a:r>
            <a:endParaRPr lang="ru-RU" sz="2400" dirty="0" smtClean="0"/>
          </a:p>
          <a:p>
            <a:pPr lvl="2"/>
            <a:r>
              <a:rPr lang="ru-RU" sz="2000" dirty="0" smtClean="0"/>
              <a:t>Нормалната връзка </a:t>
            </a:r>
            <a:r>
              <a:rPr lang="ru-RU" sz="2000" dirty="0"/>
              <a:t>е запис на име на файл плюс указател в списък с </a:t>
            </a:r>
            <a:r>
              <a:rPr lang="ru-RU" sz="2000" dirty="0" smtClean="0"/>
              <a:t>директории. </a:t>
            </a:r>
            <a:endParaRPr lang="ru-RU" sz="2000" dirty="0"/>
          </a:p>
          <a:p>
            <a:pPr lvl="2"/>
            <a:r>
              <a:rPr lang="ru-RU" sz="2000" dirty="0" smtClean="0"/>
              <a:t>Символна връзка </a:t>
            </a:r>
            <a:r>
              <a:rPr lang="ru-RU" sz="2000" dirty="0"/>
              <a:t>има запис име на файл плюс указател в </a:t>
            </a:r>
            <a:r>
              <a:rPr lang="ru-RU" sz="2000" dirty="0" smtClean="0"/>
              <a:t>директория, като този указан файлът съдържа </a:t>
            </a:r>
            <a:r>
              <a:rPr lang="ru-RU" sz="2000" dirty="0"/>
              <a:t>низ, който </a:t>
            </a:r>
            <a:r>
              <a:rPr lang="ru-RU" sz="2000" dirty="0" smtClean="0"/>
              <a:t>се явява име на </a:t>
            </a:r>
            <a:r>
              <a:rPr lang="ru-RU" sz="2000" dirty="0"/>
              <a:t>друг </a:t>
            </a:r>
            <a:r>
              <a:rPr lang="ru-RU" sz="2000" dirty="0" smtClean="0"/>
              <a:t>файл (т.нар. </a:t>
            </a:r>
            <a:r>
              <a:rPr lang="ru-RU" sz="2000" dirty="0"/>
              <a:t>цел на символната </a:t>
            </a:r>
            <a:r>
              <a:rPr lang="ru-RU" sz="2000" dirty="0" smtClean="0"/>
              <a:t>връзка): символната </a:t>
            </a:r>
            <a:r>
              <a:rPr lang="ru-RU" sz="2000" dirty="0"/>
              <a:t>връзка "</a:t>
            </a:r>
            <a:r>
              <a:rPr lang="ru-RU" sz="2000" dirty="0" smtClean="0"/>
              <a:t>сочи/препраща</a:t>
            </a:r>
            <a:r>
              <a:rPr lang="ru-RU" sz="2000" dirty="0"/>
              <a:t>" към целевия файл. </a:t>
            </a:r>
            <a:endParaRPr lang="ru-RU" sz="2000" dirty="0" smtClean="0"/>
          </a:p>
          <a:p>
            <a:pPr lvl="2"/>
            <a:r>
              <a:rPr lang="ru-RU" sz="2000" dirty="0" smtClean="0"/>
              <a:t>Висяща връзка - ако </a:t>
            </a:r>
            <a:r>
              <a:rPr lang="ru-RU" sz="2000" dirty="0"/>
              <a:t>символна връзка препраща към несъществуващ </a:t>
            </a:r>
            <a:r>
              <a:rPr lang="ru-RU" sz="2000" dirty="0" smtClean="0"/>
              <a:t>файл. </a:t>
            </a:r>
          </a:p>
          <a:p>
            <a:pPr lvl="1"/>
            <a:r>
              <a:rPr lang="ru-RU" sz="2400" dirty="0" smtClean="0"/>
              <a:t>Когато пътят е посочен </a:t>
            </a:r>
            <a:r>
              <a:rPr lang="ru-RU" sz="2400" dirty="0"/>
              <a:t>в системно извикване, в повечето случаи ядрото автоматично дереферира (или </a:t>
            </a:r>
            <a:r>
              <a:rPr lang="ru-RU" sz="2400" dirty="0" smtClean="0"/>
              <a:t>следва</a:t>
            </a:r>
            <a:r>
              <a:rPr lang="ru-RU" sz="2400" dirty="0"/>
              <a:t>) всяка символна връзка в пътя, замествайки я с името на файла, към което сочи. </a:t>
            </a:r>
            <a:endParaRPr lang="ru-RU" sz="2400" dirty="0" smtClean="0"/>
          </a:p>
          <a:p>
            <a:pPr lvl="2"/>
            <a:r>
              <a:rPr lang="ru-RU" sz="2000" dirty="0" smtClean="0"/>
              <a:t>Този </a:t>
            </a:r>
            <a:r>
              <a:rPr lang="ru-RU" sz="2000" dirty="0"/>
              <a:t>процес може да се случи рекурсивно, ако целта на символна връзка сама по себе си е символна </a:t>
            </a:r>
            <a:r>
              <a:rPr lang="ru-RU" sz="2000" dirty="0" smtClean="0"/>
              <a:t>връзка: има ограничения за </a:t>
            </a:r>
            <a:r>
              <a:rPr lang="ru-RU" sz="2000" dirty="0"/>
              <a:t>да се </a:t>
            </a:r>
            <a:r>
              <a:rPr lang="bg-BG" sz="2000" dirty="0" smtClean="0"/>
              <a:t>създават </a:t>
            </a:r>
            <a:r>
              <a:rPr lang="ru-RU" sz="2000" smtClean="0"/>
              <a:t>кръгови </a:t>
            </a:r>
            <a:r>
              <a:rPr lang="ru-RU" sz="2000" dirty="0"/>
              <a:t>вериги от символни </a:t>
            </a:r>
            <a:r>
              <a:rPr lang="ru-RU" sz="2000"/>
              <a:t>връзки</a:t>
            </a:r>
            <a:r>
              <a:rPr lang="ru-RU" sz="2000" smtClean="0"/>
              <a:t>. 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52617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Файлова подсистема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В повечето </a:t>
            </a:r>
            <a:r>
              <a:rPr lang="ru-RU" sz="2800" dirty="0" smtClean="0"/>
              <a:t>версии на файлови </a:t>
            </a:r>
            <a:r>
              <a:rPr lang="ru-RU" sz="2800" dirty="0"/>
              <a:t>системи </a:t>
            </a:r>
            <a:r>
              <a:rPr lang="ru-RU" sz="2800" dirty="0" smtClean="0"/>
              <a:t>за </a:t>
            </a:r>
            <a:r>
              <a:rPr lang="ru-RU" sz="2800" dirty="0"/>
              <a:t>Linux имената на файловете могат да бъдат с дължина до 255 символа. </a:t>
            </a:r>
            <a:endParaRPr lang="ru-RU" sz="2800" dirty="0" smtClean="0"/>
          </a:p>
          <a:p>
            <a:pPr lvl="1"/>
            <a:r>
              <a:rPr lang="ru-RU" sz="2400" dirty="0" smtClean="0"/>
              <a:t>Имената </a:t>
            </a:r>
            <a:r>
              <a:rPr lang="ru-RU" sz="2400" dirty="0"/>
              <a:t>на файловете могат да съдържат всякакви знаци с изключение на наклонени черти (/) и </a:t>
            </a:r>
            <a:r>
              <a:rPr lang="en-US" sz="2400" dirty="0" smtClean="0"/>
              <a:t>ASCII Zero</a:t>
            </a:r>
            <a:r>
              <a:rPr lang="ru-RU" sz="2400" dirty="0" smtClean="0"/>
              <a:t> </a:t>
            </a:r>
            <a:r>
              <a:rPr lang="ru-RU" sz="2400" dirty="0"/>
              <a:t>(\0). </a:t>
            </a:r>
            <a:endParaRPr lang="ru-RU" sz="2400" dirty="0" smtClean="0"/>
          </a:p>
          <a:p>
            <a:pPr lvl="1"/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Преносим набор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символи </a:t>
            </a:r>
            <a:endParaRPr lang="ru-RU" sz="24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u-RU" sz="2000" dirty="0" smtClean="0"/>
              <a:t>В SUSv3 този </a:t>
            </a:r>
            <a:r>
              <a:rPr lang="ru-RU" sz="2000" dirty="0"/>
              <a:t>набор </a:t>
            </a:r>
            <a:r>
              <a:rPr lang="ru-RU" sz="2000" dirty="0" smtClean="0"/>
              <a:t>е от </a:t>
            </a:r>
            <a:r>
              <a:rPr lang="ru-RU" sz="2000" dirty="0"/>
              <a:t>65 символа [-._a-zA-Z0-9] </a:t>
            </a:r>
            <a:r>
              <a:rPr lang="ru-RU" sz="2000" dirty="0" smtClean="0"/>
              <a:t>и се само тези символи да се използват в имане на файлове.</a:t>
            </a:r>
          </a:p>
          <a:p>
            <a:pPr lvl="2"/>
            <a:r>
              <a:rPr lang="ru-RU" sz="2000" dirty="0" smtClean="0"/>
              <a:t>Използването на </a:t>
            </a:r>
            <a:r>
              <a:rPr lang="ru-RU" sz="2000" dirty="0"/>
              <a:t>символи в имената на файловете, които не са в </a:t>
            </a:r>
            <a:r>
              <a:rPr lang="ru-RU" sz="2000" dirty="0" smtClean="0"/>
              <a:t>този набор е нежелателно, </a:t>
            </a:r>
            <a:r>
              <a:rPr lang="ru-RU" sz="2000" dirty="0"/>
              <a:t>тъй като тези символи могат да имат специално значение в </a:t>
            </a:r>
            <a:r>
              <a:rPr lang="ru-RU" sz="2000" dirty="0" smtClean="0"/>
              <a:t>конкретния </a:t>
            </a:r>
            <a:r>
              <a:rPr lang="en-US" sz="2000" dirty="0" smtClean="0"/>
              <a:t>shell</a:t>
            </a:r>
            <a:r>
              <a:rPr lang="ru-RU" sz="2000" dirty="0" smtClean="0"/>
              <a:t>, </a:t>
            </a:r>
            <a:r>
              <a:rPr lang="ru-RU" sz="2000" dirty="0"/>
              <a:t>в </a:t>
            </a:r>
            <a:r>
              <a:rPr lang="ru-RU" sz="2000" dirty="0" smtClean="0"/>
              <a:t>регулярни </a:t>
            </a:r>
            <a:r>
              <a:rPr lang="ru-RU" sz="2000" dirty="0"/>
              <a:t>изрази или в </a:t>
            </a:r>
            <a:r>
              <a:rPr lang="ru-RU" sz="2000" dirty="0" smtClean="0"/>
              <a:t>друг контекст на работа на </a:t>
            </a:r>
            <a:r>
              <a:rPr lang="en-US" sz="2000" dirty="0" smtClean="0"/>
              <a:t>Linux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/>
              <a:t>Трябва също да избягваме имена на файлове, започващи с </a:t>
            </a:r>
            <a:r>
              <a:rPr lang="ru-RU" sz="2400" dirty="0" smtClean="0"/>
              <a:t>минус </a:t>
            </a:r>
            <a:r>
              <a:rPr lang="ru-RU" sz="2400" dirty="0"/>
              <a:t>(-), тъй като такива имена на файлове могат да бъдат сбъркани с опции, когато са посочени в команда на шел.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72082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Файлова подсистема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800" dirty="0" smtClean="0"/>
              <a:t>В </a:t>
            </a:r>
            <a:r>
              <a:rPr lang="en-US" sz="2800" dirty="0" smtClean="0"/>
              <a:t>Linux </a:t>
            </a:r>
            <a:r>
              <a:rPr lang="bg-BG" sz="2800" dirty="0" smtClean="0"/>
              <a:t>терминът „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pathname</a:t>
            </a:r>
            <a:r>
              <a:rPr lang="bg-BG" sz="2800" dirty="0" smtClean="0"/>
              <a:t>“</a:t>
            </a:r>
            <a:r>
              <a:rPr lang="ru-RU" sz="2800" dirty="0" smtClean="0"/>
              <a:t>описва </a:t>
            </a:r>
            <a:r>
              <a:rPr lang="ru-RU" sz="2800" dirty="0"/>
              <a:t>местоположението на даден файл в йерархията на една </a:t>
            </a:r>
            <a:r>
              <a:rPr lang="ru-RU" sz="2800" dirty="0" smtClean="0"/>
              <a:t>директория:</a:t>
            </a:r>
            <a:endParaRPr lang="bg-BG" sz="28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Това е </a:t>
            </a:r>
            <a:r>
              <a:rPr lang="ru-RU" sz="2400" dirty="0" smtClean="0"/>
              <a:t>низ</a:t>
            </a:r>
            <a:r>
              <a:rPr lang="ru-RU" sz="2400" dirty="0"/>
              <a:t>, състоящ се от незадължителна начална наклонена черта (/), последвана от поредица от имена на файлове, разделени с наклонена черта. </a:t>
            </a:r>
            <a:endParaRPr lang="ru-RU" sz="24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Всички </a:t>
            </a:r>
            <a:r>
              <a:rPr lang="ru-RU" sz="2000" dirty="0"/>
              <a:t>имена на файлове, с изключение на последното, идентифицират директория (или символична връзка, която препраща към директория). </a:t>
            </a:r>
            <a:endParaRPr lang="ru-RU" sz="20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Последният </a:t>
            </a:r>
            <a:r>
              <a:rPr lang="ru-RU" sz="2000" dirty="0"/>
              <a:t>компонент на името на пътя може да идентифицира всеки тип файл, включително директория. </a:t>
            </a:r>
            <a:endParaRPr lang="ru-RU" sz="20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Низът «..&gt; се </a:t>
            </a:r>
            <a:r>
              <a:rPr lang="ru-RU" sz="2400" dirty="0"/>
              <a:t>използва </a:t>
            </a:r>
            <a:r>
              <a:rPr lang="ru-RU" sz="2400" dirty="0" smtClean="0"/>
              <a:t>за </a:t>
            </a:r>
            <a:r>
              <a:rPr lang="ru-RU" sz="2400" dirty="0"/>
              <a:t>да се препрати към родителя на местоположението, посочено </a:t>
            </a:r>
            <a:r>
              <a:rPr lang="ru-RU" sz="2400" dirty="0" smtClean="0"/>
              <a:t>досегашния път.</a:t>
            </a:r>
            <a:endParaRPr lang="ru-RU" sz="24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Абсолютният път </a:t>
            </a:r>
            <a:r>
              <a:rPr lang="ru-RU" sz="2400" dirty="0"/>
              <a:t>започва с наклонена черта (/) и указва местоположението на файла по отношение на главната директория. </a:t>
            </a:r>
            <a:endParaRPr lang="ru-RU" sz="24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Пример: /</a:t>
            </a:r>
            <a:r>
              <a:rPr lang="ru-RU" sz="2000" dirty="0"/>
              <a:t>home/mtk/.bashrc, /usr/include и / (име на главната директория</a:t>
            </a:r>
            <a:r>
              <a:rPr lang="ru-RU" sz="2000" dirty="0" smtClean="0"/>
              <a:t>).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Относителният път </a:t>
            </a:r>
            <a:r>
              <a:rPr lang="ru-RU" sz="2400" dirty="0"/>
              <a:t>указва местоположението на даден файл спрямо текущата работна директория на процеса </a:t>
            </a:r>
            <a:r>
              <a:rPr lang="ru-RU" sz="2400" dirty="0" smtClean="0"/>
              <a:t>и </a:t>
            </a:r>
            <a:r>
              <a:rPr lang="ru-RU" sz="2400" dirty="0"/>
              <a:t>се отличава от </a:t>
            </a:r>
            <a:r>
              <a:rPr lang="ru-RU" sz="2400" dirty="0" smtClean="0"/>
              <a:t>абсолютния път </a:t>
            </a:r>
            <a:r>
              <a:rPr lang="ru-RU" sz="2400" dirty="0"/>
              <a:t>по </a:t>
            </a:r>
            <a:r>
              <a:rPr lang="ru-RU" sz="2400" dirty="0" smtClean="0"/>
              <a:t>отсъствието на </a:t>
            </a:r>
            <a:r>
              <a:rPr lang="ru-RU" sz="2400" dirty="0"/>
              <a:t>начална наклонена черта. </a:t>
            </a:r>
            <a:endParaRPr lang="ru-RU" sz="24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Пример: include/sys/types.h, ../</a:t>
            </a:r>
            <a:r>
              <a:rPr lang="ru-RU" sz="2000" dirty="0"/>
              <a:t>mtk/.bashrc</a:t>
            </a:r>
            <a:r>
              <a:rPr lang="ru-RU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285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Файлова подсистема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bg-BG" sz="2800" dirty="0" smtClean="0"/>
              <a:t>С в</a:t>
            </a:r>
            <a:r>
              <a:rPr lang="ru-RU" sz="2800" dirty="0" smtClean="0"/>
              <a:t>секи </a:t>
            </a:r>
            <a:r>
              <a:rPr lang="ru-RU" sz="2800" dirty="0"/>
              <a:t>файл има </a:t>
            </a:r>
            <a:r>
              <a:rPr lang="ru-RU" sz="2800" dirty="0" smtClean="0"/>
              <a:t>асоцииран идентификатор </a:t>
            </a:r>
            <a:r>
              <a:rPr lang="ru-RU" sz="2800" dirty="0"/>
              <a:t>на потребител </a:t>
            </a:r>
            <a:r>
              <a:rPr lang="ru-RU" sz="2800" dirty="0" smtClean="0"/>
              <a:t>(англ. </a:t>
            </a:r>
            <a:r>
              <a:rPr lang="en-US" sz="2800" dirty="0" smtClean="0"/>
              <a:t>user ID) </a:t>
            </a:r>
            <a:r>
              <a:rPr lang="ru-RU" sz="2800" dirty="0" smtClean="0"/>
              <a:t>и </a:t>
            </a:r>
            <a:r>
              <a:rPr lang="ru-RU" sz="2800" dirty="0"/>
              <a:t>идентификатор на </a:t>
            </a:r>
            <a:r>
              <a:rPr lang="ru-RU" sz="2800" dirty="0" smtClean="0"/>
              <a:t>група</a:t>
            </a:r>
            <a:r>
              <a:rPr lang="en-US" sz="2800" dirty="0" smtClean="0"/>
              <a:t> </a:t>
            </a:r>
            <a:r>
              <a:rPr lang="ru-RU" sz="2800" dirty="0"/>
              <a:t>(англ. </a:t>
            </a:r>
            <a:r>
              <a:rPr lang="en-US" sz="2800" dirty="0" smtClean="0"/>
              <a:t>group ID) – </a:t>
            </a:r>
            <a:r>
              <a:rPr lang="bg-BG" sz="2800" dirty="0" smtClean="0"/>
              <a:t>те дефинират </a:t>
            </a:r>
            <a:r>
              <a:rPr lang="ru-RU" sz="2800" dirty="0" smtClean="0"/>
              <a:t>собственика </a:t>
            </a:r>
            <a:r>
              <a:rPr lang="ru-RU" sz="2800" dirty="0"/>
              <a:t>на файла и </a:t>
            </a:r>
            <a:r>
              <a:rPr lang="ru-RU" sz="2800" dirty="0" smtClean="0"/>
              <a:t>на групата</a:t>
            </a:r>
            <a:r>
              <a:rPr lang="ru-RU" sz="2800" dirty="0"/>
              <a:t>, към която </a:t>
            </a:r>
            <a:r>
              <a:rPr lang="ru-RU" sz="2800" dirty="0" smtClean="0"/>
              <a:t>принадлежи файла. </a:t>
            </a:r>
            <a:endParaRPr lang="en-US" sz="28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Собствеността </a:t>
            </a:r>
            <a:r>
              <a:rPr lang="ru-RU" sz="2400" dirty="0"/>
              <a:t>на даден файл се използва за определяне на правата за достъп, достъпни за потребителите на файла</a:t>
            </a:r>
            <a:r>
              <a:rPr lang="ru-RU" sz="2400" dirty="0" smtClean="0"/>
              <a:t>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За </a:t>
            </a:r>
            <a:r>
              <a:rPr lang="ru-RU" sz="2400" dirty="0"/>
              <a:t>целите на достъпа до даден файл системата разделя потребителите на три категории: </a:t>
            </a:r>
            <a:endParaRPr lang="ru-RU" sz="24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собственик </a:t>
            </a:r>
            <a:r>
              <a:rPr lang="ru-RU" sz="2000" dirty="0"/>
              <a:t>на файла (понякога наричан потребител на файла), </a:t>
            </a:r>
            <a:endParaRPr lang="ru-RU" sz="20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потребители</a:t>
            </a:r>
            <a:r>
              <a:rPr lang="ru-RU" sz="2000" dirty="0"/>
              <a:t>, които са членове на групата, съответстваща на идентификатора на групата на файла ( group), и </a:t>
            </a:r>
            <a:endParaRPr lang="ru-RU" sz="20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останалия </a:t>
            </a:r>
            <a:r>
              <a:rPr lang="ru-RU" sz="2000" dirty="0"/>
              <a:t>свят (other).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/>
              <a:t>За всяка от тези категории потребители могат да бъдат зададени по три бита за разрешение (което прави общо девет бита за разрешение):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разрешението за четене позволява да се чете съдържанието на файла; разрешението за запис позволява да се променя съдържанието на файла; и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 smtClean="0"/>
              <a:t>разрешението за изпълнение позволява да се изпълни файлът, който е или програма, или скрипт, който трябва да бъде обработен от някой интерпретатор (обикновено, но не винаги, един от шеловете).</a:t>
            </a:r>
          </a:p>
        </p:txBody>
      </p:sp>
    </p:spTree>
    <p:extLst>
      <p:ext uri="{BB962C8B-B14F-4D97-AF65-F5344CB8AC3E}">
        <p14:creationId xmlns:p14="http://schemas.microsoft.com/office/powerpoint/2010/main" val="298674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Файлова подсистема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bg-BG" sz="2400" dirty="0" smtClean="0"/>
              <a:t>С в</a:t>
            </a:r>
            <a:r>
              <a:rPr lang="ru-RU" sz="2400" dirty="0" smtClean="0"/>
              <a:t>секи </a:t>
            </a:r>
            <a:r>
              <a:rPr lang="ru-RU" sz="2400" dirty="0"/>
              <a:t>файл има </a:t>
            </a:r>
            <a:r>
              <a:rPr lang="ru-RU" sz="2400" dirty="0" smtClean="0"/>
              <a:t>асоцииран идентификатор </a:t>
            </a:r>
            <a:r>
              <a:rPr lang="ru-RU" sz="2400" dirty="0"/>
              <a:t>на потребител </a:t>
            </a:r>
            <a:r>
              <a:rPr lang="ru-RU" sz="2400" dirty="0" smtClean="0"/>
              <a:t>(англ. </a:t>
            </a:r>
            <a:r>
              <a:rPr lang="en-US" sz="2400" dirty="0" smtClean="0"/>
              <a:t>user ID) </a:t>
            </a:r>
            <a:r>
              <a:rPr lang="ru-RU" sz="2400" dirty="0" smtClean="0"/>
              <a:t>и </a:t>
            </a:r>
            <a:r>
              <a:rPr lang="ru-RU" sz="2400" dirty="0"/>
              <a:t>идентификатор на </a:t>
            </a:r>
            <a:r>
              <a:rPr lang="ru-RU" sz="2400" dirty="0" smtClean="0"/>
              <a:t>група</a:t>
            </a:r>
            <a:r>
              <a:rPr lang="en-US" sz="2400" dirty="0" smtClean="0"/>
              <a:t> </a:t>
            </a:r>
            <a:r>
              <a:rPr lang="ru-RU" sz="2400" dirty="0"/>
              <a:t>(англ. </a:t>
            </a:r>
            <a:r>
              <a:rPr lang="en-US" sz="2400" dirty="0" smtClean="0"/>
              <a:t>group ID) – </a:t>
            </a:r>
            <a:r>
              <a:rPr lang="bg-BG" sz="2400" dirty="0" smtClean="0"/>
              <a:t>те дефинират </a:t>
            </a:r>
            <a:r>
              <a:rPr lang="ru-RU" sz="2400" dirty="0" smtClean="0"/>
              <a:t>собственика </a:t>
            </a:r>
            <a:r>
              <a:rPr lang="ru-RU" sz="2400" dirty="0"/>
              <a:t>на файла и </a:t>
            </a:r>
            <a:r>
              <a:rPr lang="ru-RU" sz="2400" dirty="0" smtClean="0"/>
              <a:t>на групата</a:t>
            </a:r>
            <a:r>
              <a:rPr lang="ru-RU" sz="2400" dirty="0"/>
              <a:t>, към която </a:t>
            </a:r>
            <a:r>
              <a:rPr lang="ru-RU" sz="2400" dirty="0" smtClean="0"/>
              <a:t>принадлежи файла. 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ru-RU" sz="2000" dirty="0" smtClean="0"/>
              <a:t>Тези </a:t>
            </a:r>
            <a:r>
              <a:rPr lang="ru-RU" sz="2000" dirty="0"/>
              <a:t>разрешения могат да бъдат зададени и за директориите, въпреки че значението им е малко по-различно: </a:t>
            </a:r>
          </a:p>
          <a:p>
            <a:pPr lvl="2">
              <a:spcBef>
                <a:spcPts val="0"/>
              </a:spcBef>
            </a:pPr>
            <a:r>
              <a:rPr lang="ru-RU" sz="1800" dirty="0"/>
              <a:t>разрешението за четене позволява да се изброява съдържанието на (т.е. имената на файловете в) директорията; </a:t>
            </a:r>
          </a:p>
          <a:p>
            <a:pPr lvl="2">
              <a:spcBef>
                <a:spcPts val="0"/>
              </a:spcBef>
            </a:pPr>
            <a:r>
              <a:rPr lang="ru-RU" sz="1800" dirty="0"/>
              <a:t>разрешението за запис позволява да се променя съдържанието на директорията (т.е. имената на файловете могат да се добавят, премахват и променят); </a:t>
            </a:r>
          </a:p>
          <a:p>
            <a:pPr lvl="2">
              <a:spcBef>
                <a:spcPts val="0"/>
              </a:spcBef>
            </a:pPr>
            <a:r>
              <a:rPr lang="ru-RU" sz="1800" dirty="0"/>
              <a:t>разрешението за изпълнение (понякога наричано търсене) позволява достъп до файловете в директорията (при спазване на разрешенията на самите файлове).</a:t>
            </a:r>
          </a:p>
        </p:txBody>
      </p:sp>
    </p:spTree>
    <p:extLst>
      <p:ext uri="{BB962C8B-B14F-4D97-AF65-F5344CB8AC3E}">
        <p14:creationId xmlns:p14="http://schemas.microsoft.com/office/powerpoint/2010/main" val="255952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Особености на В/И в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r>
              <a:rPr lang="ru-RU" sz="2800" dirty="0"/>
              <a:t>Една от отличителните черти на </a:t>
            </a:r>
            <a:r>
              <a:rPr lang="ru-RU" sz="2800" dirty="0" smtClean="0"/>
              <a:t>UNIX</a:t>
            </a:r>
            <a:r>
              <a:rPr lang="en-US" sz="2800" dirty="0" smtClean="0"/>
              <a:t> </a:t>
            </a:r>
            <a:r>
              <a:rPr lang="ru-RU" sz="2800" dirty="0" smtClean="0"/>
              <a:t>модела </a:t>
            </a:r>
            <a:r>
              <a:rPr lang="ru-RU" sz="2800" dirty="0"/>
              <a:t>на </a:t>
            </a:r>
            <a:r>
              <a:rPr lang="bg-BG" sz="2800" dirty="0" smtClean="0"/>
              <a:t>В</a:t>
            </a:r>
            <a:r>
              <a:rPr lang="ru-RU" sz="2800" dirty="0" smtClean="0"/>
              <a:t>ход/Изход е </a:t>
            </a:r>
            <a:r>
              <a:rPr lang="ru-RU" sz="2800" dirty="0"/>
              <a:t>концепцията за </a:t>
            </a:r>
            <a:r>
              <a:rPr lang="ru-RU" sz="2800" dirty="0" smtClean="0"/>
              <a:t>универсалност. </a:t>
            </a:r>
          </a:p>
          <a:p>
            <a:pPr lvl="1"/>
            <a:r>
              <a:rPr lang="ru-RU" sz="2400" dirty="0" smtClean="0"/>
              <a:t>Това </a:t>
            </a:r>
            <a:r>
              <a:rPr lang="ru-RU" sz="2400" dirty="0"/>
              <a:t>означава, че едни и същи системни извиквания (open(), read(), write(), close() и т.н.) се използват за извършване на </a:t>
            </a:r>
            <a:r>
              <a:rPr lang="ru-RU" sz="2400" dirty="0" smtClean="0"/>
              <a:t>В/И операции към всички </a:t>
            </a:r>
            <a:r>
              <a:rPr lang="ru-RU" sz="2400" dirty="0"/>
              <a:t>видове файлове, включително устройства. </a:t>
            </a:r>
            <a:endParaRPr lang="ru-RU" sz="2400" dirty="0" smtClean="0"/>
          </a:p>
          <a:p>
            <a:pPr lvl="2"/>
            <a:r>
              <a:rPr lang="ru-RU" sz="2000" dirty="0" smtClean="0"/>
              <a:t>Ядрото </a:t>
            </a:r>
            <a:r>
              <a:rPr lang="ru-RU" sz="2000" dirty="0"/>
              <a:t>преобразува заявките </a:t>
            </a:r>
            <a:r>
              <a:rPr lang="ru-RU" sz="2000" dirty="0" smtClean="0"/>
              <a:t>в </a:t>
            </a:r>
            <a:r>
              <a:rPr lang="ru-RU" sz="2000" dirty="0"/>
              <a:t>подходящи операции на файловата система или на драйвера на устройството, които извършват </a:t>
            </a:r>
            <a:r>
              <a:rPr lang="ru-RU" sz="2000" dirty="0" smtClean="0"/>
              <a:t>В/И операция с целевия </a:t>
            </a:r>
            <a:r>
              <a:rPr lang="ru-RU" sz="2000" dirty="0"/>
              <a:t>файл или устройство</a:t>
            </a:r>
            <a:r>
              <a:rPr lang="ru-RU" sz="2000" dirty="0" smtClean="0"/>
              <a:t>. </a:t>
            </a:r>
          </a:p>
          <a:p>
            <a:pPr lvl="2"/>
            <a:r>
              <a:rPr lang="ru-RU" sz="2000" dirty="0" smtClean="0"/>
              <a:t>По </a:t>
            </a:r>
            <a:r>
              <a:rPr lang="ru-RU" sz="2000" dirty="0"/>
              <a:t>този начин програма, използваща тези системни извиквания, ще работи с всеки тип файл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/>
              <a:t>Системите UNIX нямат символ за край на файла</a:t>
            </a:r>
            <a:r>
              <a:rPr lang="en-US" sz="2400" dirty="0"/>
              <a:t>.</a:t>
            </a:r>
          </a:p>
          <a:p>
            <a:pPr lvl="2"/>
            <a:r>
              <a:rPr lang="en-US" sz="2000" dirty="0"/>
              <a:t>K</a:t>
            </a:r>
            <a:r>
              <a:rPr lang="ru-RU" sz="2000" dirty="0"/>
              <a:t>раят на файла се открива чрез четене, което не връща никакви данни</a:t>
            </a:r>
            <a:r>
              <a:rPr lang="ru-RU" sz="2000" dirty="0" smtClean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1948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Особености на В/И в </a:t>
            </a:r>
            <a:r>
              <a:rPr lang="en-US" dirty="0" smtClean="0"/>
              <a:t>Linux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ru-RU" sz="2800" dirty="0"/>
              <a:t>Една от отличителните черти на UNIX</a:t>
            </a:r>
            <a:r>
              <a:rPr lang="en-US" sz="2800" dirty="0"/>
              <a:t> </a:t>
            </a:r>
            <a:r>
              <a:rPr lang="ru-RU" sz="2800" dirty="0"/>
              <a:t>модела на </a:t>
            </a:r>
            <a:r>
              <a:rPr lang="bg-BG" sz="2800" dirty="0"/>
              <a:t>В</a:t>
            </a:r>
            <a:r>
              <a:rPr lang="ru-RU" sz="2800" dirty="0"/>
              <a:t>ход/Изход е концепцията за универсалност. </a:t>
            </a:r>
          </a:p>
          <a:p>
            <a:pPr lvl="1"/>
            <a:r>
              <a:rPr lang="ru-RU" sz="2400" dirty="0"/>
              <a:t>Ядрото по същество предоставя един тип файл </a:t>
            </a:r>
          </a:p>
          <a:p>
            <a:pPr lvl="2"/>
            <a:r>
              <a:rPr lang="ru-RU" sz="2000" dirty="0"/>
              <a:t>Това е последователен поток от байтове, който в случая на дискови файлове, дискове и лентови устройства може да бъде достъпен на случаен принцип с помощта на системното извикване lseek(). </a:t>
            </a:r>
          </a:p>
          <a:p>
            <a:pPr lvl="1"/>
            <a:r>
              <a:rPr lang="ru-RU" sz="2400" dirty="0"/>
              <a:t>Много приложения и библиотеки интерпретират символа за нова линия </a:t>
            </a:r>
            <a:r>
              <a:rPr lang="ru-RU" sz="2400" dirty="0" smtClean="0"/>
              <a:t>(</a:t>
            </a:r>
            <a:r>
              <a:rPr lang="en-US" sz="2400" dirty="0" smtClean="0"/>
              <a:t>L</a:t>
            </a:r>
            <a:r>
              <a:rPr lang="ru-RU" sz="2400" dirty="0" smtClean="0"/>
              <a:t>ine</a:t>
            </a:r>
            <a:r>
              <a:rPr lang="en-US" sz="2400" dirty="0"/>
              <a:t>f</a:t>
            </a:r>
            <a:r>
              <a:rPr lang="ru-RU" sz="2400" dirty="0" smtClean="0"/>
              <a:t>eed</a:t>
            </a:r>
            <a:r>
              <a:rPr lang="en-US" sz="2400" dirty="0" smtClean="0"/>
              <a:t>,</a:t>
            </a:r>
            <a:r>
              <a:rPr lang="bg-BG" sz="2400" dirty="0" smtClean="0"/>
              <a:t> т.е.</a:t>
            </a:r>
            <a:r>
              <a:rPr lang="en-US" sz="2400" dirty="0" smtClean="0"/>
              <a:t> </a:t>
            </a:r>
            <a:r>
              <a:rPr lang="ru-RU" sz="2400" dirty="0" smtClean="0"/>
              <a:t>ASCII </a:t>
            </a:r>
            <a:r>
              <a:rPr lang="ru-RU" sz="2400" dirty="0"/>
              <a:t>код 10 (десетичен</a:t>
            </a:r>
            <a:r>
              <a:rPr lang="en-US" sz="2400" dirty="0"/>
              <a:t>)</a:t>
            </a:r>
            <a:r>
              <a:rPr lang="ru-RU" sz="2400" dirty="0"/>
              <a:t>) като завършващ един ред текст и започващ друг.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799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Файлови дескриптори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Системните </a:t>
            </a:r>
            <a:r>
              <a:rPr lang="bg-BG" dirty="0" smtClean="0"/>
              <a:t>В/И </a:t>
            </a:r>
            <a:r>
              <a:rPr lang="ru-RU" dirty="0" smtClean="0"/>
              <a:t>извиквания се обработват само в контекста ма отворен файлов, </a:t>
            </a:r>
            <a:r>
              <a:rPr lang="ru-RU" dirty="0"/>
              <a:t>като използват </a:t>
            </a:r>
            <a:r>
              <a:rPr lang="ru-RU" dirty="0" smtClean="0"/>
              <a:t>т.нар. «файлов дескриптор». </a:t>
            </a:r>
            <a:endParaRPr lang="en-US" dirty="0" smtClean="0"/>
          </a:p>
          <a:p>
            <a:pPr lvl="1"/>
            <a:r>
              <a:rPr lang="ru-RU" dirty="0" smtClean="0"/>
              <a:t>Дескрипторите се реализират чрез (</a:t>
            </a:r>
            <a:r>
              <a:rPr lang="ru-RU" dirty="0"/>
              <a:t>обикновено малко) неотрицателно цяло </a:t>
            </a:r>
            <a:r>
              <a:rPr lang="ru-RU" dirty="0" smtClean="0"/>
              <a:t>число.</a:t>
            </a:r>
          </a:p>
          <a:p>
            <a:pPr lvl="1"/>
            <a:r>
              <a:rPr lang="ru-RU" dirty="0" smtClean="0"/>
              <a:t>Файловият </a:t>
            </a:r>
            <a:r>
              <a:rPr lang="ru-RU" dirty="0"/>
              <a:t>дескриптор обикновено се получава чрез извикване на open(), което приема аргумент </a:t>
            </a:r>
            <a:r>
              <a:rPr lang="ru-RU" dirty="0" smtClean="0"/>
              <a:t>абсолютно или относително име </a:t>
            </a:r>
            <a:r>
              <a:rPr lang="ru-RU" dirty="0"/>
              <a:t>на </a:t>
            </a:r>
            <a:r>
              <a:rPr lang="ru-RU" dirty="0" smtClean="0"/>
              <a:t>файла</a:t>
            </a:r>
            <a:r>
              <a:rPr lang="ru-RU" dirty="0"/>
              <a:t>, </a:t>
            </a:r>
            <a:r>
              <a:rPr lang="ru-RU" dirty="0" smtClean="0"/>
              <a:t>с който ще се работи.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en-US" dirty="0" smtClean="0"/>
              <a:t>Linux</a:t>
            </a:r>
            <a:r>
              <a:rPr lang="bg-BG" dirty="0" smtClean="0"/>
              <a:t>, при стартиране от </a:t>
            </a:r>
            <a:r>
              <a:rPr lang="en-US" dirty="0" smtClean="0"/>
              <a:t>shell,</a:t>
            </a:r>
            <a:r>
              <a:rPr lang="bg-BG" dirty="0" smtClean="0"/>
              <a:t> </a:t>
            </a:r>
            <a:r>
              <a:rPr lang="ru-RU" dirty="0" smtClean="0"/>
              <a:t>всеки процес (</a:t>
            </a:r>
            <a:r>
              <a:rPr lang="bg-BG" dirty="0" smtClean="0"/>
              <a:t>най-често) </a:t>
            </a:r>
            <a:r>
              <a:rPr lang="ru-RU" dirty="0" smtClean="0"/>
              <a:t>наследява </a:t>
            </a:r>
            <a:r>
              <a:rPr lang="ru-RU" dirty="0"/>
              <a:t>три </a:t>
            </a:r>
            <a:r>
              <a:rPr lang="ru-RU" dirty="0" smtClean="0"/>
              <a:t>дескриптора на отворени файлови:</a:t>
            </a:r>
            <a:endParaRPr lang="en-US" dirty="0" smtClean="0"/>
          </a:p>
          <a:p>
            <a:pPr lvl="1"/>
            <a:r>
              <a:rPr lang="ru-RU" dirty="0" smtClean="0"/>
              <a:t>дескриптор </a:t>
            </a:r>
            <a:r>
              <a:rPr lang="ru-RU" dirty="0"/>
              <a:t>0 е стандартен вход, файлът, от който процесът взема своя вход; </a:t>
            </a:r>
            <a:endParaRPr lang="en-US" dirty="0" smtClean="0"/>
          </a:p>
          <a:p>
            <a:pPr lvl="1"/>
            <a:r>
              <a:rPr lang="ru-RU" dirty="0" smtClean="0"/>
              <a:t>дескриптор </a:t>
            </a:r>
            <a:r>
              <a:rPr lang="ru-RU" dirty="0"/>
              <a:t>1 е стандартен изход, файлът, в който процесът записва своя изход; </a:t>
            </a:r>
            <a:r>
              <a:rPr lang="ru-RU" dirty="0" smtClean="0"/>
              <a:t>и</a:t>
            </a:r>
            <a:endParaRPr lang="en-US" dirty="0" smtClean="0"/>
          </a:p>
          <a:p>
            <a:pPr lvl="1"/>
            <a:r>
              <a:rPr lang="ru-RU" dirty="0" smtClean="0"/>
              <a:t>дескриптор </a:t>
            </a:r>
            <a:r>
              <a:rPr lang="ru-RU" dirty="0"/>
              <a:t>2 е стандартна грешка, файлът, в който процесът записва съобщения за грешки и уведомления за изключителни или необичайни условия. 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en-US" dirty="0" smtClean="0"/>
              <a:t>shell </a:t>
            </a:r>
            <a:r>
              <a:rPr lang="ru-RU" dirty="0" smtClean="0"/>
              <a:t>или </a:t>
            </a:r>
            <a:r>
              <a:rPr lang="bg-BG" dirty="0" smtClean="0"/>
              <a:t>потребителска </a:t>
            </a:r>
            <a:r>
              <a:rPr lang="ru-RU" dirty="0" smtClean="0"/>
              <a:t>програма </a:t>
            </a:r>
            <a:r>
              <a:rPr lang="ru-RU" dirty="0"/>
              <a:t>тези три дескриптора обикновено са свързани с терминала. </a:t>
            </a:r>
            <a:endParaRPr lang="ru-RU" dirty="0" smtClean="0"/>
          </a:p>
          <a:p>
            <a:pPr lvl="1"/>
            <a:r>
              <a:rPr lang="ru-RU" dirty="0" smtClean="0"/>
              <a:t>В </a:t>
            </a:r>
            <a:r>
              <a:rPr lang="ru-RU" dirty="0"/>
              <a:t>библиотеката stdio тези дескриптори съответстват на файловите потоци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stdin</a:t>
            </a:r>
            <a:r>
              <a:rPr lang="ru-RU" dirty="0"/>
              <a:t>,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stdout</a:t>
            </a:r>
            <a:r>
              <a:rPr lang="ru-RU" dirty="0"/>
              <a:t> и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stderr</a:t>
            </a:r>
            <a:r>
              <a:rPr lang="ru-RU" dirty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2478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Файлови дескриптори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За извършване на </a:t>
            </a:r>
            <a:r>
              <a:rPr lang="ru-RU" sz="2800" dirty="0" smtClean="0"/>
              <a:t>В/И </a:t>
            </a:r>
            <a:r>
              <a:rPr lang="ru-RU" sz="2800" dirty="0"/>
              <a:t>операции с </a:t>
            </a:r>
            <a:r>
              <a:rPr lang="ru-RU" sz="2800" dirty="0" smtClean="0"/>
              <a:t>файлове, </a:t>
            </a:r>
            <a:r>
              <a:rPr lang="ru-RU" sz="2800" dirty="0"/>
              <a:t>програмите на </a:t>
            </a:r>
            <a:r>
              <a:rPr lang="en-US" sz="2800" dirty="0"/>
              <a:t>C </a:t>
            </a:r>
            <a:r>
              <a:rPr lang="ru-RU" sz="2800" dirty="0"/>
              <a:t>обикновено използват </a:t>
            </a:r>
            <a:r>
              <a:rPr lang="ru-RU" sz="2800" dirty="0" smtClean="0"/>
              <a:t>функции</a:t>
            </a:r>
            <a:r>
              <a:rPr lang="ru-RU" sz="2800" dirty="0"/>
              <a:t>, съдържащи се в стандартната библиотека на </a:t>
            </a:r>
            <a:r>
              <a:rPr lang="en-US" sz="2800" dirty="0"/>
              <a:t>C. </a:t>
            </a:r>
            <a:endParaRPr lang="bg-BG" sz="2800" dirty="0" smtClean="0"/>
          </a:p>
          <a:p>
            <a:pPr lvl="1"/>
            <a:r>
              <a:rPr lang="ru-RU" sz="2400" dirty="0" smtClean="0"/>
              <a:t>Този </a:t>
            </a:r>
            <a:r>
              <a:rPr lang="ru-RU" sz="2400" dirty="0"/>
              <a:t>набор от функции, наречен библиотека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</a:t>
            </a:r>
            <a:r>
              <a:rPr lang="bg-BG" sz="2400" dirty="0" smtClean="0"/>
              <a:t> и </a:t>
            </a:r>
            <a:r>
              <a:rPr lang="ru-RU" sz="2400" dirty="0" smtClean="0"/>
              <a:t>включва </a:t>
            </a:r>
            <a:r>
              <a:rPr lang="en-US" sz="2400" dirty="0" err="1"/>
              <a:t>fopen</a:t>
            </a:r>
            <a:r>
              <a:rPr lang="en-US" sz="2400" dirty="0"/>
              <a:t>(), </a:t>
            </a:r>
            <a:r>
              <a:rPr lang="en-US" sz="2400" dirty="0" err="1"/>
              <a:t>fclose</a:t>
            </a:r>
            <a:r>
              <a:rPr lang="en-US" sz="2400" dirty="0"/>
              <a:t>(), </a:t>
            </a:r>
            <a:r>
              <a:rPr lang="en-US" sz="2400" dirty="0" err="1"/>
              <a:t>scanf</a:t>
            </a:r>
            <a:r>
              <a:rPr lang="en-US" sz="2400" dirty="0"/>
              <a:t>(), </a:t>
            </a:r>
            <a:r>
              <a:rPr lang="en-US" sz="2400" dirty="0" err="1"/>
              <a:t>printf</a:t>
            </a:r>
            <a:r>
              <a:rPr lang="en-US" sz="2400" dirty="0"/>
              <a:t>(), </a:t>
            </a:r>
            <a:r>
              <a:rPr lang="en-US" sz="2400" dirty="0" err="1"/>
              <a:t>fgets</a:t>
            </a:r>
            <a:r>
              <a:rPr lang="en-US" sz="2400" dirty="0"/>
              <a:t>(), </a:t>
            </a:r>
            <a:r>
              <a:rPr lang="en-US" sz="2400" dirty="0" err="1"/>
              <a:t>fputs</a:t>
            </a:r>
            <a:r>
              <a:rPr lang="en-US" sz="2400" dirty="0"/>
              <a:t>() </a:t>
            </a:r>
            <a:r>
              <a:rPr lang="ru-RU" sz="2400" dirty="0"/>
              <a:t>и т.н. </a:t>
            </a:r>
            <a:endParaRPr lang="ru-RU" sz="2400" dirty="0" smtClean="0"/>
          </a:p>
          <a:p>
            <a:pPr lvl="1"/>
            <a:r>
              <a:rPr lang="ru-RU" sz="2400" dirty="0" smtClean="0"/>
              <a:t>Функциите от </a:t>
            </a:r>
            <a:r>
              <a:rPr lang="en-US" sz="2400" dirty="0" err="1" smtClean="0"/>
              <a:t>stdio</a:t>
            </a:r>
            <a:r>
              <a:rPr lang="en-US" sz="2400" dirty="0" smtClean="0"/>
              <a:t> </a:t>
            </a:r>
            <a:r>
              <a:rPr lang="ru-RU" sz="2400" dirty="0"/>
              <a:t>са </a:t>
            </a:r>
            <a:r>
              <a:rPr lang="ru-RU" sz="2400" dirty="0" smtClean="0"/>
              <a:t>базирани на системните </a:t>
            </a:r>
            <a:r>
              <a:rPr lang="ru-RU" sz="2400" dirty="0"/>
              <a:t>повиквания за </a:t>
            </a:r>
            <a:r>
              <a:rPr lang="ru-RU" sz="2400" dirty="0" smtClean="0"/>
              <a:t>вход/изход: </a:t>
            </a:r>
            <a:r>
              <a:rPr lang="en-US" sz="2400" dirty="0" smtClean="0"/>
              <a:t>open</a:t>
            </a:r>
            <a:r>
              <a:rPr lang="en-US" sz="2400" dirty="0"/>
              <a:t>(), close(), read(), write() </a:t>
            </a:r>
            <a:r>
              <a:rPr lang="ru-RU" sz="2400" dirty="0"/>
              <a:t>и т.н</a:t>
            </a:r>
            <a:r>
              <a:rPr lang="ru-RU" sz="2400" dirty="0" smtClean="0"/>
              <a:t>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80757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Програми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76950" cy="5562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700" dirty="0"/>
              <a:t>В </a:t>
            </a:r>
            <a:r>
              <a:rPr lang="en-US" sz="3700" dirty="0"/>
              <a:t>Linux </a:t>
            </a:r>
            <a:r>
              <a:rPr lang="bg-BG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</a:t>
            </a:r>
            <a:r>
              <a:rPr lang="ru-RU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рограмите</a:t>
            </a:r>
            <a:r>
              <a:rPr lang="ru-RU" sz="3700" dirty="0"/>
              <a:t> обикновено съществуват в две форми.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3100" dirty="0" smtClean="0"/>
              <a:t>Първата </a:t>
            </a:r>
            <a:r>
              <a:rPr lang="ru-RU" sz="3100" dirty="0"/>
              <a:t>форма е изходен </a:t>
            </a:r>
            <a:r>
              <a:rPr lang="ru-RU" sz="3100" dirty="0" smtClean="0"/>
              <a:t>код, т.е. това е текст</a:t>
            </a:r>
            <a:r>
              <a:rPr lang="ru-RU" sz="3100" dirty="0"/>
              <a:t>, който може да се чете от човека и се състои от поредица от команди, написани на език за програмиране, например C. </a:t>
            </a:r>
            <a:endParaRPr lang="ru-RU" sz="31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3100" dirty="0" smtClean="0"/>
              <a:t>За </a:t>
            </a:r>
            <a:r>
              <a:rPr lang="ru-RU" sz="3100" dirty="0"/>
              <a:t>да бъде изпълнен, изходен код трябва да бъде преобразуван във втората форма: двоични инструкции на машинен език, които компютърът може да разбере. </a:t>
            </a:r>
            <a:endParaRPr lang="ru-RU" sz="31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700" dirty="0" smtClean="0"/>
              <a:t>Това </a:t>
            </a:r>
            <a:r>
              <a:rPr lang="ru-RU" sz="2700" dirty="0"/>
              <a:t>контрастира със скрипт, който е текстов файл, съдържащ команди, които се обработват директно от програма, като например шел или друг команден интерпретатор</a:t>
            </a:r>
            <a:r>
              <a:rPr lang="ru-RU" sz="2700" dirty="0" smtClean="0"/>
              <a:t>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3100" dirty="0"/>
              <a:t>Двете значения на термина "програма" обикновено се считат за синоними, тъй като етапът на компилиране и свързване превръща изходния код в семантично еквивалентен двоичен машинен код.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Филтър</a:t>
            </a:r>
            <a:r>
              <a:rPr lang="ru-RU" sz="3700" dirty="0"/>
              <a:t> </a:t>
            </a:r>
            <a:endParaRPr lang="ru-RU" sz="37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3100" dirty="0"/>
              <a:t>Този термин се използва за програма, която чете входните данни от stdin, извършва някаква трансформация върху данните и записва трансформираните данни в stdout.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3100" dirty="0"/>
              <a:t>Примери за </a:t>
            </a:r>
            <a:r>
              <a:rPr lang="ru-RU" sz="3100" dirty="0" smtClean="0"/>
              <a:t>филтри: </a:t>
            </a:r>
            <a:r>
              <a:rPr lang="ru-RU" sz="3100" dirty="0"/>
              <a:t>cat, grep, tr, sort, wc, sed и awk.</a:t>
            </a:r>
            <a:endParaRPr lang="bg-BG" sz="31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90578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sz="2800" dirty="0" smtClean="0"/>
              <a:t>В </a:t>
            </a:r>
            <a:r>
              <a:rPr lang="en-US" sz="2800" dirty="0" smtClean="0"/>
              <a:t>Linux</a:t>
            </a:r>
            <a:r>
              <a:rPr lang="bg-BG" sz="2800" dirty="0" smtClean="0"/>
              <a:t>,</a:t>
            </a:r>
            <a:r>
              <a:rPr lang="en-US" sz="2800" dirty="0" smtClean="0"/>
              <a:t> </a:t>
            </a:r>
            <a:r>
              <a:rPr lang="ru-RU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процесът</a:t>
            </a:r>
            <a:r>
              <a:rPr lang="ru-RU" sz="2800" dirty="0" smtClean="0"/>
              <a:t> </a:t>
            </a:r>
            <a:r>
              <a:rPr lang="ru-RU" sz="2800" dirty="0"/>
              <a:t>е екземпляр на изпълняваща се програма. </a:t>
            </a:r>
            <a:endParaRPr lang="ru-RU" sz="2800" dirty="0" smtClean="0"/>
          </a:p>
          <a:p>
            <a:pPr lvl="1"/>
            <a:r>
              <a:rPr lang="ru-RU" sz="2400" dirty="0" smtClean="0"/>
              <a:t>Когато </a:t>
            </a:r>
            <a:r>
              <a:rPr lang="ru-RU" sz="2400" dirty="0"/>
              <a:t>една програма ядрото зарежда кода на програмата във виртуалната памет, заделя пространство за променливите на програмата и създава структурите за данни на ядрото за записване на различна </a:t>
            </a:r>
            <a:r>
              <a:rPr lang="ru-RU" sz="2400" dirty="0" smtClean="0"/>
              <a:t>информация </a:t>
            </a:r>
            <a:r>
              <a:rPr lang="ru-RU" sz="2400" dirty="0"/>
              <a:t>за процеса.</a:t>
            </a:r>
            <a:r>
              <a:rPr lang="bg-BG" sz="2400" dirty="0" smtClean="0"/>
              <a:t> </a:t>
            </a:r>
          </a:p>
          <a:p>
            <a:pPr lvl="2"/>
            <a:r>
              <a:rPr lang="ru-RU" sz="2000" dirty="0" smtClean="0"/>
              <a:t>Основната информация за процеса е 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идентификатор</a:t>
            </a:r>
            <a:r>
              <a:rPr lang="ru-RU" sz="2000" dirty="0" smtClean="0"/>
              <a:t> </a:t>
            </a:r>
            <a:r>
              <a:rPr lang="ru-RU" sz="2000" dirty="0"/>
              <a:t>на процеса,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статус на 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прекратяване</a:t>
            </a:r>
            <a:r>
              <a:rPr lang="ru-RU" sz="2000" dirty="0"/>
              <a:t>,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потребителски 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идентификатори</a:t>
            </a:r>
            <a:r>
              <a:rPr lang="ru-RU" sz="2000" dirty="0" smtClean="0"/>
              <a:t>, както и други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идентификатори 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групи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 smtClean="0"/>
              <a:t>За ядрото </a:t>
            </a:r>
            <a:r>
              <a:rPr lang="ru-RU" sz="2400" dirty="0"/>
              <a:t>процесите са </a:t>
            </a:r>
            <a:r>
              <a:rPr lang="ru-RU" sz="2400" dirty="0" smtClean="0"/>
              <a:t>базовите диспечируеми единици единиците, между </a:t>
            </a:r>
            <a:r>
              <a:rPr lang="ru-RU" sz="2400" dirty="0"/>
              <a:t>които ядрото трябва да разпределя различните ресурси на компютъра. </a:t>
            </a:r>
            <a:endParaRPr lang="ru-RU" sz="2400" dirty="0" smtClean="0"/>
          </a:p>
          <a:p>
            <a:pPr lvl="2"/>
            <a:r>
              <a:rPr lang="ru-RU" sz="2000" dirty="0" smtClean="0"/>
              <a:t>За </a:t>
            </a:r>
            <a:r>
              <a:rPr lang="ru-RU" sz="2000" dirty="0"/>
              <a:t>ресурси, които са </a:t>
            </a:r>
            <a:r>
              <a:rPr lang="ru-RU" sz="2000" dirty="0" smtClean="0"/>
              <a:t>ограничени (например оперативната памет</a:t>
            </a:r>
            <a:r>
              <a:rPr lang="ru-RU" sz="2000" dirty="0"/>
              <a:t>), ядрото първоначално </a:t>
            </a:r>
            <a:r>
              <a:rPr lang="ru-RU" sz="2000" dirty="0" smtClean="0"/>
              <a:t>заделя </a:t>
            </a:r>
            <a:r>
              <a:rPr lang="ru-RU" sz="2000" dirty="0"/>
              <a:t>известно количество от ресурса </a:t>
            </a:r>
            <a:r>
              <a:rPr lang="ru-RU" sz="2000" dirty="0" smtClean="0"/>
              <a:t>процеса </a:t>
            </a:r>
            <a:r>
              <a:rPr lang="ru-RU" sz="2000" dirty="0"/>
              <a:t>и регулира това </a:t>
            </a:r>
            <a:r>
              <a:rPr lang="ru-RU" sz="2000" dirty="0" smtClean="0"/>
              <a:t>през </a:t>
            </a:r>
            <a:r>
              <a:rPr lang="ru-RU" sz="2000" dirty="0"/>
              <a:t>целия живот </a:t>
            </a:r>
            <a:r>
              <a:rPr lang="ru-RU" sz="2000" dirty="0" smtClean="0"/>
              <a:t>при искания </a:t>
            </a:r>
            <a:r>
              <a:rPr lang="ru-RU" sz="2000" dirty="0"/>
              <a:t>на процеса </a:t>
            </a:r>
            <a:r>
              <a:rPr lang="ru-RU" sz="2000" dirty="0" smtClean="0"/>
              <a:t>или при искане от друг процес. </a:t>
            </a:r>
          </a:p>
          <a:p>
            <a:pPr lvl="2"/>
            <a:r>
              <a:rPr lang="ru-RU" sz="2000" dirty="0" smtClean="0"/>
              <a:t>Когато </a:t>
            </a:r>
            <a:r>
              <a:rPr lang="ru-RU" sz="2000" dirty="0"/>
              <a:t>процесът се прекрати, всички такива ресурси се освобождават за повторно използване от други процеси. </a:t>
            </a:r>
          </a:p>
          <a:p>
            <a:pPr lvl="2"/>
            <a:r>
              <a:rPr lang="ru-RU" sz="2000" dirty="0"/>
              <a:t>Други </a:t>
            </a:r>
            <a:r>
              <a:rPr lang="ru-RU" sz="2000" dirty="0" smtClean="0"/>
              <a:t>ресурси (например процесор </a:t>
            </a:r>
            <a:r>
              <a:rPr lang="ru-RU" sz="2000" dirty="0"/>
              <a:t>и мрежовата честотна </a:t>
            </a:r>
            <a:r>
              <a:rPr lang="ru-RU" sz="2000" dirty="0" smtClean="0"/>
              <a:t>лента) </a:t>
            </a:r>
            <a:r>
              <a:rPr lang="ru-RU" sz="2000" dirty="0"/>
              <a:t>са възобновяеми, но трябва да се разпределят справедливо между всички процеси</a:t>
            </a:r>
            <a:r>
              <a:rPr lang="ru-RU" sz="2000" dirty="0" smtClean="0"/>
              <a:t>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17561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 smtClean="0"/>
              <a:t>В </a:t>
            </a:r>
            <a:r>
              <a:rPr lang="en-US" sz="2800" dirty="0" smtClean="0"/>
              <a:t>Linux</a:t>
            </a:r>
            <a:r>
              <a:rPr lang="bg-BG" sz="2800" dirty="0" smtClean="0"/>
              <a:t>,</a:t>
            </a:r>
            <a:r>
              <a:rPr lang="en-US" sz="2800" dirty="0" smtClean="0"/>
              <a:t> </a:t>
            </a:r>
            <a:r>
              <a:rPr lang="bg-BG" sz="2800" dirty="0" smtClean="0"/>
              <a:t>п</a:t>
            </a:r>
            <a:r>
              <a:rPr lang="ru-RU" sz="2800" dirty="0" smtClean="0"/>
              <a:t>роцесът </a:t>
            </a:r>
            <a:r>
              <a:rPr lang="ru-RU" sz="2800" dirty="0"/>
              <a:t>е логически разделен на следните части, </a:t>
            </a:r>
            <a:r>
              <a:rPr lang="ru-RU" sz="2800" dirty="0" smtClean="0"/>
              <a:t>които са известни </a:t>
            </a:r>
            <a:r>
              <a:rPr lang="ru-RU" sz="2800" dirty="0"/>
              <a:t>като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сегменти</a:t>
            </a:r>
            <a:r>
              <a:rPr lang="ru-RU" sz="2800" dirty="0" smtClean="0"/>
              <a:t>:</a:t>
            </a:r>
          </a:p>
          <a:p>
            <a:pPr lvl="1"/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Текст</a:t>
            </a:r>
            <a:r>
              <a:rPr lang="ru-RU" sz="2400" dirty="0"/>
              <a:t> </a:t>
            </a:r>
            <a:r>
              <a:rPr lang="ru-RU" sz="2400" dirty="0" smtClean="0"/>
              <a:t>- това </a:t>
            </a:r>
            <a:r>
              <a:rPr lang="ru-RU" sz="2400" dirty="0"/>
              <a:t>са инструкциите на програмата.</a:t>
            </a:r>
          </a:p>
          <a:p>
            <a:pPr lvl="1"/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Данни -</a:t>
            </a:r>
            <a:r>
              <a:rPr lang="ru-RU" sz="2400" dirty="0" smtClean="0"/>
              <a:t> това </a:t>
            </a:r>
            <a:r>
              <a:rPr lang="ru-RU" sz="2400" dirty="0"/>
              <a:t>са статичните променливи, използвани от програмата.</a:t>
            </a:r>
          </a:p>
          <a:p>
            <a:pPr lvl="1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Heap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</a:t>
            </a:r>
            <a:r>
              <a:rPr lang="ru-RU" sz="2400" dirty="0"/>
              <a:t> това </a:t>
            </a:r>
            <a:r>
              <a:rPr lang="bg-BG" sz="2400" dirty="0" smtClean="0"/>
              <a:t>е </a:t>
            </a:r>
            <a:r>
              <a:rPr lang="ru-RU" sz="2400" dirty="0"/>
              <a:t>област, от която програмите могат динамично да заделят допълнителна памет.</a:t>
            </a:r>
          </a:p>
          <a:p>
            <a:pPr lvl="1"/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</a:t>
            </a:r>
            <a:r>
              <a:rPr lang="ru-RU" sz="2400" dirty="0"/>
              <a:t> т</a:t>
            </a:r>
            <a:r>
              <a:rPr lang="ru-RU" sz="2400" dirty="0" smtClean="0"/>
              <a:t>ова </a:t>
            </a:r>
            <a:r>
              <a:rPr lang="ru-RU" sz="2400" dirty="0"/>
              <a:t>е частта от паметта, която нараства и се свива при извикване на функции и и се използва за заделяне на място за локални променливи и информация за свързване с извикващата функция.</a:t>
            </a:r>
          </a:p>
          <a:p>
            <a:r>
              <a:rPr lang="ru-RU" sz="2800" dirty="0"/>
              <a:t>Всеки процес </a:t>
            </a:r>
            <a:r>
              <a:rPr lang="ru-RU" sz="2800" dirty="0" smtClean="0"/>
              <a:t>има: </a:t>
            </a:r>
          </a:p>
          <a:p>
            <a:pPr lvl="1"/>
            <a:r>
              <a:rPr lang="ru-RU" sz="2400" dirty="0" smtClean="0"/>
              <a:t>Уникален </a:t>
            </a:r>
            <a:r>
              <a:rPr lang="ru-RU" sz="2400" dirty="0"/>
              <a:t>целочислен идентификатор на процеса (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PID</a:t>
            </a:r>
            <a:r>
              <a:rPr lang="ru-RU" sz="2400" dirty="0" smtClean="0"/>
              <a:t> - </a:t>
            </a:r>
            <a:r>
              <a:rPr lang="en-US" sz="2400" dirty="0" smtClean="0"/>
              <a:t>process </a:t>
            </a:r>
            <a:r>
              <a:rPr lang="en-US" sz="2400" dirty="0"/>
              <a:t>identifier</a:t>
            </a:r>
            <a:r>
              <a:rPr lang="ru-RU" sz="2400" dirty="0" smtClean="0"/>
              <a:t>). </a:t>
            </a:r>
          </a:p>
          <a:p>
            <a:pPr lvl="1"/>
            <a:r>
              <a:rPr lang="ru-RU" sz="2400" dirty="0" smtClean="0"/>
              <a:t>Идентификатор на родителския процес (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PPID</a:t>
            </a:r>
            <a:r>
              <a:rPr lang="ru-RU" sz="2400" dirty="0"/>
              <a:t> </a:t>
            </a:r>
            <a:r>
              <a:rPr lang="ru-RU" sz="2400" dirty="0" smtClean="0"/>
              <a:t>- parent </a:t>
            </a:r>
            <a:r>
              <a:rPr lang="ru-RU" sz="2400" dirty="0"/>
              <a:t>process identifier</a:t>
            </a:r>
            <a:r>
              <a:rPr lang="ru-RU" sz="2400" dirty="0" smtClean="0"/>
              <a:t>),</a:t>
            </a:r>
          </a:p>
          <a:p>
            <a:pPr lvl="2"/>
            <a:r>
              <a:rPr lang="ru-RU" sz="2000" dirty="0" smtClean="0"/>
              <a:t>Това е </a:t>
            </a:r>
            <a:r>
              <a:rPr lang="en-US" sz="2000" dirty="0" smtClean="0"/>
              <a:t>PID</a:t>
            </a:r>
            <a:r>
              <a:rPr lang="bg-BG" sz="2000" dirty="0" smtClean="0"/>
              <a:t> на </a:t>
            </a:r>
            <a:r>
              <a:rPr lang="ru-RU" sz="2000" dirty="0" smtClean="0"/>
              <a:t>процеса</a:t>
            </a:r>
            <a:r>
              <a:rPr lang="ru-RU" sz="2000" dirty="0"/>
              <a:t>, който е </a:t>
            </a:r>
            <a:r>
              <a:rPr lang="ru-RU" sz="2000" dirty="0" smtClean="0"/>
              <a:t>подал към </a:t>
            </a:r>
            <a:r>
              <a:rPr lang="ru-RU" sz="2000" dirty="0"/>
              <a:t>ядрото </a:t>
            </a:r>
            <a:r>
              <a:rPr lang="bg-BG" sz="2000" dirty="0" smtClean="0"/>
              <a:t>заявката за </a:t>
            </a:r>
            <a:r>
              <a:rPr lang="ru-RU" sz="2000" dirty="0" smtClean="0"/>
              <a:t>създаване на текущия процес</a:t>
            </a:r>
            <a:r>
              <a:rPr lang="ru-RU" sz="2000" dirty="0"/>
              <a:t>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18902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800" dirty="0" smtClean="0"/>
              <a:t>В </a:t>
            </a:r>
            <a:r>
              <a:rPr lang="en-US" sz="2800" dirty="0" smtClean="0"/>
              <a:t>Linux</a:t>
            </a:r>
            <a:r>
              <a:rPr lang="bg-BG" sz="2800" dirty="0" smtClean="0"/>
              <a:t>,</a:t>
            </a:r>
            <a:r>
              <a:rPr lang="en-US" sz="2800" dirty="0" smtClean="0"/>
              <a:t> </a:t>
            </a:r>
            <a:r>
              <a:rPr lang="bg-BG" sz="2800" dirty="0"/>
              <a:t>в</a:t>
            </a:r>
            <a:r>
              <a:rPr lang="ru-RU" sz="2800" dirty="0" smtClean="0"/>
              <a:t>секи </a:t>
            </a:r>
            <a:r>
              <a:rPr lang="ru-RU" sz="2800" dirty="0"/>
              <a:t>процес има определен брой свързани потребителски идентификатори (UID) и групови идентификатори (GID</a:t>
            </a:r>
            <a:r>
              <a:rPr lang="ru-RU" sz="2800" dirty="0" smtClean="0"/>
              <a:t>).</a:t>
            </a:r>
            <a:r>
              <a:rPr lang="ru-RU" sz="2800" dirty="0" smtClean="0"/>
              <a:t> </a:t>
            </a:r>
            <a:endParaRPr lang="ru-RU" sz="2800" dirty="0" smtClean="0"/>
          </a:p>
          <a:p>
            <a:pPr lvl="1"/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Истински</a:t>
            </a:r>
            <a:r>
              <a:rPr lang="ru-RU" sz="2400" dirty="0"/>
              <a:t> потребителски идентификатор и истински групов </a:t>
            </a:r>
            <a:r>
              <a:rPr lang="ru-RU" sz="2400" dirty="0" smtClean="0"/>
              <a:t>идентификатор</a:t>
            </a:r>
          </a:p>
          <a:p>
            <a:pPr lvl="2"/>
            <a:r>
              <a:rPr lang="ru-RU" sz="2000" dirty="0" smtClean="0"/>
              <a:t>Тези идентикатори свързват процеса с потребителя </a:t>
            </a:r>
            <a:r>
              <a:rPr lang="ru-RU" sz="2000" dirty="0"/>
              <a:t>и групата, към които процесът принадлежи. </a:t>
            </a:r>
            <a:endParaRPr lang="ru-RU" sz="2000" dirty="0" smtClean="0"/>
          </a:p>
          <a:p>
            <a:pPr lvl="2"/>
            <a:r>
              <a:rPr lang="ru-RU" sz="2000" dirty="0" smtClean="0"/>
              <a:t>Всеки нов </a:t>
            </a:r>
            <a:r>
              <a:rPr lang="ru-RU" sz="2000" dirty="0"/>
              <a:t>процес наследява тези идентификатори от своя родител. </a:t>
            </a:r>
            <a:endParaRPr lang="ru-RU" sz="2000" dirty="0" smtClean="0"/>
          </a:p>
          <a:p>
            <a:pPr lvl="2"/>
            <a:r>
              <a:rPr lang="en-US" sz="2000" dirty="0" smtClean="0"/>
              <a:t>Shell</a:t>
            </a:r>
            <a:r>
              <a:rPr lang="bg-BG" sz="2000" dirty="0" smtClean="0"/>
              <a:t> </a:t>
            </a:r>
            <a:r>
              <a:rPr lang="ru-RU" sz="2000" dirty="0" smtClean="0"/>
              <a:t>получава </a:t>
            </a:r>
            <a:r>
              <a:rPr lang="ru-RU" sz="2000" dirty="0"/>
              <a:t>своя реален идентификатор на потребител и реален идентификатор на група от </a:t>
            </a:r>
            <a:r>
              <a:rPr lang="ru-RU" sz="2000" dirty="0" smtClean="0"/>
              <a:t>съответните </a:t>
            </a:r>
            <a:r>
              <a:rPr lang="ru-RU" sz="2000" dirty="0"/>
              <a:t>полета в системата </a:t>
            </a:r>
            <a:r>
              <a:rPr lang="ru-RU" sz="2000" dirty="0" smtClean="0"/>
              <a:t>за файл </a:t>
            </a:r>
            <a:r>
              <a:rPr lang="ru-RU" sz="2000" dirty="0"/>
              <a:t>с парола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Ефективен</a:t>
            </a:r>
            <a:r>
              <a:rPr lang="ru-RU" sz="2400" dirty="0"/>
              <a:t> идентификатор на потребител и ефективен идентификатор на група: </a:t>
            </a:r>
            <a:endParaRPr lang="en-US" sz="2400" dirty="0" smtClean="0"/>
          </a:p>
          <a:p>
            <a:pPr lvl="2"/>
            <a:r>
              <a:rPr lang="ru-RU" sz="2000" dirty="0" smtClean="0"/>
              <a:t>Тези идентификатор</a:t>
            </a:r>
            <a:r>
              <a:rPr lang="en-US" sz="2000" dirty="0" err="1" smtClean="0"/>
              <a:t>i</a:t>
            </a:r>
            <a:r>
              <a:rPr lang="ru-RU" sz="2000" dirty="0" smtClean="0"/>
              <a:t> се </a:t>
            </a:r>
            <a:r>
              <a:rPr lang="ru-RU" sz="2000" dirty="0"/>
              <a:t>използват за определяне на разрешенията, които процесът има при достъп до защитени ресурси като файлове и обекти за междупроцесна комуникация. </a:t>
            </a:r>
            <a:endParaRPr lang="en-US" sz="2000" dirty="0" smtClean="0"/>
          </a:p>
          <a:p>
            <a:pPr lvl="2"/>
            <a:r>
              <a:rPr lang="ru-RU" sz="2000" dirty="0" smtClean="0"/>
              <a:t>Обикновено </a:t>
            </a:r>
            <a:r>
              <a:rPr lang="bg-BG" sz="2000" dirty="0" smtClean="0"/>
              <a:t>тези </a:t>
            </a:r>
            <a:r>
              <a:rPr lang="ru-RU" sz="2000" dirty="0" smtClean="0"/>
              <a:t>идентификатори </a:t>
            </a:r>
            <a:r>
              <a:rPr lang="ru-RU" sz="2000" dirty="0"/>
              <a:t>на процеса имат същите стойности като съответните реални идентификатори. </a:t>
            </a:r>
            <a:endParaRPr lang="ru-RU" sz="2000" dirty="0" smtClean="0"/>
          </a:p>
          <a:p>
            <a:pPr lvl="2"/>
            <a:r>
              <a:rPr lang="ru-RU" sz="2000" dirty="0" smtClean="0"/>
              <a:t>Промяната </a:t>
            </a:r>
            <a:r>
              <a:rPr lang="ru-RU" sz="2000" dirty="0"/>
              <a:t>на ефективните идентификатори е механизъм, който позволява на даден процес да приеме правата на друг потребител или </a:t>
            </a:r>
            <a:r>
              <a:rPr lang="ru-RU" sz="2000" dirty="0" smtClean="0"/>
              <a:t>група.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24858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 smtClean="0"/>
              <a:t>В </a:t>
            </a:r>
            <a:r>
              <a:rPr lang="en-US" sz="2800" dirty="0" smtClean="0"/>
              <a:t>Linux</a:t>
            </a:r>
            <a:r>
              <a:rPr lang="bg-BG" sz="2800" dirty="0" smtClean="0"/>
              <a:t>,</a:t>
            </a:r>
            <a:r>
              <a:rPr lang="en-US" sz="2800" dirty="0" smtClean="0"/>
              <a:t> </a:t>
            </a:r>
            <a:r>
              <a:rPr lang="bg-BG" sz="2800" dirty="0"/>
              <a:t>в</a:t>
            </a:r>
            <a:r>
              <a:rPr lang="ru-RU" sz="2800" dirty="0" smtClean="0"/>
              <a:t>секи </a:t>
            </a:r>
            <a:r>
              <a:rPr lang="ru-RU" sz="2800" dirty="0"/>
              <a:t>процес има определен брой свързани потребителски идентификатори (UID) и групови идентификатори (GID</a:t>
            </a:r>
            <a:r>
              <a:rPr lang="ru-RU" sz="2800" dirty="0" smtClean="0"/>
              <a:t>).</a:t>
            </a:r>
            <a:r>
              <a:rPr lang="ru-RU" sz="2800" dirty="0" smtClean="0"/>
              <a:t> </a:t>
            </a:r>
            <a:endParaRPr lang="ru-RU" sz="2800" dirty="0" smtClean="0"/>
          </a:p>
          <a:p>
            <a:pPr lvl="1"/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Истински</a:t>
            </a:r>
            <a:r>
              <a:rPr lang="ru-RU" sz="2400" dirty="0"/>
              <a:t> потребителски идентификатор и истински групов </a:t>
            </a:r>
            <a:r>
              <a:rPr lang="ru-RU" sz="2400" dirty="0" smtClean="0"/>
              <a:t>идентификатор</a:t>
            </a:r>
          </a:p>
          <a:p>
            <a:pPr lvl="2"/>
            <a:r>
              <a:rPr lang="ru-RU" sz="2100" dirty="0" smtClean="0"/>
              <a:t>Тези идентикатори свързват процеса с потребителя </a:t>
            </a:r>
            <a:r>
              <a:rPr lang="ru-RU" sz="2100" dirty="0"/>
              <a:t>и групата, към които процесът принадлежи. </a:t>
            </a:r>
            <a:endParaRPr lang="ru-RU" sz="2100" dirty="0" smtClean="0"/>
          </a:p>
          <a:p>
            <a:pPr lvl="2"/>
            <a:r>
              <a:rPr lang="ru-RU" sz="2100" dirty="0" smtClean="0"/>
              <a:t>Всеки нов </a:t>
            </a:r>
            <a:r>
              <a:rPr lang="ru-RU" sz="2100" dirty="0"/>
              <a:t>процес наследява тези идентификатори от своя родител. </a:t>
            </a:r>
            <a:endParaRPr lang="ru-RU" sz="2100" dirty="0" smtClean="0"/>
          </a:p>
          <a:p>
            <a:pPr lvl="2"/>
            <a:r>
              <a:rPr lang="en-US" sz="2100" dirty="0" smtClean="0"/>
              <a:t>Shell</a:t>
            </a:r>
            <a:r>
              <a:rPr lang="bg-BG" sz="2100" dirty="0" smtClean="0"/>
              <a:t> </a:t>
            </a:r>
            <a:r>
              <a:rPr lang="ru-RU" sz="2100" dirty="0" smtClean="0"/>
              <a:t>получава </a:t>
            </a:r>
            <a:r>
              <a:rPr lang="ru-RU" sz="2100" dirty="0"/>
              <a:t>своя реален идентификатор на потребител и реален идентификатор на група от </a:t>
            </a:r>
            <a:r>
              <a:rPr lang="ru-RU" sz="2100" dirty="0" smtClean="0"/>
              <a:t>съответните </a:t>
            </a:r>
            <a:r>
              <a:rPr lang="ru-RU" sz="2100" dirty="0"/>
              <a:t>полета в системата </a:t>
            </a:r>
            <a:r>
              <a:rPr lang="ru-RU" sz="2100" dirty="0" smtClean="0"/>
              <a:t>за файл </a:t>
            </a:r>
            <a:r>
              <a:rPr lang="ru-RU" sz="2100" dirty="0"/>
              <a:t>с парола</a:t>
            </a:r>
            <a:r>
              <a:rPr lang="ru-RU" sz="2100" dirty="0" smtClean="0"/>
              <a:t>.</a:t>
            </a:r>
          </a:p>
          <a:p>
            <a:pPr lvl="1"/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Ефективен</a:t>
            </a:r>
            <a:r>
              <a:rPr lang="ru-RU" sz="2400" dirty="0"/>
              <a:t> идентификатор на потребител и ефективен идентификатор на група: </a:t>
            </a:r>
            <a:endParaRPr lang="en-US" sz="2400" dirty="0" smtClean="0"/>
          </a:p>
          <a:p>
            <a:pPr lvl="2"/>
            <a:r>
              <a:rPr lang="ru-RU" sz="2100" dirty="0" smtClean="0"/>
              <a:t>Тези идентификатор</a:t>
            </a:r>
            <a:r>
              <a:rPr lang="en-US" sz="2100" dirty="0" err="1" smtClean="0"/>
              <a:t>i</a:t>
            </a:r>
            <a:r>
              <a:rPr lang="ru-RU" sz="2100" dirty="0" smtClean="0"/>
              <a:t> се </a:t>
            </a:r>
            <a:r>
              <a:rPr lang="ru-RU" sz="2100" dirty="0"/>
              <a:t>използват за определяне на разрешенията, които процесът има при достъп до защитени ресурси като файлове и обекти за междупроцесна комуникация. </a:t>
            </a:r>
            <a:endParaRPr lang="en-US" sz="2100" dirty="0" smtClean="0"/>
          </a:p>
          <a:p>
            <a:pPr lvl="2"/>
            <a:r>
              <a:rPr lang="ru-RU" sz="2100" dirty="0" smtClean="0"/>
              <a:t>Обикновено </a:t>
            </a:r>
            <a:r>
              <a:rPr lang="bg-BG" sz="2100" dirty="0" smtClean="0"/>
              <a:t>тези </a:t>
            </a:r>
            <a:r>
              <a:rPr lang="ru-RU" sz="2100" dirty="0" smtClean="0"/>
              <a:t>идентификатори </a:t>
            </a:r>
            <a:r>
              <a:rPr lang="ru-RU" sz="2100" dirty="0"/>
              <a:t>на процеса имат същите стойности като съответните реални идентификатори. </a:t>
            </a:r>
            <a:endParaRPr lang="ru-RU" sz="2100" dirty="0" smtClean="0"/>
          </a:p>
          <a:p>
            <a:pPr lvl="2"/>
            <a:r>
              <a:rPr lang="ru-RU" sz="2100" dirty="0" smtClean="0"/>
              <a:t>Промяната </a:t>
            </a:r>
            <a:r>
              <a:rPr lang="ru-RU" sz="2100" dirty="0"/>
              <a:t>на ефективните идентификатори е механизъм, който позволява на даден процес да приеме правата на друг потребител или </a:t>
            </a:r>
            <a:r>
              <a:rPr lang="ru-RU" sz="2100" dirty="0" smtClean="0"/>
              <a:t>група.</a:t>
            </a:r>
          </a:p>
          <a:p>
            <a:pPr lvl="1"/>
            <a:r>
              <a:rPr lang="ru-RU" sz="2400" dirty="0"/>
              <a:t>Идентификатори на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допълнителните групи</a:t>
            </a:r>
            <a:r>
              <a:rPr lang="ru-RU" sz="2400" dirty="0"/>
              <a:t>: </a:t>
            </a:r>
            <a:endParaRPr lang="ru-RU" sz="2400" dirty="0" smtClean="0"/>
          </a:p>
          <a:p>
            <a:pPr lvl="2"/>
            <a:r>
              <a:rPr lang="ru-RU" sz="2100" dirty="0" smtClean="0"/>
              <a:t>Тези </a:t>
            </a:r>
            <a:r>
              <a:rPr lang="ru-RU" sz="2100" dirty="0"/>
              <a:t>идентификатори </a:t>
            </a:r>
            <a:r>
              <a:rPr lang="ru-RU" sz="2100" dirty="0" smtClean="0"/>
              <a:t>се използват за оказване на </a:t>
            </a:r>
            <a:r>
              <a:rPr lang="ru-RU" sz="2100" dirty="0"/>
              <a:t>допълнителни групи, към които процесът принадлежи. </a:t>
            </a:r>
            <a:endParaRPr lang="ru-RU" sz="2100" dirty="0" smtClean="0"/>
          </a:p>
          <a:p>
            <a:pPr lvl="2"/>
            <a:r>
              <a:rPr lang="ru-RU" sz="2100" dirty="0" smtClean="0"/>
              <a:t>Нов </a:t>
            </a:r>
            <a:r>
              <a:rPr lang="ru-RU" sz="2100" dirty="0"/>
              <a:t>процес наследява идентификаторите на допълнителните групи от своя родител</a:t>
            </a:r>
            <a:r>
              <a:rPr lang="ru-RU" sz="2100" dirty="0" smtClean="0"/>
              <a:t>.</a:t>
            </a:r>
          </a:p>
          <a:p>
            <a:pPr lvl="2"/>
            <a:r>
              <a:rPr lang="en-US" sz="2100" dirty="0" smtClean="0"/>
              <a:t>Shell </a:t>
            </a:r>
            <a:r>
              <a:rPr lang="ru-RU" sz="2100" dirty="0" smtClean="0"/>
              <a:t>получава </a:t>
            </a:r>
            <a:r>
              <a:rPr lang="ru-RU" sz="2100" dirty="0"/>
              <a:t>идентификаторите на допълнителните си групи от системния групов файл.</a:t>
            </a:r>
            <a:endParaRPr lang="bg-BG" sz="2100" dirty="0"/>
          </a:p>
        </p:txBody>
      </p:sp>
    </p:spTree>
    <p:extLst>
      <p:ext uri="{BB962C8B-B14F-4D97-AF65-F5344CB8AC3E}">
        <p14:creationId xmlns:p14="http://schemas.microsoft.com/office/powerpoint/2010/main" val="414992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Привилегировани </a:t>
            </a:r>
            <a:r>
              <a:rPr lang="ru-RU" dirty="0" smtClean="0"/>
              <a:t>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7000"/>
              </a:lnSpc>
              <a:spcBef>
                <a:spcPts val="0"/>
              </a:spcBef>
            </a:pPr>
            <a:r>
              <a:rPr lang="ru-RU" sz="2600" dirty="0" smtClean="0"/>
              <a:t>Традиционно </a:t>
            </a:r>
            <a:r>
              <a:rPr lang="ru-RU" sz="2600" dirty="0"/>
              <a:t>в системите UNIX привилегирован процес е този, чийто </a:t>
            </a:r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ефективен потребителски идентификатор </a:t>
            </a:r>
            <a:r>
              <a:rPr lang="ru-RU" sz="2600" dirty="0"/>
              <a:t>е </a:t>
            </a:r>
            <a:r>
              <a:rPr lang="ru-RU" sz="2600" b="1" dirty="0"/>
              <a:t>0</a:t>
            </a:r>
            <a:r>
              <a:rPr lang="ru-RU" sz="2600" dirty="0"/>
              <a:t> (суперпотребител). </a:t>
            </a:r>
            <a:endParaRPr lang="en-US" sz="2600" dirty="0" smtClean="0"/>
          </a:p>
          <a:p>
            <a:pPr lvl="1">
              <a:lnSpc>
                <a:spcPct val="97000"/>
              </a:lnSpc>
              <a:spcBef>
                <a:spcPts val="0"/>
              </a:spcBef>
            </a:pPr>
            <a:r>
              <a:rPr lang="ru-RU" sz="2250" dirty="0" smtClean="0"/>
              <a:t>Такъв </a:t>
            </a:r>
            <a:r>
              <a:rPr lang="ru-RU" sz="2250" dirty="0"/>
              <a:t>процес заобикаля ограниченията на разрешенията, които обикновено се прилагат от ядрото. </a:t>
            </a:r>
            <a:endParaRPr lang="en-US" sz="2250" dirty="0" smtClean="0"/>
          </a:p>
          <a:p>
            <a:pPr lvl="1">
              <a:lnSpc>
                <a:spcPct val="97000"/>
              </a:lnSpc>
              <a:spcBef>
                <a:spcPts val="0"/>
              </a:spcBef>
            </a:pPr>
            <a:r>
              <a:rPr lang="ru-RU" sz="2250" dirty="0"/>
              <a:t>Един процес може да бъде привилегирован, защото е създаден от друг привилегирован процес - например от </a:t>
            </a:r>
            <a:r>
              <a:rPr lang="en-US" sz="2250" dirty="0"/>
              <a:t>shell</a:t>
            </a:r>
            <a:r>
              <a:rPr lang="ru-RU" sz="2250" dirty="0"/>
              <a:t>, стартирана от root (суперпотребител). </a:t>
            </a:r>
            <a:endParaRPr lang="en-US" sz="2250" dirty="0"/>
          </a:p>
          <a:p>
            <a:pPr lvl="1">
              <a:lnSpc>
                <a:spcPct val="97000"/>
              </a:lnSpc>
              <a:spcBef>
                <a:spcPts val="0"/>
              </a:spcBef>
            </a:pPr>
            <a:r>
              <a:rPr lang="ru-RU" sz="2250" dirty="0"/>
              <a:t>Друг начин, по който един процес може да стане привилегирован, е чрез механизма set-user-ID, който позволява на процеса да приеме ефективен потребителски идентификатор, който е същият като потребителския идентификатор на програмния файл, който изпълнява.</a:t>
            </a:r>
            <a:endParaRPr lang="bg-BG" sz="2250" dirty="0"/>
          </a:p>
          <a:p>
            <a:pPr>
              <a:lnSpc>
                <a:spcPct val="97000"/>
              </a:lnSpc>
              <a:spcBef>
                <a:spcPts val="0"/>
              </a:spcBef>
            </a:pPr>
            <a:r>
              <a:rPr lang="ru-RU" sz="2600" dirty="0" smtClean="0"/>
              <a:t>За </a:t>
            </a:r>
            <a:r>
              <a:rPr lang="ru-RU" sz="2600" dirty="0"/>
              <a:t>разлика от тях терминът </a:t>
            </a:r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непривилегирован</a:t>
            </a:r>
            <a:r>
              <a:rPr lang="ru-RU" sz="2600" dirty="0"/>
              <a:t> (или непривилегирован) се прилага за процеси, изпълнявани от други потребители. </a:t>
            </a:r>
            <a:endParaRPr lang="en-US" sz="2600" dirty="0" smtClean="0"/>
          </a:p>
          <a:p>
            <a:pPr lvl="1">
              <a:lnSpc>
                <a:spcPct val="97000"/>
              </a:lnSpc>
              <a:spcBef>
                <a:spcPts val="0"/>
              </a:spcBef>
            </a:pPr>
            <a:r>
              <a:rPr lang="ru-RU" sz="2250" dirty="0" smtClean="0"/>
              <a:t>Такива </a:t>
            </a:r>
            <a:r>
              <a:rPr lang="ru-RU" sz="2250" dirty="0"/>
              <a:t>процеси имат ефективен идентификатор на потребител, който не е равен на нула, и трябва да спазват правилата за разрешения, прилагани от ядрото</a:t>
            </a:r>
            <a:r>
              <a:rPr lang="ru-RU" sz="2250" dirty="0" smtClean="0"/>
              <a:t>.</a:t>
            </a:r>
            <a:endParaRPr lang="ru-RU" sz="2250" dirty="0"/>
          </a:p>
        </p:txBody>
      </p:sp>
    </p:spTree>
    <p:extLst>
      <p:ext uri="{BB962C8B-B14F-4D97-AF65-F5344CB8AC3E}">
        <p14:creationId xmlns:p14="http://schemas.microsoft.com/office/powerpoint/2010/main" val="33695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Привилегии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Linux </a:t>
            </a:r>
            <a:r>
              <a:rPr lang="ru-RU" sz="2800" dirty="0"/>
              <a:t>разделя </a:t>
            </a:r>
            <a:r>
              <a:rPr lang="ru-RU" sz="2800" dirty="0" smtClean="0"/>
              <a:t>привилегиите (след </a:t>
            </a:r>
            <a:r>
              <a:rPr lang="en-US" sz="2800" dirty="0" smtClean="0"/>
              <a:t>v. </a:t>
            </a:r>
            <a:r>
              <a:rPr lang="ru-RU" sz="2800" dirty="0" smtClean="0"/>
              <a:t>2.2</a:t>
            </a:r>
            <a:r>
              <a:rPr lang="en-US" sz="2800" dirty="0" smtClean="0"/>
              <a:t>)</a:t>
            </a:r>
            <a:r>
              <a:rPr lang="ru-RU" sz="2800" dirty="0" smtClean="0"/>
              <a:t> , </a:t>
            </a:r>
            <a:r>
              <a:rPr lang="ru-RU" sz="2800" dirty="0"/>
              <a:t>които </a:t>
            </a:r>
            <a:r>
              <a:rPr lang="ru-RU" sz="2800" dirty="0" smtClean="0"/>
              <a:t>се </a:t>
            </a:r>
            <a:r>
              <a:rPr lang="ru-RU" sz="2800" dirty="0"/>
              <a:t>предоставят на суперпотребителя, на набор от отделни </a:t>
            </a:r>
            <a:r>
              <a:rPr lang="ru-RU" sz="2800" dirty="0" smtClean="0"/>
              <a:t>единици, наречени «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способности</a:t>
            </a:r>
            <a:r>
              <a:rPr lang="ru-RU" sz="2800" dirty="0" smtClean="0"/>
              <a:t>»</a:t>
            </a:r>
            <a:r>
              <a:rPr lang="en-US" sz="2800" dirty="0" smtClean="0"/>
              <a:t> (</a:t>
            </a:r>
            <a:r>
              <a:rPr lang="bg-BG" sz="2800" dirty="0" smtClean="0"/>
              <a:t>в оригинал </a:t>
            </a:r>
            <a:r>
              <a:rPr lang="en-US" sz="2800" dirty="0" smtClean="0"/>
              <a:t>capabilities</a:t>
            </a:r>
            <a:r>
              <a:rPr lang="bg-BG" sz="2800" dirty="0" smtClean="0"/>
              <a:t>)</a:t>
            </a:r>
            <a:r>
              <a:rPr lang="ru-RU" sz="2800" dirty="0" smtClean="0"/>
              <a:t>. </a:t>
            </a:r>
            <a:endParaRPr lang="en-US" sz="28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Всяка </a:t>
            </a:r>
            <a:r>
              <a:rPr lang="ru-RU" sz="2400" dirty="0"/>
              <a:t>привилегирована операция се свързва с определена </a:t>
            </a:r>
            <a:r>
              <a:rPr lang="ru-RU" sz="2400" dirty="0" smtClean="0"/>
              <a:t>способност (</a:t>
            </a:r>
            <a:r>
              <a:rPr lang="en-US" sz="2400" dirty="0" smtClean="0"/>
              <a:t>capabilities</a:t>
            </a:r>
            <a:r>
              <a:rPr lang="bg-BG" sz="2400" dirty="0" smtClean="0"/>
              <a:t>)</a:t>
            </a:r>
            <a:r>
              <a:rPr lang="ru-RU" sz="2400" dirty="0" smtClean="0"/>
              <a:t> </a:t>
            </a:r>
            <a:r>
              <a:rPr lang="ru-RU" sz="2400" dirty="0"/>
              <a:t>и даден процес може да извърши дадена операция само ако притежава съответната способност. </a:t>
            </a:r>
            <a:endParaRPr lang="en-US" sz="24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Процесът на суперпотребителя </a:t>
            </a:r>
            <a:r>
              <a:rPr lang="ru-RU" sz="2400" dirty="0"/>
              <a:t>(ефективен потребителски идентификатор 0) съответства на процес с всички активирани </a:t>
            </a:r>
            <a:r>
              <a:rPr lang="ru-RU" sz="2400" dirty="0" smtClean="0"/>
              <a:t>способности.</a:t>
            </a:r>
            <a:endParaRPr lang="ru-RU" sz="2400" dirty="0"/>
          </a:p>
          <a:p>
            <a:pPr>
              <a:spcBef>
                <a:spcPts val="300"/>
              </a:spcBef>
            </a:pPr>
            <a:r>
              <a:rPr lang="ru-RU" sz="2800" dirty="0" smtClean="0"/>
              <a:t>Всеки процес с дефиниран набор от способности: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може да </a:t>
            </a:r>
            <a:r>
              <a:rPr lang="ru-RU" sz="2400" dirty="0"/>
              <a:t>извършва някои от операциите, които обикновено са разрешени на </a:t>
            </a:r>
            <a:r>
              <a:rPr lang="ru-RU" sz="2400" dirty="0" smtClean="0"/>
              <a:t>суперпотребителя;  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ограничен да </a:t>
            </a:r>
            <a:r>
              <a:rPr lang="ru-RU" sz="2400" dirty="0"/>
              <a:t>извършва </a:t>
            </a:r>
            <a:r>
              <a:rPr lang="ru-RU" sz="2400" dirty="0" smtClean="0"/>
              <a:t>други операции, достъпни за други процеси.</a:t>
            </a:r>
            <a:endParaRPr lang="ru-RU" sz="2400" dirty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Имената </a:t>
            </a:r>
            <a:r>
              <a:rPr lang="ru-RU" sz="2400" dirty="0"/>
              <a:t>на </a:t>
            </a:r>
            <a:r>
              <a:rPr lang="ru-RU" sz="2400" dirty="0" smtClean="0"/>
              <a:t>способностите започват </a:t>
            </a:r>
            <a:r>
              <a:rPr lang="ru-RU" sz="2400" dirty="0"/>
              <a:t>с префикс CAP_, както в CAP_KILL. 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04850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Процесът </a:t>
            </a:r>
            <a:r>
              <a:rPr lang="ru-RU" dirty="0" smtClean="0"/>
              <a:t>«init»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При </a:t>
            </a:r>
            <a:r>
              <a:rPr lang="ru-RU" dirty="0"/>
              <a:t>стартиране на </a:t>
            </a:r>
            <a:r>
              <a:rPr lang="ru-RU" dirty="0" smtClean="0"/>
              <a:t>системата, </a:t>
            </a:r>
            <a:r>
              <a:rPr lang="ru-RU" dirty="0"/>
              <a:t>ядрото създава специален процес, наречен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init.</a:t>
            </a:r>
          </a:p>
          <a:p>
            <a:pPr lvl="1"/>
            <a:r>
              <a:rPr lang="ru-RU" dirty="0" smtClean="0"/>
              <a:t>Този процес е формален </a:t>
            </a:r>
            <a:r>
              <a:rPr lang="ru-RU" i="1" u="sng" dirty="0" smtClean="0"/>
              <a:t>родител</a:t>
            </a:r>
            <a:r>
              <a:rPr lang="ru-RU" dirty="0" smtClean="0"/>
              <a:t> </a:t>
            </a:r>
            <a:r>
              <a:rPr lang="ru-RU" dirty="0"/>
              <a:t>на всички </a:t>
            </a:r>
            <a:r>
              <a:rPr lang="ru-RU" dirty="0" smtClean="0"/>
              <a:t>процеси</a:t>
            </a:r>
          </a:p>
          <a:p>
            <a:pPr lvl="2"/>
            <a:r>
              <a:rPr lang="ru-RU" dirty="0" smtClean="0"/>
              <a:t>Всички </a:t>
            </a:r>
            <a:r>
              <a:rPr lang="ru-RU" dirty="0"/>
              <a:t>процеси в системата се създават (с помощта на fork()) или от init, или от някой от неговите наследници. </a:t>
            </a:r>
          </a:p>
          <a:p>
            <a:pPr lvl="2"/>
            <a:r>
              <a:rPr lang="ru-RU" dirty="0"/>
              <a:t>Основната </a:t>
            </a:r>
            <a:r>
              <a:rPr lang="ru-RU" dirty="0" smtClean="0"/>
              <a:t>му задача е </a:t>
            </a:r>
            <a:r>
              <a:rPr lang="ru-RU" dirty="0"/>
              <a:t>да създава и следи </a:t>
            </a:r>
            <a:r>
              <a:rPr lang="ru-RU" dirty="0" smtClean="0"/>
              <a:t>поредица от процеси</a:t>
            </a:r>
            <a:r>
              <a:rPr lang="ru-RU" dirty="0"/>
              <a:t>, необходими на работещата система.</a:t>
            </a:r>
            <a:endParaRPr lang="bg-BG" dirty="0"/>
          </a:p>
          <a:p>
            <a:pPr lvl="1"/>
            <a:r>
              <a:rPr lang="ru-RU" dirty="0" smtClean="0"/>
              <a:t>Този процес е резултат от стартирането на от програмния файл «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/sbin/init</a:t>
            </a:r>
            <a:r>
              <a:rPr lang="ru-RU" dirty="0" smtClean="0"/>
              <a:t>». </a:t>
            </a:r>
          </a:p>
          <a:p>
            <a:pPr lvl="2"/>
            <a:r>
              <a:rPr lang="ru-RU" dirty="0" smtClean="0"/>
              <a:t>init </a:t>
            </a:r>
            <a:r>
              <a:rPr lang="ru-RU" dirty="0"/>
              <a:t>винаги </a:t>
            </a:r>
            <a:r>
              <a:rPr lang="ru-RU" dirty="0" smtClean="0"/>
              <a:t>има идентификатор на процеса 1 и работи с привилегии на суперпотребител. </a:t>
            </a:r>
          </a:p>
          <a:p>
            <a:pPr lvl="2"/>
            <a:r>
              <a:rPr lang="ru-RU" dirty="0" smtClean="0"/>
              <a:t>init не може да бъде премахнат или спрян, дори от суперпотребителя.</a:t>
            </a:r>
          </a:p>
          <a:p>
            <a:pPr lvl="3"/>
            <a:r>
              <a:rPr lang="ru-RU" dirty="0" smtClean="0"/>
              <a:t>Прекратява се само при изключване на системата.</a:t>
            </a:r>
          </a:p>
        </p:txBody>
      </p:sp>
    </p:spTree>
    <p:extLst>
      <p:ext uri="{BB962C8B-B14F-4D97-AF65-F5344CB8AC3E}">
        <p14:creationId xmlns:p14="http://schemas.microsoft.com/office/powerpoint/2010/main" val="370027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“</a:t>
            </a:r>
            <a:r>
              <a:rPr lang="ru-RU" dirty="0" smtClean="0"/>
              <a:t>Демон</a:t>
            </a:r>
            <a:r>
              <a:rPr lang="en-US" dirty="0" smtClean="0"/>
              <a:t>”</a:t>
            </a:r>
            <a:r>
              <a:rPr lang="ru-RU" dirty="0" smtClean="0"/>
              <a:t> процеси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Демонът </a:t>
            </a:r>
            <a:r>
              <a:rPr lang="ru-RU" sz="2800" dirty="0"/>
              <a:t>(в оригинал Daemon) е процес със специално предназначение, който се създава и обработва от системата по същия начин като другите процеси, но се отличава със следните характеристики: 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Той </a:t>
            </a:r>
            <a:r>
              <a:rPr lang="ru-RU" sz="2400" dirty="0" smtClean="0"/>
              <a:t>е </a:t>
            </a:r>
            <a:r>
              <a:rPr lang="ru-RU" sz="2400" dirty="0"/>
              <a:t>с дълъг живот. Процесът демон често се стартира при зареждане на системата и остава да съществува, докато системата не бъде изключена. 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Той </a:t>
            </a:r>
            <a:r>
              <a:rPr lang="ru-RU" sz="2400" dirty="0"/>
              <a:t>работи във фонов режим и няма управляващ терминал, от който да чете входни данни или на който да записва изходни данни. 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Примери</a:t>
            </a:r>
          </a:p>
          <a:p>
            <a:pPr lvl="2">
              <a:spcBef>
                <a:spcPts val="300"/>
              </a:spcBef>
            </a:pPr>
            <a:r>
              <a:rPr lang="en-US" sz="2000" dirty="0"/>
              <a:t>s</a:t>
            </a:r>
            <a:r>
              <a:rPr lang="ru-RU" sz="2000" dirty="0" smtClean="0"/>
              <a:t>yslogd - записва </a:t>
            </a:r>
            <a:r>
              <a:rPr lang="ru-RU" sz="2000" dirty="0"/>
              <a:t>съобщения в системния </a:t>
            </a:r>
            <a:r>
              <a:rPr lang="ru-RU" sz="2000" dirty="0" smtClean="0"/>
              <a:t>дневник</a:t>
            </a:r>
            <a:r>
              <a:rPr lang="en-US" sz="2000" dirty="0" smtClean="0"/>
              <a:t>;</a:t>
            </a:r>
            <a:endParaRPr lang="ru-RU" sz="2000" dirty="0" smtClean="0"/>
          </a:p>
          <a:p>
            <a:pPr lvl="2">
              <a:spcBef>
                <a:spcPts val="300"/>
              </a:spcBef>
            </a:pPr>
            <a:r>
              <a:rPr lang="en-US" sz="2000" dirty="0" smtClean="0"/>
              <a:t>h</a:t>
            </a:r>
            <a:r>
              <a:rPr lang="ru-RU" sz="2000" dirty="0" smtClean="0"/>
              <a:t>ttpd -обслужва </a:t>
            </a:r>
            <a:r>
              <a:rPr lang="ru-RU" sz="2000" dirty="0"/>
              <a:t>уебстраници чрез протокола за трансфер на хипертекст (HTTP).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37613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Списък на околната </a:t>
            </a:r>
            <a:r>
              <a:rPr lang="ru-RU" dirty="0" smtClean="0"/>
              <a:t>среда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2800" dirty="0" smtClean="0"/>
              <a:t>Всеки </a:t>
            </a:r>
            <a:r>
              <a:rPr lang="ru-RU" sz="2800" dirty="0"/>
              <a:t>процес има списък на </a:t>
            </a:r>
            <a:r>
              <a:rPr lang="ru-RU" sz="2800" dirty="0" smtClean="0"/>
              <a:t>средата</a:t>
            </a:r>
            <a:r>
              <a:rPr lang="en-US" sz="2800" dirty="0" smtClean="0"/>
              <a:t> (</a:t>
            </a:r>
            <a:r>
              <a:rPr lang="bg-BG" sz="2800" dirty="0" smtClean="0"/>
              <a:t>в оригинал </a:t>
            </a:r>
            <a:r>
              <a:rPr lang="en-US" sz="2800" dirty="0" smtClean="0"/>
              <a:t>Environment list</a:t>
            </a:r>
            <a:r>
              <a:rPr lang="bg-BG" sz="2800" dirty="0" smtClean="0"/>
              <a:t>)</a:t>
            </a:r>
            <a:r>
              <a:rPr lang="ru-RU" sz="2800" dirty="0" smtClean="0"/>
              <a:t>, </a:t>
            </a:r>
            <a:r>
              <a:rPr lang="ru-RU" sz="2800" dirty="0"/>
              <a:t>който представлява набор от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променливи на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средата.</a:t>
            </a: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0"/>
              </a:spcBef>
            </a:pPr>
            <a:r>
              <a:rPr lang="bg-BG" sz="2400" dirty="0" smtClean="0"/>
              <a:t>Променливите на средата </a:t>
            </a:r>
            <a:r>
              <a:rPr lang="ru-RU" sz="2400" dirty="0" smtClean="0"/>
              <a:t>се </a:t>
            </a:r>
            <a:r>
              <a:rPr lang="ru-RU" sz="2400" dirty="0"/>
              <a:t>поддържат в паметта на потребителското пространство на процеса. 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ru-RU" sz="2400" dirty="0" smtClean="0"/>
              <a:t>Всеки </a:t>
            </a:r>
            <a:r>
              <a:rPr lang="ru-RU" sz="2400" dirty="0"/>
              <a:t>елемент от този списък се състои от име и свързана с него стойност. 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ru-RU" sz="2400" dirty="0" smtClean="0"/>
              <a:t>Когато </a:t>
            </a:r>
            <a:r>
              <a:rPr lang="ru-RU" sz="2400" dirty="0"/>
              <a:t>се създава нов процес чрез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fork()</a:t>
            </a:r>
            <a:r>
              <a:rPr lang="ru-RU" sz="2400" dirty="0"/>
              <a:t>, той наследява копие на средата на своя родител. </a:t>
            </a:r>
            <a:endParaRPr lang="en-US" sz="2400" dirty="0" smtClean="0"/>
          </a:p>
          <a:p>
            <a:pPr lvl="2">
              <a:spcBef>
                <a:spcPts val="0"/>
              </a:spcBef>
            </a:pPr>
            <a:r>
              <a:rPr lang="ru-RU" sz="2000" dirty="0" smtClean="0"/>
              <a:t>По </a:t>
            </a:r>
            <a:r>
              <a:rPr lang="ru-RU" sz="2000" dirty="0"/>
              <a:t>този начин средата осигурява механизъм за предаване на информация от родителския процес към детския процес. </a:t>
            </a:r>
            <a:endParaRPr lang="en-US" sz="2000" dirty="0" smtClean="0"/>
          </a:p>
          <a:p>
            <a:pPr lvl="1">
              <a:spcBef>
                <a:spcPts val="0"/>
              </a:spcBef>
            </a:pPr>
            <a:r>
              <a:rPr lang="ru-RU" sz="2400" dirty="0" smtClean="0"/>
              <a:t>Когато </a:t>
            </a:r>
            <a:r>
              <a:rPr lang="ru-RU" sz="2400" dirty="0"/>
              <a:t>даден процес замества изпълняваната от него програма с помощта на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exec()</a:t>
            </a:r>
            <a:r>
              <a:rPr lang="ru-RU" sz="2400" dirty="0"/>
              <a:t>, </a:t>
            </a:r>
            <a:r>
              <a:rPr lang="ru-RU" sz="2400" dirty="0" smtClean="0"/>
              <a:t>то новата програма: </a:t>
            </a:r>
          </a:p>
          <a:p>
            <a:pPr lvl="2">
              <a:spcBef>
                <a:spcPts val="0"/>
              </a:spcBef>
            </a:pPr>
            <a:r>
              <a:rPr lang="ru-RU" sz="2000" dirty="0" smtClean="0"/>
              <a:t>наследява променливите на средата</a:t>
            </a:r>
            <a:r>
              <a:rPr lang="ru-RU" sz="2000" dirty="0"/>
              <a:t>, използвана от старата </a:t>
            </a:r>
            <a:r>
              <a:rPr lang="ru-RU" sz="2000" dirty="0" smtClean="0"/>
              <a:t>програма; </a:t>
            </a:r>
            <a:r>
              <a:rPr lang="ru-RU" sz="2000" dirty="0"/>
              <a:t>или </a:t>
            </a:r>
            <a:endParaRPr lang="ru-RU" sz="2000" dirty="0" smtClean="0"/>
          </a:p>
          <a:p>
            <a:pPr lvl="2">
              <a:spcBef>
                <a:spcPts val="0"/>
              </a:spcBef>
            </a:pPr>
            <a:r>
              <a:rPr lang="ru-RU" sz="2000" dirty="0" smtClean="0"/>
              <a:t>получава нов набор от променливи на средата, </a:t>
            </a:r>
            <a:r>
              <a:rPr lang="ru-RU" sz="2000" dirty="0"/>
              <a:t>зададена като част от извикването на exec</a:t>
            </a:r>
            <a:r>
              <a:rPr lang="ru-RU" sz="2000" dirty="0" smtClean="0"/>
              <a:t>().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9692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Списък на околната </a:t>
            </a:r>
            <a:r>
              <a:rPr lang="ru-RU" dirty="0" smtClean="0"/>
              <a:t>среда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2800" dirty="0" smtClean="0"/>
              <a:t>Променливите </a:t>
            </a:r>
            <a:r>
              <a:rPr lang="ru-RU" sz="2800" dirty="0"/>
              <a:t>на средата се създават с командата export в повечето </a:t>
            </a:r>
            <a:r>
              <a:rPr lang="en-US" sz="2800" dirty="0" smtClean="0"/>
              <a:t>shell</a:t>
            </a:r>
            <a:r>
              <a:rPr lang="ru-RU" sz="2800" dirty="0" smtClean="0"/>
              <a:t> </a:t>
            </a:r>
            <a:r>
              <a:rPr lang="ru-RU" sz="2800" dirty="0"/>
              <a:t>(или с командата setenv в обвивката </a:t>
            </a:r>
            <a:r>
              <a:rPr lang="bg-BG" sz="2800" dirty="0" smtClean="0"/>
              <a:t>на </a:t>
            </a:r>
            <a:r>
              <a:rPr lang="ru-RU" sz="2800" dirty="0" smtClean="0"/>
              <a:t>C) </a:t>
            </a:r>
            <a:endParaRPr lang="ru-RU" sz="2800" dirty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Програмите </a:t>
            </a:r>
            <a:r>
              <a:rPr lang="ru-RU" sz="2400" dirty="0"/>
              <a:t>на C могат да получат достъп до средата чрез външна променлива (char **environ), а различни библиотечни функции </a:t>
            </a:r>
            <a:r>
              <a:rPr lang="ru-RU" sz="2400" dirty="0" smtClean="0"/>
              <a:t>позволяват </a:t>
            </a:r>
            <a:r>
              <a:rPr lang="ru-RU" sz="2400" dirty="0"/>
              <a:t>на процеса да извлича и променя стойностите в своята среда</a:t>
            </a:r>
            <a:r>
              <a:rPr lang="ru-RU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Пример:</a:t>
            </a:r>
          </a:p>
          <a:p>
            <a:pPr marL="438150" lvl="1" indent="0">
              <a:spcBef>
                <a:spcPts val="300"/>
              </a:spcBef>
              <a:buNone/>
            </a:pPr>
            <a:r>
              <a:rPr lang="bg-BG" dirty="0" smtClean="0"/>
              <a:t>	</a:t>
            </a:r>
            <a:r>
              <a:rPr lang="bg-BG" sz="2400" dirty="0" smtClean="0">
                <a:solidFill>
                  <a:srgbClr val="CD7009"/>
                </a:solidFill>
              </a:rPr>
              <a:t>	</a:t>
            </a:r>
            <a:r>
              <a:rPr lang="en-US" sz="2400" i="1" dirty="0" smtClean="0">
                <a:solidFill>
                  <a:srgbClr val="CD7009"/>
                </a:solidFill>
              </a:rPr>
              <a:t>$ </a:t>
            </a:r>
            <a:r>
              <a:rPr lang="en-US" sz="2400" i="1" dirty="0">
                <a:solidFill>
                  <a:srgbClr val="CD7009"/>
                </a:solidFill>
              </a:rPr>
              <a:t>export MYVAR='Hello world'</a:t>
            </a:r>
            <a:endParaRPr lang="ru-RU" sz="2400" i="1" dirty="0">
              <a:solidFill>
                <a:srgbClr val="CD7009"/>
              </a:solidFill>
            </a:endParaRPr>
          </a:p>
          <a:p>
            <a:pPr>
              <a:spcBef>
                <a:spcPts val="300"/>
              </a:spcBef>
            </a:pPr>
            <a:r>
              <a:rPr lang="ru-RU" sz="2800" dirty="0" smtClean="0"/>
              <a:t>Променливите </a:t>
            </a:r>
            <a:r>
              <a:rPr lang="ru-RU" sz="2800" dirty="0"/>
              <a:t>на средата се използват за различни цели. </a:t>
            </a:r>
            <a:endParaRPr lang="ru-RU" sz="2800" dirty="0" smtClean="0"/>
          </a:p>
          <a:p>
            <a:pPr lvl="1">
              <a:spcBef>
                <a:spcPts val="300"/>
              </a:spcBef>
            </a:pPr>
            <a:r>
              <a:rPr lang="en-US" sz="2400" dirty="0" smtClean="0"/>
              <a:t>Shell </a:t>
            </a:r>
            <a:r>
              <a:rPr lang="ru-RU" sz="2400" dirty="0" smtClean="0"/>
              <a:t>дефинира </a:t>
            </a:r>
            <a:r>
              <a:rPr lang="ru-RU" sz="2400" dirty="0"/>
              <a:t>и използва набор от променливи, до които могат да имат достъп скриптове и програми, изпълнявани </a:t>
            </a:r>
            <a:r>
              <a:rPr lang="bg-BG" sz="2400" dirty="0" smtClean="0"/>
              <a:t>от </a:t>
            </a:r>
            <a:r>
              <a:rPr lang="en-US" sz="2400" dirty="0" smtClean="0"/>
              <a:t>shell</a:t>
            </a:r>
            <a:r>
              <a:rPr lang="ru-RU" sz="2400" dirty="0" smtClean="0"/>
              <a:t>. 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променливата HOME – задава името </a:t>
            </a:r>
            <a:r>
              <a:rPr lang="ru-RU" sz="2000" dirty="0"/>
              <a:t>на директорията за вход на </a:t>
            </a:r>
            <a:r>
              <a:rPr lang="ru-RU" sz="2000" dirty="0" smtClean="0"/>
              <a:t>потребителя 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променливата PATH – задава списък </a:t>
            </a:r>
            <a:r>
              <a:rPr lang="ru-RU" sz="2000" dirty="0"/>
              <a:t>от директории, които </a:t>
            </a:r>
            <a:r>
              <a:rPr lang="en-US" sz="2000" dirty="0" smtClean="0"/>
              <a:t>shell </a:t>
            </a:r>
            <a:r>
              <a:rPr lang="bg-BG" sz="2000" dirty="0" smtClean="0"/>
              <a:t>проверява </a:t>
            </a:r>
            <a:r>
              <a:rPr lang="ru-RU" sz="2000" dirty="0" smtClean="0"/>
              <a:t>когато </a:t>
            </a:r>
            <a:r>
              <a:rPr lang="ru-RU" sz="2000" dirty="0"/>
              <a:t>търси програми, съответстващи на въведените от потребителя команди.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197156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на ресурсите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Всеки </a:t>
            </a:r>
            <a:r>
              <a:rPr lang="ru-RU" sz="2800" dirty="0"/>
              <a:t>процес консумира </a:t>
            </a:r>
            <a:r>
              <a:rPr lang="ru-RU" sz="2800" dirty="0" smtClean="0"/>
              <a:t>ресурси (отворени </a:t>
            </a:r>
            <a:r>
              <a:rPr lang="ru-RU" sz="2800" dirty="0"/>
              <a:t>файлове, памет и процесорно </a:t>
            </a:r>
            <a:r>
              <a:rPr lang="ru-RU" sz="2800" dirty="0" smtClean="0"/>
              <a:t>време и др.) </a:t>
            </a:r>
          </a:p>
          <a:p>
            <a:pPr lvl="1"/>
            <a:r>
              <a:rPr lang="ru-RU" sz="2400" dirty="0"/>
              <a:t>Всеки лимит на ресурс има две свързани стойности: </a:t>
            </a:r>
          </a:p>
          <a:p>
            <a:pPr lvl="2"/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мек лимит</a:t>
            </a:r>
            <a:r>
              <a:rPr lang="ru-RU" sz="2000" dirty="0"/>
              <a:t>, който ограничава количеството ресурс, което процесът може да консумира; </a:t>
            </a:r>
            <a:endParaRPr lang="ru-RU" sz="2000" dirty="0" smtClean="0"/>
          </a:p>
          <a:p>
            <a:pPr lvl="2"/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твърд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лимит</a:t>
            </a:r>
            <a:r>
              <a:rPr lang="ru-RU" sz="2000" dirty="0"/>
              <a:t>, който е таван на стойността, до която може да се коригира мекият лимит. </a:t>
            </a:r>
          </a:p>
          <a:p>
            <a:pPr lvl="1"/>
            <a:r>
              <a:rPr lang="ru-RU" sz="2400" dirty="0" smtClean="0"/>
              <a:t>С </a:t>
            </a:r>
            <a:r>
              <a:rPr lang="ru-RU" sz="2400" dirty="0"/>
              <a:t>помощта на системното извикване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setrlimit() </a:t>
            </a:r>
            <a:r>
              <a:rPr lang="ru-RU" sz="2400" dirty="0"/>
              <a:t>процесът може да установи горна граница на потреблението на различни ресурси. </a:t>
            </a:r>
            <a:endParaRPr lang="ru-RU" sz="2400" dirty="0" smtClean="0"/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/>
              <a:t>Непривилегирован процес </a:t>
            </a:r>
            <a:r>
              <a:rPr lang="ru-RU" dirty="0" smtClean="0"/>
              <a:t>може:</a:t>
            </a:r>
          </a:p>
          <a:p>
            <a:pPr marL="749300" lvl="2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/>
              <a:t>може да </a:t>
            </a:r>
            <a:r>
              <a:rPr lang="ru-RU" u="sng" dirty="0"/>
              <a:t>намали</a:t>
            </a:r>
            <a:r>
              <a:rPr lang="ru-RU" dirty="0"/>
              <a:t> само твърдата си </a:t>
            </a:r>
            <a:r>
              <a:rPr lang="ru-RU" dirty="0" smtClean="0"/>
              <a:t>граница;</a:t>
            </a:r>
          </a:p>
          <a:p>
            <a:pPr marL="749300" lvl="2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 smtClean="0"/>
              <a:t>да </a:t>
            </a:r>
            <a:r>
              <a:rPr lang="ru-RU" u="sng" dirty="0"/>
              <a:t>промени</a:t>
            </a:r>
            <a:r>
              <a:rPr lang="ru-RU" dirty="0"/>
              <a:t> меката си граница за даден ресурс до всяка стойност в диапазона от </a:t>
            </a:r>
            <a:r>
              <a:rPr lang="ru-RU" dirty="0" smtClean="0"/>
              <a:t>0 до </a:t>
            </a:r>
            <a:r>
              <a:rPr lang="ru-RU" dirty="0"/>
              <a:t>съответната твърда </a:t>
            </a:r>
            <a:r>
              <a:rPr lang="ru-RU" dirty="0" smtClean="0"/>
              <a:t>граница.</a:t>
            </a:r>
            <a:endParaRPr lang="ru-RU" dirty="0"/>
          </a:p>
          <a:p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97591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на ресурсите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Ограниченията </a:t>
            </a:r>
            <a:r>
              <a:rPr lang="ru-RU" sz="2800" dirty="0"/>
              <a:t>на ресурсите на </a:t>
            </a:r>
            <a:r>
              <a:rPr lang="en-US" sz="2800" dirty="0"/>
              <a:t>shell</a:t>
            </a:r>
            <a:r>
              <a:rPr lang="ru-RU" sz="2800" dirty="0"/>
              <a:t> могат да се настройват с помощта на командата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ulimit</a:t>
            </a:r>
            <a:r>
              <a:rPr lang="ru-RU" sz="2800" dirty="0"/>
              <a:t> (limit в обвивката C). </a:t>
            </a:r>
            <a:endParaRPr lang="en-US" sz="2800" dirty="0"/>
          </a:p>
          <a:p>
            <a:pPr lvl="1"/>
            <a:r>
              <a:rPr lang="en-US" sz="2400" dirty="0"/>
              <a:t>T</a:t>
            </a:r>
            <a:r>
              <a:rPr lang="ru-RU" sz="2400" dirty="0"/>
              <a:t>ези настройки на лимита се наследяват от </a:t>
            </a:r>
            <a:r>
              <a:rPr lang="bg-BG" sz="2400" dirty="0"/>
              <a:t>дъщерните </a:t>
            </a:r>
            <a:r>
              <a:rPr lang="ru-RU" sz="2400" dirty="0"/>
              <a:t>процеси, създавани от </a:t>
            </a:r>
            <a:r>
              <a:rPr lang="en-US" sz="2400" dirty="0"/>
              <a:t>shell </a:t>
            </a:r>
            <a:r>
              <a:rPr lang="ru-RU" sz="2400" dirty="0"/>
              <a:t>за изпълнение на командите на потребителя.</a:t>
            </a:r>
            <a:endParaRPr lang="bg-BG" sz="2400" dirty="0"/>
          </a:p>
          <a:p>
            <a:r>
              <a:rPr lang="ru-RU" sz="2800" dirty="0" smtClean="0"/>
              <a:t>Когато нов </a:t>
            </a:r>
            <a:r>
              <a:rPr lang="ru-RU" sz="2800" dirty="0"/>
              <a:t>процес се създава </a:t>
            </a:r>
            <a:r>
              <a:rPr lang="ru-RU" sz="2800" dirty="0" smtClean="0"/>
              <a:t>с помощта на fork</a:t>
            </a:r>
            <a:r>
              <a:rPr lang="ru-RU" sz="2800" dirty="0"/>
              <a:t>(), </a:t>
            </a:r>
            <a:r>
              <a:rPr lang="ru-RU" sz="2800" dirty="0" smtClean="0"/>
              <a:t>то той </a:t>
            </a:r>
            <a:r>
              <a:rPr lang="ru-RU" sz="2800" dirty="0"/>
              <a:t>наследява копия от настройките на ограниченията на ресурсите на своя родител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0982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Работна директория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2800" dirty="0"/>
              <a:t>Всеки процес има </a:t>
            </a:r>
            <a:r>
              <a:rPr lang="ru-RU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текуща работна директория </a:t>
            </a:r>
            <a:r>
              <a:rPr lang="ru-RU" sz="2800" dirty="0"/>
              <a:t>(понякога наричана просто работна директория на процеса или текуща директория). </a:t>
            </a:r>
            <a:endParaRPr lang="ru-RU" sz="28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Това </a:t>
            </a:r>
            <a:r>
              <a:rPr lang="ru-RU" sz="2400" dirty="0"/>
              <a:t>е "текущото местоположение" на процеса в йерархията на единната директория и именно от тази директория се интерпретират относителните имена на пътищата за процеса</a:t>
            </a:r>
            <a:r>
              <a:rPr lang="ru-RU" sz="2400" dirty="0" smtClean="0"/>
              <a:t>.</a:t>
            </a:r>
          </a:p>
          <a:p>
            <a:pPr>
              <a:spcBef>
                <a:spcPts val="300"/>
              </a:spcBef>
            </a:pPr>
            <a:r>
              <a:rPr lang="ru-RU" sz="2800" dirty="0" smtClean="0"/>
              <a:t>Процесът </a:t>
            </a:r>
            <a:r>
              <a:rPr lang="ru-RU" sz="2800" dirty="0"/>
              <a:t>наследява текущата си работна директория от своя родителски процес</a:t>
            </a:r>
            <a:r>
              <a:rPr lang="ru-RU" sz="28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 </a:t>
            </a:r>
            <a:r>
              <a:rPr lang="ru-RU" sz="2400" dirty="0"/>
              <a:t>Първоначалната текуща работна директория на </a:t>
            </a:r>
            <a:r>
              <a:rPr lang="en-US" sz="2400" dirty="0" smtClean="0"/>
              <a:t>shell</a:t>
            </a:r>
            <a:r>
              <a:rPr lang="ru-RU" sz="2400" dirty="0" smtClean="0"/>
              <a:t> </a:t>
            </a:r>
            <a:r>
              <a:rPr lang="ru-RU" sz="2400" dirty="0"/>
              <a:t>е зададена като местоположението, посочено в полето за домашна директория на записания файл с паролата на потребителя. </a:t>
            </a:r>
            <a:endParaRPr lang="ru-RU" sz="2400" dirty="0" smtClean="0"/>
          </a:p>
          <a:p>
            <a:pPr>
              <a:spcBef>
                <a:spcPts val="300"/>
              </a:spcBef>
            </a:pPr>
            <a:r>
              <a:rPr lang="ru-RU" sz="2800" dirty="0" smtClean="0"/>
              <a:t>Текущата </a:t>
            </a:r>
            <a:r>
              <a:rPr lang="ru-RU" sz="2800" dirty="0"/>
              <a:t>работна директория на </a:t>
            </a:r>
            <a:r>
              <a:rPr lang="en-US" sz="2800" dirty="0" smtClean="0"/>
              <a:t>shell</a:t>
            </a:r>
            <a:r>
              <a:rPr lang="ru-RU" sz="2800" dirty="0" smtClean="0"/>
              <a:t> </a:t>
            </a:r>
            <a:r>
              <a:rPr lang="ru-RU" sz="2800" dirty="0"/>
              <a:t>може да бъде променена с командата </a:t>
            </a:r>
            <a:r>
              <a:rPr lang="ru-RU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</a:t>
            </a:r>
            <a:r>
              <a:rPr lang="ru-RU" sz="2800" dirty="0"/>
              <a:t>.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82543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mmap</a:t>
            </a:r>
            <a:r>
              <a:rPr lang="bg-BG" dirty="0" smtClean="0"/>
              <a:t>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800" dirty="0"/>
              <a:t>Системното извикване mmap() създава ново </a:t>
            </a:r>
            <a:r>
              <a:rPr lang="ru-RU" sz="2800" dirty="0" smtClean="0"/>
              <a:t>преразпределение на </a:t>
            </a:r>
            <a:r>
              <a:rPr lang="ru-RU" sz="2800" dirty="0"/>
              <a:t>паметта във виртуалното адресното пространство </a:t>
            </a:r>
            <a:r>
              <a:rPr lang="ru-RU" sz="2800" dirty="0" smtClean="0"/>
              <a:t>на </a:t>
            </a:r>
            <a:r>
              <a:rPr lang="ru-RU" sz="2800" dirty="0"/>
              <a:t>извикващия </a:t>
            </a:r>
            <a:r>
              <a:rPr lang="ru-RU" sz="2800" dirty="0" smtClean="0"/>
              <a:t>процес</a:t>
            </a:r>
            <a:r>
              <a:rPr lang="ru-RU" sz="2800" dirty="0"/>
              <a:t> </a:t>
            </a:r>
            <a:r>
              <a:rPr lang="ru-RU" sz="2800" dirty="0" smtClean="0"/>
              <a:t>– съществуват две основни категории на създавано съответствие: </a:t>
            </a:r>
          </a:p>
          <a:p>
            <a:pPr lvl="1"/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Файлово </a:t>
            </a:r>
            <a:r>
              <a:rPr lang="ru-RU" sz="2400" dirty="0" smtClean="0"/>
              <a:t>съответствие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smtClean="0"/>
              <a:t>свързва област от файл с област от виртуалната памет на извикващия процес.</a:t>
            </a:r>
          </a:p>
          <a:p>
            <a:pPr lvl="2"/>
            <a:r>
              <a:rPr lang="ru-RU" sz="2000" dirty="0" smtClean="0"/>
              <a:t>След </a:t>
            </a:r>
            <a:r>
              <a:rPr lang="ru-RU" sz="2000" dirty="0"/>
              <a:t>като бъде </a:t>
            </a:r>
            <a:r>
              <a:rPr lang="ru-RU" sz="2000" dirty="0" smtClean="0"/>
              <a:t>създадено съответствието, данните от дадената област на </a:t>
            </a:r>
            <a:r>
              <a:rPr lang="ru-RU" sz="2000" dirty="0"/>
              <a:t>файла може да </a:t>
            </a:r>
            <a:r>
              <a:rPr lang="ru-RU" sz="2000" dirty="0" smtClean="0"/>
              <a:t>използват чрез директна операции </a:t>
            </a:r>
            <a:r>
              <a:rPr lang="ru-RU" sz="2000" dirty="0"/>
              <a:t>върху байтове в съответната област от </a:t>
            </a:r>
            <a:r>
              <a:rPr lang="ru-RU" sz="2000" dirty="0" smtClean="0"/>
              <a:t>паметта на процеса. </a:t>
            </a:r>
          </a:p>
          <a:p>
            <a:pPr lvl="2"/>
            <a:r>
              <a:rPr lang="ru-RU" sz="2000" dirty="0" smtClean="0"/>
              <a:t>Страниците </a:t>
            </a:r>
            <a:r>
              <a:rPr lang="ru-RU" sz="2000" dirty="0"/>
              <a:t>на </a:t>
            </a:r>
            <a:r>
              <a:rPr lang="ru-RU" sz="2000" dirty="0" smtClean="0"/>
              <a:t>съответствие  </a:t>
            </a:r>
            <a:r>
              <a:rPr lang="ru-RU" sz="2000" dirty="0"/>
              <a:t>автоматично се зареждат от файла, когато е необходимо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 smtClean="0"/>
              <a:t>За </a:t>
            </a:r>
            <a:r>
              <a:rPr lang="ru-RU" sz="2400" dirty="0"/>
              <a:t>разлика от това,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анонимното</a:t>
            </a:r>
            <a:r>
              <a:rPr lang="ru-RU" sz="2400" dirty="0"/>
              <a:t> </a:t>
            </a:r>
            <a:r>
              <a:rPr lang="ru-RU" sz="2400" dirty="0" smtClean="0"/>
              <a:t>съответствие няма </a:t>
            </a:r>
            <a:r>
              <a:rPr lang="ru-RU" sz="2400" dirty="0"/>
              <a:t>съответен файл. </a:t>
            </a:r>
            <a:endParaRPr lang="ru-RU" sz="2400" dirty="0" smtClean="0"/>
          </a:p>
          <a:p>
            <a:pPr lvl="2"/>
            <a:r>
              <a:rPr lang="ru-RU" sz="2000" dirty="0" smtClean="0"/>
              <a:t>Вместо </a:t>
            </a:r>
            <a:r>
              <a:rPr lang="ru-RU" sz="2000" dirty="0"/>
              <a:t>това, страниците на съпоставянето се инициализират на 0</a:t>
            </a:r>
            <a:r>
              <a:rPr lang="ru-RU" sz="2000" dirty="0" smtClean="0"/>
              <a:t>.</a:t>
            </a:r>
            <a:endParaRPr lang="bg-BG" sz="2000" dirty="0" smtClean="0"/>
          </a:p>
          <a:p>
            <a:r>
              <a:rPr lang="ru-RU" sz="2800" dirty="0"/>
              <a:t>Паметта на един процес, реализираща съответствие може да бъде споделена с други процеси, в които има създадено съответствие: </a:t>
            </a:r>
          </a:p>
          <a:p>
            <a:pPr lvl="1"/>
            <a:r>
              <a:rPr lang="ru-RU" sz="2400" dirty="0"/>
              <a:t>Два процеса споделят една и съща област от файл;</a:t>
            </a:r>
          </a:p>
          <a:p>
            <a:pPr lvl="1"/>
            <a:r>
              <a:rPr lang="ru-RU" sz="2400" dirty="0"/>
              <a:t>Дъщерен процес, създаден чрез fork(), наследява споделена област от своя родител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4149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mmap</a:t>
            </a:r>
            <a:r>
              <a:rPr lang="bg-BG" dirty="0" smtClean="0"/>
              <a:t>()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2600" dirty="0" smtClean="0"/>
              <a:t>Когато </a:t>
            </a:r>
            <a:r>
              <a:rPr lang="ru-RU" sz="2600" dirty="0"/>
              <a:t>два или повече процеса споделят едни и същи страници, всеки процес може да вижда промените, направени от други процеси в съдържанието на страниците, в зависимост от това дали съпоставянето е създадено като частно или споделено. </a:t>
            </a:r>
            <a:endParaRPr lang="ru-RU" sz="2600" dirty="0" smtClean="0"/>
          </a:p>
          <a:p>
            <a:pPr lvl="1">
              <a:spcBef>
                <a:spcPts val="300"/>
              </a:spcBef>
            </a:pPr>
            <a:r>
              <a:rPr lang="ru-RU" sz="2200" dirty="0" smtClean="0"/>
              <a:t>Когато </a:t>
            </a:r>
            <a:r>
              <a:rPr lang="ru-RU" sz="2200" dirty="0"/>
              <a:t>съпоставянето е частно, промените в </a:t>
            </a:r>
            <a:r>
              <a:rPr lang="ru-RU" sz="2200" dirty="0" smtClean="0"/>
              <a:t>съдържанието </a:t>
            </a:r>
            <a:r>
              <a:rPr lang="ru-RU" sz="2200" dirty="0"/>
              <a:t>на съпоставянето не са видими за други процеси и не се пренасят в основния файл. </a:t>
            </a:r>
            <a:endParaRPr lang="ru-RU" sz="2200" dirty="0" smtClean="0"/>
          </a:p>
          <a:p>
            <a:pPr>
              <a:spcBef>
                <a:spcPts val="300"/>
              </a:spcBef>
            </a:pPr>
            <a:r>
              <a:rPr lang="ru-RU" sz="2600" dirty="0" smtClean="0"/>
              <a:t>Споделянето като техника се използва за </a:t>
            </a:r>
            <a:r>
              <a:rPr lang="ru-RU" sz="2600" dirty="0"/>
              <a:t>различни </a:t>
            </a:r>
            <a:r>
              <a:rPr lang="ru-RU" sz="2600" dirty="0" smtClean="0"/>
              <a:t>цели</a:t>
            </a:r>
          </a:p>
          <a:p>
            <a:pPr lvl="1">
              <a:spcBef>
                <a:spcPts val="300"/>
              </a:spcBef>
            </a:pPr>
            <a:r>
              <a:rPr lang="ru-RU" sz="2200" dirty="0" smtClean="0"/>
              <a:t>инициализиране </a:t>
            </a:r>
            <a:r>
              <a:rPr lang="ru-RU" sz="2200" dirty="0"/>
              <a:t>на текстовия сегмент на даден процес от съответния сегмент на изпълним </a:t>
            </a:r>
            <a:r>
              <a:rPr lang="ru-RU" sz="2200" dirty="0" smtClean="0"/>
              <a:t>файл</a:t>
            </a:r>
            <a:r>
              <a:rPr lang="ru-RU" sz="2200" dirty="0"/>
              <a:t>;</a:t>
            </a:r>
            <a:endParaRPr lang="ru-RU" sz="2200" dirty="0" smtClean="0"/>
          </a:p>
          <a:p>
            <a:pPr lvl="1">
              <a:spcBef>
                <a:spcPts val="300"/>
              </a:spcBef>
            </a:pPr>
            <a:r>
              <a:rPr lang="ru-RU" sz="2200" dirty="0" smtClean="0"/>
              <a:t>заделяне </a:t>
            </a:r>
            <a:r>
              <a:rPr lang="ru-RU" sz="2200" dirty="0"/>
              <a:t>на нова (нулево запълнена) </a:t>
            </a:r>
            <a:r>
              <a:rPr lang="ru-RU" sz="2200" dirty="0" smtClean="0"/>
              <a:t>памет; </a:t>
            </a:r>
          </a:p>
          <a:p>
            <a:pPr lvl="1">
              <a:spcBef>
                <a:spcPts val="300"/>
              </a:spcBef>
            </a:pPr>
            <a:r>
              <a:rPr lang="ru-RU" sz="2200" dirty="0" smtClean="0"/>
              <a:t>файлови </a:t>
            </a:r>
            <a:r>
              <a:rPr lang="ru-RU" sz="2200" dirty="0"/>
              <a:t>входно-изходни операции (входно-изходни операции, свързани с паметта</a:t>
            </a:r>
            <a:r>
              <a:rPr lang="ru-RU" sz="2200" dirty="0" smtClean="0"/>
              <a:t>);</a:t>
            </a:r>
          </a:p>
          <a:p>
            <a:pPr lvl="1">
              <a:spcBef>
                <a:spcPts val="300"/>
              </a:spcBef>
            </a:pPr>
            <a:r>
              <a:rPr lang="ru-RU" sz="2200" dirty="0" smtClean="0"/>
              <a:t>междупроцесна </a:t>
            </a:r>
            <a:r>
              <a:rPr lang="ru-RU" sz="2200" dirty="0"/>
              <a:t>комуникация (чрез споделена съпоставка).</a:t>
            </a:r>
            <a:endParaRPr lang="bg-BG" sz="2200" dirty="0"/>
          </a:p>
        </p:txBody>
      </p:sp>
    </p:spTree>
    <p:extLst>
      <p:ext uri="{BB962C8B-B14F-4D97-AF65-F5344CB8AC3E}">
        <p14:creationId xmlns:p14="http://schemas.microsoft.com/office/powerpoint/2010/main" val="190495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Библиотеки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Дефиниция</a:t>
            </a:r>
            <a:endParaRPr lang="en-US" sz="2800" dirty="0" smtClean="0"/>
          </a:p>
          <a:p>
            <a:pPr lvl="1"/>
            <a:r>
              <a:rPr lang="ru-RU" sz="2400" dirty="0" smtClean="0"/>
              <a:t>Обектната библиотека (в оригинал </a:t>
            </a:r>
            <a:r>
              <a:rPr lang="en-US" sz="2400" dirty="0" smtClean="0"/>
              <a:t>Object library)</a:t>
            </a:r>
            <a:r>
              <a:rPr lang="ru-RU" sz="2400" dirty="0" smtClean="0"/>
              <a:t> е </a:t>
            </a:r>
            <a:r>
              <a:rPr lang="ru-RU" sz="2400" dirty="0"/>
              <a:t>файл, съдържащ компилиран код на обект за (обикновено логически свързани) набор от функции, които могат да бъдат извикани от приложни програми. </a:t>
            </a:r>
            <a:endParaRPr lang="en-US" sz="2400" dirty="0" smtClean="0"/>
          </a:p>
          <a:p>
            <a:r>
              <a:rPr lang="ru-RU" sz="2800" dirty="0" smtClean="0"/>
              <a:t>Поставяне </a:t>
            </a:r>
            <a:r>
              <a:rPr lang="ru-RU" sz="2800" dirty="0"/>
              <a:t>на код за набор от функции в една библиотека от обекти улеснява задачите по създаване на програми и поддръжка. </a:t>
            </a:r>
            <a:endParaRPr lang="en-US" sz="2800" dirty="0" smtClean="0"/>
          </a:p>
          <a:p>
            <a:r>
              <a:rPr lang="ru-RU" sz="2800" dirty="0" smtClean="0"/>
              <a:t>Съвременните </a:t>
            </a:r>
            <a:r>
              <a:rPr lang="ru-RU" sz="2800" dirty="0"/>
              <a:t>системи UNIX предоставят два вида библиотеки с обекти: </a:t>
            </a:r>
            <a:endParaRPr lang="ru-RU" sz="2800" dirty="0" smtClean="0"/>
          </a:p>
          <a:p>
            <a:pPr lvl="1"/>
            <a:r>
              <a:rPr lang="ru-RU" sz="2400" dirty="0" smtClean="0"/>
              <a:t>статични </a:t>
            </a:r>
            <a:r>
              <a:rPr lang="ru-RU" sz="2400" dirty="0"/>
              <a:t>библиотеки и </a:t>
            </a:r>
            <a:endParaRPr lang="ru-RU" sz="2400" dirty="0" smtClean="0"/>
          </a:p>
          <a:p>
            <a:pPr lvl="1"/>
            <a:r>
              <a:rPr lang="ru-RU" sz="2400" dirty="0" smtClean="0"/>
              <a:t>споделени </a:t>
            </a:r>
            <a:r>
              <a:rPr lang="ru-RU" sz="2400" dirty="0"/>
              <a:t>библиотеки.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72823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Статични библиотеки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Статичната библиотека (в оригинал </a:t>
            </a:r>
            <a:r>
              <a:rPr lang="en-US" sz="2800" dirty="0"/>
              <a:t>Static library)</a:t>
            </a:r>
            <a:r>
              <a:rPr lang="ru-RU" sz="2800" dirty="0"/>
              <a:t> по същество представлява структуриран пакет от компилирани модулни обекти. </a:t>
            </a:r>
            <a:endParaRPr lang="en-US" sz="2800" dirty="0"/>
          </a:p>
          <a:p>
            <a:pPr lvl="1"/>
            <a:r>
              <a:rPr lang="ru-RU" sz="2400" dirty="0"/>
              <a:t>За да </a:t>
            </a:r>
            <a:r>
              <a:rPr lang="bg-BG" sz="2400" dirty="0"/>
              <a:t>се</a:t>
            </a:r>
            <a:r>
              <a:rPr lang="en-US" sz="2400" dirty="0"/>
              <a:t> </a:t>
            </a:r>
            <a:r>
              <a:rPr lang="ru-RU" sz="2400" dirty="0"/>
              <a:t>използва</a:t>
            </a:r>
            <a:r>
              <a:rPr lang="bg-BG" sz="2400" dirty="0"/>
              <a:t>т</a:t>
            </a:r>
            <a:r>
              <a:rPr lang="en-US" sz="2400" dirty="0"/>
              <a:t> </a:t>
            </a:r>
            <a:r>
              <a:rPr lang="ru-RU" sz="2400" dirty="0"/>
              <a:t>функции от библиотека</a:t>
            </a:r>
            <a:r>
              <a:rPr lang="en-US" sz="2400" dirty="0"/>
              <a:t> </a:t>
            </a:r>
            <a:r>
              <a:rPr lang="bg-BG" sz="2400" dirty="0"/>
              <a:t>е необходимо </a:t>
            </a:r>
            <a:r>
              <a:rPr lang="ru-RU" sz="2400" dirty="0"/>
              <a:t>да посочим тази библиотека в командата за свързване, използвана за изграждане на програмата. </a:t>
            </a:r>
          </a:p>
          <a:p>
            <a:pPr lvl="1"/>
            <a:r>
              <a:rPr lang="ru-RU" sz="2400" dirty="0"/>
              <a:t>След като разреши различните препратки на функциите от основната програма към модулите в статичната библиотека, свързващото устройство извлича копия на необходимите обектови модули от библиотеката и ги копира в получения изпълним файл. </a:t>
            </a:r>
          </a:p>
          <a:p>
            <a:pPr lvl="1"/>
            <a:r>
              <a:rPr lang="ru-RU" sz="2400" dirty="0"/>
              <a:t>За такава програма се казва, че е статично свързана.</a:t>
            </a:r>
          </a:p>
          <a:p>
            <a:pPr lvl="2"/>
            <a:r>
              <a:rPr lang="ru-RU" sz="2000" dirty="0"/>
              <a:t>Всяка статично свързана програма включва свое собствено копие на библиотеката.</a:t>
            </a:r>
          </a:p>
          <a:p>
            <a:r>
              <a:rPr lang="ru-RU" sz="2800" dirty="0" smtClean="0"/>
              <a:t>Статичните </a:t>
            </a:r>
            <a:r>
              <a:rPr lang="ru-RU" sz="2800" dirty="0"/>
              <a:t>библиотеки </a:t>
            </a:r>
            <a:r>
              <a:rPr lang="ru-RU" sz="2800" dirty="0" smtClean="0"/>
              <a:t>в </a:t>
            </a:r>
            <a:r>
              <a:rPr lang="ru-RU" sz="2800" dirty="0"/>
              <a:t>ранните системи </a:t>
            </a:r>
            <a:r>
              <a:rPr lang="ru-RU" sz="2800" dirty="0" smtClean="0"/>
              <a:t>UNIX </a:t>
            </a:r>
            <a:r>
              <a:rPr lang="bg-BG" sz="2800" dirty="0" smtClean="0"/>
              <a:t>са </a:t>
            </a:r>
            <a:r>
              <a:rPr lang="ru-RU" sz="2800" dirty="0" smtClean="0"/>
              <a:t>единствения </a:t>
            </a:r>
            <a:r>
              <a:rPr lang="ru-RU" sz="2800" dirty="0"/>
              <a:t>тип </a:t>
            </a:r>
            <a:r>
              <a:rPr lang="ru-RU" sz="2800" dirty="0" smtClean="0"/>
              <a:t>за библиотеки. </a:t>
            </a:r>
          </a:p>
        </p:txBody>
      </p:sp>
    </p:spTree>
    <p:extLst>
      <p:ext uri="{BB962C8B-B14F-4D97-AF65-F5344CB8AC3E}">
        <p14:creationId xmlns:p14="http://schemas.microsoft.com/office/powerpoint/2010/main" val="109650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Статични библиотеки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Недостатъци </a:t>
            </a:r>
          </a:p>
          <a:p>
            <a:pPr lvl="1"/>
            <a:r>
              <a:rPr lang="ru-RU" sz="2400" dirty="0" smtClean="0"/>
              <a:t>Дублирането </a:t>
            </a:r>
            <a:r>
              <a:rPr lang="ru-RU" sz="2400" dirty="0"/>
              <a:t>на обектния код в различни изпълними файлове води до загуба на дисково пространство. </a:t>
            </a:r>
            <a:endParaRPr lang="ru-RU" sz="2400" dirty="0" smtClean="0"/>
          </a:p>
          <a:p>
            <a:pPr lvl="2"/>
            <a:r>
              <a:rPr lang="ru-RU" sz="2000" dirty="0" smtClean="0"/>
              <a:t>Съответното </a:t>
            </a:r>
            <a:r>
              <a:rPr lang="ru-RU" sz="2000" dirty="0"/>
              <a:t>разхищение на памет се получава, когато статично свързаните програми, използващи една и съща функция от библиотеката, се изпълняват </a:t>
            </a:r>
            <a:r>
              <a:rPr lang="ru-RU" sz="2000" dirty="0" smtClean="0"/>
              <a:t>едновременно - всяка </a:t>
            </a:r>
            <a:r>
              <a:rPr lang="ru-RU" sz="2000" dirty="0"/>
              <a:t>програма изисква свое собствено копие на функцията, което да се намира в паметта. </a:t>
            </a:r>
            <a:endParaRPr lang="ru-RU" sz="2000" dirty="0" smtClean="0"/>
          </a:p>
          <a:p>
            <a:pPr lvl="1"/>
            <a:r>
              <a:rPr lang="ru-RU" sz="2400" dirty="0" smtClean="0"/>
              <a:t>Ако дадена </a:t>
            </a:r>
            <a:r>
              <a:rPr lang="ru-RU" sz="2400" dirty="0"/>
              <a:t>библиотечна функция се нуждае от модификация, след прекомпилиране на тази функция и добавянето ѝ към статичната библиотека, всички приложения, които трябва да използват актуализираната функция, трябва да бъдат отново свързани с библиотеката.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83922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Споделени библиотеки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800" dirty="0"/>
              <a:t>Споделените библиотеки са създадени, за да решат </a:t>
            </a:r>
            <a:r>
              <a:rPr lang="ru-RU" sz="2800" dirty="0" smtClean="0"/>
              <a:t>проблема с дублирането при използване на </a:t>
            </a:r>
            <a:r>
              <a:rPr lang="ru-RU" sz="2800" dirty="0"/>
              <a:t>статичните библиотеки.</a:t>
            </a:r>
          </a:p>
          <a:p>
            <a:pPr lvl="1"/>
            <a:r>
              <a:rPr lang="ru-RU" sz="2400" dirty="0"/>
              <a:t>Ако дадена програма е свързана с обща библиотека, вместо да се копират модулите на обектите от библиотеката в изпълнимия файл, свързващото устройство просто записва запис в изпълнимия файл, за да посочи, че по време на изпълнение изпълнимият файл трябва да използва тази обща библиотека. </a:t>
            </a:r>
            <a:endParaRPr lang="ru-RU" sz="2400" dirty="0" smtClean="0"/>
          </a:p>
          <a:p>
            <a:pPr lvl="1"/>
            <a:r>
              <a:rPr lang="ru-RU" sz="2400" dirty="0" smtClean="0"/>
              <a:t>Когато </a:t>
            </a:r>
            <a:r>
              <a:rPr lang="ru-RU" sz="2400" dirty="0"/>
              <a:t>изпълняемият файл се зарежда в паметта по време на изпълнение, програма, наречена динамичен свързвач, гарантира, че споделените библиотеки, необходими за изпълняемия файл, са намерени и заредени в паметта, и извършва свързване по време на изпълнение, за да разреши извикванията на функции в изпълняемия файл със съответните дефиниции в споделените библиотеки. </a:t>
            </a:r>
            <a:endParaRPr lang="ru-RU" sz="2400" dirty="0" smtClean="0"/>
          </a:p>
          <a:p>
            <a:pPr lvl="1"/>
            <a:r>
              <a:rPr lang="ru-RU" sz="2400" dirty="0" smtClean="0"/>
              <a:t>По </a:t>
            </a:r>
            <a:r>
              <a:rPr lang="ru-RU" sz="2400" dirty="0"/>
              <a:t>време на изпълнение само едно копие от кода на споделената библиотека трябва да се намира в паметта; всички работещи програми могат да използват това копие. </a:t>
            </a:r>
          </a:p>
        </p:txBody>
      </p:sp>
    </p:spTree>
    <p:extLst>
      <p:ext uri="{BB962C8B-B14F-4D97-AF65-F5344CB8AC3E}">
        <p14:creationId xmlns:p14="http://schemas.microsoft.com/office/powerpoint/2010/main" val="396916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Споделени библиотеки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Фактът</a:t>
            </a:r>
            <a:r>
              <a:rPr lang="ru-RU" sz="2800" dirty="0"/>
              <a:t>, че една споделена библиотека съдържа единствената компилирана версия на дадена функция, спестява място на диска. </a:t>
            </a:r>
            <a:endParaRPr lang="ru-RU" sz="2800" dirty="0" smtClean="0"/>
          </a:p>
          <a:p>
            <a:pPr lvl="1"/>
            <a:r>
              <a:rPr lang="ru-RU" sz="2400" dirty="0" smtClean="0"/>
              <a:t>Това </a:t>
            </a:r>
            <a:r>
              <a:rPr lang="ru-RU" sz="2400" dirty="0"/>
              <a:t>също така значително улеснява работата по гарантиране, че програмите използват най-новата версия на дадена функция. </a:t>
            </a:r>
            <a:endParaRPr lang="ru-RU" sz="2400" dirty="0" smtClean="0"/>
          </a:p>
          <a:p>
            <a:r>
              <a:rPr lang="ru-RU" sz="2800" dirty="0" smtClean="0"/>
              <a:t>Простото </a:t>
            </a:r>
            <a:r>
              <a:rPr lang="ru-RU" sz="2800" dirty="0"/>
              <a:t>възстановяване на споделената библиотека с новата дефиниция на функцията </a:t>
            </a:r>
            <a:r>
              <a:rPr lang="ru-RU" sz="2800" dirty="0" smtClean="0"/>
              <a:t>принуждава </a:t>
            </a:r>
            <a:r>
              <a:rPr lang="ru-RU" sz="2800" dirty="0"/>
              <a:t>съществуващите програми автоматично да използват новата дефиниция при следващото си изпълнение. 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105665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Комуникация и синхронизация между процесите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672150" cy="5410200"/>
          </a:xfrm>
        </p:spPr>
        <p:txBody>
          <a:bodyPr>
            <a:normAutofit fontScale="92500" lnSpcReduction="10000"/>
          </a:bodyPr>
          <a:lstStyle/>
          <a:p>
            <a:r>
              <a:rPr lang="ru-RU" sz="2800" dirty="0" smtClean="0"/>
              <a:t>Работещата </a:t>
            </a:r>
            <a:r>
              <a:rPr lang="ru-RU" sz="2800" dirty="0"/>
              <a:t>система Linux се състои от множество процеси, много от които работят са независими един от друг. </a:t>
            </a:r>
            <a:endParaRPr lang="ru-RU" sz="2800" dirty="0" smtClean="0"/>
          </a:p>
          <a:p>
            <a:pPr lvl="1"/>
            <a:r>
              <a:rPr lang="ru-RU" sz="2400" dirty="0" smtClean="0"/>
              <a:t>Някои </a:t>
            </a:r>
            <a:r>
              <a:rPr lang="ru-RU" sz="2400" dirty="0"/>
              <a:t>процеси обаче си сътрудничат, за да постигнат своите </a:t>
            </a:r>
            <a:r>
              <a:rPr lang="ru-RU" sz="2400" dirty="0" smtClean="0"/>
              <a:t>цели - тези </a:t>
            </a:r>
            <a:r>
              <a:rPr lang="ru-RU" sz="2400" dirty="0"/>
              <a:t>процеси се нуждаят от методи за комуникация помежду си. и да синхронизират действията си.</a:t>
            </a:r>
          </a:p>
          <a:p>
            <a:r>
              <a:rPr lang="ru-RU" sz="2800" dirty="0"/>
              <a:t>Един от начините за комуникация между процесите е чрез четене и записване на информация в дискови файлове. </a:t>
            </a:r>
            <a:endParaRPr lang="ru-RU" sz="2800" dirty="0" smtClean="0"/>
          </a:p>
          <a:p>
            <a:pPr lvl="1"/>
            <a:r>
              <a:rPr lang="ru-RU" sz="2400" dirty="0" smtClean="0"/>
              <a:t>За много </a:t>
            </a:r>
            <a:r>
              <a:rPr lang="ru-RU" sz="2400" dirty="0"/>
              <a:t>приложения обаче това е твърде бавно и негъвкаво</a:t>
            </a:r>
            <a:r>
              <a:rPr lang="ru-RU" sz="2400" dirty="0" smtClean="0"/>
              <a:t>.</a:t>
            </a:r>
          </a:p>
          <a:p>
            <a:r>
              <a:rPr lang="ru-RU" sz="2800" dirty="0"/>
              <a:t>Затова Linux, както и всички съвременни реализации на UNIX, предоставя богат набор от </a:t>
            </a:r>
            <a:r>
              <a:rPr lang="ru-RU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механизми за междупроцесна комуникация </a:t>
            </a:r>
            <a:r>
              <a:rPr lang="ru-RU" sz="2800" dirty="0"/>
              <a:t>(</a:t>
            </a:r>
            <a:r>
              <a:rPr lang="ru-RU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IPC</a:t>
            </a:r>
            <a:r>
              <a:rPr lang="ru-RU" sz="2800" dirty="0"/>
              <a:t>), включително следните</a:t>
            </a:r>
            <a:r>
              <a:rPr lang="ru-RU" sz="2800" dirty="0" smtClean="0"/>
              <a:t>:</a:t>
            </a:r>
            <a:r>
              <a:rPr lang="en-US" sz="2800" dirty="0" smtClean="0"/>
              <a:t> </a:t>
            </a:r>
          </a:p>
          <a:p>
            <a:pPr lvl="1"/>
            <a:r>
              <a:rPr lang="ru-RU" sz="2400" dirty="0" smtClean="0"/>
              <a:t>сигнали</a:t>
            </a:r>
            <a:r>
              <a:rPr lang="ru-RU" sz="2400" dirty="0"/>
              <a:t>, които се използват за обозначаване на настъпило събитие</a:t>
            </a:r>
            <a:r>
              <a:rPr lang="ru-RU" sz="2400" dirty="0" smtClean="0"/>
              <a:t>;</a:t>
            </a:r>
            <a:r>
              <a:rPr lang="en-US" sz="2400" dirty="0" smtClean="0"/>
              <a:t> pipes</a:t>
            </a:r>
            <a:r>
              <a:rPr lang="ru-RU" sz="2400" dirty="0" smtClean="0"/>
              <a:t> и FIFO</a:t>
            </a:r>
            <a:r>
              <a:rPr lang="en-US" sz="2400" dirty="0" smtClean="0"/>
              <a:t>; </a:t>
            </a:r>
            <a:r>
              <a:rPr lang="ru-RU" sz="2400" dirty="0" smtClean="0"/>
              <a:t>сокети</a:t>
            </a:r>
            <a:r>
              <a:rPr lang="en-US" sz="2400" dirty="0" smtClean="0"/>
              <a:t>; </a:t>
            </a:r>
            <a:r>
              <a:rPr lang="ru-RU" sz="2400" dirty="0" smtClean="0"/>
              <a:t>заключване </a:t>
            </a:r>
            <a:r>
              <a:rPr lang="ru-RU" sz="2400" dirty="0"/>
              <a:t>на </a:t>
            </a:r>
            <a:r>
              <a:rPr lang="ru-RU" sz="2400" dirty="0" smtClean="0"/>
              <a:t>файлове;</a:t>
            </a:r>
            <a:r>
              <a:rPr lang="en-US" sz="2400" dirty="0" smtClean="0"/>
              <a:t> </a:t>
            </a:r>
            <a:r>
              <a:rPr lang="ru-RU" sz="2400" dirty="0" smtClean="0"/>
              <a:t>опашки</a:t>
            </a:r>
            <a:r>
              <a:rPr lang="en-US" sz="2400" dirty="0" smtClean="0"/>
              <a:t> </a:t>
            </a:r>
            <a:r>
              <a:rPr lang="ru-RU" sz="2400" dirty="0" smtClean="0"/>
              <a:t>съобщения;</a:t>
            </a:r>
            <a:r>
              <a:rPr lang="en-US" sz="2400" dirty="0" smtClean="0"/>
              <a:t> </a:t>
            </a:r>
            <a:r>
              <a:rPr lang="ru-RU" sz="2400" dirty="0" smtClean="0"/>
              <a:t>семафори; споделена памет.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0537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Сигналите в </a:t>
            </a:r>
            <a:r>
              <a:rPr lang="en-US" sz="2800" dirty="0" smtClean="0"/>
              <a:t>Unix </a:t>
            </a:r>
            <a:r>
              <a:rPr lang="ru-RU" sz="2800" dirty="0" smtClean="0"/>
              <a:t>се </a:t>
            </a:r>
            <a:r>
              <a:rPr lang="ru-RU" sz="2800" dirty="0"/>
              <a:t>използват </a:t>
            </a:r>
            <a:r>
              <a:rPr lang="ru-RU" sz="2800" dirty="0" smtClean="0"/>
              <a:t>в </a:t>
            </a:r>
            <a:r>
              <a:rPr lang="ru-RU" sz="2800" dirty="0"/>
              <a:t>широк кръг </a:t>
            </a:r>
            <a:r>
              <a:rPr lang="ru-RU" sz="2800" dirty="0" smtClean="0"/>
              <a:t>контексти</a:t>
            </a:r>
            <a:r>
              <a:rPr lang="en-US" sz="2800" dirty="0" smtClean="0"/>
              <a:t>, </a:t>
            </a:r>
            <a:r>
              <a:rPr lang="bg-BG" sz="2800" dirty="0" smtClean="0"/>
              <a:t>а не само като елемент на </a:t>
            </a:r>
            <a:r>
              <a:rPr lang="en-US" sz="2800" dirty="0" smtClean="0"/>
              <a:t>IPC</a:t>
            </a:r>
            <a:r>
              <a:rPr lang="ru-RU" sz="2800" dirty="0" smtClean="0"/>
              <a:t>. </a:t>
            </a:r>
          </a:p>
          <a:p>
            <a:pPr lvl="1"/>
            <a:r>
              <a:rPr lang="ru-RU" sz="2400" dirty="0"/>
              <a:t>Постъпването на сигнал информира процеса, че е настъпило някакво събитие или изключително състояние.</a:t>
            </a:r>
          </a:p>
          <a:p>
            <a:pPr lvl="2"/>
            <a:r>
              <a:rPr lang="ru-RU" sz="2000" dirty="0"/>
              <a:t>Съществуват различни видове сигнали, всеки от които идентифицира различно събитие или състояние. </a:t>
            </a:r>
          </a:p>
          <a:p>
            <a:pPr lvl="2"/>
            <a:r>
              <a:rPr lang="ru-RU" sz="2000" dirty="0"/>
              <a:t>Всеки тип сигнал се идентифицира с различно цяло число, определено със символни имена от вида SIGxxxx. </a:t>
            </a:r>
          </a:p>
          <a:p>
            <a:pPr lvl="1"/>
            <a:r>
              <a:rPr lang="ru-RU" sz="2400" dirty="0"/>
              <a:t>Сигналите се изпращат на даден процес от ядрото, от друг процес (с подходящи права) или от самия процес. </a:t>
            </a:r>
          </a:p>
          <a:p>
            <a:pPr lvl="2"/>
            <a:r>
              <a:rPr lang="ru-RU" sz="2000" dirty="0" smtClean="0"/>
              <a:t>Сигналите </a:t>
            </a:r>
            <a:r>
              <a:rPr lang="ru-RU" sz="2000" dirty="0"/>
              <a:t>често се описват като "софтуерни прекъсвания". </a:t>
            </a:r>
            <a:endParaRPr lang="en-US" sz="2000" dirty="0" smtClean="0"/>
          </a:p>
          <a:p>
            <a:pPr lvl="2"/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56301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2800" dirty="0" smtClean="0"/>
              <a:t>Ядрото може </a:t>
            </a:r>
            <a:r>
              <a:rPr lang="ru-RU" sz="2800" dirty="0"/>
              <a:t>да изпрати сигнал на процес, когато се случи едно от следните събития: </a:t>
            </a:r>
          </a:p>
          <a:p>
            <a:pPr lvl="1"/>
            <a:r>
              <a:rPr lang="ru-RU" sz="2400" dirty="0" smtClean="0"/>
              <a:t>потребителят </a:t>
            </a:r>
            <a:r>
              <a:rPr lang="ru-RU" sz="2400" dirty="0"/>
              <a:t>е въвел символа за прекъсване (обикновено Control-C) на клавиатурата; </a:t>
            </a:r>
          </a:p>
          <a:p>
            <a:pPr lvl="1"/>
            <a:r>
              <a:rPr lang="bg-BG" sz="2400" dirty="0" smtClean="0"/>
              <a:t>Един от наследниците </a:t>
            </a:r>
            <a:r>
              <a:rPr lang="ru-RU" sz="2400" dirty="0" smtClean="0"/>
              <a:t>на </a:t>
            </a:r>
            <a:r>
              <a:rPr lang="ru-RU" sz="2400" dirty="0"/>
              <a:t>процеса е прекратен; </a:t>
            </a:r>
          </a:p>
          <a:p>
            <a:pPr lvl="1"/>
            <a:r>
              <a:rPr lang="ru-RU" sz="2400" dirty="0" smtClean="0"/>
              <a:t>Изтича времето, заложено в таймера от процеса;</a:t>
            </a:r>
            <a:endParaRPr lang="ru-RU" sz="2400" dirty="0"/>
          </a:p>
          <a:p>
            <a:pPr lvl="1"/>
            <a:r>
              <a:rPr lang="ru-RU" sz="2400" dirty="0" smtClean="0"/>
              <a:t>процесът </a:t>
            </a:r>
            <a:r>
              <a:rPr lang="ru-RU" sz="2400" dirty="0"/>
              <a:t>се е опитал да осъществи достъп до невалиден адрес на паметта. </a:t>
            </a:r>
          </a:p>
          <a:p>
            <a:r>
              <a:rPr lang="ru-RU" sz="2800" dirty="0"/>
              <a:t>Когато даден процес получи сигнал, той предприема едно от следните действия в зависимост от в зависимост от сигнала:</a:t>
            </a:r>
          </a:p>
          <a:p>
            <a:pPr lvl="1"/>
            <a:r>
              <a:rPr lang="ru-RU" sz="2400" dirty="0" smtClean="0"/>
              <a:t>игнорира </a:t>
            </a:r>
            <a:r>
              <a:rPr lang="ru-RU" sz="2400" dirty="0"/>
              <a:t>сигнала;</a:t>
            </a:r>
          </a:p>
          <a:p>
            <a:pPr lvl="1"/>
            <a:r>
              <a:rPr lang="ru-RU" sz="2400" dirty="0" smtClean="0"/>
              <a:t>той </a:t>
            </a:r>
            <a:r>
              <a:rPr lang="ru-RU" sz="2400" dirty="0"/>
              <a:t>бива </a:t>
            </a:r>
            <a:r>
              <a:rPr lang="en-US" sz="2400" dirty="0" smtClean="0"/>
              <a:t>“</a:t>
            </a:r>
            <a:r>
              <a:rPr lang="ru-RU" sz="2400" dirty="0" smtClean="0"/>
              <a:t>убит</a:t>
            </a:r>
            <a:r>
              <a:rPr lang="en-US" sz="2400" dirty="0"/>
              <a:t>”</a:t>
            </a:r>
            <a:r>
              <a:rPr lang="ru-RU" sz="2400" dirty="0" smtClean="0"/>
              <a:t> </a:t>
            </a:r>
            <a:r>
              <a:rPr lang="ru-RU" sz="2400" dirty="0"/>
              <a:t>от сигнала; или</a:t>
            </a:r>
          </a:p>
          <a:p>
            <a:pPr lvl="1"/>
            <a:r>
              <a:rPr lang="en-US" sz="2400" dirty="0" smtClean="0"/>
              <a:t>t</a:t>
            </a:r>
            <a:r>
              <a:rPr lang="ru-RU" sz="2400" dirty="0" smtClean="0"/>
              <a:t>ой </a:t>
            </a:r>
            <a:r>
              <a:rPr lang="ru-RU" sz="2400" dirty="0"/>
              <a:t>е спрян, докато по-късно не бъде възобновен чрез получаване на сигнал със специално предназначение.</a:t>
            </a:r>
            <a:endParaRPr lang="en-US" sz="2400" dirty="0" smtClean="0"/>
          </a:p>
          <a:p>
            <a:r>
              <a:rPr lang="ru-RU" sz="2800" dirty="0" smtClean="0"/>
              <a:t>В </a:t>
            </a:r>
            <a:r>
              <a:rPr lang="ru-RU" sz="2800" dirty="0"/>
              <a:t>рамките на </a:t>
            </a:r>
            <a:r>
              <a:rPr lang="en-US" sz="2800" dirty="0" smtClean="0"/>
              <a:t>shell </a:t>
            </a:r>
            <a:r>
              <a:rPr lang="ru-RU" sz="2800" dirty="0" smtClean="0"/>
              <a:t>командата </a:t>
            </a:r>
            <a:r>
              <a:rPr lang="ru-RU" sz="2800" dirty="0"/>
              <a:t>kill може да се използва за изпращане на сигнал до даден процес. </a:t>
            </a:r>
            <a:endParaRPr lang="en-US" sz="2800" dirty="0" smtClean="0"/>
          </a:p>
          <a:p>
            <a:pPr lvl="1"/>
            <a:r>
              <a:rPr lang="ru-RU" sz="2400" dirty="0" smtClean="0"/>
              <a:t>Системното </a:t>
            </a:r>
            <a:r>
              <a:rPr lang="ru-RU" sz="2400" dirty="0"/>
              <a:t>извикване kill() предоставя същата възможност в рамките на програмите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lvl="1"/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62358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За повечето типове сигнали, вместо да приеме действието по подразбиране на сигнала, програмата може да избере да </a:t>
            </a:r>
            <a:r>
              <a:rPr lang="ru-RU" u="sng" dirty="0"/>
              <a:t>игнорира сигнала </a:t>
            </a:r>
            <a:r>
              <a:rPr lang="ru-RU" dirty="0" smtClean="0"/>
              <a:t>или </a:t>
            </a:r>
            <a:r>
              <a:rPr lang="ru-RU" dirty="0"/>
              <a:t>да </a:t>
            </a:r>
            <a:r>
              <a:rPr lang="ru-RU" u="sng" dirty="0"/>
              <a:t>създаде обработващ сигнал</a:t>
            </a:r>
            <a:r>
              <a:rPr lang="ru-RU" dirty="0"/>
              <a:t>. </a:t>
            </a:r>
            <a:endParaRPr lang="ru-RU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Обработчикът </a:t>
            </a:r>
            <a:r>
              <a:rPr lang="ru-RU" dirty="0"/>
              <a:t>на сигнал е дефинирана от програмиста функция, която се извиква автоматично, когато сигналът се подаде към процеса. </a:t>
            </a:r>
            <a:endParaRPr lang="ru-RU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Тази </a:t>
            </a:r>
            <a:r>
              <a:rPr lang="ru-RU" dirty="0"/>
              <a:t>функция изпълнява някакво действие, подходящо за условието, което е породило сигнала</a:t>
            </a:r>
            <a:r>
              <a:rPr lang="ru-RU" dirty="0" smtClean="0"/>
              <a:t>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Игнорирането е полезно</a:t>
            </a:r>
            <a:r>
              <a:rPr lang="ru-RU" dirty="0"/>
              <a:t>, ако действието по подразбиране на сигнала е нещо различно от </a:t>
            </a:r>
            <a:r>
              <a:rPr lang="ru-RU" dirty="0" smtClean="0"/>
              <a:t>игнориране.</a:t>
            </a:r>
            <a:endParaRPr lang="ru-RU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В интервала между момента на генерирането му и момента на доставянето му се казва, че сигналът е в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очакване за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обработка</a:t>
            </a:r>
            <a:r>
              <a:rPr lang="ru-RU" dirty="0" smtClean="0"/>
              <a:t>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Обикновено </a:t>
            </a:r>
            <a:r>
              <a:rPr lang="ru-RU" dirty="0"/>
              <a:t>сигналът в очакване се </a:t>
            </a:r>
            <a:r>
              <a:rPr lang="ru-RU" dirty="0" smtClean="0"/>
              <a:t>подава веднага: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след </a:t>
            </a:r>
            <a:r>
              <a:rPr lang="ru-RU" dirty="0"/>
              <a:t>като получаващият го процес е </a:t>
            </a:r>
            <a:r>
              <a:rPr lang="ru-RU" dirty="0" smtClean="0"/>
              <a:t>избран </a:t>
            </a:r>
            <a:r>
              <a:rPr lang="ru-RU" dirty="0"/>
              <a:t>за следващо </a:t>
            </a:r>
            <a:r>
              <a:rPr lang="ru-RU" dirty="0" smtClean="0"/>
              <a:t>изпълнение; </a:t>
            </a:r>
            <a:r>
              <a:rPr lang="ru-RU" dirty="0"/>
              <a:t>или </a:t>
            </a:r>
            <a:endParaRPr lang="ru-RU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ако </a:t>
            </a:r>
            <a:r>
              <a:rPr lang="ru-RU" dirty="0"/>
              <a:t>процесът вече е изпълнен. </a:t>
            </a:r>
            <a:endParaRPr lang="ru-RU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Възможно </a:t>
            </a:r>
            <a:r>
              <a:rPr lang="ru-RU" dirty="0"/>
              <a:t>е обаче също така да блокирате сигнал, като го добавите към маската на сигнала на процеса. </a:t>
            </a:r>
            <a:endParaRPr lang="ru-RU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Ако </a:t>
            </a:r>
            <a:r>
              <a:rPr lang="ru-RU" dirty="0"/>
              <a:t>сигналът се генерира, докато е блокиран, той остава чакащ, докато по-късно не бъде отблокиран (т.е. премахнат от маската на сигнала).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0265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 на задачите в Shell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2800" dirty="0"/>
              <a:t>Всяка програма, изпълнена от шела, се стартира в нов </a:t>
            </a:r>
            <a:r>
              <a:rPr lang="ru-RU" sz="2800" dirty="0" smtClean="0"/>
              <a:t>процес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Пример: създаване на поредица от команди, които стартират три процеса за показване на списък </a:t>
            </a:r>
            <a:r>
              <a:rPr lang="ru-RU" sz="2400" dirty="0"/>
              <a:t>на файловете в текущата работна директория, подредени по размер на </a:t>
            </a:r>
            <a:r>
              <a:rPr lang="ru-RU" sz="2400" dirty="0" smtClean="0"/>
              <a:t>файла</a:t>
            </a:r>
          </a:p>
          <a:p>
            <a:pPr marL="438150" lvl="1" indent="0">
              <a:spcBef>
                <a:spcPts val="0"/>
              </a:spcBef>
              <a:buNone/>
            </a:pPr>
            <a:r>
              <a:rPr lang="bg-BG" sz="2400" dirty="0" smtClean="0"/>
              <a:t>	</a:t>
            </a:r>
            <a:r>
              <a:rPr lang="bg-BG" sz="2400" dirty="0" smtClean="0">
                <a:solidFill>
                  <a:srgbClr val="CD7009"/>
                </a:solidFill>
              </a:rPr>
              <a:t>	</a:t>
            </a:r>
            <a:r>
              <a:rPr lang="en-US" sz="2400" dirty="0" smtClean="0">
                <a:solidFill>
                  <a:srgbClr val="CD7009"/>
                </a:solidFill>
              </a:rPr>
              <a:t>$ </a:t>
            </a:r>
            <a:r>
              <a:rPr lang="en-US" sz="2400" dirty="0">
                <a:solidFill>
                  <a:srgbClr val="CD7009"/>
                </a:solidFill>
              </a:rPr>
              <a:t>ls -l | sort -k5n | </a:t>
            </a:r>
            <a:r>
              <a:rPr lang="en-US" sz="2400" dirty="0" smtClean="0">
                <a:solidFill>
                  <a:srgbClr val="CD7009"/>
                </a:solidFill>
              </a:rPr>
              <a:t>less</a:t>
            </a:r>
            <a:endParaRPr lang="bg-BG" sz="2400" dirty="0" smtClean="0">
              <a:solidFill>
                <a:srgbClr val="CD7009"/>
              </a:solidFill>
            </a:endParaRPr>
          </a:p>
          <a:p>
            <a:pPr>
              <a:spcBef>
                <a:spcPts val="0"/>
              </a:spcBef>
            </a:pPr>
            <a:r>
              <a:rPr lang="ru-RU" sz="2800" dirty="0"/>
              <a:t>Всички основни </a:t>
            </a:r>
            <a:r>
              <a:rPr lang="ru-RU" sz="2800" dirty="0" smtClean="0"/>
              <a:t>версии на </a:t>
            </a:r>
            <a:r>
              <a:rPr lang="en-US" sz="2800" dirty="0" smtClean="0"/>
              <a:t>shell</a:t>
            </a:r>
            <a:r>
              <a:rPr lang="bg-BG" sz="2800" dirty="0" smtClean="0"/>
              <a:t> (без </a:t>
            </a:r>
            <a:r>
              <a:rPr lang="ru-RU" sz="2800" dirty="0" smtClean="0"/>
              <a:t>Bourne </a:t>
            </a:r>
            <a:r>
              <a:rPr lang="en-US" sz="2800" dirty="0" smtClean="0"/>
              <a:t>shell)</a:t>
            </a:r>
            <a:r>
              <a:rPr lang="ru-RU" sz="2800" dirty="0" smtClean="0"/>
              <a:t> </a:t>
            </a:r>
            <a:r>
              <a:rPr lang="ru-RU" sz="2800" dirty="0"/>
              <a:t>предоставят интерактивна функция, наречена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управление на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задачите</a:t>
            </a:r>
            <a:r>
              <a:rPr lang="en-US" sz="2800" dirty="0" smtClean="0"/>
              <a:t> (</a:t>
            </a:r>
            <a:r>
              <a:rPr lang="bg-BG" sz="2800" dirty="0" smtClean="0"/>
              <a:t>в оригинал: </a:t>
            </a:r>
            <a:r>
              <a:rPr lang="en-US" sz="2800" dirty="0"/>
              <a:t>job</a:t>
            </a:r>
            <a:r>
              <a:rPr lang="bg-BG" sz="2800" dirty="0"/>
              <a:t> </a:t>
            </a:r>
            <a:r>
              <a:rPr lang="en-US" sz="2800" dirty="0" smtClean="0"/>
              <a:t>control</a:t>
            </a:r>
            <a:r>
              <a:rPr lang="bg-BG" sz="2800" dirty="0" smtClean="0"/>
              <a:t>)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Тя позволява </a:t>
            </a:r>
            <a:r>
              <a:rPr lang="ru-RU" sz="2400" dirty="0"/>
              <a:t>на потребителя да изпълнява и </a:t>
            </a:r>
            <a:r>
              <a:rPr lang="ru-RU" sz="2400" dirty="0" smtClean="0"/>
              <a:t>управлява едновременно изпълнение на няколко </a:t>
            </a:r>
            <a:r>
              <a:rPr lang="ru-RU" sz="2400" dirty="0"/>
              <a:t>команди или </a:t>
            </a:r>
            <a:r>
              <a:rPr lang="ru-RU" sz="2400" dirty="0" smtClean="0"/>
              <a:t>последователност от обработки, формиращи т.нар. поточна линия (в оригонал: </a:t>
            </a:r>
            <a:r>
              <a:rPr lang="en-US" sz="2400" dirty="0" smtClean="0"/>
              <a:t>pipelines)</a:t>
            </a:r>
            <a:r>
              <a:rPr lang="ru-RU" sz="2400" dirty="0" smtClean="0"/>
              <a:t>. 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Всички процеси </a:t>
            </a:r>
            <a:r>
              <a:rPr lang="ru-RU" sz="2400" dirty="0"/>
              <a:t>в даден конвейер се поставят в нова група процеси или задача.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60788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 на </a:t>
            </a:r>
            <a:r>
              <a:rPr lang="ru-RU" dirty="0"/>
              <a:t>задачите </a:t>
            </a:r>
            <a:r>
              <a:rPr lang="ru-RU" dirty="0" smtClean="0"/>
              <a:t>в Shell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2800" dirty="0"/>
              <a:t>Ядрото позволява извършването на различни действия, а именно подаване на сигнали на всички членове на дадена група процеси. </a:t>
            </a:r>
          </a:p>
          <a:p>
            <a:pPr lvl="1">
              <a:spcBef>
                <a:spcPts val="0"/>
              </a:spcBef>
            </a:pPr>
            <a:r>
              <a:rPr lang="ru-RU" sz="2400" dirty="0"/>
              <a:t>Обвивките за управление на задачите използват тази функция, за да позволява на потребителя да спира или възобновява всички процеси в конвейера, както е описано в следващия раздел.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Всеки </a:t>
            </a:r>
            <a:r>
              <a:rPr lang="ru-RU" sz="2400" dirty="0"/>
              <a:t>процес в група процеси има един и същ целочислен идентификатор на групата процеси, който е същият като идентификатора на един от процесите в групата, наречен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лидер</a:t>
            </a:r>
            <a:r>
              <a:rPr lang="ru-RU" sz="2400" dirty="0"/>
              <a:t> на групата процеси.</a:t>
            </a:r>
          </a:p>
          <a:p>
            <a:pPr>
              <a:spcBef>
                <a:spcPts val="0"/>
              </a:spcBef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5592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Сесии и терминали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Сесията</a:t>
            </a:r>
            <a:r>
              <a:rPr lang="ru-RU" sz="2600" dirty="0"/>
              <a:t> е съвкупност от групи процеси ("работни места</a:t>
            </a:r>
            <a:r>
              <a:rPr lang="ru-RU" sz="2600" dirty="0" smtClean="0"/>
              <a:t>").</a:t>
            </a:r>
          </a:p>
          <a:p>
            <a:pPr lvl="1">
              <a:spcBef>
                <a:spcPts val="0"/>
              </a:spcBef>
            </a:pPr>
            <a:r>
              <a:rPr lang="ru-RU" sz="2200" dirty="0" smtClean="0"/>
              <a:t>Всички </a:t>
            </a:r>
            <a:r>
              <a:rPr lang="ru-RU" sz="2200" dirty="0"/>
              <a:t>процеси в една сесия имат един и същ идентификатор на сесията. </a:t>
            </a:r>
            <a:endParaRPr lang="ru-RU" sz="2200" dirty="0" smtClean="0"/>
          </a:p>
          <a:p>
            <a:pPr lvl="1">
              <a:spcBef>
                <a:spcPts val="0"/>
              </a:spcBef>
            </a:pPr>
            <a:r>
              <a:rPr lang="ru-RU" sz="2200" dirty="0" smtClean="0"/>
              <a:t>Лидерът </a:t>
            </a:r>
            <a:r>
              <a:rPr lang="ru-RU" sz="2200" dirty="0"/>
              <a:t>на сесията е процесът, който е създал сесията, и неговият идентификатор на процеса става идентификатор на сесията.</a:t>
            </a:r>
          </a:p>
          <a:p>
            <a:pPr lvl="1">
              <a:spcBef>
                <a:spcPts val="0"/>
              </a:spcBef>
            </a:pPr>
            <a:r>
              <a:rPr lang="ru-RU" sz="2200" dirty="0" smtClean="0"/>
              <a:t>Сесиите </a:t>
            </a:r>
            <a:r>
              <a:rPr lang="ru-RU" sz="2200" dirty="0"/>
              <a:t>се използват главно от </a:t>
            </a:r>
            <a:r>
              <a:rPr lang="en-US" sz="2200" dirty="0" smtClean="0"/>
              <a:t>shell.</a:t>
            </a:r>
            <a:endParaRPr lang="ru-RU" sz="2200" dirty="0" smtClean="0"/>
          </a:p>
          <a:p>
            <a:pPr lvl="2">
              <a:spcBef>
                <a:spcPts val="0"/>
              </a:spcBef>
            </a:pPr>
            <a:r>
              <a:rPr lang="ru-RU" sz="1900" dirty="0" smtClean="0"/>
              <a:t>Всички </a:t>
            </a:r>
            <a:r>
              <a:rPr lang="ru-RU" sz="1900" dirty="0"/>
              <a:t>групи процеси, създадени от </a:t>
            </a:r>
            <a:r>
              <a:rPr lang="en-US" sz="1900" dirty="0" smtClean="0"/>
              <a:t>shell</a:t>
            </a:r>
            <a:r>
              <a:rPr lang="ru-RU" sz="1900" dirty="0" smtClean="0"/>
              <a:t> </a:t>
            </a:r>
            <a:r>
              <a:rPr lang="ru-RU" sz="1900" dirty="0"/>
              <a:t>принадлежат към една и съща сесия </a:t>
            </a:r>
            <a:r>
              <a:rPr lang="ru-RU" sz="1900" dirty="0" smtClean="0"/>
              <a:t>с</a:t>
            </a:r>
            <a:r>
              <a:rPr lang="bg-BG" sz="1900" dirty="0" smtClean="0"/>
              <a:t> него и той </a:t>
            </a:r>
            <a:r>
              <a:rPr lang="ru-RU" sz="1900" dirty="0" smtClean="0"/>
              <a:t>е </a:t>
            </a:r>
            <a:r>
              <a:rPr lang="ru-RU" sz="1900" dirty="0"/>
              <a:t>лидер на сесията.</a:t>
            </a:r>
          </a:p>
          <a:p>
            <a:pPr>
              <a:spcBef>
                <a:spcPts val="0"/>
              </a:spcBef>
            </a:pPr>
            <a:r>
              <a:rPr lang="ru-RU" sz="2600" dirty="0" smtClean="0"/>
              <a:t>Сесиите </a:t>
            </a:r>
            <a:r>
              <a:rPr lang="ru-RU" sz="2600" dirty="0"/>
              <a:t>обикновено имат свързан </a:t>
            </a:r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управляващ терминал</a:t>
            </a:r>
            <a:r>
              <a:rPr lang="ru-RU" sz="2600" dirty="0"/>
              <a:t>. </a:t>
            </a:r>
            <a:endParaRPr lang="ru-RU" sz="2600" dirty="0" smtClean="0"/>
          </a:p>
          <a:p>
            <a:pPr lvl="1">
              <a:spcBef>
                <a:spcPts val="0"/>
              </a:spcBef>
            </a:pPr>
            <a:r>
              <a:rPr lang="ru-RU" sz="2200" dirty="0" smtClean="0"/>
              <a:t>Той се </a:t>
            </a:r>
            <a:r>
              <a:rPr lang="ru-RU" sz="2200" dirty="0"/>
              <a:t>създава, когато водещият процес на сесията за първи път отваря терминално устройство. </a:t>
            </a:r>
            <a:endParaRPr lang="ru-RU" sz="2200" dirty="0" smtClean="0"/>
          </a:p>
          <a:p>
            <a:pPr lvl="2">
              <a:spcBef>
                <a:spcPts val="0"/>
              </a:spcBef>
            </a:pPr>
            <a:r>
              <a:rPr lang="ru-RU" sz="1900" dirty="0" smtClean="0"/>
              <a:t>За създадена</a:t>
            </a:r>
            <a:r>
              <a:rPr lang="bg-BG" sz="1900" dirty="0" smtClean="0"/>
              <a:t>та</a:t>
            </a:r>
            <a:r>
              <a:rPr lang="ru-RU" sz="1900" dirty="0" smtClean="0"/>
              <a:t> </a:t>
            </a:r>
            <a:r>
              <a:rPr lang="ru-RU" sz="1900" dirty="0"/>
              <a:t>от интерактивен </a:t>
            </a:r>
            <a:r>
              <a:rPr lang="en-US" sz="1900" dirty="0" smtClean="0"/>
              <a:t>shell</a:t>
            </a:r>
            <a:r>
              <a:rPr lang="bg-BG" sz="1900" dirty="0" smtClean="0"/>
              <a:t> сесия,</a:t>
            </a:r>
            <a:r>
              <a:rPr lang="ru-RU" sz="1900" dirty="0" smtClean="0"/>
              <a:t> </a:t>
            </a:r>
            <a:r>
              <a:rPr lang="ru-RU" sz="1900" dirty="0"/>
              <a:t>това е терминалът, на който потребителят е влязъл в системата. </a:t>
            </a:r>
            <a:endParaRPr lang="ru-RU" sz="1900" dirty="0" smtClean="0"/>
          </a:p>
          <a:p>
            <a:pPr lvl="1">
              <a:spcBef>
                <a:spcPts val="0"/>
              </a:spcBef>
            </a:pPr>
            <a:r>
              <a:rPr lang="ru-RU" sz="2200" dirty="0" smtClean="0"/>
              <a:t>Един </a:t>
            </a:r>
            <a:r>
              <a:rPr lang="ru-RU" sz="2200" dirty="0"/>
              <a:t>терминал може да бъде управляващ терминал на най-много една сесия</a:t>
            </a:r>
            <a:r>
              <a:rPr lang="ru-RU" sz="2200" dirty="0" smtClean="0"/>
              <a:t>.</a:t>
            </a:r>
          </a:p>
          <a:p>
            <a:pPr lvl="2">
              <a:spcBef>
                <a:spcPts val="0"/>
              </a:spcBef>
            </a:pPr>
            <a:r>
              <a:rPr lang="ru-RU" sz="1900" dirty="0"/>
              <a:t>Вследствие на отварянето на управляващия терминал ръководителят на сесията става управляващ процес за терминала. </a:t>
            </a:r>
          </a:p>
          <a:p>
            <a:pPr lvl="2">
              <a:spcBef>
                <a:spcPts val="0"/>
              </a:spcBef>
            </a:pPr>
            <a:r>
              <a:rPr lang="ru-RU" sz="1900" dirty="0"/>
              <a:t>Управляващият процес получава сигнал SIGHUP, ако настъпи прекъсване на връзката с терминала (напр. ако прозорецът на терминала е затворен). </a:t>
            </a:r>
          </a:p>
          <a:p>
            <a:pPr lvl="1">
              <a:spcBef>
                <a:spcPts val="0"/>
              </a:spcBef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03524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Сесии и терминали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600" dirty="0" smtClean="0"/>
              <a:t>Във </a:t>
            </a:r>
            <a:r>
              <a:rPr lang="ru-RU" sz="2600" dirty="0"/>
              <a:t>всеки момент от време една група процеси в сесията е групата </a:t>
            </a:r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процеси на преден план </a:t>
            </a:r>
            <a:r>
              <a:rPr lang="ru-RU" sz="2600" dirty="0"/>
              <a:t>("foreground job"), която може да чете входни данни от терминала и да изпраща изходни данни към него. </a:t>
            </a:r>
            <a:endParaRPr lang="ru-RU" sz="2600" dirty="0" smtClean="0"/>
          </a:p>
          <a:p>
            <a:pPr lvl="1">
              <a:spcBef>
                <a:spcPts val="0"/>
              </a:spcBef>
            </a:pPr>
            <a:r>
              <a:rPr lang="ru-RU" sz="2200" dirty="0" smtClean="0"/>
              <a:t>Ако </a:t>
            </a:r>
            <a:r>
              <a:rPr lang="ru-RU" sz="2200" dirty="0"/>
              <a:t>потребителят въведе символа за прекъсване (обикновено Control-C) или символа за спиране (обикновено Control-Z) на управляващия терминал, тогава драйверът на терминала изпраща сигнал, който </a:t>
            </a:r>
            <a:r>
              <a:rPr lang="ru-RU" sz="2200" dirty="0" smtClean="0"/>
              <a:t>терминира </a:t>
            </a:r>
            <a:r>
              <a:rPr lang="ru-RU" sz="2200" dirty="0"/>
              <a:t>или </a:t>
            </a:r>
            <a:r>
              <a:rPr lang="ru-RU" sz="2200" dirty="0" smtClean="0"/>
              <a:t>сваля от списъка с активните процеси </a:t>
            </a:r>
            <a:r>
              <a:rPr lang="ru-RU" sz="2200" dirty="0"/>
              <a:t>(т.е. спира) групата </a:t>
            </a:r>
            <a:r>
              <a:rPr lang="ru-RU" sz="2200" dirty="0" smtClean="0"/>
              <a:t>процеси. </a:t>
            </a:r>
          </a:p>
          <a:p>
            <a:pPr lvl="1">
              <a:spcBef>
                <a:spcPts val="0"/>
              </a:spcBef>
            </a:pPr>
            <a:r>
              <a:rPr lang="ru-RU" sz="2200" dirty="0" smtClean="0"/>
              <a:t>Сесията </a:t>
            </a:r>
            <a:r>
              <a:rPr lang="ru-RU" sz="2200" dirty="0"/>
              <a:t>може да има произволен брой </a:t>
            </a:r>
            <a:r>
              <a:rPr lang="ru-R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фонови процесни групи </a:t>
            </a:r>
            <a:r>
              <a:rPr lang="ru-RU" sz="2200" dirty="0"/>
              <a:t>(фонови работни места), които се създават чрез прекратяване на команда със знака амперсанд (&amp;).</a:t>
            </a:r>
          </a:p>
          <a:p>
            <a:pPr>
              <a:spcBef>
                <a:spcPts val="0"/>
              </a:spcBef>
            </a:pPr>
            <a:r>
              <a:rPr lang="en-US" sz="2600" dirty="0" smtClean="0"/>
              <a:t>Shell </a:t>
            </a:r>
            <a:r>
              <a:rPr lang="ru-RU" sz="2600" dirty="0" smtClean="0"/>
              <a:t>предоставят </a:t>
            </a:r>
            <a:r>
              <a:rPr lang="bg-BG" sz="2600" dirty="0" smtClean="0"/>
              <a:t>необходимите команди за управление на процесите на преден план:</a:t>
            </a:r>
          </a:p>
          <a:p>
            <a:pPr lvl="1">
              <a:spcBef>
                <a:spcPts val="0"/>
              </a:spcBef>
            </a:pPr>
            <a:r>
              <a:rPr lang="ru-RU" sz="2200" dirty="0" smtClean="0"/>
              <a:t>изготвяне </a:t>
            </a:r>
            <a:r>
              <a:rPr lang="ru-RU" sz="2200" dirty="0"/>
              <a:t>на списък на всички задачи, </a:t>
            </a:r>
            <a:endParaRPr lang="ru-RU" sz="2200" dirty="0" smtClean="0"/>
          </a:p>
          <a:p>
            <a:pPr lvl="1">
              <a:spcBef>
                <a:spcPts val="0"/>
              </a:spcBef>
            </a:pPr>
            <a:r>
              <a:rPr lang="ru-RU" sz="2200" dirty="0" smtClean="0"/>
              <a:t>изпращане </a:t>
            </a:r>
            <a:r>
              <a:rPr lang="ru-RU" sz="2200" dirty="0"/>
              <a:t>на сигнали към </a:t>
            </a:r>
            <a:r>
              <a:rPr lang="ru-RU" sz="2200" dirty="0" smtClean="0"/>
              <a:t>тях; </a:t>
            </a:r>
          </a:p>
          <a:p>
            <a:pPr lvl="1">
              <a:spcBef>
                <a:spcPts val="0"/>
              </a:spcBef>
            </a:pPr>
            <a:r>
              <a:rPr lang="ru-RU" sz="2200" dirty="0" smtClean="0"/>
              <a:t>преместване </a:t>
            </a:r>
            <a:r>
              <a:rPr lang="ru-RU" sz="2200" dirty="0"/>
              <a:t>на задачите между преден и заден план.</a:t>
            </a:r>
            <a:endParaRPr lang="bg-BG" sz="2200" dirty="0"/>
          </a:p>
        </p:txBody>
      </p:sp>
    </p:spTree>
    <p:extLst>
      <p:ext uri="{BB962C8B-B14F-4D97-AF65-F5344CB8AC3E}">
        <p14:creationId xmlns:p14="http://schemas.microsoft.com/office/powerpoint/2010/main" val="20773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Псевдотерминали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/>
              <a:t>Псевдотерминалът представлява двойка свързани виртуални устройства, известни като главен и подчинен. </a:t>
            </a:r>
            <a:endParaRPr lang="ru-RU" sz="28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Тази </a:t>
            </a:r>
            <a:r>
              <a:rPr lang="ru-RU" sz="2400" dirty="0"/>
              <a:t>двойка устройства осигурява IPC канал, позволяващ прехвърляне на данни в двете посоки между двете устройства</a:t>
            </a:r>
            <a:r>
              <a:rPr lang="ru-RU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Използват се </a:t>
            </a:r>
            <a:r>
              <a:rPr lang="ru-RU" sz="2400" dirty="0"/>
              <a:t>в различни приложения, най-вече при реализацията на терминални </a:t>
            </a:r>
            <a:r>
              <a:rPr lang="ru-RU" sz="2400" dirty="0" smtClean="0"/>
              <a:t>прозорци или при мрежови свързвания.</a:t>
            </a:r>
          </a:p>
          <a:p>
            <a:pPr>
              <a:spcBef>
                <a:spcPts val="300"/>
              </a:spcBef>
            </a:pPr>
            <a:r>
              <a:rPr lang="ru-RU" sz="2800" dirty="0"/>
              <a:t>Ключовият момент при псевдотерминала е, че подчиненото устройство предоставя интерфейс, който се държи като </a:t>
            </a:r>
            <a:r>
              <a:rPr lang="ru-RU" sz="2800" dirty="0" smtClean="0"/>
              <a:t>терминал</a:t>
            </a:r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Това прави </a:t>
            </a:r>
            <a:r>
              <a:rPr lang="ru-RU" sz="2400" dirty="0"/>
              <a:t>възможно свързването на терминално ориентирана програма към подчиненото устройство и след това използването на друга програма, свързана към главното устройство, за управление на терминално ориентираната програма.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39227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Псевдотерминали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При работа:</a:t>
            </a:r>
          </a:p>
          <a:p>
            <a:pPr lvl="1"/>
            <a:r>
              <a:rPr lang="bg-BG" dirty="0" smtClean="0"/>
              <a:t>В началото и</a:t>
            </a:r>
            <a:r>
              <a:rPr lang="ru-RU" dirty="0" smtClean="0"/>
              <a:t>зходните данни са от </a:t>
            </a:r>
            <a:r>
              <a:rPr lang="ru-RU" dirty="0"/>
              <a:t>управляващата програма, преминават през обичайната обработка на входните данни, извършвана от терминалния </a:t>
            </a:r>
            <a:r>
              <a:rPr lang="ru-RU" dirty="0" smtClean="0"/>
              <a:t>драйвер</a:t>
            </a:r>
          </a:p>
          <a:p>
            <a:pPr lvl="2"/>
            <a:r>
              <a:rPr lang="ru-RU" dirty="0" smtClean="0"/>
              <a:t>Например, в </a:t>
            </a:r>
            <a:r>
              <a:rPr lang="ru-RU" dirty="0"/>
              <a:t>режим по подразбиране връщането на карета се съпоставя с нов </a:t>
            </a:r>
            <a:r>
              <a:rPr lang="ru-RU" dirty="0" smtClean="0"/>
              <a:t>ред. </a:t>
            </a:r>
          </a:p>
          <a:p>
            <a:pPr lvl="1"/>
            <a:r>
              <a:rPr lang="ru-RU" dirty="0" smtClean="0"/>
              <a:t>На следващия етап, данните се предават </a:t>
            </a:r>
            <a:r>
              <a:rPr lang="ru-RU" dirty="0"/>
              <a:t>като входни данни на терминално ориентираната програма, свързана към подчиненото устройство. </a:t>
            </a:r>
            <a:endParaRPr lang="ru-RU" dirty="0" smtClean="0"/>
          </a:p>
          <a:p>
            <a:pPr lvl="2"/>
            <a:r>
              <a:rPr lang="ru-RU" dirty="0" smtClean="0"/>
              <a:t>Всичко</a:t>
            </a:r>
            <a:r>
              <a:rPr lang="ru-RU" dirty="0"/>
              <a:t>, което терминално-ориентираната програма записва на подчиненото </a:t>
            </a:r>
            <a:r>
              <a:rPr lang="ru-RU" dirty="0" smtClean="0"/>
              <a:t>устройство </a:t>
            </a:r>
            <a:r>
              <a:rPr lang="ru-RU" dirty="0"/>
              <a:t>се предава </a:t>
            </a:r>
            <a:r>
              <a:rPr lang="ru-RU" dirty="0" smtClean="0"/>
              <a:t>като </a:t>
            </a:r>
            <a:r>
              <a:rPr lang="ru-RU" dirty="0"/>
              <a:t>вход на драйверната програма</a:t>
            </a:r>
            <a:r>
              <a:rPr lang="ru-RU" dirty="0" smtClean="0"/>
              <a:t>.</a:t>
            </a:r>
          </a:p>
          <a:p>
            <a:pPr lvl="2"/>
            <a:r>
              <a:rPr lang="ru-RU" dirty="0" smtClean="0"/>
              <a:t>Предаването е след </a:t>
            </a:r>
            <a:r>
              <a:rPr lang="ru-RU" dirty="0"/>
              <a:t>извършване на цялата обичайна обработка на терминалния </a:t>
            </a:r>
            <a:r>
              <a:rPr lang="ru-RU" dirty="0" smtClean="0"/>
              <a:t>изход, т.е. драйверната </a:t>
            </a:r>
            <a:r>
              <a:rPr lang="ru-RU" dirty="0"/>
              <a:t>програма изпълнява функцията, която обикновено се изпълнява от потребителя на конвенционален терминал.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706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Системно време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Процесът </a:t>
            </a:r>
            <a:r>
              <a:rPr lang="ru-RU" dirty="0" smtClean="0"/>
              <a:t>използват два </a:t>
            </a:r>
            <a:r>
              <a:rPr lang="ru-RU" dirty="0"/>
              <a:t>вида време: </a:t>
            </a:r>
          </a:p>
          <a:p>
            <a:pPr lvl="1"/>
            <a:r>
              <a:rPr lang="ru-RU" dirty="0" smtClean="0"/>
              <a:t>Реално времето </a:t>
            </a:r>
            <a:r>
              <a:rPr lang="ru-RU" dirty="0"/>
              <a:t>(в оригинал</a:t>
            </a:r>
            <a:r>
              <a:rPr lang="en-US" dirty="0"/>
              <a:t>: </a:t>
            </a:r>
            <a:r>
              <a:rPr lang="en-US" dirty="0" smtClean="0"/>
              <a:t>real</a:t>
            </a:r>
            <a:r>
              <a:rPr lang="bg-BG" dirty="0" smtClean="0"/>
              <a:t> </a:t>
            </a:r>
            <a:r>
              <a:rPr lang="en-US" dirty="0" smtClean="0"/>
              <a:t>time)</a:t>
            </a:r>
            <a:endParaRPr lang="ru-RU" dirty="0" smtClean="0"/>
          </a:p>
          <a:p>
            <a:pPr lvl="2"/>
            <a:r>
              <a:rPr lang="ru-RU" dirty="0" smtClean="0"/>
              <a:t>То </a:t>
            </a:r>
            <a:r>
              <a:rPr lang="ru-RU" dirty="0"/>
              <a:t>се измерва </a:t>
            </a:r>
            <a:r>
              <a:rPr lang="ru-RU" dirty="0" smtClean="0"/>
              <a:t>спрямо някаква </a:t>
            </a:r>
            <a:r>
              <a:rPr lang="ru-RU" dirty="0"/>
              <a:t>стандартна точка (календарно време</a:t>
            </a:r>
            <a:r>
              <a:rPr lang="ru-RU" dirty="0" smtClean="0"/>
              <a:t>) </a:t>
            </a:r>
            <a:r>
              <a:rPr lang="ru-RU" dirty="0"/>
              <a:t>или </a:t>
            </a:r>
            <a:r>
              <a:rPr lang="ru-RU" dirty="0" smtClean="0"/>
              <a:t>спрямо фиксирана </a:t>
            </a:r>
            <a:r>
              <a:rPr lang="ru-RU" dirty="0"/>
              <a:t>точка, обикновено началото, в живота на процеса (изминало време или време на стенния часовник). </a:t>
            </a:r>
            <a:endParaRPr lang="ru-RU" dirty="0" smtClean="0"/>
          </a:p>
          <a:p>
            <a:pPr lvl="2"/>
            <a:r>
              <a:rPr lang="ru-RU" dirty="0" smtClean="0"/>
              <a:t>В </a:t>
            </a:r>
            <a:r>
              <a:rPr lang="ru-RU" dirty="0"/>
              <a:t>системите UNIX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календарното време </a:t>
            </a:r>
            <a:r>
              <a:rPr lang="ru-RU" dirty="0"/>
              <a:t>се измерва в секунди от полунощ на 1 януари 1970 г., универсално координирано време (обикновено съкратено UTC), и се координира по базовата точка за часовите зони, определена от надлъжната линия, минаваща през Гринуич, Англия. </a:t>
            </a:r>
            <a:endParaRPr lang="ru-RU" dirty="0" smtClean="0"/>
          </a:p>
          <a:p>
            <a:pPr lvl="2"/>
            <a:r>
              <a:rPr lang="ru-RU" dirty="0" smtClean="0"/>
              <a:t>Тази </a:t>
            </a:r>
            <a:r>
              <a:rPr lang="ru-RU" dirty="0"/>
              <a:t>дата, която е близка до раждането на системата UNIX, се нарича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епоха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1210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Системно време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r>
              <a:rPr lang="ru-RU" dirty="0"/>
              <a:t>Процесът </a:t>
            </a:r>
            <a:r>
              <a:rPr lang="ru-RU" dirty="0" smtClean="0"/>
              <a:t>използват два </a:t>
            </a:r>
            <a:r>
              <a:rPr lang="ru-RU" dirty="0"/>
              <a:t>вида време: </a:t>
            </a:r>
          </a:p>
          <a:p>
            <a:pPr lvl="1"/>
            <a:r>
              <a:rPr lang="ru-RU" dirty="0" smtClean="0"/>
              <a:t>Време на процеса (в оригинал</a:t>
            </a:r>
            <a:r>
              <a:rPr lang="en-US" dirty="0" smtClean="0"/>
              <a:t>: process time)</a:t>
            </a:r>
          </a:p>
          <a:p>
            <a:pPr lvl="2"/>
            <a:r>
              <a:rPr lang="bg-BG" dirty="0"/>
              <a:t>Това е </a:t>
            </a:r>
            <a:r>
              <a:rPr lang="ru-RU" dirty="0"/>
              <a:t>общото количество процесорно време, което даден процес е използвал от стартирането </a:t>
            </a:r>
            <a:r>
              <a:rPr lang="ru-RU" dirty="0" smtClean="0"/>
              <a:t>си и се разделя се на системно и на потребителско време.</a:t>
            </a:r>
            <a:endParaRPr lang="ru-RU" dirty="0"/>
          </a:p>
          <a:p>
            <a:pPr lvl="3"/>
            <a:r>
              <a:rPr lang="ru-RU" dirty="0" smtClean="0"/>
              <a:t>Нарича се 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процесорно време.</a:t>
            </a:r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Системно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процесорно време</a:t>
            </a:r>
            <a:r>
              <a:rPr lang="ru-RU" dirty="0"/>
              <a:t> - времето, прекарано в изпълнение на код в режим на ядрото (т.е. изпълнение на системни повиквания и извършване на други услуги на ядрото от името на процеса), </a:t>
            </a:r>
            <a:endParaRPr lang="ru-RU" dirty="0" smtClean="0"/>
          </a:p>
          <a:p>
            <a:pPr lvl="2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отребителско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процесорно време </a:t>
            </a:r>
            <a:r>
              <a:rPr lang="ru-RU" dirty="0"/>
              <a:t>- времето, прекарано в изпълнение на код в потребителски режим (т.е. изпълнение на нормален програмен код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399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Системно време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dirty="0" smtClean="0"/>
              <a:t>В </a:t>
            </a:r>
            <a:r>
              <a:rPr lang="en-US" dirty="0" smtClean="0"/>
              <a:t>Linux, </a:t>
            </a:r>
            <a:r>
              <a:rPr lang="bg-BG" dirty="0" smtClean="0"/>
              <a:t>с к</a:t>
            </a:r>
            <a:r>
              <a:rPr lang="ru-RU" dirty="0" smtClean="0"/>
              <a:t>омандата «time» може да се получи необходимата информация за изпълнение </a:t>
            </a:r>
            <a:r>
              <a:rPr lang="ru-RU" dirty="0"/>
              <a:t>на процесите в </a:t>
            </a:r>
            <a:r>
              <a:rPr lang="ru-RU" dirty="0" smtClean="0"/>
              <a:t>конвейера. </a:t>
            </a:r>
          </a:p>
          <a:p>
            <a:pPr lvl="1">
              <a:spcBef>
                <a:spcPts val="0"/>
              </a:spcBef>
            </a:pPr>
            <a:r>
              <a:rPr lang="ru-RU" dirty="0" smtClean="0"/>
              <a:t>Тази информация включва:</a:t>
            </a:r>
          </a:p>
          <a:p>
            <a:pPr lvl="2">
              <a:spcBef>
                <a:spcPts val="0"/>
              </a:spcBef>
            </a:pPr>
            <a:r>
              <a:rPr lang="ru-RU" dirty="0" smtClean="0"/>
              <a:t>реалното време</a:t>
            </a:r>
            <a:r>
              <a:rPr lang="ru-RU" dirty="0"/>
              <a:t>;</a:t>
            </a:r>
            <a:endParaRPr lang="ru-RU" dirty="0" smtClean="0"/>
          </a:p>
          <a:p>
            <a:pPr lvl="2">
              <a:spcBef>
                <a:spcPts val="0"/>
              </a:spcBef>
            </a:pPr>
            <a:r>
              <a:rPr lang="ru-RU" dirty="0" smtClean="0"/>
              <a:t>системното </a:t>
            </a:r>
            <a:r>
              <a:rPr lang="ru-RU" dirty="0"/>
              <a:t>процесорно </a:t>
            </a:r>
            <a:r>
              <a:rPr lang="ru-RU" dirty="0" smtClean="0"/>
              <a:t>време;</a:t>
            </a:r>
          </a:p>
          <a:p>
            <a:pPr lvl="2">
              <a:spcBef>
                <a:spcPts val="0"/>
              </a:spcBef>
            </a:pPr>
            <a:r>
              <a:rPr lang="ru-RU" dirty="0" smtClean="0"/>
              <a:t>потребителското </a:t>
            </a:r>
            <a:r>
              <a:rPr lang="ru-RU" dirty="0"/>
              <a:t>процесорно </a:t>
            </a:r>
            <a:r>
              <a:rPr lang="ru-RU" dirty="0" smtClean="0"/>
              <a:t>време.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9146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Файлова система «/proc»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«/</a:t>
            </a:r>
            <a:r>
              <a:rPr lang="ru-RU" dirty="0"/>
              <a:t>proc» е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виртуална файлова система</a:t>
            </a:r>
            <a:r>
              <a:rPr lang="ru-RU" dirty="0"/>
              <a:t>, която осигурява интерфейс към структурите от данни на ядрото във вид, който прилича на файлове и директории във файлова система.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Подобно на други UNIX-версии, Linux предоставя файлова система «/proc</a:t>
            </a:r>
            <a:r>
              <a:rPr lang="ru-RU" dirty="0" smtClean="0"/>
              <a:t>», но няма обща директива за </a:t>
            </a:r>
            <a:r>
              <a:rPr lang="en-US" dirty="0" smtClean="0"/>
              <a:t>Unix-</a:t>
            </a:r>
            <a:r>
              <a:rPr lang="bg-BG" dirty="0" smtClean="0"/>
              <a:t>системите как да се формира и използва тази система.</a:t>
            </a:r>
            <a:endParaRPr lang="ru-RU" dirty="0"/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Това осигурява лесен механизъм за преглед и промяна на различни системни атрибути.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Тя </a:t>
            </a:r>
            <a:r>
              <a:rPr lang="ru-RU" dirty="0"/>
              <a:t>се състои от набор от директории и файлове, разположени в директорията «/proc». 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Съдържанието на файловете /proc обикновено е в разбираема за човека текстова форма и може да бъде анализирано от шел скриптове. 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В повечето случаи даден процес трябва да има привилегии, за да променя съдържанието на файловете в директорията /proc.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Освен </a:t>
            </a:r>
            <a:r>
              <a:rPr lang="ru-RU" dirty="0"/>
              <a:t>това набор от директории с имена от вида </a:t>
            </a:r>
            <a:r>
              <a:rPr lang="ru-RU" dirty="0" smtClean="0"/>
              <a:t>«/proc/PID» позволяват </a:t>
            </a:r>
            <a:r>
              <a:rPr lang="ru-RU" dirty="0"/>
              <a:t>да </a:t>
            </a:r>
            <a:r>
              <a:rPr lang="ru-RU" dirty="0" smtClean="0"/>
              <a:t>се преглежда информацията </a:t>
            </a:r>
            <a:r>
              <a:rPr lang="ru-RU" dirty="0"/>
              <a:t>за всеки процес, който работи в системата. </a:t>
            </a:r>
          </a:p>
        </p:txBody>
      </p:sp>
    </p:spTree>
    <p:extLst>
      <p:ext uri="{BB962C8B-B14F-4D97-AF65-F5344CB8AC3E}">
        <p14:creationId xmlns:p14="http://schemas.microsoft.com/office/powerpoint/2010/main" val="410723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извиквания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25780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Същност:</a:t>
            </a:r>
            <a:endParaRPr lang="en-US" sz="2800" dirty="0" smtClean="0"/>
          </a:p>
          <a:p>
            <a:pPr lvl="1"/>
            <a:r>
              <a:rPr lang="ru-RU" sz="2400" dirty="0" smtClean="0"/>
              <a:t>Системното извикване (в оригинал: </a:t>
            </a:r>
            <a:r>
              <a:rPr lang="en-US" sz="2400" dirty="0" smtClean="0"/>
              <a:t>system call)</a:t>
            </a:r>
            <a:r>
              <a:rPr lang="ru-RU" sz="2400" dirty="0" smtClean="0"/>
              <a:t> </a:t>
            </a:r>
            <a:r>
              <a:rPr lang="ru-RU" sz="2400" dirty="0"/>
              <a:t>е контролирана точка за влизане в ядрото, която позволява на даден процес да да поиска от ядрото да извърши някакво действие от негово име. </a:t>
            </a:r>
            <a:endParaRPr lang="en-US" sz="2400" dirty="0" smtClean="0"/>
          </a:p>
          <a:p>
            <a:pPr lvl="1"/>
            <a:r>
              <a:rPr lang="ru-RU" sz="2400" dirty="0" smtClean="0"/>
              <a:t>Ядрото </a:t>
            </a:r>
            <a:r>
              <a:rPr lang="ru-RU" sz="2400" dirty="0"/>
              <a:t>предоставя на програмите достъп до редица услуги чрез приложението за системно извикване програмен интерфейс (API). </a:t>
            </a:r>
            <a:endParaRPr lang="ru-RU" sz="2400" dirty="0" smtClean="0"/>
          </a:p>
          <a:p>
            <a:pPr lvl="2"/>
            <a:r>
              <a:rPr lang="ru-RU" sz="2000" dirty="0" smtClean="0"/>
              <a:t>Тези </a:t>
            </a:r>
            <a:r>
              <a:rPr lang="ru-RU" sz="2000" dirty="0"/>
              <a:t>услуги включват, например, създаване на нов процес, извършване на входно/изходни операции и създаване на тръба за междупроцесна комуникация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/>
              <a:t>От гледна точка на програмирането извикването на системно извикване прилича на извикване на C функция. </a:t>
            </a:r>
            <a:endParaRPr lang="ru-RU" sz="2400" dirty="0" smtClean="0"/>
          </a:p>
          <a:p>
            <a:pPr lvl="2"/>
            <a:r>
              <a:rPr lang="ru-RU" sz="2000" dirty="0" smtClean="0"/>
              <a:t>Практически системата извършва сложна поредица от стъпки за </a:t>
            </a:r>
            <a:r>
              <a:rPr lang="ru-RU" sz="2000" dirty="0"/>
              <a:t>изпълнението на системно извикване.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37892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извиквания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 smtClean="0"/>
              <a:t>Особености</a:t>
            </a:r>
            <a:r>
              <a:rPr lang="ru-RU" dirty="0"/>
              <a:t>:</a:t>
            </a:r>
          </a:p>
          <a:p>
            <a:pPr lvl="1"/>
            <a:r>
              <a:rPr lang="ru-RU" sz="2400" dirty="0" smtClean="0"/>
              <a:t>Системното </a:t>
            </a:r>
            <a:r>
              <a:rPr lang="ru-RU" sz="2400" dirty="0"/>
              <a:t>извикване променя състоянието на процесора от потребителски режим в режим на ядрото, така че процесорът да има достъп до защитената памет на ядрото.</a:t>
            </a:r>
          </a:p>
          <a:p>
            <a:pPr lvl="2"/>
            <a:r>
              <a:rPr lang="ru-RU" sz="2000" dirty="0" smtClean="0"/>
              <a:t>Наборът </a:t>
            </a:r>
            <a:r>
              <a:rPr lang="ru-RU" sz="2000" dirty="0"/>
              <a:t>от системни повиквания е фиксиран. </a:t>
            </a:r>
            <a:endParaRPr lang="ru-RU" sz="2000" dirty="0" smtClean="0"/>
          </a:p>
          <a:p>
            <a:pPr lvl="1"/>
            <a:r>
              <a:rPr lang="ru-RU" sz="2400" dirty="0" smtClean="0"/>
              <a:t>Всяко </a:t>
            </a:r>
            <a:r>
              <a:rPr lang="ru-RU" sz="2400" dirty="0"/>
              <a:t>системно извикване се идентифицира с уникален </a:t>
            </a:r>
            <a:r>
              <a:rPr lang="ru-RU" sz="2400" dirty="0" smtClean="0"/>
              <a:t>номер: най-често схема </a:t>
            </a:r>
            <a:r>
              <a:rPr lang="ru-RU" sz="2400" dirty="0"/>
              <a:t>за номериране </a:t>
            </a:r>
            <a:r>
              <a:rPr lang="ru-RU" sz="2400" dirty="0" smtClean="0"/>
              <a:t>не </a:t>
            </a:r>
            <a:r>
              <a:rPr lang="ru-RU" sz="2400" dirty="0"/>
              <a:t>е видима за </a:t>
            </a:r>
            <a:r>
              <a:rPr lang="ru-RU" sz="2400" dirty="0" smtClean="0"/>
              <a:t>процеси, </a:t>
            </a:r>
            <a:r>
              <a:rPr lang="ru-RU" sz="2400" dirty="0"/>
              <a:t>които идентифицират системни извиквания по име</a:t>
            </a:r>
            <a:r>
              <a:rPr lang="ru-RU" sz="2400" dirty="0" smtClean="0"/>
              <a:t>.</a:t>
            </a:r>
            <a:endParaRPr lang="ru-RU" sz="2400" dirty="0"/>
          </a:p>
          <a:p>
            <a:pPr lvl="1"/>
            <a:r>
              <a:rPr lang="ru-RU" sz="2400" dirty="0" smtClean="0"/>
              <a:t>Всяко </a:t>
            </a:r>
            <a:r>
              <a:rPr lang="ru-RU" sz="2400" dirty="0"/>
              <a:t>системно извикване може да има набор от аргументи, които посочват информацията, която трябва да се да се прехвърля от потребителското пространство </a:t>
            </a:r>
            <a:r>
              <a:rPr lang="ru-RU" sz="2400" dirty="0" smtClean="0"/>
              <a:t>към </a:t>
            </a:r>
            <a:r>
              <a:rPr lang="ru-RU" sz="2400" dirty="0"/>
              <a:t>ядрото и обратно</a:t>
            </a:r>
            <a:r>
              <a:rPr lang="ru-RU" sz="2400" dirty="0" smtClean="0"/>
              <a:t>.</a:t>
            </a:r>
          </a:p>
          <a:p>
            <a:pPr lvl="2"/>
            <a:r>
              <a:rPr lang="ru-RU" sz="2000" dirty="0" smtClean="0"/>
              <a:t>Реално това е прехвърляне от виртуалното </a:t>
            </a:r>
            <a:r>
              <a:rPr lang="ru-RU" sz="2000" dirty="0"/>
              <a:t>адресно пространство на </a:t>
            </a:r>
            <a:r>
              <a:rPr lang="ru-RU" sz="2000" dirty="0" smtClean="0"/>
              <a:t>процеса към ядрото. 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427621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извиквания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334000"/>
          </a:xfrm>
        </p:spPr>
        <p:txBody>
          <a:bodyPr>
            <a:normAutofit/>
          </a:bodyPr>
          <a:lstStyle/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 smtClean="0"/>
              <a:t>Базов механизъм:</a:t>
            </a:r>
            <a:endParaRPr lang="ru-RU" dirty="0"/>
          </a:p>
          <a:p>
            <a:pPr marL="438150" lvl="1" indent="0">
              <a:buNone/>
            </a:pPr>
            <a:r>
              <a:rPr lang="ru-RU" sz="2400" dirty="0"/>
              <a:t>1. Приложната програма извършва системно извикване, като извиква функция-обвивка в библиотеката на C.</a:t>
            </a:r>
          </a:p>
          <a:p>
            <a:pPr marL="438150" lvl="1" indent="0">
              <a:buNone/>
            </a:pPr>
            <a:r>
              <a:rPr lang="ru-RU" sz="2400" dirty="0"/>
              <a:t>2. Обвиващата функция </a:t>
            </a:r>
            <a:r>
              <a:rPr lang="ru-RU" sz="2400" dirty="0" smtClean="0"/>
              <a:t>предоставя </a:t>
            </a:r>
            <a:r>
              <a:rPr lang="ru-RU" sz="2400" dirty="0"/>
              <a:t>всички аргументи на системното извикване на рутинната процедура за обработка на </a:t>
            </a:r>
            <a:r>
              <a:rPr lang="ru-RU" sz="2400" dirty="0" smtClean="0"/>
              <a:t>системното извикване. </a:t>
            </a:r>
          </a:p>
          <a:p>
            <a:pPr marL="1182687" lvl="2" indent="-342900"/>
            <a:r>
              <a:rPr lang="ru-RU" sz="2000" dirty="0" smtClean="0"/>
              <a:t>Тези </a:t>
            </a:r>
            <a:r>
              <a:rPr lang="ru-RU" sz="2000" dirty="0"/>
              <a:t>аргументи се предават на обвиващата функция чрез стека, но ядрото ги очаква в определени регистри. </a:t>
            </a:r>
            <a:endParaRPr lang="ru-RU" sz="2000" dirty="0" smtClean="0"/>
          </a:p>
          <a:p>
            <a:pPr marL="1182687" lvl="2" indent="-342900"/>
            <a:r>
              <a:rPr lang="ru-RU" sz="2000" dirty="0" smtClean="0"/>
              <a:t>Функцията </a:t>
            </a:r>
            <a:r>
              <a:rPr lang="ru-RU" sz="2000" dirty="0"/>
              <a:t>за обвиване копира аргументите в </a:t>
            </a:r>
            <a:r>
              <a:rPr lang="ru-RU" sz="2000" dirty="0" smtClean="0"/>
              <a:t>необходимите регистри</a:t>
            </a:r>
            <a:r>
              <a:rPr lang="ru-RU" sz="2000" dirty="0"/>
              <a:t>.</a:t>
            </a:r>
          </a:p>
          <a:p>
            <a:pPr marL="438150" lvl="1" indent="0">
              <a:buNone/>
            </a:pPr>
            <a:r>
              <a:rPr lang="ru-RU" sz="2400" dirty="0"/>
              <a:t>3. </a:t>
            </a:r>
            <a:r>
              <a:rPr lang="ru-RU" sz="2400" dirty="0" smtClean="0"/>
              <a:t>Всички системни </a:t>
            </a:r>
            <a:r>
              <a:rPr lang="ru-RU" sz="2400" dirty="0"/>
              <a:t>повиквания </a:t>
            </a:r>
            <a:r>
              <a:rPr lang="ru-RU" sz="2400" dirty="0" smtClean="0"/>
              <a:t>се подават към </a:t>
            </a:r>
            <a:r>
              <a:rPr lang="ru-RU" sz="2400" dirty="0"/>
              <a:t>ядрото по един и същи </a:t>
            </a:r>
            <a:r>
              <a:rPr lang="ru-RU" sz="2400" dirty="0" smtClean="0"/>
              <a:t>начин и затова  </a:t>
            </a:r>
            <a:r>
              <a:rPr lang="ru-RU" sz="2400" dirty="0"/>
              <a:t>ядрото </a:t>
            </a:r>
            <a:r>
              <a:rPr lang="ru-RU" sz="2400" dirty="0" smtClean="0"/>
              <a:t>използва специална техника за разпознаване на системното повикване.</a:t>
            </a:r>
          </a:p>
          <a:p>
            <a:pPr marL="1182687" lvl="2" indent="-342900"/>
            <a:r>
              <a:rPr lang="ru-RU" sz="2100" dirty="0" smtClean="0"/>
              <a:t>За </a:t>
            </a:r>
            <a:r>
              <a:rPr lang="ru-RU" sz="2100" dirty="0"/>
              <a:t>да позволи това, функцията за обвиване копира номера на системното повикване в специфичен регистър на процесора (%eax</a:t>
            </a:r>
            <a:r>
              <a:rPr lang="ru-RU" sz="2100" dirty="0" smtClean="0"/>
              <a:t>).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246959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извиквания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334000"/>
          </a:xfrm>
        </p:spPr>
        <p:txBody>
          <a:bodyPr>
            <a:normAutofit/>
          </a:bodyPr>
          <a:lstStyle/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 smtClean="0"/>
              <a:t>Базов механизъм:</a:t>
            </a: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13" y="961131"/>
            <a:ext cx="7140370" cy="588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3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извиквания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 smtClean="0"/>
              <a:t>Базов механизъм:</a:t>
            </a:r>
            <a:endParaRPr lang="ru-RU" dirty="0"/>
          </a:p>
          <a:p>
            <a:pPr marL="438150" lvl="1" indent="0">
              <a:buNone/>
            </a:pPr>
            <a:r>
              <a:rPr lang="ru-RU" sz="2400" dirty="0" smtClean="0"/>
              <a:t>4</a:t>
            </a:r>
            <a:r>
              <a:rPr lang="ru-RU" sz="2400" dirty="0"/>
              <a:t>. </a:t>
            </a:r>
            <a:r>
              <a:rPr lang="ru-RU" sz="2400" dirty="0" smtClean="0"/>
              <a:t>Функция</a:t>
            </a:r>
            <a:r>
              <a:rPr lang="en-US" sz="2400" dirty="0" smtClean="0"/>
              <a:t>-</a:t>
            </a:r>
            <a:r>
              <a:rPr lang="bg-BG" sz="2400" dirty="0" smtClean="0"/>
              <a:t>обвивка</a:t>
            </a:r>
            <a:r>
              <a:rPr lang="ru-RU" sz="2400" dirty="0" smtClean="0"/>
              <a:t> изпълнява специална машинна </a:t>
            </a:r>
            <a:r>
              <a:rPr lang="ru-RU" sz="2400" dirty="0"/>
              <a:t>инструкция </a:t>
            </a:r>
            <a:r>
              <a:rPr lang="ru-RU" sz="2400" dirty="0" smtClean="0"/>
              <a:t>(например, 0x80 </a:t>
            </a:r>
            <a:r>
              <a:rPr lang="en-US" sz="2400" dirty="0" smtClean="0"/>
              <a:t>trap-instruction</a:t>
            </a:r>
            <a:r>
              <a:rPr lang="ru-RU" sz="2400" dirty="0" smtClean="0"/>
              <a:t>), </a:t>
            </a:r>
            <a:r>
              <a:rPr lang="ru-RU" sz="2400" dirty="0"/>
              <a:t>която </a:t>
            </a:r>
            <a:r>
              <a:rPr lang="ru-RU" sz="2400" dirty="0" smtClean="0"/>
              <a:t>принуждава </a:t>
            </a:r>
            <a:r>
              <a:rPr lang="ru-RU" sz="2400" dirty="0"/>
              <a:t>процесора да премине от потребителски режим в режим на ядрото и да изпълни </a:t>
            </a:r>
            <a:r>
              <a:rPr lang="ru-RU" sz="2400" dirty="0" smtClean="0"/>
              <a:t>кода, </a:t>
            </a:r>
            <a:r>
              <a:rPr lang="ru-RU" sz="2400" dirty="0"/>
              <a:t>посочен </a:t>
            </a:r>
            <a:r>
              <a:rPr lang="ru-RU" sz="2400" dirty="0" smtClean="0"/>
              <a:t>на адреса  </a:t>
            </a:r>
            <a:r>
              <a:rPr lang="ru-RU" sz="2400" dirty="0"/>
              <a:t>0x80 </a:t>
            </a:r>
            <a:r>
              <a:rPr lang="ru-RU" sz="2400" dirty="0" smtClean="0"/>
              <a:t>(</a:t>
            </a:r>
            <a:r>
              <a:rPr lang="en-US" sz="2400" dirty="0" smtClean="0"/>
              <a:t>trap-</a:t>
            </a:r>
            <a:r>
              <a:rPr lang="bg-BG" sz="2400" dirty="0" smtClean="0"/>
              <a:t>вектора на прекъсването)</a:t>
            </a:r>
            <a:r>
              <a:rPr lang="ru-RU" sz="2400" dirty="0" smtClean="0"/>
              <a:t>.</a:t>
            </a:r>
            <a:r>
              <a:rPr lang="ru-RU" sz="2000" dirty="0" smtClean="0"/>
              <a:t> </a:t>
            </a:r>
            <a:endParaRPr lang="en-US" sz="2000" dirty="0" smtClean="0"/>
          </a:p>
          <a:p>
            <a:pPr marL="438150" lvl="1" indent="0">
              <a:buNone/>
            </a:pPr>
            <a:r>
              <a:rPr lang="en-US" sz="2000" dirty="0" smtClean="0"/>
              <a:t>5. </a:t>
            </a:r>
            <a:r>
              <a:rPr lang="ru-RU" sz="2400" dirty="0"/>
              <a:t>В отговор на </a:t>
            </a:r>
            <a:r>
              <a:rPr lang="ru-RU" sz="2400" dirty="0"/>
              <a:t>прехода по </a:t>
            </a:r>
            <a:r>
              <a:rPr lang="en-US" sz="2400" dirty="0"/>
              <a:t>trap-</a:t>
            </a:r>
            <a:r>
              <a:rPr lang="bg-BG" sz="2400" dirty="0"/>
              <a:t>вектора</a:t>
            </a:r>
            <a:r>
              <a:rPr lang="ru-RU" sz="2400" dirty="0"/>
              <a:t> ядрото </a:t>
            </a:r>
            <a:r>
              <a:rPr lang="ru-RU" sz="2400" dirty="0"/>
              <a:t>извиква </a:t>
            </a:r>
            <a:r>
              <a:rPr lang="ru-RU" sz="2400" dirty="0"/>
              <a:t>вътрешната функция system_call</a:t>
            </a:r>
            <a:r>
              <a:rPr lang="ru-RU" sz="2400" dirty="0"/>
              <a:t>() </a:t>
            </a:r>
            <a:r>
              <a:rPr lang="ru-RU" sz="2400" dirty="0"/>
              <a:t>за обработване на прекъсването</a:t>
            </a:r>
          </a:p>
          <a:p>
            <a:pPr marL="839787" lvl="2" indent="0">
              <a:buNone/>
            </a:pPr>
            <a:r>
              <a:rPr lang="ru-RU" sz="2000" dirty="0" smtClean="0"/>
              <a:t>а</a:t>
            </a:r>
            <a:r>
              <a:rPr lang="ru-RU" sz="2000" dirty="0"/>
              <a:t>) </a:t>
            </a:r>
            <a:r>
              <a:rPr lang="ru-RU" sz="2000" dirty="0" smtClean="0"/>
              <a:t>Записва стойностите </a:t>
            </a:r>
            <a:r>
              <a:rPr lang="ru-RU" sz="2000" dirty="0"/>
              <a:t>на регистрите в стека на </a:t>
            </a:r>
            <a:r>
              <a:rPr lang="ru-RU" sz="2000" dirty="0" smtClean="0"/>
              <a:t>ядрото.</a:t>
            </a:r>
            <a:endParaRPr lang="ru-RU" sz="2000" dirty="0"/>
          </a:p>
          <a:p>
            <a:pPr marL="839787" lvl="2" indent="0">
              <a:buNone/>
            </a:pPr>
            <a:r>
              <a:rPr lang="ru-RU" sz="2000" dirty="0"/>
              <a:t>б) Проверява валидността на номера на системното извикване.</a:t>
            </a:r>
          </a:p>
          <a:p>
            <a:pPr marL="839787" lvl="2" indent="0">
              <a:buNone/>
            </a:pPr>
            <a:r>
              <a:rPr lang="ru-RU" sz="2000" dirty="0"/>
              <a:t>в) Извиква подходящата </a:t>
            </a:r>
            <a:r>
              <a:rPr lang="ru-RU" sz="2000" dirty="0" smtClean="0"/>
              <a:t>сървисна подпрограма </a:t>
            </a:r>
            <a:r>
              <a:rPr lang="ru-RU" sz="2000" dirty="0"/>
              <a:t>за обслужване на системни </a:t>
            </a:r>
            <a:r>
              <a:rPr lang="ru-RU" sz="2000" dirty="0" smtClean="0"/>
              <a:t>повиквания</a:t>
            </a:r>
            <a:endParaRPr lang="en-US" sz="2000" dirty="0" smtClean="0"/>
          </a:p>
          <a:p>
            <a:pPr marL="839787" lvl="2" indent="0">
              <a:buNone/>
            </a:pPr>
            <a:r>
              <a:rPr lang="ru-RU" sz="2000" dirty="0"/>
              <a:t>г) Възстановява стойностите на регистрите от стека на ядрото и поставя стойността на системното извикване </a:t>
            </a:r>
            <a:r>
              <a:rPr lang="ru-RU" sz="2000" dirty="0" smtClean="0"/>
              <a:t>във върха на стека</a:t>
            </a:r>
            <a:r>
              <a:rPr lang="ru-RU" sz="2000" dirty="0"/>
              <a:t>.</a:t>
            </a:r>
          </a:p>
          <a:p>
            <a:pPr marL="839787" lvl="2" indent="0">
              <a:buNone/>
            </a:pPr>
            <a:r>
              <a:rPr lang="ru-RU" sz="2000" dirty="0"/>
              <a:t>д) Връща се към обвиващата функция, като едновременно с това връща процесора в потребителски режим.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170001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извиквания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 smtClean="0"/>
              <a:t>Базов механизъм:</a:t>
            </a:r>
            <a:endParaRPr lang="ru-RU" dirty="0"/>
          </a:p>
          <a:p>
            <a:pPr marL="438150" lvl="1" indent="0">
              <a:buNone/>
            </a:pPr>
            <a:r>
              <a:rPr lang="ru-RU" sz="2400" dirty="0"/>
              <a:t>6. Ако върнатата стойност на рутинната процедура за обслужване на системното извикване показва грешка, функцията за обвиване задава глобалната променлива </a:t>
            </a:r>
            <a:r>
              <a:rPr lang="ru-RU" sz="2400" dirty="0" smtClean="0"/>
              <a:t>errno, </a:t>
            </a:r>
            <a:r>
              <a:rPr lang="ru-RU" sz="2400" dirty="0"/>
              <a:t>като използва тази стойност. </a:t>
            </a:r>
            <a:endParaRPr lang="ru-RU" sz="2400" dirty="0" smtClean="0"/>
          </a:p>
          <a:p>
            <a:pPr marL="839787" lvl="2" indent="0">
              <a:buNone/>
            </a:pPr>
            <a:r>
              <a:rPr lang="ru-RU" sz="2000" dirty="0" smtClean="0"/>
              <a:t>а) След </a:t>
            </a:r>
            <a:r>
              <a:rPr lang="ru-RU" sz="2000" dirty="0"/>
              <a:t>това обвиващата функция се връща на викащия, като предоставя целочислена стойност на връщане, указваща успеха или неуспеха на системното извикване. </a:t>
            </a:r>
            <a:endParaRPr lang="ru-RU" sz="2000" dirty="0" smtClean="0"/>
          </a:p>
          <a:p>
            <a:pPr marL="839787" lvl="2" indent="0">
              <a:buNone/>
            </a:pPr>
            <a:r>
              <a:rPr lang="ru-RU" sz="2000" dirty="0" smtClean="0"/>
              <a:t>б) В </a:t>
            </a:r>
            <a:r>
              <a:rPr lang="ru-RU" sz="2000" dirty="0"/>
              <a:t>Linux рутинните процедури за обслужване на системни повиквания следват конвенцията за връщане на неотрицателна стойност, за да покажат успех</a:t>
            </a:r>
            <a:r>
              <a:rPr lang="ru-RU" sz="2000" dirty="0" smtClean="0"/>
              <a:t>.</a:t>
            </a:r>
          </a:p>
          <a:p>
            <a:pPr marL="839787" lvl="2" indent="0">
              <a:buNone/>
            </a:pPr>
            <a:r>
              <a:rPr lang="ru-RU" sz="2000" dirty="0" smtClean="0"/>
              <a:t>в) </a:t>
            </a:r>
            <a:r>
              <a:rPr lang="ru-RU" sz="2000" dirty="0"/>
              <a:t>В случай на грешка рутинната програма връща отрицателно число, което е отрицателната стойност на една от константите errno. </a:t>
            </a:r>
            <a:endParaRPr lang="ru-RU" sz="2000" dirty="0" smtClean="0"/>
          </a:p>
          <a:p>
            <a:pPr marL="839787" lvl="2" indent="0">
              <a:buNone/>
            </a:pPr>
            <a:r>
              <a:rPr lang="ru-RU" sz="2000" dirty="0" smtClean="0"/>
              <a:t>г) Когато </a:t>
            </a:r>
            <a:r>
              <a:rPr lang="ru-RU" sz="2000" dirty="0"/>
              <a:t>се върне отрицателна стойност, функцията на обвивката на библиотеката C я отрича (за да я направи положителна), копира резултата в errno и връща -1 като резултат от функцията на обвивката, за да покаже грешка на извикващата програма.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192367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Стандартна </a:t>
            </a:r>
            <a:r>
              <a:rPr lang="en-US" dirty="0"/>
              <a:t>C</a:t>
            </a:r>
            <a:r>
              <a:rPr lang="bg-BG" dirty="0"/>
              <a:t> библиотека</a:t>
            </a:r>
            <a:r>
              <a:rPr lang="en-US" dirty="0"/>
              <a:t> </a:t>
            </a:r>
            <a:r>
              <a:rPr lang="bg-BG" dirty="0" smtClean="0"/>
              <a:t>и </a:t>
            </a:r>
            <a:r>
              <a:rPr lang="en-US" dirty="0" err="1" smtClean="0"/>
              <a:t>glibc</a:t>
            </a:r>
            <a:r>
              <a:rPr lang="en-US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bg-BG" dirty="0" smtClean="0"/>
              <a:t>В </a:t>
            </a:r>
            <a:r>
              <a:rPr lang="en-US" dirty="0" smtClean="0"/>
              <a:t>Linux, </a:t>
            </a:r>
            <a:r>
              <a:rPr lang="bg-BG" dirty="0" smtClean="0"/>
              <a:t>терминът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блиотечната функция» </a:t>
            </a:r>
            <a:r>
              <a:rPr lang="ru-RU" dirty="0" smtClean="0"/>
              <a:t>обозначава една </a:t>
            </a:r>
            <a:r>
              <a:rPr lang="ru-RU" dirty="0"/>
              <a:t>от множеството функции, които </a:t>
            </a:r>
            <a:r>
              <a:rPr lang="ru-RU" dirty="0" smtClean="0"/>
              <a:t>са част от стандартната </a:t>
            </a:r>
            <a:r>
              <a:rPr lang="ru-RU" dirty="0"/>
              <a:t>библиотека на C</a:t>
            </a:r>
            <a:r>
              <a:rPr lang="ru-RU" dirty="0" smtClean="0"/>
              <a:t>.</a:t>
            </a:r>
          </a:p>
          <a:p>
            <a:r>
              <a:rPr lang="ru-RU" dirty="0" smtClean="0"/>
              <a:t>Много </a:t>
            </a:r>
            <a:r>
              <a:rPr lang="ru-RU" dirty="0"/>
              <a:t>библиотечни функции не използват системни повиквания (например функциите за обработка на низове</a:t>
            </a:r>
            <a:r>
              <a:rPr lang="ru-RU" dirty="0" smtClean="0"/>
              <a:t>), но някои от библиотечни </a:t>
            </a:r>
            <a:r>
              <a:rPr lang="ru-RU" dirty="0"/>
              <a:t>функции са </a:t>
            </a:r>
            <a:r>
              <a:rPr lang="ru-RU" dirty="0" smtClean="0"/>
              <a:t>реализирани като обвивка (допълнителен абстрактен слой) върху конкретни системни </a:t>
            </a:r>
            <a:r>
              <a:rPr lang="ru-RU" dirty="0"/>
              <a:t>извиквания. </a:t>
            </a:r>
            <a:endParaRPr lang="ru-RU" dirty="0" smtClean="0"/>
          </a:p>
          <a:p>
            <a:pPr lvl="1"/>
            <a:r>
              <a:rPr lang="ru-RU" dirty="0" smtClean="0"/>
              <a:t>Пример: </a:t>
            </a:r>
          </a:p>
          <a:p>
            <a:pPr lvl="2"/>
            <a:r>
              <a:rPr lang="ru-RU" dirty="0" smtClean="0"/>
              <a:t>функция </a:t>
            </a:r>
            <a:r>
              <a:rPr lang="ru-RU" i="1" dirty="0"/>
              <a:t>fopen() </a:t>
            </a:r>
            <a:r>
              <a:rPr lang="ru-RU" dirty="0"/>
              <a:t>използва системното извикване </a:t>
            </a:r>
            <a:r>
              <a:rPr lang="ru-RU" i="1" dirty="0"/>
              <a:t>open</a:t>
            </a:r>
            <a:r>
              <a:rPr lang="ru-RU" i="1" dirty="0" smtClean="0"/>
              <a:t>() </a:t>
            </a:r>
            <a:r>
              <a:rPr lang="ru-RU" dirty="0"/>
              <a:t>за да отвори файл. </a:t>
            </a:r>
            <a:endParaRPr lang="ru-RU" dirty="0" smtClean="0"/>
          </a:p>
          <a:p>
            <a:r>
              <a:rPr lang="ru-RU" dirty="0" smtClean="0"/>
              <a:t>Често </a:t>
            </a:r>
            <a:r>
              <a:rPr lang="ru-RU" dirty="0"/>
              <a:t>библиотечните функции са проектирани така, че да предоставят по-удобен </a:t>
            </a:r>
            <a:r>
              <a:rPr lang="ru-RU" dirty="0" smtClean="0"/>
              <a:t>интерфейс за използване от </a:t>
            </a:r>
            <a:r>
              <a:rPr lang="ru-RU" dirty="0"/>
              <a:t>базовото системно извикване. </a:t>
            </a:r>
            <a:endParaRPr lang="ru-RU" dirty="0" smtClean="0"/>
          </a:p>
          <a:p>
            <a:pPr lvl="1"/>
            <a:r>
              <a:rPr lang="ru-RU" dirty="0" smtClean="0"/>
              <a:t>Пример: </a:t>
            </a:r>
          </a:p>
          <a:p>
            <a:pPr lvl="2"/>
            <a:r>
              <a:rPr lang="ru-RU" dirty="0" smtClean="0"/>
              <a:t>функцията </a:t>
            </a:r>
            <a:r>
              <a:rPr lang="ru-RU" i="1" dirty="0"/>
              <a:t>printf()</a:t>
            </a:r>
            <a:r>
              <a:rPr lang="ru-RU" dirty="0"/>
              <a:t> осигурява форматиране на изхода и буфериране на данните, докато системното извикване </a:t>
            </a:r>
            <a:r>
              <a:rPr lang="ru-RU" i="1" dirty="0"/>
              <a:t>write() </a:t>
            </a:r>
            <a:r>
              <a:rPr lang="ru-RU" dirty="0"/>
              <a:t>просто извежда блок от байтове. </a:t>
            </a:r>
            <a:endParaRPr lang="ru-RU" dirty="0" smtClean="0"/>
          </a:p>
          <a:p>
            <a:pPr lvl="2"/>
            <a:r>
              <a:rPr lang="ru-RU" dirty="0" smtClean="0"/>
              <a:t>функциите </a:t>
            </a:r>
            <a:r>
              <a:rPr lang="ru-RU" i="1" dirty="0"/>
              <a:t>malloc() </a:t>
            </a:r>
            <a:r>
              <a:rPr lang="ru-RU" dirty="0"/>
              <a:t>и </a:t>
            </a:r>
            <a:r>
              <a:rPr lang="ru-RU" i="1" dirty="0"/>
              <a:t>free() </a:t>
            </a:r>
            <a:r>
              <a:rPr lang="ru-RU" dirty="0" smtClean="0"/>
              <a:t>са много </a:t>
            </a:r>
            <a:r>
              <a:rPr lang="ru-RU" dirty="0"/>
              <a:t>по-лесен начин за заделяне и освобождаване на </a:t>
            </a:r>
            <a:r>
              <a:rPr lang="ru-RU" dirty="0" smtClean="0"/>
              <a:t>памет в сравнение с основното </a:t>
            </a:r>
            <a:r>
              <a:rPr lang="ru-RU" dirty="0"/>
              <a:t>системно извикване </a:t>
            </a:r>
            <a:r>
              <a:rPr lang="ru-RU" i="1" dirty="0"/>
              <a:t>brk().</a:t>
            </a:r>
            <a:endParaRPr lang="bg-BG" i="1" dirty="0"/>
          </a:p>
        </p:txBody>
      </p:sp>
    </p:spTree>
    <p:extLst>
      <p:ext uri="{BB962C8B-B14F-4D97-AF65-F5344CB8AC3E}">
        <p14:creationId xmlns:p14="http://schemas.microsoft.com/office/powerpoint/2010/main" val="27937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Стандартна </a:t>
            </a:r>
            <a:r>
              <a:rPr lang="en-US" dirty="0"/>
              <a:t>C</a:t>
            </a:r>
            <a:r>
              <a:rPr lang="bg-BG" dirty="0"/>
              <a:t> библиотека</a:t>
            </a:r>
            <a:r>
              <a:rPr lang="en-US" dirty="0"/>
              <a:t> </a:t>
            </a:r>
            <a:r>
              <a:rPr lang="bg-BG" dirty="0" smtClean="0"/>
              <a:t>и </a:t>
            </a:r>
            <a:r>
              <a:rPr lang="en-US" dirty="0" err="1" smtClean="0"/>
              <a:t>glibc</a:t>
            </a:r>
            <a:r>
              <a:rPr lang="en-US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Съществуват различни имплементации на стандартната библиотека C в различните имплементации на UNIX. </a:t>
            </a:r>
            <a:endParaRPr lang="ru-RU" sz="2800" dirty="0" smtClean="0"/>
          </a:p>
          <a:p>
            <a:pPr lvl="1"/>
            <a:r>
              <a:rPr lang="ru-RU" sz="2400" dirty="0" smtClean="0"/>
              <a:t>Най-често </a:t>
            </a:r>
            <a:r>
              <a:rPr lang="ru-RU" sz="2400" dirty="0"/>
              <a:t>използваната реализация в Linux е библиотеката </a:t>
            </a:r>
            <a:r>
              <a:rPr lang="ru-RU" sz="2400" dirty="0" smtClean="0"/>
              <a:t>glibc (</a:t>
            </a:r>
            <a:r>
              <a:rPr lang="ru-RU" sz="2400" dirty="0"/>
              <a:t>GNU </a:t>
            </a:r>
            <a:r>
              <a:rPr lang="ru-RU" sz="2400" dirty="0" smtClean="0"/>
              <a:t>C, </a:t>
            </a:r>
            <a:r>
              <a:rPr lang="ru-RU" sz="2400" dirty="0"/>
              <a:t>http://www.gnu.org/software/libc</a:t>
            </a:r>
            <a:r>
              <a:rPr lang="ru-RU" sz="2400" dirty="0" smtClean="0"/>
              <a:t>/).</a:t>
            </a:r>
          </a:p>
          <a:p>
            <a:pPr lvl="2"/>
            <a:r>
              <a:rPr lang="ru-RU" sz="2000" dirty="0" smtClean="0"/>
              <a:t>Текущата версия </a:t>
            </a:r>
            <a:r>
              <a:rPr lang="bg-BG" sz="2000" dirty="0" smtClean="0"/>
              <a:t>на </a:t>
            </a:r>
            <a:r>
              <a:rPr lang="en-US" sz="2000" dirty="0" err="1" smtClean="0"/>
              <a:t>glibc</a:t>
            </a:r>
            <a:r>
              <a:rPr lang="bg-BG" sz="2000" dirty="0" smtClean="0"/>
              <a:t> се проверява откъм </a:t>
            </a:r>
            <a:r>
              <a:rPr lang="en-US" sz="2000" dirty="0" smtClean="0"/>
              <a:t>shell</a:t>
            </a:r>
            <a:r>
              <a:rPr lang="bg-BG" sz="2000" dirty="0" smtClean="0"/>
              <a:t> с командата</a:t>
            </a:r>
          </a:p>
          <a:p>
            <a:pPr marL="842962" lvl="2" indent="0">
              <a:buNone/>
            </a:pPr>
            <a:r>
              <a:rPr lang="bg-BG" dirty="0" smtClean="0"/>
              <a:t>		</a:t>
            </a:r>
            <a:r>
              <a:rPr lang="en-US" sz="2000" dirty="0" smtClean="0">
                <a:solidFill>
                  <a:srgbClr val="CD7009"/>
                </a:solidFill>
              </a:rPr>
              <a:t>$ </a:t>
            </a:r>
            <a:r>
              <a:rPr lang="en-US" sz="2000" dirty="0">
                <a:solidFill>
                  <a:srgbClr val="CD7009"/>
                </a:solidFill>
              </a:rPr>
              <a:t>/</a:t>
            </a:r>
            <a:r>
              <a:rPr lang="en-US" sz="2000" dirty="0" smtClean="0">
                <a:solidFill>
                  <a:srgbClr val="CD7009"/>
                </a:solidFill>
              </a:rPr>
              <a:t>lib/libc.so.6</a:t>
            </a:r>
            <a:endParaRPr lang="bg-BG" sz="2000" dirty="0" smtClean="0">
              <a:solidFill>
                <a:srgbClr val="CD7009"/>
              </a:solidFill>
            </a:endParaRPr>
          </a:p>
          <a:p>
            <a:pPr lvl="2"/>
            <a:r>
              <a:rPr lang="ru-RU" sz="2100" dirty="0"/>
              <a:t>В някои дистрибуции, директорията на </a:t>
            </a:r>
            <a:r>
              <a:rPr lang="en-US" sz="2100" dirty="0" err="1"/>
              <a:t>glibc</a:t>
            </a:r>
            <a:r>
              <a:rPr lang="bg-BG" sz="2100" dirty="0"/>
              <a:t> не е в </a:t>
            </a:r>
            <a:r>
              <a:rPr lang="en-US" sz="2100" dirty="0"/>
              <a:t>/</a:t>
            </a:r>
            <a:r>
              <a:rPr lang="en-US" sz="2100" dirty="0"/>
              <a:t>lib/libc.so.6</a:t>
            </a:r>
            <a:r>
              <a:rPr lang="bg-BG" sz="2100" dirty="0"/>
              <a:t>. </a:t>
            </a:r>
            <a:r>
              <a:rPr lang="bg-BG" sz="2100" dirty="0"/>
              <a:t>Това се проверява с </a:t>
            </a:r>
            <a:r>
              <a:rPr lang="bg-BG" sz="2100" dirty="0" smtClean="0"/>
              <a:t>командата:</a:t>
            </a:r>
            <a:endParaRPr lang="bg-BG" sz="2100" dirty="0"/>
          </a:p>
          <a:p>
            <a:pPr marL="842962" lvl="2" indent="0">
              <a:buNone/>
            </a:pPr>
            <a:r>
              <a:rPr lang="bg-BG" sz="2000" dirty="0"/>
              <a:t>		</a:t>
            </a:r>
            <a:r>
              <a:rPr lang="en-US" sz="2100" dirty="0">
                <a:solidFill>
                  <a:srgbClr val="CD7009"/>
                </a:solidFill>
              </a:rPr>
              <a:t>$ </a:t>
            </a:r>
            <a:r>
              <a:rPr lang="en-US" sz="2100" dirty="0" err="1">
                <a:solidFill>
                  <a:srgbClr val="CD7009"/>
                </a:solidFill>
              </a:rPr>
              <a:t>ldd</a:t>
            </a:r>
            <a:r>
              <a:rPr lang="en-US" sz="2100" dirty="0">
                <a:solidFill>
                  <a:srgbClr val="CD7009"/>
                </a:solidFill>
              </a:rPr>
              <a:t> </a:t>
            </a:r>
            <a:r>
              <a:rPr lang="en-US" sz="2100" dirty="0" err="1">
                <a:solidFill>
                  <a:srgbClr val="CD7009"/>
                </a:solidFill>
              </a:rPr>
              <a:t>myprog</a:t>
            </a:r>
            <a:r>
              <a:rPr lang="en-US" sz="2100" dirty="0">
                <a:solidFill>
                  <a:srgbClr val="CD7009"/>
                </a:solidFill>
              </a:rPr>
              <a:t> | </a:t>
            </a:r>
            <a:r>
              <a:rPr lang="en-US" sz="2100" dirty="0" err="1">
                <a:solidFill>
                  <a:srgbClr val="CD7009"/>
                </a:solidFill>
              </a:rPr>
              <a:t>grep</a:t>
            </a:r>
            <a:r>
              <a:rPr lang="en-US" sz="2100" dirty="0">
                <a:solidFill>
                  <a:srgbClr val="CD7009"/>
                </a:solidFill>
              </a:rPr>
              <a:t> </a:t>
            </a:r>
            <a:r>
              <a:rPr lang="en-US" sz="2100" dirty="0" err="1" smtClean="0">
                <a:solidFill>
                  <a:srgbClr val="CD7009"/>
                </a:solidFill>
              </a:rPr>
              <a:t>libc</a:t>
            </a:r>
            <a:endParaRPr lang="bg-BG" sz="2100" dirty="0" smtClean="0">
              <a:solidFill>
                <a:srgbClr val="CD7009"/>
              </a:solidFill>
            </a:endParaRPr>
          </a:p>
          <a:p>
            <a:pPr lvl="2"/>
            <a:r>
              <a:rPr lang="bg-BG" sz="2100" dirty="0"/>
              <a:t>Може да се използва и проверка от самата изпълнима програма.</a:t>
            </a:r>
          </a:p>
          <a:p>
            <a:pPr marL="842962" lvl="2" indent="0">
              <a:buNone/>
            </a:pPr>
            <a:r>
              <a:rPr lang="bg-BG" dirty="0"/>
              <a:t>		</a:t>
            </a:r>
            <a:r>
              <a:rPr lang="en-US" sz="2100" dirty="0" smtClean="0">
                <a:solidFill>
                  <a:srgbClr val="CD7009"/>
                </a:solidFill>
              </a:rPr>
              <a:t>#</a:t>
            </a:r>
            <a:r>
              <a:rPr lang="en-US" sz="2100" dirty="0">
                <a:solidFill>
                  <a:srgbClr val="CD7009"/>
                </a:solidFill>
              </a:rPr>
              <a:t>include &lt;gnu/</a:t>
            </a:r>
            <a:r>
              <a:rPr lang="en-US" sz="2100" dirty="0" err="1">
                <a:solidFill>
                  <a:srgbClr val="CD7009"/>
                </a:solidFill>
              </a:rPr>
              <a:t>libc-version.h</a:t>
            </a:r>
            <a:r>
              <a:rPr lang="en-US" sz="2100" dirty="0">
                <a:solidFill>
                  <a:srgbClr val="CD7009"/>
                </a:solidFill>
              </a:rPr>
              <a:t>&gt;</a:t>
            </a:r>
          </a:p>
          <a:p>
            <a:pPr marL="842962" lvl="2" indent="0">
              <a:buNone/>
            </a:pPr>
            <a:r>
              <a:rPr lang="bg-BG" dirty="0"/>
              <a:t>		</a:t>
            </a:r>
            <a:r>
              <a:rPr lang="en-US" sz="2100" dirty="0" err="1" smtClean="0">
                <a:solidFill>
                  <a:srgbClr val="CD7009"/>
                </a:solidFill>
              </a:rPr>
              <a:t>const</a:t>
            </a:r>
            <a:r>
              <a:rPr lang="en-US" sz="2100" dirty="0" smtClean="0">
                <a:solidFill>
                  <a:srgbClr val="CD7009"/>
                </a:solidFill>
              </a:rPr>
              <a:t> </a:t>
            </a:r>
            <a:r>
              <a:rPr lang="en-US" sz="2100" dirty="0">
                <a:solidFill>
                  <a:srgbClr val="CD7009"/>
                </a:solidFill>
              </a:rPr>
              <a:t>char *</a:t>
            </a:r>
            <a:r>
              <a:rPr lang="en-US" sz="2100" dirty="0" err="1">
                <a:solidFill>
                  <a:srgbClr val="CD7009"/>
                </a:solidFill>
              </a:rPr>
              <a:t>gnu_get_libc_version</a:t>
            </a:r>
            <a:r>
              <a:rPr lang="en-US" sz="2100" dirty="0">
                <a:solidFill>
                  <a:srgbClr val="CD7009"/>
                </a:solidFill>
              </a:rPr>
              <a:t>(void);</a:t>
            </a:r>
            <a:endParaRPr lang="ru-RU" sz="2100" dirty="0">
              <a:solidFill>
                <a:srgbClr val="CD7009"/>
              </a:solidFill>
            </a:endParaRPr>
          </a:p>
          <a:p>
            <a:r>
              <a:rPr lang="ru-RU" sz="2800" dirty="0" smtClean="0"/>
              <a:t>За Linux са налични различни други библиотеки на C, включително библиотеки с по-малки изисквания към паметта за използване в приложения за вградени устройства. </a:t>
            </a:r>
          </a:p>
          <a:p>
            <a:pPr lvl="1"/>
            <a:r>
              <a:rPr lang="ru-RU" sz="2400" dirty="0" smtClean="0"/>
              <a:t>Примери:</a:t>
            </a:r>
          </a:p>
          <a:p>
            <a:pPr lvl="2"/>
            <a:r>
              <a:rPr lang="ru-RU" sz="2000" dirty="0" smtClean="0"/>
              <a:t>uClibc </a:t>
            </a:r>
            <a:r>
              <a:rPr lang="ru-RU" sz="2000" dirty="0"/>
              <a:t>(http://www.uclibc.org/) </a:t>
            </a:r>
            <a:endParaRPr lang="ru-RU" sz="2000" dirty="0" smtClean="0"/>
          </a:p>
          <a:p>
            <a:pPr lvl="2"/>
            <a:r>
              <a:rPr lang="ru-RU" sz="2000" dirty="0" smtClean="0"/>
              <a:t>diet </a:t>
            </a:r>
            <a:r>
              <a:rPr lang="ru-RU" sz="2000" dirty="0"/>
              <a:t>libc (http://www.fefe.de/dietlibc/).</a:t>
            </a:r>
            <a:endParaRPr lang="bg-BG" sz="2000" i="1" dirty="0"/>
          </a:p>
        </p:txBody>
      </p:sp>
    </p:spTree>
    <p:extLst>
      <p:ext uri="{BB962C8B-B14F-4D97-AF65-F5344CB8AC3E}">
        <p14:creationId xmlns:p14="http://schemas.microsoft.com/office/powerpoint/2010/main" val="374566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Стандартна </a:t>
            </a:r>
            <a:r>
              <a:rPr lang="en-US" dirty="0"/>
              <a:t>C</a:t>
            </a:r>
            <a:r>
              <a:rPr lang="bg-BG" dirty="0"/>
              <a:t> библиотека</a:t>
            </a:r>
            <a:r>
              <a:rPr lang="en-US" dirty="0"/>
              <a:t> </a:t>
            </a:r>
            <a:r>
              <a:rPr lang="bg-BG" dirty="0" smtClean="0"/>
              <a:t>и </a:t>
            </a:r>
            <a:r>
              <a:rPr lang="en-US" dirty="0" err="1" smtClean="0"/>
              <a:t>glibc</a:t>
            </a:r>
            <a:r>
              <a:rPr lang="en-US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bg-BG" sz="2800" dirty="0" smtClean="0"/>
              <a:t>Функциите (</a:t>
            </a:r>
            <a:r>
              <a:rPr lang="ru-RU" sz="2800" dirty="0" smtClean="0"/>
              <a:t>системни и библиотечни) връща </a:t>
            </a:r>
            <a:r>
              <a:rPr lang="ru-RU" sz="2800" i="1" dirty="0" smtClean="0"/>
              <a:t>стойност </a:t>
            </a:r>
            <a:r>
              <a:rPr lang="ru-RU" sz="2800" i="1" dirty="0"/>
              <a:t>на </a:t>
            </a:r>
            <a:r>
              <a:rPr lang="ru-RU" sz="2800" i="1" dirty="0" smtClean="0"/>
              <a:t>състоянието на звършване.</a:t>
            </a:r>
          </a:p>
          <a:p>
            <a:pPr lvl="1">
              <a:spcBef>
                <a:spcPts val="0"/>
              </a:spcBef>
            </a:pPr>
            <a:r>
              <a:rPr lang="ru-RU" sz="2400" i="1" dirty="0" smtClean="0"/>
              <a:t>Връщатанта стойност </a:t>
            </a:r>
            <a:r>
              <a:rPr lang="ru-RU" sz="2400" dirty="0" smtClean="0"/>
              <a:t>показва </a:t>
            </a:r>
            <a:r>
              <a:rPr lang="ru-RU" sz="2400" dirty="0"/>
              <a:t>дали извикването е успешно или не. </a:t>
            </a:r>
            <a:endParaRPr lang="ru-RU" sz="2400" dirty="0" smtClean="0"/>
          </a:p>
          <a:p>
            <a:pPr lvl="2">
              <a:spcBef>
                <a:spcPts val="0"/>
              </a:spcBef>
            </a:pPr>
            <a:r>
              <a:rPr lang="ru-RU" sz="2000" dirty="0" smtClean="0"/>
              <a:t>По конвенция трябва винаги да се проверява. 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Ако </a:t>
            </a:r>
            <a:r>
              <a:rPr lang="ru-RU" sz="2400" dirty="0"/>
              <a:t>не </a:t>
            </a:r>
            <a:r>
              <a:rPr lang="ru-RU" sz="2400" dirty="0" smtClean="0"/>
              <a:t>е завършено успешно работата, то са необходими конкретни действия за обработка.</a:t>
            </a:r>
          </a:p>
          <a:p>
            <a:pPr lvl="2">
              <a:spcBef>
                <a:spcPts val="0"/>
              </a:spcBef>
            </a:pPr>
            <a:r>
              <a:rPr lang="ru-RU" sz="2000" dirty="0" smtClean="0"/>
              <a:t>Най-малкото </a:t>
            </a:r>
            <a:r>
              <a:rPr lang="ru-RU" sz="2000" dirty="0"/>
              <a:t>програмата трябва да покаже съобщение за грешка, предупреждаващо, че се е случило нещо неочаквано.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012" y="4241805"/>
            <a:ext cx="7461334" cy="229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8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Стандартна </a:t>
            </a:r>
            <a:r>
              <a:rPr lang="en-US" dirty="0"/>
              <a:t>C</a:t>
            </a:r>
            <a:r>
              <a:rPr lang="bg-BG" dirty="0"/>
              <a:t> библиотека</a:t>
            </a:r>
            <a:r>
              <a:rPr lang="en-US" dirty="0"/>
              <a:t> </a:t>
            </a:r>
            <a:r>
              <a:rPr lang="bg-BG" dirty="0" smtClean="0"/>
              <a:t>и </a:t>
            </a:r>
            <a:r>
              <a:rPr lang="en-US" dirty="0" err="1" smtClean="0"/>
              <a:t>glibc</a:t>
            </a:r>
            <a:r>
              <a:rPr lang="en-US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bg-BG" sz="2800" dirty="0" smtClean="0"/>
              <a:t>Функциите (</a:t>
            </a:r>
            <a:r>
              <a:rPr lang="ru-RU" sz="2800" dirty="0" smtClean="0"/>
              <a:t>системни и библиотечни) връща </a:t>
            </a:r>
            <a:r>
              <a:rPr lang="ru-RU" sz="2800" i="1" dirty="0" smtClean="0"/>
              <a:t>стойност </a:t>
            </a:r>
            <a:r>
              <a:rPr lang="ru-RU" sz="2800" i="1" dirty="0"/>
              <a:t>на </a:t>
            </a:r>
            <a:r>
              <a:rPr lang="ru-RU" sz="2800" i="1" dirty="0" smtClean="0"/>
              <a:t>състоянието на звършване.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sz="2400" i="1" dirty="0" smtClean="0"/>
              <a:t>Връщатанта стойност </a:t>
            </a:r>
            <a:r>
              <a:rPr lang="ru-RU" sz="2400" dirty="0" smtClean="0"/>
              <a:t>показва </a:t>
            </a:r>
            <a:r>
              <a:rPr lang="ru-RU" sz="2400" dirty="0"/>
              <a:t>дали извикването е успешно или не. </a:t>
            </a:r>
            <a:endParaRPr lang="ru-RU" sz="2400" dirty="0" smtClean="0"/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По конвенция трябва винаги да се проверява.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sz="2400" dirty="0" smtClean="0"/>
              <a:t>Ако </a:t>
            </a:r>
            <a:r>
              <a:rPr lang="ru-RU" sz="2400" dirty="0"/>
              <a:t>не </a:t>
            </a:r>
            <a:r>
              <a:rPr lang="ru-RU" sz="2400" dirty="0" smtClean="0"/>
              <a:t>е завършено успешно работата, то са необходими конкретни действия за обработка.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Най-малкото </a:t>
            </a:r>
            <a:r>
              <a:rPr lang="ru-RU" sz="2000" dirty="0"/>
              <a:t>програмата трябва да покаже съобщение за грешка, предупреждаващо, че се е случило нещо неочаквано.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800" dirty="0" smtClean="0"/>
              <a:t>Няколко </a:t>
            </a:r>
            <a:r>
              <a:rPr lang="ru-RU" sz="2800" dirty="0"/>
              <a:t>системни извиквания никога не се </a:t>
            </a:r>
            <a:r>
              <a:rPr lang="ru-RU" sz="2800" dirty="0" smtClean="0"/>
              <a:t>провалят и затова не </a:t>
            </a:r>
            <a:r>
              <a:rPr lang="ru-RU" sz="2800" dirty="0"/>
              <a:t>е необходимо да проверявате върнатите стойности от такива системни извиквания</a:t>
            </a:r>
            <a:r>
              <a:rPr lang="ru-RU" sz="2800" dirty="0" smtClean="0"/>
              <a:t>.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sz="2400" dirty="0" smtClean="0"/>
              <a:t>Например: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функцията </a:t>
            </a:r>
            <a:r>
              <a:rPr lang="ru-RU" sz="2000" dirty="0"/>
              <a:t>getpid() винаги успешно връща идентификатора на </a:t>
            </a:r>
            <a:r>
              <a:rPr lang="ru-RU" sz="2000" dirty="0" smtClean="0"/>
              <a:t>процеса; 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функцията </a:t>
            </a:r>
            <a:r>
              <a:rPr lang="ru-RU" sz="2000" dirty="0"/>
              <a:t>_exit() винаги прекратява процеса</a:t>
            </a:r>
            <a:r>
              <a:rPr lang="ru-RU" sz="2000" dirty="0" smtClean="0"/>
              <a:t>.</a:t>
            </a:r>
            <a:endParaRPr lang="bg-BG" sz="1200" i="1" dirty="0"/>
          </a:p>
        </p:txBody>
      </p:sp>
    </p:spTree>
    <p:extLst>
      <p:ext uri="{BB962C8B-B14F-4D97-AF65-F5344CB8AC3E}">
        <p14:creationId xmlns:p14="http://schemas.microsoft.com/office/powerpoint/2010/main" val="304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Стандартна </a:t>
            </a:r>
            <a:r>
              <a:rPr lang="en-US" dirty="0"/>
              <a:t>C</a:t>
            </a:r>
            <a:r>
              <a:rPr lang="bg-BG" dirty="0"/>
              <a:t> библиотека</a:t>
            </a:r>
            <a:r>
              <a:rPr lang="en-US" dirty="0"/>
              <a:t> </a:t>
            </a:r>
            <a:r>
              <a:rPr lang="bg-BG" dirty="0" smtClean="0"/>
              <a:t>и </a:t>
            </a:r>
            <a:r>
              <a:rPr lang="en-US" dirty="0" err="1" smtClean="0"/>
              <a:t>glibc</a:t>
            </a:r>
            <a:r>
              <a:rPr lang="en-US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bg-BG" sz="2800" dirty="0" smtClean="0"/>
              <a:t>Функциите (</a:t>
            </a:r>
            <a:r>
              <a:rPr lang="ru-RU" sz="2800" dirty="0" smtClean="0"/>
              <a:t>системни и библиотечни) връща </a:t>
            </a:r>
            <a:r>
              <a:rPr lang="ru-RU" sz="2800" i="1" dirty="0" smtClean="0"/>
              <a:t>стойност </a:t>
            </a:r>
            <a:r>
              <a:rPr lang="ru-RU" sz="2800" i="1" dirty="0"/>
              <a:t>на </a:t>
            </a:r>
            <a:r>
              <a:rPr lang="ru-RU" sz="2800" i="1" dirty="0" smtClean="0"/>
              <a:t>състоянието на звършване.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sz="2400" i="1" dirty="0" smtClean="0"/>
              <a:t>Връщатанта стойност </a:t>
            </a:r>
            <a:r>
              <a:rPr lang="ru-RU" sz="2400" dirty="0" smtClean="0"/>
              <a:t>показва </a:t>
            </a:r>
            <a:r>
              <a:rPr lang="ru-RU" sz="2400" dirty="0"/>
              <a:t>дали извикването е успешно или не. </a:t>
            </a:r>
            <a:endParaRPr lang="ru-RU" sz="2400" dirty="0" smtClean="0"/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По конвенция трябва винаги да се проверява.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sz="2400" dirty="0" smtClean="0"/>
              <a:t>Ако </a:t>
            </a:r>
            <a:r>
              <a:rPr lang="ru-RU" sz="2400" dirty="0"/>
              <a:t>не </a:t>
            </a:r>
            <a:r>
              <a:rPr lang="ru-RU" sz="2400" dirty="0" smtClean="0"/>
              <a:t>е завършено успешно работата, то са необходими конкретни действия за обработка.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Най-малкото </a:t>
            </a:r>
            <a:r>
              <a:rPr lang="ru-RU" sz="2000" dirty="0"/>
              <a:t>програмата трябва да покаже съобщение за грешка, предупреждаващо, че се е случило нещо неочаквано.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Няколко системни извиквания </a:t>
            </a:r>
            <a:r>
              <a:rPr lang="ru-RU" sz="2800" dirty="0" smtClean="0"/>
              <a:t>връщат -</a:t>
            </a:r>
            <a:r>
              <a:rPr lang="ru-RU" sz="2800" dirty="0"/>
              <a:t>1 при успех. </a:t>
            </a:r>
            <a:endParaRPr lang="ru-RU" sz="2800" dirty="0" smtClean="0"/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sz="2400" dirty="0" smtClean="0"/>
              <a:t>За </a:t>
            </a:r>
            <a:r>
              <a:rPr lang="ru-RU" sz="2400" dirty="0"/>
              <a:t>да определим дали при такива извиквания се появява грешка, задаваме errno на 0 преди извикването и след това го проверяваме след това. </a:t>
            </a:r>
            <a:endParaRPr lang="ru-RU" sz="2400" dirty="0" smtClean="0"/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Ако </a:t>
            </a:r>
            <a:r>
              <a:rPr lang="ru-RU" sz="2000" dirty="0"/>
              <a:t>извикването върне -1 и errno е ненулево, значи е възникнала грешка. </a:t>
            </a:r>
            <a:endParaRPr lang="ru-RU" sz="2000" dirty="0" smtClean="0"/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ru-RU" sz="2000" dirty="0" smtClean="0"/>
              <a:t>Пример: </a:t>
            </a:r>
            <a:r>
              <a:rPr lang="ru-RU" sz="2000" dirty="0"/>
              <a:t>getpriority()</a:t>
            </a:r>
            <a:endParaRPr lang="ru-RU" sz="2000" dirty="0" smtClean="0"/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ru-RU" sz="2400" dirty="0" smtClean="0"/>
              <a:t>Подобно </a:t>
            </a:r>
            <a:r>
              <a:rPr lang="ru-RU" sz="2400" dirty="0"/>
              <a:t>твърдение се прилага и за няколко библиотечни функции</a:t>
            </a:r>
            <a:r>
              <a:rPr lang="ru-RU" sz="2400" dirty="0" smtClean="0"/>
              <a:t>.</a:t>
            </a:r>
            <a:endParaRPr lang="bg-BG" sz="800" i="1" dirty="0"/>
          </a:p>
        </p:txBody>
      </p:sp>
    </p:spTree>
    <p:extLst>
      <p:ext uri="{BB962C8B-B14F-4D97-AF65-F5344CB8AC3E}">
        <p14:creationId xmlns:p14="http://schemas.microsoft.com/office/powerpoint/2010/main" val="307180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Стандартна </a:t>
            </a:r>
            <a:r>
              <a:rPr lang="en-US" dirty="0"/>
              <a:t>C</a:t>
            </a:r>
            <a:r>
              <a:rPr lang="bg-BG" dirty="0"/>
              <a:t> библиотека</a:t>
            </a:r>
            <a:r>
              <a:rPr lang="en-US" dirty="0"/>
              <a:t> </a:t>
            </a:r>
            <a:r>
              <a:rPr lang="bg-BG" dirty="0" smtClean="0"/>
              <a:t>и </a:t>
            </a:r>
            <a:r>
              <a:rPr lang="en-US" dirty="0" err="1" smtClean="0"/>
              <a:t>glibc</a:t>
            </a:r>
            <a:r>
              <a:rPr lang="en-US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bg-BG" sz="2800" dirty="0" smtClean="0"/>
              <a:t>Системни кодове за грешка</a:t>
            </a:r>
            <a:endParaRPr lang="bg-BG" sz="8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12" y="1171575"/>
            <a:ext cx="5773136" cy="558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4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</a:t>
            </a:r>
            <a:r>
              <a:rPr lang="bg-BG" dirty="0"/>
              <a:t> </a:t>
            </a:r>
            <a:r>
              <a:rPr lang="en-US" dirty="0" smtClean="0"/>
              <a:t>API</a:t>
            </a:r>
            <a:r>
              <a:rPr lang="bg-BG" dirty="0" smtClean="0"/>
              <a:t>: Системни типове данни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Проблем:</a:t>
            </a:r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 : 16 </a:t>
            </a:r>
            <a:r>
              <a:rPr lang="bg-BG" dirty="0" smtClean="0"/>
              <a:t>битови до </a:t>
            </a:r>
            <a:r>
              <a:rPr lang="en-US" dirty="0"/>
              <a:t>Linux </a:t>
            </a:r>
            <a:r>
              <a:rPr lang="en-US" dirty="0" smtClean="0"/>
              <a:t>2.2</a:t>
            </a:r>
            <a:r>
              <a:rPr lang="bg-BG" dirty="0" smtClean="0"/>
              <a:t>, а след това са 32 битови</a:t>
            </a:r>
          </a:p>
          <a:p>
            <a:pPr lvl="1"/>
            <a:r>
              <a:rPr lang="en-US" dirty="0" smtClean="0"/>
              <a:t>long : 4 </a:t>
            </a:r>
            <a:r>
              <a:rPr lang="bg-BG" dirty="0" smtClean="0"/>
              <a:t>байта</a:t>
            </a:r>
            <a:r>
              <a:rPr lang="en-US" dirty="0" smtClean="0"/>
              <a:t> </a:t>
            </a:r>
            <a:r>
              <a:rPr lang="bg-BG" dirty="0" smtClean="0"/>
              <a:t>или </a:t>
            </a:r>
            <a:r>
              <a:rPr lang="en-US" dirty="0" smtClean="0"/>
              <a:t>8 </a:t>
            </a:r>
            <a:r>
              <a:rPr lang="bg-BG" dirty="0" smtClean="0"/>
              <a:t>байта</a:t>
            </a:r>
          </a:p>
          <a:p>
            <a:pPr lvl="1"/>
            <a:r>
              <a:rPr lang="bg-BG" dirty="0" smtClean="0"/>
              <a:t>Идентификатор на процеса (</a:t>
            </a:r>
            <a:r>
              <a:rPr lang="en-US" dirty="0" smtClean="0"/>
              <a:t>PID): </a:t>
            </a:r>
            <a:r>
              <a:rPr lang="bg-BG" dirty="0" smtClean="0"/>
              <a:t>в някои версии е </a:t>
            </a:r>
            <a:r>
              <a:rPr lang="en-US" i="1" dirty="0" err="1" smtClean="0"/>
              <a:t>int</a:t>
            </a:r>
            <a:r>
              <a:rPr lang="en-US" dirty="0" smtClean="0"/>
              <a:t>, </a:t>
            </a:r>
            <a:r>
              <a:rPr lang="bg-BG" dirty="0" smtClean="0"/>
              <a:t>а в други е </a:t>
            </a:r>
            <a:r>
              <a:rPr lang="en-US" i="1" dirty="0" smtClean="0"/>
              <a:t>long</a:t>
            </a:r>
            <a:r>
              <a:rPr lang="bg-BG" i="1" dirty="0" smtClean="0"/>
              <a:t>,</a:t>
            </a:r>
            <a:r>
              <a:rPr lang="bg-BG" dirty="0" smtClean="0"/>
              <a:t> защото  той би трябвало да е 4 байта.</a:t>
            </a:r>
          </a:p>
          <a:p>
            <a:r>
              <a:rPr lang="ru-RU" dirty="0" smtClean="0"/>
              <a:t>За всички </a:t>
            </a:r>
            <a:r>
              <a:rPr lang="en-US" dirty="0" smtClean="0"/>
              <a:t>Linux-</a:t>
            </a:r>
            <a:r>
              <a:rPr lang="bg-BG" dirty="0" smtClean="0"/>
              <a:t>дистрибуции се използват </a:t>
            </a:r>
            <a:r>
              <a:rPr lang="bg-BG" dirty="0" smtClean="0"/>
              <a:t>стандартни </a:t>
            </a:r>
            <a:r>
              <a:rPr lang="bg-BG" dirty="0" smtClean="0"/>
              <a:t>типове за системни данни, които отговарят на </a:t>
            </a:r>
            <a:r>
              <a:rPr lang="en-US" dirty="0" smtClean="0"/>
              <a:t>S</a:t>
            </a:r>
            <a:r>
              <a:rPr lang="ru-RU" dirty="0" smtClean="0"/>
              <a:t>USv3</a:t>
            </a:r>
            <a:endParaRPr lang="en-US" dirty="0" smtClean="0"/>
          </a:p>
          <a:p>
            <a:pPr lvl="1"/>
            <a:r>
              <a:rPr lang="bg-BG" dirty="0" smtClean="0"/>
              <a:t>Всеки от тези </a:t>
            </a:r>
            <a:r>
              <a:rPr lang="ru-RU" dirty="0" smtClean="0"/>
              <a:t>типове е дефиниран в езика </a:t>
            </a:r>
            <a:r>
              <a:rPr lang="ru-RU" dirty="0"/>
              <a:t>С </a:t>
            </a:r>
            <a:r>
              <a:rPr lang="ru-RU" dirty="0" smtClean="0"/>
              <a:t>чрез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typedef</a:t>
            </a:r>
            <a:r>
              <a:rPr lang="ru-RU" dirty="0"/>
              <a:t>. </a:t>
            </a:r>
            <a:endParaRPr lang="ru-RU" dirty="0" smtClean="0"/>
          </a:p>
          <a:p>
            <a:pPr lvl="2"/>
            <a:r>
              <a:rPr lang="ru-RU" dirty="0" smtClean="0"/>
              <a:t>Пример: </a:t>
            </a:r>
            <a:r>
              <a:rPr lang="bg-BG" dirty="0" smtClean="0"/>
              <a:t>типът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pid_t</a:t>
            </a:r>
            <a:r>
              <a:rPr lang="ru-RU" dirty="0" smtClean="0"/>
              <a:t> се използва за представяне на </a:t>
            </a:r>
            <a:r>
              <a:rPr lang="en-US" dirty="0" smtClean="0"/>
              <a:t>PID</a:t>
            </a:r>
            <a:r>
              <a:rPr lang="ru-RU" dirty="0" smtClean="0"/>
              <a:t>и </a:t>
            </a:r>
            <a:r>
              <a:rPr lang="ru-RU" dirty="0"/>
              <a:t>в Linux/x86-32 </a:t>
            </a:r>
            <a:r>
              <a:rPr lang="ru-RU" dirty="0" smtClean="0"/>
              <a:t>има вида:</a:t>
            </a:r>
          </a:p>
          <a:p>
            <a:pPr lvl="2"/>
            <a:r>
              <a:rPr lang="bg-BG" dirty="0" smtClean="0"/>
              <a:t>Обръщението има вида</a:t>
            </a:r>
            <a:endParaRPr lang="bg-BG" dirty="0"/>
          </a:p>
        </p:txBody>
      </p:sp>
      <p:sp>
        <p:nvSpPr>
          <p:cNvPr id="4" name="Rectangle 3"/>
          <p:cNvSpPr/>
          <p:nvPr/>
        </p:nvSpPr>
        <p:spPr>
          <a:xfrm>
            <a:off x="6856412" y="5715000"/>
            <a:ext cx="272382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Consolas" panose="020B0609020204030204" pitchFamily="49" charset="0"/>
              </a:rPr>
              <a:t>typedef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int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pid_t</a:t>
            </a:r>
            <a:r>
              <a:rPr lang="en-US" sz="2000" b="1" dirty="0">
                <a:latin typeface="Consolas" panose="020B0609020204030204" pitchFamily="49" charset="0"/>
              </a:rPr>
              <a:t>;</a:t>
            </a:r>
            <a:endParaRPr lang="bg-BG" sz="20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6412" y="6204737"/>
            <a:ext cx="187743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latin typeface="Consolas" panose="020B0609020204030204" pitchFamily="49" charset="0"/>
              </a:rPr>
              <a:t>pid_t</a:t>
            </a:r>
            <a:r>
              <a:rPr lang="bg-BG" sz="2000" b="1" dirty="0" smtClean="0">
                <a:latin typeface="Consolas" panose="020B0609020204030204" pitchFamily="49" charset="0"/>
              </a:rPr>
              <a:t> </a:t>
            </a:r>
            <a:r>
              <a:rPr lang="en-US" sz="2000" b="1" dirty="0" err="1" smtClean="0">
                <a:latin typeface="Consolas" panose="020B0609020204030204" pitchFamily="49" charset="0"/>
              </a:rPr>
              <a:t>prPID</a:t>
            </a:r>
            <a:r>
              <a:rPr lang="en-US" sz="2000" b="1" dirty="0" smtClean="0">
                <a:latin typeface="Consolas" panose="020B0609020204030204" pitchFamily="49" charset="0"/>
              </a:rPr>
              <a:t>;</a:t>
            </a:r>
            <a:endParaRPr lang="bg-BG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36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15" y="1143000"/>
            <a:ext cx="5414297" cy="56302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052" y="1104436"/>
            <a:ext cx="5445149" cy="5668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</a:t>
            </a:r>
            <a:r>
              <a:rPr lang="bg-BG" dirty="0"/>
              <a:t> </a:t>
            </a:r>
            <a:r>
              <a:rPr lang="en-US" dirty="0" smtClean="0"/>
              <a:t>API</a:t>
            </a:r>
            <a:r>
              <a:rPr lang="bg-BG" dirty="0" smtClean="0"/>
              <a:t>: Системни типове данни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Повечето стандартни типове завършват на 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_t</a:t>
            </a:r>
            <a:r>
              <a:rPr lang="bg-BG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i="1" dirty="0" smtClean="0"/>
          </a:p>
          <a:p>
            <a:pPr lvl="1"/>
            <a:r>
              <a:rPr lang="bg-BG" dirty="0" smtClean="0"/>
              <a:t>В </a:t>
            </a:r>
            <a:r>
              <a:rPr lang="en-US" dirty="0"/>
              <a:t>&lt;sys/</a:t>
            </a:r>
            <a:r>
              <a:rPr lang="en-US" dirty="0" err="1"/>
              <a:t>types.h</a:t>
            </a:r>
            <a:r>
              <a:rPr lang="en-US" dirty="0" smtClean="0"/>
              <a:t>&gt;</a:t>
            </a:r>
            <a:r>
              <a:rPr lang="bg-BG" dirty="0" smtClean="0"/>
              <a:t> е основното изброяване на системните типове, но някои са разположени и в други заглавни </a:t>
            </a:r>
            <a:r>
              <a:rPr lang="bg-BG" dirty="0" smtClean="0"/>
              <a:t>файлове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32309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bg-BG" dirty="0" smtClean="0"/>
          </a:p>
          <a:p>
            <a:pPr marL="0" indent="0" algn="ctr">
              <a:buNone/>
            </a:pPr>
            <a:endParaRPr lang="bg-BG" dirty="0"/>
          </a:p>
          <a:p>
            <a:pPr marL="0" indent="0" algn="ctr">
              <a:buNone/>
            </a:pPr>
            <a:endParaRPr lang="bg-BG" dirty="0" smtClean="0"/>
          </a:p>
          <a:p>
            <a:pPr marL="0" indent="0" algn="ctr">
              <a:buNone/>
            </a:pPr>
            <a:endParaRPr lang="bg-BG" dirty="0"/>
          </a:p>
          <a:p>
            <a:pPr marL="0" indent="0" algn="ctr">
              <a:buNone/>
            </a:pPr>
            <a:r>
              <a:rPr lang="bg-BG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Въпроси ?</a:t>
            </a:r>
            <a:endParaRPr lang="bg-BG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471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Литература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2800" dirty="0">
                <a:hlinkClick r:id="rId2"/>
              </a:rPr>
              <a:t>https://www.geeksforgeeks.org/fork-system-call/</a:t>
            </a:r>
            <a:endParaRPr lang="bg-BG" sz="2800" dirty="0" smtClean="0">
              <a:hlinkClick r:id="rId2"/>
            </a:endParaRPr>
          </a:p>
          <a:p>
            <a:r>
              <a:rPr lang="en-US" sz="2800" dirty="0" smtClean="0">
                <a:hlinkClick r:id="rId2"/>
              </a:rPr>
              <a:t>http</a:t>
            </a:r>
            <a:r>
              <a:rPr lang="en-US" sz="2800" dirty="0">
                <a:hlinkClick r:id="rId2"/>
              </a:rPr>
              <a:t>://www.it.uu.se/education/course/homepage/os/vt18/module-2/process-management</a:t>
            </a:r>
            <a:r>
              <a:rPr lang="en-US" sz="2800" dirty="0" smtClean="0">
                <a:hlinkClick r:id="rId2"/>
              </a:rPr>
              <a:t>/</a:t>
            </a:r>
            <a:endParaRPr lang="bg-BG" sz="2800" dirty="0" smtClean="0"/>
          </a:p>
          <a:p>
            <a:r>
              <a:rPr lang="en-US" sz="2800" dirty="0" smtClean="0">
                <a:hlinkClick r:id="rId3"/>
              </a:rPr>
              <a:t>https</a:t>
            </a:r>
            <a:r>
              <a:rPr lang="en-US" sz="2800" dirty="0">
                <a:hlinkClick r:id="rId3"/>
              </a:rPr>
              <a:t>://</a:t>
            </a:r>
            <a:r>
              <a:rPr lang="en-US" sz="2800" dirty="0" smtClean="0">
                <a:hlinkClick r:id="rId3"/>
              </a:rPr>
              <a:t>www.csl.mtu.edu/cs4411.ck/www/NOTES/process/fork/create.html</a:t>
            </a:r>
            <a:endParaRPr lang="bg-BG" sz="2800" dirty="0" smtClean="0"/>
          </a:p>
          <a:p>
            <a:r>
              <a:rPr lang="en-US" sz="2800" dirty="0">
                <a:hlinkClick r:id="rId4"/>
              </a:rPr>
              <a:t>https://</a:t>
            </a:r>
            <a:r>
              <a:rPr lang="en-US" sz="2800" dirty="0" smtClean="0">
                <a:hlinkClick r:id="rId4"/>
              </a:rPr>
              <a:t>man7.org/linux/man-pages/man2/fork.2.html</a:t>
            </a:r>
            <a:endParaRPr lang="bg-BG" sz="2800" dirty="0" smtClean="0"/>
          </a:p>
          <a:p>
            <a:r>
              <a:rPr lang="en-US" sz="2800" dirty="0">
                <a:hlinkClick r:id="rId5"/>
              </a:rPr>
              <a:t>https://www.geeksforgeeks.org/wait-system-call-c</a:t>
            </a:r>
            <a:r>
              <a:rPr lang="en-US" sz="2800" dirty="0" smtClean="0">
                <a:hlinkClick r:id="rId5"/>
              </a:rPr>
              <a:t>/</a:t>
            </a:r>
            <a:endParaRPr lang="bg-BG" sz="2800" dirty="0" smtClean="0"/>
          </a:p>
          <a:p>
            <a:r>
              <a:rPr lang="en-US" sz="2800" dirty="0">
                <a:hlinkClick r:id="rId6"/>
              </a:rPr>
              <a:t>https://www.elprocus.com/unix-architecture-and-properties</a:t>
            </a:r>
            <a:r>
              <a:rPr lang="en-US" sz="2800" dirty="0" smtClean="0">
                <a:hlinkClick r:id="rId6"/>
              </a:rPr>
              <a:t>/</a:t>
            </a:r>
            <a:endParaRPr lang="en-US" sz="2800" dirty="0" smtClean="0"/>
          </a:p>
          <a:p>
            <a:r>
              <a:rPr lang="en-US" sz="2800"/>
              <a:t>https://bg.myservername.com/unix-vs-linux-what-is-difference-between-unix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>
                <a:hlinkClick r:id="rId7"/>
              </a:rPr>
              <a:t>https://blog.purestorage.com/purely-informational/task-vs-process-in-linux/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31300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S102787947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0C675A-9AD3-40BB-AC57-0E9EFA3E4F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11434</Words>
  <Application>Microsoft Office PowerPoint</Application>
  <PresentationFormat>Custom</PresentationFormat>
  <Paragraphs>819</Paragraphs>
  <Slides>97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3" baseType="lpstr">
      <vt:lpstr>Arial</vt:lpstr>
      <vt:lpstr>Calibri</vt:lpstr>
      <vt:lpstr>Consolas</vt:lpstr>
      <vt:lpstr>Euphemia</vt:lpstr>
      <vt:lpstr>Wingdings</vt:lpstr>
      <vt:lpstr>TS102787947</vt:lpstr>
      <vt:lpstr>Unix &amp; Linux</vt:lpstr>
      <vt:lpstr>Въведение</vt:lpstr>
      <vt:lpstr>Въведение</vt:lpstr>
      <vt:lpstr>Въведение</vt:lpstr>
      <vt:lpstr>Архитектура на Unix</vt:lpstr>
      <vt:lpstr>Архитектура на Unix</vt:lpstr>
      <vt:lpstr>Архитектура на Unix</vt:lpstr>
      <vt:lpstr>Основни характеристики на Unix </vt:lpstr>
      <vt:lpstr>Основни характеристики на Unix </vt:lpstr>
      <vt:lpstr>Основни характеристики на Unix </vt:lpstr>
      <vt:lpstr>История на Unix</vt:lpstr>
      <vt:lpstr>История на Unix</vt:lpstr>
      <vt:lpstr>Език за програмиране „C“</vt:lpstr>
      <vt:lpstr>Език за програмиране „C“</vt:lpstr>
      <vt:lpstr>Език за програмиране „C“</vt:lpstr>
      <vt:lpstr>Стандарти POSIX</vt:lpstr>
      <vt:lpstr>Стандарти POSIX</vt:lpstr>
      <vt:lpstr>POSIX SUSv3</vt:lpstr>
      <vt:lpstr>Стандарти LSB</vt:lpstr>
      <vt:lpstr>Linux</vt:lpstr>
      <vt:lpstr>Linux</vt:lpstr>
      <vt:lpstr>Linux</vt:lpstr>
      <vt:lpstr>Linux API</vt:lpstr>
      <vt:lpstr>Ядро на Linux</vt:lpstr>
      <vt:lpstr>Ядро на Linux</vt:lpstr>
      <vt:lpstr>Ядро на Linux</vt:lpstr>
      <vt:lpstr>Ядро на Linux</vt:lpstr>
      <vt:lpstr>Системни обръщения в Linux</vt:lpstr>
      <vt:lpstr>Команден интерпретатор Shell</vt:lpstr>
      <vt:lpstr>Команден интерпретатор Shell</vt:lpstr>
      <vt:lpstr>Команден интерпретатор Shell</vt:lpstr>
      <vt:lpstr>Потребители и групи</vt:lpstr>
      <vt:lpstr>Потребители и групи</vt:lpstr>
      <vt:lpstr>Потребители и групи</vt:lpstr>
      <vt:lpstr>Системни обръщения в Linux</vt:lpstr>
      <vt:lpstr>Файлова подсистема</vt:lpstr>
      <vt:lpstr>Файлова подсистема</vt:lpstr>
      <vt:lpstr>Файлова подсистема</vt:lpstr>
      <vt:lpstr>Файлова подсистема</vt:lpstr>
      <vt:lpstr>Файлова подсистема</vt:lpstr>
      <vt:lpstr>Файлова подсистема</vt:lpstr>
      <vt:lpstr>Файлова подсистема</vt:lpstr>
      <vt:lpstr>Особености на В/И в Linux</vt:lpstr>
      <vt:lpstr>Особености на В/И в Linux</vt:lpstr>
      <vt:lpstr>Файлови дескриптори </vt:lpstr>
      <vt:lpstr>Файлови дескриптори </vt:lpstr>
      <vt:lpstr>Програми</vt:lpstr>
      <vt:lpstr>Процеси</vt:lpstr>
      <vt:lpstr>Процеси</vt:lpstr>
      <vt:lpstr>Процеси</vt:lpstr>
      <vt:lpstr>Процеси</vt:lpstr>
      <vt:lpstr>Привилегировани процеси</vt:lpstr>
      <vt:lpstr>Привилегии</vt:lpstr>
      <vt:lpstr>Процесът «init» </vt:lpstr>
      <vt:lpstr>“Демон” процеси</vt:lpstr>
      <vt:lpstr>Списък на околната среда</vt:lpstr>
      <vt:lpstr>Списък на околната среда</vt:lpstr>
      <vt:lpstr>Ограничения на ресурсите</vt:lpstr>
      <vt:lpstr>Ограничения на ресурсите</vt:lpstr>
      <vt:lpstr>Работна директория</vt:lpstr>
      <vt:lpstr>mmap()</vt:lpstr>
      <vt:lpstr>mmap()</vt:lpstr>
      <vt:lpstr>Библиотеки</vt:lpstr>
      <vt:lpstr>Статични библиотеки</vt:lpstr>
      <vt:lpstr>Статични библиотеки</vt:lpstr>
      <vt:lpstr>Споделени библиотеки</vt:lpstr>
      <vt:lpstr>Споделени библиотеки</vt:lpstr>
      <vt:lpstr>Комуникация и синхронизация между процесите</vt:lpstr>
      <vt:lpstr>Сигнали</vt:lpstr>
      <vt:lpstr>Сигнали</vt:lpstr>
      <vt:lpstr>Сигнали</vt:lpstr>
      <vt:lpstr>Контрол на задачите в Shell</vt:lpstr>
      <vt:lpstr>Контрол на задачите в Shell</vt:lpstr>
      <vt:lpstr>Сесии и терминали</vt:lpstr>
      <vt:lpstr>Сесии и терминали</vt:lpstr>
      <vt:lpstr>Псевдотерминали</vt:lpstr>
      <vt:lpstr>Псевдотерминали</vt:lpstr>
      <vt:lpstr>Системно време</vt:lpstr>
      <vt:lpstr>Системно време</vt:lpstr>
      <vt:lpstr>Системно време</vt:lpstr>
      <vt:lpstr>Файлова система «/proc»</vt:lpstr>
      <vt:lpstr>Системни извиквания</vt:lpstr>
      <vt:lpstr>Системни извиквания</vt:lpstr>
      <vt:lpstr>Системни извиквания</vt:lpstr>
      <vt:lpstr>Системни извиквания</vt:lpstr>
      <vt:lpstr>Системни извиквания</vt:lpstr>
      <vt:lpstr>Системни извиквания</vt:lpstr>
      <vt:lpstr>Стандартна C библиотека и glibc </vt:lpstr>
      <vt:lpstr>Стандартна C библиотека и glibc </vt:lpstr>
      <vt:lpstr>Стандартна C библиотека и glibc </vt:lpstr>
      <vt:lpstr>Стандартна C библиотека и glibc </vt:lpstr>
      <vt:lpstr>Стандартна C библиотека и glibc </vt:lpstr>
      <vt:lpstr>Стандартна C библиотека и glibc </vt:lpstr>
      <vt:lpstr>Linux API: Системни типове данни</vt:lpstr>
      <vt:lpstr>Linux API: Системни типове данни</vt:lpstr>
      <vt:lpstr>PowerPoint Presentation</vt:lpstr>
      <vt:lpstr>Литература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2014-02-04T07:26:08Z</dcterms:created>
  <dcterms:modified xsi:type="dcterms:W3CDTF">2023-03-25T14:42:13Z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TC027879479991</vt:lpwstr>
  </property>
</Properties>
</file>