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114"/>
  </p:notesMasterIdLst>
  <p:handoutMasterIdLst>
    <p:handoutMasterId r:id="rId115"/>
  </p:handoutMasterIdLst>
  <p:sldIdLst>
    <p:sldId id="256" r:id="rId3"/>
    <p:sldId id="307" r:id="rId4"/>
    <p:sldId id="345" r:id="rId5"/>
    <p:sldId id="317" r:id="rId6"/>
    <p:sldId id="315" r:id="rId7"/>
    <p:sldId id="362" r:id="rId8"/>
    <p:sldId id="363" r:id="rId9"/>
    <p:sldId id="389" r:id="rId10"/>
    <p:sldId id="388" r:id="rId11"/>
    <p:sldId id="391" r:id="rId12"/>
    <p:sldId id="390" r:id="rId13"/>
    <p:sldId id="323" r:id="rId14"/>
    <p:sldId id="360" r:id="rId15"/>
    <p:sldId id="392" r:id="rId16"/>
    <p:sldId id="308" r:id="rId17"/>
    <p:sldId id="316" r:id="rId18"/>
    <p:sldId id="309" r:id="rId19"/>
    <p:sldId id="310" r:id="rId20"/>
    <p:sldId id="318" r:id="rId21"/>
    <p:sldId id="319" r:id="rId22"/>
    <p:sldId id="320" r:id="rId23"/>
    <p:sldId id="322" r:id="rId24"/>
    <p:sldId id="321" r:id="rId25"/>
    <p:sldId id="312" r:id="rId26"/>
    <p:sldId id="313" r:id="rId27"/>
    <p:sldId id="328" r:id="rId28"/>
    <p:sldId id="329" r:id="rId29"/>
    <p:sldId id="331" r:id="rId30"/>
    <p:sldId id="330" r:id="rId31"/>
    <p:sldId id="332" r:id="rId32"/>
    <p:sldId id="404" r:id="rId33"/>
    <p:sldId id="333" r:id="rId34"/>
    <p:sldId id="334" r:id="rId35"/>
    <p:sldId id="335" r:id="rId36"/>
    <p:sldId id="336" r:id="rId37"/>
    <p:sldId id="337" r:id="rId38"/>
    <p:sldId id="341" r:id="rId39"/>
    <p:sldId id="338" r:id="rId40"/>
    <p:sldId id="343" r:id="rId41"/>
    <p:sldId id="342" r:id="rId42"/>
    <p:sldId id="344" r:id="rId43"/>
    <p:sldId id="339" r:id="rId44"/>
    <p:sldId id="340" r:id="rId45"/>
    <p:sldId id="346" r:id="rId46"/>
    <p:sldId id="347" r:id="rId47"/>
    <p:sldId id="348" r:id="rId48"/>
    <p:sldId id="349" r:id="rId49"/>
    <p:sldId id="350" r:id="rId50"/>
    <p:sldId id="351" r:id="rId51"/>
    <p:sldId id="353" r:id="rId52"/>
    <p:sldId id="354" r:id="rId53"/>
    <p:sldId id="355" r:id="rId54"/>
    <p:sldId id="352" r:id="rId55"/>
    <p:sldId id="356" r:id="rId56"/>
    <p:sldId id="357" r:id="rId57"/>
    <p:sldId id="421" r:id="rId58"/>
    <p:sldId id="422" r:id="rId59"/>
    <p:sldId id="423" r:id="rId60"/>
    <p:sldId id="424" r:id="rId61"/>
    <p:sldId id="425" r:id="rId62"/>
    <p:sldId id="358" r:id="rId63"/>
    <p:sldId id="364" r:id="rId64"/>
    <p:sldId id="365" r:id="rId65"/>
    <p:sldId id="393" r:id="rId66"/>
    <p:sldId id="366" r:id="rId67"/>
    <p:sldId id="394" r:id="rId68"/>
    <p:sldId id="395" r:id="rId69"/>
    <p:sldId id="401" r:id="rId70"/>
    <p:sldId id="396" r:id="rId71"/>
    <p:sldId id="397" r:id="rId72"/>
    <p:sldId id="398" r:id="rId73"/>
    <p:sldId id="367" r:id="rId74"/>
    <p:sldId id="372" r:id="rId75"/>
    <p:sldId id="368" r:id="rId76"/>
    <p:sldId id="369" r:id="rId77"/>
    <p:sldId id="400" r:id="rId78"/>
    <p:sldId id="370" r:id="rId79"/>
    <p:sldId id="402" r:id="rId80"/>
    <p:sldId id="403" r:id="rId81"/>
    <p:sldId id="373" r:id="rId82"/>
    <p:sldId id="374" r:id="rId83"/>
    <p:sldId id="377" r:id="rId84"/>
    <p:sldId id="375" r:id="rId85"/>
    <p:sldId id="376" r:id="rId86"/>
    <p:sldId id="379" r:id="rId87"/>
    <p:sldId id="380" r:id="rId88"/>
    <p:sldId id="405" r:id="rId89"/>
    <p:sldId id="406" r:id="rId90"/>
    <p:sldId id="407" r:id="rId91"/>
    <p:sldId id="381" r:id="rId92"/>
    <p:sldId id="382" r:id="rId93"/>
    <p:sldId id="383" r:id="rId94"/>
    <p:sldId id="384" r:id="rId95"/>
    <p:sldId id="385" r:id="rId96"/>
    <p:sldId id="386" r:id="rId97"/>
    <p:sldId id="387" r:id="rId98"/>
    <p:sldId id="306" r:id="rId99"/>
    <p:sldId id="408" r:id="rId100"/>
    <p:sldId id="409" r:id="rId101"/>
    <p:sldId id="410" r:id="rId102"/>
    <p:sldId id="411" r:id="rId103"/>
    <p:sldId id="412" r:id="rId104"/>
    <p:sldId id="413" r:id="rId105"/>
    <p:sldId id="414" r:id="rId106"/>
    <p:sldId id="415" r:id="rId107"/>
    <p:sldId id="416" r:id="rId108"/>
    <p:sldId id="417" r:id="rId109"/>
    <p:sldId id="418" r:id="rId110"/>
    <p:sldId id="419" r:id="rId111"/>
    <p:sldId id="420" r:id="rId112"/>
    <p:sldId id="314" r:id="rId11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009"/>
    <a:srgbClr val="000099"/>
    <a:srgbClr val="452603"/>
    <a:srgbClr val="F4DF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98" autoAdjust="0"/>
  </p:normalViewPr>
  <p:slideViewPr>
    <p:cSldViewPr showGuides="1">
      <p:cViewPr varScale="1">
        <p:scale>
          <a:sx n="100" d="100"/>
          <a:sy n="100" d="100"/>
        </p:scale>
        <p:origin x="270" y="90"/>
      </p:cViewPr>
      <p:guideLst>
        <p:guide orient="horz" pos="2160"/>
        <p:guide pos="3839"/>
        <p:guide pos="1007"/>
      </p:guideLst>
    </p:cSldViewPr>
  </p:slideViewPr>
  <p:notesTextViewPr>
    <p:cViewPr>
      <p:scale>
        <a:sx n="1" d="1"/>
        <a:sy n="1" d="1"/>
      </p:scale>
      <p:origin x="0" y="0"/>
    </p:cViewPr>
  </p:notesTextViewPr>
  <p:notesViewPr>
    <p:cSldViewPr showGuides="1">
      <p:cViewPr varScale="1">
        <p:scale>
          <a:sx n="83" d="100"/>
          <a:sy n="83" d="100"/>
        </p:scale>
        <p:origin x="-315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viewProps" Target="view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customXml" Target="../customXml/item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handoutMaster" Target="handoutMasters/handout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3/7/2023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3/7/2023</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4016698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Frame</a:t>
            </a:r>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1053050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Frame</a:t>
            </a:r>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13</a:t>
            </a:fld>
            <a:endParaRPr lang="en-US"/>
          </a:p>
        </p:txBody>
      </p:sp>
    </p:spTree>
    <p:extLst>
      <p:ext uri="{BB962C8B-B14F-4D97-AF65-F5344CB8AC3E}">
        <p14:creationId xmlns:p14="http://schemas.microsoft.com/office/powerpoint/2010/main" val="359771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Frame</a:t>
            </a:r>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1523895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API - </a:t>
            </a:r>
            <a:r>
              <a:rPr lang="en-US" sz="1200" b="0" i="0" kern="1200" dirty="0" smtClean="0">
                <a:solidFill>
                  <a:schemeClr val="tx2"/>
                </a:solidFill>
                <a:effectLst/>
                <a:latin typeface="+mn-lt"/>
                <a:ea typeface="+mn-ea"/>
                <a:cs typeface="+mn-cs"/>
              </a:rPr>
              <a:t>Application Programming Interface</a:t>
            </a:r>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26</a:t>
            </a:fld>
            <a:endParaRPr lang="en-US"/>
          </a:p>
        </p:txBody>
      </p:sp>
    </p:spTree>
    <p:extLst>
      <p:ext uri="{BB962C8B-B14F-4D97-AF65-F5344CB8AC3E}">
        <p14:creationId xmlns:p14="http://schemas.microsoft.com/office/powerpoint/2010/main" val="956734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29</a:t>
            </a:fld>
            <a:endParaRPr lang="en-US"/>
          </a:p>
        </p:txBody>
      </p:sp>
    </p:spTree>
    <p:extLst>
      <p:ext uri="{BB962C8B-B14F-4D97-AF65-F5344CB8AC3E}">
        <p14:creationId xmlns:p14="http://schemas.microsoft.com/office/powerpoint/2010/main" val="3657342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bg-BG" dirty="0" smtClean="0"/>
              <a:t>Пример:</a:t>
            </a:r>
            <a:r>
              <a:rPr lang="bg-BG" baseline="0" dirty="0" smtClean="0"/>
              <a:t> </a:t>
            </a:r>
            <a:r>
              <a:rPr lang="ru-RU" baseline="0" dirty="0" smtClean="0"/>
              <a:t>Приложението за времето на телефона „говори“ с програмата за метео-прогноза чрез API и затова може да показва ежедневни актуализации на времето на телефона.</a:t>
            </a:r>
          </a:p>
          <a:p>
            <a:r>
              <a:rPr lang="ru-RU" baseline="0" dirty="0" smtClean="0"/>
              <a:t>Пример: Автоматичното синхронизиране на данните в облака от новото в галерията с изображения на телефона</a:t>
            </a:r>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36</a:t>
            </a:fld>
            <a:endParaRPr lang="en-US"/>
          </a:p>
        </p:txBody>
      </p:sp>
    </p:spTree>
    <p:extLst>
      <p:ext uri="{BB962C8B-B14F-4D97-AF65-F5344CB8AC3E}">
        <p14:creationId xmlns:p14="http://schemas.microsoft.com/office/powerpoint/2010/main" val="3120957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38</a:t>
            </a:fld>
            <a:endParaRPr lang="en-US"/>
          </a:p>
        </p:txBody>
      </p:sp>
    </p:spTree>
    <p:extLst>
      <p:ext uri="{BB962C8B-B14F-4D97-AF65-F5344CB8AC3E}">
        <p14:creationId xmlns:p14="http://schemas.microsoft.com/office/powerpoint/2010/main" val="363630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39</a:t>
            </a:fld>
            <a:endParaRPr lang="en-US"/>
          </a:p>
        </p:txBody>
      </p:sp>
    </p:spTree>
    <p:extLst>
      <p:ext uri="{BB962C8B-B14F-4D97-AF65-F5344CB8AC3E}">
        <p14:creationId xmlns:p14="http://schemas.microsoft.com/office/powerpoint/2010/main" val="921282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40</a:t>
            </a:fld>
            <a:endParaRPr lang="en-US"/>
          </a:p>
        </p:txBody>
      </p:sp>
    </p:spTree>
    <p:extLst>
      <p:ext uri="{BB962C8B-B14F-4D97-AF65-F5344CB8AC3E}">
        <p14:creationId xmlns:p14="http://schemas.microsoft.com/office/powerpoint/2010/main" val="233818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Simple Mail Transfer Protocol </a:t>
            </a:r>
            <a:r>
              <a:rPr lang="bg-BG" sz="1200" dirty="0" smtClean="0"/>
              <a:t>- </a:t>
            </a:r>
            <a:r>
              <a:rPr lang="en-US" sz="1200" dirty="0" smtClean="0"/>
              <a:t>SMTP</a:t>
            </a:r>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41</a:t>
            </a:fld>
            <a:endParaRPr lang="en-US"/>
          </a:p>
        </p:txBody>
      </p:sp>
    </p:spTree>
    <p:extLst>
      <p:ext uri="{BB962C8B-B14F-4D97-AF65-F5344CB8AC3E}">
        <p14:creationId xmlns:p14="http://schemas.microsoft.com/office/powerpoint/2010/main" val="4284207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42</a:t>
            </a:fld>
            <a:endParaRPr lang="en-US"/>
          </a:p>
        </p:txBody>
      </p:sp>
    </p:spTree>
    <p:extLst>
      <p:ext uri="{BB962C8B-B14F-4D97-AF65-F5344CB8AC3E}">
        <p14:creationId xmlns:p14="http://schemas.microsoft.com/office/powerpoint/2010/main" val="1771944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43</a:t>
            </a:fld>
            <a:endParaRPr lang="en-US"/>
          </a:p>
        </p:txBody>
      </p:sp>
    </p:spTree>
    <p:extLst>
      <p:ext uri="{BB962C8B-B14F-4D97-AF65-F5344CB8AC3E}">
        <p14:creationId xmlns:p14="http://schemas.microsoft.com/office/powerpoint/2010/main" val="2516848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ru-RU" dirty="0" smtClean="0"/>
              <a:t>Програма в потребителски режим може да изпълни специален тип инструкции (т.е. </a:t>
            </a:r>
            <a:r>
              <a:rPr lang="en-US" dirty="0" smtClean="0"/>
              <a:t>TRAP-</a:t>
            </a:r>
            <a:r>
              <a:rPr lang="ru-RU" dirty="0" smtClean="0"/>
              <a:t>инструкция) за </a:t>
            </a:r>
            <a:r>
              <a:rPr lang="bg-BG" dirty="0" smtClean="0"/>
              <a:t>активиране </a:t>
            </a:r>
            <a:r>
              <a:rPr lang="ru-RU" dirty="0" smtClean="0"/>
              <a:t>на системно извикване (т.нар. </a:t>
            </a:r>
            <a:r>
              <a:rPr lang="en-US" dirty="0" smtClean="0"/>
              <a:t>System calls)</a:t>
            </a:r>
            <a:r>
              <a:rPr lang="ru-RU" dirty="0" smtClean="0"/>
              <a:t>.</a:t>
            </a:r>
          </a:p>
          <a:p>
            <a:pPr lvl="1"/>
            <a:r>
              <a:rPr lang="ru-RU" dirty="0" smtClean="0"/>
              <a:t>Може да пристигне прекъсване </a:t>
            </a:r>
            <a:r>
              <a:rPr lang="bg-BG" dirty="0" smtClean="0"/>
              <a:t>(англ. </a:t>
            </a:r>
            <a:r>
              <a:rPr lang="en-US" dirty="0" smtClean="0"/>
              <a:t>interrupt</a:t>
            </a:r>
            <a:r>
              <a:rPr lang="bg-BG" dirty="0" smtClean="0"/>
              <a:t>)</a:t>
            </a:r>
            <a:r>
              <a:rPr lang="ru-RU" dirty="0" smtClean="0"/>
              <a:t>, </a:t>
            </a:r>
            <a:r>
              <a:rPr lang="bg-BG" dirty="0" smtClean="0"/>
              <a:t>повишаващо</a:t>
            </a:r>
            <a:r>
              <a:rPr lang="ru-RU" dirty="0" smtClean="0"/>
              <a:t> на нивото на прекъсване на процесора от </a:t>
            </a:r>
            <a:r>
              <a:rPr lang="bg-BG" dirty="0" smtClean="0"/>
              <a:t>ниво </a:t>
            </a:r>
            <a:r>
              <a:rPr lang="ru-RU" dirty="0" smtClean="0"/>
              <a:t>0 до ниво </a:t>
            </a:r>
            <a:r>
              <a:rPr lang="en-US" dirty="0" smtClean="0"/>
              <a:t>N</a:t>
            </a:r>
            <a:r>
              <a:rPr lang="ru-RU" dirty="0" smtClean="0"/>
              <a:t>.</a:t>
            </a:r>
          </a:p>
          <a:p>
            <a:pPr lvl="1"/>
            <a:r>
              <a:rPr lang="bg-BG" dirty="0" smtClean="0"/>
              <a:t>В</a:t>
            </a:r>
            <a:r>
              <a:rPr lang="ru-RU" dirty="0" smtClean="0"/>
              <a:t> процесора възниква изключение</a:t>
            </a:r>
            <a:r>
              <a:rPr lang="en-US" dirty="0" smtClean="0"/>
              <a:t> </a:t>
            </a:r>
            <a:r>
              <a:rPr lang="bg-BG" dirty="0" smtClean="0"/>
              <a:t>(англ. </a:t>
            </a:r>
            <a:r>
              <a:rPr lang="en-US" dirty="0" smtClean="0"/>
              <a:t>exception</a:t>
            </a:r>
            <a:r>
              <a:rPr lang="bg-BG" dirty="0" smtClean="0"/>
              <a:t>)</a:t>
            </a:r>
            <a:r>
              <a:rPr lang="ru-RU" dirty="0" smtClean="0"/>
              <a:t>.</a:t>
            </a:r>
            <a:endParaRPr lang="bg-BG" dirty="0" smtClean="0"/>
          </a:p>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44</a:t>
            </a:fld>
            <a:endParaRPr lang="en-US"/>
          </a:p>
        </p:txBody>
      </p:sp>
    </p:spTree>
    <p:extLst>
      <p:ext uri="{BB962C8B-B14F-4D97-AF65-F5344CB8AC3E}">
        <p14:creationId xmlns:p14="http://schemas.microsoft.com/office/powerpoint/2010/main" val="2107287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65</a:t>
            </a:fld>
            <a:endParaRPr lang="en-US"/>
          </a:p>
        </p:txBody>
      </p:sp>
    </p:spTree>
    <p:extLst>
      <p:ext uri="{BB962C8B-B14F-4D97-AF65-F5344CB8AC3E}">
        <p14:creationId xmlns:p14="http://schemas.microsoft.com/office/powerpoint/2010/main" val="4121864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lvl="2" indent="0">
              <a:lnSpc>
                <a:spcPct val="100000"/>
              </a:lnSpc>
              <a:spcBef>
                <a:spcPts val="0"/>
              </a:spcBef>
              <a:buSzPct val="70000"/>
              <a:buFont typeface="Wingdings" panose="05000000000000000000" pitchFamily="2" charset="2"/>
              <a:buNone/>
            </a:pPr>
            <a:r>
              <a:rPr lang="en-US" altLang="en-US" dirty="0" smtClean="0"/>
              <a:t>In some cases, memory leaks may be tolerable, such as a program which "leaks" a bounded amount of memory over its lifetime, or a short-running program which relies on an operating system to </a:t>
            </a:r>
            <a:r>
              <a:rPr lang="en-US" altLang="en-US" dirty="0" err="1" smtClean="0"/>
              <a:t>deallocate</a:t>
            </a:r>
            <a:r>
              <a:rPr lang="en-US" altLang="en-US" dirty="0" smtClean="0"/>
              <a:t> its resources when it terminates.  However, in many cases memory leaks occur in long-running programs, and in such cases an unbounded amount of memory is leaked. When this occurs, the size of the available free store continues to decrease over time; when it finally is exhausted the program then crashes. </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86</a:t>
            </a:fld>
            <a:endParaRPr lang="en-US"/>
          </a:p>
        </p:txBody>
      </p:sp>
    </p:spTree>
    <p:extLst>
      <p:ext uri="{BB962C8B-B14F-4D97-AF65-F5344CB8AC3E}">
        <p14:creationId xmlns:p14="http://schemas.microsoft.com/office/powerpoint/2010/main" val="16765850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en-US" sz="2400" dirty="0" smtClean="0"/>
              <a:t>In C#, and a few others which support </a:t>
            </a:r>
            <a:r>
              <a:rPr lang="en-US" altLang="en-US" sz="2400" dirty="0" err="1" smtClean="0"/>
              <a:t>finalizers</a:t>
            </a:r>
            <a:r>
              <a:rPr lang="en-US" altLang="en-US" sz="2400" dirty="0" smtClean="0"/>
              <a:t>, the syntax for declaring a </a:t>
            </a:r>
            <a:r>
              <a:rPr lang="en-US" altLang="en-US" sz="2400" dirty="0" err="1" smtClean="0"/>
              <a:t>finalizer</a:t>
            </a:r>
            <a:r>
              <a:rPr lang="en-US" altLang="en-US" sz="2400" dirty="0" smtClean="0"/>
              <a:t> mimics that of destructors in C++. </a:t>
            </a:r>
          </a:p>
        </p:txBody>
      </p:sp>
      <p:sp>
        <p:nvSpPr>
          <p:cNvPr id="4" name="Slide Number Placeholder 3"/>
          <p:cNvSpPr>
            <a:spLocks noGrp="1"/>
          </p:cNvSpPr>
          <p:nvPr>
            <p:ph type="sldNum" sz="quarter" idx="10"/>
          </p:nvPr>
        </p:nvSpPr>
        <p:spPr/>
        <p:txBody>
          <a:bodyPr/>
          <a:lstStyle/>
          <a:p>
            <a:fld id="{841221E5-7225-48EB-A4EE-420E7BFCF705}" type="slidenum">
              <a:rPr lang="en-US" smtClean="0"/>
              <a:pPr/>
              <a:t>95</a:t>
            </a:fld>
            <a:endParaRPr lang="en-US"/>
          </a:p>
        </p:txBody>
      </p:sp>
    </p:spTree>
    <p:extLst>
      <p:ext uri="{BB962C8B-B14F-4D97-AF65-F5344CB8AC3E}">
        <p14:creationId xmlns:p14="http://schemas.microsoft.com/office/powerpoint/2010/main" val="3633634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2000" dirty="0" smtClean="0"/>
              <a:t>if (</a:t>
            </a:r>
            <a:r>
              <a:rPr lang="en-US" sz="2000" i="1" dirty="0" err="1" smtClean="0"/>
              <a:t>object.RefCount</a:t>
            </a:r>
            <a:r>
              <a:rPr lang="en-US" sz="2000" dirty="0" smtClean="0"/>
              <a:t> == 0 ) {</a:t>
            </a:r>
          </a:p>
          <a:p>
            <a:pPr lvl="1"/>
            <a:r>
              <a:rPr lang="en-US" sz="1600" dirty="0" smtClean="0"/>
              <a:t>delete </a:t>
            </a:r>
            <a:r>
              <a:rPr lang="en-US" sz="1600" i="1" dirty="0" smtClean="0"/>
              <a:t>object</a:t>
            </a:r>
          </a:p>
          <a:p>
            <a:pPr lvl="1"/>
            <a:r>
              <a:rPr lang="en-US" sz="1600" dirty="0" smtClean="0"/>
              <a:t>decrement </a:t>
            </a:r>
            <a:r>
              <a:rPr lang="en-US" sz="1600" i="1" dirty="0" err="1" smtClean="0"/>
              <a:t>RefCount</a:t>
            </a:r>
            <a:r>
              <a:rPr lang="en-US" sz="1600" dirty="0" smtClean="0"/>
              <a:t> for all children </a:t>
            </a:r>
            <a:r>
              <a:rPr lang="en-US" sz="1600" i="1" dirty="0" smtClean="0"/>
              <a:t>object</a:t>
            </a:r>
            <a:r>
              <a:rPr lang="en-US" sz="1600" dirty="0" smtClean="0"/>
              <a:t>.</a:t>
            </a:r>
          </a:p>
          <a:p>
            <a:pPr lvl="1"/>
            <a:r>
              <a:rPr lang="en-US" sz="1600" dirty="0" smtClean="0"/>
              <a:t>recursively delete objects whose </a:t>
            </a:r>
            <a:r>
              <a:rPr lang="en-US" sz="1600" i="1" dirty="0" err="1" smtClean="0"/>
              <a:t>RefCount</a:t>
            </a:r>
            <a:r>
              <a:rPr lang="en-US" sz="1600" dirty="0" smtClean="0"/>
              <a:t> is decremented to 0.</a:t>
            </a:r>
          </a:p>
          <a:p>
            <a:pPr lvl="0"/>
            <a:r>
              <a:rPr lang="en-US" sz="1600" dirty="0" smtClean="0"/>
              <a:t>}</a:t>
            </a:r>
          </a:p>
          <a:p>
            <a:endParaRPr lang="en-US" dirty="0"/>
          </a:p>
        </p:txBody>
      </p:sp>
      <p:sp>
        <p:nvSpPr>
          <p:cNvPr id="4" name="Slide Number Placeholder 3"/>
          <p:cNvSpPr>
            <a:spLocks noGrp="1"/>
          </p:cNvSpPr>
          <p:nvPr>
            <p:ph type="sldNum" sz="quarter" idx="10"/>
          </p:nvPr>
        </p:nvSpPr>
        <p:spPr/>
        <p:txBody>
          <a:bodyPr/>
          <a:lstStyle/>
          <a:p>
            <a:fld id="{49341753-9BC3-4180-A0C3-63FCB1CCC48F}" type="slidenum">
              <a:rPr lang="en-US" smtClean="0"/>
              <a:t>98</a:t>
            </a:fld>
            <a:endParaRPr lang="en-US"/>
          </a:p>
        </p:txBody>
      </p:sp>
    </p:spTree>
    <p:extLst>
      <p:ext uri="{BB962C8B-B14F-4D97-AF65-F5344CB8AC3E}">
        <p14:creationId xmlns:p14="http://schemas.microsoft.com/office/powerpoint/2010/main" val="16075636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smtClean="0"/>
              <a:t>‘delete head’ operation </a:t>
            </a:r>
            <a:r>
              <a:rPr lang="en-US" dirty="0" smtClean="0"/>
              <a:t>decreases obj1.RefCount to 1</a:t>
            </a:r>
            <a:endParaRPr lang="en-US" dirty="0"/>
          </a:p>
        </p:txBody>
      </p:sp>
      <p:sp>
        <p:nvSpPr>
          <p:cNvPr id="4" name="Slide Number Placeholder 3"/>
          <p:cNvSpPr>
            <a:spLocks noGrp="1"/>
          </p:cNvSpPr>
          <p:nvPr>
            <p:ph type="sldNum" sz="quarter" idx="10"/>
          </p:nvPr>
        </p:nvSpPr>
        <p:spPr/>
        <p:txBody>
          <a:bodyPr/>
          <a:lstStyle/>
          <a:p>
            <a:fld id="{49341753-9BC3-4180-A0C3-63FCB1CCC48F}" type="slidenum">
              <a:rPr lang="en-US" smtClean="0"/>
              <a:t>100</a:t>
            </a:fld>
            <a:endParaRPr lang="en-US"/>
          </a:p>
        </p:txBody>
      </p:sp>
    </p:spTree>
    <p:extLst>
      <p:ext uri="{BB962C8B-B14F-4D97-AF65-F5344CB8AC3E}">
        <p14:creationId xmlns:p14="http://schemas.microsoft.com/office/powerpoint/2010/main" val="822002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GC - gar</a:t>
            </a:r>
            <a:endParaRPr lang="en-US" dirty="0"/>
          </a:p>
        </p:txBody>
      </p:sp>
      <p:sp>
        <p:nvSpPr>
          <p:cNvPr id="4" name="Slide Number Placeholder 3"/>
          <p:cNvSpPr>
            <a:spLocks noGrp="1"/>
          </p:cNvSpPr>
          <p:nvPr>
            <p:ph type="sldNum" sz="quarter" idx="10"/>
          </p:nvPr>
        </p:nvSpPr>
        <p:spPr/>
        <p:txBody>
          <a:bodyPr/>
          <a:lstStyle/>
          <a:p>
            <a:fld id="{49341753-9BC3-4180-A0C3-63FCB1CCC48F}" type="slidenum">
              <a:rPr lang="en-US" smtClean="0"/>
              <a:t>101</a:t>
            </a:fld>
            <a:endParaRPr lang="en-US"/>
          </a:p>
        </p:txBody>
      </p:sp>
    </p:spTree>
    <p:extLst>
      <p:ext uri="{BB962C8B-B14F-4D97-AF65-F5344CB8AC3E}">
        <p14:creationId xmlns:p14="http://schemas.microsoft.com/office/powerpoint/2010/main" val="15480948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Switch the roles of two parts: when Part 1 runs full, copy live (reachable) objects to Part 2.</a:t>
            </a:r>
          </a:p>
          <a:p>
            <a:endParaRPr lang="en-US" dirty="0"/>
          </a:p>
        </p:txBody>
      </p:sp>
      <p:sp>
        <p:nvSpPr>
          <p:cNvPr id="4" name="Slide Number Placeholder 3"/>
          <p:cNvSpPr>
            <a:spLocks noGrp="1"/>
          </p:cNvSpPr>
          <p:nvPr>
            <p:ph type="sldNum" sz="quarter" idx="10"/>
          </p:nvPr>
        </p:nvSpPr>
        <p:spPr/>
        <p:txBody>
          <a:bodyPr/>
          <a:lstStyle/>
          <a:p>
            <a:fld id="{49341753-9BC3-4180-A0C3-63FCB1CCC48F}" type="slidenum">
              <a:rPr lang="en-US" smtClean="0"/>
              <a:t>106</a:t>
            </a:fld>
            <a:endParaRPr lang="en-US"/>
          </a:p>
        </p:txBody>
      </p:sp>
    </p:spTree>
    <p:extLst>
      <p:ext uri="{BB962C8B-B14F-4D97-AF65-F5344CB8AC3E}">
        <p14:creationId xmlns:p14="http://schemas.microsoft.com/office/powerpoint/2010/main" val="4002030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Switch the roles of two parts: when Part 1 runs full, copy live (reachable) objects to Part 2.</a:t>
            </a:r>
          </a:p>
          <a:p>
            <a:endParaRPr lang="en-US" dirty="0"/>
          </a:p>
        </p:txBody>
      </p:sp>
      <p:sp>
        <p:nvSpPr>
          <p:cNvPr id="4" name="Slide Number Placeholder 3"/>
          <p:cNvSpPr>
            <a:spLocks noGrp="1"/>
          </p:cNvSpPr>
          <p:nvPr>
            <p:ph type="sldNum" sz="quarter" idx="10"/>
          </p:nvPr>
        </p:nvSpPr>
        <p:spPr/>
        <p:txBody>
          <a:bodyPr/>
          <a:lstStyle/>
          <a:p>
            <a:fld id="{49341753-9BC3-4180-A0C3-63FCB1CCC48F}" type="slidenum">
              <a:rPr lang="en-US" smtClean="0"/>
              <a:t>107</a:t>
            </a:fld>
            <a:endParaRPr lang="en-US"/>
          </a:p>
        </p:txBody>
      </p:sp>
    </p:spTree>
    <p:extLst>
      <p:ext uri="{BB962C8B-B14F-4D97-AF65-F5344CB8AC3E}">
        <p14:creationId xmlns:p14="http://schemas.microsoft.com/office/powerpoint/2010/main" val="2527041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Switch the roles of two parts: when Part 1 runs full, copy live (reachable) objects to Part 2.</a:t>
            </a:r>
          </a:p>
          <a:p>
            <a:endParaRPr lang="en-US" dirty="0"/>
          </a:p>
        </p:txBody>
      </p:sp>
      <p:sp>
        <p:nvSpPr>
          <p:cNvPr id="4" name="Slide Number Placeholder 3"/>
          <p:cNvSpPr>
            <a:spLocks noGrp="1"/>
          </p:cNvSpPr>
          <p:nvPr>
            <p:ph type="sldNum" sz="quarter" idx="10"/>
          </p:nvPr>
        </p:nvSpPr>
        <p:spPr/>
        <p:txBody>
          <a:bodyPr/>
          <a:lstStyle/>
          <a:p>
            <a:fld id="{49341753-9BC3-4180-A0C3-63FCB1CCC48F}" type="slidenum">
              <a:rPr lang="en-US" smtClean="0"/>
              <a:t>108</a:t>
            </a:fld>
            <a:endParaRPr lang="en-US"/>
          </a:p>
        </p:txBody>
      </p:sp>
    </p:spTree>
    <p:extLst>
      <p:ext uri="{BB962C8B-B14F-4D97-AF65-F5344CB8AC3E}">
        <p14:creationId xmlns:p14="http://schemas.microsoft.com/office/powerpoint/2010/main" val="10921802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a:xfrm>
            <a:off x="1218883" y="0"/>
            <a:ext cx="609441"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1" name="Rectangle 10"/>
          <p:cNvSpPr/>
          <p:nvPr/>
        </p:nvSpPr>
        <p:spPr>
          <a:xfrm>
            <a:off x="0" y="0"/>
            <a:ext cx="1218883"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2" name="Rectangle 11"/>
          <p:cNvSpPr/>
          <p:nvPr/>
        </p:nvSpPr>
        <p:spPr>
          <a:xfrm>
            <a:off x="0" y="5638800"/>
            <a:ext cx="12188825" cy="1219200"/>
          </a:xfrm>
          <a:prstGeom prst="rect">
            <a:avLst/>
          </a:prstGeom>
          <a:solidFill>
            <a:schemeClr val="bg2">
              <a:lumMod val="50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3" name="Straight Connector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0" y="5643132"/>
            <a:ext cx="1216152" cy="1214868"/>
          </a:xfrm>
          <a:prstGeom prst="rect">
            <a:avLst/>
          </a:prstGeom>
          <a:solidFill>
            <a:schemeClr val="bg2">
              <a:lumMod val="2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5" name="Straight Connector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2428669" y="1600200"/>
            <a:ext cx="8329031" cy="2680127"/>
          </a:xfrm>
        </p:spPr>
        <p:txBody>
          <a:bodyPr>
            <a:noAutofit/>
          </a:bodyPr>
          <a:lstStyle>
            <a:lvl1pPr>
              <a:defRPr sz="5400"/>
            </a:lvl1pPr>
          </a:lstStyle>
          <a:p>
            <a:r>
              <a:rPr lang="en-US" smtClean="0"/>
              <a:t>Click to edit Master title style</a:t>
            </a:r>
            <a:endParaRPr/>
          </a:p>
        </p:txBody>
      </p:sp>
      <p:sp>
        <p:nvSpPr>
          <p:cNvPr id="3" name="Subtitle 2"/>
          <p:cNvSpPr>
            <a:spLocks noGrp="1"/>
          </p:cNvSpPr>
          <p:nvPr>
            <p:ph type="subTitle" idx="1"/>
          </p:nvPr>
        </p:nvSpPr>
        <p:spPr>
          <a:xfrm>
            <a:off x="2428669" y="4344915"/>
            <a:ext cx="7516442"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9371012" y="6195695"/>
            <a:ext cx="1600121" cy="365125"/>
          </a:xfrm>
          <a:prstGeom prst="rect">
            <a:avLst/>
          </a:prstGeom>
        </p:spPr>
        <p:txBody>
          <a:bodyPr/>
          <a:lstStyle>
            <a:lvl1pPr>
              <a:defRPr>
                <a:solidFill>
                  <a:schemeClr val="bg1"/>
                </a:solidFill>
              </a:defRPr>
            </a:lvl1pPr>
          </a:lstStyle>
          <a:p>
            <a:endParaRPr lang="en-US" dirty="0"/>
          </a:p>
        </p:txBody>
      </p:sp>
      <p:sp>
        <p:nvSpPr>
          <p:cNvPr id="5" name="Footer Placeholder 4"/>
          <p:cNvSpPr>
            <a:spLocks noGrp="1"/>
          </p:cNvSpPr>
          <p:nvPr>
            <p:ph type="ftr" sz="quarter" idx="11"/>
          </p:nvPr>
        </p:nvSpPr>
        <p:spPr>
          <a:xfrm>
            <a:off x="2284412" y="6172200"/>
            <a:ext cx="4953000" cy="431165"/>
          </a:xfrm>
          <a:prstGeom prst="rect">
            <a:avLst/>
          </a:prstGeom>
        </p:spPr>
        <p:txBody>
          <a:bodyPr/>
          <a:lstStyle>
            <a:lvl1pPr>
              <a:defRPr sz="2800" b="1">
                <a:solidFill>
                  <a:schemeClr val="bg1"/>
                </a:solidFill>
                <a:effectLst>
                  <a:outerShdw blurRad="38100" dist="38100" dir="2700000" algn="tl">
                    <a:srgbClr val="000000">
                      <a:alpha val="43137"/>
                    </a:srgbClr>
                  </a:outerShdw>
                </a:effectLst>
              </a:defRPr>
            </a:lvl1pPr>
          </a:lstStyle>
          <a:p>
            <a:r>
              <a:rPr lang="bg-BG" dirty="0" smtClean="0"/>
              <a:t>Системно програмиране</a:t>
            </a:r>
            <a:endParaRPr lang="en-US" dirty="0" smtClean="0"/>
          </a:p>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a:pPr/>
              <a:t>‹#›</a:t>
            </a:fld>
            <a:endParaRPr/>
          </a:p>
        </p:txBody>
      </p:sp>
      <p:pic>
        <p:nvPicPr>
          <p:cNvPr id="18" name="Picture 17"/>
          <p:cNvPicPr>
            <a:picLocks noChangeAspect="1"/>
          </p:cNvPicPr>
          <p:nvPr userDrawn="1"/>
        </p:nvPicPr>
        <p:blipFill>
          <a:blip r:embed="rId2"/>
          <a:stretch>
            <a:fillRect/>
          </a:stretch>
        </p:blipFill>
        <p:spPr>
          <a:xfrm>
            <a:off x="150812" y="5809005"/>
            <a:ext cx="906705" cy="906705"/>
          </a:xfrm>
          <a:prstGeom prst="rect">
            <a:avLst/>
          </a:prstGeom>
        </p:spPr>
      </p:pic>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1pPr>
              <a:lnSpc>
                <a:spcPct val="100000"/>
              </a:lnSpc>
              <a:spcBef>
                <a:spcPts val="600"/>
              </a:spcBef>
              <a:defRPr/>
            </a:lvl1pPr>
            <a:lvl2pPr>
              <a:lnSpc>
                <a:spcPct val="100000"/>
              </a:lnSpc>
              <a:spcBef>
                <a:spcPts val="600"/>
              </a:spcBef>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3/7/2023</a:t>
            </a:fld>
            <a:endParaRPr/>
          </a:p>
        </p:txBody>
      </p:sp>
      <p:sp>
        <p:nvSpPr>
          <p:cNvPr id="4" name="Footer Placeholder 3"/>
          <p:cNvSpPr>
            <a:spLocks noGrp="1"/>
          </p:cNvSpPr>
          <p:nvPr>
            <p:ph type="ftr" sz="quarter" idx="11"/>
          </p:nvPr>
        </p:nvSpPr>
        <p:spPr>
          <a:xfrm>
            <a:off x="6595933" y="6356351"/>
            <a:ext cx="3974065" cy="365125"/>
          </a:xfrm>
          <a:prstGeom prst="rect">
            <a:avLst/>
          </a:prstGeom>
        </p:spPr>
        <p:txBody>
          <a:bodyPr/>
          <a:lstStyle/>
          <a:p>
            <a:endParaRPr dirty="0"/>
          </a:p>
        </p:txBody>
      </p:sp>
      <p:sp>
        <p:nvSpPr>
          <p:cNvPr id="5" name="Slide Number Placeholder 4"/>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961812" y="0"/>
            <a:ext cx="227013" cy="6858000"/>
          </a:xfrm>
          <a:prstGeom prst="rect">
            <a:avLst/>
          </a:prstGeom>
          <a:solidFill>
            <a:schemeClr val="bg2">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a:xfrm>
            <a:off x="234715" y="0"/>
            <a:ext cx="448089" cy="6858000"/>
          </a:xfrm>
          <a:prstGeom prst="rect">
            <a:avLst/>
          </a:prstGeom>
          <a:solidFill>
            <a:schemeClr val="bg2">
              <a:lumMod val="50000"/>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a:xfrm>
            <a:off x="1" y="0"/>
            <a:ext cx="227011" cy="6858000"/>
          </a:xfrm>
          <a:prstGeom prst="rect">
            <a:avLst/>
          </a:prstGeom>
          <a:solidFill>
            <a:schemeClr val="bg2">
              <a:lumMod val="50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3" name="Rectangle 12"/>
          <p:cNvSpPr/>
          <p:nvPr/>
        </p:nvSpPr>
        <p:spPr>
          <a:xfrm>
            <a:off x="227013" y="4338"/>
            <a:ext cx="455791" cy="455910"/>
          </a:xfrm>
          <a:prstGeom prst="rect">
            <a:avLst/>
          </a:prstGeom>
          <a:solidFill>
            <a:schemeClr val="bg2">
              <a:lumMod val="2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4" name="Straight Connector 13"/>
          <p:cNvCxnSpPr/>
          <p:nvPr/>
        </p:nvCxnSpPr>
        <p:spPr bwMode="white">
          <a:xfrm flipV="1">
            <a:off x="227012" y="0"/>
            <a:ext cx="455792" cy="304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white">
          <a:xfrm>
            <a:off x="227013" y="460248"/>
            <a:ext cx="45579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227012" y="-3048"/>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912811" y="177800"/>
            <a:ext cx="10896541" cy="724915"/>
          </a:xfrm>
          <a:prstGeom prst="rect">
            <a:avLst/>
          </a:prstGeom>
        </p:spPr>
        <p:txBody>
          <a:bodyPr vert="horz" lIns="91440" tIns="45720" rIns="91440" bIns="45720" rtlCol="0" anchor="b">
            <a:normAutofit/>
          </a:bodyPr>
          <a:lstStyle/>
          <a:p>
            <a:r>
              <a:rPr lang="en-US" dirty="0" smtClean="0"/>
              <a:t>Click to edit Master title style</a:t>
            </a:r>
            <a:endParaRPr dirty="0"/>
          </a:p>
        </p:txBody>
      </p:sp>
      <p:sp>
        <p:nvSpPr>
          <p:cNvPr id="3" name="Text Placeholder 2"/>
          <p:cNvSpPr>
            <a:spLocks noGrp="1"/>
          </p:cNvSpPr>
          <p:nvPr>
            <p:ph type="body" idx="1"/>
          </p:nvPr>
        </p:nvSpPr>
        <p:spPr>
          <a:xfrm>
            <a:off x="908662" y="1143000"/>
            <a:ext cx="10900750" cy="54102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6" name="Slide Number Placeholder 5"/>
          <p:cNvSpPr>
            <a:spLocks noGrp="1"/>
          </p:cNvSpPr>
          <p:nvPr>
            <p:ph type="sldNum" sz="quarter" idx="4"/>
          </p:nvPr>
        </p:nvSpPr>
        <p:spPr>
          <a:xfrm>
            <a:off x="11541236" y="6629400"/>
            <a:ext cx="420576" cy="225552"/>
          </a:xfrm>
          <a:prstGeom prst="rect">
            <a:avLst/>
          </a:prstGeom>
        </p:spPr>
        <p:txBody>
          <a:bodyPr vert="horz" lIns="91440" tIns="45720" rIns="91440" bIns="45720" rtlCol="0" anchor="ctr"/>
          <a:lstStyle>
            <a:lvl1pPr algn="r">
              <a:defRPr sz="1000" cap="all" baseline="0">
                <a:solidFill>
                  <a:schemeClr val="tx1">
                    <a:lumMod val="60000"/>
                    <a:lumOff val="40000"/>
                  </a:schemeClr>
                </a:solidFill>
              </a:defRPr>
            </a:lvl1pPr>
          </a:lstStyle>
          <a:p>
            <a:fld id="{7DC1BBB0-96F0-4077-A278-0F3FB5C104D3}" type="slidenum">
              <a:rPr lang="en-US" smtClean="0"/>
              <a:pPr/>
              <a:t>‹#›</a:t>
            </a:fld>
            <a:endParaRPr lang="en-US" dirty="0"/>
          </a:p>
        </p:txBody>
      </p:sp>
      <p:pic>
        <p:nvPicPr>
          <p:cNvPr id="4" name="Picture 3"/>
          <p:cNvPicPr>
            <a:picLocks noChangeAspect="1"/>
          </p:cNvPicPr>
          <p:nvPr userDrawn="1"/>
        </p:nvPicPr>
        <p:blipFill>
          <a:blip r:embed="rId5"/>
          <a:stretch>
            <a:fillRect/>
          </a:stretch>
        </p:blipFill>
        <p:spPr>
          <a:xfrm>
            <a:off x="251739" y="34237"/>
            <a:ext cx="385848" cy="394821"/>
          </a:xfrm>
          <a:prstGeom prst="rect">
            <a:avLst/>
          </a:prstGeom>
        </p:spPr>
      </p:pic>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000" b="1" kern="1200">
          <a:solidFill>
            <a:schemeClr val="tx1">
              <a:lumMod val="75000"/>
            </a:schemeClr>
          </a:solidFill>
          <a:effectLst>
            <a:outerShdw blurRad="38100" dist="38100" dir="2700000" algn="tl">
              <a:srgbClr val="000000">
                <a:alpha val="43137"/>
              </a:srgbClr>
            </a:outerShdw>
          </a:effectLst>
          <a:latin typeface="Calibri" panose="020F0502020204030204" pitchFamily="34" charset="0"/>
          <a:ea typeface="+mj-ea"/>
          <a:cs typeface="+mj-cs"/>
        </a:defRPr>
      </a:lvl1pPr>
    </p:titleStyle>
    <p:bodyStyle>
      <a:lvl1pPr marL="347663" indent="-347663" algn="l" defTabSz="914400" rtl="0" eaLnBrk="1" latinLnBrk="0" hangingPunct="1">
        <a:lnSpc>
          <a:spcPct val="90000"/>
        </a:lnSpc>
        <a:spcBef>
          <a:spcPts val="1400"/>
        </a:spcBef>
        <a:buSzPct val="70000"/>
        <a:buFont typeface="Wingdings" panose="05000000000000000000" pitchFamily="2" charset="2"/>
        <a:buChar char="Ä"/>
        <a:defRPr sz="3200" kern="1200">
          <a:solidFill>
            <a:schemeClr val="tx2"/>
          </a:solidFill>
          <a:latin typeface="Calibri" panose="020F0502020204030204" pitchFamily="34" charset="0"/>
          <a:ea typeface="+mn-ea"/>
          <a:cs typeface="+mn-cs"/>
        </a:defRPr>
      </a:lvl1pPr>
      <a:lvl2pPr marL="741363" indent="-303213" algn="l" defTabSz="914400" rtl="0" eaLnBrk="1" latinLnBrk="0" hangingPunct="1">
        <a:lnSpc>
          <a:spcPct val="90000"/>
        </a:lnSpc>
        <a:spcBef>
          <a:spcPts val="600"/>
        </a:spcBef>
        <a:buSzPct val="80000"/>
        <a:buFont typeface="Wingdings" panose="05000000000000000000" pitchFamily="2" charset="2"/>
        <a:buChar char="ü"/>
        <a:defRPr sz="2800" kern="1200">
          <a:solidFill>
            <a:schemeClr val="tx2"/>
          </a:solidFill>
          <a:latin typeface="Calibri" panose="020F0502020204030204" pitchFamily="34" charset="0"/>
          <a:ea typeface="+mn-ea"/>
          <a:cs typeface="+mn-cs"/>
        </a:defRPr>
      </a:lvl2pPr>
      <a:lvl3pPr marL="1143000" indent="-300038" algn="l" defTabSz="914400" rtl="0" eaLnBrk="1" latinLnBrk="0" hangingPunct="1">
        <a:lnSpc>
          <a:spcPct val="90000"/>
        </a:lnSpc>
        <a:spcBef>
          <a:spcPts val="600"/>
        </a:spcBef>
        <a:buSzPct val="90000"/>
        <a:buFont typeface="Wingdings" panose="05000000000000000000" pitchFamily="2" charset="2"/>
        <a:buChar char="û"/>
        <a:defRPr sz="2400" kern="1200">
          <a:solidFill>
            <a:schemeClr val="tx2"/>
          </a:solidFill>
          <a:latin typeface="Calibri" panose="020F0502020204030204" pitchFamily="34" charset="0"/>
          <a:ea typeface="+mn-ea"/>
          <a:cs typeface="+mn-cs"/>
        </a:defRPr>
      </a:lvl3pPr>
      <a:lvl4pPr marL="1316038" indent="-192088" algn="l" defTabSz="914400" rtl="0" eaLnBrk="1" latinLnBrk="0" hangingPunct="1">
        <a:lnSpc>
          <a:spcPct val="90000"/>
        </a:lnSpc>
        <a:spcBef>
          <a:spcPts val="600"/>
        </a:spcBef>
        <a:buFont typeface="Arial" pitchFamily="34" charset="0"/>
        <a:buChar char="–"/>
        <a:defRPr sz="2000" kern="1200">
          <a:solidFill>
            <a:schemeClr val="tx2"/>
          </a:solidFill>
          <a:latin typeface="Calibri" panose="020F0502020204030204" pitchFamily="34" charset="0"/>
          <a:ea typeface="+mn-ea"/>
          <a:cs typeface="+mn-cs"/>
        </a:defRPr>
      </a:lvl4pPr>
      <a:lvl5pPr marL="1655763" indent="-192088" algn="l" defTabSz="914400" rtl="0" eaLnBrk="1" latinLnBrk="0" hangingPunct="1">
        <a:lnSpc>
          <a:spcPct val="90000"/>
        </a:lnSpc>
        <a:spcBef>
          <a:spcPts val="600"/>
        </a:spcBef>
        <a:buFont typeface="Euphemia" pitchFamily="34" charset="0"/>
        <a:buChar char="›"/>
        <a:defRPr sz="1800" kern="1200">
          <a:solidFill>
            <a:schemeClr val="tx2"/>
          </a:solidFill>
          <a:latin typeface="Calibri" panose="020F0502020204030204" pitchFamily="34" charset="0"/>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84.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0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8" Type="http://schemas.openxmlformats.org/officeDocument/2006/relationships/hyperlink" Target="https://www.scaler.com/topics/operating-system/interrupt-handling/" TargetMode="External"/><Relationship Id="rId13" Type="http://schemas.openxmlformats.org/officeDocument/2006/relationships/hyperlink" Target="https://medium.com/@StueyGK/static-libraries-vs-dynamic-libraries-af78f0b5f1e4" TargetMode="External"/><Relationship Id="rId18" Type="http://schemas.openxmlformats.org/officeDocument/2006/relationships/hyperlink" Target="http://www.cse.iitm.ac.in/~chester/courses/15o_os/" TargetMode="External"/><Relationship Id="rId3" Type="http://schemas.openxmlformats.org/officeDocument/2006/relationships/hyperlink" Target="https://www.javatpoint.com/operating-system" TargetMode="External"/><Relationship Id="rId7" Type="http://schemas.openxmlformats.org/officeDocument/2006/relationships/hyperlink" Target="https://www.geeksforgeeks.org/process-scheduler-job-and-process-status/" TargetMode="External"/><Relationship Id="rId12" Type="http://schemas.openxmlformats.org/officeDocument/2006/relationships/hyperlink" Target="https://www.netsolutions.com/insights/what-is-a-framework-in-programming/" TargetMode="External"/><Relationship Id="rId17" Type="http://schemas.openxmlformats.org/officeDocument/2006/relationships/hyperlink" Target="https://web.stanford.edu/class/archive/cs/cs143/cs143.1128/lectures/18/Slides18.pdf" TargetMode="External"/><Relationship Id="rId2" Type="http://schemas.openxmlformats.org/officeDocument/2006/relationships/hyperlink" Target="https://www.dsl-ltd.co.uk/support/embedded-os/" TargetMode="External"/><Relationship Id="rId16" Type="http://schemas.openxmlformats.org/officeDocument/2006/relationships/hyperlink" Target="https://www.memorymanagement.org/" TargetMode="External"/><Relationship Id="rId20" Type="http://schemas.openxmlformats.org/officeDocument/2006/relationships/hyperlink" Target="https://blog.purestorage.com/purely-informational/task-vs-process-in-linux/" TargetMode="External"/><Relationship Id="rId1" Type="http://schemas.openxmlformats.org/officeDocument/2006/relationships/slideLayout" Target="../slideLayouts/slideLayout2.xml"/><Relationship Id="rId6" Type="http://schemas.openxmlformats.org/officeDocument/2006/relationships/hyperlink" Target="https://www.shresthanischal.com.np/2021/02/difference-between-soft-hard-and-firm.html" TargetMode="External"/><Relationship Id="rId11" Type="http://schemas.openxmlformats.org/officeDocument/2006/relationships/hyperlink" Target="https://www.guru99.com/what-is-api.html" TargetMode="External"/><Relationship Id="rId5" Type="http://schemas.openxmlformats.org/officeDocument/2006/relationships/hyperlink" Target="https://www.geeksforgeeks.org/" TargetMode="External"/><Relationship Id="rId15" Type="http://schemas.openxmlformats.org/officeDocument/2006/relationships/hyperlink" Target="http://wiki.c2.com/" TargetMode="External"/><Relationship Id="rId10" Type="http://schemas.openxmlformats.org/officeDocument/2006/relationships/hyperlink" Target="https://www.altexsoft.com/blog/engineering/what-is-api-definition-types-specifications-documentation/" TargetMode="External"/><Relationship Id="rId19" Type="http://schemas.openxmlformats.org/officeDocument/2006/relationships/hyperlink" Target="https://minnie.tuhs.org/CompArch/Lectures/week06.html" TargetMode="External"/><Relationship Id="rId4" Type="http://schemas.openxmlformats.org/officeDocument/2006/relationships/hyperlink" Target="https://www.tutorialspoint.com/" TargetMode="External"/><Relationship Id="rId9" Type="http://schemas.openxmlformats.org/officeDocument/2006/relationships/hyperlink" Target="https://aws.amazon.com/what-is/api/" TargetMode="External"/><Relationship Id="rId14" Type="http://schemas.openxmlformats.org/officeDocument/2006/relationships/hyperlink" Target="https://www.jmix.io/cuba-blog/classification-of-development-frameworks-for-enterprise-applica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bg-BG" dirty="0" smtClean="0"/>
              <a:t>Влияния на операционната система</a:t>
            </a:r>
            <a:endParaRPr lang="en-US" dirty="0"/>
          </a:p>
        </p:txBody>
      </p:sp>
      <p:sp>
        <p:nvSpPr>
          <p:cNvPr id="3" name="Subtitle 2"/>
          <p:cNvSpPr>
            <a:spLocks noGrp="1"/>
          </p:cNvSpPr>
          <p:nvPr>
            <p:ph type="subTitle" idx="1"/>
          </p:nvPr>
        </p:nvSpPr>
        <p:spPr/>
        <p:txBody>
          <a:bodyPr/>
          <a:lstStyle/>
          <a:p>
            <a:endParaRPr lang="en-US" dirty="0"/>
          </a:p>
        </p:txBody>
      </p:sp>
      <p:sp>
        <p:nvSpPr>
          <p:cNvPr id="6" name="Footer Placeholder 4"/>
          <p:cNvSpPr>
            <a:spLocks noGrp="1"/>
          </p:cNvSpPr>
          <p:nvPr>
            <p:ph type="ftr" sz="quarter" idx="11"/>
          </p:nvPr>
        </p:nvSpPr>
        <p:spPr>
          <a:xfrm>
            <a:off x="6475412" y="6329299"/>
            <a:ext cx="4736065" cy="507365"/>
          </a:xfrm>
          <a:prstGeom prst="rect">
            <a:avLst/>
          </a:prstGeom>
        </p:spPr>
        <p:txBody>
          <a:bodyPr/>
          <a:lstStyle>
            <a:lvl1pPr>
              <a:defRPr sz="2800" b="1">
                <a:solidFill>
                  <a:schemeClr val="bg1"/>
                </a:solidFill>
                <a:effectLst>
                  <a:outerShdw blurRad="38100" dist="38100" dir="2700000" algn="tl">
                    <a:srgbClr val="000000">
                      <a:alpha val="43137"/>
                    </a:srgbClr>
                  </a:outerShdw>
                </a:effectLst>
              </a:defRPr>
            </a:lvl1pPr>
          </a:lstStyle>
          <a:p>
            <a:pPr algn="r"/>
            <a:r>
              <a:rPr lang="bg-BG" dirty="0" smtClean="0"/>
              <a:t>Системно програмиране</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Въведение</a:t>
            </a:r>
            <a:endParaRPr lang="bg-BG" dirty="0"/>
          </a:p>
        </p:txBody>
      </p:sp>
      <p:sp>
        <p:nvSpPr>
          <p:cNvPr id="3" name="Content Placeholder 2"/>
          <p:cNvSpPr>
            <a:spLocks noGrp="1"/>
          </p:cNvSpPr>
          <p:nvPr>
            <p:ph idx="1"/>
          </p:nvPr>
        </p:nvSpPr>
        <p:spPr/>
        <p:txBody>
          <a:bodyPr>
            <a:normAutofit/>
          </a:bodyPr>
          <a:lstStyle/>
          <a:p>
            <a:r>
              <a:rPr lang="ru-RU" sz="2800" dirty="0" smtClean="0"/>
              <a:t>Компютърът е система, състояща се от софтуер и хардуер. </a:t>
            </a:r>
          </a:p>
          <a:p>
            <a:pPr lvl="1"/>
            <a:r>
              <a:rPr lang="ru-RU" sz="2400" dirty="0" smtClean="0"/>
              <a:t>Без </a:t>
            </a:r>
            <a:r>
              <a:rPr lang="ru-RU" sz="2400" dirty="0"/>
              <a:t>софтуер компютърът е </a:t>
            </a:r>
            <a:r>
              <a:rPr lang="ru-RU" sz="2400" dirty="0" smtClean="0"/>
              <a:t>безполезен, защото една от основните роли на </a:t>
            </a:r>
            <a:r>
              <a:rPr lang="bg-BG" sz="2400" dirty="0" smtClean="0"/>
              <a:t>софтуера в к</a:t>
            </a:r>
            <a:r>
              <a:rPr lang="ru-RU" sz="2400" dirty="0" smtClean="0"/>
              <a:t>омпютъра е задачата за контроли на достъпа и използване на наличнич хардуер </a:t>
            </a:r>
            <a:r>
              <a:rPr lang="ru-RU" sz="2400" dirty="0"/>
              <a:t>(CPU, памет, дискове и т.н.) и </a:t>
            </a:r>
            <a:r>
              <a:rPr lang="ru-RU" sz="2400" dirty="0" smtClean="0"/>
              <a:t>така да превръща </a:t>
            </a:r>
            <a:r>
              <a:rPr lang="ru-RU" sz="2400" dirty="0"/>
              <a:t>компютъра в полезен инструмент за своите потребители</a:t>
            </a:r>
            <a:r>
              <a:rPr lang="ru-RU" sz="2400" dirty="0" smtClean="0"/>
              <a:t>.</a:t>
            </a:r>
          </a:p>
          <a:p>
            <a:r>
              <a:rPr lang="ru-RU" sz="2800" dirty="0" smtClean="0"/>
              <a:t>Софтуерната </a:t>
            </a:r>
            <a:r>
              <a:rPr lang="ru-RU" sz="2800" dirty="0"/>
              <a:t>страна на компютъра </a:t>
            </a:r>
            <a:r>
              <a:rPr lang="ru-RU" sz="2800" dirty="0" smtClean="0"/>
              <a:t/>
            </a:r>
            <a:br>
              <a:rPr lang="ru-RU" sz="2800" dirty="0" smtClean="0"/>
            </a:br>
            <a:r>
              <a:rPr lang="ru-RU" sz="2800" dirty="0" smtClean="0"/>
              <a:t>може </a:t>
            </a:r>
            <a:r>
              <a:rPr lang="ru-RU" sz="2800" dirty="0"/>
              <a:t>да бъде разделена на </a:t>
            </a:r>
            <a:r>
              <a:rPr lang="ru-RU" sz="2800" dirty="0" smtClean="0"/>
              <a:t/>
            </a:r>
            <a:br>
              <a:rPr lang="ru-RU" sz="2800" dirty="0" smtClean="0"/>
            </a:br>
            <a:r>
              <a:rPr lang="ru-RU" sz="2800" dirty="0" smtClean="0"/>
              <a:t>програми</a:t>
            </a:r>
            <a:r>
              <a:rPr lang="ru-RU" sz="2800" dirty="0"/>
              <a:t>, библиотеки и </a:t>
            </a:r>
            <a:r>
              <a:rPr lang="ru-RU" sz="2800" dirty="0" smtClean="0"/>
              <a:t/>
            </a:r>
            <a:br>
              <a:rPr lang="ru-RU" sz="2800" dirty="0" smtClean="0"/>
            </a:br>
            <a:r>
              <a:rPr lang="ru-RU" sz="2800" dirty="0" smtClean="0"/>
              <a:t>операционна </a:t>
            </a:r>
            <a:r>
              <a:rPr lang="ru-RU" sz="2800" dirty="0"/>
              <a:t>система</a:t>
            </a:r>
            <a:r>
              <a:rPr lang="ru-RU" sz="2800" dirty="0" smtClean="0"/>
              <a:t>.</a:t>
            </a:r>
          </a:p>
          <a:p>
            <a:pPr lvl="1"/>
            <a:r>
              <a:rPr lang="ru-RU" sz="2400" b="1" dirty="0"/>
              <a:t>Операционната </a:t>
            </a:r>
            <a:r>
              <a:rPr lang="ru-RU" sz="2400" b="1" dirty="0" smtClean="0"/>
              <a:t>система</a:t>
            </a:r>
            <a:r>
              <a:rPr lang="ru-RU" sz="2400" dirty="0" smtClean="0"/>
              <a:t> е </a:t>
            </a:r>
            <a:br>
              <a:rPr lang="ru-RU" sz="2400" dirty="0" smtClean="0"/>
            </a:br>
            <a:r>
              <a:rPr lang="ru-RU" sz="2400" dirty="0" smtClean="0"/>
              <a:t>ключовият елемент на софтуерната </a:t>
            </a:r>
            <a:br>
              <a:rPr lang="ru-RU" sz="2400" dirty="0" smtClean="0"/>
            </a:br>
            <a:r>
              <a:rPr lang="ru-RU" sz="2400" dirty="0" smtClean="0"/>
              <a:t>аст на компютъра.</a:t>
            </a:r>
            <a:endParaRPr lang="ru-RU" sz="2400" b="1" dirty="0" smtClean="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8812" y="3352800"/>
            <a:ext cx="4679121"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151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smtClean="0"/>
              <a:t>Въведение</a:t>
            </a:r>
            <a:endParaRPr lang="bg-BG" dirty="0"/>
          </a:p>
        </p:txBody>
      </p:sp>
      <p:sp>
        <p:nvSpPr>
          <p:cNvPr id="3" name="Content Placeholder 2"/>
          <p:cNvSpPr>
            <a:spLocks noGrp="1"/>
          </p:cNvSpPr>
          <p:nvPr>
            <p:ph idx="1"/>
          </p:nvPr>
        </p:nvSpPr>
        <p:spPr/>
        <p:txBody>
          <a:bodyPr>
            <a:normAutofit fontScale="92500"/>
          </a:bodyPr>
          <a:lstStyle/>
          <a:p>
            <a:r>
              <a:rPr lang="ru-RU" dirty="0"/>
              <a:t>ОС трябва да </a:t>
            </a:r>
            <a:r>
              <a:rPr lang="ru-RU" dirty="0" smtClean="0"/>
              <a:t>«скрие» хардуера от потребителите, т.е. ОС предоставя </a:t>
            </a:r>
            <a:r>
              <a:rPr lang="ru-RU" dirty="0"/>
              <a:t>абстрактен интерфейс </a:t>
            </a:r>
            <a:r>
              <a:rPr lang="ru-RU" dirty="0" smtClean="0"/>
              <a:t>за да могат потребителските програми да използват всички възможности на хардуера.</a:t>
            </a:r>
          </a:p>
          <a:p>
            <a:pPr lvl="1"/>
            <a:r>
              <a:rPr lang="ru-RU" dirty="0" smtClean="0"/>
              <a:t>ОС </a:t>
            </a:r>
            <a:r>
              <a:rPr lang="ru-RU" dirty="0"/>
              <a:t>трябва също да осигури справедливо разпределение на ресурсите за потребители и програми</a:t>
            </a:r>
            <a:r>
              <a:rPr lang="ru-RU" dirty="0" smtClean="0"/>
              <a:t>.</a:t>
            </a:r>
          </a:p>
          <a:p>
            <a:pPr lvl="1"/>
            <a:r>
              <a:rPr lang="ru-RU" dirty="0" smtClean="0"/>
              <a:t>ОС </a:t>
            </a:r>
            <a:r>
              <a:rPr lang="ru-RU" dirty="0"/>
              <a:t>трябва да защити всеки </a:t>
            </a:r>
            <a:r>
              <a:rPr lang="ru-RU" dirty="0" smtClean="0"/>
              <a:t>потребителите </a:t>
            </a:r>
            <a:r>
              <a:rPr lang="ru-RU" dirty="0"/>
              <a:t>и </a:t>
            </a:r>
            <a:r>
              <a:rPr lang="ru-RU" dirty="0" smtClean="0"/>
              <a:t>техните програми </a:t>
            </a:r>
            <a:r>
              <a:rPr lang="ru-RU" dirty="0"/>
              <a:t>от всички други потребители и </a:t>
            </a:r>
            <a:r>
              <a:rPr lang="ru-RU" dirty="0" smtClean="0"/>
              <a:t>техните действия.</a:t>
            </a:r>
          </a:p>
          <a:p>
            <a:pPr lvl="1"/>
            <a:r>
              <a:rPr lang="ru-RU" dirty="0" smtClean="0"/>
              <a:t>ОС </a:t>
            </a:r>
            <a:r>
              <a:rPr lang="ru-RU" dirty="0"/>
              <a:t>трябва да предотврати целия достъп до устройства от потребителски </a:t>
            </a:r>
            <a:r>
              <a:rPr lang="ru-RU" dirty="0" smtClean="0"/>
              <a:t>програми.</a:t>
            </a:r>
          </a:p>
          <a:p>
            <a:pPr lvl="1"/>
            <a:r>
              <a:rPr lang="ru-RU" dirty="0" smtClean="0"/>
              <a:t>Той </a:t>
            </a:r>
            <a:r>
              <a:rPr lang="ru-RU" dirty="0"/>
              <a:t>също така трябва да ограничи достъпа на всяка програма до основната памет, само до местоположението на паметта на тази програма.</a:t>
            </a:r>
            <a:endParaRPr lang="bg-BG" dirty="0"/>
          </a:p>
        </p:txBody>
      </p:sp>
    </p:spTree>
    <p:extLst>
      <p:ext uri="{BB962C8B-B14F-4D97-AF65-F5344CB8AC3E}">
        <p14:creationId xmlns:p14="http://schemas.microsoft.com/office/powerpoint/2010/main" val="2767594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Въведение</a:t>
            </a:r>
            <a:endParaRPr lang="bg-BG" dirty="0"/>
          </a:p>
        </p:txBody>
      </p:sp>
      <p:sp>
        <p:nvSpPr>
          <p:cNvPr id="3" name="Content Placeholder 2"/>
          <p:cNvSpPr>
            <a:spLocks noGrp="1"/>
          </p:cNvSpPr>
          <p:nvPr>
            <p:ph idx="1"/>
          </p:nvPr>
        </p:nvSpPr>
        <p:spPr/>
        <p:txBody>
          <a:bodyPr>
            <a:normAutofit/>
          </a:bodyPr>
          <a:lstStyle/>
          <a:p>
            <a:r>
              <a:rPr lang="ru-RU" sz="2800" dirty="0"/>
              <a:t>Операционната </a:t>
            </a:r>
            <a:r>
              <a:rPr lang="ru-RU" sz="2800" dirty="0" smtClean="0"/>
              <a:t>система (ОС) </a:t>
            </a:r>
            <a:r>
              <a:rPr lang="ru-RU" sz="2800" dirty="0"/>
              <a:t>може да се дефинира като интерфейс между потребителя и хардуера. </a:t>
            </a:r>
            <a:endParaRPr lang="ru-RU" sz="2800" dirty="0" smtClean="0"/>
          </a:p>
          <a:p>
            <a:pPr lvl="1"/>
            <a:r>
              <a:rPr lang="ru-RU" sz="2400" dirty="0"/>
              <a:t>В компютърната система (състои се от хардуер и софтуер), хардуерът може </a:t>
            </a:r>
            <a:r>
              <a:rPr lang="ru-RU" sz="2400" dirty="0" smtClean="0"/>
              <a:t>«разбира» команди само на машинен език (т.нар. «машинен код», т.е. директни битови поредици от 0 </a:t>
            </a:r>
            <a:r>
              <a:rPr lang="ru-RU" sz="2400" dirty="0"/>
              <a:t>и 1</a:t>
            </a:r>
            <a:r>
              <a:rPr lang="ru-RU" sz="2400" dirty="0" smtClean="0"/>
              <a:t>)</a:t>
            </a:r>
          </a:p>
          <a:p>
            <a:pPr lvl="2"/>
            <a:r>
              <a:rPr lang="ru-RU" sz="2000" dirty="0" smtClean="0"/>
              <a:t>Машинният код е практически неизползваем за обикновения потребител.</a:t>
            </a:r>
            <a:endParaRPr lang="bg-BG" sz="2000" dirty="0"/>
          </a:p>
          <a:p>
            <a:pPr lvl="1"/>
            <a:r>
              <a:rPr lang="ru-RU" sz="2400" dirty="0"/>
              <a:t>Целта на </a:t>
            </a:r>
            <a:r>
              <a:rPr lang="ru-RU" sz="2400" dirty="0" smtClean="0"/>
              <a:t>ОС е </a:t>
            </a:r>
            <a:r>
              <a:rPr lang="ru-RU" sz="2400" dirty="0"/>
              <a:t>да осигури среда, в която потребителят може да изпълнява програми по удобен и ефективен начин</a:t>
            </a:r>
            <a:r>
              <a:rPr lang="ru-RU" sz="2400" dirty="0" smtClean="0"/>
              <a:t>.</a:t>
            </a:r>
          </a:p>
          <a:p>
            <a:pPr lvl="2"/>
            <a:r>
              <a:rPr lang="ru-RU" sz="2000" dirty="0" smtClean="0"/>
              <a:t>ОС действа </a:t>
            </a:r>
            <a:r>
              <a:rPr lang="ru-RU" sz="2000" dirty="0"/>
              <a:t>като </a:t>
            </a:r>
            <a:r>
              <a:rPr lang="ru-RU" sz="2000" dirty="0" smtClean="0"/>
              <a:t>«посредник» между потребителските програми и хардуера.</a:t>
            </a:r>
          </a:p>
          <a:p>
            <a:pPr lvl="2"/>
            <a:r>
              <a:rPr lang="ru-RU" sz="2000" dirty="0" smtClean="0"/>
              <a:t>ОС </a:t>
            </a:r>
            <a:r>
              <a:rPr lang="ru-RU" sz="2000" dirty="0"/>
              <a:t>отговаря за изпълнението на всички процеси, разпределение на ресурси, управление на процесора, управление на файлове и много други задачи.</a:t>
            </a:r>
            <a:endParaRPr lang="ru-RU" sz="2000" dirty="0" smtClean="0"/>
          </a:p>
        </p:txBody>
      </p:sp>
    </p:spTree>
    <p:extLst>
      <p:ext uri="{BB962C8B-B14F-4D97-AF65-F5344CB8AC3E}">
        <p14:creationId xmlns:p14="http://schemas.microsoft.com/office/powerpoint/2010/main" val="1390382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Структура на компютърната система</a:t>
            </a:r>
            <a:endParaRPr lang="bg-BG" dirty="0"/>
          </a:p>
        </p:txBody>
      </p:sp>
      <p:sp>
        <p:nvSpPr>
          <p:cNvPr id="3" name="Content Placeholder 2"/>
          <p:cNvSpPr>
            <a:spLocks noGrp="1"/>
          </p:cNvSpPr>
          <p:nvPr>
            <p:ph idx="1"/>
          </p:nvPr>
        </p:nvSpPr>
        <p:spPr/>
        <p:txBody>
          <a:bodyPr>
            <a:normAutofit fontScale="92500" lnSpcReduction="10000"/>
          </a:bodyPr>
          <a:lstStyle/>
          <a:p>
            <a:r>
              <a:rPr lang="ru-RU" dirty="0"/>
              <a:t>Компютърната система се състои от</a:t>
            </a:r>
            <a:r>
              <a:rPr lang="ru-RU" dirty="0" smtClean="0"/>
              <a:t>:</a:t>
            </a:r>
          </a:p>
          <a:p>
            <a:pPr lvl="1"/>
            <a:r>
              <a:rPr lang="ru-RU" dirty="0" smtClean="0"/>
              <a:t>Потребители (англ. </a:t>
            </a:r>
            <a:r>
              <a:rPr lang="en-US" dirty="0" smtClean="0"/>
              <a:t>Users)</a:t>
            </a:r>
            <a:endParaRPr lang="ru-RU" dirty="0" smtClean="0"/>
          </a:p>
          <a:p>
            <a:pPr lvl="2"/>
            <a:r>
              <a:rPr lang="bg-BG" dirty="0"/>
              <a:t>Х</a:t>
            </a:r>
            <a:r>
              <a:rPr lang="ru-RU" dirty="0" smtClean="0"/>
              <a:t>ора</a:t>
            </a:r>
            <a:r>
              <a:rPr lang="ru-RU" dirty="0"/>
              <a:t>, които използват </a:t>
            </a:r>
            <a:r>
              <a:rPr lang="ru-RU" dirty="0" smtClean="0"/>
              <a:t>компютър за да свършат определена работа, която е полезна за тях.</a:t>
            </a:r>
          </a:p>
          <a:p>
            <a:pPr lvl="1"/>
            <a:r>
              <a:rPr lang="ru-RU" dirty="0" smtClean="0"/>
              <a:t>Приложни програми (англ. </a:t>
            </a:r>
            <a:r>
              <a:rPr lang="en-US" dirty="0" smtClean="0"/>
              <a:t>Software applications)</a:t>
            </a:r>
            <a:endParaRPr lang="ru-RU" dirty="0" smtClean="0"/>
          </a:p>
          <a:p>
            <a:pPr lvl="2"/>
            <a:r>
              <a:rPr lang="bg-BG" dirty="0"/>
              <a:t>И</a:t>
            </a:r>
            <a:r>
              <a:rPr lang="ru-RU" dirty="0" smtClean="0"/>
              <a:t>гри</a:t>
            </a:r>
            <a:r>
              <a:rPr lang="ru-RU" dirty="0"/>
              <a:t>, видео плейър, браузъри и др</a:t>
            </a:r>
            <a:r>
              <a:rPr lang="ru-RU" dirty="0" smtClean="0"/>
              <a:t>.</a:t>
            </a:r>
          </a:p>
          <a:p>
            <a:pPr lvl="1"/>
            <a:r>
              <a:rPr lang="ru-RU" dirty="0" smtClean="0"/>
              <a:t>Системни програми</a:t>
            </a:r>
            <a:r>
              <a:rPr lang="ru-RU" dirty="0"/>
              <a:t> (англ. </a:t>
            </a:r>
            <a:r>
              <a:rPr lang="en-US" dirty="0" smtClean="0"/>
              <a:t>System software)</a:t>
            </a:r>
            <a:endParaRPr lang="ru-RU" dirty="0"/>
          </a:p>
          <a:p>
            <a:pPr lvl="2"/>
            <a:r>
              <a:rPr lang="ru-RU" dirty="0" smtClean="0"/>
              <a:t>Редактори</a:t>
            </a:r>
            <a:r>
              <a:rPr lang="ru-RU" dirty="0"/>
              <a:t>, </a:t>
            </a:r>
            <a:r>
              <a:rPr lang="ru-RU" dirty="0" smtClean="0"/>
              <a:t>компилатори, фраймуърк и др.</a:t>
            </a:r>
          </a:p>
          <a:p>
            <a:pPr lvl="1"/>
            <a:r>
              <a:rPr lang="ru-RU" dirty="0" smtClean="0"/>
              <a:t>Операционна система</a:t>
            </a:r>
          </a:p>
          <a:p>
            <a:pPr lvl="2"/>
            <a:r>
              <a:rPr lang="ru-RU" dirty="0"/>
              <a:t>Управление </a:t>
            </a:r>
            <a:r>
              <a:rPr lang="ru-RU" dirty="0" smtClean="0"/>
              <a:t>и синхронизация </a:t>
            </a:r>
            <a:r>
              <a:rPr lang="ru-RU" dirty="0"/>
              <a:t>на </a:t>
            </a:r>
            <a:r>
              <a:rPr lang="ru-RU" dirty="0" smtClean="0"/>
              <a:t>процеси, управление </a:t>
            </a:r>
            <a:r>
              <a:rPr lang="ru-RU" dirty="0"/>
              <a:t>на </a:t>
            </a:r>
            <a:r>
              <a:rPr lang="ru-RU" dirty="0" smtClean="0"/>
              <a:t>паметта, диспечиране напроцесора, управление </a:t>
            </a:r>
            <a:r>
              <a:rPr lang="ru-RU" dirty="0"/>
              <a:t>на </a:t>
            </a:r>
            <a:r>
              <a:rPr lang="ru-RU" dirty="0" smtClean="0"/>
              <a:t>файлове, сигурност и други функции.</a:t>
            </a:r>
          </a:p>
          <a:p>
            <a:pPr lvl="1"/>
            <a:r>
              <a:rPr lang="ru-RU" dirty="0" smtClean="0"/>
              <a:t>Хардуер</a:t>
            </a:r>
          </a:p>
          <a:p>
            <a:pPr lvl="2"/>
            <a:r>
              <a:rPr lang="ru-RU" dirty="0" smtClean="0"/>
              <a:t>CPU</a:t>
            </a:r>
            <a:r>
              <a:rPr lang="ru-RU" dirty="0"/>
              <a:t>, </a:t>
            </a:r>
            <a:r>
              <a:rPr lang="ru-RU" dirty="0" smtClean="0"/>
              <a:t>памет</a:t>
            </a:r>
            <a:r>
              <a:rPr lang="en-US" dirty="0" smtClean="0"/>
              <a:t>,</a:t>
            </a:r>
            <a:r>
              <a:rPr lang="bg-BG" dirty="0" smtClean="0"/>
              <a:t> периферни</a:t>
            </a:r>
            <a:r>
              <a:rPr lang="ru-RU" dirty="0" smtClean="0"/>
              <a:t> устройства, комуникационни канали и други.</a:t>
            </a:r>
            <a:endParaRPr lang="bg-BG" dirty="0"/>
          </a:p>
        </p:txBody>
      </p:sp>
    </p:spTree>
    <p:extLst>
      <p:ext uri="{BB962C8B-B14F-4D97-AF65-F5344CB8AC3E}">
        <p14:creationId xmlns:p14="http://schemas.microsoft.com/office/powerpoint/2010/main" val="422979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Програмни библиотеки</a:t>
            </a:r>
            <a:endParaRPr lang="bg-BG" dirty="0"/>
          </a:p>
        </p:txBody>
      </p:sp>
      <p:sp>
        <p:nvSpPr>
          <p:cNvPr id="3" name="Content Placeholder 2"/>
          <p:cNvSpPr>
            <a:spLocks noGrp="1"/>
          </p:cNvSpPr>
          <p:nvPr>
            <p:ph idx="1"/>
          </p:nvPr>
        </p:nvSpPr>
        <p:spPr/>
        <p:txBody>
          <a:bodyPr>
            <a:normAutofit/>
          </a:bodyPr>
          <a:lstStyle/>
          <a:p>
            <a:r>
              <a:rPr lang="bg-BG" sz="2800" i="1" dirty="0" smtClean="0">
                <a:effectLst>
                  <a:outerShdw blurRad="38100" dist="38100" dir="2700000" algn="tl">
                    <a:srgbClr val="000000">
                      <a:alpha val="43137"/>
                    </a:srgbClr>
                  </a:outerShdw>
                </a:effectLst>
              </a:rPr>
              <a:t>Подпрограмите</a:t>
            </a:r>
            <a:r>
              <a:rPr lang="ru-RU" sz="2800" dirty="0" smtClean="0"/>
              <a:t> </a:t>
            </a:r>
            <a:r>
              <a:rPr lang="ru-RU" sz="2800" dirty="0"/>
              <a:t>са блокове от код, които могат да се използват в цялата програма. </a:t>
            </a:r>
            <a:endParaRPr lang="ru-RU" sz="2800" dirty="0" smtClean="0"/>
          </a:p>
          <a:p>
            <a:pPr lvl="1"/>
            <a:r>
              <a:rPr lang="ru-RU" sz="2400" dirty="0" smtClean="0"/>
              <a:t>Те се използват само в текущата програма.</a:t>
            </a:r>
          </a:p>
          <a:p>
            <a:pPr lvl="1"/>
            <a:r>
              <a:rPr lang="ru-RU" sz="2400" dirty="0" smtClean="0"/>
              <a:t>Те се описват само на едно място в програмата.</a:t>
            </a:r>
            <a:endParaRPr lang="en-US" sz="2400" dirty="0" smtClean="0"/>
          </a:p>
          <a:p>
            <a:r>
              <a:rPr lang="ru-RU" sz="2800" i="1" dirty="0" smtClean="0">
                <a:effectLst>
                  <a:outerShdw blurRad="38100" dist="38100" dir="2700000" algn="tl">
                    <a:srgbClr val="000000">
                      <a:alpha val="43137"/>
                    </a:srgbClr>
                  </a:outerShdw>
                </a:effectLst>
              </a:rPr>
              <a:t>Библиотеките</a:t>
            </a:r>
            <a:r>
              <a:rPr lang="ru-RU" sz="2800" dirty="0" smtClean="0"/>
              <a:t> е множество от подпрограми, които са създадени с цел на </a:t>
            </a:r>
            <a:r>
              <a:rPr lang="ru-RU" sz="2800" dirty="0"/>
              <a:t>многократна употреба в множество </a:t>
            </a:r>
            <a:r>
              <a:rPr lang="ru-RU" sz="2800" dirty="0" smtClean="0"/>
              <a:t>програми.</a:t>
            </a:r>
          </a:p>
          <a:p>
            <a:pPr lvl="1"/>
            <a:r>
              <a:rPr lang="ru-RU" sz="2400" dirty="0" smtClean="0"/>
              <a:t>Библиотеките съдържат подпрограми, транслирани до обектен код.</a:t>
            </a:r>
          </a:p>
          <a:p>
            <a:pPr lvl="1"/>
            <a:r>
              <a:rPr lang="ru-RU" sz="2400" dirty="0" smtClean="0"/>
              <a:t>Всяка подпрограма се реализира като самостоятелен файл, т.е. библиотеката представлява множество обкетни файлове, пакетирани в един общ файл.</a:t>
            </a:r>
          </a:p>
          <a:p>
            <a:pPr lvl="1"/>
            <a:r>
              <a:rPr lang="ru-RU" sz="2400" dirty="0" smtClean="0"/>
              <a:t>Всяка програма може да използва подпрограми от библиотеки като включи в кода само обръщение към съответната библиотечна подпрограма.</a:t>
            </a:r>
          </a:p>
          <a:p>
            <a:pPr lvl="1"/>
            <a:endParaRPr lang="bg-BG" sz="2400" dirty="0"/>
          </a:p>
        </p:txBody>
      </p:sp>
    </p:spTree>
    <p:extLst>
      <p:ext uri="{BB962C8B-B14F-4D97-AF65-F5344CB8AC3E}">
        <p14:creationId xmlns:p14="http://schemas.microsoft.com/office/powerpoint/2010/main" val="117519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Програмни библиотеки</a:t>
            </a:r>
            <a:endParaRPr lang="bg-BG" dirty="0"/>
          </a:p>
        </p:txBody>
      </p:sp>
      <p:sp>
        <p:nvSpPr>
          <p:cNvPr id="3" name="Content Placeholder 2"/>
          <p:cNvSpPr>
            <a:spLocks noGrp="1"/>
          </p:cNvSpPr>
          <p:nvPr>
            <p:ph idx="1"/>
          </p:nvPr>
        </p:nvSpPr>
        <p:spPr/>
        <p:txBody>
          <a:bodyPr>
            <a:noAutofit/>
          </a:bodyPr>
          <a:lstStyle/>
          <a:p>
            <a:pPr>
              <a:spcBef>
                <a:spcPts val="0"/>
              </a:spcBef>
            </a:pPr>
            <a:r>
              <a:rPr lang="bg-BG" dirty="0"/>
              <a:t>Библиотеките се делят на статични и динамични според начина на свързване с потребителската програма.</a:t>
            </a:r>
          </a:p>
          <a:p>
            <a:pPr lvl="1">
              <a:spcBef>
                <a:spcPts val="0"/>
              </a:spcBef>
            </a:pPr>
            <a:r>
              <a:rPr lang="bg-BG" i="1" dirty="0" smtClean="0">
                <a:effectLst>
                  <a:outerShdw blurRad="38100" dist="38100" dir="2700000" algn="tl">
                    <a:srgbClr val="000000">
                      <a:alpha val="43137"/>
                    </a:srgbClr>
                  </a:outerShdw>
                </a:effectLst>
              </a:rPr>
              <a:t>Статични библиотеки</a:t>
            </a:r>
            <a:r>
              <a:rPr lang="bg-BG" dirty="0" smtClean="0"/>
              <a:t> </a:t>
            </a:r>
          </a:p>
          <a:p>
            <a:pPr lvl="2">
              <a:spcBef>
                <a:spcPts val="0"/>
              </a:spcBef>
            </a:pPr>
            <a:r>
              <a:rPr lang="bg-BG" dirty="0" smtClean="0"/>
              <a:t>Подпрограмите в библиотеката се реализират като самостоятелни файлове, които се транслират до обектен код. Тези обектни файлове се обединяват в специален файл, наречен </a:t>
            </a:r>
            <a:r>
              <a:rPr lang="bg-BG" i="1" dirty="0" smtClean="0">
                <a:effectLst>
                  <a:outerShdw blurRad="38100" dist="38100" dir="2700000" algn="tl">
                    <a:srgbClr val="000000">
                      <a:alpha val="43137"/>
                    </a:srgbClr>
                  </a:outerShdw>
                </a:effectLst>
              </a:rPr>
              <a:t>библиотечен файл</a:t>
            </a:r>
            <a:r>
              <a:rPr lang="bg-BG" dirty="0" smtClean="0"/>
              <a:t>.</a:t>
            </a:r>
            <a:endParaRPr lang="en-US" dirty="0" smtClean="0"/>
          </a:p>
          <a:p>
            <a:pPr lvl="3">
              <a:spcBef>
                <a:spcPts val="0"/>
              </a:spcBef>
            </a:pPr>
            <a:r>
              <a:rPr lang="bg-BG" dirty="0" smtClean="0"/>
              <a:t>Най-често се използва разширението </a:t>
            </a:r>
            <a:r>
              <a:rPr lang="en-US" b="1" i="1" dirty="0" smtClean="0"/>
              <a:t>.lib</a:t>
            </a:r>
            <a:endParaRPr lang="bg-BG" b="1" i="1" dirty="0" smtClean="0"/>
          </a:p>
          <a:p>
            <a:pPr lvl="2">
              <a:spcBef>
                <a:spcPts val="0"/>
              </a:spcBef>
            </a:pPr>
            <a:r>
              <a:rPr lang="bg-BG" dirty="0" smtClean="0"/>
              <a:t>В процеса на транслация на създаваната програма, на етапа на „Свързване“, свързващият редактор (англ. </a:t>
            </a:r>
            <a:r>
              <a:rPr lang="en-US" dirty="0" smtClean="0"/>
              <a:t>Linker)</a:t>
            </a:r>
            <a:r>
              <a:rPr lang="bg-BG" dirty="0" smtClean="0"/>
              <a:t> добавя обектните кодове на библиотечните функции като част от крайния код на изпълнимия код на програмата.</a:t>
            </a:r>
            <a:endParaRPr lang="en-US" dirty="0" smtClean="0"/>
          </a:p>
          <a:p>
            <a:pPr lvl="3">
              <a:spcBef>
                <a:spcPts val="0"/>
              </a:spcBef>
            </a:pPr>
            <a:r>
              <a:rPr lang="ru-RU" dirty="0"/>
              <a:t>Тъй като кодът на библиотеката е свързан по време на компилиране, крайният изпълним файл няма зависимости от библиотеката по време на изпълнение, т.е. няма допълнителни разходи за зареждане по време на изпълнение и не е необходимо да се разпространява и копие на библиотеката.</a:t>
            </a:r>
            <a:endParaRPr lang="bg-BG" dirty="0"/>
          </a:p>
          <a:p>
            <a:pPr lvl="2">
              <a:spcBef>
                <a:spcPts val="0"/>
              </a:spcBef>
            </a:pPr>
            <a:endParaRPr lang="bg-BG" dirty="0" smtClean="0"/>
          </a:p>
        </p:txBody>
      </p:sp>
    </p:spTree>
    <p:extLst>
      <p:ext uri="{BB962C8B-B14F-4D97-AF65-F5344CB8AC3E}">
        <p14:creationId xmlns:p14="http://schemas.microsoft.com/office/powerpoint/2010/main" val="309854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Програмни библиотеки</a:t>
            </a:r>
            <a:endParaRPr lang="bg-BG" dirty="0"/>
          </a:p>
        </p:txBody>
      </p:sp>
      <p:sp>
        <p:nvSpPr>
          <p:cNvPr id="3" name="Content Placeholder 2"/>
          <p:cNvSpPr>
            <a:spLocks noGrp="1"/>
          </p:cNvSpPr>
          <p:nvPr>
            <p:ph idx="1"/>
          </p:nvPr>
        </p:nvSpPr>
        <p:spPr>
          <a:xfrm>
            <a:off x="908662" y="1143000"/>
            <a:ext cx="10900750" cy="5562600"/>
          </a:xfrm>
        </p:spPr>
        <p:txBody>
          <a:bodyPr>
            <a:normAutofit/>
          </a:bodyPr>
          <a:lstStyle/>
          <a:p>
            <a:pPr>
              <a:spcBef>
                <a:spcPts val="0"/>
              </a:spcBef>
            </a:pPr>
            <a:r>
              <a:rPr lang="bg-BG" dirty="0"/>
              <a:t>Библиотеките се делят на статични и динамични според начина на свързване с потребителската програма.</a:t>
            </a:r>
          </a:p>
          <a:p>
            <a:pPr lvl="1">
              <a:spcBef>
                <a:spcPts val="0"/>
              </a:spcBef>
            </a:pPr>
            <a:r>
              <a:rPr lang="bg-BG" i="1" dirty="0" smtClean="0">
                <a:effectLst>
                  <a:outerShdw blurRad="38100" dist="38100" dir="2700000" algn="tl">
                    <a:srgbClr val="000000">
                      <a:alpha val="43137"/>
                    </a:srgbClr>
                  </a:outerShdw>
                </a:effectLst>
              </a:rPr>
              <a:t>Статични библиотеки</a:t>
            </a:r>
            <a:r>
              <a:rPr lang="bg-BG" dirty="0" smtClean="0"/>
              <a:t> </a:t>
            </a:r>
          </a:p>
          <a:p>
            <a:pPr lvl="2">
              <a:spcBef>
                <a:spcPts val="0"/>
              </a:spcBef>
            </a:pPr>
            <a:r>
              <a:rPr lang="bg-BG" dirty="0"/>
              <a:t>Ако няколко програми използват една и съща библиотека, то при стартиране в оперативната памет ще има няколко копия на обектния код на съответните библиотечни функции: всяко копие се разполага в адресното поле на процеса</a:t>
            </a:r>
            <a:r>
              <a:rPr lang="bg-BG" dirty="0" smtClean="0"/>
              <a:t>.</a:t>
            </a:r>
            <a:endParaRPr lang="en-US" dirty="0" smtClean="0"/>
          </a:p>
          <a:p>
            <a:pPr lvl="3">
              <a:spcBef>
                <a:spcPts val="0"/>
              </a:spcBef>
            </a:pPr>
            <a:r>
              <a:rPr lang="bg-BG" dirty="0" smtClean="0"/>
              <a:t>Това поражда преразход на памет.</a:t>
            </a:r>
            <a:endParaRPr lang="bg-BG" dirty="0"/>
          </a:p>
          <a:p>
            <a:pPr lvl="2">
              <a:spcBef>
                <a:spcPts val="0"/>
              </a:spcBef>
            </a:pPr>
            <a:r>
              <a:rPr lang="ru-RU" dirty="0" smtClean="0"/>
              <a:t>Основен проблем е факта, </a:t>
            </a:r>
            <a:r>
              <a:rPr lang="ru-RU" dirty="0"/>
              <a:t>че </a:t>
            </a:r>
            <a:r>
              <a:rPr lang="ru-RU" dirty="0" smtClean="0"/>
              <a:t>всяка </a:t>
            </a:r>
            <a:r>
              <a:rPr lang="ru-RU" dirty="0"/>
              <a:t>промяна (надграждане) в статичните </a:t>
            </a:r>
            <a:r>
              <a:rPr lang="ru-RU" dirty="0" smtClean="0"/>
              <a:t>библиотеки води до задължително прекомпилиране на всички програми, които използват тази библиотека.</a:t>
            </a:r>
            <a:endParaRPr lang="en-US" dirty="0" smtClean="0"/>
          </a:p>
          <a:p>
            <a:pPr lvl="2">
              <a:spcBef>
                <a:spcPts val="0"/>
              </a:spcBef>
            </a:pPr>
            <a:r>
              <a:rPr lang="ru-RU" dirty="0" smtClean="0"/>
              <a:t>При </a:t>
            </a:r>
            <a:r>
              <a:rPr lang="ru-RU" dirty="0"/>
              <a:t>статичните библиотеми няма </a:t>
            </a:r>
            <a:r>
              <a:rPr lang="ru-RU" dirty="0" smtClean="0"/>
              <a:t>динамично </a:t>
            </a:r>
            <a:r>
              <a:rPr lang="ru-RU" dirty="0"/>
              <a:t>търсене на </a:t>
            </a:r>
            <a:r>
              <a:rPr lang="ru-RU" dirty="0" smtClean="0"/>
              <a:t>заредени библиотеки или търсене на елементи в заредените библиотеки</a:t>
            </a:r>
            <a:r>
              <a:rPr lang="ru-RU" dirty="0"/>
              <a:t>. </a:t>
            </a:r>
            <a:r>
              <a:rPr lang="ru-RU" dirty="0" smtClean="0"/>
              <a:t>Това прави процесът на стартиране на програмите много по-бърз.</a:t>
            </a:r>
            <a:endParaRPr lang="bg-BG" sz="2800" dirty="0"/>
          </a:p>
        </p:txBody>
      </p:sp>
    </p:spTree>
    <p:extLst>
      <p:ext uri="{BB962C8B-B14F-4D97-AF65-F5344CB8AC3E}">
        <p14:creationId xmlns:p14="http://schemas.microsoft.com/office/powerpoint/2010/main" val="352484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Програмни библиотеки</a:t>
            </a:r>
            <a:endParaRPr lang="bg-BG" dirty="0"/>
          </a:p>
        </p:txBody>
      </p:sp>
      <p:sp>
        <p:nvSpPr>
          <p:cNvPr id="3" name="Content Placeholder 2"/>
          <p:cNvSpPr>
            <a:spLocks noGrp="1"/>
          </p:cNvSpPr>
          <p:nvPr>
            <p:ph idx="1"/>
          </p:nvPr>
        </p:nvSpPr>
        <p:spPr>
          <a:xfrm>
            <a:off x="908662" y="1143000"/>
            <a:ext cx="10900750" cy="5562600"/>
          </a:xfrm>
        </p:spPr>
        <p:txBody>
          <a:bodyPr>
            <a:noAutofit/>
          </a:bodyPr>
          <a:lstStyle/>
          <a:p>
            <a:pPr>
              <a:lnSpc>
                <a:spcPct val="110000"/>
              </a:lnSpc>
              <a:spcBef>
                <a:spcPts val="0"/>
              </a:spcBef>
            </a:pPr>
            <a:r>
              <a:rPr lang="bg-BG" dirty="0"/>
              <a:t>Библиотеките се делят на статични и динамични според начина на свързване с потребителската програма.</a:t>
            </a:r>
          </a:p>
          <a:p>
            <a:pPr lvl="1">
              <a:lnSpc>
                <a:spcPct val="110000"/>
              </a:lnSpc>
              <a:spcBef>
                <a:spcPts val="0"/>
              </a:spcBef>
            </a:pPr>
            <a:r>
              <a:rPr lang="ru-RU" i="1" dirty="0" smtClean="0">
                <a:effectLst>
                  <a:outerShdw blurRad="38100" dist="38100" dir="2700000" algn="tl">
                    <a:srgbClr val="000000">
                      <a:alpha val="43137"/>
                    </a:srgbClr>
                  </a:outerShdw>
                </a:effectLst>
              </a:rPr>
              <a:t>Динамични</a:t>
            </a:r>
            <a:r>
              <a:rPr lang="ru-RU" dirty="0" smtClean="0"/>
              <a:t> </a:t>
            </a:r>
            <a:r>
              <a:rPr lang="ru-RU" i="1" dirty="0" smtClean="0">
                <a:effectLst>
                  <a:outerShdw blurRad="38100" dist="38100" dir="2700000" algn="tl">
                    <a:srgbClr val="000000">
                      <a:alpha val="43137"/>
                    </a:srgbClr>
                  </a:outerShdw>
                </a:effectLst>
              </a:rPr>
              <a:t>библиотеки</a:t>
            </a:r>
            <a:r>
              <a:rPr lang="ru-RU" dirty="0" smtClean="0"/>
              <a:t> </a:t>
            </a:r>
            <a:endParaRPr lang="en-US" dirty="0" smtClean="0"/>
          </a:p>
          <a:p>
            <a:pPr lvl="2">
              <a:lnSpc>
                <a:spcPct val="110000"/>
              </a:lnSpc>
              <a:spcBef>
                <a:spcPts val="0"/>
              </a:spcBef>
            </a:pPr>
            <a:r>
              <a:rPr lang="ru-RU" dirty="0"/>
              <a:t>Динамичната библиотека е специално създадена </a:t>
            </a:r>
            <a:r>
              <a:rPr lang="ru-RU" dirty="0" smtClean="0"/>
              <a:t>библиотека</a:t>
            </a:r>
            <a:r>
              <a:rPr lang="en-US" dirty="0" smtClean="0"/>
              <a:t>, </a:t>
            </a:r>
            <a:r>
              <a:rPr lang="bg-BG" dirty="0" smtClean="0"/>
              <a:t>чийто обектни кодове не са част от адресното поле на даден процес.</a:t>
            </a:r>
          </a:p>
          <a:p>
            <a:pPr lvl="3">
              <a:lnSpc>
                <a:spcPct val="110000"/>
              </a:lnSpc>
              <a:spcBef>
                <a:spcPts val="0"/>
              </a:spcBef>
            </a:pPr>
            <a:r>
              <a:rPr lang="bg-BG" dirty="0" smtClean="0"/>
              <a:t>Пример: </a:t>
            </a:r>
            <a:r>
              <a:rPr lang="en-US" b="1" i="1" dirty="0" smtClean="0"/>
              <a:t>.</a:t>
            </a:r>
            <a:r>
              <a:rPr lang="en-US" b="1" i="1" dirty="0"/>
              <a:t>so</a:t>
            </a:r>
            <a:r>
              <a:rPr lang="en-US" dirty="0"/>
              <a:t> </a:t>
            </a:r>
            <a:r>
              <a:rPr lang="bg-BG" dirty="0" smtClean="0"/>
              <a:t>в</a:t>
            </a:r>
            <a:r>
              <a:rPr lang="en-US" dirty="0" smtClean="0"/>
              <a:t> </a:t>
            </a:r>
            <a:r>
              <a:rPr lang="en-US" dirty="0"/>
              <a:t>Linux </a:t>
            </a:r>
            <a:r>
              <a:rPr lang="bg-BG" dirty="0" smtClean="0"/>
              <a:t>или </a:t>
            </a:r>
            <a:r>
              <a:rPr lang="en-US" dirty="0"/>
              <a:t> </a:t>
            </a:r>
            <a:r>
              <a:rPr lang="en-US" b="1" i="1" dirty="0"/>
              <a:t>.</a:t>
            </a:r>
            <a:r>
              <a:rPr lang="en-US" b="1" i="1" dirty="0" err="1"/>
              <a:t>dll</a:t>
            </a:r>
            <a:r>
              <a:rPr lang="en-US" dirty="0"/>
              <a:t> </a:t>
            </a:r>
            <a:r>
              <a:rPr lang="bg-BG" dirty="0" smtClean="0"/>
              <a:t> в</a:t>
            </a:r>
            <a:r>
              <a:rPr lang="en-US" dirty="0" smtClean="0"/>
              <a:t> MS Windows</a:t>
            </a:r>
            <a:r>
              <a:rPr lang="en-US" dirty="0"/>
              <a:t>.</a:t>
            </a:r>
            <a:endParaRPr lang="en-US" dirty="0" smtClean="0"/>
          </a:p>
          <a:p>
            <a:pPr lvl="2">
              <a:lnSpc>
                <a:spcPct val="110000"/>
              </a:lnSpc>
              <a:spcBef>
                <a:spcPts val="0"/>
              </a:spcBef>
            </a:pPr>
            <a:r>
              <a:rPr lang="ru-RU" dirty="0" smtClean="0"/>
              <a:t>На етапа на компилация/свързване, свързващият редактор вгражда </a:t>
            </a:r>
            <a:r>
              <a:rPr lang="ru-RU" dirty="0"/>
              <a:t>в програмата описанията </a:t>
            </a:r>
            <a:r>
              <a:rPr lang="ru-RU" dirty="0" smtClean="0"/>
              <a:t>на </a:t>
            </a:r>
            <a:r>
              <a:rPr lang="bg-BG" dirty="0" smtClean="0"/>
              <a:t>използваните библиотечни </a:t>
            </a:r>
            <a:r>
              <a:rPr lang="ru-RU" dirty="0" smtClean="0"/>
              <a:t>подпрограми, типове и променливи. </a:t>
            </a:r>
          </a:p>
          <a:p>
            <a:pPr lvl="3">
              <a:lnSpc>
                <a:spcPct val="110000"/>
              </a:lnSpc>
              <a:spcBef>
                <a:spcPts val="0"/>
              </a:spcBef>
            </a:pPr>
            <a:r>
              <a:rPr lang="ru-RU" dirty="0" smtClean="0"/>
              <a:t>Вградените описания за библиотеките се наричат «</a:t>
            </a:r>
            <a:r>
              <a:rPr lang="en-US" i="1" dirty="0" smtClean="0">
                <a:effectLst>
                  <a:outerShdw blurRad="38100" dist="38100" dir="2700000" algn="tl">
                    <a:srgbClr val="000000">
                      <a:alpha val="43137"/>
                    </a:srgbClr>
                  </a:outerShdw>
                </a:effectLst>
              </a:rPr>
              <a:t>stubs</a:t>
            </a:r>
            <a:r>
              <a:rPr lang="ru-RU" dirty="0" smtClean="0"/>
              <a:t>»</a:t>
            </a:r>
          </a:p>
          <a:p>
            <a:pPr lvl="2">
              <a:lnSpc>
                <a:spcPct val="120000"/>
              </a:lnSpc>
              <a:spcBef>
                <a:spcPts val="0"/>
              </a:spcBef>
            </a:pPr>
            <a:r>
              <a:rPr lang="ru-RU" b="1" dirty="0" smtClean="0"/>
              <a:t>Внимание</a:t>
            </a:r>
            <a:r>
              <a:rPr lang="ru-RU" dirty="0" smtClean="0"/>
              <a:t>! </a:t>
            </a:r>
            <a:r>
              <a:rPr lang="ru-RU" dirty="0"/>
              <a:t>Самите обектни файлове от библиотеката не са дабавят към кода на програмата. </a:t>
            </a:r>
          </a:p>
        </p:txBody>
      </p:sp>
    </p:spTree>
    <p:extLst>
      <p:ext uri="{BB962C8B-B14F-4D97-AF65-F5344CB8AC3E}">
        <p14:creationId xmlns:p14="http://schemas.microsoft.com/office/powerpoint/2010/main" val="1352473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Програмни библиотеки</a:t>
            </a:r>
            <a:endParaRPr lang="bg-BG" dirty="0"/>
          </a:p>
        </p:txBody>
      </p:sp>
      <p:sp>
        <p:nvSpPr>
          <p:cNvPr id="3" name="Content Placeholder 2"/>
          <p:cNvSpPr>
            <a:spLocks noGrp="1"/>
          </p:cNvSpPr>
          <p:nvPr>
            <p:ph idx="1"/>
          </p:nvPr>
        </p:nvSpPr>
        <p:spPr>
          <a:xfrm>
            <a:off x="908662" y="1143000"/>
            <a:ext cx="10900750" cy="5562600"/>
          </a:xfrm>
        </p:spPr>
        <p:txBody>
          <a:bodyPr>
            <a:noAutofit/>
          </a:bodyPr>
          <a:lstStyle/>
          <a:p>
            <a:pPr>
              <a:lnSpc>
                <a:spcPct val="110000"/>
              </a:lnSpc>
              <a:spcBef>
                <a:spcPts val="0"/>
              </a:spcBef>
            </a:pPr>
            <a:r>
              <a:rPr lang="bg-BG" dirty="0"/>
              <a:t>Библиотеките се делят на статични и динамични според начина на свързване с потребителската програма.</a:t>
            </a:r>
          </a:p>
          <a:p>
            <a:pPr lvl="1">
              <a:lnSpc>
                <a:spcPct val="110000"/>
              </a:lnSpc>
              <a:spcBef>
                <a:spcPts val="0"/>
              </a:spcBef>
            </a:pPr>
            <a:r>
              <a:rPr lang="ru-RU" i="1" dirty="0" smtClean="0">
                <a:effectLst>
                  <a:outerShdw blurRad="38100" dist="38100" dir="2700000" algn="tl">
                    <a:srgbClr val="000000">
                      <a:alpha val="43137"/>
                    </a:srgbClr>
                  </a:outerShdw>
                </a:effectLst>
              </a:rPr>
              <a:t>Динамични</a:t>
            </a:r>
            <a:r>
              <a:rPr lang="ru-RU" dirty="0" smtClean="0"/>
              <a:t> </a:t>
            </a:r>
            <a:r>
              <a:rPr lang="ru-RU" i="1" dirty="0" smtClean="0">
                <a:effectLst>
                  <a:outerShdw blurRad="38100" dist="38100" dir="2700000" algn="tl">
                    <a:srgbClr val="000000">
                      <a:alpha val="43137"/>
                    </a:srgbClr>
                  </a:outerShdw>
                </a:effectLst>
              </a:rPr>
              <a:t>библиотеки</a:t>
            </a:r>
            <a:r>
              <a:rPr lang="ru-RU" dirty="0" smtClean="0"/>
              <a:t> </a:t>
            </a:r>
            <a:endParaRPr lang="en-US" dirty="0" smtClean="0"/>
          </a:p>
          <a:p>
            <a:pPr lvl="2">
              <a:lnSpc>
                <a:spcPct val="110000"/>
              </a:lnSpc>
              <a:spcBef>
                <a:spcPts val="0"/>
              </a:spcBef>
            </a:pPr>
            <a:r>
              <a:rPr lang="ru-RU" dirty="0" smtClean="0"/>
              <a:t>При стартиране на </a:t>
            </a:r>
            <a:r>
              <a:rPr lang="en-US" dirty="0" smtClean="0"/>
              <a:t>Linking Loader </a:t>
            </a:r>
            <a:r>
              <a:rPr lang="bg-BG" dirty="0" smtClean="0"/>
              <a:t>подсистемата на ОС анализира кода на програмата и определя дали има динамични библиотеки. </a:t>
            </a:r>
          </a:p>
          <a:p>
            <a:pPr lvl="3">
              <a:lnSpc>
                <a:spcPct val="110000"/>
              </a:lnSpc>
              <a:spcBef>
                <a:spcPts val="0"/>
              </a:spcBef>
            </a:pPr>
            <a:r>
              <a:rPr lang="bg-BG" dirty="0" smtClean="0"/>
              <a:t>За да стане процесът готов за изпълнение е необходимо да има заредено копие на библиотеката в оперативната памет</a:t>
            </a:r>
          </a:p>
          <a:p>
            <a:pPr lvl="3">
              <a:lnSpc>
                <a:spcPct val="110000"/>
              </a:lnSpc>
              <a:spcBef>
                <a:spcPts val="0"/>
              </a:spcBef>
            </a:pPr>
            <a:r>
              <a:rPr lang="ru-RU" dirty="0" smtClean="0"/>
              <a:t>При съществуващи обектни кодове за библиотеката в паметта, в заредената програма се свързват обръщенията към библиотечните подпрограми с фактическото им разположение в паметта. </a:t>
            </a:r>
          </a:p>
          <a:p>
            <a:pPr lvl="2">
              <a:lnSpc>
                <a:spcPct val="110000"/>
              </a:lnSpc>
              <a:spcBef>
                <a:spcPts val="0"/>
              </a:spcBef>
            </a:pPr>
            <a:r>
              <a:rPr lang="ru-RU" dirty="0" smtClean="0"/>
              <a:t>За всички процеси, които използват дадена библиотека има само едно копие на кодове на библиотеката в паметта.</a:t>
            </a:r>
            <a:endParaRPr lang="ru-RU" dirty="0"/>
          </a:p>
          <a:p>
            <a:pPr lvl="3">
              <a:lnSpc>
                <a:spcPct val="110000"/>
              </a:lnSpc>
              <a:spcBef>
                <a:spcPts val="0"/>
              </a:spcBef>
            </a:pPr>
            <a:r>
              <a:rPr lang="ru-RU" dirty="0" smtClean="0"/>
              <a:t>Процесът е сложен и бавен, особено първия път. </a:t>
            </a:r>
            <a:endParaRPr lang="ru-RU" dirty="0"/>
          </a:p>
          <a:p>
            <a:pPr lvl="1">
              <a:lnSpc>
                <a:spcPct val="110000"/>
              </a:lnSpc>
              <a:spcBef>
                <a:spcPts val="0"/>
              </a:spcBef>
            </a:pPr>
            <a:endParaRPr lang="bg-BG" dirty="0"/>
          </a:p>
        </p:txBody>
      </p:sp>
    </p:spTree>
    <p:extLst>
      <p:ext uri="{BB962C8B-B14F-4D97-AF65-F5344CB8AC3E}">
        <p14:creationId xmlns:p14="http://schemas.microsoft.com/office/powerpoint/2010/main" val="138260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Програмни библиотеки</a:t>
            </a:r>
            <a:endParaRPr lang="bg-BG" dirty="0"/>
          </a:p>
        </p:txBody>
      </p:sp>
      <p:sp>
        <p:nvSpPr>
          <p:cNvPr id="3" name="Content Placeholder 2"/>
          <p:cNvSpPr>
            <a:spLocks noGrp="1"/>
          </p:cNvSpPr>
          <p:nvPr>
            <p:ph idx="1"/>
          </p:nvPr>
        </p:nvSpPr>
        <p:spPr>
          <a:xfrm>
            <a:off x="908662" y="1143000"/>
            <a:ext cx="10976950" cy="5562600"/>
          </a:xfrm>
        </p:spPr>
        <p:txBody>
          <a:bodyPr>
            <a:noAutofit/>
          </a:bodyPr>
          <a:lstStyle/>
          <a:p>
            <a:pPr>
              <a:lnSpc>
                <a:spcPct val="110000"/>
              </a:lnSpc>
              <a:spcBef>
                <a:spcPts val="0"/>
              </a:spcBef>
            </a:pPr>
            <a:r>
              <a:rPr lang="bg-BG" dirty="0"/>
              <a:t>Библиотеките се делят на статични и динамични според начина на свързване с потребителската програма.</a:t>
            </a:r>
          </a:p>
          <a:p>
            <a:pPr lvl="1">
              <a:lnSpc>
                <a:spcPct val="110000"/>
              </a:lnSpc>
              <a:spcBef>
                <a:spcPts val="0"/>
              </a:spcBef>
            </a:pPr>
            <a:r>
              <a:rPr lang="ru-RU" i="1" dirty="0" smtClean="0">
                <a:effectLst>
                  <a:outerShdw blurRad="38100" dist="38100" dir="2700000" algn="tl">
                    <a:srgbClr val="000000">
                      <a:alpha val="43137"/>
                    </a:srgbClr>
                  </a:outerShdw>
                </a:effectLst>
              </a:rPr>
              <a:t>Динамични</a:t>
            </a:r>
            <a:r>
              <a:rPr lang="ru-RU" dirty="0" smtClean="0"/>
              <a:t> </a:t>
            </a:r>
            <a:r>
              <a:rPr lang="ru-RU" i="1" dirty="0" smtClean="0">
                <a:effectLst>
                  <a:outerShdw blurRad="38100" dist="38100" dir="2700000" algn="tl">
                    <a:srgbClr val="000000">
                      <a:alpha val="43137"/>
                    </a:srgbClr>
                  </a:outerShdw>
                </a:effectLst>
              </a:rPr>
              <a:t>библиотеки</a:t>
            </a:r>
            <a:r>
              <a:rPr lang="ru-RU" dirty="0" smtClean="0"/>
              <a:t> </a:t>
            </a:r>
            <a:endParaRPr lang="en-US" dirty="0" smtClean="0"/>
          </a:p>
          <a:p>
            <a:pPr lvl="2">
              <a:lnSpc>
                <a:spcPct val="110000"/>
              </a:lnSpc>
              <a:spcBef>
                <a:spcPts val="0"/>
              </a:spcBef>
            </a:pPr>
            <a:r>
              <a:rPr lang="ru-RU" dirty="0" smtClean="0"/>
              <a:t>Съществуват два подхода за зареждане на обектните кодове на библиотеката: статично и динамично зареждане.</a:t>
            </a:r>
          </a:p>
          <a:p>
            <a:pPr lvl="2">
              <a:lnSpc>
                <a:spcPct val="110000"/>
              </a:lnSpc>
              <a:spcBef>
                <a:spcPts val="0"/>
              </a:spcBef>
            </a:pPr>
            <a:r>
              <a:rPr lang="ru-RU" dirty="0" smtClean="0"/>
              <a:t>При </a:t>
            </a:r>
            <a:r>
              <a:rPr lang="ru-RU" i="1" dirty="0" smtClean="0">
                <a:effectLst>
                  <a:outerShdw blurRad="38100" dist="38100" dir="2700000" algn="tl">
                    <a:srgbClr val="000000">
                      <a:alpha val="43137"/>
                    </a:srgbClr>
                  </a:outerShdw>
                </a:effectLst>
              </a:rPr>
              <a:t>статичното зареждане </a:t>
            </a:r>
            <a:r>
              <a:rPr lang="ru-RU" dirty="0" smtClean="0"/>
              <a:t>библиотеката се разполага в оперативната памет при зареждането на първия процес, който използва подпрограми от библиотеката.</a:t>
            </a:r>
          </a:p>
          <a:p>
            <a:pPr lvl="2">
              <a:lnSpc>
                <a:spcPct val="110000"/>
              </a:lnSpc>
              <a:spcBef>
                <a:spcPts val="0"/>
              </a:spcBef>
            </a:pPr>
            <a:r>
              <a:rPr lang="ru-RU" dirty="0"/>
              <a:t>При </a:t>
            </a:r>
            <a:r>
              <a:rPr lang="ru-RU" i="1" dirty="0" smtClean="0">
                <a:effectLst>
                  <a:outerShdw blurRad="38100" dist="38100" dir="2700000" algn="tl">
                    <a:srgbClr val="000000">
                      <a:alpha val="43137"/>
                    </a:srgbClr>
                  </a:outerShdw>
                </a:effectLst>
              </a:rPr>
              <a:t>динамично </a:t>
            </a:r>
            <a:r>
              <a:rPr lang="ru-RU" i="1" dirty="0">
                <a:effectLst>
                  <a:outerShdw blurRad="38100" dist="38100" dir="2700000" algn="tl">
                    <a:srgbClr val="000000">
                      <a:alpha val="43137"/>
                    </a:srgbClr>
                  </a:outerShdw>
                </a:effectLst>
              </a:rPr>
              <a:t>зареждане </a:t>
            </a:r>
            <a:r>
              <a:rPr lang="ru-RU" dirty="0"/>
              <a:t>библиотеката се разполага в оперативната памет при </a:t>
            </a:r>
            <a:r>
              <a:rPr lang="ru-RU" dirty="0" smtClean="0"/>
              <a:t>първо извикване на подпрограма от библиотеката от активен процес в паметта.</a:t>
            </a:r>
          </a:p>
          <a:p>
            <a:pPr lvl="2">
              <a:lnSpc>
                <a:spcPct val="110000"/>
              </a:lnSpc>
              <a:spcBef>
                <a:spcPts val="0"/>
              </a:spcBef>
            </a:pPr>
            <a:r>
              <a:rPr lang="ru-RU" dirty="0" smtClean="0"/>
              <a:t>Много рядко се осъществява версия на динамичното зареждане, при което в оперативната памет се намират само активираните подпрограми.</a:t>
            </a:r>
            <a:endParaRPr lang="ru-RU" dirty="0"/>
          </a:p>
        </p:txBody>
      </p:sp>
    </p:spTree>
    <p:extLst>
      <p:ext uri="{BB962C8B-B14F-4D97-AF65-F5344CB8AC3E}">
        <p14:creationId xmlns:p14="http://schemas.microsoft.com/office/powerpoint/2010/main" val="2725995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dirty="0"/>
              <a:t>Framework (</a:t>
            </a:r>
            <a:r>
              <a:rPr lang="bg-BG" dirty="0"/>
              <a:t>бълг. Рамка)</a:t>
            </a:r>
          </a:p>
        </p:txBody>
      </p:sp>
      <p:sp>
        <p:nvSpPr>
          <p:cNvPr id="3" name="Content Placeholder 2"/>
          <p:cNvSpPr>
            <a:spLocks noGrp="1"/>
          </p:cNvSpPr>
          <p:nvPr>
            <p:ph idx="1"/>
          </p:nvPr>
        </p:nvSpPr>
        <p:spPr/>
        <p:txBody>
          <a:bodyPr>
            <a:normAutofit/>
          </a:bodyPr>
          <a:lstStyle/>
          <a:p>
            <a:r>
              <a:rPr lang="ru-RU" sz="2800" dirty="0"/>
              <a:t>В </a:t>
            </a:r>
            <a:r>
              <a:rPr lang="ru-RU" sz="2800" dirty="0" smtClean="0"/>
              <a:t>програмирането, фраймуъркът е </a:t>
            </a:r>
            <a:r>
              <a:rPr lang="ru-RU" sz="2800" dirty="0"/>
              <a:t>предварително </a:t>
            </a:r>
            <a:r>
              <a:rPr lang="bg-BG" sz="2800" dirty="0" smtClean="0"/>
              <a:t>създаден и пакетиран</a:t>
            </a:r>
            <a:r>
              <a:rPr lang="ru-RU" sz="2800" dirty="0" smtClean="0"/>
              <a:t>набор </a:t>
            </a:r>
            <a:r>
              <a:rPr lang="ru-RU" sz="2800" dirty="0"/>
              <a:t>от решения, </a:t>
            </a:r>
            <a:r>
              <a:rPr lang="ru-RU" sz="2800" dirty="0" smtClean="0"/>
              <a:t>които са насочени към добре дефинирани сценарии в процеса на създаване на софтуер.</a:t>
            </a:r>
          </a:p>
          <a:p>
            <a:pPr lvl="1"/>
            <a:r>
              <a:rPr lang="ru-RU" sz="2400" dirty="0" smtClean="0"/>
              <a:t>Фраймуъркът</a:t>
            </a:r>
            <a:r>
              <a:rPr lang="bg-BG" sz="2400" dirty="0" smtClean="0"/>
              <a:t> </a:t>
            </a:r>
            <a:r>
              <a:rPr lang="ru-RU" sz="2400" dirty="0" smtClean="0"/>
              <a:t>често </a:t>
            </a:r>
            <a:r>
              <a:rPr lang="ru-RU" sz="2400" dirty="0"/>
              <a:t>е многопластова структура, </a:t>
            </a:r>
            <a:r>
              <a:rPr lang="en-US" sz="2400" dirty="0" smtClean="0"/>
              <a:t/>
            </a:r>
            <a:br>
              <a:rPr lang="en-US" sz="2400" dirty="0" smtClean="0"/>
            </a:br>
            <a:r>
              <a:rPr lang="ru-RU" sz="2400" dirty="0" smtClean="0"/>
              <a:t>показваща </a:t>
            </a:r>
            <a:r>
              <a:rPr lang="ru-RU" sz="2400" dirty="0"/>
              <a:t>какъв вид програми могат или </a:t>
            </a:r>
            <a:r>
              <a:rPr lang="en-US" sz="2400" dirty="0" smtClean="0"/>
              <a:t/>
            </a:r>
            <a:br>
              <a:rPr lang="en-US" sz="2400" dirty="0" smtClean="0"/>
            </a:br>
            <a:r>
              <a:rPr lang="ru-RU" sz="2400" dirty="0" smtClean="0"/>
              <a:t>трябва </a:t>
            </a:r>
            <a:r>
              <a:rPr lang="ru-RU" sz="2400" dirty="0"/>
              <a:t>да бъдат изградени и как биха </a:t>
            </a:r>
            <a:r>
              <a:rPr lang="en-US" sz="2400" dirty="0" smtClean="0"/>
              <a:t/>
            </a:r>
            <a:br>
              <a:rPr lang="en-US" sz="2400" dirty="0" smtClean="0"/>
            </a:br>
            <a:r>
              <a:rPr lang="ru-RU" sz="2400" dirty="0" smtClean="0"/>
              <a:t>взаимосвързали</a:t>
            </a:r>
            <a:r>
              <a:rPr lang="ru-RU" sz="2400" dirty="0"/>
              <a:t>. </a:t>
            </a:r>
            <a:endParaRPr lang="ru-RU" sz="2400" dirty="0" smtClean="0"/>
          </a:p>
          <a:p>
            <a:pPr lvl="2"/>
            <a:r>
              <a:rPr lang="ru-RU" sz="2000" dirty="0" smtClean="0"/>
              <a:t>Някои </a:t>
            </a:r>
            <a:r>
              <a:rPr lang="bg-BG" sz="2000" dirty="0" smtClean="0"/>
              <a:t>варианти </a:t>
            </a:r>
            <a:r>
              <a:rPr lang="ru-RU" sz="2000" dirty="0" smtClean="0"/>
              <a:t>включват допълнително реални </a:t>
            </a:r>
            <a:r>
              <a:rPr lang="en-US" sz="2000" dirty="0" smtClean="0"/>
              <a:t/>
            </a:r>
            <a:br>
              <a:rPr lang="en-US" sz="2000" dirty="0" smtClean="0"/>
            </a:br>
            <a:r>
              <a:rPr lang="ru-RU" sz="2000" dirty="0" smtClean="0"/>
              <a:t>програми</a:t>
            </a:r>
            <a:r>
              <a:rPr lang="ru-RU" sz="2000" dirty="0"/>
              <a:t>, </a:t>
            </a:r>
            <a:r>
              <a:rPr lang="ru-RU" sz="2000" dirty="0" smtClean="0"/>
              <a:t>посочват </a:t>
            </a:r>
            <a:r>
              <a:rPr lang="ru-RU" sz="2000" dirty="0"/>
              <a:t>програмиращи интерфейси или </a:t>
            </a:r>
            <a:r>
              <a:rPr lang="en-US" sz="2000" dirty="0" smtClean="0"/>
              <a:t/>
            </a:r>
            <a:br>
              <a:rPr lang="en-US" sz="2000" dirty="0" smtClean="0"/>
            </a:br>
            <a:r>
              <a:rPr lang="ru-RU" sz="2000" dirty="0" smtClean="0"/>
              <a:t>предлагат инструменти </a:t>
            </a:r>
            <a:r>
              <a:rPr lang="ru-RU" sz="2000" dirty="0"/>
              <a:t>за програмиране за използване </a:t>
            </a:r>
            <a:r>
              <a:rPr lang="en-US" sz="2000" dirty="0" smtClean="0"/>
              <a:t/>
            </a:r>
            <a:br>
              <a:rPr lang="en-US" sz="2000" dirty="0" smtClean="0"/>
            </a:br>
            <a:r>
              <a:rPr lang="ru-RU" sz="2000" dirty="0" smtClean="0"/>
              <a:t>на </a:t>
            </a:r>
            <a:r>
              <a:rPr lang="ru-RU" sz="2000" dirty="0"/>
              <a:t>рамките</a:t>
            </a:r>
            <a:r>
              <a:rPr lang="ru-RU" sz="2000" dirty="0" smtClean="0"/>
              <a:t>.</a:t>
            </a:r>
          </a:p>
          <a:p>
            <a:pPr lvl="2"/>
            <a:r>
              <a:rPr lang="ru-RU" sz="2000" dirty="0" smtClean="0"/>
              <a:t>Много често програмистите </a:t>
            </a:r>
            <a:r>
              <a:rPr lang="ru-RU" sz="2000" dirty="0"/>
              <a:t>разбират </a:t>
            </a:r>
            <a:r>
              <a:rPr lang="ru-RU" sz="2000" dirty="0" smtClean="0"/>
              <a:t>фраймуърка като </a:t>
            </a:r>
            <a:r>
              <a:rPr lang="en-US" sz="2000" dirty="0" smtClean="0"/>
              <a:t/>
            </a:r>
            <a:br>
              <a:rPr lang="en-US" sz="2000" dirty="0" smtClean="0"/>
            </a:br>
            <a:r>
              <a:rPr lang="ru-RU" sz="2000" dirty="0" smtClean="0"/>
              <a:t>инструмент, създаден от някой външен, но който може и </a:t>
            </a:r>
            <a:r>
              <a:rPr lang="en-US" sz="2000" dirty="0" smtClean="0"/>
              <a:t/>
            </a:r>
            <a:br>
              <a:rPr lang="en-US" sz="2000" dirty="0" smtClean="0"/>
            </a:br>
            <a:r>
              <a:rPr lang="ru-RU" sz="2000" dirty="0" smtClean="0"/>
              <a:t>те да използват.</a:t>
            </a:r>
          </a:p>
        </p:txBody>
      </p:sp>
      <p:pic>
        <p:nvPicPr>
          <p:cNvPr id="5" name="Picture 4"/>
          <p:cNvPicPr>
            <a:picLocks noChangeAspect="1"/>
          </p:cNvPicPr>
          <p:nvPr/>
        </p:nvPicPr>
        <p:blipFill>
          <a:blip r:embed="rId3"/>
          <a:stretch>
            <a:fillRect/>
          </a:stretch>
        </p:blipFill>
        <p:spPr>
          <a:xfrm>
            <a:off x="8453659" y="2895600"/>
            <a:ext cx="3355693" cy="3733800"/>
          </a:xfrm>
          <a:prstGeom prst="rect">
            <a:avLst/>
          </a:prstGeom>
        </p:spPr>
      </p:pic>
    </p:spTree>
    <p:extLst>
      <p:ext uri="{BB962C8B-B14F-4D97-AF65-F5344CB8AC3E}">
        <p14:creationId xmlns:p14="http://schemas.microsoft.com/office/powerpoint/2010/main" val="889574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spcBef>
                <a:spcPts val="0"/>
              </a:spcBef>
            </a:pPr>
            <a:r>
              <a:rPr lang="bg-BG" sz="2800" dirty="0" smtClean="0"/>
              <a:t>Класификация</a:t>
            </a:r>
            <a:endParaRPr lang="en-US" sz="2800" dirty="0" smtClean="0"/>
          </a:p>
          <a:p>
            <a:pPr lvl="1">
              <a:spcBef>
                <a:spcPts val="0"/>
              </a:spcBef>
            </a:pPr>
            <a:r>
              <a:rPr lang="ru-RU" sz="2400" dirty="0"/>
              <a:t>Изборът на </a:t>
            </a:r>
            <a:r>
              <a:rPr lang="bg-BG" sz="2400" dirty="0" smtClean="0"/>
              <a:t>подходящ </a:t>
            </a:r>
            <a:r>
              <a:rPr lang="bg-BG" sz="2400" dirty="0" err="1" smtClean="0"/>
              <a:t>фраймуърк</a:t>
            </a:r>
            <a:r>
              <a:rPr lang="ru-RU" sz="2400" dirty="0" smtClean="0"/>
              <a:t> означава </a:t>
            </a:r>
            <a:r>
              <a:rPr lang="ru-RU" sz="2400" dirty="0"/>
              <a:t>да се </a:t>
            </a:r>
            <a:r>
              <a:rPr lang="ru-RU" sz="2400" dirty="0" smtClean="0"/>
              <a:t>намери компромис </a:t>
            </a:r>
            <a:r>
              <a:rPr lang="ru-RU" sz="2400" dirty="0"/>
              <a:t>между следните </a:t>
            </a:r>
            <a:r>
              <a:rPr lang="ru-RU" sz="2400" dirty="0" smtClean="0"/>
              <a:t>класически критерии:</a:t>
            </a:r>
          </a:p>
          <a:p>
            <a:pPr lvl="2">
              <a:spcBef>
                <a:spcPts val="0"/>
              </a:spcBef>
            </a:pPr>
            <a:r>
              <a:rPr lang="ru-RU" sz="2000" dirty="0" smtClean="0"/>
              <a:t>Обхват </a:t>
            </a:r>
            <a:r>
              <a:rPr lang="ru-RU" sz="2000" dirty="0"/>
              <a:t>на </a:t>
            </a:r>
            <a:r>
              <a:rPr lang="ru-RU" sz="2000" dirty="0" smtClean="0"/>
              <a:t>приложимост: Каква </a:t>
            </a:r>
            <a:r>
              <a:rPr lang="ru-RU" sz="2000" dirty="0"/>
              <a:t>част от приложението може да се разработи с помощта на </a:t>
            </a:r>
            <a:r>
              <a:rPr lang="bg-BG" sz="2000" dirty="0" err="1" smtClean="0"/>
              <a:t>фраймуърка</a:t>
            </a:r>
            <a:r>
              <a:rPr lang="ru-RU" sz="2000" dirty="0" smtClean="0"/>
              <a:t>? Имам </a:t>
            </a:r>
            <a:r>
              <a:rPr lang="ru-RU" sz="2000" dirty="0"/>
              <a:t>ли нужда </a:t>
            </a:r>
            <a:r>
              <a:rPr lang="ru-RU" sz="2000" dirty="0" smtClean="0"/>
              <a:t>само </a:t>
            </a:r>
            <a:r>
              <a:rPr lang="bg-BG" sz="2000" dirty="0" err="1" smtClean="0"/>
              <a:t>фраймуърк</a:t>
            </a:r>
            <a:r>
              <a:rPr lang="bg-BG" sz="2000" dirty="0" smtClean="0"/>
              <a:t> или са необходими</a:t>
            </a:r>
            <a:r>
              <a:rPr lang="ru-RU" sz="2000" dirty="0" smtClean="0"/>
              <a:t>?</a:t>
            </a:r>
          </a:p>
          <a:p>
            <a:pPr lvl="2">
              <a:spcBef>
                <a:spcPts val="0"/>
              </a:spcBef>
            </a:pPr>
            <a:r>
              <a:rPr lang="ru-RU" sz="2000" dirty="0" smtClean="0"/>
              <a:t>Скорост </a:t>
            </a:r>
            <a:r>
              <a:rPr lang="ru-RU" sz="2000" dirty="0"/>
              <a:t>на </a:t>
            </a:r>
            <a:r>
              <a:rPr lang="ru-RU" sz="2000" dirty="0" smtClean="0"/>
              <a:t>развитие: Колко </a:t>
            </a:r>
            <a:r>
              <a:rPr lang="ru-RU" sz="2000" dirty="0"/>
              <a:t>бързо ще продължи развитието</a:t>
            </a:r>
            <a:r>
              <a:rPr lang="ru-RU" sz="2000" dirty="0" smtClean="0"/>
              <a:t>?</a:t>
            </a:r>
          </a:p>
          <a:p>
            <a:pPr lvl="2">
              <a:spcBef>
                <a:spcPts val="0"/>
              </a:spcBef>
            </a:pPr>
            <a:r>
              <a:rPr lang="ru-RU" sz="2000" dirty="0" smtClean="0"/>
              <a:t>Управление </a:t>
            </a:r>
            <a:r>
              <a:rPr lang="ru-RU" sz="2000" dirty="0"/>
              <a:t>и </a:t>
            </a:r>
            <a:r>
              <a:rPr lang="ru-RU" sz="2000" dirty="0" smtClean="0"/>
              <a:t>гъвкавост: Какви ограничения е допустимо да се въведат заради </a:t>
            </a:r>
            <a:r>
              <a:rPr lang="bg-BG" sz="2000" dirty="0" err="1" smtClean="0"/>
              <a:t>фраймуърка</a:t>
            </a:r>
            <a:r>
              <a:rPr lang="bg-BG" sz="2000" dirty="0" smtClean="0"/>
              <a:t>? А</a:t>
            </a:r>
            <a:r>
              <a:rPr lang="ru-RU" sz="2000" dirty="0" smtClean="0"/>
              <a:t>рхитектурни, организационни, производствени, други?</a:t>
            </a:r>
            <a:endParaRPr lang="bg-BG" sz="2000" dirty="0" smtClean="0"/>
          </a:p>
        </p:txBody>
      </p:sp>
      <p:pic>
        <p:nvPicPr>
          <p:cNvPr id="1026" name="Picture 2" descr="tex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0812" y="1131361"/>
            <a:ext cx="7542213" cy="55455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Framework (</a:t>
            </a:r>
            <a:r>
              <a:rPr lang="bg-BG" dirty="0" smtClean="0"/>
              <a:t>бълг. Рамка)</a:t>
            </a:r>
            <a:endParaRPr lang="bg-BG" dirty="0"/>
          </a:p>
        </p:txBody>
      </p:sp>
    </p:spTree>
    <p:extLst>
      <p:ext uri="{BB962C8B-B14F-4D97-AF65-F5344CB8AC3E}">
        <p14:creationId xmlns:p14="http://schemas.microsoft.com/office/powerpoint/2010/main" val="944317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dirty="0"/>
              <a:t>Framework (</a:t>
            </a:r>
            <a:r>
              <a:rPr lang="bg-BG" dirty="0"/>
              <a:t>бълг. Рамка)</a:t>
            </a:r>
          </a:p>
        </p:txBody>
      </p:sp>
      <p:sp>
        <p:nvSpPr>
          <p:cNvPr id="3" name="Content Placeholder 2"/>
          <p:cNvSpPr>
            <a:spLocks noGrp="1"/>
          </p:cNvSpPr>
          <p:nvPr>
            <p:ph idx="1"/>
          </p:nvPr>
        </p:nvSpPr>
        <p:spPr/>
        <p:txBody>
          <a:bodyPr>
            <a:normAutofit/>
          </a:bodyPr>
          <a:lstStyle/>
          <a:p>
            <a:r>
              <a:rPr lang="ru-RU" sz="2800" dirty="0"/>
              <a:t>В </a:t>
            </a:r>
            <a:r>
              <a:rPr lang="ru-RU" sz="2800" dirty="0" smtClean="0"/>
              <a:t>програмирането, фраймуъркът е </a:t>
            </a:r>
            <a:r>
              <a:rPr lang="ru-RU" sz="2800" dirty="0"/>
              <a:t>предварително </a:t>
            </a:r>
            <a:r>
              <a:rPr lang="bg-BG" sz="2800" dirty="0" smtClean="0"/>
              <a:t>създаден и пакетиран</a:t>
            </a:r>
            <a:r>
              <a:rPr lang="ru-RU" sz="2800" dirty="0" smtClean="0"/>
              <a:t>набор </a:t>
            </a:r>
            <a:r>
              <a:rPr lang="ru-RU" sz="2800" dirty="0"/>
              <a:t>от решения, </a:t>
            </a:r>
            <a:r>
              <a:rPr lang="ru-RU" sz="2800" dirty="0" smtClean="0"/>
              <a:t>които са насочени към добре дефинирани сценарии в процеса на създаване на софтуер.</a:t>
            </a:r>
          </a:p>
          <a:p>
            <a:pPr lvl="1"/>
            <a:r>
              <a:rPr lang="ru-RU" sz="2400" dirty="0" smtClean="0"/>
              <a:t>Фраймуъркът не е вариант на библиотека</a:t>
            </a:r>
          </a:p>
          <a:p>
            <a:pPr lvl="2"/>
            <a:r>
              <a:rPr lang="ru-RU" sz="2000" dirty="0" smtClean="0"/>
              <a:t>Кодът на програмата активизара библиотечните подпрограми, т.е. програмата контролира библиотечните функции.</a:t>
            </a:r>
          </a:p>
          <a:p>
            <a:pPr lvl="2"/>
            <a:r>
              <a:rPr lang="ru-RU" sz="2000" dirty="0" smtClean="0"/>
              <a:t>Фраймуъркът не се контролира от програмата, защото той контролира изпълнението на програмата. </a:t>
            </a:r>
            <a:r>
              <a:rPr lang="ru-RU" sz="2000" dirty="0"/>
              <a:t>Това </a:t>
            </a:r>
            <a:r>
              <a:rPr lang="ru-RU" sz="2000" dirty="0" smtClean="0"/>
              <a:t>е известно като „</a:t>
            </a:r>
            <a:r>
              <a:rPr lang="ru-RU" sz="2000" i="1" dirty="0" smtClean="0">
                <a:effectLst>
                  <a:outerShdw blurRad="38100" dist="38100" dir="2700000" algn="tl">
                    <a:srgbClr val="000000">
                      <a:alpha val="43137"/>
                    </a:srgbClr>
                  </a:outerShdw>
                </a:effectLst>
              </a:rPr>
              <a:t>инверсия </a:t>
            </a:r>
            <a:r>
              <a:rPr lang="ru-RU" sz="2000" i="1" dirty="0">
                <a:effectLst>
                  <a:outerShdw blurRad="38100" dist="38100" dir="2700000" algn="tl">
                    <a:srgbClr val="000000">
                      <a:alpha val="43137"/>
                    </a:srgbClr>
                  </a:outerShdw>
                </a:effectLst>
              </a:rPr>
              <a:t>на контрола</a:t>
            </a:r>
            <a:r>
              <a:rPr lang="ru-RU" sz="2000" dirty="0"/>
              <a:t>“.</a:t>
            </a:r>
            <a:endParaRPr lang="bg-BG" sz="2000" dirty="0"/>
          </a:p>
        </p:txBody>
      </p:sp>
      <p:pic>
        <p:nvPicPr>
          <p:cNvPr id="2050" name="Picture 2" descr="https://miro.medium.com/v2/resize:fit:726/0*SV6zrPiFtzTuM0r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3412" y="4495800"/>
            <a:ext cx="5366590" cy="2114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5967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a:t>Типове ОС</a:t>
            </a:r>
          </a:p>
        </p:txBody>
      </p:sp>
      <p:sp>
        <p:nvSpPr>
          <p:cNvPr id="3" name="Content Placeholder 2"/>
          <p:cNvSpPr>
            <a:spLocks noGrp="1"/>
          </p:cNvSpPr>
          <p:nvPr>
            <p:ph idx="1"/>
          </p:nvPr>
        </p:nvSpPr>
        <p:spPr/>
        <p:txBody>
          <a:bodyPr>
            <a:normAutofit lnSpcReduction="10000"/>
          </a:bodyPr>
          <a:lstStyle/>
          <a:p>
            <a:pPr>
              <a:lnSpc>
                <a:spcPct val="100000"/>
              </a:lnSpc>
              <a:spcBef>
                <a:spcPts val="0"/>
              </a:spcBef>
            </a:pPr>
            <a:r>
              <a:rPr lang="ru-RU" sz="2400" dirty="0" smtClean="0"/>
              <a:t>ОС е </a:t>
            </a:r>
            <a:r>
              <a:rPr lang="ru-RU" sz="2400" dirty="0"/>
              <a:t>добре </a:t>
            </a:r>
            <a:r>
              <a:rPr lang="ru-RU" sz="2400" dirty="0" smtClean="0"/>
              <a:t>организирано множество от програми и драйвъри, </a:t>
            </a:r>
            <a:r>
              <a:rPr lang="ru-RU" sz="2400" dirty="0"/>
              <a:t>които управляват компютърния </a:t>
            </a:r>
            <a:r>
              <a:rPr lang="ru-RU" sz="2400" dirty="0" smtClean="0"/>
              <a:t>хардуер с цел «надеждно» функциониране </a:t>
            </a:r>
            <a:r>
              <a:rPr lang="ru-RU" sz="2400" dirty="0"/>
              <a:t>на компютърната система</a:t>
            </a:r>
            <a:r>
              <a:rPr lang="ru-RU" sz="2400" dirty="0" smtClean="0"/>
              <a:t>.</a:t>
            </a:r>
            <a:endParaRPr lang="en-US" sz="2400" dirty="0" smtClean="0"/>
          </a:p>
          <a:p>
            <a:pPr lvl="1">
              <a:lnSpc>
                <a:spcPct val="100000"/>
              </a:lnSpc>
              <a:spcBef>
                <a:spcPts val="0"/>
              </a:spcBef>
            </a:pPr>
            <a:r>
              <a:rPr lang="ru-RU" sz="2000" i="1" dirty="0">
                <a:effectLst>
                  <a:outerShdw blurRad="38100" dist="38100" dir="2700000" algn="tl">
                    <a:srgbClr val="000000">
                      <a:alpha val="43137"/>
                    </a:srgbClr>
                  </a:outerShdw>
                </a:effectLst>
              </a:rPr>
              <a:t>Драйверът</a:t>
            </a:r>
            <a:r>
              <a:rPr lang="ru-RU" sz="2000" dirty="0"/>
              <a:t> е посредник между </a:t>
            </a:r>
            <a:r>
              <a:rPr lang="bg-BG" sz="2000" dirty="0" smtClean="0"/>
              <a:t>ОС</a:t>
            </a:r>
            <a:r>
              <a:rPr lang="ru-RU" sz="2000" dirty="0" smtClean="0"/>
              <a:t> </a:t>
            </a:r>
            <a:r>
              <a:rPr lang="ru-RU" sz="2000" dirty="0"/>
              <a:t>и хардуерното устройство, с което е </a:t>
            </a:r>
            <a:r>
              <a:rPr lang="ru-RU" sz="2000" dirty="0" smtClean="0"/>
              <a:t>свързан: целта е </a:t>
            </a:r>
            <a:r>
              <a:rPr lang="ru-RU" sz="2000" dirty="0"/>
              <a:t>да гарантират, че хардуерът функционира и работи гладко.</a:t>
            </a:r>
          </a:p>
          <a:p>
            <a:pPr lvl="2">
              <a:lnSpc>
                <a:spcPct val="100000"/>
              </a:lnSpc>
              <a:spcBef>
                <a:spcPts val="0"/>
              </a:spcBef>
            </a:pPr>
            <a:r>
              <a:rPr lang="ru-RU" sz="1800" dirty="0" smtClean="0"/>
              <a:t>Драйверът за конкретно хардуерно устройство </a:t>
            </a:r>
            <a:r>
              <a:rPr lang="ru-RU" sz="1800" dirty="0"/>
              <a:t>е специален тип софтуерна програма, която позволява комуникация между ядрото на </a:t>
            </a:r>
            <a:r>
              <a:rPr lang="bg-BG" sz="1800" dirty="0" smtClean="0"/>
              <a:t>ОС </a:t>
            </a:r>
            <a:r>
              <a:rPr lang="ru-RU" sz="1800" dirty="0" smtClean="0"/>
              <a:t>и конкретния хардуер, т.е. позволява </a:t>
            </a:r>
            <a:r>
              <a:rPr lang="ru-RU" sz="1800" dirty="0"/>
              <a:t>на хардуерното устройство да комуникира с </a:t>
            </a:r>
            <a:r>
              <a:rPr lang="ru-RU" sz="1800" dirty="0" smtClean="0"/>
              <a:t>ОС. Без </a:t>
            </a:r>
            <a:r>
              <a:rPr lang="ru-RU" sz="1800" dirty="0"/>
              <a:t>необходимите драйвери </a:t>
            </a:r>
            <a:r>
              <a:rPr lang="ru-RU" sz="1800" dirty="0" smtClean="0"/>
              <a:t>няма </a:t>
            </a:r>
            <a:r>
              <a:rPr lang="ru-RU" sz="1800" dirty="0"/>
              <a:t>да </a:t>
            </a:r>
            <a:r>
              <a:rPr lang="ru-RU" sz="1800" dirty="0" smtClean="0"/>
              <a:t>е възможно изпращане </a:t>
            </a:r>
            <a:r>
              <a:rPr lang="ru-RU" sz="1800" dirty="0"/>
              <a:t>и </a:t>
            </a:r>
            <a:r>
              <a:rPr lang="ru-RU" sz="1800" dirty="0" smtClean="0"/>
              <a:t>получаване на </a:t>
            </a:r>
            <a:r>
              <a:rPr lang="ru-RU" sz="1800" dirty="0"/>
              <a:t>данни към </a:t>
            </a:r>
            <a:r>
              <a:rPr lang="ru-RU" sz="1800" dirty="0" smtClean="0"/>
              <a:t>и от хардуерните </a:t>
            </a:r>
            <a:r>
              <a:rPr lang="ru-RU" sz="1800" dirty="0"/>
              <a:t>устройства</a:t>
            </a:r>
            <a:r>
              <a:rPr lang="ru-RU" sz="1800" dirty="0" smtClean="0"/>
              <a:t>.</a:t>
            </a:r>
          </a:p>
          <a:p>
            <a:pPr lvl="2">
              <a:lnSpc>
                <a:spcPct val="100000"/>
              </a:lnSpc>
              <a:spcBef>
                <a:spcPts val="0"/>
              </a:spcBef>
            </a:pPr>
            <a:r>
              <a:rPr lang="ru-RU" sz="1800" dirty="0" smtClean="0"/>
              <a:t>Драйвърите скриват </a:t>
            </a:r>
            <a:r>
              <a:rPr lang="ru-RU" sz="1800" dirty="0"/>
              <a:t>напълно </a:t>
            </a:r>
            <a:r>
              <a:rPr lang="ru-RU" sz="1800" dirty="0" smtClean="0"/>
              <a:t>подробностите по реалното управление на конкретното устройство, т.е. те създават абстрактен изолационен слой между устройството и ОС: използва се т.нар. «</a:t>
            </a:r>
            <a:r>
              <a:rPr lang="en-US" sz="1800" dirty="0" smtClean="0"/>
              <a:t>Smart adaptor</a:t>
            </a:r>
            <a:r>
              <a:rPr lang="ru-RU" sz="1800" dirty="0" smtClean="0"/>
              <a:t>» чрез дефиниране на програмен интерфейс</a:t>
            </a:r>
            <a:r>
              <a:rPr lang="bg-BG" sz="1800" dirty="0"/>
              <a:t> </a:t>
            </a:r>
            <a:r>
              <a:rPr lang="bg-BG" sz="1800" dirty="0" smtClean="0"/>
              <a:t>за управление, комуникация и синхронизация</a:t>
            </a:r>
            <a:r>
              <a:rPr lang="ru-RU" sz="1800" dirty="0" smtClean="0"/>
              <a:t>.</a:t>
            </a:r>
          </a:p>
          <a:p>
            <a:pPr lvl="1">
              <a:lnSpc>
                <a:spcPct val="100000"/>
              </a:lnSpc>
              <a:spcBef>
                <a:spcPts val="0"/>
              </a:spcBef>
            </a:pPr>
            <a:r>
              <a:rPr lang="ru-RU" sz="2000" i="1" dirty="0" smtClean="0">
                <a:effectLst>
                  <a:outerShdw blurRad="38100" dist="38100" dir="2700000" algn="tl">
                    <a:srgbClr val="000000">
                      <a:alpha val="43137"/>
                    </a:srgbClr>
                  </a:outerShdw>
                </a:effectLst>
              </a:rPr>
              <a:t>Програма</a:t>
            </a:r>
            <a:r>
              <a:rPr lang="ru-RU" sz="2000" dirty="0" smtClean="0"/>
              <a:t> е всеки софтуер, </a:t>
            </a:r>
            <a:r>
              <a:rPr lang="ru-RU" sz="2000" dirty="0"/>
              <a:t>която </a:t>
            </a:r>
            <a:r>
              <a:rPr lang="ru-RU" sz="2000" dirty="0" smtClean="0"/>
              <a:t>използва драйвърите за да използва хардуера на компютъра за извършване на определена работа.</a:t>
            </a:r>
          </a:p>
          <a:p>
            <a:pPr lvl="1">
              <a:lnSpc>
                <a:spcPct val="100000"/>
              </a:lnSpc>
              <a:spcBef>
                <a:spcPts val="0"/>
              </a:spcBef>
            </a:pPr>
            <a:r>
              <a:rPr lang="ru-RU" sz="2000" dirty="0"/>
              <a:t>Съществуват и т.нар </a:t>
            </a:r>
            <a:r>
              <a:rPr lang="ru-RU" sz="2000" i="1" dirty="0">
                <a:effectLst>
                  <a:outerShdw blurRad="38100" dist="38100" dir="2700000" algn="tl">
                    <a:srgbClr val="000000">
                      <a:alpha val="43137"/>
                    </a:srgbClr>
                  </a:outerShdw>
                </a:effectLst>
              </a:rPr>
              <a:t>потребителски </a:t>
            </a:r>
            <a:r>
              <a:rPr lang="ru-RU" sz="2000" i="1" dirty="0" smtClean="0">
                <a:effectLst>
                  <a:outerShdw blurRad="38100" dist="38100" dir="2700000" algn="tl">
                    <a:srgbClr val="000000">
                      <a:alpha val="43137"/>
                    </a:srgbClr>
                  </a:outerShdw>
                </a:effectLst>
              </a:rPr>
              <a:t>драйвъри</a:t>
            </a:r>
            <a:r>
              <a:rPr lang="bg-BG" sz="2000" dirty="0" smtClean="0"/>
              <a:t>: това са </a:t>
            </a:r>
            <a:r>
              <a:rPr lang="bg-BG" sz="2000" dirty="0" err="1" smtClean="0"/>
              <a:t>драйвъри</a:t>
            </a:r>
            <a:r>
              <a:rPr lang="bg-BG" sz="2000" dirty="0" smtClean="0"/>
              <a:t>, които се стартират от </a:t>
            </a:r>
            <a:r>
              <a:rPr lang="ru-RU" sz="2000" dirty="0" smtClean="0"/>
              <a:t>потребителите (например plug-and-play</a:t>
            </a:r>
            <a:r>
              <a:rPr lang="ru-RU" sz="2000" dirty="0"/>
              <a:t>, драйвери на виртуални устройства или драйвери на I/O устройства</a:t>
            </a:r>
            <a:r>
              <a:rPr lang="ru-RU" sz="2000" dirty="0" smtClean="0"/>
              <a:t>.</a:t>
            </a:r>
          </a:p>
          <a:p>
            <a:pPr lvl="2">
              <a:lnSpc>
                <a:spcPct val="110000"/>
              </a:lnSpc>
              <a:spcBef>
                <a:spcPts val="0"/>
              </a:spcBef>
            </a:pPr>
            <a:r>
              <a:rPr lang="ru-RU" sz="1800" dirty="0" smtClean="0"/>
              <a:t>За много </a:t>
            </a:r>
            <a:r>
              <a:rPr lang="ru-RU" sz="1800" dirty="0"/>
              <a:t>автори </a:t>
            </a:r>
            <a:r>
              <a:rPr lang="ru-RU" sz="1800" dirty="0" smtClean="0"/>
              <a:t>това са специална форма на системни драйвъри.</a:t>
            </a:r>
            <a:endParaRPr lang="bg-BG" sz="1800" dirty="0"/>
          </a:p>
        </p:txBody>
      </p:sp>
    </p:spTree>
    <p:extLst>
      <p:ext uri="{BB962C8B-B14F-4D97-AF65-F5344CB8AC3E}">
        <p14:creationId xmlns:p14="http://schemas.microsoft.com/office/powerpoint/2010/main" val="3991834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Типове ОС</a:t>
            </a:r>
            <a:endParaRPr lang="bg-BG" dirty="0"/>
          </a:p>
        </p:txBody>
      </p:sp>
      <p:sp>
        <p:nvSpPr>
          <p:cNvPr id="3" name="Content Placeholder 2"/>
          <p:cNvSpPr>
            <a:spLocks noGrp="1"/>
          </p:cNvSpPr>
          <p:nvPr>
            <p:ph idx="1"/>
          </p:nvPr>
        </p:nvSpPr>
        <p:spPr/>
        <p:txBody>
          <a:bodyPr>
            <a:normAutofit/>
          </a:bodyPr>
          <a:lstStyle/>
          <a:p>
            <a:pPr>
              <a:lnSpc>
                <a:spcPct val="100000"/>
              </a:lnSpc>
              <a:spcBef>
                <a:spcPts val="0"/>
              </a:spcBef>
            </a:pPr>
            <a:r>
              <a:rPr lang="bg-BG" sz="2800" dirty="0" smtClean="0"/>
              <a:t>Обща класификация</a:t>
            </a:r>
            <a:endParaRPr lang="en-US" sz="2800" dirty="0" smtClean="0"/>
          </a:p>
          <a:p>
            <a:pPr lvl="1">
              <a:spcBef>
                <a:spcPts val="0"/>
              </a:spcBef>
            </a:pPr>
            <a:r>
              <a:rPr lang="ru-RU" sz="2400" dirty="0"/>
              <a:t>Майнфрайм (пакетни) операционна система</a:t>
            </a:r>
          </a:p>
          <a:p>
            <a:pPr lvl="1">
              <a:spcBef>
                <a:spcPts val="0"/>
              </a:spcBef>
            </a:pPr>
            <a:r>
              <a:rPr lang="ru-RU" sz="2400" dirty="0"/>
              <a:t>Мултипрограмна операционна система</a:t>
            </a:r>
          </a:p>
          <a:p>
            <a:pPr lvl="1">
              <a:spcBef>
                <a:spcPts val="0"/>
              </a:spcBef>
            </a:pPr>
            <a:r>
              <a:rPr lang="ru-RU" sz="2400" dirty="0"/>
              <a:t>Мултипроцесорна операционна система</a:t>
            </a:r>
          </a:p>
          <a:p>
            <a:pPr lvl="1">
              <a:spcBef>
                <a:spcPts val="0"/>
              </a:spcBef>
            </a:pPr>
            <a:r>
              <a:rPr lang="ru-RU" sz="2400" dirty="0"/>
              <a:t>Многозадачни операционни системи</a:t>
            </a:r>
          </a:p>
          <a:p>
            <a:pPr lvl="1">
              <a:spcBef>
                <a:spcPts val="0"/>
              </a:spcBef>
            </a:pPr>
            <a:r>
              <a:rPr lang="ru-RU" sz="2400" dirty="0"/>
              <a:t>Мрежови операционни системи</a:t>
            </a:r>
          </a:p>
          <a:p>
            <a:pPr lvl="1">
              <a:spcBef>
                <a:spcPts val="0"/>
              </a:spcBef>
            </a:pPr>
            <a:r>
              <a:rPr lang="ru-RU" sz="2400" dirty="0"/>
              <a:t>Разпределена операционна система</a:t>
            </a:r>
          </a:p>
          <a:p>
            <a:pPr lvl="1">
              <a:spcBef>
                <a:spcPts val="0"/>
              </a:spcBef>
            </a:pPr>
            <a:r>
              <a:rPr lang="ru-RU" sz="2400" dirty="0"/>
              <a:t>Системи за реално време</a:t>
            </a:r>
          </a:p>
          <a:p>
            <a:pPr lvl="1">
              <a:spcBef>
                <a:spcPts val="0"/>
              </a:spcBef>
            </a:pPr>
            <a:r>
              <a:rPr lang="ru-RU" sz="2400" dirty="0"/>
              <a:t>Вградена операционна система</a:t>
            </a:r>
          </a:p>
          <a:p>
            <a:pPr lvl="1">
              <a:spcBef>
                <a:spcPts val="0"/>
              </a:spcBef>
            </a:pPr>
            <a:r>
              <a:rPr lang="ru-RU" sz="2400" dirty="0"/>
              <a:t>Мобилна операционна система</a:t>
            </a:r>
            <a:endParaRPr lang="bg-BG" sz="2400" dirty="0"/>
          </a:p>
        </p:txBody>
      </p:sp>
      <p:pic>
        <p:nvPicPr>
          <p:cNvPr id="1026" name="Picture 2" descr="Structure of a Computer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6412" y="3581400"/>
            <a:ext cx="4782993" cy="3118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06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smtClean="0"/>
              <a:t>Майнфрайм</a:t>
            </a:r>
            <a:r>
              <a:rPr lang="bg-BG" dirty="0" smtClean="0"/>
              <a:t> </a:t>
            </a:r>
            <a:r>
              <a:rPr lang="bg-BG" dirty="0"/>
              <a:t>(</a:t>
            </a:r>
            <a:r>
              <a:rPr lang="bg-BG" dirty="0" smtClean="0"/>
              <a:t>пакетни) ОС </a:t>
            </a:r>
            <a:endParaRPr lang="bg-BG" dirty="0"/>
          </a:p>
        </p:txBody>
      </p:sp>
      <p:sp>
        <p:nvSpPr>
          <p:cNvPr id="3" name="Content Placeholder 2"/>
          <p:cNvSpPr>
            <a:spLocks noGrp="1"/>
          </p:cNvSpPr>
          <p:nvPr>
            <p:ph idx="1"/>
          </p:nvPr>
        </p:nvSpPr>
        <p:spPr/>
        <p:txBody>
          <a:bodyPr>
            <a:normAutofit lnSpcReduction="10000"/>
          </a:bodyPr>
          <a:lstStyle/>
          <a:p>
            <a:r>
              <a:rPr lang="bg-BG" sz="2400" dirty="0" smtClean="0"/>
              <a:t>В тези ОС (англ. </a:t>
            </a:r>
            <a:r>
              <a:rPr lang="en-US" sz="2400" dirty="0" smtClean="0"/>
              <a:t>Batch OS)</a:t>
            </a:r>
            <a:r>
              <a:rPr lang="bg-BG" sz="2400" dirty="0" smtClean="0"/>
              <a:t> </a:t>
            </a:r>
            <a:r>
              <a:rPr lang="ru-RU" sz="2400" dirty="0" smtClean="0"/>
              <a:t>достъпът до компютъра се </a:t>
            </a:r>
            <a:r>
              <a:rPr lang="ru-RU" sz="2400" dirty="0"/>
              <a:t>дава на повече от едно </a:t>
            </a:r>
            <a:r>
              <a:rPr lang="ru-RU" sz="2400" dirty="0" smtClean="0"/>
              <a:t>потребител, но това не в интерактивен режим, а чрез заявяване (подаване) на съответните задачи </a:t>
            </a:r>
            <a:r>
              <a:rPr lang="ru-RU" sz="2400" dirty="0"/>
              <a:t>на системата за изпълнение</a:t>
            </a:r>
            <a:r>
              <a:rPr lang="ru-RU" sz="2400" dirty="0" smtClean="0"/>
              <a:t>.</a:t>
            </a:r>
          </a:p>
          <a:p>
            <a:pPr lvl="1"/>
            <a:r>
              <a:rPr lang="ru-RU" sz="2000" dirty="0" smtClean="0"/>
              <a:t>Системата </a:t>
            </a:r>
            <a:r>
              <a:rPr lang="ru-RU" sz="2000" dirty="0"/>
              <a:t>поставя всички задания в опашка </a:t>
            </a:r>
            <a:r>
              <a:rPr lang="ru-RU" sz="2000" dirty="0" smtClean="0"/>
              <a:t>от вид «първия заявен, </a:t>
            </a:r>
            <a:r>
              <a:rPr lang="ru-RU" sz="2000" dirty="0"/>
              <a:t>първи </a:t>
            </a:r>
            <a:r>
              <a:rPr lang="ru-RU" sz="2000" dirty="0" smtClean="0"/>
              <a:t>обслужен» </a:t>
            </a:r>
            <a:r>
              <a:rPr lang="ru-RU" sz="2000" dirty="0"/>
              <a:t>и след това изпълнява заданията едно по едно. </a:t>
            </a:r>
            <a:endParaRPr lang="ru-RU" sz="2000" dirty="0" smtClean="0"/>
          </a:p>
          <a:p>
            <a:pPr lvl="2"/>
            <a:r>
              <a:rPr lang="ru-RU" sz="1800" dirty="0"/>
              <a:t>При този подход подобни по вид задачи се </a:t>
            </a:r>
            <a:r>
              <a:rPr lang="ru-RU" sz="1800" dirty="0" smtClean="0"/>
              <a:t>групират </a:t>
            </a:r>
            <a:r>
              <a:rPr lang="ru-RU" sz="1800" dirty="0"/>
              <a:t>заедно </a:t>
            </a:r>
            <a:r>
              <a:rPr lang="ru-RU" sz="1800" dirty="0" smtClean="0"/>
              <a:t>за да се изпълнят като един «пакет». </a:t>
            </a:r>
          </a:p>
          <a:p>
            <a:pPr lvl="1"/>
            <a:r>
              <a:rPr lang="ru-RU" sz="2000" dirty="0" smtClean="0"/>
              <a:t>Потребителите получават резултат от работата едва когато </a:t>
            </a:r>
            <a:r>
              <a:rPr lang="ru-RU" sz="2000" dirty="0"/>
              <a:t>всички задания </a:t>
            </a:r>
            <a:r>
              <a:rPr lang="ru-RU" sz="2000" dirty="0" smtClean="0"/>
              <a:t>завършат.</a:t>
            </a:r>
          </a:p>
          <a:p>
            <a:pPr lvl="1"/>
            <a:r>
              <a:rPr lang="ru-RU" sz="2000" dirty="0"/>
              <a:t>Той съдържаше малък набор от програми, наречени резидентен </a:t>
            </a:r>
            <a:r>
              <a:rPr lang="ru-RU" sz="2000" dirty="0" smtClean="0"/>
              <a:t/>
            </a:r>
            <a:br>
              <a:rPr lang="ru-RU" sz="2000" dirty="0" smtClean="0"/>
            </a:br>
            <a:r>
              <a:rPr lang="ru-RU" sz="2000" dirty="0" smtClean="0"/>
              <a:t>монитор</a:t>
            </a:r>
            <a:r>
              <a:rPr lang="ru-RU" sz="2000" dirty="0"/>
              <a:t>, които винаги се </a:t>
            </a:r>
            <a:r>
              <a:rPr lang="ru-RU" sz="2000" dirty="0" smtClean="0"/>
              <a:t>намира </a:t>
            </a:r>
            <a:r>
              <a:rPr lang="ru-RU" sz="2000" dirty="0"/>
              <a:t>в </a:t>
            </a:r>
            <a:r>
              <a:rPr lang="ru-RU" sz="2000" dirty="0" smtClean="0"/>
              <a:t>строго определена </a:t>
            </a:r>
            <a:br>
              <a:rPr lang="ru-RU" sz="2000" dirty="0" smtClean="0"/>
            </a:br>
            <a:r>
              <a:rPr lang="ru-RU" sz="2000" dirty="0" smtClean="0"/>
              <a:t>част от основната </a:t>
            </a:r>
            <a:r>
              <a:rPr lang="ru-RU" sz="2000" dirty="0"/>
              <a:t>памет. </a:t>
            </a:r>
            <a:endParaRPr lang="ru-RU" sz="2000" dirty="0" smtClean="0"/>
          </a:p>
          <a:p>
            <a:pPr lvl="1"/>
            <a:r>
              <a:rPr lang="ru-RU" sz="2000" dirty="0" smtClean="0"/>
              <a:t>Останалата </a:t>
            </a:r>
            <a:r>
              <a:rPr lang="ru-RU" sz="2000" dirty="0"/>
              <a:t>част </a:t>
            </a:r>
            <a:r>
              <a:rPr lang="ru-RU" sz="2000" dirty="0" smtClean="0"/>
              <a:t>от оперативната памет </a:t>
            </a:r>
            <a:br>
              <a:rPr lang="ru-RU" sz="2000" dirty="0" smtClean="0"/>
            </a:br>
            <a:r>
              <a:rPr lang="ru-RU" sz="2000" dirty="0" smtClean="0"/>
              <a:t>се </a:t>
            </a:r>
            <a:r>
              <a:rPr lang="ru-RU" sz="2000" dirty="0"/>
              <a:t>използва за обслужващи работни места</a:t>
            </a:r>
            <a:r>
              <a:rPr lang="ru-RU" sz="2000" dirty="0" smtClean="0"/>
              <a:t>.</a:t>
            </a:r>
          </a:p>
          <a:p>
            <a:r>
              <a:rPr lang="ru-RU" sz="2400" dirty="0" smtClean="0"/>
              <a:t>Основни проблеми:</a:t>
            </a:r>
          </a:p>
          <a:p>
            <a:pPr lvl="1"/>
            <a:r>
              <a:rPr lang="ru-RU" sz="2000" dirty="0" smtClean="0"/>
              <a:t>«Гладуване» (англ. </a:t>
            </a:r>
            <a:r>
              <a:rPr lang="en-US" sz="2000" dirty="0" smtClean="0"/>
              <a:t>Starvation</a:t>
            </a:r>
            <a:r>
              <a:rPr lang="bg-BG" sz="2000" dirty="0" smtClean="0"/>
              <a:t>)</a:t>
            </a:r>
          </a:p>
          <a:p>
            <a:pPr lvl="1"/>
            <a:r>
              <a:rPr lang="bg-BG" sz="2000" dirty="0" smtClean="0"/>
              <a:t>Отсъствие на интерактивност</a:t>
            </a:r>
            <a:endParaRPr lang="bg-BG" sz="2000" dirty="0"/>
          </a:p>
        </p:txBody>
      </p:sp>
      <p:pic>
        <p:nvPicPr>
          <p:cNvPr id="2050" name="Picture 2" descr="Batch Operating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3612" y="3962400"/>
            <a:ext cx="4358806" cy="2678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227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Мултипрограмна операционна система</a:t>
            </a:r>
            <a:endParaRPr lang="bg-BG" dirty="0"/>
          </a:p>
        </p:txBody>
      </p:sp>
      <p:sp>
        <p:nvSpPr>
          <p:cNvPr id="3" name="Content Placeholder 2"/>
          <p:cNvSpPr>
            <a:spLocks noGrp="1"/>
          </p:cNvSpPr>
          <p:nvPr>
            <p:ph idx="1"/>
          </p:nvPr>
        </p:nvSpPr>
        <p:spPr/>
        <p:txBody>
          <a:bodyPr>
            <a:normAutofit/>
          </a:bodyPr>
          <a:lstStyle/>
          <a:p>
            <a:pPr>
              <a:lnSpc>
                <a:spcPct val="100000"/>
              </a:lnSpc>
              <a:spcBef>
                <a:spcPts val="0"/>
              </a:spcBef>
            </a:pPr>
            <a:r>
              <a:rPr lang="ru-RU" sz="2800" dirty="0" smtClean="0"/>
              <a:t>Времето на работа на всеки процес може да се раздели на две основни групи: </a:t>
            </a:r>
          </a:p>
          <a:p>
            <a:pPr lvl="1">
              <a:lnSpc>
                <a:spcPct val="100000"/>
              </a:lnSpc>
              <a:spcBef>
                <a:spcPts val="0"/>
              </a:spcBef>
            </a:pPr>
            <a:r>
              <a:rPr lang="ru-RU" sz="2400" dirty="0" smtClean="0"/>
              <a:t>работа с централния процесор, т.е. </a:t>
            </a:r>
            <a:r>
              <a:rPr lang="ru-RU" sz="2400" i="1" dirty="0" smtClean="0">
                <a:effectLst>
                  <a:outerShdw blurRad="38100" dist="38100" dir="2700000" algn="tl">
                    <a:srgbClr val="000000">
                      <a:alpha val="43137"/>
                    </a:srgbClr>
                  </a:outerShdw>
                </a:effectLst>
              </a:rPr>
              <a:t>изчислителна част</a:t>
            </a:r>
            <a:r>
              <a:rPr lang="ru-RU" sz="2400" dirty="0" smtClean="0"/>
              <a:t>;</a:t>
            </a:r>
          </a:p>
          <a:p>
            <a:pPr lvl="1">
              <a:lnSpc>
                <a:spcPct val="100000"/>
              </a:lnSpc>
              <a:spcBef>
                <a:spcPts val="0"/>
              </a:spcBef>
            </a:pPr>
            <a:r>
              <a:rPr lang="ru-RU" sz="2400" dirty="0" smtClean="0"/>
              <a:t>обмен с периферните устройства, т.е. </a:t>
            </a:r>
            <a:r>
              <a:rPr lang="ru-RU" sz="2400" i="1" dirty="0" smtClean="0">
                <a:effectLst>
                  <a:outerShdw blurRad="38100" dist="38100" dir="2700000" algn="tl">
                    <a:srgbClr val="000000">
                      <a:alpha val="43137"/>
                    </a:srgbClr>
                  </a:outerShdw>
                </a:effectLst>
              </a:rPr>
              <a:t>В/И операции</a:t>
            </a:r>
            <a:r>
              <a:rPr lang="ru-RU" sz="2400" dirty="0" smtClean="0"/>
              <a:t>.</a:t>
            </a:r>
            <a:endParaRPr lang="ru-RU" sz="2400" dirty="0"/>
          </a:p>
          <a:p>
            <a:pPr>
              <a:lnSpc>
                <a:spcPct val="100000"/>
              </a:lnSpc>
              <a:spcBef>
                <a:spcPts val="0"/>
              </a:spcBef>
            </a:pPr>
            <a:r>
              <a:rPr lang="ru-RU" sz="2800" i="1" dirty="0" smtClean="0">
                <a:effectLst>
                  <a:outerShdw blurRad="38100" dist="38100" dir="2700000" algn="tl">
                    <a:srgbClr val="000000">
                      <a:alpha val="43137"/>
                    </a:srgbClr>
                  </a:outerShdw>
                </a:effectLst>
              </a:rPr>
              <a:t>Мултипрограмирането</a:t>
            </a:r>
            <a:r>
              <a:rPr lang="ru-RU" sz="2800" dirty="0" smtClean="0"/>
              <a:t> </a:t>
            </a:r>
            <a:r>
              <a:rPr lang="ru-RU" sz="2800" dirty="0"/>
              <a:t>е разширение </a:t>
            </a:r>
            <a:r>
              <a:rPr lang="ru-RU" sz="2800" dirty="0" smtClean="0"/>
              <a:t/>
            </a:r>
            <a:br>
              <a:rPr lang="ru-RU" sz="2800" dirty="0" smtClean="0"/>
            </a:br>
            <a:r>
              <a:rPr lang="ru-RU" sz="2800" dirty="0" smtClean="0"/>
              <a:t>на пакетната </a:t>
            </a:r>
            <a:r>
              <a:rPr lang="ru-RU" sz="2800" dirty="0"/>
              <a:t>обработка, при </a:t>
            </a:r>
            <a:r>
              <a:rPr lang="ru-RU" sz="2800" dirty="0" smtClean="0"/>
              <a:t/>
            </a:r>
            <a:br>
              <a:rPr lang="ru-RU" sz="2800" dirty="0" smtClean="0"/>
            </a:br>
            <a:r>
              <a:rPr lang="ru-RU" sz="2800" dirty="0" smtClean="0"/>
              <a:t>което </a:t>
            </a:r>
            <a:r>
              <a:rPr lang="ru-RU" sz="2800" dirty="0"/>
              <a:t>процесорът винаги е </a:t>
            </a:r>
            <a:r>
              <a:rPr lang="ru-RU" sz="2800" dirty="0" smtClean="0"/>
              <a:t>зает</a:t>
            </a:r>
            <a:r>
              <a:rPr lang="ru-RU" sz="2800" dirty="0"/>
              <a:t>. </a:t>
            </a:r>
            <a:endParaRPr lang="ru-RU" sz="2800" dirty="0" smtClean="0"/>
          </a:p>
          <a:p>
            <a:pPr lvl="1">
              <a:lnSpc>
                <a:spcPct val="100000"/>
              </a:lnSpc>
              <a:spcBef>
                <a:spcPts val="0"/>
              </a:spcBef>
            </a:pPr>
            <a:r>
              <a:rPr lang="ru-RU" sz="2400" dirty="0" smtClean="0"/>
              <a:t>Когато </a:t>
            </a:r>
            <a:r>
              <a:rPr lang="ru-RU" sz="2400" dirty="0"/>
              <a:t>един процес </a:t>
            </a:r>
            <a:r>
              <a:rPr lang="ru-RU" sz="2400" dirty="0" smtClean="0"/>
              <a:t>премине в режим </a:t>
            </a:r>
            <a:br>
              <a:rPr lang="ru-RU" sz="2400" dirty="0" smtClean="0"/>
            </a:br>
            <a:r>
              <a:rPr lang="ru-RU" sz="2400" dirty="0" smtClean="0"/>
              <a:t>на В/И обмен, централният процесор </a:t>
            </a:r>
            <a:br>
              <a:rPr lang="ru-RU" sz="2400" dirty="0" smtClean="0"/>
            </a:br>
            <a:r>
              <a:rPr lang="ru-RU" sz="2400" dirty="0" smtClean="0"/>
              <a:t>може </a:t>
            </a:r>
            <a:r>
              <a:rPr lang="ru-RU" sz="2400" dirty="0"/>
              <a:t>да започне изпълнението на </a:t>
            </a:r>
            <a:r>
              <a:rPr lang="ru-RU" sz="2400" dirty="0" smtClean="0"/>
              <a:t/>
            </a:r>
            <a:br>
              <a:rPr lang="ru-RU" sz="2400" dirty="0" smtClean="0"/>
            </a:br>
            <a:r>
              <a:rPr lang="ru-RU" sz="2400" dirty="0" smtClean="0"/>
              <a:t>изчислителната част на други </a:t>
            </a:r>
            <a:br>
              <a:rPr lang="ru-RU" sz="2400" dirty="0" smtClean="0"/>
            </a:br>
            <a:r>
              <a:rPr lang="ru-RU" sz="2400" dirty="0" smtClean="0"/>
              <a:t>(изчакващ) прицес. </a:t>
            </a:r>
          </a:p>
          <a:p>
            <a:pPr lvl="2">
              <a:lnSpc>
                <a:spcPct val="100000"/>
              </a:lnSpc>
              <a:spcBef>
                <a:spcPts val="0"/>
              </a:spcBef>
            </a:pPr>
            <a:r>
              <a:rPr lang="ru-RU" sz="2000" dirty="0" smtClean="0"/>
              <a:t>Мултипрограмирането </a:t>
            </a:r>
            <a:r>
              <a:rPr lang="ru-RU" sz="2000" dirty="0"/>
              <a:t>подобрява </a:t>
            </a:r>
            <a:r>
              <a:rPr lang="ru-RU" sz="2000" dirty="0" smtClean="0"/>
              <a:t/>
            </a:r>
            <a:br>
              <a:rPr lang="ru-RU" sz="2000" dirty="0" smtClean="0"/>
            </a:br>
            <a:r>
              <a:rPr lang="ru-RU" sz="2000" dirty="0" smtClean="0"/>
              <a:t>ефективността </a:t>
            </a:r>
            <a:r>
              <a:rPr lang="ru-RU" sz="2000" dirty="0"/>
              <a:t>на системата.</a:t>
            </a:r>
            <a:endParaRPr lang="bg-BG" sz="2000" dirty="0"/>
          </a:p>
        </p:txBody>
      </p:sp>
      <p:pic>
        <p:nvPicPr>
          <p:cNvPr id="4" name="Picture 3"/>
          <p:cNvPicPr>
            <a:picLocks noChangeAspect="1"/>
          </p:cNvPicPr>
          <p:nvPr/>
        </p:nvPicPr>
        <p:blipFill>
          <a:blip r:embed="rId2"/>
          <a:stretch>
            <a:fillRect/>
          </a:stretch>
        </p:blipFill>
        <p:spPr>
          <a:xfrm>
            <a:off x="6780212" y="3666690"/>
            <a:ext cx="4854986" cy="2886510"/>
          </a:xfrm>
          <a:prstGeom prst="rect">
            <a:avLst/>
          </a:prstGeom>
        </p:spPr>
      </p:pic>
    </p:spTree>
    <p:extLst>
      <p:ext uri="{BB962C8B-B14F-4D97-AF65-F5344CB8AC3E}">
        <p14:creationId xmlns:p14="http://schemas.microsoft.com/office/powerpoint/2010/main" val="313820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Мултипроцесорна операционна система</a:t>
            </a:r>
            <a:endParaRPr lang="bg-BG" dirty="0"/>
          </a:p>
        </p:txBody>
      </p:sp>
      <p:sp>
        <p:nvSpPr>
          <p:cNvPr id="3" name="Content Placeholder 2"/>
          <p:cNvSpPr>
            <a:spLocks noGrp="1"/>
          </p:cNvSpPr>
          <p:nvPr>
            <p:ph idx="1"/>
          </p:nvPr>
        </p:nvSpPr>
        <p:spPr/>
        <p:txBody>
          <a:bodyPr>
            <a:normAutofit/>
          </a:bodyPr>
          <a:lstStyle/>
          <a:p>
            <a:pPr>
              <a:lnSpc>
                <a:spcPct val="100000"/>
              </a:lnSpc>
              <a:spcBef>
                <a:spcPts val="600"/>
              </a:spcBef>
            </a:pPr>
            <a:r>
              <a:rPr lang="ru-RU" sz="2800" dirty="0" smtClean="0"/>
              <a:t>Този вид ОС е необхоходим за случаите на компютър с </a:t>
            </a:r>
            <a:r>
              <a:rPr lang="ru-RU" sz="2800" dirty="0"/>
              <a:t>повече от един </a:t>
            </a:r>
            <a:r>
              <a:rPr lang="ru-RU" sz="2800" dirty="0" smtClean="0"/>
              <a:t>процесор.</a:t>
            </a:r>
          </a:p>
          <a:p>
            <a:pPr lvl="1">
              <a:lnSpc>
                <a:spcPct val="100000"/>
              </a:lnSpc>
            </a:pPr>
            <a:r>
              <a:rPr lang="ru-RU" sz="2400" dirty="0" smtClean="0"/>
              <a:t>Всеки процесор може да </a:t>
            </a:r>
            <a:r>
              <a:rPr lang="ru-RU" sz="2400" dirty="0"/>
              <a:t>изпълнява повече от един процес едновременно.</a:t>
            </a:r>
            <a:r>
              <a:rPr lang="ru-RU" sz="2400" dirty="0" smtClean="0"/>
              <a:t> </a:t>
            </a:r>
          </a:p>
          <a:p>
            <a:pPr lvl="1">
              <a:lnSpc>
                <a:spcPct val="100000"/>
              </a:lnSpc>
            </a:pPr>
            <a:r>
              <a:rPr lang="ru-RU" sz="2400" dirty="0" smtClean="0"/>
              <a:t>Системата позволява да се реализира се </a:t>
            </a:r>
            <a:r>
              <a:rPr lang="ru-RU" sz="2400" dirty="0"/>
              <a:t>постига </a:t>
            </a:r>
            <a:r>
              <a:rPr lang="ru-RU" sz="2400" i="1" dirty="0">
                <a:effectLst>
                  <a:outerShdw blurRad="38100" dist="38100" dir="2700000" algn="tl">
                    <a:srgbClr val="000000">
                      <a:alpha val="43137"/>
                    </a:srgbClr>
                  </a:outerShdw>
                </a:effectLst>
              </a:rPr>
              <a:t>паралелно</a:t>
            </a:r>
            <a:r>
              <a:rPr lang="ru-RU" sz="2400" dirty="0"/>
              <a:t> изчисление. </a:t>
            </a:r>
            <a:endParaRPr lang="ru-RU" sz="2400" dirty="0" smtClean="0"/>
          </a:p>
          <a:p>
            <a:pPr lvl="1">
              <a:lnSpc>
                <a:spcPct val="100000"/>
              </a:lnSpc>
            </a:pPr>
            <a:r>
              <a:rPr lang="ru-RU" sz="2400" dirty="0" smtClean="0"/>
              <a:t>При тези системи има увеличена </a:t>
            </a:r>
            <a:r>
              <a:rPr lang="ru-RU" sz="2400" dirty="0"/>
              <a:t>пропускателната </a:t>
            </a:r>
            <a:r>
              <a:rPr lang="ru-RU" sz="2400" dirty="0" smtClean="0"/>
              <a:t>способност.</a:t>
            </a:r>
          </a:p>
          <a:p>
            <a:r>
              <a:rPr lang="ru-RU" sz="2800" dirty="0" smtClean="0"/>
              <a:t>ОС биват </a:t>
            </a:r>
            <a:r>
              <a:rPr lang="ru-RU" sz="2800" i="1" dirty="0" smtClean="0">
                <a:effectLst>
                  <a:outerShdw blurRad="38100" dist="38100" dir="2700000" algn="tl">
                    <a:srgbClr val="000000">
                      <a:alpha val="43137"/>
                    </a:srgbClr>
                  </a:outerShdw>
                </a:effectLst>
              </a:rPr>
              <a:t>симетрични</a:t>
            </a:r>
            <a:r>
              <a:rPr lang="ru-RU" sz="2800" dirty="0" smtClean="0"/>
              <a:t> и </a:t>
            </a:r>
            <a:r>
              <a:rPr lang="ru-RU" sz="2800" i="1" dirty="0" smtClean="0">
                <a:effectLst>
                  <a:outerShdw blurRad="38100" dist="38100" dir="2700000" algn="tl">
                    <a:srgbClr val="000000">
                      <a:alpha val="43137"/>
                    </a:srgbClr>
                  </a:outerShdw>
                </a:effectLst>
              </a:rPr>
              <a:t>асиметрични</a:t>
            </a:r>
            <a:r>
              <a:rPr lang="ru-RU" sz="2800" dirty="0" smtClean="0"/>
              <a:t>.</a:t>
            </a:r>
            <a:endParaRPr lang="en-US" sz="2800" dirty="0"/>
          </a:p>
          <a:p>
            <a:r>
              <a:rPr lang="bg-BG" sz="2800" dirty="0"/>
              <a:t>Основни характеристики</a:t>
            </a:r>
            <a:r>
              <a:rPr lang="bg-BG" sz="2800" dirty="0" smtClean="0"/>
              <a:t>:</a:t>
            </a:r>
          </a:p>
          <a:p>
            <a:pPr lvl="1"/>
            <a:r>
              <a:rPr lang="bg-BG" sz="2400" dirty="0" smtClean="0"/>
              <a:t>Повишена надеждност</a:t>
            </a:r>
          </a:p>
          <a:p>
            <a:pPr lvl="1"/>
            <a:r>
              <a:rPr lang="bg-BG" sz="2400" dirty="0" smtClean="0"/>
              <a:t>По-висока работоспособност</a:t>
            </a:r>
          </a:p>
          <a:p>
            <a:pPr lvl="1"/>
            <a:r>
              <a:rPr lang="bg-BG" sz="2400" dirty="0" smtClean="0"/>
              <a:t>По-сложна за създаване и поддръжка.</a:t>
            </a:r>
            <a:endParaRPr lang="bg-BG" sz="2400" dirty="0"/>
          </a:p>
          <a:p>
            <a:endParaRPr lang="ru-RU" sz="2400" dirty="0" smtClean="0"/>
          </a:p>
          <a:p>
            <a:endParaRPr lang="bg-BG" sz="2800" dirty="0"/>
          </a:p>
        </p:txBody>
      </p:sp>
      <p:pic>
        <p:nvPicPr>
          <p:cNvPr id="4" name="Picture 3"/>
          <p:cNvPicPr>
            <a:picLocks noChangeAspect="1"/>
          </p:cNvPicPr>
          <p:nvPr/>
        </p:nvPicPr>
        <p:blipFill>
          <a:blip r:embed="rId2"/>
          <a:stretch>
            <a:fillRect/>
          </a:stretch>
        </p:blipFill>
        <p:spPr>
          <a:xfrm>
            <a:off x="7446772" y="3733800"/>
            <a:ext cx="4388701" cy="2971800"/>
          </a:xfrm>
          <a:prstGeom prst="rect">
            <a:avLst/>
          </a:prstGeom>
        </p:spPr>
      </p:pic>
    </p:spTree>
    <p:extLst>
      <p:ext uri="{BB962C8B-B14F-4D97-AF65-F5344CB8AC3E}">
        <p14:creationId xmlns:p14="http://schemas.microsoft.com/office/powerpoint/2010/main" val="198751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smtClean="0"/>
              <a:t>Многозадачни</a:t>
            </a:r>
            <a:r>
              <a:rPr lang="bg-BG" dirty="0" smtClean="0"/>
              <a:t> операционни системи</a:t>
            </a:r>
            <a:endParaRPr lang="bg-BG" dirty="0"/>
          </a:p>
        </p:txBody>
      </p:sp>
      <p:sp>
        <p:nvSpPr>
          <p:cNvPr id="3" name="Content Placeholder 2"/>
          <p:cNvSpPr>
            <a:spLocks noGrp="1"/>
          </p:cNvSpPr>
          <p:nvPr>
            <p:ph idx="1"/>
          </p:nvPr>
        </p:nvSpPr>
        <p:spPr/>
        <p:txBody>
          <a:bodyPr>
            <a:normAutofit lnSpcReduction="10000"/>
          </a:bodyPr>
          <a:lstStyle/>
          <a:p>
            <a:pPr>
              <a:spcBef>
                <a:spcPts val="0"/>
              </a:spcBef>
            </a:pPr>
            <a:r>
              <a:rPr lang="ru-RU" sz="2800" dirty="0"/>
              <a:t>Многозадачната </a:t>
            </a:r>
            <a:r>
              <a:rPr lang="ru-RU" sz="2800" dirty="0" smtClean="0"/>
              <a:t>ОС е развитие на мултипрограмна ОС с цел подобряване на ефективността на използването на хардуера от няколко програми </a:t>
            </a:r>
            <a:r>
              <a:rPr lang="ru-RU" sz="2800" dirty="0"/>
              <a:t>едновременно. </a:t>
            </a:r>
            <a:endParaRPr lang="ru-RU" sz="2800" dirty="0" smtClean="0"/>
          </a:p>
          <a:p>
            <a:pPr lvl="1">
              <a:spcBef>
                <a:spcPts val="0"/>
              </a:spcBef>
            </a:pPr>
            <a:r>
              <a:rPr lang="ru-RU" sz="2400" dirty="0"/>
              <a:t>В литературата се използва и термина </a:t>
            </a:r>
            <a:r>
              <a:rPr lang="bg-BG" sz="2400" dirty="0"/>
              <a:t>„</a:t>
            </a:r>
            <a:r>
              <a:rPr lang="en-US" sz="2400" i="1" dirty="0">
                <a:effectLst>
                  <a:outerShdw blurRad="38100" dist="38100" dir="2700000" algn="tl">
                    <a:srgbClr val="000000">
                      <a:alpha val="43137"/>
                    </a:srgbClr>
                  </a:outerShdw>
                </a:effectLst>
              </a:rPr>
              <a:t>Time-Sharing Operating Systems</a:t>
            </a:r>
            <a:r>
              <a:rPr lang="bg-BG" sz="2400" dirty="0"/>
              <a:t>“</a:t>
            </a:r>
          </a:p>
          <a:p>
            <a:pPr lvl="2">
              <a:spcBef>
                <a:spcPts val="0"/>
              </a:spcBef>
            </a:pPr>
            <a:r>
              <a:rPr lang="ru-RU" sz="2000" dirty="0" smtClean="0"/>
              <a:t>Всеки потребител </a:t>
            </a:r>
            <a:r>
              <a:rPr lang="bg-BG" sz="2000" dirty="0" smtClean="0"/>
              <a:t>може </a:t>
            </a:r>
            <a:r>
              <a:rPr lang="ru-RU" sz="2000" dirty="0" smtClean="0"/>
              <a:t>да </a:t>
            </a:r>
            <a:r>
              <a:rPr lang="ru-RU" sz="2000" dirty="0"/>
              <a:t>изпълнява </a:t>
            </a:r>
            <a:r>
              <a:rPr lang="ru-RU" sz="2000" dirty="0" smtClean="0"/>
              <a:t>няколко задачи едновременно или няколко потребителя могат да изпълняват паралелно своите задачи задачи.</a:t>
            </a:r>
          </a:p>
          <a:p>
            <a:pPr lvl="2">
              <a:spcBef>
                <a:spcPts val="0"/>
              </a:spcBef>
            </a:pPr>
            <a:r>
              <a:rPr lang="ru-RU" sz="2000" dirty="0"/>
              <a:t>Всяка задача получава равни </a:t>
            </a:r>
            <a:r>
              <a:rPr lang="ru-RU" sz="2000" dirty="0" smtClean="0"/>
              <a:t>възможности за работа с процесора.  </a:t>
            </a:r>
            <a:r>
              <a:rPr lang="ru-RU" sz="2000" dirty="0"/>
              <a:t>Времето, което всяка задача получава за изпълнение, се нарича </a:t>
            </a:r>
            <a:r>
              <a:rPr lang="ru-RU" sz="2000" u="sng" dirty="0">
                <a:effectLst>
                  <a:outerShdw blurRad="38100" dist="38100" dir="2700000" algn="tl">
                    <a:srgbClr val="000000">
                      <a:alpha val="43137"/>
                    </a:srgbClr>
                  </a:outerShdw>
                </a:effectLst>
              </a:rPr>
              <a:t>квант</a:t>
            </a:r>
            <a:r>
              <a:rPr lang="ru-RU" sz="2000" dirty="0"/>
              <a:t>. </a:t>
            </a:r>
            <a:endParaRPr lang="ru-RU" sz="2000" dirty="0" smtClean="0"/>
          </a:p>
          <a:p>
            <a:pPr lvl="2">
              <a:spcBef>
                <a:spcPts val="0"/>
              </a:spcBef>
            </a:pPr>
            <a:r>
              <a:rPr lang="ru-RU" sz="2000" dirty="0" smtClean="0"/>
              <a:t>След </a:t>
            </a:r>
            <a:r>
              <a:rPr lang="ru-RU" sz="2000" dirty="0"/>
              <a:t>изтичане на този интервал от време ОС преминава към следващата задача</a:t>
            </a:r>
            <a:r>
              <a:rPr lang="ru-RU" sz="2000" dirty="0" smtClean="0"/>
              <a:t>.</a:t>
            </a:r>
          </a:p>
          <a:p>
            <a:pPr lvl="1">
              <a:spcBef>
                <a:spcPts val="0"/>
              </a:spcBef>
            </a:pPr>
            <a:r>
              <a:rPr lang="ru-RU" sz="2400" dirty="0" smtClean="0"/>
              <a:t>Основни характеристики</a:t>
            </a:r>
          </a:p>
          <a:p>
            <a:pPr lvl="2">
              <a:spcBef>
                <a:spcPts val="0"/>
              </a:spcBef>
            </a:pPr>
            <a:r>
              <a:rPr lang="ru-RU" sz="2000" dirty="0" smtClean="0"/>
              <a:t>Споделян на апаратните ресурси, повишена производителност и подобрена ефективност при интерактивен обмен с потребителя.</a:t>
            </a:r>
          </a:p>
          <a:p>
            <a:pPr lvl="2">
              <a:spcBef>
                <a:spcPts val="0"/>
              </a:spcBef>
            </a:pPr>
            <a:r>
              <a:rPr lang="ru-RU" sz="2000" dirty="0" smtClean="0"/>
              <a:t>Основните проблеми са около надеждност, сигурност, комуникация между процесите, сложност на реализацията, състезание на сигнали, приоритетна инверсия и други.</a:t>
            </a:r>
            <a:endParaRPr lang="en-US" sz="2000" dirty="0" smtClean="0"/>
          </a:p>
          <a:p>
            <a:pPr lvl="1">
              <a:spcBef>
                <a:spcPts val="0"/>
              </a:spcBef>
            </a:pPr>
            <a:r>
              <a:rPr lang="bg-BG" sz="2400" dirty="0" smtClean="0"/>
              <a:t>Съществуват два основни вида: </a:t>
            </a:r>
            <a:endParaRPr lang="en-US" sz="2400" dirty="0" smtClean="0"/>
          </a:p>
          <a:p>
            <a:pPr lvl="2">
              <a:spcBef>
                <a:spcPts val="0"/>
              </a:spcBef>
            </a:pPr>
            <a:r>
              <a:rPr lang="bg-BG" sz="2000" dirty="0" smtClean="0"/>
              <a:t>Превантивни (англ. </a:t>
            </a:r>
            <a:r>
              <a:rPr lang="en-US" sz="2000" dirty="0" smtClean="0"/>
              <a:t>Preemptive Multitasking OS)</a:t>
            </a:r>
            <a:r>
              <a:rPr lang="bg-BG" sz="2000" dirty="0" smtClean="0"/>
              <a:t> и </a:t>
            </a:r>
            <a:endParaRPr lang="en-US" sz="2000" dirty="0" smtClean="0"/>
          </a:p>
          <a:p>
            <a:pPr lvl="2">
              <a:spcBef>
                <a:spcPts val="0"/>
              </a:spcBef>
            </a:pPr>
            <a:r>
              <a:rPr lang="bg-BG" sz="2000" dirty="0" smtClean="0"/>
              <a:t>Кооперативни (</a:t>
            </a:r>
            <a:r>
              <a:rPr lang="bg-BG" sz="2000" dirty="0"/>
              <a:t>англ. </a:t>
            </a:r>
            <a:r>
              <a:rPr lang="en-US" sz="2000" dirty="0" smtClean="0"/>
              <a:t>Cooperative </a:t>
            </a:r>
            <a:r>
              <a:rPr lang="en-US" sz="2000" dirty="0"/>
              <a:t>Multitasking OS</a:t>
            </a:r>
            <a:r>
              <a:rPr lang="bg-BG" sz="2000" dirty="0" smtClean="0"/>
              <a:t>)</a:t>
            </a:r>
            <a:endParaRPr lang="ru-RU" sz="2000" dirty="0"/>
          </a:p>
        </p:txBody>
      </p:sp>
    </p:spTree>
    <p:extLst>
      <p:ext uri="{BB962C8B-B14F-4D97-AF65-F5344CB8AC3E}">
        <p14:creationId xmlns:p14="http://schemas.microsoft.com/office/powerpoint/2010/main" val="458483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Мрежови операционни системи</a:t>
            </a:r>
            <a:endParaRPr lang="bg-BG" dirty="0"/>
          </a:p>
        </p:txBody>
      </p:sp>
      <p:sp>
        <p:nvSpPr>
          <p:cNvPr id="3" name="Content Placeholder 2"/>
          <p:cNvSpPr>
            <a:spLocks noGrp="1"/>
          </p:cNvSpPr>
          <p:nvPr>
            <p:ph idx="1"/>
          </p:nvPr>
        </p:nvSpPr>
        <p:spPr/>
        <p:txBody>
          <a:bodyPr>
            <a:normAutofit/>
          </a:bodyPr>
          <a:lstStyle/>
          <a:p>
            <a:r>
              <a:rPr lang="ru-RU" sz="2800" dirty="0"/>
              <a:t>Тези </a:t>
            </a:r>
            <a:r>
              <a:rPr lang="ru-RU" sz="2800" dirty="0" smtClean="0"/>
              <a:t>ОС </a:t>
            </a:r>
            <a:r>
              <a:rPr lang="ru-RU" sz="2800" dirty="0"/>
              <a:t>работят на сървър и предоставят възможност за управление на данни, потребители, групи, сигурност, приложения и други мрежови функции. </a:t>
            </a:r>
            <a:endParaRPr lang="ru-RU" sz="2800" dirty="0" smtClean="0"/>
          </a:p>
          <a:p>
            <a:pPr lvl="1"/>
            <a:r>
              <a:rPr lang="ru-RU" sz="2400" dirty="0"/>
              <a:t>Целта </a:t>
            </a:r>
            <a:r>
              <a:rPr lang="ru-RU" sz="2400" dirty="0" smtClean="0"/>
              <a:t>е </a:t>
            </a:r>
            <a:r>
              <a:rPr lang="ru-RU" sz="2400" dirty="0"/>
              <a:t>да се предоставят услуги на много потребители едновременно: услугите могат да включват приложения, съхранение на файлове, печат и други мрежови </a:t>
            </a:r>
            <a:r>
              <a:rPr lang="ru-RU" sz="2400" dirty="0" smtClean="0"/>
              <a:t>операции.</a:t>
            </a:r>
          </a:p>
          <a:p>
            <a:pPr lvl="1"/>
            <a:r>
              <a:rPr lang="ru-RU" sz="2400" dirty="0" smtClean="0"/>
              <a:t>Те позволяват </a:t>
            </a:r>
            <a:r>
              <a:rPr lang="ru-RU" sz="2400" dirty="0"/>
              <a:t>споделен достъп до файлове, принтери, защита, приложения и други мрежови функции през малка частна мрежа. </a:t>
            </a:r>
            <a:endParaRPr lang="ru-RU" sz="2400" dirty="0" smtClean="0"/>
          </a:p>
          <a:p>
            <a:pPr lvl="1"/>
            <a:r>
              <a:rPr lang="ru-RU" sz="2400" dirty="0" smtClean="0"/>
              <a:t>Важен </a:t>
            </a:r>
            <a:r>
              <a:rPr lang="ru-RU" sz="2400" dirty="0"/>
              <a:t>аспект </a:t>
            </a:r>
            <a:r>
              <a:rPr lang="ru-RU" sz="2400" dirty="0" smtClean="0"/>
              <a:t>е факта, </a:t>
            </a:r>
            <a:r>
              <a:rPr lang="ru-RU" sz="2400" dirty="0"/>
              <a:t>че всички потребители са добре запознати с основната конфигурация, с всички други потребители в мрежата, техните индивидуални връзки и т.н. и затова тези компютри са популярни </a:t>
            </a:r>
            <a:r>
              <a:rPr lang="ru-RU" sz="2400" dirty="0" smtClean="0"/>
              <a:t>с названието </a:t>
            </a:r>
            <a:r>
              <a:rPr lang="ru-RU" sz="2400" i="1" dirty="0" smtClean="0">
                <a:effectLst>
                  <a:outerShdw blurRad="38100" dist="38100" dir="2700000" algn="tl">
                    <a:srgbClr val="000000">
                      <a:alpha val="43137"/>
                    </a:srgbClr>
                  </a:outerShdw>
                </a:effectLst>
              </a:rPr>
              <a:t>тясно </a:t>
            </a:r>
            <a:r>
              <a:rPr lang="ru-RU" sz="2400" i="1" dirty="0">
                <a:effectLst>
                  <a:outerShdw blurRad="38100" dist="38100" dir="2700000" algn="tl">
                    <a:srgbClr val="000000">
                      <a:alpha val="43137"/>
                    </a:srgbClr>
                  </a:outerShdw>
                </a:effectLst>
              </a:rPr>
              <a:t>свързани системи</a:t>
            </a:r>
            <a:r>
              <a:rPr lang="ru-RU" sz="2400" dirty="0" smtClean="0"/>
              <a:t>.</a:t>
            </a:r>
          </a:p>
          <a:p>
            <a:pPr lvl="2"/>
            <a:r>
              <a:rPr lang="ru-RU" sz="2000" dirty="0" smtClean="0"/>
              <a:t>Използва се и названието </a:t>
            </a:r>
            <a:r>
              <a:rPr lang="ru-RU" sz="2000" i="1" dirty="0" smtClean="0">
                <a:effectLst>
                  <a:outerShdw blurRad="38100" dist="38100" dir="2700000" algn="tl">
                    <a:srgbClr val="000000">
                      <a:alpha val="43137"/>
                    </a:srgbClr>
                  </a:outerShdw>
                </a:effectLst>
              </a:rPr>
              <a:t>Сървърни опереционни системи.</a:t>
            </a:r>
          </a:p>
        </p:txBody>
      </p:sp>
    </p:spTree>
    <p:extLst>
      <p:ext uri="{BB962C8B-B14F-4D97-AF65-F5344CB8AC3E}">
        <p14:creationId xmlns:p14="http://schemas.microsoft.com/office/powerpoint/2010/main" val="645704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Разпределена операционна система</a:t>
            </a:r>
            <a:endParaRPr lang="bg-BG" dirty="0"/>
          </a:p>
        </p:txBody>
      </p:sp>
      <p:sp>
        <p:nvSpPr>
          <p:cNvPr id="3" name="Content Placeholder 2"/>
          <p:cNvSpPr>
            <a:spLocks noGrp="1"/>
          </p:cNvSpPr>
          <p:nvPr>
            <p:ph idx="1"/>
          </p:nvPr>
        </p:nvSpPr>
        <p:spPr/>
        <p:txBody>
          <a:bodyPr>
            <a:normAutofit fontScale="92500" lnSpcReduction="10000"/>
          </a:bodyPr>
          <a:lstStyle/>
          <a:p>
            <a:pPr>
              <a:lnSpc>
                <a:spcPct val="110000"/>
              </a:lnSpc>
              <a:spcBef>
                <a:spcPts val="0"/>
              </a:spcBef>
            </a:pPr>
            <a:r>
              <a:rPr lang="ru-RU" sz="2800" dirty="0"/>
              <a:t>Разпределената </a:t>
            </a:r>
            <a:r>
              <a:rPr lang="ru-RU" sz="2800" dirty="0" smtClean="0"/>
              <a:t>ОС не </a:t>
            </a:r>
            <a:r>
              <a:rPr lang="ru-RU" sz="2800" dirty="0"/>
              <a:t>е инсталирана на една машина, </a:t>
            </a:r>
            <a:r>
              <a:rPr lang="ru-RU" sz="2800" dirty="0" smtClean="0"/>
              <a:t>а тя </a:t>
            </a:r>
            <a:r>
              <a:rPr lang="ru-RU" sz="2800" dirty="0"/>
              <a:t>е разделена на части и тези части се зареждат на различни машини. </a:t>
            </a:r>
            <a:endParaRPr lang="ru-RU" sz="2800" dirty="0" smtClean="0"/>
          </a:p>
          <a:p>
            <a:pPr lvl="1">
              <a:lnSpc>
                <a:spcPct val="110000"/>
              </a:lnSpc>
              <a:spcBef>
                <a:spcPts val="0"/>
              </a:spcBef>
            </a:pPr>
            <a:r>
              <a:rPr lang="ru-RU" sz="2400" dirty="0" smtClean="0"/>
              <a:t>Частта </a:t>
            </a:r>
            <a:r>
              <a:rPr lang="ru-RU" sz="2400" dirty="0"/>
              <a:t>от разпределената </a:t>
            </a:r>
            <a:r>
              <a:rPr lang="ru-RU" sz="2400" dirty="0" smtClean="0"/>
              <a:t>ОС се </a:t>
            </a:r>
            <a:r>
              <a:rPr lang="ru-RU" sz="2400" dirty="0"/>
              <a:t>инсталирана на всяка </a:t>
            </a:r>
            <a:r>
              <a:rPr lang="ru-RU" sz="2400" dirty="0" smtClean="0"/>
              <a:t>машина </a:t>
            </a:r>
            <a:r>
              <a:rPr lang="ru-RU" sz="2400" dirty="0"/>
              <a:t>за да </a:t>
            </a:r>
            <a:r>
              <a:rPr lang="ru-RU" sz="2400" dirty="0" smtClean="0"/>
              <a:t>се реализира комуникация и синхронизация между частите на ОС на рализните компютри. </a:t>
            </a:r>
          </a:p>
          <a:p>
            <a:pPr lvl="1">
              <a:lnSpc>
                <a:spcPct val="110000"/>
              </a:lnSpc>
              <a:spcBef>
                <a:spcPts val="0"/>
              </a:spcBef>
            </a:pPr>
            <a:r>
              <a:rPr lang="ru-RU" sz="2400" dirty="0"/>
              <a:t>Независимите </a:t>
            </a:r>
            <a:r>
              <a:rPr lang="ru-RU" sz="2400" dirty="0" smtClean="0"/>
              <a:t>части на системата работят върху различни компютри, т.е. използват различна памет </a:t>
            </a:r>
            <a:r>
              <a:rPr lang="ru-RU" sz="2400" dirty="0"/>
              <a:t>и процесор. </a:t>
            </a:r>
            <a:endParaRPr lang="ru-RU" sz="2400" dirty="0" smtClean="0"/>
          </a:p>
          <a:p>
            <a:pPr lvl="2">
              <a:lnSpc>
                <a:spcPct val="110000"/>
              </a:lnSpc>
              <a:spcBef>
                <a:spcPts val="0"/>
              </a:spcBef>
            </a:pPr>
            <a:r>
              <a:rPr lang="ru-RU" sz="2000" dirty="0" smtClean="0"/>
              <a:t>Това е пример за  т.нар. </a:t>
            </a:r>
            <a:r>
              <a:rPr lang="ru-RU" sz="2000" i="1" dirty="0" smtClean="0">
                <a:effectLst>
                  <a:outerShdw blurRad="38100" dist="38100" dir="2700000" algn="tl">
                    <a:srgbClr val="000000">
                      <a:alpha val="43137"/>
                    </a:srgbClr>
                  </a:outerShdw>
                </a:effectLst>
              </a:rPr>
              <a:t>слабо </a:t>
            </a:r>
            <a:r>
              <a:rPr lang="ru-RU" sz="2000" i="1" dirty="0">
                <a:effectLst>
                  <a:outerShdw blurRad="38100" dist="38100" dir="2700000" algn="tl">
                    <a:srgbClr val="000000">
                      <a:alpha val="43137"/>
                    </a:srgbClr>
                  </a:outerShdw>
                </a:effectLst>
              </a:rPr>
              <a:t>свързани </a:t>
            </a:r>
            <a:r>
              <a:rPr lang="ru-RU" sz="2000" i="1" dirty="0" smtClean="0">
                <a:effectLst>
                  <a:outerShdw blurRad="38100" dist="38100" dir="2700000" algn="tl">
                    <a:srgbClr val="000000">
                      <a:alpha val="43137"/>
                    </a:srgbClr>
                  </a:outerShdw>
                </a:effectLst>
              </a:rPr>
              <a:t>системи</a:t>
            </a:r>
            <a:r>
              <a:rPr lang="ru-RU" sz="2000" dirty="0" smtClean="0"/>
              <a:t>, при които използваните компютри се различават по производителност и основни характеристики.</a:t>
            </a:r>
          </a:p>
          <a:p>
            <a:pPr lvl="1">
              <a:lnSpc>
                <a:spcPct val="110000"/>
              </a:lnSpc>
              <a:spcBef>
                <a:spcPts val="0"/>
              </a:spcBef>
            </a:pPr>
            <a:r>
              <a:rPr lang="ru-RU" sz="2400" dirty="0" smtClean="0"/>
              <a:t>От гледна точка на потребителя този вид ОС осигурява «абстрактност» на ресурсите и «прозрачност» на работат с тях:</a:t>
            </a:r>
          </a:p>
          <a:p>
            <a:pPr lvl="2">
              <a:lnSpc>
                <a:spcPct val="110000"/>
              </a:lnSpc>
              <a:spcBef>
                <a:spcPts val="0"/>
              </a:spcBef>
            </a:pPr>
            <a:r>
              <a:rPr lang="ru-RU" sz="2000" dirty="0" smtClean="0"/>
              <a:t>ОС «скрива» разположението на ресурсите и необходимите действия за тяхното използване.</a:t>
            </a:r>
            <a:endParaRPr lang="bg-BG" sz="2000" dirty="0"/>
          </a:p>
          <a:p>
            <a:pPr>
              <a:lnSpc>
                <a:spcPct val="110000"/>
              </a:lnSpc>
              <a:spcBef>
                <a:spcPts val="0"/>
              </a:spcBef>
            </a:pPr>
            <a:r>
              <a:rPr lang="ru-RU" sz="2800" dirty="0" smtClean="0"/>
              <a:t>Разпределените ОС са </a:t>
            </a:r>
            <a:r>
              <a:rPr lang="ru-RU" sz="2800" dirty="0"/>
              <a:t>много </a:t>
            </a:r>
            <a:r>
              <a:rPr lang="ru-RU" sz="2800" dirty="0" smtClean="0"/>
              <a:t>по-сложни от </a:t>
            </a:r>
            <a:r>
              <a:rPr lang="ru-RU" sz="2800" dirty="0"/>
              <a:t>мрежовите </a:t>
            </a:r>
            <a:r>
              <a:rPr lang="ru-RU" sz="2800" dirty="0" smtClean="0"/>
              <a:t>ОС, </a:t>
            </a:r>
            <a:r>
              <a:rPr lang="ru-RU" sz="2800" dirty="0"/>
              <a:t>тъй като </a:t>
            </a:r>
            <a:r>
              <a:rPr lang="ru-RU" sz="2800" dirty="0" smtClean="0"/>
              <a:t>освен управлението на мрежовата комуникация те трябва да синхронизират работата на отделните части.</a:t>
            </a:r>
          </a:p>
        </p:txBody>
      </p:sp>
    </p:spTree>
    <p:extLst>
      <p:ext uri="{BB962C8B-B14F-4D97-AF65-F5344CB8AC3E}">
        <p14:creationId xmlns:p14="http://schemas.microsoft.com/office/powerpoint/2010/main" val="198853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Системи за реално време</a:t>
            </a:r>
            <a:endParaRPr lang="bg-BG" dirty="0"/>
          </a:p>
        </p:txBody>
      </p:sp>
      <p:sp>
        <p:nvSpPr>
          <p:cNvPr id="3" name="Content Placeholder 2"/>
          <p:cNvSpPr>
            <a:spLocks noGrp="1"/>
          </p:cNvSpPr>
          <p:nvPr>
            <p:ph idx="1"/>
          </p:nvPr>
        </p:nvSpPr>
        <p:spPr>
          <a:xfrm>
            <a:off x="908662" y="1143000"/>
            <a:ext cx="10900750" cy="5638800"/>
          </a:xfrm>
        </p:spPr>
        <p:txBody>
          <a:bodyPr>
            <a:normAutofit fontScale="92500" lnSpcReduction="20000"/>
          </a:bodyPr>
          <a:lstStyle/>
          <a:p>
            <a:pPr>
              <a:lnSpc>
                <a:spcPct val="120000"/>
              </a:lnSpc>
              <a:spcBef>
                <a:spcPts val="0"/>
              </a:spcBef>
            </a:pPr>
            <a:r>
              <a:rPr lang="ru-RU" sz="2800" dirty="0"/>
              <a:t>В системите в реално време всяка работа носи определен краен срок, в рамките на който се предполага, че работата трябва да бъде завършена, в противен случай ще има огромна загуба или дори ако резултатът бъде получен, той ще бъде напълно безполезен</a:t>
            </a:r>
            <a:r>
              <a:rPr lang="ru-RU" sz="2800" dirty="0" smtClean="0"/>
              <a:t>.</a:t>
            </a:r>
          </a:p>
          <a:p>
            <a:pPr lvl="1">
              <a:lnSpc>
                <a:spcPct val="120000"/>
              </a:lnSpc>
              <a:spcBef>
                <a:spcPts val="0"/>
              </a:spcBef>
            </a:pPr>
            <a:r>
              <a:rPr lang="ru-RU" sz="2400" dirty="0"/>
              <a:t>Времевият интервал, необходим за обработка и отговор на входовете, е много малък. </a:t>
            </a:r>
            <a:endParaRPr lang="ru-RU" sz="2400" dirty="0" smtClean="0"/>
          </a:p>
          <a:p>
            <a:pPr lvl="1">
              <a:lnSpc>
                <a:spcPct val="120000"/>
              </a:lnSpc>
              <a:spcBef>
                <a:spcPts val="0"/>
              </a:spcBef>
            </a:pPr>
            <a:r>
              <a:rPr lang="ru-RU" sz="2400" dirty="0" smtClean="0"/>
              <a:t>Този </a:t>
            </a:r>
            <a:r>
              <a:rPr lang="ru-RU" sz="2400" dirty="0"/>
              <a:t>интервал от време се нарича </a:t>
            </a:r>
            <a:r>
              <a:rPr lang="ru-RU" sz="2400" i="1" dirty="0">
                <a:effectLst>
                  <a:outerShdw blurRad="38100" dist="38100" dir="2700000" algn="tl">
                    <a:srgbClr val="000000">
                      <a:alpha val="43137"/>
                    </a:srgbClr>
                  </a:outerShdw>
                </a:effectLst>
              </a:rPr>
              <a:t>време за реакция</a:t>
            </a:r>
            <a:r>
              <a:rPr lang="ru-RU" sz="2400" dirty="0" smtClean="0"/>
              <a:t>.</a:t>
            </a:r>
          </a:p>
          <a:p>
            <a:pPr>
              <a:lnSpc>
                <a:spcPct val="120000"/>
              </a:lnSpc>
              <a:spcBef>
                <a:spcPts val="0"/>
              </a:spcBef>
            </a:pPr>
            <a:r>
              <a:rPr lang="ru-RU" sz="2800" dirty="0" smtClean="0"/>
              <a:t>Делят се на три вида:</a:t>
            </a:r>
          </a:p>
          <a:p>
            <a:pPr lvl="1">
              <a:lnSpc>
                <a:spcPct val="120000"/>
              </a:lnSpc>
              <a:spcBef>
                <a:spcPts val="0"/>
              </a:spcBef>
            </a:pPr>
            <a:r>
              <a:rPr lang="en-US" sz="2400" u="sng" dirty="0" smtClean="0">
                <a:effectLst>
                  <a:outerShdw blurRad="38100" dist="38100" dir="2700000" algn="tl">
                    <a:srgbClr val="000000">
                      <a:alpha val="43137"/>
                    </a:srgbClr>
                  </a:outerShdw>
                </a:effectLst>
              </a:rPr>
              <a:t>Hard</a:t>
            </a:r>
            <a:r>
              <a:rPr lang="en-US" sz="2400" dirty="0" smtClean="0"/>
              <a:t> real-time OS: </a:t>
            </a:r>
            <a:r>
              <a:rPr lang="ru-RU" sz="2400" dirty="0"/>
              <a:t>неспазването дори на един краен срок може да доведе до пълна или катастрофална повреда на системата.</a:t>
            </a:r>
            <a:endParaRPr lang="en-US" sz="2400" dirty="0" smtClean="0"/>
          </a:p>
          <a:p>
            <a:pPr lvl="1">
              <a:lnSpc>
                <a:spcPct val="120000"/>
              </a:lnSpc>
              <a:spcBef>
                <a:spcPts val="0"/>
              </a:spcBef>
            </a:pPr>
            <a:r>
              <a:rPr lang="en-US" sz="2400" u="sng" dirty="0" smtClean="0">
                <a:effectLst>
                  <a:outerShdw blurRad="38100" dist="38100" dir="2700000" algn="tl">
                    <a:srgbClr val="000000">
                      <a:alpha val="43137"/>
                    </a:srgbClr>
                  </a:outerShdw>
                </a:effectLst>
              </a:rPr>
              <a:t>Soft</a:t>
            </a:r>
            <a:r>
              <a:rPr lang="en-US" sz="2400" dirty="0" smtClean="0"/>
              <a:t> real-time OS: </a:t>
            </a:r>
            <a:r>
              <a:rPr lang="ru-RU" sz="2400" dirty="0"/>
              <a:t>производителността се влошава, но не се унищожава от неспазване на ограниченията за време за реакция.</a:t>
            </a:r>
            <a:endParaRPr lang="en-US" sz="2400" dirty="0" smtClean="0"/>
          </a:p>
          <a:p>
            <a:pPr lvl="1">
              <a:lnSpc>
                <a:spcPct val="120000"/>
              </a:lnSpc>
              <a:spcBef>
                <a:spcPts val="0"/>
              </a:spcBef>
            </a:pPr>
            <a:r>
              <a:rPr lang="en-US" sz="2400" u="sng" dirty="0" smtClean="0">
                <a:effectLst>
                  <a:outerShdw blurRad="38100" dist="38100" dir="2700000" algn="tl">
                    <a:srgbClr val="000000">
                      <a:alpha val="43137"/>
                    </a:srgbClr>
                  </a:outerShdw>
                </a:effectLst>
              </a:rPr>
              <a:t>Firm</a:t>
            </a:r>
            <a:r>
              <a:rPr lang="en-US" sz="2400" dirty="0" smtClean="0"/>
              <a:t> real-time OS: </a:t>
            </a:r>
            <a:r>
              <a:rPr lang="ru-RU" sz="2400" dirty="0"/>
              <a:t>няколко пропуснати крайни срока няма да доведат до пълен отказ, но пропускането на повече от няколко може да доведе до пълен или катастрофален отказ на системата.</a:t>
            </a:r>
            <a:endParaRPr lang="bg-BG" sz="2400" dirty="0"/>
          </a:p>
        </p:txBody>
      </p:sp>
    </p:spTree>
    <p:extLst>
      <p:ext uri="{BB962C8B-B14F-4D97-AF65-F5344CB8AC3E}">
        <p14:creationId xmlns:p14="http://schemas.microsoft.com/office/powerpoint/2010/main" val="2728306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Вградена операционна система</a:t>
            </a:r>
            <a:endParaRPr lang="bg-BG" dirty="0"/>
          </a:p>
        </p:txBody>
      </p:sp>
      <p:sp>
        <p:nvSpPr>
          <p:cNvPr id="3" name="Content Placeholder 2"/>
          <p:cNvSpPr>
            <a:spLocks noGrp="1"/>
          </p:cNvSpPr>
          <p:nvPr>
            <p:ph idx="1"/>
          </p:nvPr>
        </p:nvSpPr>
        <p:spPr/>
        <p:txBody>
          <a:bodyPr>
            <a:normAutofit/>
          </a:bodyPr>
          <a:lstStyle/>
          <a:p>
            <a:r>
              <a:rPr lang="ru-RU" sz="2800" dirty="0" smtClean="0"/>
              <a:t>Това е ОС за </a:t>
            </a:r>
            <a:r>
              <a:rPr lang="ru-RU" sz="2800" dirty="0"/>
              <a:t>вградени компютърни системи. </a:t>
            </a:r>
            <a:endParaRPr lang="ru-RU" sz="2800" dirty="0" smtClean="0"/>
          </a:p>
          <a:p>
            <a:pPr lvl="1"/>
            <a:r>
              <a:rPr lang="ru-RU" sz="2400" dirty="0" smtClean="0"/>
              <a:t>Те са компактни, надеждни и ефективни </a:t>
            </a:r>
            <a:r>
              <a:rPr lang="ru-RU" sz="2400" dirty="0"/>
              <a:t>при използване на </a:t>
            </a:r>
            <a:r>
              <a:rPr lang="ru-RU" sz="2400" dirty="0" smtClean="0"/>
              <a:t>ресурсите. </a:t>
            </a:r>
          </a:p>
          <a:p>
            <a:pPr lvl="2"/>
            <a:r>
              <a:rPr lang="ru-RU" sz="2000" dirty="0" smtClean="0"/>
              <a:t>Това са различни форми на ОС за реално време</a:t>
            </a:r>
          </a:p>
          <a:p>
            <a:pPr lvl="1"/>
            <a:r>
              <a:rPr lang="ru-RU" sz="2400" dirty="0"/>
              <a:t>Хардуерът обикновено е много ограничени като ресурси: тези системи са създадени да покриват конкретни задачи  и затова най-често са много специфични като функционалност и ограничения.</a:t>
            </a:r>
          </a:p>
          <a:p>
            <a:pPr lvl="2"/>
            <a:r>
              <a:rPr lang="ru-RU" sz="2000" dirty="0" smtClean="0"/>
              <a:t>Не реализират много от функциите, </a:t>
            </a:r>
            <a:r>
              <a:rPr lang="ru-RU" sz="2000" dirty="0"/>
              <a:t>които предоставят стандартните настолни операционни системи и които може да не се използват от специализираните приложения, които изпълняват. </a:t>
            </a:r>
            <a:endParaRPr lang="ru-RU" sz="2000" dirty="0" smtClean="0"/>
          </a:p>
          <a:p>
            <a:pPr lvl="1"/>
            <a:r>
              <a:rPr lang="ru-RU" sz="2400" dirty="0" smtClean="0"/>
              <a:t>Обикновено </a:t>
            </a:r>
            <a:r>
              <a:rPr lang="ru-RU" sz="2400" dirty="0"/>
              <a:t>не зарежда и изпълнява отделни приложения по </a:t>
            </a:r>
            <a:r>
              <a:rPr lang="ru-RU" sz="2400" dirty="0" smtClean="0"/>
              <a:t>заявка </a:t>
            </a:r>
            <a:r>
              <a:rPr lang="ru-RU" sz="2400" dirty="0"/>
              <a:t>на потребителя</a:t>
            </a:r>
            <a:r>
              <a:rPr lang="ru-RU" sz="2400" dirty="0" smtClean="0"/>
              <a:t>.</a:t>
            </a:r>
          </a:p>
          <a:p>
            <a:pPr lvl="2"/>
            <a:r>
              <a:rPr lang="ru-RU" sz="2000" dirty="0"/>
              <a:t>За разлика от настолната ОС, където се създава среда, в която потребителят и компютърът могат да взаимодействат един с друг, за да изпълняват огромно разнообразие от задачи.</a:t>
            </a:r>
            <a:endParaRPr lang="bg-BG" sz="2000" dirty="0"/>
          </a:p>
        </p:txBody>
      </p:sp>
    </p:spTree>
    <p:extLst>
      <p:ext uri="{BB962C8B-B14F-4D97-AF65-F5344CB8AC3E}">
        <p14:creationId xmlns:p14="http://schemas.microsoft.com/office/powerpoint/2010/main" val="3529186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Мобилна операционна система</a:t>
            </a:r>
            <a:endParaRPr lang="bg-BG" dirty="0"/>
          </a:p>
        </p:txBody>
      </p:sp>
      <p:sp>
        <p:nvSpPr>
          <p:cNvPr id="3" name="Content Placeholder 2"/>
          <p:cNvSpPr>
            <a:spLocks noGrp="1"/>
          </p:cNvSpPr>
          <p:nvPr>
            <p:ph idx="1"/>
          </p:nvPr>
        </p:nvSpPr>
        <p:spPr>
          <a:xfrm>
            <a:off x="908662" y="1143000"/>
            <a:ext cx="10900750" cy="5562600"/>
          </a:xfrm>
        </p:spPr>
        <p:txBody>
          <a:bodyPr>
            <a:normAutofit fontScale="92500" lnSpcReduction="20000"/>
          </a:bodyPr>
          <a:lstStyle/>
          <a:p>
            <a:r>
              <a:rPr lang="ru-RU" sz="2800" dirty="0" smtClean="0"/>
              <a:t>Този вид ОС позволява </a:t>
            </a:r>
            <a:r>
              <a:rPr lang="ru-RU" sz="2800" dirty="0"/>
              <a:t>на приложния софтуер да работи </a:t>
            </a:r>
            <a:r>
              <a:rPr lang="ru-RU" sz="2800" dirty="0" smtClean="0"/>
              <a:t>върху мобилни устройства. </a:t>
            </a:r>
            <a:endParaRPr lang="en-US" sz="2800" dirty="0"/>
          </a:p>
          <a:p>
            <a:pPr lvl="1"/>
            <a:r>
              <a:rPr lang="ru-RU" sz="2400" dirty="0" smtClean="0"/>
              <a:t>Мобилните устройства </a:t>
            </a:r>
            <a:r>
              <a:rPr lang="ru-RU" sz="2400" dirty="0"/>
              <a:t>съчетават функции на компютър и ръчно устройство (англ.</a:t>
            </a:r>
            <a:r>
              <a:rPr lang="en-US" sz="2400" dirty="0"/>
              <a:t> handheld device</a:t>
            </a:r>
            <a:r>
              <a:rPr lang="ru-RU" sz="2400" dirty="0" smtClean="0"/>
              <a:t>) и най-често често </a:t>
            </a:r>
            <a:r>
              <a:rPr lang="ru-RU" sz="2400" dirty="0"/>
              <a:t>включват клетъчен модем и поставка за SIM карта за телефонни и интернет услуги.</a:t>
            </a:r>
          </a:p>
          <a:p>
            <a:pPr lvl="1"/>
            <a:r>
              <a:rPr lang="ru-RU" sz="2400" dirty="0" smtClean="0"/>
              <a:t>Мобилната ОС наподобява настолната ОС по основни функциите и начините на работа, </a:t>
            </a:r>
            <a:r>
              <a:rPr lang="ru-RU" sz="2400" dirty="0"/>
              <a:t>но е по-проста и </a:t>
            </a:r>
            <a:r>
              <a:rPr lang="ru-RU" sz="2400" dirty="0" smtClean="0"/>
              <a:t>по-лека.</a:t>
            </a:r>
            <a:r>
              <a:rPr lang="en-US" sz="2400" dirty="0" smtClean="0"/>
              <a:t> </a:t>
            </a:r>
            <a:r>
              <a:rPr lang="bg-BG" sz="2400" dirty="0" smtClean="0"/>
              <a:t>Основните характеристики са:</a:t>
            </a:r>
          </a:p>
          <a:p>
            <a:pPr lvl="2"/>
            <a:r>
              <a:rPr lang="ru-RU" sz="2000" dirty="0" smtClean="0"/>
              <a:t>Най-често се използва върху </a:t>
            </a:r>
            <a:r>
              <a:rPr lang="en-US" sz="2000" dirty="0" smtClean="0"/>
              <a:t>RISK</a:t>
            </a:r>
            <a:r>
              <a:rPr lang="ru-RU" sz="2000" dirty="0" smtClean="0"/>
              <a:t> процесори.</a:t>
            </a:r>
          </a:p>
          <a:p>
            <a:pPr lvl="2"/>
            <a:r>
              <a:rPr lang="ru-RU" sz="2000" dirty="0" smtClean="0"/>
              <a:t>Много </a:t>
            </a:r>
            <a:r>
              <a:rPr lang="ru-RU" sz="2000" dirty="0"/>
              <a:t>е лесен за разбиране и използване. </a:t>
            </a:r>
            <a:endParaRPr lang="ru-RU" sz="2000" dirty="0" smtClean="0"/>
          </a:p>
          <a:p>
            <a:pPr lvl="2"/>
            <a:r>
              <a:rPr lang="ru-RU" sz="2000" dirty="0" smtClean="0"/>
              <a:t>Графиката е </a:t>
            </a:r>
            <a:r>
              <a:rPr lang="ru-RU" sz="2000" dirty="0"/>
              <a:t>много </a:t>
            </a:r>
            <a:r>
              <a:rPr lang="ru-RU" sz="2000" dirty="0" smtClean="0"/>
              <a:t>развита като функции и качество.</a:t>
            </a:r>
          </a:p>
          <a:p>
            <a:pPr lvl="2"/>
            <a:r>
              <a:rPr lang="ru-RU" sz="2000" dirty="0" smtClean="0"/>
              <a:t>Функциите са лесни </a:t>
            </a:r>
            <a:r>
              <a:rPr lang="ru-RU" sz="2000" dirty="0"/>
              <a:t>за </a:t>
            </a:r>
            <a:r>
              <a:rPr lang="ru-RU" sz="2000" dirty="0" smtClean="0"/>
              <a:t>използване, като фокусът е  </a:t>
            </a:r>
            <a:r>
              <a:rPr lang="ru-RU" sz="2000" dirty="0"/>
              <a:t>върху контролирането на данните и използването на мрежата. </a:t>
            </a:r>
            <a:endParaRPr lang="ru-RU" sz="2000" dirty="0" smtClean="0"/>
          </a:p>
          <a:p>
            <a:pPr lvl="2"/>
            <a:r>
              <a:rPr lang="ru-RU" sz="2000" dirty="0" smtClean="0"/>
              <a:t>Има специфични изисквания и ограничения за приложенията, които работят в средата на мобилната ОС.</a:t>
            </a:r>
            <a:endParaRPr lang="en-US" sz="2000" dirty="0" smtClean="0"/>
          </a:p>
          <a:p>
            <a:pPr lvl="1"/>
            <a:r>
              <a:rPr lang="ru-RU" sz="2400" dirty="0" smtClean="0"/>
              <a:t>Пример: </a:t>
            </a:r>
          </a:p>
          <a:p>
            <a:pPr lvl="2"/>
            <a:r>
              <a:rPr lang="en-US" sz="2000" dirty="0" smtClean="0"/>
              <a:t>Windows </a:t>
            </a:r>
            <a:r>
              <a:rPr lang="en-US" sz="2000" dirty="0"/>
              <a:t>Mobile, Palm </a:t>
            </a:r>
            <a:r>
              <a:rPr lang="en-US" sz="2000" dirty="0" err="1"/>
              <a:t>webOS</a:t>
            </a:r>
            <a:r>
              <a:rPr lang="en-US" sz="2000" dirty="0"/>
              <a:t>, Symbian OS, Blackberry </a:t>
            </a:r>
            <a:r>
              <a:rPr lang="ru-RU" sz="2000" dirty="0"/>
              <a:t>на </a:t>
            </a:r>
            <a:r>
              <a:rPr lang="en-US" sz="2000" dirty="0" smtClean="0"/>
              <a:t>RIM. </a:t>
            </a:r>
            <a:endParaRPr lang="bg-BG" sz="2000" dirty="0" smtClean="0"/>
          </a:p>
          <a:p>
            <a:pPr lvl="2"/>
            <a:r>
              <a:rPr lang="en-US" sz="2000" dirty="0" err="1" smtClean="0"/>
              <a:t>WebOS</a:t>
            </a:r>
            <a:r>
              <a:rPr lang="en-US" sz="2000" dirty="0"/>
              <a:t>, Android </a:t>
            </a:r>
            <a:r>
              <a:rPr lang="ru-RU" sz="2000" dirty="0"/>
              <a:t>и </a:t>
            </a:r>
            <a:r>
              <a:rPr lang="en-US" sz="2000" dirty="0" err="1"/>
              <a:t>Maemo</a:t>
            </a:r>
            <a:r>
              <a:rPr lang="en-US" sz="2000" dirty="0"/>
              <a:t> </a:t>
            </a:r>
            <a:r>
              <a:rPr lang="ru-RU" sz="2000" dirty="0"/>
              <a:t>са вариации на </a:t>
            </a:r>
            <a:r>
              <a:rPr lang="en-US" sz="2000" dirty="0"/>
              <a:t>Linux OS. </a:t>
            </a:r>
            <a:endParaRPr lang="bg-BG" sz="2000" dirty="0" smtClean="0"/>
          </a:p>
          <a:p>
            <a:pPr lvl="2"/>
            <a:r>
              <a:rPr lang="en-US" sz="2000" dirty="0" smtClean="0"/>
              <a:t>iPhone </a:t>
            </a:r>
            <a:r>
              <a:rPr lang="en-US" sz="2000" dirty="0"/>
              <a:t>OS </a:t>
            </a:r>
            <a:r>
              <a:rPr lang="ru-RU" sz="2000" dirty="0"/>
              <a:t>е базирана на </a:t>
            </a:r>
            <a:r>
              <a:rPr lang="en-US" sz="2000" dirty="0"/>
              <a:t>BSD </a:t>
            </a:r>
            <a:r>
              <a:rPr lang="ru-RU" sz="2000" dirty="0"/>
              <a:t>и </a:t>
            </a:r>
            <a:r>
              <a:rPr lang="en-US" sz="2000" dirty="0" err="1"/>
              <a:t>NeXTSTEP</a:t>
            </a:r>
            <a:r>
              <a:rPr lang="en-US" sz="2000" dirty="0"/>
              <a:t>, </a:t>
            </a:r>
            <a:r>
              <a:rPr lang="ru-RU" sz="2000" dirty="0"/>
              <a:t>като и двете са свързани с </a:t>
            </a:r>
            <a:r>
              <a:rPr lang="en-US" sz="2000" dirty="0"/>
              <a:t>UNIX.</a:t>
            </a:r>
            <a:endParaRPr lang="bg-BG" sz="2000" dirty="0"/>
          </a:p>
        </p:txBody>
      </p:sp>
    </p:spTree>
    <p:extLst>
      <p:ext uri="{BB962C8B-B14F-4D97-AF65-F5344CB8AC3E}">
        <p14:creationId xmlns:p14="http://schemas.microsoft.com/office/powerpoint/2010/main" val="1834702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Основни концепции на ОС</a:t>
            </a:r>
            <a:endParaRPr lang="bg-BG" dirty="0"/>
          </a:p>
        </p:txBody>
      </p:sp>
      <p:sp>
        <p:nvSpPr>
          <p:cNvPr id="3" name="Content Placeholder 2"/>
          <p:cNvSpPr>
            <a:spLocks noGrp="1"/>
          </p:cNvSpPr>
          <p:nvPr>
            <p:ph idx="1"/>
          </p:nvPr>
        </p:nvSpPr>
        <p:spPr>
          <a:xfrm>
            <a:off x="908662" y="1143000"/>
            <a:ext cx="10900750" cy="5562600"/>
          </a:xfrm>
        </p:spPr>
        <p:txBody>
          <a:bodyPr>
            <a:noAutofit/>
          </a:bodyPr>
          <a:lstStyle/>
          <a:p>
            <a:pPr>
              <a:spcBef>
                <a:spcPts val="0"/>
              </a:spcBef>
            </a:pPr>
            <a:r>
              <a:rPr lang="bg-BG" sz="2700" dirty="0" smtClean="0"/>
              <a:t>Независимо от различията, </a:t>
            </a:r>
            <a:r>
              <a:rPr lang="ru-RU" sz="2700" dirty="0" smtClean="0"/>
              <a:t>повечето ОС реализират няколко </a:t>
            </a:r>
            <a:r>
              <a:rPr lang="ru-RU" sz="2700" dirty="0"/>
              <a:t>общи концепции</a:t>
            </a:r>
            <a:r>
              <a:rPr lang="ru-RU" sz="2700" dirty="0" smtClean="0"/>
              <a:t>.</a:t>
            </a:r>
          </a:p>
          <a:p>
            <a:pPr lvl="1">
              <a:spcBef>
                <a:spcPts val="0"/>
              </a:spcBef>
            </a:pPr>
            <a:r>
              <a:rPr lang="ru-RU" sz="2300" dirty="0" smtClean="0"/>
              <a:t>Всяка ОС </a:t>
            </a:r>
            <a:r>
              <a:rPr lang="ru-RU" sz="2300" dirty="0"/>
              <a:t>предоставя свой собствен уникален набор от </a:t>
            </a:r>
            <a:r>
              <a:rPr lang="ru-RU" sz="2300" dirty="0" smtClean="0"/>
              <a:t>услуги.</a:t>
            </a:r>
          </a:p>
          <a:p>
            <a:pPr lvl="1">
              <a:spcBef>
                <a:spcPts val="0"/>
              </a:spcBef>
            </a:pPr>
            <a:r>
              <a:rPr lang="ru-RU" sz="2300" dirty="0" smtClean="0"/>
              <a:t>Предоставяните услугите </a:t>
            </a:r>
            <a:r>
              <a:rPr lang="ru-RU" sz="2300" dirty="0"/>
              <a:t>зависят от концепциите, около които е създадена ОС</a:t>
            </a:r>
            <a:r>
              <a:rPr lang="ru-RU" sz="2300" dirty="0" smtClean="0"/>
              <a:t>.</a:t>
            </a:r>
          </a:p>
          <a:p>
            <a:pPr lvl="2">
              <a:spcBef>
                <a:spcPts val="0"/>
              </a:spcBef>
            </a:pPr>
            <a:r>
              <a:rPr lang="ru-RU" sz="1900" dirty="0" smtClean="0"/>
              <a:t>Това </a:t>
            </a:r>
            <a:r>
              <a:rPr lang="ru-RU" sz="1900" dirty="0"/>
              <a:t>дава на всяка ОС определено </a:t>
            </a:r>
            <a:r>
              <a:rPr lang="ru-RU" sz="1900" dirty="0" smtClean="0"/>
              <a:t>специфично „усещане</a:t>
            </a:r>
            <a:r>
              <a:rPr lang="ru-RU" sz="1900" dirty="0"/>
              <a:t>“ за </a:t>
            </a:r>
            <a:r>
              <a:rPr lang="ru-RU" sz="1900" dirty="0" smtClean="0"/>
              <a:t>програмистите.</a:t>
            </a:r>
          </a:p>
          <a:p>
            <a:pPr lvl="1">
              <a:spcBef>
                <a:spcPts val="0"/>
              </a:spcBef>
            </a:pPr>
            <a:r>
              <a:rPr lang="ru-RU" sz="2300" dirty="0" smtClean="0"/>
              <a:t>Основният подход за предоставяне на услугите е чрез специфично API, което се изплзва за обръщение към съответни системни повиквания на функции на ядрото на ОС.</a:t>
            </a:r>
          </a:p>
          <a:p>
            <a:pPr>
              <a:spcBef>
                <a:spcPts val="0"/>
              </a:spcBef>
            </a:pPr>
            <a:r>
              <a:rPr lang="ru-RU" sz="2700" dirty="0" smtClean="0"/>
              <a:t>Основните концепции са: </a:t>
            </a:r>
          </a:p>
          <a:p>
            <a:pPr lvl="1">
              <a:spcBef>
                <a:spcPts val="0"/>
              </a:spcBef>
            </a:pPr>
            <a:r>
              <a:rPr lang="ru-RU" sz="2300" dirty="0" smtClean="0"/>
              <a:t>структурен </a:t>
            </a:r>
            <a:r>
              <a:rPr lang="ru-RU" sz="2300" dirty="0"/>
              <a:t>модел, </a:t>
            </a:r>
            <a:endParaRPr lang="ru-RU" sz="2300" dirty="0" smtClean="0"/>
          </a:p>
          <a:p>
            <a:pPr lvl="1">
              <a:spcBef>
                <a:spcPts val="0"/>
              </a:spcBef>
            </a:pPr>
            <a:r>
              <a:rPr lang="ru-RU" sz="2300" dirty="0" smtClean="0"/>
              <a:t>процеси </a:t>
            </a:r>
            <a:r>
              <a:rPr lang="ru-RU" sz="2300" dirty="0"/>
              <a:t>и модел за планиране на процеси, </a:t>
            </a:r>
            <a:endParaRPr lang="ru-RU" sz="2300" dirty="0" smtClean="0"/>
          </a:p>
          <a:p>
            <a:pPr lvl="1">
              <a:spcBef>
                <a:spcPts val="0"/>
              </a:spcBef>
            </a:pPr>
            <a:r>
              <a:rPr lang="ru-RU" sz="2300" dirty="0" smtClean="0"/>
              <a:t>управление </a:t>
            </a:r>
            <a:r>
              <a:rPr lang="ru-RU" sz="2300" dirty="0"/>
              <a:t>на паметта, </a:t>
            </a:r>
            <a:endParaRPr lang="ru-RU" sz="2300" dirty="0" smtClean="0"/>
          </a:p>
          <a:p>
            <a:pPr lvl="1">
              <a:spcBef>
                <a:spcPts val="0"/>
              </a:spcBef>
            </a:pPr>
            <a:r>
              <a:rPr lang="ru-RU" sz="2300" dirty="0" smtClean="0"/>
              <a:t>управление </a:t>
            </a:r>
            <a:r>
              <a:rPr lang="ru-RU" sz="2300" dirty="0"/>
              <a:t>на файлове, </a:t>
            </a:r>
            <a:endParaRPr lang="ru-RU" sz="2300" dirty="0" smtClean="0"/>
          </a:p>
          <a:p>
            <a:pPr lvl="1">
              <a:spcBef>
                <a:spcPts val="0"/>
              </a:spcBef>
            </a:pPr>
            <a:r>
              <a:rPr lang="ru-RU" sz="2300" dirty="0" smtClean="0"/>
              <a:t>системни повиквания.</a:t>
            </a:r>
            <a:endParaRPr lang="bg-BG" sz="2300" dirty="0"/>
          </a:p>
        </p:txBody>
      </p:sp>
    </p:spTree>
    <p:extLst>
      <p:ext uri="{BB962C8B-B14F-4D97-AF65-F5344CB8AC3E}">
        <p14:creationId xmlns:p14="http://schemas.microsoft.com/office/powerpoint/2010/main" val="3101882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Програма, процес, задача</a:t>
            </a:r>
            <a:endParaRPr lang="bg-BG" dirty="0"/>
          </a:p>
        </p:txBody>
      </p:sp>
      <p:sp>
        <p:nvSpPr>
          <p:cNvPr id="3" name="Content Placeholder 2"/>
          <p:cNvSpPr>
            <a:spLocks noGrp="1"/>
          </p:cNvSpPr>
          <p:nvPr>
            <p:ph idx="1"/>
          </p:nvPr>
        </p:nvSpPr>
        <p:spPr>
          <a:xfrm>
            <a:off x="908662" y="1143000"/>
            <a:ext cx="10900750" cy="5562600"/>
          </a:xfrm>
        </p:spPr>
        <p:txBody>
          <a:bodyPr>
            <a:normAutofit fontScale="92500"/>
          </a:bodyPr>
          <a:lstStyle/>
          <a:p>
            <a:pPr>
              <a:spcBef>
                <a:spcPts val="0"/>
              </a:spcBef>
            </a:pPr>
            <a:r>
              <a:rPr lang="bg-BG" sz="2800" dirty="0" smtClean="0"/>
              <a:t>Това са основни термини и трябва да се прави разлика между тях.</a:t>
            </a:r>
          </a:p>
          <a:p>
            <a:pPr lvl="1">
              <a:spcBef>
                <a:spcPts val="0"/>
              </a:spcBef>
            </a:pPr>
            <a:r>
              <a:rPr lang="ru-RU" sz="2400" i="1" dirty="0" smtClean="0">
                <a:effectLst>
                  <a:outerShdw blurRad="38100" dist="38100" dir="2700000" algn="tl">
                    <a:srgbClr val="000000">
                      <a:alpha val="43137"/>
                    </a:srgbClr>
                  </a:outerShdw>
                </a:effectLst>
              </a:rPr>
              <a:t>Работата (англ. </a:t>
            </a:r>
            <a:r>
              <a:rPr lang="en-US" sz="2400" i="1" dirty="0" smtClean="0">
                <a:effectLst>
                  <a:outerShdw blurRad="38100" dist="38100" dir="2700000" algn="tl">
                    <a:srgbClr val="000000">
                      <a:alpha val="43137"/>
                    </a:srgbClr>
                  </a:outerShdw>
                </a:effectLst>
              </a:rPr>
              <a:t>Job)</a:t>
            </a:r>
            <a:r>
              <a:rPr lang="bg-BG" sz="2400" dirty="0" smtClean="0"/>
              <a:t> е това, заради което е създадена дадена програма, т.е. какво трябва да се направи за да се постигне полза за потребителя.</a:t>
            </a:r>
          </a:p>
          <a:p>
            <a:pPr lvl="2">
              <a:spcBef>
                <a:spcPts val="0"/>
              </a:spcBef>
            </a:pPr>
            <a:r>
              <a:rPr lang="bg-BG" sz="2000" dirty="0" smtClean="0"/>
              <a:t>Това задава концептуалното ниво на описание на програмата.</a:t>
            </a:r>
            <a:endParaRPr lang="ru-RU" sz="2000" dirty="0" smtClean="0"/>
          </a:p>
          <a:p>
            <a:pPr lvl="1">
              <a:spcBef>
                <a:spcPts val="0"/>
              </a:spcBef>
            </a:pPr>
            <a:r>
              <a:rPr lang="ru-RU" sz="2400" i="1" dirty="0" smtClean="0">
                <a:effectLst>
                  <a:outerShdw blurRad="38100" dist="38100" dir="2700000" algn="tl">
                    <a:srgbClr val="000000">
                      <a:alpha val="43137"/>
                    </a:srgbClr>
                  </a:outerShdw>
                </a:effectLst>
              </a:rPr>
              <a:t>Програмата</a:t>
            </a:r>
            <a:r>
              <a:rPr lang="ru-RU" sz="2400" dirty="0" smtClean="0"/>
              <a:t> е консистентно и завършено множество от </a:t>
            </a:r>
            <a:r>
              <a:rPr lang="ru-RU" sz="2400" dirty="0"/>
              <a:t>компютърни инструкции плюс някои данни, които се намират на носител за съхранение (напр. диск</a:t>
            </a:r>
            <a:r>
              <a:rPr lang="ru-RU" sz="2400" dirty="0" smtClean="0"/>
              <a:t>).</a:t>
            </a:r>
          </a:p>
          <a:p>
            <a:pPr lvl="2">
              <a:spcBef>
                <a:spcPts val="0"/>
              </a:spcBef>
            </a:pPr>
            <a:r>
              <a:rPr lang="ru-RU" sz="2000" dirty="0" smtClean="0"/>
              <a:t>Когато програмата се зареди в паметта и е готова за стартиране, то тя се превръща в процес.</a:t>
            </a:r>
          </a:p>
          <a:p>
            <a:pPr lvl="1">
              <a:spcBef>
                <a:spcPts val="0"/>
              </a:spcBef>
            </a:pPr>
            <a:r>
              <a:rPr lang="ru-RU" sz="2400" i="1" dirty="0" smtClean="0">
                <a:effectLst>
                  <a:outerShdw blurRad="38100" dist="38100" dir="2700000" algn="tl">
                    <a:srgbClr val="000000">
                      <a:alpha val="43137"/>
                    </a:srgbClr>
                  </a:outerShdw>
                </a:effectLst>
              </a:rPr>
              <a:t>Процесът</a:t>
            </a:r>
            <a:r>
              <a:rPr lang="ru-RU" sz="2400" dirty="0" smtClean="0"/>
              <a:t> </a:t>
            </a:r>
            <a:r>
              <a:rPr lang="ru-RU" sz="2400" dirty="0"/>
              <a:t>е </a:t>
            </a:r>
            <a:r>
              <a:rPr lang="ru-RU" sz="2400" dirty="0" smtClean="0"/>
              <a:t>програма, която се изпълнява или изчаква в оперативната памет активизиране.</a:t>
            </a:r>
          </a:p>
          <a:p>
            <a:pPr lvl="2">
              <a:spcBef>
                <a:spcPts val="0"/>
              </a:spcBef>
            </a:pPr>
            <a:r>
              <a:rPr lang="ru-RU" sz="2000" dirty="0"/>
              <a:t>Процесът е поредица от действия, които се извършват с определена цел</a:t>
            </a:r>
            <a:r>
              <a:rPr lang="ru-RU" sz="2000" dirty="0" smtClean="0"/>
              <a:t>.</a:t>
            </a:r>
            <a:r>
              <a:rPr lang="en-US" sz="2000" dirty="0" smtClean="0"/>
              <a:t> </a:t>
            </a:r>
            <a:r>
              <a:rPr lang="bg-BG" sz="2000" dirty="0" smtClean="0"/>
              <a:t>Затова той реализира логическото абстрактно ниво на  </a:t>
            </a:r>
            <a:endParaRPr lang="en-US" sz="2000" dirty="0" smtClean="0"/>
          </a:p>
          <a:p>
            <a:pPr lvl="2">
              <a:spcBef>
                <a:spcPts val="0"/>
              </a:spcBef>
            </a:pPr>
            <a:r>
              <a:rPr lang="ru-RU" sz="2000" dirty="0" smtClean="0"/>
              <a:t>Процесът е </a:t>
            </a:r>
            <a:r>
              <a:rPr lang="ru-RU" sz="2000" dirty="0"/>
              <a:t>зареден в основната памет на </a:t>
            </a:r>
            <a:r>
              <a:rPr lang="ru-RU" sz="2000" dirty="0" smtClean="0"/>
              <a:t>компютъра, може да приема и да манипулира </a:t>
            </a:r>
            <a:r>
              <a:rPr lang="ru-RU" sz="2000" dirty="0"/>
              <a:t>входните данни и </a:t>
            </a:r>
            <a:r>
              <a:rPr lang="ru-RU" sz="2000" dirty="0" smtClean="0"/>
              <a:t>като резултат от заложените обработки генерира изходни </a:t>
            </a:r>
            <a:r>
              <a:rPr lang="ru-RU" sz="2000" dirty="0"/>
              <a:t>данни</a:t>
            </a:r>
            <a:r>
              <a:rPr lang="ru-RU" sz="2000" dirty="0" smtClean="0"/>
              <a:t>.</a:t>
            </a:r>
          </a:p>
          <a:p>
            <a:pPr lvl="1">
              <a:spcBef>
                <a:spcPts val="0"/>
              </a:spcBef>
            </a:pPr>
            <a:r>
              <a:rPr lang="ru-RU" sz="2400" i="1" dirty="0" smtClean="0">
                <a:effectLst>
                  <a:outerShdw blurRad="38100" dist="38100" dir="2700000" algn="tl">
                    <a:srgbClr val="000000">
                      <a:alpha val="43137"/>
                    </a:srgbClr>
                  </a:outerShdw>
                </a:effectLst>
              </a:rPr>
              <a:t>Задача</a:t>
            </a:r>
            <a:r>
              <a:rPr lang="ru-RU" sz="2400" dirty="0" smtClean="0"/>
              <a:t> дефинира физическото ниво на абстракция, защото е насочена към реализация на конкретна част от работата.</a:t>
            </a:r>
          </a:p>
          <a:p>
            <a:pPr lvl="2">
              <a:spcBef>
                <a:spcPts val="0"/>
              </a:spcBef>
            </a:pPr>
            <a:r>
              <a:rPr lang="ru-RU" sz="2000" dirty="0"/>
              <a:t>Задачата е част от работата, която трябва да бъде </a:t>
            </a:r>
            <a:r>
              <a:rPr lang="ru-RU" sz="2000" dirty="0" smtClean="0"/>
              <a:t>свършена.</a:t>
            </a:r>
          </a:p>
          <a:p>
            <a:pPr lvl="2">
              <a:spcBef>
                <a:spcPts val="0"/>
              </a:spcBef>
            </a:pPr>
            <a:r>
              <a:rPr lang="ru-RU" sz="2000" dirty="0" smtClean="0"/>
              <a:t>Тя реализира логическото ниво «процес» или «нишка».</a:t>
            </a:r>
            <a:endParaRPr lang="bg-BG" sz="2000" dirty="0"/>
          </a:p>
        </p:txBody>
      </p:sp>
    </p:spTree>
    <p:extLst>
      <p:ext uri="{BB962C8B-B14F-4D97-AF65-F5344CB8AC3E}">
        <p14:creationId xmlns:p14="http://schemas.microsoft.com/office/powerpoint/2010/main" val="1828473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Процес</a:t>
            </a:r>
            <a:endParaRPr lang="bg-BG" dirty="0"/>
          </a:p>
        </p:txBody>
      </p:sp>
      <p:sp>
        <p:nvSpPr>
          <p:cNvPr id="3" name="Content Placeholder 2"/>
          <p:cNvSpPr>
            <a:spLocks noGrp="1"/>
          </p:cNvSpPr>
          <p:nvPr>
            <p:ph idx="1"/>
          </p:nvPr>
        </p:nvSpPr>
        <p:spPr/>
        <p:txBody>
          <a:bodyPr>
            <a:normAutofit fontScale="92500" lnSpcReduction="10000"/>
          </a:bodyPr>
          <a:lstStyle/>
          <a:p>
            <a:pPr>
              <a:lnSpc>
                <a:spcPct val="110000"/>
              </a:lnSpc>
              <a:spcBef>
                <a:spcPts val="0"/>
              </a:spcBef>
            </a:pPr>
            <a:r>
              <a:rPr lang="ru-RU" sz="2800" i="1" dirty="0"/>
              <a:t>Процесът</a:t>
            </a:r>
            <a:r>
              <a:rPr lang="ru-RU" sz="2800" dirty="0"/>
              <a:t> е </a:t>
            </a:r>
            <a:r>
              <a:rPr lang="ru-RU" sz="2800" i="1" dirty="0"/>
              <a:t>активна </a:t>
            </a:r>
            <a:r>
              <a:rPr lang="ru-RU" sz="2800" i="1" dirty="0" smtClean="0"/>
              <a:t>единица</a:t>
            </a:r>
            <a:r>
              <a:rPr lang="ru-RU" sz="2800" dirty="0" smtClean="0"/>
              <a:t>, докато програмата е пасивна единица. Затова всеки процес преминава </a:t>
            </a:r>
            <a:r>
              <a:rPr lang="ru-RU" sz="2800" dirty="0"/>
              <a:t>през много състояния, когато се изпълнява. </a:t>
            </a:r>
            <a:endParaRPr lang="ru-RU" sz="2800" dirty="0" smtClean="0"/>
          </a:p>
          <a:p>
            <a:pPr lvl="1">
              <a:lnSpc>
                <a:spcPct val="110000"/>
              </a:lnSpc>
              <a:spcBef>
                <a:spcPts val="0"/>
              </a:spcBef>
            </a:pPr>
            <a:r>
              <a:rPr lang="ru-RU" sz="2400" dirty="0"/>
              <a:t>Тези състояния са показани в </a:t>
            </a:r>
            <a:r>
              <a:rPr lang="ru-RU" sz="2400" i="1" dirty="0">
                <a:effectLst>
                  <a:outerShdw blurRad="38100" dist="38100" dir="2700000" algn="tl">
                    <a:srgbClr val="000000">
                      <a:alpha val="43137"/>
                    </a:srgbClr>
                  </a:outerShdw>
                </a:effectLst>
              </a:rPr>
              <a:t>диаграмата на прехода на състоянието </a:t>
            </a:r>
            <a:r>
              <a:rPr lang="ru-RU" sz="2400" dirty="0"/>
              <a:t>на процеса или жизнения цикъл на процеса.</a:t>
            </a:r>
            <a:endParaRPr lang="bg-BG" sz="2400" dirty="0"/>
          </a:p>
          <a:p>
            <a:pPr lvl="1">
              <a:lnSpc>
                <a:spcPct val="110000"/>
              </a:lnSpc>
              <a:spcBef>
                <a:spcPts val="0"/>
              </a:spcBef>
            </a:pPr>
            <a:r>
              <a:rPr lang="ru-RU" sz="2400" dirty="0" smtClean="0"/>
              <a:t>Няма обща срандартизация на състояния, през които преминават процесите в различните ОС. </a:t>
            </a:r>
          </a:p>
          <a:p>
            <a:pPr>
              <a:lnSpc>
                <a:spcPct val="110000"/>
              </a:lnSpc>
              <a:spcBef>
                <a:spcPts val="0"/>
              </a:spcBef>
            </a:pPr>
            <a:r>
              <a:rPr lang="ru-RU" sz="2800" dirty="0"/>
              <a:t>Диспечиране на процесите в </a:t>
            </a:r>
            <a:r>
              <a:rPr lang="ru-RU" sz="2800" dirty="0" smtClean="0"/>
              <a:t>ОС</a:t>
            </a:r>
          </a:p>
          <a:p>
            <a:pPr lvl="1">
              <a:lnSpc>
                <a:spcPct val="110000"/>
              </a:lnSpc>
              <a:spcBef>
                <a:spcPts val="0"/>
              </a:spcBef>
            </a:pPr>
            <a:r>
              <a:rPr lang="ru-RU" sz="2400" dirty="0"/>
              <a:t>Процесът е диспечируема изпълнима </a:t>
            </a:r>
            <a:r>
              <a:rPr lang="ru-RU" sz="2400" dirty="0" smtClean="0"/>
              <a:t>единица и затова повече </a:t>
            </a:r>
            <a:r>
              <a:rPr lang="ru-RU" sz="2400" dirty="0"/>
              <a:t>от един процес може да се изпълнява едновременно. </a:t>
            </a:r>
          </a:p>
          <a:p>
            <a:pPr lvl="1">
              <a:lnSpc>
                <a:spcPct val="110000"/>
              </a:lnSpc>
              <a:spcBef>
                <a:spcPts val="0"/>
              </a:spcBef>
            </a:pPr>
            <a:r>
              <a:rPr lang="ru-RU" sz="2400" dirty="0" smtClean="0"/>
              <a:t>Когато </a:t>
            </a:r>
            <a:r>
              <a:rPr lang="ru-RU" sz="2400" dirty="0"/>
              <a:t>няколко процеса се изпълняват едновременно, трябва да се реши кой процес трябва да се изпълни първи. Това е известно </a:t>
            </a:r>
            <a:r>
              <a:rPr lang="ru-RU" sz="2400" dirty="0" smtClean="0"/>
              <a:t>като </a:t>
            </a:r>
            <a:r>
              <a:rPr lang="ru-RU" sz="2400" i="1" dirty="0" smtClean="0">
                <a:effectLst>
                  <a:outerShdw blurRad="38100" dist="38100" dir="2700000" algn="tl">
                    <a:srgbClr val="000000">
                      <a:alpha val="43137"/>
                    </a:srgbClr>
                  </a:outerShdw>
                </a:effectLst>
              </a:rPr>
              <a:t>диспечиране</a:t>
            </a:r>
            <a:r>
              <a:rPr lang="ru-RU" sz="2400" dirty="0" smtClean="0"/>
              <a:t>.</a:t>
            </a:r>
          </a:p>
          <a:p>
            <a:pPr>
              <a:lnSpc>
                <a:spcPct val="110000"/>
              </a:lnSpc>
              <a:spcBef>
                <a:spcPts val="0"/>
              </a:spcBef>
            </a:pPr>
            <a:r>
              <a:rPr lang="ru-RU" sz="2800" dirty="0" smtClean="0"/>
              <a:t>Всяка ОС осигурява средства за </a:t>
            </a:r>
            <a:r>
              <a:rPr lang="ru-RU" sz="2800" i="1" dirty="0" smtClean="0">
                <a:effectLst>
                  <a:outerShdw blurRad="38100" dist="38100" dir="2700000" algn="tl">
                    <a:srgbClr val="000000">
                      <a:alpha val="43137"/>
                    </a:srgbClr>
                  </a:outerShdw>
                </a:effectLst>
              </a:rPr>
              <a:t>комуникация</a:t>
            </a:r>
            <a:r>
              <a:rPr lang="ru-RU" sz="2800" dirty="0" smtClean="0"/>
              <a:t> и </a:t>
            </a:r>
            <a:r>
              <a:rPr lang="ru-RU" sz="2800" i="1" dirty="0" smtClean="0">
                <a:effectLst>
                  <a:outerShdw blurRad="38100" dist="38100" dir="2700000" algn="tl">
                    <a:srgbClr val="000000">
                      <a:alpha val="43137"/>
                    </a:srgbClr>
                  </a:outerShdw>
                </a:effectLst>
              </a:rPr>
              <a:t>синхронизация</a:t>
            </a:r>
            <a:r>
              <a:rPr lang="ru-RU" sz="2800" dirty="0" smtClean="0"/>
              <a:t> между отделните процеси. </a:t>
            </a:r>
          </a:p>
        </p:txBody>
      </p:sp>
    </p:spTree>
    <p:extLst>
      <p:ext uri="{BB962C8B-B14F-4D97-AF65-F5344CB8AC3E}">
        <p14:creationId xmlns:p14="http://schemas.microsoft.com/office/powerpoint/2010/main" val="349761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Процес</a:t>
            </a:r>
            <a:endParaRPr lang="bg-BG" dirty="0"/>
          </a:p>
        </p:txBody>
      </p:sp>
      <p:sp>
        <p:nvSpPr>
          <p:cNvPr id="3" name="Content Placeholder 2"/>
          <p:cNvSpPr>
            <a:spLocks noGrp="1"/>
          </p:cNvSpPr>
          <p:nvPr>
            <p:ph idx="1"/>
          </p:nvPr>
        </p:nvSpPr>
        <p:spPr/>
        <p:txBody>
          <a:bodyPr>
            <a:normAutofit fontScale="92500" lnSpcReduction="10000"/>
          </a:bodyPr>
          <a:lstStyle/>
          <a:p>
            <a:pPr>
              <a:lnSpc>
                <a:spcPct val="120000"/>
              </a:lnSpc>
              <a:spcBef>
                <a:spcPts val="0"/>
              </a:spcBef>
            </a:pPr>
            <a:r>
              <a:rPr lang="ru-RU" sz="2800" dirty="0" smtClean="0"/>
              <a:t>Процесът </a:t>
            </a:r>
            <a:r>
              <a:rPr lang="ru-RU" sz="2800" dirty="0"/>
              <a:t>е </a:t>
            </a:r>
            <a:r>
              <a:rPr lang="ru-RU" sz="2800" dirty="0" smtClean="0"/>
              <a:t>свързан със специално създадена среда (т.нар. </a:t>
            </a:r>
            <a:r>
              <a:rPr lang="ru-RU" sz="2800" b="1" dirty="0" smtClean="0">
                <a:effectLst>
                  <a:outerShdw blurRad="38100" dist="38100" dir="2700000" algn="tl">
                    <a:srgbClr val="000000">
                      <a:alpha val="43137"/>
                    </a:srgbClr>
                  </a:outerShdw>
                </a:effectLst>
              </a:rPr>
              <a:t>контекст </a:t>
            </a:r>
            <a:r>
              <a:rPr lang="ru-RU" sz="2800" b="1" dirty="0">
                <a:effectLst>
                  <a:outerShdw blurRad="38100" dist="38100" dir="2700000" algn="tl">
                    <a:srgbClr val="000000">
                      <a:alpha val="43137"/>
                    </a:srgbClr>
                  </a:outerShdw>
                </a:effectLst>
              </a:rPr>
              <a:t>на </a:t>
            </a:r>
            <a:r>
              <a:rPr lang="ru-RU" sz="2800" b="1" dirty="0" smtClean="0">
                <a:effectLst>
                  <a:outerShdw blurRad="38100" dist="38100" dir="2700000" algn="tl">
                    <a:srgbClr val="000000">
                      <a:alpha val="43137"/>
                    </a:srgbClr>
                  </a:outerShdw>
                </a:effectLst>
              </a:rPr>
              <a:t>процес</a:t>
            </a:r>
            <a:r>
              <a:rPr lang="ru-RU" sz="2800" dirty="0" smtClean="0"/>
              <a:t>), </a:t>
            </a:r>
            <a:r>
              <a:rPr lang="ru-RU" sz="2800" dirty="0"/>
              <a:t>в която </a:t>
            </a:r>
            <a:r>
              <a:rPr lang="ru-RU" sz="2800" dirty="0" smtClean="0"/>
              <a:t>се </a:t>
            </a:r>
            <a:r>
              <a:rPr lang="ru-RU" sz="2800" dirty="0"/>
              <a:t>изпълнява </a:t>
            </a:r>
            <a:r>
              <a:rPr lang="ru-RU" sz="2800" dirty="0" smtClean="0"/>
              <a:t>заредената програма. </a:t>
            </a:r>
            <a:r>
              <a:rPr lang="ru-RU" sz="2800" dirty="0"/>
              <a:t>Това включва</a:t>
            </a:r>
            <a:r>
              <a:rPr lang="ru-RU" sz="2800" dirty="0" smtClean="0"/>
              <a:t>:</a:t>
            </a:r>
          </a:p>
          <a:p>
            <a:pPr lvl="1">
              <a:lnSpc>
                <a:spcPct val="110000"/>
              </a:lnSpc>
              <a:spcBef>
                <a:spcPts val="0"/>
              </a:spcBef>
            </a:pPr>
            <a:r>
              <a:rPr lang="ru-RU" sz="2400" i="1" dirty="0" smtClean="0">
                <a:effectLst>
                  <a:outerShdw blurRad="38100" dist="38100" dir="2700000" algn="tl">
                    <a:srgbClr val="000000">
                      <a:alpha val="43137"/>
                    </a:srgbClr>
                  </a:outerShdw>
                </a:effectLst>
              </a:rPr>
              <a:t>Адресно </a:t>
            </a:r>
            <a:r>
              <a:rPr lang="ru-RU" sz="2400" i="1" dirty="0">
                <a:effectLst>
                  <a:outerShdw blurRad="38100" dist="38100" dir="2700000" algn="tl">
                    <a:srgbClr val="000000">
                      <a:alpha val="43137"/>
                    </a:srgbClr>
                  </a:outerShdw>
                </a:effectLst>
              </a:rPr>
              <a:t>пространство</a:t>
            </a:r>
            <a:r>
              <a:rPr lang="ru-RU" sz="2400" dirty="0"/>
              <a:t>, което е набор от места в паметта, които съхраняват инструкциите на машинния код, изисквани от процеса, и променливите на процеса</a:t>
            </a:r>
            <a:r>
              <a:rPr lang="ru-RU" sz="2400" dirty="0" smtClean="0"/>
              <a:t>.</a:t>
            </a:r>
          </a:p>
          <a:p>
            <a:pPr lvl="2">
              <a:lnSpc>
                <a:spcPct val="110000"/>
              </a:lnSpc>
              <a:spcBef>
                <a:spcPts val="0"/>
              </a:spcBef>
            </a:pPr>
            <a:r>
              <a:rPr lang="ru-RU" sz="2000" dirty="0" smtClean="0"/>
              <a:t>Адресното </a:t>
            </a:r>
            <a:r>
              <a:rPr lang="ru-RU" sz="2000" dirty="0"/>
              <a:t>пространство е защитено, така че други процеси да не могат да се намесват</a:t>
            </a:r>
            <a:r>
              <a:rPr lang="ru-RU" sz="2000" dirty="0" smtClean="0"/>
              <a:t>.</a:t>
            </a:r>
            <a:r>
              <a:rPr lang="ru-RU" sz="2000" dirty="0"/>
              <a:t> </a:t>
            </a:r>
            <a:endParaRPr lang="ru-RU" sz="2000" dirty="0" smtClean="0"/>
          </a:p>
          <a:p>
            <a:pPr lvl="2">
              <a:lnSpc>
                <a:spcPct val="110000"/>
              </a:lnSpc>
              <a:spcBef>
                <a:spcPts val="0"/>
              </a:spcBef>
            </a:pPr>
            <a:r>
              <a:rPr lang="ru-RU" sz="2000" dirty="0" smtClean="0"/>
              <a:t>Паметта </a:t>
            </a:r>
            <a:r>
              <a:rPr lang="ru-RU" sz="2000" dirty="0"/>
              <a:t>на процеса е разделена на 4 </a:t>
            </a:r>
            <a:r>
              <a:rPr lang="ru-RU" sz="2000" dirty="0" smtClean="0"/>
              <a:t>секции: Текстова </a:t>
            </a:r>
            <a:r>
              <a:rPr lang="ru-RU" sz="2000" dirty="0"/>
              <a:t>секция, </a:t>
            </a:r>
            <a:r>
              <a:rPr lang="ru-RU" sz="2000" dirty="0" smtClean="0"/>
              <a:t>Секция </a:t>
            </a:r>
            <a:r>
              <a:rPr lang="ru-RU" sz="2000" dirty="0"/>
              <a:t>с данни, </a:t>
            </a:r>
            <a:r>
              <a:rPr lang="en-US" sz="2000" dirty="0" smtClean="0"/>
              <a:t>Heap </a:t>
            </a:r>
            <a:r>
              <a:rPr lang="ru-RU" sz="2000" dirty="0" smtClean="0"/>
              <a:t>и </a:t>
            </a:r>
            <a:r>
              <a:rPr lang="bg-BG" sz="2000" dirty="0" smtClean="0"/>
              <a:t>С</a:t>
            </a:r>
            <a:r>
              <a:rPr lang="ru-RU" sz="2000" dirty="0" smtClean="0"/>
              <a:t>тек.</a:t>
            </a:r>
          </a:p>
          <a:p>
            <a:pPr lvl="1">
              <a:lnSpc>
                <a:spcPct val="110000"/>
              </a:lnSpc>
              <a:spcBef>
                <a:spcPts val="0"/>
              </a:spcBef>
            </a:pPr>
            <a:r>
              <a:rPr lang="ru-RU" sz="2400" i="1" dirty="0" smtClean="0">
                <a:effectLst>
                  <a:outerShdw blurRad="38100" dist="38100" dir="2700000" algn="tl">
                    <a:srgbClr val="000000">
                      <a:alpha val="43137"/>
                    </a:srgbClr>
                  </a:outerShdw>
                </a:effectLst>
              </a:rPr>
              <a:t>Набор </a:t>
            </a:r>
            <a:r>
              <a:rPr lang="ru-RU" sz="2400" i="1" dirty="0">
                <a:effectLst>
                  <a:outerShdw blurRad="38100" dist="38100" dir="2700000" algn="tl">
                    <a:srgbClr val="000000">
                      <a:alpha val="43137"/>
                    </a:srgbClr>
                  </a:outerShdw>
                </a:effectLst>
              </a:rPr>
              <a:t>от регистри на процесора</a:t>
            </a:r>
            <a:r>
              <a:rPr lang="ru-RU" sz="2400" dirty="0"/>
              <a:t>, така че процесът да може да изпълнява някои операции бързо (напр. добавяне, изваждане), без да се налага достъп до паметта, което може да бъде бавно</a:t>
            </a:r>
            <a:r>
              <a:rPr lang="ru-RU" sz="2400" dirty="0" smtClean="0"/>
              <a:t>.</a:t>
            </a:r>
          </a:p>
          <a:p>
            <a:pPr lvl="1">
              <a:lnSpc>
                <a:spcPct val="110000"/>
              </a:lnSpc>
              <a:spcBef>
                <a:spcPts val="0"/>
              </a:spcBef>
            </a:pPr>
            <a:r>
              <a:rPr lang="ru-RU" sz="2400" dirty="0" smtClean="0"/>
              <a:t>Възможността </a:t>
            </a:r>
            <a:r>
              <a:rPr lang="ru-RU" sz="2400" dirty="0"/>
              <a:t>за извикване на </a:t>
            </a:r>
            <a:r>
              <a:rPr lang="ru-RU" sz="2400" i="1" dirty="0">
                <a:effectLst>
                  <a:outerShdw blurRad="38100" dist="38100" dir="2700000" algn="tl">
                    <a:srgbClr val="000000">
                      <a:alpha val="43137"/>
                    </a:srgbClr>
                  </a:outerShdw>
                </a:effectLst>
              </a:rPr>
              <a:t>системни повиквания</a:t>
            </a:r>
            <a:r>
              <a:rPr lang="ru-RU" sz="2400" dirty="0"/>
              <a:t>, така че процесът да може да получава услуги от операционната система</a:t>
            </a:r>
            <a:r>
              <a:rPr lang="ru-RU" sz="2400" dirty="0" smtClean="0"/>
              <a:t>.</a:t>
            </a:r>
          </a:p>
          <a:p>
            <a:pPr>
              <a:lnSpc>
                <a:spcPct val="110000"/>
              </a:lnSpc>
              <a:spcBef>
                <a:spcPts val="0"/>
              </a:spcBef>
            </a:pPr>
            <a:r>
              <a:rPr lang="ru-RU" sz="2800" dirty="0" smtClean="0"/>
              <a:t>За всеки процес конкретната ОС дефинира определени атрибути</a:t>
            </a:r>
          </a:p>
          <a:p>
            <a:pPr lvl="1">
              <a:lnSpc>
                <a:spcPct val="110000"/>
              </a:lnSpc>
              <a:spcBef>
                <a:spcPts val="0"/>
              </a:spcBef>
            </a:pPr>
            <a:r>
              <a:rPr lang="ru-RU" sz="2400" dirty="0" smtClean="0"/>
              <a:t>Атрибутите </a:t>
            </a:r>
            <a:r>
              <a:rPr lang="ru-RU" sz="2400" dirty="0"/>
              <a:t>на процеса са идентификатор на процеса, състояние на процеса, приоритет и др</a:t>
            </a:r>
            <a:r>
              <a:rPr lang="ru-RU" sz="2400" dirty="0" smtClean="0"/>
              <a:t>.</a:t>
            </a:r>
          </a:p>
        </p:txBody>
      </p:sp>
    </p:spTree>
    <p:extLst>
      <p:ext uri="{BB962C8B-B14F-4D97-AF65-F5344CB8AC3E}">
        <p14:creationId xmlns:p14="http://schemas.microsoft.com/office/powerpoint/2010/main" val="1646324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Задача</a:t>
            </a:r>
            <a:endParaRPr lang="bg-BG" dirty="0"/>
          </a:p>
        </p:txBody>
      </p:sp>
      <p:sp>
        <p:nvSpPr>
          <p:cNvPr id="3" name="Content Placeholder 2"/>
          <p:cNvSpPr>
            <a:spLocks noGrp="1"/>
          </p:cNvSpPr>
          <p:nvPr>
            <p:ph idx="1"/>
          </p:nvPr>
        </p:nvSpPr>
        <p:spPr>
          <a:xfrm>
            <a:off x="908662" y="1143000"/>
            <a:ext cx="10900750" cy="5638800"/>
          </a:xfrm>
        </p:spPr>
        <p:txBody>
          <a:bodyPr>
            <a:noAutofit/>
          </a:bodyPr>
          <a:lstStyle/>
          <a:p>
            <a:pPr>
              <a:spcBef>
                <a:spcPts val="0"/>
              </a:spcBef>
            </a:pPr>
            <a:r>
              <a:rPr lang="ru-RU" sz="2400" dirty="0" smtClean="0"/>
              <a:t>Задачата (англ. </a:t>
            </a:r>
            <a:r>
              <a:rPr lang="en-US" sz="2400" dirty="0" smtClean="0"/>
              <a:t>Task)</a:t>
            </a:r>
            <a:r>
              <a:rPr lang="ru-RU" sz="2400" dirty="0" smtClean="0"/>
              <a:t> </a:t>
            </a:r>
            <a:r>
              <a:rPr lang="ru-RU" sz="2400" dirty="0"/>
              <a:t>е единица </a:t>
            </a:r>
            <a:r>
              <a:rPr lang="ru-RU" sz="2400" dirty="0" smtClean="0"/>
              <a:t>работата, </a:t>
            </a:r>
            <a:r>
              <a:rPr lang="ru-RU" sz="2400" dirty="0"/>
              <a:t>която се </a:t>
            </a:r>
            <a:r>
              <a:rPr lang="ru-RU" sz="2400" dirty="0" smtClean="0"/>
              <a:t>изпълнява</a:t>
            </a:r>
            <a:r>
              <a:rPr lang="en-US" sz="2400" dirty="0" smtClean="0"/>
              <a:t> </a:t>
            </a:r>
            <a:r>
              <a:rPr lang="bg-BG" sz="2400" dirty="0" smtClean="0"/>
              <a:t>от даден процес</a:t>
            </a:r>
            <a:r>
              <a:rPr lang="ru-RU" sz="2400" dirty="0" smtClean="0"/>
              <a:t>. </a:t>
            </a:r>
          </a:p>
          <a:p>
            <a:pPr lvl="1">
              <a:spcBef>
                <a:spcPts val="0"/>
              </a:spcBef>
            </a:pPr>
            <a:r>
              <a:rPr lang="ru-RU" sz="2000" dirty="0"/>
              <a:t>Задачата е подчаст от </a:t>
            </a:r>
            <a:r>
              <a:rPr lang="ru-RU" sz="2000" dirty="0" smtClean="0"/>
              <a:t>работа (англ. </a:t>
            </a:r>
            <a:r>
              <a:rPr lang="en-US" sz="2000" dirty="0" smtClean="0"/>
              <a:t>Job)</a:t>
            </a:r>
            <a:r>
              <a:rPr lang="bg-BG" sz="2000" dirty="0" smtClean="0"/>
              <a:t>, заради която е създадена програмата</a:t>
            </a:r>
            <a:r>
              <a:rPr lang="ru-RU" sz="2000" dirty="0" smtClean="0"/>
              <a:t>. </a:t>
            </a:r>
            <a:endParaRPr lang="ru-RU" sz="2000" dirty="0"/>
          </a:p>
          <a:p>
            <a:pPr lvl="1">
              <a:spcBef>
                <a:spcPts val="0"/>
              </a:spcBef>
            </a:pPr>
            <a:r>
              <a:rPr lang="ru-RU" sz="2000" dirty="0"/>
              <a:t>Задачите се комбинират, за да </a:t>
            </a:r>
            <a:r>
              <a:rPr lang="ru-RU" sz="2000" dirty="0" smtClean="0"/>
              <a:t>изпълни работата.</a:t>
            </a:r>
            <a:endParaRPr lang="ru-RU" sz="2000" dirty="0"/>
          </a:p>
          <a:p>
            <a:pPr>
              <a:spcBef>
                <a:spcPts val="0"/>
              </a:spcBef>
            </a:pPr>
            <a:r>
              <a:rPr lang="ru-RU" sz="2400" dirty="0"/>
              <a:t>Задачата </a:t>
            </a:r>
            <a:r>
              <a:rPr lang="ru-RU" sz="2400" dirty="0" smtClean="0"/>
              <a:t>като термин е с много разнородни тълкувания:</a:t>
            </a:r>
            <a:endParaRPr lang="ru-RU" sz="2400" dirty="0"/>
          </a:p>
          <a:p>
            <a:pPr lvl="1">
              <a:spcBef>
                <a:spcPts val="0"/>
              </a:spcBef>
            </a:pPr>
            <a:r>
              <a:rPr lang="ru-RU" sz="2000" dirty="0" smtClean="0"/>
              <a:t>На ниво ОС задачата най-често е синоним </a:t>
            </a:r>
            <a:r>
              <a:rPr lang="ru-RU" sz="2000" dirty="0"/>
              <a:t>на </a:t>
            </a:r>
            <a:r>
              <a:rPr lang="ru-RU" sz="2000" dirty="0" smtClean="0"/>
              <a:t>процес. </a:t>
            </a:r>
          </a:p>
          <a:p>
            <a:pPr lvl="1">
              <a:spcBef>
                <a:spcPts val="0"/>
              </a:spcBef>
            </a:pPr>
            <a:r>
              <a:rPr lang="ru-RU" sz="2000" dirty="0" smtClean="0"/>
              <a:t>Задачата </a:t>
            </a:r>
            <a:r>
              <a:rPr lang="ru-RU" sz="2000" dirty="0"/>
              <a:t>може да бъде нишка, процес, отделна </a:t>
            </a:r>
            <a:r>
              <a:rPr lang="ru-RU" sz="2000" dirty="0" smtClean="0"/>
              <a:t>дейност (т.нар. Фибри) </a:t>
            </a:r>
            <a:r>
              <a:rPr lang="ru-RU" sz="2000" dirty="0"/>
              <a:t>и много повече</a:t>
            </a:r>
            <a:r>
              <a:rPr lang="ru-RU" sz="2000" dirty="0" smtClean="0"/>
              <a:t>.</a:t>
            </a:r>
          </a:p>
          <a:p>
            <a:pPr lvl="2">
              <a:spcBef>
                <a:spcPts val="0"/>
              </a:spcBef>
            </a:pPr>
            <a:r>
              <a:rPr lang="ru-RU" sz="1800" dirty="0" smtClean="0"/>
              <a:t>Например «нишки» </a:t>
            </a:r>
            <a:r>
              <a:rPr lang="ru-RU" sz="1800" dirty="0"/>
              <a:t>се </a:t>
            </a:r>
            <a:r>
              <a:rPr lang="ru-RU" sz="1800" dirty="0" smtClean="0"/>
              <a:t>наричат задачи, коити реализира определена обработка в рамките на даден процес и се изпълняват конкурентно.</a:t>
            </a:r>
          </a:p>
          <a:p>
            <a:pPr lvl="2">
              <a:spcBef>
                <a:spcPts val="0"/>
              </a:spcBef>
            </a:pPr>
            <a:r>
              <a:rPr lang="ru-RU" sz="1800" dirty="0" smtClean="0"/>
              <a:t>Например «процес», който силно зависи от интерактивна комуникация с потребителя се нарича задача.</a:t>
            </a:r>
          </a:p>
          <a:p>
            <a:pPr>
              <a:spcBef>
                <a:spcPts val="0"/>
              </a:spcBef>
            </a:pPr>
            <a:r>
              <a:rPr lang="ru-RU" sz="2400" dirty="0" smtClean="0"/>
              <a:t>Повече </a:t>
            </a:r>
            <a:r>
              <a:rPr lang="ru-RU" sz="2400" dirty="0"/>
              <a:t>от една задача може да се изпълнява заедно едновременно и това е известно като </a:t>
            </a:r>
            <a:r>
              <a:rPr lang="ru-RU" sz="2400" b="1" dirty="0">
                <a:effectLst>
                  <a:outerShdw blurRad="38100" dist="38100" dir="2700000" algn="tl">
                    <a:srgbClr val="000000">
                      <a:alpha val="43137"/>
                    </a:srgbClr>
                  </a:outerShdw>
                </a:effectLst>
              </a:rPr>
              <a:t>многозадачност</a:t>
            </a:r>
            <a:r>
              <a:rPr lang="ru-RU" sz="2400" dirty="0" smtClean="0"/>
              <a:t>.</a:t>
            </a:r>
          </a:p>
          <a:p>
            <a:pPr lvl="1">
              <a:spcBef>
                <a:spcPts val="0"/>
              </a:spcBef>
            </a:pPr>
            <a:r>
              <a:rPr lang="ru-RU" sz="2000" dirty="0" smtClean="0"/>
              <a:t>Многозадачността </a:t>
            </a:r>
            <a:r>
              <a:rPr lang="ru-RU" sz="2000" dirty="0"/>
              <a:t>е </a:t>
            </a:r>
            <a:r>
              <a:rPr lang="ru-RU" sz="2000" dirty="0" smtClean="0"/>
              <a:t>известна и като </a:t>
            </a:r>
            <a:r>
              <a:rPr lang="ru-RU" sz="2000" i="1" dirty="0"/>
              <a:t>споделяне на времето</a:t>
            </a:r>
            <a:r>
              <a:rPr lang="ru-RU" sz="2000" dirty="0"/>
              <a:t>. </a:t>
            </a:r>
          </a:p>
          <a:p>
            <a:pPr lvl="1">
              <a:spcBef>
                <a:spcPts val="0"/>
              </a:spcBef>
            </a:pPr>
            <a:r>
              <a:rPr lang="ru-RU" sz="2000" dirty="0"/>
              <a:t>Многозадачността е разширение на </a:t>
            </a:r>
            <a:r>
              <a:rPr lang="ru-RU" sz="2000" dirty="0" smtClean="0"/>
              <a:t>възможностите на мултипрограмна ОС.</a:t>
            </a:r>
            <a:endParaRPr lang="bg-BG" sz="2000" dirty="0"/>
          </a:p>
          <a:p>
            <a:pPr>
              <a:spcBef>
                <a:spcPts val="0"/>
              </a:spcBef>
            </a:pPr>
            <a:r>
              <a:rPr lang="ru-RU" sz="2400" dirty="0" smtClean="0"/>
              <a:t>Когато </a:t>
            </a:r>
            <a:r>
              <a:rPr lang="ru-RU" sz="2400" dirty="0"/>
              <a:t>повече от една задача се изпълнява паралелно по едно и също време, това е известно като </a:t>
            </a:r>
            <a:r>
              <a:rPr lang="ru-RU" sz="2400" i="1" dirty="0">
                <a:effectLst>
                  <a:outerShdw blurRad="38100" dist="38100" dir="2700000" algn="tl">
                    <a:srgbClr val="000000">
                      <a:alpha val="43137"/>
                    </a:srgbClr>
                  </a:outerShdw>
                </a:effectLst>
              </a:rPr>
              <a:t>паралелно изпълнение на задачи</a:t>
            </a:r>
            <a:r>
              <a:rPr lang="ru-RU" sz="2400" dirty="0"/>
              <a:t>. </a:t>
            </a:r>
            <a:endParaRPr lang="ru-RU" sz="2400" dirty="0" smtClean="0"/>
          </a:p>
        </p:txBody>
      </p:sp>
    </p:spTree>
    <p:extLst>
      <p:ext uri="{BB962C8B-B14F-4D97-AF65-F5344CB8AC3E}">
        <p14:creationId xmlns:p14="http://schemas.microsoft.com/office/powerpoint/2010/main" val="251159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Контекст на процеса</a:t>
            </a:r>
            <a:endParaRPr lang="bg-BG" dirty="0"/>
          </a:p>
        </p:txBody>
      </p:sp>
      <p:sp>
        <p:nvSpPr>
          <p:cNvPr id="3" name="Content Placeholder 2"/>
          <p:cNvSpPr>
            <a:spLocks noGrp="1"/>
          </p:cNvSpPr>
          <p:nvPr>
            <p:ph idx="1"/>
          </p:nvPr>
        </p:nvSpPr>
        <p:spPr/>
        <p:txBody>
          <a:bodyPr>
            <a:normAutofit fontScale="92500" lnSpcReduction="20000"/>
          </a:bodyPr>
          <a:lstStyle/>
          <a:p>
            <a:r>
              <a:rPr lang="ru-RU" dirty="0"/>
              <a:t>Как </a:t>
            </a:r>
            <a:r>
              <a:rPr lang="ru-RU" dirty="0" smtClean="0"/>
              <a:t>ОС </a:t>
            </a:r>
            <a:r>
              <a:rPr lang="ru-RU" dirty="0"/>
              <a:t>превключва между множество </a:t>
            </a:r>
            <a:r>
              <a:rPr lang="ru-RU" dirty="0" smtClean="0"/>
              <a:t>процесите </a:t>
            </a:r>
            <a:r>
              <a:rPr lang="bg-BG" dirty="0" smtClean="0"/>
              <a:t>когато се </a:t>
            </a:r>
            <a:r>
              <a:rPr lang="bg-BG" dirty="0" err="1" smtClean="0"/>
              <a:t>диспечира</a:t>
            </a:r>
            <a:r>
              <a:rPr lang="bg-BG" dirty="0" smtClean="0"/>
              <a:t> процесора като ресурс</a:t>
            </a:r>
            <a:r>
              <a:rPr lang="ru-RU" dirty="0" smtClean="0"/>
              <a:t>?</a:t>
            </a:r>
            <a:endParaRPr lang="ru-RU" dirty="0"/>
          </a:p>
          <a:p>
            <a:pPr lvl="1"/>
            <a:r>
              <a:rPr lang="ru-RU" dirty="0"/>
              <a:t>Отговорът е известен като „</a:t>
            </a:r>
            <a:r>
              <a:rPr lang="ru-RU" i="1" dirty="0">
                <a:effectLst>
                  <a:outerShdw blurRad="38100" dist="38100" dir="2700000" algn="tl">
                    <a:srgbClr val="000000">
                      <a:alpha val="43137"/>
                    </a:srgbClr>
                  </a:outerShdw>
                </a:effectLst>
              </a:rPr>
              <a:t>Метод за превключване на контекста</a:t>
            </a:r>
            <a:r>
              <a:rPr lang="ru-RU" dirty="0"/>
              <a:t>“.</a:t>
            </a:r>
          </a:p>
          <a:p>
            <a:r>
              <a:rPr lang="ru-RU" dirty="0"/>
              <a:t>Контекст</a:t>
            </a:r>
          </a:p>
          <a:p>
            <a:pPr lvl="1"/>
            <a:r>
              <a:rPr lang="ru-RU" dirty="0"/>
              <a:t>Това означава средата, в която се изпълнява програмата:</a:t>
            </a:r>
          </a:p>
          <a:p>
            <a:pPr lvl="2"/>
            <a:r>
              <a:rPr lang="ru-RU" dirty="0"/>
              <a:t>&lt;</a:t>
            </a:r>
            <a:r>
              <a:rPr lang="ru-RU" dirty="0" smtClean="0"/>
              <a:t>адресно пространство на процеса&gt; </a:t>
            </a:r>
            <a:r>
              <a:rPr lang="ru-RU" dirty="0"/>
              <a:t>+ &lt;текущото състояние на регистрите на </a:t>
            </a:r>
            <a:r>
              <a:rPr lang="ru-RU" dirty="0" smtClean="0"/>
              <a:t>процеса&gt;</a:t>
            </a:r>
            <a:endParaRPr lang="ru-RU" dirty="0"/>
          </a:p>
          <a:p>
            <a:pPr lvl="1"/>
            <a:r>
              <a:rPr lang="ru-RU" dirty="0"/>
              <a:t>Основното </a:t>
            </a:r>
            <a:r>
              <a:rPr lang="ru-RU" dirty="0" smtClean="0"/>
              <a:t>ограничениее факта, че </a:t>
            </a:r>
            <a:r>
              <a:rPr lang="ru-RU" dirty="0"/>
              <a:t>ОС не работи като програма!</a:t>
            </a:r>
          </a:p>
          <a:p>
            <a:pPr lvl="2"/>
            <a:r>
              <a:rPr lang="ru-RU" dirty="0"/>
              <a:t>Процесорът трябва да работи в потребителски режим колкото е възможно повече.</a:t>
            </a:r>
          </a:p>
          <a:p>
            <a:pPr lvl="2"/>
            <a:r>
              <a:rPr lang="ru-RU" dirty="0"/>
              <a:t>Ядрото на ОС се извиква само чрез прекъсване, изключение или системно повикване.</a:t>
            </a:r>
          </a:p>
          <a:p>
            <a:pPr lvl="1"/>
            <a:r>
              <a:rPr lang="ru-RU" dirty="0"/>
              <a:t>Актът на превключване на контекста може да се извърши само в режим на ядрото.</a:t>
            </a:r>
          </a:p>
          <a:p>
            <a:pPr lvl="2"/>
            <a:r>
              <a:rPr lang="ru-RU" dirty="0"/>
              <a:t>Само в режим на ядрото може да се променя </a:t>
            </a:r>
            <a:r>
              <a:rPr lang="ru-RU" dirty="0" smtClean="0"/>
              <a:t>разпределението на паметта.</a:t>
            </a:r>
            <a:endParaRPr lang="bg-BG" dirty="0"/>
          </a:p>
        </p:txBody>
      </p:sp>
    </p:spTree>
    <p:extLst>
      <p:ext uri="{BB962C8B-B14F-4D97-AF65-F5344CB8AC3E}">
        <p14:creationId xmlns:p14="http://schemas.microsoft.com/office/powerpoint/2010/main" val="9301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a:t>Управление на паметта </a:t>
            </a:r>
          </a:p>
        </p:txBody>
      </p:sp>
      <p:sp>
        <p:nvSpPr>
          <p:cNvPr id="3" name="Content Placeholder 2"/>
          <p:cNvSpPr>
            <a:spLocks noGrp="1"/>
          </p:cNvSpPr>
          <p:nvPr>
            <p:ph idx="1"/>
          </p:nvPr>
        </p:nvSpPr>
        <p:spPr/>
        <p:txBody>
          <a:bodyPr>
            <a:normAutofit fontScale="77500" lnSpcReduction="20000"/>
          </a:bodyPr>
          <a:lstStyle/>
          <a:p>
            <a:pPr>
              <a:lnSpc>
                <a:spcPct val="120000"/>
              </a:lnSpc>
              <a:spcBef>
                <a:spcPts val="0"/>
              </a:spcBef>
            </a:pPr>
            <a:r>
              <a:rPr lang="ru-RU" dirty="0" smtClean="0"/>
              <a:t>Оперативната </a:t>
            </a:r>
            <a:r>
              <a:rPr lang="ru-RU" dirty="0"/>
              <a:t>памет е част от хардуера на всеки компютър</a:t>
            </a:r>
            <a:r>
              <a:rPr lang="ru-RU" dirty="0" smtClean="0"/>
              <a:t>.</a:t>
            </a:r>
          </a:p>
          <a:p>
            <a:pPr lvl="1">
              <a:lnSpc>
                <a:spcPct val="120000"/>
              </a:lnSpc>
              <a:spcBef>
                <a:spcPts val="0"/>
              </a:spcBef>
            </a:pPr>
            <a:r>
              <a:rPr lang="ru-RU" dirty="0" smtClean="0"/>
              <a:t>Достъпът до клетка от паметта за четене </a:t>
            </a:r>
            <a:r>
              <a:rPr lang="ru-RU" dirty="0"/>
              <a:t>или </a:t>
            </a:r>
            <a:r>
              <a:rPr lang="ru-RU" dirty="0" smtClean="0"/>
              <a:t>запис се реализира чрез </a:t>
            </a:r>
            <a:r>
              <a:rPr lang="ru-RU" i="1" dirty="0" smtClean="0">
                <a:effectLst>
                  <a:outerShdw blurRad="38100" dist="38100" dir="2700000" algn="tl">
                    <a:srgbClr val="000000">
                      <a:alpha val="43137"/>
                    </a:srgbClr>
                  </a:outerShdw>
                </a:effectLst>
              </a:rPr>
              <a:t>целочислен </a:t>
            </a:r>
            <a:r>
              <a:rPr lang="ru-RU" i="1" dirty="0">
                <a:effectLst>
                  <a:outerShdw blurRad="38100" dist="38100" dir="2700000" algn="tl">
                    <a:srgbClr val="000000">
                      <a:alpha val="43137"/>
                    </a:srgbClr>
                  </a:outerShdw>
                </a:effectLst>
              </a:rPr>
              <a:t>адрес</a:t>
            </a:r>
            <a:r>
              <a:rPr lang="ru-RU" dirty="0" smtClean="0"/>
              <a:t>.</a:t>
            </a:r>
          </a:p>
          <a:p>
            <a:pPr lvl="1">
              <a:lnSpc>
                <a:spcPct val="120000"/>
              </a:lnSpc>
              <a:spcBef>
                <a:spcPts val="0"/>
              </a:spcBef>
            </a:pPr>
            <a:r>
              <a:rPr lang="ru-RU" dirty="0" smtClean="0"/>
              <a:t>Група клетки в </a:t>
            </a:r>
            <a:r>
              <a:rPr lang="ru-RU" dirty="0"/>
              <a:t>паметта </a:t>
            </a:r>
            <a:r>
              <a:rPr lang="ru-RU" dirty="0" smtClean="0"/>
              <a:t>могат да имат апаратна защита</a:t>
            </a:r>
            <a:r>
              <a:rPr lang="ru-RU" dirty="0"/>
              <a:t>, </a:t>
            </a:r>
            <a:r>
              <a:rPr lang="ru-RU" dirty="0" smtClean="0"/>
              <a:t>предотвратяваща </a:t>
            </a:r>
            <a:r>
              <a:rPr lang="ru-RU" dirty="0"/>
              <a:t>четене </a:t>
            </a:r>
            <a:r>
              <a:rPr lang="ru-RU" dirty="0" smtClean="0"/>
              <a:t>и/или запис в защитената зона.</a:t>
            </a:r>
          </a:p>
          <a:p>
            <a:pPr>
              <a:lnSpc>
                <a:spcPct val="120000"/>
              </a:lnSpc>
              <a:spcBef>
                <a:spcPts val="0"/>
              </a:spcBef>
            </a:pPr>
            <a:r>
              <a:rPr lang="ru-RU" dirty="0" smtClean="0"/>
              <a:t>Една от основните задачи на ОС е управлението на паметта:</a:t>
            </a:r>
          </a:p>
          <a:p>
            <a:pPr lvl="1">
              <a:lnSpc>
                <a:spcPct val="120000"/>
              </a:lnSpc>
              <a:spcBef>
                <a:spcPts val="0"/>
              </a:spcBef>
            </a:pPr>
            <a:r>
              <a:rPr lang="ru-RU" dirty="0" smtClean="0"/>
              <a:t>Разпределя на памет </a:t>
            </a:r>
            <a:r>
              <a:rPr lang="ru-RU" dirty="0"/>
              <a:t>за </a:t>
            </a:r>
            <a:r>
              <a:rPr lang="ru-RU" dirty="0" smtClean="0"/>
              <a:t>новите процеси процесите и </a:t>
            </a:r>
          </a:p>
          <a:p>
            <a:pPr lvl="1">
              <a:lnSpc>
                <a:spcPct val="120000"/>
              </a:lnSpc>
              <a:spcBef>
                <a:spcPts val="0"/>
              </a:spcBef>
            </a:pPr>
            <a:r>
              <a:rPr lang="ru-RU" dirty="0" smtClean="0"/>
              <a:t>Възстановява </a:t>
            </a:r>
            <a:r>
              <a:rPr lang="ru-RU" dirty="0"/>
              <a:t>паметта, след </a:t>
            </a:r>
            <a:r>
              <a:rPr lang="ru-RU" dirty="0" smtClean="0"/>
              <a:t>завършване на даден процесс.</a:t>
            </a:r>
          </a:p>
          <a:p>
            <a:pPr lvl="1">
              <a:lnSpc>
                <a:spcPct val="120000"/>
              </a:lnSpc>
              <a:spcBef>
                <a:spcPts val="0"/>
              </a:spcBef>
            </a:pPr>
            <a:r>
              <a:rPr lang="ru-RU" dirty="0" smtClean="0"/>
              <a:t>Защита на адресното поле на отделните процеси, т.е. всеки процес </a:t>
            </a:r>
            <a:r>
              <a:rPr lang="ru-RU" dirty="0"/>
              <a:t>може да чете или пише само в </a:t>
            </a:r>
            <a:r>
              <a:rPr lang="ru-RU" dirty="0" smtClean="0"/>
              <a:t>определно пространство от паметта.</a:t>
            </a:r>
          </a:p>
          <a:p>
            <a:pPr lvl="1">
              <a:lnSpc>
                <a:spcPct val="120000"/>
              </a:lnSpc>
              <a:spcBef>
                <a:spcPts val="0"/>
              </a:spcBef>
            </a:pPr>
            <a:r>
              <a:rPr lang="ru-RU" dirty="0" smtClean="0"/>
              <a:t>Отделяне на допълнителна памет при поискване от даден процес.</a:t>
            </a:r>
          </a:p>
          <a:p>
            <a:pPr lvl="1">
              <a:lnSpc>
                <a:spcPct val="120000"/>
              </a:lnSpc>
              <a:spcBef>
                <a:spcPts val="0"/>
              </a:spcBef>
            </a:pPr>
            <a:r>
              <a:rPr lang="ru-RU" dirty="0" smtClean="0"/>
              <a:t>Основен проблем: «</a:t>
            </a:r>
            <a:r>
              <a:rPr lang="en-US" i="1" dirty="0" smtClean="0">
                <a:effectLst>
                  <a:outerShdw blurRad="38100" dist="38100" dir="2700000" algn="tl">
                    <a:srgbClr val="000000">
                      <a:alpha val="43137"/>
                    </a:srgbClr>
                  </a:outerShdw>
                </a:effectLst>
              </a:rPr>
              <a:t>Memory leaks</a:t>
            </a:r>
            <a:r>
              <a:rPr lang="ru-RU" dirty="0" smtClean="0"/>
              <a:t>»</a:t>
            </a:r>
            <a:endParaRPr lang="bg-BG" dirty="0"/>
          </a:p>
          <a:p>
            <a:pPr>
              <a:lnSpc>
                <a:spcPct val="120000"/>
              </a:lnSpc>
              <a:spcBef>
                <a:spcPts val="0"/>
              </a:spcBef>
            </a:pPr>
            <a:r>
              <a:rPr lang="bg-BG" dirty="0" smtClean="0"/>
              <a:t>При спиране на захранването, адресното поле на процесите се губят, т.е. необходима е </a:t>
            </a:r>
            <a:r>
              <a:rPr lang="bg-BG" i="1" dirty="0" smtClean="0">
                <a:effectLst>
                  <a:outerShdw blurRad="38100" dist="38100" dir="2700000" algn="tl">
                    <a:srgbClr val="000000">
                      <a:alpha val="43137"/>
                    </a:srgbClr>
                  </a:outerShdw>
                </a:effectLst>
              </a:rPr>
              <a:t>специална процедура </a:t>
            </a:r>
            <a:r>
              <a:rPr lang="bg-BG" dirty="0" smtClean="0"/>
              <a:t>за съхраняване и възстановяване на процесите в този случай.</a:t>
            </a:r>
            <a:endParaRPr lang="ru-RU" dirty="0" smtClean="0"/>
          </a:p>
        </p:txBody>
      </p:sp>
    </p:spTree>
    <p:extLst>
      <p:ext uri="{BB962C8B-B14F-4D97-AF65-F5344CB8AC3E}">
        <p14:creationId xmlns:p14="http://schemas.microsoft.com/office/powerpoint/2010/main" val="374287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a:t>Файлове</a:t>
            </a:r>
          </a:p>
        </p:txBody>
      </p:sp>
      <p:sp>
        <p:nvSpPr>
          <p:cNvPr id="3" name="Content Placeholder 2"/>
          <p:cNvSpPr>
            <a:spLocks noGrp="1"/>
          </p:cNvSpPr>
          <p:nvPr>
            <p:ph idx="1"/>
          </p:nvPr>
        </p:nvSpPr>
        <p:spPr>
          <a:xfrm>
            <a:off x="908662" y="1143000"/>
            <a:ext cx="10900750" cy="5562600"/>
          </a:xfrm>
        </p:spPr>
        <p:txBody>
          <a:bodyPr>
            <a:noAutofit/>
          </a:bodyPr>
          <a:lstStyle/>
          <a:p>
            <a:pPr>
              <a:spcBef>
                <a:spcPts val="0"/>
              </a:spcBef>
            </a:pPr>
            <a:r>
              <a:rPr lang="ru-RU" sz="2400" dirty="0" smtClean="0"/>
              <a:t>ОС предоставя специални механизми </a:t>
            </a:r>
            <a:r>
              <a:rPr lang="ru-RU" sz="2400" dirty="0"/>
              <a:t>за </a:t>
            </a:r>
            <a:r>
              <a:rPr lang="ru-RU" sz="2400" dirty="0" smtClean="0"/>
              <a:t>работа с файлове</a:t>
            </a:r>
            <a:r>
              <a:rPr lang="ru-RU" sz="2400" dirty="0"/>
              <a:t>, като </a:t>
            </a:r>
            <a:r>
              <a:rPr lang="ru-RU" sz="2400" dirty="0" smtClean="0"/>
              <a:t>това най-често са отваряне</a:t>
            </a:r>
            <a:r>
              <a:rPr lang="ru-RU" sz="2400" dirty="0"/>
              <a:t>, затваряне, създаване, </a:t>
            </a:r>
            <a:r>
              <a:rPr lang="ru-RU" sz="2400" dirty="0" smtClean="0"/>
              <a:t>изтриване, четене, запис, контрол на достъпа.</a:t>
            </a:r>
          </a:p>
          <a:p>
            <a:pPr lvl="1">
              <a:spcBef>
                <a:spcPts val="0"/>
              </a:spcBef>
            </a:pPr>
            <a:r>
              <a:rPr lang="ru-RU" sz="2000" dirty="0" smtClean="0"/>
              <a:t>Файловете </a:t>
            </a:r>
            <a:r>
              <a:rPr lang="ru-RU" sz="2000" dirty="0"/>
              <a:t>са области за съхранение на програми, изходен код, данни, документи и др</a:t>
            </a:r>
            <a:r>
              <a:rPr lang="ru-RU" sz="2000" dirty="0" smtClean="0"/>
              <a:t>.</a:t>
            </a:r>
          </a:p>
          <a:p>
            <a:pPr lvl="1">
              <a:spcBef>
                <a:spcPts val="0"/>
              </a:spcBef>
            </a:pPr>
            <a:r>
              <a:rPr lang="ru-RU" sz="2000" dirty="0" smtClean="0"/>
              <a:t>Файловете са</a:t>
            </a:r>
            <a:r>
              <a:rPr lang="ru-RU" sz="2000" dirty="0"/>
              <a:t> </a:t>
            </a:r>
            <a:r>
              <a:rPr lang="ru-RU" sz="2000" i="1" dirty="0">
                <a:effectLst>
                  <a:outerShdw blurRad="38100" dist="38100" dir="2700000" algn="tl">
                    <a:srgbClr val="000000">
                      <a:alpha val="43137"/>
                    </a:srgbClr>
                  </a:outerShdw>
                </a:effectLst>
              </a:rPr>
              <a:t>постоянни обекти</a:t>
            </a:r>
            <a:r>
              <a:rPr lang="ru-RU" sz="2000" dirty="0"/>
              <a:t> (англ. </a:t>
            </a:r>
            <a:r>
              <a:rPr lang="en-US" sz="2000" dirty="0"/>
              <a:t>persistent objects</a:t>
            </a:r>
            <a:r>
              <a:rPr lang="bg-BG" sz="2000" dirty="0"/>
              <a:t>).</a:t>
            </a:r>
            <a:endParaRPr lang="ru-RU" sz="2000" dirty="0"/>
          </a:p>
          <a:p>
            <a:pPr lvl="2">
              <a:spcBef>
                <a:spcPts val="0"/>
              </a:spcBef>
            </a:pPr>
            <a:r>
              <a:rPr lang="ru-RU" sz="1800" dirty="0" smtClean="0"/>
              <a:t>Файловете </a:t>
            </a:r>
            <a:r>
              <a:rPr lang="ru-RU" sz="1800" dirty="0"/>
              <a:t>могат да бъдат достъпни от процеси, но не изчезват, когато процесите </a:t>
            </a:r>
            <a:r>
              <a:rPr lang="ru-RU" sz="1800" dirty="0" smtClean="0"/>
              <a:t>преставят да съществуват </a:t>
            </a:r>
            <a:r>
              <a:rPr lang="ru-RU" sz="1800" dirty="0"/>
              <a:t>или когато </a:t>
            </a:r>
            <a:r>
              <a:rPr lang="ru-RU" sz="1800" dirty="0" smtClean="0"/>
              <a:t>компютърът е </a:t>
            </a:r>
            <a:r>
              <a:rPr lang="ru-RU" sz="1800" dirty="0"/>
              <a:t>изключена</a:t>
            </a:r>
            <a:r>
              <a:rPr lang="ru-RU" sz="1800" dirty="0" smtClean="0"/>
              <a:t>.</a:t>
            </a:r>
          </a:p>
          <a:p>
            <a:pPr marL="347663" lvl="2" indent="-347663">
              <a:spcBef>
                <a:spcPts val="0"/>
              </a:spcBef>
              <a:buSzPct val="70000"/>
              <a:buFont typeface="Wingdings" panose="05000000000000000000" pitchFamily="2" charset="2"/>
              <a:buChar char="Ä"/>
            </a:pPr>
            <a:r>
              <a:rPr lang="ru-RU" dirty="0"/>
              <a:t>ОС осигурява съответствие между логическата структура на файловете и физическото разположение върху външните запомнящи устройства (напр. области на твърди дискове, USB и флаш устройства и др.).</a:t>
            </a:r>
          </a:p>
          <a:p>
            <a:pPr lvl="1">
              <a:spcBef>
                <a:spcPts val="0"/>
              </a:spcBef>
            </a:pPr>
            <a:r>
              <a:rPr lang="ru-RU" sz="2000" dirty="0" smtClean="0"/>
              <a:t>ОС трябва </a:t>
            </a:r>
            <a:r>
              <a:rPr lang="ru-RU" sz="2000" dirty="0"/>
              <a:t>да </a:t>
            </a:r>
            <a:r>
              <a:rPr lang="bg-BG" sz="2000" dirty="0" smtClean="0"/>
              <a:t>осигури възможност за промяна на размера на файловете</a:t>
            </a:r>
            <a:r>
              <a:rPr lang="ru-RU" sz="2000" dirty="0" smtClean="0"/>
              <a:t>.</a:t>
            </a:r>
          </a:p>
          <a:p>
            <a:pPr>
              <a:spcBef>
                <a:spcPts val="0"/>
              </a:spcBef>
            </a:pPr>
            <a:r>
              <a:rPr lang="ru-RU" sz="2400" dirty="0" smtClean="0"/>
              <a:t>Повечето ОС позволяват </a:t>
            </a:r>
            <a:r>
              <a:rPr lang="ru-RU" sz="2400" dirty="0"/>
              <a:t>на файловете да имат разрешения, като позволяват достъп до определени типове файлове само на оторизирани потребители</a:t>
            </a:r>
            <a:r>
              <a:rPr lang="ru-RU" sz="2400" dirty="0" smtClean="0"/>
              <a:t>.</a:t>
            </a:r>
          </a:p>
          <a:p>
            <a:pPr lvl="1">
              <a:spcBef>
                <a:spcPts val="0"/>
              </a:spcBef>
            </a:pPr>
            <a:r>
              <a:rPr lang="ru-RU" sz="2000" dirty="0" smtClean="0"/>
              <a:t>Разширението е само за да се реализира специфична форма на оторизация, т.е. разширението не е задължително следствие на съдържанието на файла.</a:t>
            </a:r>
            <a:endParaRPr lang="bg-BG" sz="2000" dirty="0"/>
          </a:p>
        </p:txBody>
      </p:sp>
    </p:spTree>
    <p:extLst>
      <p:ext uri="{BB962C8B-B14F-4D97-AF65-F5344CB8AC3E}">
        <p14:creationId xmlns:p14="http://schemas.microsoft.com/office/powerpoint/2010/main" val="209252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a:t>Потребителски интерфейс</a:t>
            </a:r>
          </a:p>
        </p:txBody>
      </p:sp>
      <p:sp>
        <p:nvSpPr>
          <p:cNvPr id="3" name="Content Placeholder 2"/>
          <p:cNvSpPr>
            <a:spLocks noGrp="1"/>
          </p:cNvSpPr>
          <p:nvPr>
            <p:ph idx="1"/>
          </p:nvPr>
        </p:nvSpPr>
        <p:spPr/>
        <p:txBody>
          <a:bodyPr>
            <a:normAutofit fontScale="85000" lnSpcReduction="10000"/>
          </a:bodyPr>
          <a:lstStyle/>
          <a:p>
            <a:r>
              <a:rPr lang="ru-RU" dirty="0" smtClean="0"/>
              <a:t>Дефиниция:</a:t>
            </a:r>
          </a:p>
          <a:p>
            <a:pPr lvl="1"/>
            <a:r>
              <a:rPr lang="ru-RU" dirty="0" smtClean="0"/>
              <a:t>Потребителският </a:t>
            </a:r>
            <a:r>
              <a:rPr lang="ru-RU" dirty="0"/>
              <a:t>интерфейс (</a:t>
            </a:r>
            <a:r>
              <a:rPr lang="ru-RU" dirty="0" smtClean="0"/>
              <a:t>UI – </a:t>
            </a:r>
            <a:r>
              <a:rPr lang="en-US" dirty="0" smtClean="0"/>
              <a:t>User Interface</a:t>
            </a:r>
            <a:r>
              <a:rPr lang="ru-RU" dirty="0" smtClean="0"/>
              <a:t>) </a:t>
            </a:r>
            <a:r>
              <a:rPr lang="ru-RU" dirty="0"/>
              <a:t>се отнася до частта от програми или устройства, която позволява на потребителя да въвежда и получава </a:t>
            </a:r>
            <a:r>
              <a:rPr lang="ru-RU" dirty="0" smtClean="0"/>
              <a:t>информация.</a:t>
            </a:r>
            <a:endParaRPr lang="en-US" dirty="0" smtClean="0"/>
          </a:p>
          <a:p>
            <a:r>
              <a:rPr lang="ru-RU" dirty="0" smtClean="0"/>
              <a:t>Два </a:t>
            </a:r>
            <a:r>
              <a:rPr lang="ru-RU" dirty="0"/>
              <a:t>типа потребителски </a:t>
            </a:r>
            <a:r>
              <a:rPr lang="ru-RU" dirty="0" smtClean="0"/>
              <a:t>интерфейс</a:t>
            </a:r>
            <a:endParaRPr lang="en-US" dirty="0" smtClean="0"/>
          </a:p>
          <a:p>
            <a:pPr lvl="1"/>
            <a:r>
              <a:rPr lang="ru-RU" dirty="0" smtClean="0"/>
              <a:t>През </a:t>
            </a:r>
            <a:r>
              <a:rPr lang="ru-RU" dirty="0"/>
              <a:t>последното десетилетие почти цялото развитие на потребителските интерфейси беше в областта на </a:t>
            </a:r>
            <a:r>
              <a:rPr lang="ru-RU" u="sng" dirty="0">
                <a:effectLst>
                  <a:outerShdw blurRad="38100" dist="38100" dir="2700000" algn="tl">
                    <a:srgbClr val="000000">
                      <a:alpha val="43137"/>
                    </a:srgbClr>
                  </a:outerShdw>
                </a:effectLst>
              </a:rPr>
              <a:t>графичния потребителски интерфейс </a:t>
            </a:r>
            <a:r>
              <a:rPr lang="ru-RU" dirty="0"/>
              <a:t>(GUI</a:t>
            </a:r>
            <a:r>
              <a:rPr lang="ru-RU" dirty="0" smtClean="0"/>
              <a:t>).</a:t>
            </a:r>
            <a:endParaRPr lang="en-US" dirty="0" smtClean="0"/>
          </a:p>
          <a:p>
            <a:pPr lvl="2"/>
            <a:r>
              <a:rPr lang="ru-RU" dirty="0" smtClean="0"/>
              <a:t>Функциите </a:t>
            </a:r>
            <a:r>
              <a:rPr lang="ru-RU" dirty="0"/>
              <a:t>се изпълняват чрез щракване или преместване на бутони, икони и менюта с помощта на посочващо устройство</a:t>
            </a:r>
            <a:r>
              <a:rPr lang="ru-RU" dirty="0" smtClean="0"/>
              <a:t>.</a:t>
            </a:r>
            <a:endParaRPr lang="en-US" dirty="0" smtClean="0"/>
          </a:p>
          <a:p>
            <a:pPr lvl="2"/>
            <a:r>
              <a:rPr lang="ru-RU" dirty="0" smtClean="0"/>
              <a:t>Има </a:t>
            </a:r>
            <a:r>
              <a:rPr lang="ru-RU" dirty="0"/>
              <a:t>налични услуги, позволяващи на процесите да извършват графична работа.Два модела: Windows на Microsoft и Macintosh на </a:t>
            </a:r>
            <a:r>
              <a:rPr lang="ru-RU" dirty="0" smtClean="0"/>
              <a:t>Apple</a:t>
            </a:r>
            <a:endParaRPr lang="en-US" dirty="0" smtClean="0"/>
          </a:p>
          <a:p>
            <a:pPr lvl="1"/>
            <a:r>
              <a:rPr lang="ru-RU" u="sng" dirty="0" smtClean="0">
                <a:effectLst>
                  <a:outerShdw blurRad="38100" dist="38100" dir="2700000" algn="tl">
                    <a:srgbClr val="000000">
                      <a:alpha val="43137"/>
                    </a:srgbClr>
                  </a:outerShdw>
                </a:effectLst>
              </a:rPr>
              <a:t>Базираният </a:t>
            </a:r>
            <a:r>
              <a:rPr lang="ru-RU" u="sng" dirty="0">
                <a:effectLst>
                  <a:outerShdw blurRad="38100" dist="38100" dir="2700000" algn="tl">
                    <a:srgbClr val="000000">
                      <a:alpha val="43137"/>
                    </a:srgbClr>
                  </a:outerShdw>
                </a:effectLst>
              </a:rPr>
              <a:t>на текст </a:t>
            </a:r>
            <a:r>
              <a:rPr lang="ru-RU" dirty="0"/>
              <a:t>потребителски интерфейс </a:t>
            </a:r>
            <a:r>
              <a:rPr lang="bg-BG" dirty="0" smtClean="0"/>
              <a:t>използва </a:t>
            </a:r>
            <a:r>
              <a:rPr lang="ru-RU" dirty="0" smtClean="0"/>
              <a:t>текстови команди , които се въвеждат </a:t>
            </a:r>
            <a:r>
              <a:rPr lang="ru-RU" dirty="0"/>
              <a:t>на </a:t>
            </a:r>
            <a:r>
              <a:rPr lang="ru-RU" dirty="0" smtClean="0"/>
              <a:t>т.нар. «команден ред» </a:t>
            </a:r>
            <a:r>
              <a:rPr lang="ru-RU" dirty="0"/>
              <a:t>с помощта на клавиатура</a:t>
            </a:r>
            <a:r>
              <a:rPr lang="ru-RU" dirty="0" smtClean="0"/>
              <a:t>.</a:t>
            </a:r>
            <a:endParaRPr lang="en-US" dirty="0" smtClean="0"/>
          </a:p>
          <a:p>
            <a:pPr lvl="2"/>
            <a:r>
              <a:rPr lang="ru-RU" dirty="0" smtClean="0"/>
              <a:t>Интерфейсът </a:t>
            </a:r>
            <a:r>
              <a:rPr lang="ru-RU" dirty="0"/>
              <a:t>на командния ред е интерфейс на </a:t>
            </a:r>
            <a:r>
              <a:rPr lang="ru-RU" dirty="0" smtClean="0"/>
              <a:t>ОС </a:t>
            </a:r>
            <a:r>
              <a:rPr lang="ru-RU" dirty="0"/>
              <a:t>от стар стил.</a:t>
            </a:r>
            <a:endParaRPr lang="bg-BG" dirty="0"/>
          </a:p>
        </p:txBody>
      </p:sp>
    </p:spTree>
    <p:extLst>
      <p:ext uri="{BB962C8B-B14F-4D97-AF65-F5344CB8AC3E}">
        <p14:creationId xmlns:p14="http://schemas.microsoft.com/office/powerpoint/2010/main" val="3088753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a:t>Потребителски интерфейс</a:t>
            </a:r>
          </a:p>
        </p:txBody>
      </p:sp>
      <p:sp>
        <p:nvSpPr>
          <p:cNvPr id="3" name="Content Placeholder 2"/>
          <p:cNvSpPr>
            <a:spLocks noGrp="1"/>
          </p:cNvSpPr>
          <p:nvPr>
            <p:ph idx="1"/>
          </p:nvPr>
        </p:nvSpPr>
        <p:spPr/>
        <p:txBody>
          <a:bodyPr>
            <a:normAutofit fontScale="77500" lnSpcReduction="20000"/>
          </a:bodyPr>
          <a:lstStyle/>
          <a:p>
            <a:pPr>
              <a:lnSpc>
                <a:spcPct val="120000"/>
              </a:lnSpc>
              <a:spcBef>
                <a:spcPts val="0"/>
              </a:spcBef>
            </a:pPr>
            <a:r>
              <a:rPr lang="ru-RU" dirty="0"/>
              <a:t>Повечето GUI интерфейси предоставят абстрактна концепция, известна като „</a:t>
            </a:r>
            <a:r>
              <a:rPr lang="ru-RU" i="1" dirty="0">
                <a:effectLst>
                  <a:outerShdw blurRad="38100" dist="38100" dir="2700000" algn="tl">
                    <a:srgbClr val="000000">
                      <a:alpha val="43137"/>
                    </a:srgbClr>
                  </a:outerShdw>
                </a:effectLst>
              </a:rPr>
              <a:t>прозорец</a:t>
            </a:r>
            <a:r>
              <a:rPr lang="ru-RU" dirty="0" smtClean="0"/>
              <a:t>“.</a:t>
            </a:r>
          </a:p>
          <a:p>
            <a:pPr lvl="1">
              <a:lnSpc>
                <a:spcPct val="120000"/>
              </a:lnSpc>
              <a:spcBef>
                <a:spcPts val="0"/>
              </a:spcBef>
            </a:pPr>
            <a:r>
              <a:rPr lang="ru-RU" dirty="0" smtClean="0"/>
              <a:t>Прозорецът </a:t>
            </a:r>
            <a:r>
              <a:rPr lang="ru-RU" dirty="0"/>
              <a:t>е </a:t>
            </a:r>
            <a:r>
              <a:rPr lang="ru-RU" dirty="0" smtClean="0"/>
              <a:t>логическа концепция, реализирана като правоъгълна </a:t>
            </a:r>
            <a:r>
              <a:rPr lang="ru-RU" dirty="0"/>
              <a:t>зона за </a:t>
            </a:r>
            <a:r>
              <a:rPr lang="ru-RU" dirty="0" smtClean="0"/>
              <a:t>визуализиране.</a:t>
            </a:r>
          </a:p>
          <a:p>
            <a:pPr lvl="1">
              <a:lnSpc>
                <a:spcPct val="120000"/>
              </a:lnSpc>
              <a:spcBef>
                <a:spcPts val="0"/>
              </a:spcBef>
            </a:pPr>
            <a:r>
              <a:rPr lang="ru-RU" dirty="0" smtClean="0"/>
              <a:t>Процесите </a:t>
            </a:r>
            <a:r>
              <a:rPr lang="ru-RU" dirty="0"/>
              <a:t>могат да създават един или повече прозорци с произволен размер</a:t>
            </a:r>
            <a:r>
              <a:rPr lang="ru-RU" dirty="0" smtClean="0"/>
              <a:t>.</a:t>
            </a:r>
            <a:r>
              <a:rPr lang="ru-RU" dirty="0"/>
              <a:t> </a:t>
            </a:r>
            <a:endParaRPr lang="ru-RU" dirty="0" smtClean="0"/>
          </a:p>
          <a:p>
            <a:pPr lvl="2">
              <a:lnSpc>
                <a:spcPct val="120000"/>
              </a:lnSpc>
              <a:spcBef>
                <a:spcPts val="0"/>
              </a:spcBef>
            </a:pPr>
            <a:r>
              <a:rPr lang="ru-RU" dirty="0" smtClean="0"/>
              <a:t>О</a:t>
            </a:r>
            <a:r>
              <a:rPr lang="bg-BG" dirty="0" smtClean="0"/>
              <a:t>С създава съответствие между </a:t>
            </a:r>
            <a:r>
              <a:rPr lang="ru-RU" dirty="0" smtClean="0"/>
              <a:t>логически </a:t>
            </a:r>
            <a:r>
              <a:rPr lang="ru-RU" dirty="0"/>
              <a:t>прозорци </a:t>
            </a:r>
            <a:r>
              <a:rPr lang="ru-RU" dirty="0" smtClean="0"/>
              <a:t>и физическата </a:t>
            </a:r>
            <a:r>
              <a:rPr lang="ru-RU" dirty="0"/>
              <a:t>област на </a:t>
            </a:r>
            <a:r>
              <a:rPr lang="ru-RU" dirty="0" smtClean="0"/>
              <a:t>дисплея: това включва както разположение, така и подреждане по дълбочина (т.е. кой е най-отпред).</a:t>
            </a:r>
            <a:endParaRPr lang="bg-BG" dirty="0"/>
          </a:p>
          <a:p>
            <a:pPr lvl="1">
              <a:lnSpc>
                <a:spcPct val="120000"/>
              </a:lnSpc>
              <a:spcBef>
                <a:spcPts val="0"/>
              </a:spcBef>
            </a:pPr>
            <a:r>
              <a:rPr lang="ru-RU" dirty="0" smtClean="0"/>
              <a:t>ОС осигурява </a:t>
            </a:r>
            <a:r>
              <a:rPr lang="ru-RU" dirty="0"/>
              <a:t>различна функционалност </a:t>
            </a:r>
            <a:r>
              <a:rPr lang="ru-RU" dirty="0" smtClean="0"/>
              <a:t>на «прозореца» според целта на създаване на прозореца: </a:t>
            </a:r>
          </a:p>
          <a:p>
            <a:pPr lvl="2">
              <a:lnSpc>
                <a:spcPct val="120000"/>
              </a:lnSpc>
              <a:spcBef>
                <a:spcPts val="0"/>
              </a:spcBef>
            </a:pPr>
            <a:r>
              <a:rPr lang="ru-RU" dirty="0" smtClean="0"/>
              <a:t>различен вид и граници на прозореца; </a:t>
            </a:r>
          </a:p>
          <a:p>
            <a:pPr lvl="2">
              <a:lnSpc>
                <a:spcPct val="120000"/>
              </a:lnSpc>
              <a:spcBef>
                <a:spcPts val="0"/>
              </a:spcBef>
            </a:pPr>
            <a:r>
              <a:rPr lang="ru-RU" dirty="0" smtClean="0"/>
              <a:t>наличие на «икони»,</a:t>
            </a:r>
            <a:r>
              <a:rPr lang="ru-RU" dirty="0"/>
              <a:t> които позволяват прозорецът да бъде унищожен, преоразмерен или </a:t>
            </a:r>
            <a:r>
              <a:rPr lang="ru-RU" dirty="0" smtClean="0"/>
              <a:t>скрит;</a:t>
            </a:r>
          </a:p>
          <a:p>
            <a:pPr lvl="2">
              <a:lnSpc>
                <a:spcPct val="120000"/>
              </a:lnSpc>
              <a:spcBef>
                <a:spcPts val="0"/>
              </a:spcBef>
            </a:pPr>
            <a:r>
              <a:rPr lang="ru-RU" dirty="0" smtClean="0"/>
              <a:t>Управление на достъпа до полето на прозореца.</a:t>
            </a:r>
          </a:p>
          <a:p>
            <a:pPr>
              <a:lnSpc>
                <a:spcPct val="120000"/>
              </a:lnSpc>
              <a:spcBef>
                <a:spcPts val="0"/>
              </a:spcBef>
            </a:pPr>
            <a:r>
              <a:rPr lang="ru-RU" dirty="0" smtClean="0"/>
              <a:t>Фокус на въвеждане</a:t>
            </a:r>
          </a:p>
          <a:p>
            <a:pPr lvl="1">
              <a:lnSpc>
                <a:spcPct val="120000"/>
              </a:lnSpc>
              <a:spcBef>
                <a:spcPts val="0"/>
              </a:spcBef>
            </a:pPr>
            <a:r>
              <a:rPr lang="ru-RU" dirty="0" smtClean="0"/>
              <a:t>ОС има специални правила за насочване на </a:t>
            </a:r>
            <a:r>
              <a:rPr lang="ru-RU" dirty="0"/>
              <a:t>входа от потребителя </a:t>
            </a:r>
            <a:r>
              <a:rPr lang="ru-RU" dirty="0" smtClean="0"/>
              <a:t>(т.е. въвеждане </a:t>
            </a:r>
            <a:r>
              <a:rPr lang="ru-RU" dirty="0"/>
              <a:t>от </a:t>
            </a:r>
            <a:r>
              <a:rPr lang="ru-RU" dirty="0" smtClean="0"/>
              <a:t>клавиатурата, операции </a:t>
            </a:r>
            <a:r>
              <a:rPr lang="ru-RU" dirty="0"/>
              <a:t>с </a:t>
            </a:r>
            <a:r>
              <a:rPr lang="ru-RU" dirty="0" smtClean="0"/>
              <a:t>мишката и др.) </a:t>
            </a:r>
            <a:r>
              <a:rPr lang="ru-RU" dirty="0"/>
              <a:t>към съответния </a:t>
            </a:r>
            <a:r>
              <a:rPr lang="ru-RU" dirty="0" smtClean="0"/>
              <a:t>прозорец.</a:t>
            </a:r>
          </a:p>
        </p:txBody>
      </p:sp>
    </p:spTree>
    <p:extLst>
      <p:ext uri="{BB962C8B-B14F-4D97-AF65-F5344CB8AC3E}">
        <p14:creationId xmlns:p14="http://schemas.microsoft.com/office/powerpoint/2010/main" val="986346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Programming Interface (API)</a:t>
            </a:r>
            <a:endParaRPr lang="bg-BG" dirty="0"/>
          </a:p>
        </p:txBody>
      </p:sp>
      <p:sp>
        <p:nvSpPr>
          <p:cNvPr id="3" name="Content Placeholder 2"/>
          <p:cNvSpPr>
            <a:spLocks noGrp="1"/>
          </p:cNvSpPr>
          <p:nvPr>
            <p:ph idx="1"/>
          </p:nvPr>
        </p:nvSpPr>
        <p:spPr>
          <a:xfrm>
            <a:off x="908662" y="1143000"/>
            <a:ext cx="10900750" cy="5638800"/>
          </a:xfrm>
        </p:spPr>
        <p:txBody>
          <a:bodyPr>
            <a:normAutofit fontScale="77500" lnSpcReduction="20000"/>
          </a:bodyPr>
          <a:lstStyle/>
          <a:p>
            <a:pPr>
              <a:lnSpc>
                <a:spcPct val="120000"/>
              </a:lnSpc>
              <a:spcBef>
                <a:spcPts val="0"/>
              </a:spcBef>
            </a:pPr>
            <a:r>
              <a:rPr lang="ru-RU" dirty="0"/>
              <a:t>Какво е API</a:t>
            </a:r>
            <a:r>
              <a:rPr lang="ru-RU" dirty="0" smtClean="0"/>
              <a:t>?</a:t>
            </a:r>
            <a:endParaRPr lang="en-US" dirty="0" smtClean="0"/>
          </a:p>
          <a:p>
            <a:pPr lvl="1">
              <a:lnSpc>
                <a:spcPct val="120000"/>
              </a:lnSpc>
              <a:spcBef>
                <a:spcPts val="0"/>
              </a:spcBef>
            </a:pPr>
            <a:r>
              <a:rPr lang="ru-RU" dirty="0" smtClean="0"/>
              <a:t>API </a:t>
            </a:r>
            <a:r>
              <a:rPr lang="en-US" dirty="0" smtClean="0"/>
              <a:t>e </a:t>
            </a:r>
            <a:r>
              <a:rPr lang="ru-RU" dirty="0" smtClean="0"/>
              <a:t>механизм, </a:t>
            </a:r>
            <a:r>
              <a:rPr lang="ru-RU" dirty="0"/>
              <a:t>които </a:t>
            </a:r>
            <a:r>
              <a:rPr lang="ru-RU" dirty="0" smtClean="0"/>
              <a:t>дава </a:t>
            </a:r>
            <a:r>
              <a:rPr lang="ru-RU" dirty="0"/>
              <a:t>възможност на два софтуерни компонента да комуникират помежду си, използвайки набор от дефиниции и протоколи</a:t>
            </a:r>
            <a:r>
              <a:rPr lang="ru-RU" dirty="0" smtClean="0"/>
              <a:t>.</a:t>
            </a:r>
          </a:p>
          <a:p>
            <a:pPr>
              <a:lnSpc>
                <a:spcPct val="120000"/>
              </a:lnSpc>
              <a:spcBef>
                <a:spcPts val="0"/>
              </a:spcBef>
            </a:pPr>
            <a:r>
              <a:rPr lang="ru-RU" dirty="0"/>
              <a:t>API означава интерфейс за програмиране на приложения. </a:t>
            </a:r>
            <a:endParaRPr lang="ru-RU" dirty="0" smtClean="0"/>
          </a:p>
          <a:p>
            <a:pPr lvl="1">
              <a:lnSpc>
                <a:spcPct val="120000"/>
              </a:lnSpc>
              <a:spcBef>
                <a:spcPts val="0"/>
              </a:spcBef>
            </a:pPr>
            <a:r>
              <a:rPr lang="ru-RU" dirty="0" smtClean="0"/>
              <a:t>В </a:t>
            </a:r>
            <a:r>
              <a:rPr lang="ru-RU" dirty="0"/>
              <a:t>контекста на API, думата приложение се отнася до всеки софтуер с ясно изразена функция. </a:t>
            </a:r>
            <a:endParaRPr lang="ru-RU" dirty="0" smtClean="0"/>
          </a:p>
          <a:p>
            <a:pPr lvl="1">
              <a:lnSpc>
                <a:spcPct val="120000"/>
              </a:lnSpc>
              <a:spcBef>
                <a:spcPts val="0"/>
              </a:spcBef>
            </a:pPr>
            <a:r>
              <a:rPr lang="ru-RU" dirty="0" smtClean="0"/>
              <a:t>Интерфейсът </a:t>
            </a:r>
            <a:r>
              <a:rPr lang="ru-RU" dirty="0"/>
              <a:t>може да се мисли като договор за услуга между две приложения. </a:t>
            </a:r>
            <a:endParaRPr lang="ru-RU" dirty="0" smtClean="0"/>
          </a:p>
          <a:p>
            <a:pPr lvl="2">
              <a:lnSpc>
                <a:spcPct val="120000"/>
              </a:lnSpc>
              <a:spcBef>
                <a:spcPts val="0"/>
              </a:spcBef>
            </a:pPr>
            <a:r>
              <a:rPr lang="ru-RU" dirty="0" smtClean="0"/>
              <a:t>Този </a:t>
            </a:r>
            <a:r>
              <a:rPr lang="ru-RU" dirty="0"/>
              <a:t>договор определя как двамата общуват помежду си, използвайки заявки и отговори. </a:t>
            </a:r>
            <a:endParaRPr lang="ru-RU" dirty="0" smtClean="0"/>
          </a:p>
          <a:p>
            <a:pPr lvl="1">
              <a:lnSpc>
                <a:spcPct val="120000"/>
              </a:lnSpc>
              <a:spcBef>
                <a:spcPts val="0"/>
              </a:spcBef>
            </a:pPr>
            <a:r>
              <a:rPr lang="ru-RU" dirty="0" smtClean="0"/>
              <a:t>Документация </a:t>
            </a:r>
            <a:r>
              <a:rPr lang="ru-RU" dirty="0"/>
              <a:t>за API съдържа информация за това как са </a:t>
            </a:r>
            <a:r>
              <a:rPr lang="ru-RU" dirty="0" smtClean="0"/>
              <a:t>структурирани данни и командите при заявки </a:t>
            </a:r>
            <a:r>
              <a:rPr lang="ru-RU" dirty="0"/>
              <a:t>и отговори</a:t>
            </a:r>
            <a:r>
              <a:rPr lang="ru-RU" dirty="0" smtClean="0"/>
              <a:t>.</a:t>
            </a:r>
          </a:p>
          <a:p>
            <a:pPr>
              <a:lnSpc>
                <a:spcPct val="120000"/>
              </a:lnSpc>
              <a:spcBef>
                <a:spcPts val="0"/>
              </a:spcBef>
            </a:pPr>
            <a:r>
              <a:rPr lang="ru-RU" dirty="0" smtClean="0"/>
              <a:t>Основен механизъм на работа</a:t>
            </a:r>
          </a:p>
          <a:p>
            <a:pPr lvl="1">
              <a:lnSpc>
                <a:spcPct val="120000"/>
              </a:lnSpc>
              <a:spcBef>
                <a:spcPts val="0"/>
              </a:spcBef>
            </a:pPr>
            <a:r>
              <a:rPr lang="ru-RU" dirty="0" smtClean="0"/>
              <a:t>API </a:t>
            </a:r>
            <a:r>
              <a:rPr lang="ru-RU" dirty="0"/>
              <a:t>архитектурата обикновено се обяснява по отношение на клиента и сървъра. </a:t>
            </a:r>
            <a:endParaRPr lang="ru-RU" dirty="0" smtClean="0"/>
          </a:p>
          <a:p>
            <a:pPr lvl="2">
              <a:lnSpc>
                <a:spcPct val="120000"/>
              </a:lnSpc>
              <a:spcBef>
                <a:spcPts val="0"/>
              </a:spcBef>
            </a:pPr>
            <a:r>
              <a:rPr lang="ru-RU" dirty="0" smtClean="0"/>
              <a:t>Приложението</a:t>
            </a:r>
            <a:r>
              <a:rPr lang="ru-RU" dirty="0"/>
              <a:t>, </a:t>
            </a:r>
            <a:r>
              <a:rPr lang="ru-RU" dirty="0" smtClean="0"/>
              <a:t>което изпраща заявката </a:t>
            </a:r>
            <a:r>
              <a:rPr lang="ru-RU" dirty="0"/>
              <a:t>се нарича </a:t>
            </a:r>
            <a:r>
              <a:rPr lang="ru-RU" dirty="0" smtClean="0"/>
              <a:t>«</a:t>
            </a:r>
            <a:r>
              <a:rPr lang="ru-RU" i="1" dirty="0" smtClean="0">
                <a:effectLst>
                  <a:outerShdw blurRad="38100" dist="38100" dir="2700000" algn="tl">
                    <a:srgbClr val="000000">
                      <a:alpha val="43137"/>
                    </a:srgbClr>
                  </a:outerShdw>
                </a:effectLst>
              </a:rPr>
              <a:t>клиент</a:t>
            </a:r>
            <a:r>
              <a:rPr lang="ru-RU" dirty="0" smtClean="0"/>
              <a:t>».</a:t>
            </a:r>
          </a:p>
          <a:p>
            <a:pPr lvl="2">
              <a:lnSpc>
                <a:spcPct val="120000"/>
              </a:lnSpc>
              <a:spcBef>
                <a:spcPts val="0"/>
              </a:spcBef>
            </a:pPr>
            <a:r>
              <a:rPr lang="ru-RU" dirty="0" smtClean="0"/>
              <a:t>Приложението, </a:t>
            </a:r>
            <a:r>
              <a:rPr lang="ru-RU" dirty="0"/>
              <a:t>което </a:t>
            </a:r>
            <a:r>
              <a:rPr lang="ru-RU" dirty="0" smtClean="0"/>
              <a:t>отработва заявката и връща отговор </a:t>
            </a:r>
            <a:r>
              <a:rPr lang="ru-RU" dirty="0"/>
              <a:t>се нарича </a:t>
            </a:r>
            <a:r>
              <a:rPr lang="ru-RU" dirty="0" smtClean="0"/>
              <a:t>«</a:t>
            </a:r>
            <a:r>
              <a:rPr lang="ru-RU" i="1" dirty="0" smtClean="0">
                <a:effectLst>
                  <a:outerShdw blurRad="38100" dist="38100" dir="2700000" algn="tl">
                    <a:srgbClr val="000000">
                      <a:alpha val="43137"/>
                    </a:srgbClr>
                  </a:outerShdw>
                </a:effectLst>
              </a:rPr>
              <a:t>сървър</a:t>
            </a:r>
            <a:r>
              <a:rPr lang="ru-RU" dirty="0" smtClean="0"/>
              <a:t>».</a:t>
            </a:r>
          </a:p>
          <a:p>
            <a:pPr lvl="1">
              <a:lnSpc>
                <a:spcPct val="120000"/>
              </a:lnSpc>
              <a:spcBef>
                <a:spcPts val="0"/>
              </a:spcBef>
            </a:pPr>
            <a:r>
              <a:rPr lang="en-US" dirty="0" smtClean="0"/>
              <a:t>API </a:t>
            </a:r>
            <a:r>
              <a:rPr lang="bg-BG" dirty="0" smtClean="0"/>
              <a:t>могат да се интегрират и това се реализира чрез </a:t>
            </a:r>
            <a:r>
              <a:rPr lang="ru-RU" dirty="0" smtClean="0"/>
              <a:t>специални </a:t>
            </a:r>
            <a:r>
              <a:rPr lang="ru-RU" dirty="0"/>
              <a:t>софтуерни компоненти, които автоматично актуализират данни между клиенти и сървъри.</a:t>
            </a:r>
            <a:endParaRPr lang="bg-BG" dirty="0"/>
          </a:p>
        </p:txBody>
      </p:sp>
    </p:spTree>
    <p:extLst>
      <p:ext uri="{BB962C8B-B14F-4D97-AF65-F5344CB8AC3E}">
        <p14:creationId xmlns:p14="http://schemas.microsoft.com/office/powerpoint/2010/main" val="2010547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Programming Interface (API)</a:t>
            </a:r>
            <a:endParaRPr lang="bg-BG" dirty="0"/>
          </a:p>
        </p:txBody>
      </p:sp>
      <p:sp>
        <p:nvSpPr>
          <p:cNvPr id="3" name="Content Placeholder 2"/>
          <p:cNvSpPr>
            <a:spLocks noGrp="1"/>
          </p:cNvSpPr>
          <p:nvPr>
            <p:ph idx="1"/>
          </p:nvPr>
        </p:nvSpPr>
        <p:spPr/>
        <p:txBody>
          <a:bodyPr>
            <a:normAutofit fontScale="85000" lnSpcReduction="10000"/>
          </a:bodyPr>
          <a:lstStyle/>
          <a:p>
            <a:r>
              <a:rPr lang="ru-RU" dirty="0"/>
              <a:t>API </a:t>
            </a:r>
            <a:r>
              <a:rPr lang="ru-RU" dirty="0" smtClean="0"/>
              <a:t>се състои </a:t>
            </a:r>
            <a:r>
              <a:rPr lang="ru-RU" dirty="0"/>
              <a:t>от два </a:t>
            </a:r>
            <a:r>
              <a:rPr lang="ru-RU" dirty="0" smtClean="0"/>
              <a:t>компонента:</a:t>
            </a:r>
          </a:p>
          <a:p>
            <a:pPr lvl="1"/>
            <a:r>
              <a:rPr lang="ru-RU" dirty="0" smtClean="0"/>
              <a:t>Техническа </a:t>
            </a:r>
            <a:r>
              <a:rPr lang="ru-RU" dirty="0"/>
              <a:t>спецификация, описване на опциите за обмен на данни между </a:t>
            </a:r>
            <a:r>
              <a:rPr lang="ru-RU" dirty="0" smtClean="0"/>
              <a:t>процесите</a:t>
            </a:r>
          </a:p>
          <a:p>
            <a:pPr lvl="2"/>
            <a:r>
              <a:rPr lang="ru-RU" dirty="0" smtClean="0"/>
              <a:t>Най-често се реализира като спецификации, направени </a:t>
            </a:r>
            <a:r>
              <a:rPr lang="ru-RU" dirty="0"/>
              <a:t>под формата на </a:t>
            </a:r>
            <a:r>
              <a:rPr lang="ru-RU" dirty="0" smtClean="0"/>
              <a:t>заявки </a:t>
            </a:r>
            <a:r>
              <a:rPr lang="ru-RU" dirty="0"/>
              <a:t>за обработка и протоколи за доставяне на </a:t>
            </a:r>
            <a:r>
              <a:rPr lang="ru-RU" dirty="0" smtClean="0"/>
              <a:t>данни</a:t>
            </a:r>
          </a:p>
          <a:p>
            <a:pPr lvl="1"/>
            <a:r>
              <a:rPr lang="ru-RU" dirty="0" smtClean="0"/>
              <a:t>Софтуерен </a:t>
            </a:r>
            <a:r>
              <a:rPr lang="ru-RU" dirty="0"/>
              <a:t>интерфейс, написан </a:t>
            </a:r>
            <a:r>
              <a:rPr lang="ru-RU" dirty="0" smtClean="0"/>
              <a:t>да отговаря на спецификацията.</a:t>
            </a:r>
            <a:endParaRPr lang="en-US" dirty="0" smtClean="0"/>
          </a:p>
          <a:p>
            <a:r>
              <a:rPr lang="bg-BG" dirty="0" smtClean="0"/>
              <a:t>Извикване на </a:t>
            </a:r>
            <a:r>
              <a:rPr lang="ru-RU" dirty="0" smtClean="0"/>
              <a:t>API функция</a:t>
            </a:r>
            <a:endParaRPr lang="en-US" dirty="0" smtClean="0"/>
          </a:p>
          <a:p>
            <a:pPr lvl="1"/>
            <a:r>
              <a:rPr lang="ru-RU" dirty="0" smtClean="0"/>
              <a:t>Всяко </a:t>
            </a:r>
            <a:r>
              <a:rPr lang="ru-RU" dirty="0"/>
              <a:t>API съдържа и се реализира чрез </a:t>
            </a:r>
            <a:r>
              <a:rPr lang="ru-RU" dirty="0" smtClean="0"/>
              <a:t>извиквания на подпрограми или методи, които са реализирани според правилата на конкретен език за програмиране.</a:t>
            </a:r>
          </a:p>
          <a:p>
            <a:pPr lvl="1"/>
            <a:r>
              <a:rPr lang="ru-RU" dirty="0" smtClean="0"/>
              <a:t>Всяко </a:t>
            </a:r>
            <a:r>
              <a:rPr lang="en-US" dirty="0" smtClean="0"/>
              <a:t>API</a:t>
            </a:r>
            <a:r>
              <a:rPr lang="bg-BG" dirty="0" smtClean="0"/>
              <a:t>-извикване е насочено към точно </a:t>
            </a:r>
            <a:r>
              <a:rPr lang="ru-RU" dirty="0" smtClean="0"/>
              <a:t>конкретно действие </a:t>
            </a:r>
            <a:r>
              <a:rPr lang="ru-RU" dirty="0"/>
              <a:t>и </a:t>
            </a:r>
            <a:r>
              <a:rPr lang="ru-RU" dirty="0" smtClean="0"/>
              <a:t>услуга. </a:t>
            </a:r>
          </a:p>
          <a:p>
            <a:pPr lvl="2"/>
            <a:r>
              <a:rPr lang="ru-RU" dirty="0" smtClean="0"/>
              <a:t>Функционалните извиквания се описват с глагол и съществително, </a:t>
            </a:r>
            <a:r>
              <a:rPr lang="ru-RU" dirty="0"/>
              <a:t>които </a:t>
            </a:r>
            <a:r>
              <a:rPr lang="ru-RU" dirty="0" smtClean="0"/>
              <a:t>задават обекта и действието върху него.</a:t>
            </a:r>
          </a:p>
          <a:p>
            <a:pPr lvl="2"/>
            <a:r>
              <a:rPr lang="ru-RU" dirty="0" smtClean="0"/>
              <a:t>Пример: Стартиране или завършване на сесия; Съхраняване на данни; Прехвърляне на данни към БД и др.</a:t>
            </a:r>
          </a:p>
        </p:txBody>
      </p:sp>
    </p:spTree>
    <p:extLst>
      <p:ext uri="{BB962C8B-B14F-4D97-AF65-F5344CB8AC3E}">
        <p14:creationId xmlns:p14="http://schemas.microsoft.com/office/powerpoint/2010/main" val="190181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API</a:t>
            </a:r>
            <a:r>
              <a:rPr lang="bg-BG" dirty="0"/>
              <a:t> </a:t>
            </a:r>
            <a:r>
              <a:rPr lang="bg-BG" dirty="0" smtClean="0"/>
              <a:t>класификация по области на приложение</a:t>
            </a:r>
            <a:endParaRPr lang="bg-BG" dirty="0"/>
          </a:p>
        </p:txBody>
      </p:sp>
      <p:sp>
        <p:nvSpPr>
          <p:cNvPr id="3" name="Content Placeholder 2"/>
          <p:cNvSpPr>
            <a:spLocks noGrp="1"/>
          </p:cNvSpPr>
          <p:nvPr>
            <p:ph idx="1"/>
          </p:nvPr>
        </p:nvSpPr>
        <p:spPr>
          <a:xfrm>
            <a:off x="908662" y="1143000"/>
            <a:ext cx="10900750" cy="5638800"/>
          </a:xfrm>
        </p:spPr>
        <p:txBody>
          <a:bodyPr>
            <a:normAutofit/>
          </a:bodyPr>
          <a:lstStyle/>
          <a:p>
            <a:pPr>
              <a:spcBef>
                <a:spcPts val="0"/>
              </a:spcBef>
            </a:pPr>
            <a:r>
              <a:rPr lang="bg-BG" sz="2800" dirty="0" smtClean="0"/>
              <a:t>Класификация според областта на приложение:</a:t>
            </a:r>
          </a:p>
          <a:p>
            <a:pPr lvl="1">
              <a:spcBef>
                <a:spcPts val="0"/>
              </a:spcBef>
            </a:pPr>
            <a:r>
              <a:rPr lang="ru-RU" sz="2400" dirty="0"/>
              <a:t>API на база </a:t>
            </a:r>
            <a:r>
              <a:rPr lang="ru-RU" sz="2400" dirty="0" smtClean="0"/>
              <a:t>данни </a:t>
            </a:r>
          </a:p>
          <a:p>
            <a:pPr lvl="2">
              <a:spcBef>
                <a:spcPts val="0"/>
              </a:spcBef>
            </a:pPr>
            <a:r>
              <a:rPr lang="ru-RU" sz="2000" dirty="0" smtClean="0"/>
              <a:t>Целта е да може да се реализира комуникация </a:t>
            </a:r>
            <a:r>
              <a:rPr lang="ru-RU" sz="2000" dirty="0"/>
              <a:t>между приложение и система за управление на базата данни. </a:t>
            </a:r>
            <a:endParaRPr lang="ru-RU" sz="2000" dirty="0" smtClean="0"/>
          </a:p>
          <a:p>
            <a:pPr lvl="2">
              <a:spcBef>
                <a:spcPts val="0"/>
              </a:spcBef>
            </a:pPr>
            <a:r>
              <a:rPr lang="ru-RU" sz="2000" dirty="0" smtClean="0"/>
              <a:t>Разработчиците </a:t>
            </a:r>
            <a:r>
              <a:rPr lang="ru-RU" sz="2000" dirty="0"/>
              <a:t>работят с бази данни, като пишат заявки за достъп до данни, смяна на таблици и др. </a:t>
            </a:r>
            <a:endParaRPr lang="ru-RU" sz="2000" dirty="0" smtClean="0"/>
          </a:p>
          <a:p>
            <a:pPr lvl="2">
              <a:spcBef>
                <a:spcPts val="0"/>
              </a:spcBef>
            </a:pPr>
            <a:r>
              <a:rPr lang="ru-RU" sz="2000" dirty="0" smtClean="0"/>
              <a:t>Пример: API </a:t>
            </a:r>
            <a:r>
              <a:rPr lang="ru-RU" sz="2000" dirty="0"/>
              <a:t>на базата данни Drupal </a:t>
            </a:r>
            <a:r>
              <a:rPr lang="ru-RU" sz="2000" dirty="0" smtClean="0"/>
              <a:t>7 позволява </a:t>
            </a:r>
            <a:r>
              <a:rPr lang="ru-RU" sz="2000" dirty="0"/>
              <a:t>на потребителите да </a:t>
            </a:r>
            <a:r>
              <a:rPr lang="ru-RU" sz="2000" dirty="0" smtClean="0"/>
              <a:t>се пишат заявки </a:t>
            </a:r>
            <a:r>
              <a:rPr lang="ru-RU" sz="2000" dirty="0"/>
              <a:t>за различни бази </a:t>
            </a:r>
            <a:r>
              <a:rPr lang="ru-RU" sz="2000" dirty="0" smtClean="0"/>
              <a:t>данни (</a:t>
            </a:r>
            <a:r>
              <a:rPr lang="ru-RU" sz="2000" dirty="0"/>
              <a:t>Oracle, </a:t>
            </a:r>
            <a:r>
              <a:rPr lang="ru-RU" sz="2000" dirty="0" smtClean="0"/>
              <a:t>MySQL</a:t>
            </a:r>
            <a:r>
              <a:rPr lang="ru-RU" sz="2000" dirty="0"/>
              <a:t>, CouchdB и </a:t>
            </a:r>
            <a:r>
              <a:rPr lang="ru-RU" sz="2000" dirty="0" smtClean="0"/>
              <a:t>други).</a:t>
            </a:r>
          </a:p>
          <a:p>
            <a:pPr lvl="2">
              <a:spcBef>
                <a:spcPts val="0"/>
              </a:spcBef>
            </a:pPr>
            <a:r>
              <a:rPr lang="ru-RU" sz="2000" dirty="0" smtClean="0"/>
              <a:t>Пример: Ords </a:t>
            </a:r>
            <a:r>
              <a:rPr lang="ru-RU" sz="2000" dirty="0"/>
              <a:t>Database </a:t>
            </a:r>
            <a:r>
              <a:rPr lang="ru-RU" sz="2000" dirty="0" smtClean="0"/>
              <a:t>API е </a:t>
            </a:r>
            <a:r>
              <a:rPr lang="ru-RU" sz="2000" dirty="0"/>
              <a:t>вграден в Oracle </a:t>
            </a:r>
            <a:r>
              <a:rPr lang="ru-RU" sz="2000" dirty="0" smtClean="0"/>
              <a:t>Data </a:t>
            </a:r>
            <a:r>
              <a:rPr lang="ru-RU" sz="2000" dirty="0"/>
              <a:t>Services</a:t>
            </a:r>
            <a:r>
              <a:rPr lang="ru-RU" sz="2000" dirty="0" smtClean="0"/>
              <a:t>.</a:t>
            </a:r>
          </a:p>
          <a:p>
            <a:pPr lvl="1">
              <a:spcBef>
                <a:spcPts val="0"/>
              </a:spcBef>
            </a:pPr>
            <a:r>
              <a:rPr lang="ru-RU" sz="2400" dirty="0"/>
              <a:t>API на операционни </a:t>
            </a:r>
            <a:r>
              <a:rPr lang="ru-RU" sz="2400" dirty="0" smtClean="0"/>
              <a:t>системи </a:t>
            </a:r>
            <a:endParaRPr lang="ru-RU" sz="2400" dirty="0"/>
          </a:p>
          <a:p>
            <a:pPr lvl="2">
              <a:spcBef>
                <a:spcPts val="0"/>
              </a:spcBef>
            </a:pPr>
            <a:r>
              <a:rPr lang="ru-RU" sz="2000" dirty="0"/>
              <a:t>Тази група API </a:t>
            </a:r>
            <a:r>
              <a:rPr lang="ru-RU" sz="2000" dirty="0" smtClean="0"/>
              <a:t>дефинира как </a:t>
            </a:r>
            <a:r>
              <a:rPr lang="ru-RU" sz="2000" dirty="0"/>
              <a:t>приложенията използват ресурсите и услугите на </a:t>
            </a:r>
            <a:r>
              <a:rPr lang="en-US" sz="2000" dirty="0" smtClean="0"/>
              <a:t>OS</a:t>
            </a:r>
            <a:r>
              <a:rPr lang="ru-RU" sz="2000" dirty="0" smtClean="0"/>
              <a:t>. </a:t>
            </a:r>
          </a:p>
          <a:p>
            <a:pPr lvl="2">
              <a:spcBef>
                <a:spcPts val="0"/>
              </a:spcBef>
            </a:pPr>
            <a:r>
              <a:rPr lang="ru-RU" sz="2000" dirty="0" smtClean="0"/>
              <a:t>Всяка </a:t>
            </a:r>
            <a:r>
              <a:rPr lang="ru-RU" sz="2000" dirty="0"/>
              <a:t>ОС има своя набор от </a:t>
            </a:r>
            <a:r>
              <a:rPr lang="ru-RU" sz="2000" dirty="0" smtClean="0"/>
              <a:t>API</a:t>
            </a:r>
            <a:r>
              <a:rPr lang="en-US" sz="2000" dirty="0" smtClean="0"/>
              <a:t> (</a:t>
            </a:r>
            <a:r>
              <a:rPr lang="ru-RU" sz="2000" dirty="0" smtClean="0"/>
              <a:t>напр</a:t>
            </a:r>
            <a:r>
              <a:rPr lang="en-US" sz="2000" dirty="0" smtClean="0"/>
              <a:t>. </a:t>
            </a:r>
            <a:r>
              <a:rPr lang="ru-RU" sz="2000" dirty="0" smtClean="0"/>
              <a:t>Windows </a:t>
            </a:r>
            <a:r>
              <a:rPr lang="ru-RU" sz="2000" dirty="0"/>
              <a:t>API или Linux </a:t>
            </a:r>
            <a:r>
              <a:rPr lang="ru-RU" sz="2000" dirty="0" smtClean="0"/>
              <a:t>API</a:t>
            </a:r>
            <a:r>
              <a:rPr lang="en-US" sz="2000" dirty="0" smtClean="0"/>
              <a:t>)</a:t>
            </a:r>
            <a:r>
              <a:rPr lang="en-US" sz="2000" dirty="0"/>
              <a:t> </a:t>
            </a:r>
            <a:r>
              <a:rPr lang="bg-BG" sz="2000" dirty="0" smtClean="0"/>
              <a:t>и то най-често се дели на </a:t>
            </a:r>
            <a:r>
              <a:rPr lang="en-US" sz="2000" dirty="0" smtClean="0"/>
              <a:t>User </a:t>
            </a:r>
            <a:r>
              <a:rPr lang="ru-RU" sz="2000" dirty="0" smtClean="0"/>
              <a:t>API и </a:t>
            </a:r>
            <a:r>
              <a:rPr lang="en-US" sz="2000" dirty="0" smtClean="0"/>
              <a:t>Kernel </a:t>
            </a:r>
            <a:r>
              <a:rPr lang="ru-RU" sz="2000" dirty="0" smtClean="0"/>
              <a:t>API.</a:t>
            </a:r>
            <a:endParaRPr lang="en-US" sz="2000" dirty="0" smtClean="0"/>
          </a:p>
          <a:p>
            <a:pPr lvl="2">
              <a:spcBef>
                <a:spcPts val="0"/>
              </a:spcBef>
            </a:pPr>
            <a:r>
              <a:rPr lang="ru-RU" sz="2000" dirty="0" smtClean="0"/>
              <a:t>Apple </a:t>
            </a:r>
            <a:r>
              <a:rPr lang="ru-RU" sz="2000" dirty="0"/>
              <a:t>предоставя API референции за MacOS и iOS в документацията си за разработчици. </a:t>
            </a:r>
            <a:endParaRPr lang="bg-BG" sz="2000" dirty="0"/>
          </a:p>
        </p:txBody>
      </p:sp>
    </p:spTree>
    <p:extLst>
      <p:ext uri="{BB962C8B-B14F-4D97-AF65-F5344CB8AC3E}">
        <p14:creationId xmlns:p14="http://schemas.microsoft.com/office/powerpoint/2010/main" val="416230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API</a:t>
            </a:r>
            <a:r>
              <a:rPr lang="bg-BG" dirty="0"/>
              <a:t> класификация по области на приложение</a:t>
            </a:r>
          </a:p>
        </p:txBody>
      </p:sp>
      <p:sp>
        <p:nvSpPr>
          <p:cNvPr id="3" name="Content Placeholder 2"/>
          <p:cNvSpPr>
            <a:spLocks noGrp="1"/>
          </p:cNvSpPr>
          <p:nvPr>
            <p:ph idx="1"/>
          </p:nvPr>
        </p:nvSpPr>
        <p:spPr>
          <a:xfrm>
            <a:off x="908662" y="1143000"/>
            <a:ext cx="10900750" cy="5638800"/>
          </a:xfrm>
        </p:spPr>
        <p:txBody>
          <a:bodyPr>
            <a:normAutofit/>
          </a:bodyPr>
          <a:lstStyle/>
          <a:p>
            <a:pPr>
              <a:spcBef>
                <a:spcPts val="0"/>
              </a:spcBef>
            </a:pPr>
            <a:r>
              <a:rPr lang="bg-BG" sz="2800" dirty="0" smtClean="0"/>
              <a:t>Класификация според областта на приложение:</a:t>
            </a:r>
          </a:p>
          <a:p>
            <a:pPr lvl="1">
              <a:spcBef>
                <a:spcPts val="0"/>
              </a:spcBef>
            </a:pPr>
            <a:r>
              <a:rPr lang="ru-RU" sz="2400" dirty="0"/>
              <a:t>Отдалечени </a:t>
            </a:r>
            <a:r>
              <a:rPr lang="ru-RU" sz="2400" dirty="0" smtClean="0"/>
              <a:t>API</a:t>
            </a:r>
            <a:r>
              <a:rPr lang="en-US" sz="2400" dirty="0" smtClean="0"/>
              <a:t> (</a:t>
            </a:r>
            <a:r>
              <a:rPr lang="bg-BG" sz="2400" dirty="0" smtClean="0"/>
              <a:t>англ. </a:t>
            </a:r>
            <a:r>
              <a:rPr lang="en-US" sz="2400" dirty="0" smtClean="0"/>
              <a:t>Remote API</a:t>
            </a:r>
            <a:r>
              <a:rPr lang="bg-BG" sz="2400" dirty="0" smtClean="0"/>
              <a:t>)</a:t>
            </a:r>
            <a:r>
              <a:rPr lang="ru-RU" sz="2400" dirty="0" smtClean="0"/>
              <a:t> </a:t>
            </a:r>
            <a:endParaRPr lang="en-US" sz="2400" dirty="0" smtClean="0"/>
          </a:p>
          <a:p>
            <a:pPr lvl="2">
              <a:spcBef>
                <a:spcPts val="0"/>
              </a:spcBef>
            </a:pPr>
            <a:r>
              <a:rPr lang="ru-RU" sz="2000" dirty="0" smtClean="0"/>
              <a:t>Отдалечените </a:t>
            </a:r>
            <a:r>
              <a:rPr lang="ru-RU" sz="2000" dirty="0"/>
              <a:t>API </a:t>
            </a:r>
            <a:r>
              <a:rPr lang="ru-RU" sz="2000" dirty="0" smtClean="0"/>
              <a:t>определят </a:t>
            </a:r>
            <a:r>
              <a:rPr lang="ru-RU" sz="2000" dirty="0"/>
              <a:t>стандартите за взаимодействие за приложения, работещи на различни </a:t>
            </a:r>
            <a:r>
              <a:rPr lang="ru-RU" sz="2000" dirty="0" smtClean="0"/>
              <a:t>машини, т.е. един </a:t>
            </a:r>
            <a:r>
              <a:rPr lang="ru-RU" sz="2000" dirty="0"/>
              <a:t>софтуерен продукт има достъп до ресурси, разположени извън устройството, което ги </a:t>
            </a:r>
            <a:r>
              <a:rPr lang="ru-RU" sz="2000" dirty="0" smtClean="0"/>
              <a:t>изисква от друг компютър. </a:t>
            </a:r>
            <a:endParaRPr lang="en-US" sz="2000" dirty="0" smtClean="0"/>
          </a:p>
          <a:p>
            <a:pPr lvl="2">
              <a:spcBef>
                <a:spcPts val="0"/>
              </a:spcBef>
            </a:pPr>
            <a:r>
              <a:rPr lang="ru-RU" sz="2000" dirty="0" smtClean="0"/>
              <a:t>Тъй </a:t>
            </a:r>
            <a:r>
              <a:rPr lang="ru-RU" sz="2000" dirty="0"/>
              <a:t>като две дистанционно разположени приложения са свързани през комуникационна мрежа, </a:t>
            </a:r>
            <a:r>
              <a:rPr lang="ru-RU" sz="2000" dirty="0" smtClean="0"/>
              <a:t>по-специално </a:t>
            </a:r>
            <a:r>
              <a:rPr lang="ru-RU" sz="2000" dirty="0"/>
              <a:t>в интернет, повечето отдалечени API са написани въз основа на уеб стандарти. </a:t>
            </a:r>
            <a:endParaRPr lang="en-US" sz="2000" dirty="0" smtClean="0"/>
          </a:p>
          <a:p>
            <a:pPr lvl="2">
              <a:spcBef>
                <a:spcPts val="0"/>
              </a:spcBef>
            </a:pPr>
            <a:r>
              <a:rPr lang="bg-BG" sz="2000" dirty="0" smtClean="0"/>
              <a:t>Пример: </a:t>
            </a:r>
            <a:r>
              <a:rPr lang="en-US" sz="2000" dirty="0"/>
              <a:t>Java Database Connectivity API </a:t>
            </a:r>
            <a:r>
              <a:rPr lang="bg-BG" sz="2000" dirty="0" smtClean="0"/>
              <a:t>и </a:t>
            </a:r>
            <a:r>
              <a:rPr lang="en-US" sz="2000" dirty="0" smtClean="0"/>
              <a:t>Java </a:t>
            </a:r>
            <a:r>
              <a:rPr lang="en-US" sz="2000" dirty="0"/>
              <a:t>Remote Method Invocation </a:t>
            </a:r>
            <a:r>
              <a:rPr lang="en-US" sz="2000" dirty="0" smtClean="0"/>
              <a:t>API</a:t>
            </a:r>
            <a:r>
              <a:rPr lang="ru-RU" sz="2000" dirty="0" smtClean="0"/>
              <a:t>.</a:t>
            </a:r>
          </a:p>
          <a:p>
            <a:pPr lvl="1">
              <a:spcBef>
                <a:spcPts val="0"/>
              </a:spcBef>
            </a:pPr>
            <a:r>
              <a:rPr lang="ru-RU" sz="2400" dirty="0" smtClean="0"/>
              <a:t>Web </a:t>
            </a:r>
            <a:r>
              <a:rPr lang="ru-RU" sz="2400" dirty="0"/>
              <a:t>API </a:t>
            </a:r>
            <a:endParaRPr lang="ru-RU" sz="2400" dirty="0" smtClean="0"/>
          </a:p>
          <a:p>
            <a:pPr lvl="2">
              <a:spcBef>
                <a:spcPts val="0"/>
              </a:spcBef>
            </a:pPr>
            <a:r>
              <a:rPr lang="ru-RU" sz="2000" dirty="0" smtClean="0"/>
              <a:t>Този </a:t>
            </a:r>
            <a:r>
              <a:rPr lang="ru-RU" sz="2000" dirty="0"/>
              <a:t>клас API е </a:t>
            </a:r>
            <a:r>
              <a:rPr lang="ru-RU" sz="2000" dirty="0" smtClean="0"/>
              <a:t>най-бързо развиващият се клас. </a:t>
            </a:r>
          </a:p>
          <a:p>
            <a:pPr lvl="2">
              <a:spcBef>
                <a:spcPts val="0"/>
              </a:spcBef>
            </a:pPr>
            <a:r>
              <a:rPr lang="ru-RU" sz="2000" dirty="0" smtClean="0"/>
              <a:t>Web </a:t>
            </a:r>
            <a:r>
              <a:rPr lang="ru-RU" sz="2000" dirty="0"/>
              <a:t>API предоставят машинно четими данни и прехвърляне на функционалност между уеб-базирани системи, които </a:t>
            </a:r>
            <a:r>
              <a:rPr lang="ru-RU" sz="2000" dirty="0" smtClean="0"/>
              <a:t>реализират архитектура </a:t>
            </a:r>
            <a:r>
              <a:rPr lang="ru-RU" sz="2000" dirty="0"/>
              <a:t>на </a:t>
            </a:r>
            <a:r>
              <a:rPr lang="ru-RU" sz="2000" dirty="0" smtClean="0"/>
              <a:t>«Клиент-Сървър». </a:t>
            </a:r>
          </a:p>
          <a:p>
            <a:pPr lvl="2">
              <a:spcBef>
                <a:spcPts val="0"/>
              </a:spcBef>
            </a:pPr>
            <a:r>
              <a:rPr lang="ru-RU" sz="2000" dirty="0" smtClean="0"/>
              <a:t>Основната функционалност е насочена към заявки </a:t>
            </a:r>
            <a:r>
              <a:rPr lang="ru-RU" sz="2000" dirty="0"/>
              <a:t>от уеб приложения и отговори от сървъри, използвайки </a:t>
            </a:r>
            <a:r>
              <a:rPr lang="ru-RU" sz="2000" dirty="0" smtClean="0"/>
              <a:t>комуникационен протокол на основата на </a:t>
            </a:r>
            <a:r>
              <a:rPr lang="ru-RU" sz="2000" dirty="0"/>
              <a:t>HTTP </a:t>
            </a:r>
            <a:r>
              <a:rPr lang="ru-RU" sz="2000" dirty="0" smtClean="0"/>
              <a:t>.</a:t>
            </a:r>
            <a:endParaRPr lang="bg-BG" sz="2000" dirty="0"/>
          </a:p>
        </p:txBody>
      </p:sp>
    </p:spTree>
    <p:extLst>
      <p:ext uri="{BB962C8B-B14F-4D97-AF65-F5344CB8AC3E}">
        <p14:creationId xmlns:p14="http://schemas.microsoft.com/office/powerpoint/2010/main" val="3798051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API</a:t>
            </a:r>
            <a:r>
              <a:rPr lang="bg-BG" dirty="0"/>
              <a:t> </a:t>
            </a:r>
            <a:r>
              <a:rPr lang="bg-BG" dirty="0" smtClean="0"/>
              <a:t>спецификации/протоколи</a:t>
            </a:r>
            <a:endParaRPr lang="bg-BG" dirty="0"/>
          </a:p>
        </p:txBody>
      </p:sp>
      <p:sp>
        <p:nvSpPr>
          <p:cNvPr id="3" name="Content Placeholder 2"/>
          <p:cNvSpPr>
            <a:spLocks noGrp="1"/>
          </p:cNvSpPr>
          <p:nvPr>
            <p:ph idx="1"/>
          </p:nvPr>
        </p:nvSpPr>
        <p:spPr>
          <a:xfrm>
            <a:off x="908662" y="1143000"/>
            <a:ext cx="10900750" cy="5638800"/>
          </a:xfrm>
        </p:spPr>
        <p:txBody>
          <a:bodyPr>
            <a:normAutofit/>
          </a:bodyPr>
          <a:lstStyle/>
          <a:p>
            <a:pPr>
              <a:spcBef>
                <a:spcPts val="0"/>
              </a:spcBef>
            </a:pPr>
            <a:r>
              <a:rPr lang="ru-RU" sz="2800" dirty="0"/>
              <a:t>Целта на спецификациите на API е да се стандартизира обменът на данни между уеб услугите</a:t>
            </a:r>
            <a:r>
              <a:rPr lang="ru-RU" sz="2800" dirty="0" smtClean="0"/>
              <a:t>.</a:t>
            </a:r>
          </a:p>
          <a:p>
            <a:pPr lvl="1">
              <a:spcBef>
                <a:spcPts val="0"/>
              </a:spcBef>
            </a:pPr>
            <a:r>
              <a:rPr lang="ru-RU" sz="2400" dirty="0" smtClean="0"/>
              <a:t>В </a:t>
            </a:r>
            <a:r>
              <a:rPr lang="ru-RU" sz="2400" dirty="0"/>
              <a:t>този случай стандартизацията означава способността на различни </a:t>
            </a:r>
            <a:r>
              <a:rPr lang="ru-RU" sz="2400" dirty="0" smtClean="0"/>
              <a:t>системи за </a:t>
            </a:r>
            <a:r>
              <a:rPr lang="ru-RU" sz="2400" dirty="0"/>
              <a:t>безпроблемно да общуват помежду си</a:t>
            </a:r>
            <a:r>
              <a:rPr lang="ru-RU" sz="2400" dirty="0" smtClean="0"/>
              <a:t>, независимо че са написани </a:t>
            </a:r>
            <a:r>
              <a:rPr lang="ru-RU" sz="2400" dirty="0"/>
              <a:t>на различни езици за </a:t>
            </a:r>
            <a:r>
              <a:rPr lang="ru-RU" sz="2400" dirty="0" smtClean="0"/>
              <a:t>програмиране, работят на </a:t>
            </a:r>
            <a:r>
              <a:rPr lang="ru-RU" sz="2400" dirty="0"/>
              <a:t>различни </a:t>
            </a:r>
            <a:r>
              <a:rPr lang="ru-RU" sz="2400" dirty="0" smtClean="0"/>
              <a:t>ОС и използване </a:t>
            </a:r>
            <a:r>
              <a:rPr lang="ru-RU" sz="2400" dirty="0"/>
              <a:t>на различни </a:t>
            </a:r>
            <a:r>
              <a:rPr lang="ru-RU" sz="2400" dirty="0" smtClean="0"/>
              <a:t>технологии.</a:t>
            </a:r>
            <a:endParaRPr lang="bg-BG" sz="2400" dirty="0" smtClean="0"/>
          </a:p>
          <a:p>
            <a:pPr>
              <a:spcBef>
                <a:spcPts val="0"/>
              </a:spcBef>
            </a:pPr>
            <a:r>
              <a:rPr lang="bg-BG" sz="2800" dirty="0" smtClean="0"/>
              <a:t>Често използвани </a:t>
            </a:r>
            <a:r>
              <a:rPr lang="en-US" sz="2800" dirty="0" smtClean="0"/>
              <a:t>API-</a:t>
            </a:r>
            <a:r>
              <a:rPr lang="bg-BG" sz="2800" dirty="0" smtClean="0"/>
              <a:t>спецификации за Интернет:</a:t>
            </a:r>
          </a:p>
          <a:p>
            <a:pPr lvl="1">
              <a:spcBef>
                <a:spcPts val="0"/>
              </a:spcBef>
            </a:pPr>
            <a:r>
              <a:rPr lang="en-US" sz="2400" dirty="0"/>
              <a:t>RPC API</a:t>
            </a:r>
            <a:endParaRPr lang="bg-BG" sz="2400" dirty="0"/>
          </a:p>
          <a:p>
            <a:pPr lvl="1">
              <a:spcBef>
                <a:spcPts val="0"/>
              </a:spcBef>
            </a:pPr>
            <a:r>
              <a:rPr lang="en-US" sz="2400" dirty="0"/>
              <a:t>SOAP API</a:t>
            </a:r>
            <a:endParaRPr lang="bg-BG" sz="2400" dirty="0"/>
          </a:p>
          <a:p>
            <a:pPr lvl="1">
              <a:spcBef>
                <a:spcPts val="0"/>
              </a:spcBef>
            </a:pPr>
            <a:r>
              <a:rPr lang="en-US" sz="2400" dirty="0"/>
              <a:t>REST API</a:t>
            </a:r>
            <a:endParaRPr lang="bg-BG" sz="2400" dirty="0"/>
          </a:p>
          <a:p>
            <a:pPr lvl="1">
              <a:spcBef>
                <a:spcPts val="0"/>
              </a:spcBef>
            </a:pPr>
            <a:r>
              <a:rPr lang="en-US" sz="2400" dirty="0" err="1"/>
              <a:t>gRPC</a:t>
            </a:r>
            <a:r>
              <a:rPr lang="bg-BG" sz="2400" dirty="0"/>
              <a:t> </a:t>
            </a:r>
            <a:r>
              <a:rPr lang="en-US" sz="2400" dirty="0"/>
              <a:t>API</a:t>
            </a:r>
          </a:p>
          <a:p>
            <a:pPr lvl="1">
              <a:spcBef>
                <a:spcPts val="0"/>
              </a:spcBef>
            </a:pPr>
            <a:r>
              <a:rPr lang="en-US" sz="2400" dirty="0" err="1"/>
              <a:t>Websocket</a:t>
            </a:r>
            <a:r>
              <a:rPr lang="en-US" sz="2400" dirty="0"/>
              <a:t> API</a:t>
            </a:r>
            <a:endParaRPr lang="bg-BG" sz="2400" dirty="0"/>
          </a:p>
          <a:p>
            <a:pPr lvl="1">
              <a:spcBef>
                <a:spcPts val="0"/>
              </a:spcBef>
            </a:pPr>
            <a:r>
              <a:rPr lang="en-US" sz="2400" dirty="0" err="1"/>
              <a:t>GraphQL</a:t>
            </a:r>
            <a:endParaRPr lang="en-US" sz="2400" dirty="0"/>
          </a:p>
          <a:p>
            <a:pPr lvl="1">
              <a:spcBef>
                <a:spcPts val="0"/>
              </a:spcBef>
            </a:pPr>
            <a:endParaRPr lang="en-US" sz="2400" dirty="0"/>
          </a:p>
          <a:p>
            <a:pPr lvl="1">
              <a:spcBef>
                <a:spcPts val="0"/>
              </a:spcBef>
            </a:pPr>
            <a:endParaRPr lang="bg-BG" sz="2000" dirty="0"/>
          </a:p>
          <a:p>
            <a:pPr lvl="1">
              <a:spcBef>
                <a:spcPts val="0"/>
              </a:spcBef>
            </a:pPr>
            <a:endParaRPr lang="ru-RU" sz="2000" dirty="0" smtClean="0"/>
          </a:p>
        </p:txBody>
      </p:sp>
    </p:spTree>
    <p:extLst>
      <p:ext uri="{BB962C8B-B14F-4D97-AF65-F5344CB8AC3E}">
        <p14:creationId xmlns:p14="http://schemas.microsoft.com/office/powerpoint/2010/main" val="1723755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API</a:t>
            </a:r>
            <a:r>
              <a:rPr lang="bg-BG" dirty="0"/>
              <a:t> </a:t>
            </a:r>
            <a:r>
              <a:rPr lang="bg-BG" dirty="0" smtClean="0"/>
              <a:t>спецификации/протоколи</a:t>
            </a:r>
            <a:endParaRPr lang="bg-BG" dirty="0"/>
          </a:p>
        </p:txBody>
      </p:sp>
      <p:sp>
        <p:nvSpPr>
          <p:cNvPr id="3" name="Content Placeholder 2"/>
          <p:cNvSpPr>
            <a:spLocks noGrp="1"/>
          </p:cNvSpPr>
          <p:nvPr>
            <p:ph idx="1"/>
          </p:nvPr>
        </p:nvSpPr>
        <p:spPr>
          <a:xfrm>
            <a:off x="908662" y="1143000"/>
            <a:ext cx="10900750" cy="5638800"/>
          </a:xfrm>
        </p:spPr>
        <p:txBody>
          <a:bodyPr>
            <a:noAutofit/>
          </a:bodyPr>
          <a:lstStyle/>
          <a:p>
            <a:pPr>
              <a:lnSpc>
                <a:spcPct val="90000"/>
              </a:lnSpc>
              <a:spcBef>
                <a:spcPts val="0"/>
              </a:spcBef>
            </a:pPr>
            <a:r>
              <a:rPr lang="en-US" sz="2400" dirty="0"/>
              <a:t>RPC API</a:t>
            </a:r>
            <a:endParaRPr lang="bg-BG" sz="2400" dirty="0"/>
          </a:p>
          <a:p>
            <a:pPr lvl="1">
              <a:lnSpc>
                <a:spcPct val="90000"/>
              </a:lnSpc>
              <a:spcBef>
                <a:spcPts val="0"/>
              </a:spcBef>
            </a:pPr>
            <a:r>
              <a:rPr lang="bg-BG" sz="2000" dirty="0"/>
              <a:t>Това </a:t>
            </a:r>
            <a:r>
              <a:rPr lang="en-US" sz="2000" dirty="0"/>
              <a:t>API</a:t>
            </a:r>
            <a:r>
              <a:rPr lang="bg-BG" sz="2000" dirty="0"/>
              <a:t> позволява да се реализират </a:t>
            </a:r>
            <a:r>
              <a:rPr lang="en-US" sz="2000" dirty="0"/>
              <a:t>Remote Procedure Call (RPC) </a:t>
            </a:r>
            <a:r>
              <a:rPr lang="bg-BG" sz="2000" dirty="0"/>
              <a:t>обращения.</a:t>
            </a:r>
          </a:p>
          <a:p>
            <a:pPr lvl="1">
              <a:lnSpc>
                <a:spcPct val="90000"/>
              </a:lnSpc>
              <a:spcBef>
                <a:spcPts val="0"/>
              </a:spcBef>
            </a:pPr>
            <a:r>
              <a:rPr lang="bg-BG" sz="2000" dirty="0"/>
              <a:t>Същността е в това, че к</a:t>
            </a:r>
            <a:r>
              <a:rPr lang="ru-RU" sz="2000" dirty="0"/>
              <a:t>лиентът стартира обработка, която се реализира като функция или процедура в адресното поле на сървъра. </a:t>
            </a:r>
            <a:endParaRPr lang="bg-BG" sz="2000" dirty="0"/>
          </a:p>
          <a:p>
            <a:pPr>
              <a:lnSpc>
                <a:spcPct val="90000"/>
              </a:lnSpc>
              <a:spcBef>
                <a:spcPts val="0"/>
              </a:spcBef>
            </a:pPr>
            <a:r>
              <a:rPr lang="en-US" sz="2400" dirty="0" smtClean="0"/>
              <a:t>SOAP API</a:t>
            </a:r>
            <a:endParaRPr lang="bg-BG" sz="2400" dirty="0" smtClean="0"/>
          </a:p>
          <a:p>
            <a:pPr lvl="1">
              <a:lnSpc>
                <a:spcPct val="90000"/>
              </a:lnSpc>
              <a:spcBef>
                <a:spcPts val="0"/>
              </a:spcBef>
            </a:pPr>
            <a:r>
              <a:rPr lang="bg-BG" sz="2000" dirty="0" smtClean="0"/>
              <a:t>Това </a:t>
            </a:r>
            <a:r>
              <a:rPr lang="en-US" sz="2000" dirty="0" smtClean="0"/>
              <a:t>API</a:t>
            </a:r>
            <a:r>
              <a:rPr lang="bg-BG" sz="2000" dirty="0" smtClean="0"/>
              <a:t> реализира </a:t>
            </a:r>
            <a:r>
              <a:rPr lang="en-US" sz="2000" dirty="0" smtClean="0"/>
              <a:t>Simple </a:t>
            </a:r>
            <a:r>
              <a:rPr lang="en-US" sz="2000" dirty="0"/>
              <a:t>Object Access </a:t>
            </a:r>
            <a:r>
              <a:rPr lang="en-US" sz="2000" dirty="0" smtClean="0"/>
              <a:t>Protocol</a:t>
            </a:r>
            <a:r>
              <a:rPr lang="bg-BG" sz="2000" dirty="0" smtClean="0"/>
              <a:t> и не е много гъвкаво откъм сценарии на използване.</a:t>
            </a:r>
          </a:p>
          <a:p>
            <a:pPr lvl="1">
              <a:lnSpc>
                <a:spcPct val="90000"/>
              </a:lnSpc>
              <a:spcBef>
                <a:spcPts val="0"/>
              </a:spcBef>
            </a:pPr>
            <a:r>
              <a:rPr lang="ru-RU" sz="2000" dirty="0"/>
              <a:t>Съобщения за обмен на клиенти и сървър, използващи </a:t>
            </a:r>
            <a:r>
              <a:rPr lang="ru-RU" sz="2000" dirty="0" smtClean="0"/>
              <a:t>XML (чрез </a:t>
            </a:r>
            <a:r>
              <a:rPr lang="en-US" sz="2000" dirty="0" smtClean="0"/>
              <a:t>HTTP </a:t>
            </a:r>
            <a:r>
              <a:rPr lang="bg-BG" sz="2000" dirty="0" smtClean="0"/>
              <a:t>или </a:t>
            </a:r>
            <a:r>
              <a:rPr lang="en-US" sz="2000" dirty="0" smtClean="0"/>
              <a:t>SMTP</a:t>
            </a:r>
            <a:r>
              <a:rPr lang="en-US" sz="2000" dirty="0"/>
              <a:t>)</a:t>
            </a:r>
            <a:r>
              <a:rPr lang="ru-RU" sz="2000" dirty="0" smtClean="0"/>
              <a:t>. </a:t>
            </a:r>
            <a:endParaRPr lang="en-US" sz="2000" dirty="0" smtClean="0"/>
          </a:p>
          <a:p>
            <a:pPr lvl="1">
              <a:lnSpc>
                <a:spcPct val="90000"/>
              </a:lnSpc>
              <a:spcBef>
                <a:spcPts val="0"/>
              </a:spcBef>
            </a:pPr>
            <a:r>
              <a:rPr lang="bg-BG" sz="2000" dirty="0" smtClean="0"/>
              <a:t>Това е специфичен вариант на </a:t>
            </a:r>
            <a:r>
              <a:rPr lang="en-US" sz="2000" dirty="0" smtClean="0"/>
              <a:t>RPC API</a:t>
            </a:r>
            <a:r>
              <a:rPr lang="bg-BG" sz="2000" dirty="0" smtClean="0"/>
              <a:t>.</a:t>
            </a:r>
            <a:endParaRPr lang="ru-RU" sz="2000" dirty="0" smtClean="0"/>
          </a:p>
          <a:p>
            <a:pPr>
              <a:lnSpc>
                <a:spcPct val="90000"/>
              </a:lnSpc>
              <a:spcBef>
                <a:spcPts val="0"/>
              </a:spcBef>
            </a:pPr>
            <a:r>
              <a:rPr lang="en-US" sz="2400" dirty="0" smtClean="0"/>
              <a:t>REST API</a:t>
            </a:r>
            <a:endParaRPr lang="bg-BG" sz="2400" dirty="0" smtClean="0"/>
          </a:p>
          <a:p>
            <a:pPr lvl="1">
              <a:lnSpc>
                <a:spcPct val="90000"/>
              </a:lnSpc>
              <a:spcBef>
                <a:spcPts val="0"/>
              </a:spcBef>
            </a:pPr>
            <a:r>
              <a:rPr lang="ru-RU" sz="2000" dirty="0"/>
              <a:t>Това са най -популярните и гъвкави API, </a:t>
            </a:r>
            <a:r>
              <a:rPr lang="bg-BG" sz="2000" dirty="0" smtClean="0"/>
              <a:t>използвани в </a:t>
            </a:r>
            <a:r>
              <a:rPr lang="ru-RU" sz="2000" dirty="0" smtClean="0"/>
              <a:t>мрежата: използват съобщения на основата на </a:t>
            </a:r>
            <a:r>
              <a:rPr lang="bg-BG" sz="2000" dirty="0" smtClean="0"/>
              <a:t>обикновен текст</a:t>
            </a:r>
            <a:r>
              <a:rPr lang="en-US" sz="2000" dirty="0" smtClean="0"/>
              <a:t>, </a:t>
            </a:r>
            <a:r>
              <a:rPr lang="en-US" sz="2000" dirty="0"/>
              <a:t>HTML, YAML, XML, and JSON</a:t>
            </a:r>
            <a:r>
              <a:rPr lang="ru-RU" sz="2000" dirty="0"/>
              <a:t>. </a:t>
            </a:r>
          </a:p>
          <a:p>
            <a:pPr lvl="1">
              <a:lnSpc>
                <a:spcPct val="90000"/>
              </a:lnSpc>
              <a:spcBef>
                <a:spcPts val="0"/>
              </a:spcBef>
            </a:pPr>
            <a:r>
              <a:rPr lang="ru-RU" sz="2000" dirty="0" smtClean="0"/>
              <a:t>Клиентът </a:t>
            </a:r>
            <a:r>
              <a:rPr lang="ru-RU" sz="2000" dirty="0"/>
              <a:t>изпраща заявки до сървъра като данни. </a:t>
            </a:r>
            <a:endParaRPr lang="ru-RU" sz="2000" dirty="0" smtClean="0"/>
          </a:p>
          <a:p>
            <a:pPr lvl="1">
              <a:lnSpc>
                <a:spcPct val="90000"/>
              </a:lnSpc>
              <a:spcBef>
                <a:spcPts val="0"/>
              </a:spcBef>
            </a:pPr>
            <a:r>
              <a:rPr lang="ru-RU" sz="2000" dirty="0" smtClean="0"/>
              <a:t>Според </a:t>
            </a:r>
            <a:r>
              <a:rPr lang="ru-RU" sz="2000" dirty="0"/>
              <a:t>клиентския </a:t>
            </a:r>
            <a:r>
              <a:rPr lang="ru-RU" sz="2000" dirty="0" smtClean="0"/>
              <a:t>вход, </a:t>
            </a:r>
            <a:r>
              <a:rPr lang="ru-RU" sz="2000" dirty="0"/>
              <a:t>с</a:t>
            </a:r>
            <a:r>
              <a:rPr lang="ru-RU" sz="2000" dirty="0" smtClean="0"/>
              <a:t>ървърът стартира съответна вътрешна функция </a:t>
            </a:r>
            <a:r>
              <a:rPr lang="ru-RU" sz="2000" dirty="0"/>
              <a:t>и връща изходните данни обратно на клиента.</a:t>
            </a:r>
            <a:endParaRPr lang="bg-BG" sz="2000" dirty="0"/>
          </a:p>
          <a:p>
            <a:pPr>
              <a:lnSpc>
                <a:spcPct val="90000"/>
              </a:lnSpc>
              <a:spcBef>
                <a:spcPts val="0"/>
              </a:spcBef>
            </a:pPr>
            <a:r>
              <a:rPr lang="en-US" sz="2400" dirty="0" err="1" smtClean="0"/>
              <a:t>Websocket</a:t>
            </a:r>
            <a:r>
              <a:rPr lang="en-US" sz="2400" dirty="0" smtClean="0"/>
              <a:t> API</a:t>
            </a:r>
            <a:endParaRPr lang="bg-BG" sz="2400" dirty="0"/>
          </a:p>
          <a:p>
            <a:pPr lvl="1">
              <a:lnSpc>
                <a:spcPct val="90000"/>
              </a:lnSpc>
              <a:spcBef>
                <a:spcPts val="0"/>
              </a:spcBef>
            </a:pPr>
            <a:r>
              <a:rPr lang="ru-RU" sz="2000" dirty="0" smtClean="0"/>
              <a:t>Това е уеб </a:t>
            </a:r>
            <a:r>
              <a:rPr lang="ru-RU" sz="2000" dirty="0"/>
              <a:t>API, която използва JSON обекти за предаване на данни. </a:t>
            </a:r>
            <a:endParaRPr lang="ru-RU" sz="2000" dirty="0" smtClean="0"/>
          </a:p>
          <a:p>
            <a:pPr lvl="1">
              <a:lnSpc>
                <a:spcPct val="90000"/>
              </a:lnSpc>
              <a:spcBef>
                <a:spcPts val="0"/>
              </a:spcBef>
            </a:pPr>
            <a:r>
              <a:rPr lang="ru-RU" sz="2000" dirty="0" smtClean="0"/>
              <a:t>Поддържа се </a:t>
            </a:r>
            <a:r>
              <a:rPr lang="ru-RU" sz="2000" dirty="0"/>
              <a:t>двупосочна </a:t>
            </a:r>
            <a:r>
              <a:rPr lang="ru-RU" sz="2000" dirty="0" smtClean="0"/>
              <a:t>комуникация: сървърът </a:t>
            </a:r>
            <a:r>
              <a:rPr lang="ru-RU" sz="2000" dirty="0"/>
              <a:t>може да изпраща съобщения за обратно извикване до свързани клиенти, което го прави </a:t>
            </a:r>
            <a:r>
              <a:rPr lang="ru-RU" sz="2000" dirty="0" smtClean="0"/>
              <a:t>по-ефективен </a:t>
            </a:r>
            <a:r>
              <a:rPr lang="ru-RU" sz="2000" dirty="0"/>
              <a:t>от REST API</a:t>
            </a:r>
            <a:r>
              <a:rPr lang="ru-RU" sz="2000" dirty="0" smtClean="0"/>
              <a:t>.</a:t>
            </a:r>
            <a:endParaRPr lang="bg-BG" sz="2000" dirty="0" smtClean="0"/>
          </a:p>
        </p:txBody>
      </p:sp>
    </p:spTree>
    <p:extLst>
      <p:ext uri="{BB962C8B-B14F-4D97-AF65-F5344CB8AC3E}">
        <p14:creationId xmlns:p14="http://schemas.microsoft.com/office/powerpoint/2010/main" val="1962350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dirty="0"/>
              <a:t>API: </a:t>
            </a:r>
            <a:r>
              <a:rPr lang="bg-BG" dirty="0"/>
              <a:t>класификация по обхват</a:t>
            </a:r>
          </a:p>
        </p:txBody>
      </p:sp>
      <p:sp>
        <p:nvSpPr>
          <p:cNvPr id="3" name="Content Placeholder 2"/>
          <p:cNvSpPr>
            <a:spLocks noGrp="1"/>
          </p:cNvSpPr>
          <p:nvPr>
            <p:ph idx="1"/>
          </p:nvPr>
        </p:nvSpPr>
        <p:spPr>
          <a:xfrm>
            <a:off x="908662" y="1143000"/>
            <a:ext cx="10900750" cy="5638800"/>
          </a:xfrm>
        </p:spPr>
        <p:txBody>
          <a:bodyPr vert="horz" lIns="91440" tIns="45720" rIns="91440" bIns="45720" rtlCol="0">
            <a:normAutofit fontScale="85000" lnSpcReduction="10000"/>
          </a:bodyPr>
          <a:lstStyle/>
          <a:p>
            <a:pPr>
              <a:lnSpc>
                <a:spcPct val="110000"/>
              </a:lnSpc>
              <a:spcBef>
                <a:spcPts val="0"/>
              </a:spcBef>
            </a:pPr>
            <a:r>
              <a:rPr lang="bg-BG" sz="3300" dirty="0"/>
              <a:t>Типове </a:t>
            </a:r>
            <a:r>
              <a:rPr lang="en-US" sz="3300" dirty="0"/>
              <a:t>API </a:t>
            </a:r>
            <a:r>
              <a:rPr lang="bg-BG" sz="3300" dirty="0"/>
              <a:t>според </a:t>
            </a:r>
            <a:r>
              <a:rPr lang="ru-RU" sz="3300" dirty="0"/>
              <a:t>според архитектура и на обхвата на приложение:</a:t>
            </a:r>
            <a:endParaRPr lang="en-US" sz="3300" dirty="0"/>
          </a:p>
          <a:p>
            <a:pPr lvl="1">
              <a:lnSpc>
                <a:spcPct val="110000"/>
              </a:lnSpc>
              <a:spcBef>
                <a:spcPts val="0"/>
              </a:spcBef>
            </a:pPr>
            <a:r>
              <a:rPr lang="ru-RU" dirty="0"/>
              <a:t>Частни API</a:t>
            </a:r>
          </a:p>
          <a:p>
            <a:pPr lvl="2">
              <a:lnSpc>
                <a:spcPct val="110000"/>
              </a:lnSpc>
              <a:spcBef>
                <a:spcPts val="0"/>
              </a:spcBef>
            </a:pPr>
            <a:r>
              <a:rPr lang="ru-RU" dirty="0"/>
              <a:t>Те са вътрешни за дадена компютърна инфраструктура (например фирма) и се използват само за свързване на системи и данни в рамките на тази инфраструктура.</a:t>
            </a:r>
          </a:p>
          <a:p>
            <a:pPr lvl="2">
              <a:lnSpc>
                <a:spcPct val="110000"/>
              </a:lnSpc>
              <a:spcBef>
                <a:spcPts val="0"/>
              </a:spcBef>
            </a:pPr>
            <a:r>
              <a:rPr lang="ru-RU" dirty="0"/>
              <a:t>Не могат да се използват от програми извън тази инфраструктура</a:t>
            </a:r>
          </a:p>
          <a:p>
            <a:pPr lvl="1">
              <a:lnSpc>
                <a:spcPct val="110000"/>
              </a:lnSpc>
              <a:spcBef>
                <a:spcPts val="0"/>
              </a:spcBef>
            </a:pPr>
            <a:r>
              <a:rPr lang="ru-RU" dirty="0"/>
              <a:t>Публични API</a:t>
            </a:r>
          </a:p>
          <a:p>
            <a:pPr lvl="2">
              <a:lnSpc>
                <a:spcPct val="110000"/>
              </a:lnSpc>
              <a:spcBef>
                <a:spcPts val="0"/>
              </a:spcBef>
            </a:pPr>
            <a:r>
              <a:rPr lang="ru-RU" dirty="0"/>
              <a:t>Те са интерфейси, които могат да бъдат използвани от всеки </a:t>
            </a:r>
            <a:r>
              <a:rPr lang="en-US" dirty="0"/>
              <a:t>(</a:t>
            </a:r>
            <a:r>
              <a:rPr lang="ru-RU" dirty="0"/>
              <a:t>т.нар. </a:t>
            </a:r>
            <a:r>
              <a:rPr lang="en-US" dirty="0"/>
              <a:t>Open Public API)</a:t>
            </a:r>
            <a:r>
              <a:rPr lang="ru-RU" dirty="0"/>
              <a:t>. </a:t>
            </a:r>
          </a:p>
          <a:p>
            <a:pPr lvl="2">
              <a:lnSpc>
                <a:spcPct val="110000"/>
              </a:lnSpc>
              <a:spcBef>
                <a:spcPts val="0"/>
              </a:spcBef>
            </a:pPr>
            <a:r>
              <a:rPr lang="ru-RU" dirty="0"/>
              <a:t>Възможно е да има някакво форма на разрешение за достъп, която не е задължително да е пряко свързана с типа на клиента</a:t>
            </a:r>
            <a:r>
              <a:rPr lang="en-US" dirty="0"/>
              <a:t> (</a:t>
            </a:r>
            <a:r>
              <a:rPr lang="ru-RU" dirty="0"/>
              <a:t>т.нар. </a:t>
            </a:r>
            <a:r>
              <a:rPr lang="en-US" dirty="0"/>
              <a:t>Public API)</a:t>
            </a:r>
            <a:r>
              <a:rPr lang="ru-RU" dirty="0"/>
              <a:t>. </a:t>
            </a:r>
          </a:p>
          <a:p>
            <a:pPr lvl="2">
              <a:lnSpc>
                <a:spcPct val="110000"/>
              </a:lnSpc>
              <a:spcBef>
                <a:spcPts val="0"/>
              </a:spcBef>
            </a:pPr>
            <a:r>
              <a:rPr lang="ru-RU" dirty="0"/>
              <a:t>Възможно е да има някакво форма на заплащане за използане</a:t>
            </a:r>
            <a:r>
              <a:rPr lang="en-US" dirty="0"/>
              <a:t> (</a:t>
            </a:r>
            <a:r>
              <a:rPr lang="ru-RU" dirty="0"/>
              <a:t>т.нар. </a:t>
            </a:r>
            <a:r>
              <a:rPr lang="en-US" dirty="0"/>
              <a:t>Commercial API)</a:t>
            </a:r>
            <a:r>
              <a:rPr lang="ru-RU" dirty="0"/>
              <a:t>. </a:t>
            </a:r>
          </a:p>
          <a:p>
            <a:pPr lvl="1">
              <a:lnSpc>
                <a:spcPct val="110000"/>
              </a:lnSpc>
              <a:spcBef>
                <a:spcPts val="0"/>
              </a:spcBef>
            </a:pPr>
            <a:r>
              <a:rPr lang="ru-RU" dirty="0"/>
              <a:t>Партньорски API</a:t>
            </a:r>
          </a:p>
          <a:p>
            <a:pPr lvl="2">
              <a:lnSpc>
                <a:spcPct val="110000"/>
              </a:lnSpc>
              <a:spcBef>
                <a:spcPts val="0"/>
              </a:spcBef>
            </a:pPr>
            <a:r>
              <a:rPr lang="ru-RU" dirty="0"/>
              <a:t>Те са </a:t>
            </a:r>
            <a:r>
              <a:rPr lang="en-US" dirty="0"/>
              <a:t>API, </a:t>
            </a:r>
            <a:r>
              <a:rPr lang="bg-BG" dirty="0"/>
              <a:t>които са </a:t>
            </a:r>
            <a:r>
              <a:rPr lang="ru-RU" dirty="0"/>
              <a:t>достъпни само за оторизирани външни разработчици или потребители, необходими за подпомагане или развитие на партньорство.</a:t>
            </a:r>
          </a:p>
          <a:p>
            <a:pPr lvl="1">
              <a:lnSpc>
                <a:spcPct val="110000"/>
              </a:lnSpc>
              <a:spcBef>
                <a:spcPts val="0"/>
              </a:spcBef>
            </a:pPr>
            <a:r>
              <a:rPr lang="ru-RU" dirty="0"/>
              <a:t>Композитни API</a:t>
            </a:r>
          </a:p>
          <a:p>
            <a:pPr lvl="2">
              <a:lnSpc>
                <a:spcPct val="110000"/>
              </a:lnSpc>
              <a:spcBef>
                <a:spcPts val="0"/>
              </a:spcBef>
            </a:pPr>
            <a:r>
              <a:rPr lang="ru-RU" dirty="0"/>
              <a:t>Те комбинират две или повече различни API за справяне със сложни системни сценарии, изисквания или поведение.</a:t>
            </a:r>
            <a:endParaRPr lang="bg-BG" dirty="0"/>
          </a:p>
        </p:txBody>
      </p:sp>
    </p:spTree>
    <p:extLst>
      <p:ext uri="{BB962C8B-B14F-4D97-AF65-F5344CB8AC3E}">
        <p14:creationId xmlns:p14="http://schemas.microsoft.com/office/powerpoint/2010/main" val="4018531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dirty="0"/>
              <a:t>API</a:t>
            </a:r>
            <a:r>
              <a:rPr lang="bg-BG" dirty="0"/>
              <a:t>: тестване</a:t>
            </a:r>
          </a:p>
        </p:txBody>
      </p:sp>
      <p:sp>
        <p:nvSpPr>
          <p:cNvPr id="3" name="Content Placeholder 2"/>
          <p:cNvSpPr>
            <a:spLocks noGrp="1"/>
          </p:cNvSpPr>
          <p:nvPr>
            <p:ph idx="1"/>
          </p:nvPr>
        </p:nvSpPr>
        <p:spPr>
          <a:xfrm>
            <a:off x="908662" y="1143000"/>
            <a:ext cx="10900750" cy="5638800"/>
          </a:xfrm>
        </p:spPr>
        <p:txBody>
          <a:bodyPr vert="horz" lIns="91440" tIns="45720" rIns="91440" bIns="45720" rtlCol="0">
            <a:normAutofit fontScale="92500" lnSpcReduction="10000"/>
          </a:bodyPr>
          <a:lstStyle/>
          <a:p>
            <a:pPr>
              <a:lnSpc>
                <a:spcPct val="110000"/>
              </a:lnSpc>
              <a:spcBef>
                <a:spcPts val="0"/>
              </a:spcBef>
            </a:pPr>
            <a:r>
              <a:rPr lang="ru-RU" sz="3300" dirty="0"/>
              <a:t>Какво е тестване ново API?</a:t>
            </a:r>
          </a:p>
          <a:p>
            <a:pPr lvl="1">
              <a:lnSpc>
                <a:spcPct val="110000"/>
              </a:lnSpc>
              <a:spcBef>
                <a:spcPts val="0"/>
              </a:spcBef>
            </a:pPr>
            <a:r>
              <a:rPr lang="ru-RU" dirty="0"/>
              <a:t>Основният акцент е върху валидирането на отговорите на сървъра. </a:t>
            </a:r>
          </a:p>
          <a:p>
            <a:pPr lvl="1">
              <a:lnSpc>
                <a:spcPct val="110000"/>
              </a:lnSpc>
              <a:spcBef>
                <a:spcPts val="0"/>
              </a:spcBef>
            </a:pPr>
            <a:r>
              <a:rPr lang="ru-RU" dirty="0"/>
              <a:t>Тестването на API включва:</a:t>
            </a:r>
          </a:p>
          <a:p>
            <a:pPr lvl="2">
              <a:lnSpc>
                <a:spcPct val="110000"/>
              </a:lnSpc>
              <a:spcBef>
                <a:spcPts val="0"/>
              </a:spcBef>
            </a:pPr>
            <a:r>
              <a:rPr lang="ru-RU" dirty="0"/>
              <a:t>Тестване на производителността</a:t>
            </a:r>
          </a:p>
          <a:p>
            <a:pPr lvl="2">
              <a:lnSpc>
                <a:spcPct val="110000"/>
              </a:lnSpc>
              <a:spcBef>
                <a:spcPts val="0"/>
              </a:spcBef>
            </a:pPr>
            <a:r>
              <a:rPr lang="ru-RU" dirty="0"/>
              <a:t>Тестовене на бизнес логиката и функционалната коректност.</a:t>
            </a:r>
          </a:p>
          <a:p>
            <a:pPr lvl="2">
              <a:lnSpc>
                <a:spcPct val="110000"/>
              </a:lnSpc>
              <a:spcBef>
                <a:spcPts val="0"/>
              </a:spcBef>
            </a:pPr>
            <a:r>
              <a:rPr lang="ru-RU" dirty="0"/>
              <a:t>Тестване на сигурността чрез симулиране на системни атаки.</a:t>
            </a:r>
          </a:p>
          <a:p>
            <a:pPr>
              <a:lnSpc>
                <a:spcPct val="110000"/>
              </a:lnSpc>
              <a:spcBef>
                <a:spcPts val="0"/>
              </a:spcBef>
            </a:pPr>
            <a:r>
              <a:rPr lang="ru-RU" sz="3300" dirty="0"/>
              <a:t>Как се използва нов API?</a:t>
            </a:r>
          </a:p>
          <a:p>
            <a:pPr lvl="1">
              <a:lnSpc>
                <a:spcPct val="110000"/>
              </a:lnSpc>
              <a:spcBef>
                <a:spcPts val="0"/>
              </a:spcBef>
            </a:pPr>
            <a:r>
              <a:rPr lang="ru-RU" dirty="0"/>
              <a:t>Получаване на API-ключ. </a:t>
            </a:r>
          </a:p>
          <a:p>
            <a:pPr lvl="2">
              <a:lnSpc>
                <a:spcPct val="110000"/>
              </a:lnSpc>
              <a:spcBef>
                <a:spcPts val="0"/>
              </a:spcBef>
            </a:pPr>
            <a:r>
              <a:rPr lang="ru-RU" dirty="0"/>
              <a:t>Това става чрез създаване на проверен акаунт при доставчика на API.</a:t>
            </a:r>
          </a:p>
          <a:p>
            <a:pPr lvl="1">
              <a:lnSpc>
                <a:spcPct val="110000"/>
              </a:lnSpc>
              <a:spcBef>
                <a:spcPts val="0"/>
              </a:spcBef>
            </a:pPr>
            <a:r>
              <a:rPr lang="ru-RU" dirty="0"/>
              <a:t>Настройване API-клиент. </a:t>
            </a:r>
          </a:p>
          <a:p>
            <a:pPr lvl="2">
              <a:lnSpc>
                <a:spcPct val="110000"/>
              </a:lnSpc>
              <a:spcBef>
                <a:spcPts val="0"/>
              </a:spcBef>
            </a:pPr>
            <a:r>
              <a:rPr lang="ru-RU" dirty="0"/>
              <a:t>API клиент е необходим за лесно структурирате на </a:t>
            </a:r>
            <a:r>
              <a:rPr lang="ru-RU" dirty="0" smtClean="0"/>
              <a:t>API-заявки: Изисква </a:t>
            </a:r>
            <a:r>
              <a:rPr lang="ru-RU" dirty="0"/>
              <a:t>да има  валиден API-ключ.</a:t>
            </a:r>
          </a:p>
          <a:p>
            <a:pPr lvl="1">
              <a:lnSpc>
                <a:spcPct val="110000"/>
              </a:lnSpc>
              <a:spcBef>
                <a:spcPts val="0"/>
              </a:spcBef>
            </a:pPr>
            <a:r>
              <a:rPr lang="ru-RU" dirty="0"/>
              <a:t>Използването на апи изисква стриктно спазване на синтаксис на API-заявките.</a:t>
            </a:r>
            <a:endParaRPr lang="bg-BG" dirty="0"/>
          </a:p>
        </p:txBody>
      </p:sp>
    </p:spTree>
    <p:extLst>
      <p:ext uri="{BB962C8B-B14F-4D97-AF65-F5344CB8AC3E}">
        <p14:creationId xmlns:p14="http://schemas.microsoft.com/office/powerpoint/2010/main" val="1742583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Режим „</a:t>
            </a:r>
            <a:r>
              <a:rPr lang="en-US" dirty="0" smtClean="0"/>
              <a:t>Kernel mode“</a:t>
            </a:r>
            <a:endParaRPr lang="bg-BG" dirty="0"/>
          </a:p>
        </p:txBody>
      </p:sp>
      <p:sp>
        <p:nvSpPr>
          <p:cNvPr id="3" name="Content Placeholder 2"/>
          <p:cNvSpPr>
            <a:spLocks noGrp="1"/>
          </p:cNvSpPr>
          <p:nvPr>
            <p:ph idx="1"/>
          </p:nvPr>
        </p:nvSpPr>
        <p:spPr/>
        <p:txBody>
          <a:bodyPr>
            <a:normAutofit/>
          </a:bodyPr>
          <a:lstStyle/>
          <a:p>
            <a:r>
              <a:rPr lang="bg-BG" sz="2400" dirty="0" smtClean="0"/>
              <a:t>Когато приложенията работят в т.нар. „Р</a:t>
            </a:r>
            <a:r>
              <a:rPr lang="ru-RU" sz="2400" dirty="0" smtClean="0"/>
              <a:t>ежим </a:t>
            </a:r>
            <a:r>
              <a:rPr lang="ru-RU" sz="2400" dirty="0"/>
              <a:t>на </a:t>
            </a:r>
            <a:r>
              <a:rPr lang="ru-RU" sz="2400" dirty="0" smtClean="0"/>
              <a:t>ядрото</a:t>
            </a:r>
            <a:r>
              <a:rPr lang="bg-BG" sz="2400" dirty="0" smtClean="0"/>
              <a:t>“</a:t>
            </a:r>
            <a:r>
              <a:rPr lang="ru-RU" sz="2400" dirty="0" smtClean="0"/>
              <a:t> (англ. </a:t>
            </a:r>
            <a:r>
              <a:rPr lang="en-US" sz="2400" dirty="0" smtClean="0"/>
              <a:t>Kernel mode)</a:t>
            </a:r>
            <a:r>
              <a:rPr lang="bg-BG" sz="2400" dirty="0" smtClean="0"/>
              <a:t> те имат абсолютна „власт“</a:t>
            </a:r>
            <a:r>
              <a:rPr lang="ru-RU" sz="2400" dirty="0" smtClean="0"/>
              <a:t> над хардуера, т.е. те вижда </a:t>
            </a:r>
            <a:r>
              <a:rPr lang="ru-RU" sz="2400" dirty="0"/>
              <a:t>цялата памет, всички </a:t>
            </a:r>
            <a:r>
              <a:rPr lang="ru-RU" sz="2400" dirty="0" smtClean="0"/>
              <a:t>вътрешни и периферни устройства са достъпни а управление, </a:t>
            </a:r>
            <a:r>
              <a:rPr lang="ru-RU" sz="2400" dirty="0"/>
              <a:t>всички инструкции могат да бъдат изпълнени</a:t>
            </a:r>
            <a:r>
              <a:rPr lang="ru-RU" sz="2400" dirty="0" smtClean="0"/>
              <a:t>.</a:t>
            </a:r>
          </a:p>
          <a:p>
            <a:pPr lvl="1"/>
            <a:r>
              <a:rPr lang="ru-RU" sz="2000" dirty="0" smtClean="0"/>
              <a:t>За разлика от това, в </a:t>
            </a:r>
            <a:r>
              <a:rPr lang="ru-RU" sz="2000" dirty="0"/>
              <a:t>потребителски режим (англ. </a:t>
            </a:r>
            <a:r>
              <a:rPr lang="en-US" sz="2000" dirty="0"/>
              <a:t>Kernel mode)</a:t>
            </a:r>
            <a:r>
              <a:rPr lang="ru-RU" sz="2000" dirty="0"/>
              <a:t> </a:t>
            </a:r>
            <a:r>
              <a:rPr lang="ru-RU" sz="2000" dirty="0" smtClean="0"/>
              <a:t>всички </a:t>
            </a:r>
            <a:r>
              <a:rPr lang="ru-RU" sz="2000" dirty="0"/>
              <a:t>устройства са </a:t>
            </a:r>
            <a:r>
              <a:rPr lang="ru-RU" sz="2000" dirty="0" smtClean="0"/>
              <a:t>«скрити» </a:t>
            </a:r>
            <a:r>
              <a:rPr lang="ru-RU" sz="2000" dirty="0"/>
              <a:t>и по -голямата част от основната памет е </a:t>
            </a:r>
            <a:r>
              <a:rPr lang="ru-RU" sz="2000" dirty="0" smtClean="0"/>
              <a:t>недостъпна.</a:t>
            </a:r>
          </a:p>
          <a:p>
            <a:pPr lvl="1"/>
            <a:r>
              <a:rPr lang="ru-RU" sz="2000" dirty="0" smtClean="0"/>
              <a:t>Разликата е в начина на работа на специално подсистема на ОС, известна като «Управление </a:t>
            </a:r>
            <a:r>
              <a:rPr lang="ru-RU" sz="2000" dirty="0"/>
              <a:t>на </a:t>
            </a:r>
            <a:r>
              <a:rPr lang="ru-RU" sz="2000" dirty="0" smtClean="0"/>
              <a:t>паметта».</a:t>
            </a:r>
          </a:p>
          <a:p>
            <a:r>
              <a:rPr lang="ru-RU" sz="2400" dirty="0" smtClean="0"/>
              <a:t>ОС най-често реализират три </a:t>
            </a:r>
            <a:r>
              <a:rPr lang="bg-BG" sz="2400" dirty="0" smtClean="0"/>
              <a:t>техники </a:t>
            </a:r>
            <a:br>
              <a:rPr lang="bg-BG" sz="2400" dirty="0" smtClean="0"/>
            </a:br>
            <a:r>
              <a:rPr lang="bg-BG" sz="2400" dirty="0" smtClean="0"/>
              <a:t>за да може едно приложение да </a:t>
            </a:r>
            <a:br>
              <a:rPr lang="bg-BG" sz="2400" dirty="0" smtClean="0"/>
            </a:br>
            <a:r>
              <a:rPr lang="bg-BG" sz="2400" dirty="0" smtClean="0"/>
              <a:t>премине в </a:t>
            </a:r>
            <a:r>
              <a:rPr lang="ru-RU" sz="2400" dirty="0" smtClean="0"/>
              <a:t>режим  </a:t>
            </a:r>
            <a:r>
              <a:rPr lang="ru-RU" sz="2400" dirty="0"/>
              <a:t>на ядрото</a:t>
            </a:r>
            <a:r>
              <a:rPr lang="ru-RU" sz="2400" dirty="0" smtClean="0"/>
              <a:t>:</a:t>
            </a:r>
          </a:p>
        </p:txBody>
      </p:sp>
      <p:pic>
        <p:nvPicPr>
          <p:cNvPr id="4" name="Picture 3"/>
          <p:cNvPicPr>
            <a:picLocks noChangeAspect="1"/>
          </p:cNvPicPr>
          <p:nvPr/>
        </p:nvPicPr>
        <p:blipFill>
          <a:blip r:embed="rId3"/>
          <a:stretch>
            <a:fillRect/>
          </a:stretch>
        </p:blipFill>
        <p:spPr>
          <a:xfrm>
            <a:off x="6704012" y="4038600"/>
            <a:ext cx="4744225" cy="2650836"/>
          </a:xfrm>
          <a:prstGeom prst="rect">
            <a:avLst/>
          </a:prstGeom>
        </p:spPr>
      </p:pic>
    </p:spTree>
    <p:extLst>
      <p:ext uri="{BB962C8B-B14F-4D97-AF65-F5344CB8AC3E}">
        <p14:creationId xmlns:p14="http://schemas.microsoft.com/office/powerpoint/2010/main" val="124301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Режим „</a:t>
            </a:r>
            <a:r>
              <a:rPr lang="en-US" dirty="0" smtClean="0"/>
              <a:t>Kernel mode“</a:t>
            </a:r>
            <a:endParaRPr lang="bg-BG" dirty="0"/>
          </a:p>
        </p:txBody>
      </p:sp>
      <p:sp>
        <p:nvSpPr>
          <p:cNvPr id="3" name="Content Placeholder 2"/>
          <p:cNvSpPr>
            <a:spLocks noGrp="1"/>
          </p:cNvSpPr>
          <p:nvPr>
            <p:ph idx="1"/>
          </p:nvPr>
        </p:nvSpPr>
        <p:spPr/>
        <p:txBody>
          <a:bodyPr>
            <a:noAutofit/>
          </a:bodyPr>
          <a:lstStyle/>
          <a:p>
            <a:pPr>
              <a:spcBef>
                <a:spcPts val="0"/>
              </a:spcBef>
            </a:pPr>
            <a:r>
              <a:rPr lang="ru-RU" sz="2800" dirty="0"/>
              <a:t>Всяко прекъсване или изключение </a:t>
            </a:r>
            <a:r>
              <a:rPr lang="bg-BG" sz="2800" dirty="0" smtClean="0"/>
              <a:t>принуждава</a:t>
            </a:r>
            <a:r>
              <a:rPr lang="ru-RU" sz="2800" dirty="0" smtClean="0"/>
              <a:t> </a:t>
            </a:r>
            <a:r>
              <a:rPr lang="ru-RU" sz="2800" dirty="0"/>
              <a:t>процесора да преминава от текущия си режим в режим на ядрото</a:t>
            </a:r>
            <a:r>
              <a:rPr lang="ru-RU" sz="2800" dirty="0" smtClean="0"/>
              <a:t>.</a:t>
            </a:r>
            <a:endParaRPr lang="en-US" sz="2800" dirty="0" smtClean="0"/>
          </a:p>
          <a:p>
            <a:pPr lvl="1">
              <a:spcBef>
                <a:spcPts val="0"/>
              </a:spcBef>
            </a:pPr>
            <a:r>
              <a:rPr lang="ru-RU" sz="2400" dirty="0" smtClean="0"/>
              <a:t>Това </a:t>
            </a:r>
            <a:r>
              <a:rPr lang="ru-RU" sz="2400" dirty="0"/>
              <a:t>гарантира, че ОС, а </a:t>
            </a:r>
            <a:r>
              <a:rPr lang="ru-RU" sz="2400" dirty="0" smtClean="0"/>
              <a:t>не </a:t>
            </a:r>
            <a:r>
              <a:rPr lang="ru-RU" sz="2400" dirty="0"/>
              <a:t>е </a:t>
            </a:r>
            <a:r>
              <a:rPr lang="ru-RU" sz="2400" dirty="0" smtClean="0"/>
              <a:t>потребителски процес, </a:t>
            </a:r>
            <a:r>
              <a:rPr lang="ru-RU" sz="2400" dirty="0"/>
              <a:t>ще </a:t>
            </a:r>
            <a:r>
              <a:rPr lang="ru-RU" sz="2400" dirty="0" smtClean="0"/>
              <a:t>получи извесите за събитието, което се е реализирало..</a:t>
            </a:r>
            <a:endParaRPr lang="en-US" sz="2400" dirty="0" smtClean="0"/>
          </a:p>
          <a:p>
            <a:pPr lvl="1">
              <a:spcBef>
                <a:spcPts val="0"/>
              </a:spcBef>
            </a:pPr>
            <a:r>
              <a:rPr lang="ru-RU" sz="2400" dirty="0" smtClean="0"/>
              <a:t>Това </a:t>
            </a:r>
            <a:r>
              <a:rPr lang="ru-RU" sz="2400" dirty="0"/>
              <a:t>гарантира, че потребителските процеси не могат да </a:t>
            </a:r>
            <a:r>
              <a:rPr lang="ru-RU" sz="2400" dirty="0" smtClean="0"/>
              <a:t>прекъснат </a:t>
            </a:r>
            <a:r>
              <a:rPr lang="ru-RU" sz="2400" dirty="0"/>
              <a:t>работата на </a:t>
            </a:r>
            <a:r>
              <a:rPr lang="ru-RU" sz="2400" dirty="0" smtClean="0"/>
              <a:t>ОС: тъй </a:t>
            </a:r>
            <a:r>
              <a:rPr lang="ru-RU" sz="2400" dirty="0"/>
              <a:t>като процесът работи в потребителски режим и може да види само </a:t>
            </a:r>
            <a:r>
              <a:rPr lang="ru-RU" sz="2400" dirty="0" smtClean="0"/>
              <a:t>собственото адресно поле, то той </a:t>
            </a:r>
            <a:r>
              <a:rPr lang="ru-RU" sz="2400" dirty="0"/>
              <a:t>не може да </a:t>
            </a:r>
            <a:r>
              <a:rPr lang="ru-RU" sz="2400" dirty="0" smtClean="0"/>
              <a:t>«види» данните </a:t>
            </a:r>
            <a:r>
              <a:rPr lang="ru-RU" sz="2400" dirty="0"/>
              <a:t>на ОС.</a:t>
            </a:r>
            <a:endParaRPr lang="en-US" sz="2400" dirty="0"/>
          </a:p>
          <a:p>
            <a:pPr>
              <a:spcBef>
                <a:spcPts val="0"/>
              </a:spcBef>
            </a:pPr>
            <a:r>
              <a:rPr lang="ru-RU" sz="2800" dirty="0" smtClean="0"/>
              <a:t>Когато </a:t>
            </a:r>
            <a:r>
              <a:rPr lang="ru-RU" sz="2800" dirty="0"/>
              <a:t>потребителската програма се изпълнява като процес, ОС принуждава процеса да работи в потребителски режим</a:t>
            </a:r>
            <a:r>
              <a:rPr lang="ru-RU" sz="2800" dirty="0" smtClean="0"/>
              <a:t>.</a:t>
            </a:r>
            <a:endParaRPr lang="en-US" sz="2800" dirty="0" smtClean="0"/>
          </a:p>
          <a:p>
            <a:pPr lvl="1">
              <a:spcBef>
                <a:spcPts val="0"/>
              </a:spcBef>
            </a:pPr>
            <a:r>
              <a:rPr lang="ru-RU" sz="2400" dirty="0" smtClean="0"/>
              <a:t>Всеки </a:t>
            </a:r>
            <a:r>
              <a:rPr lang="ru-RU" sz="2400" dirty="0"/>
              <a:t>опит за нарушаване на потребителския режим ще доведе до изключение, което </a:t>
            </a:r>
            <a:r>
              <a:rPr lang="ru-RU" sz="2400" dirty="0" smtClean="0"/>
              <a:t>се обработва </a:t>
            </a:r>
            <a:r>
              <a:rPr lang="ru-RU" sz="2400" dirty="0"/>
              <a:t>от </a:t>
            </a:r>
            <a:r>
              <a:rPr lang="ru-RU" sz="2400" dirty="0" smtClean="0"/>
              <a:t>ОС: по </a:t>
            </a:r>
            <a:r>
              <a:rPr lang="ru-RU" sz="2400" dirty="0"/>
              <a:t>този начин ОС може да определи </a:t>
            </a:r>
            <a:r>
              <a:rPr lang="ru-RU" sz="2400" dirty="0" smtClean="0"/>
              <a:t>кой и кога се е опитал да наруши ограниченията на </a:t>
            </a:r>
            <a:r>
              <a:rPr lang="ru-RU" sz="2400" dirty="0"/>
              <a:t>потребителския режим</a:t>
            </a:r>
            <a:r>
              <a:rPr lang="ru-RU" sz="2400" dirty="0" smtClean="0"/>
              <a:t>.</a:t>
            </a:r>
            <a:endParaRPr lang="en-US" sz="2400" dirty="0" smtClean="0"/>
          </a:p>
          <a:p>
            <a:pPr lvl="2">
              <a:spcBef>
                <a:spcPts val="0"/>
              </a:spcBef>
            </a:pPr>
            <a:r>
              <a:rPr lang="ru-RU" sz="2000" dirty="0" smtClean="0"/>
              <a:t>Това </a:t>
            </a:r>
            <a:r>
              <a:rPr lang="ru-RU" sz="2000" dirty="0"/>
              <a:t>не позволява на </a:t>
            </a:r>
            <a:r>
              <a:rPr lang="ru-RU" sz="2000" dirty="0" smtClean="0"/>
              <a:t>потребителски </a:t>
            </a:r>
            <a:r>
              <a:rPr lang="ru-RU" sz="2000" dirty="0"/>
              <a:t>програми да </a:t>
            </a:r>
            <a:r>
              <a:rPr lang="ru-RU" sz="2000" dirty="0" smtClean="0"/>
              <a:t>«подриват» </a:t>
            </a:r>
            <a:r>
              <a:rPr lang="ru-RU" sz="2000" dirty="0"/>
              <a:t>работата на ОС.</a:t>
            </a:r>
            <a:endParaRPr lang="bg-BG" sz="2000" dirty="0"/>
          </a:p>
        </p:txBody>
      </p:sp>
    </p:spTree>
    <p:extLst>
      <p:ext uri="{BB962C8B-B14F-4D97-AF65-F5344CB8AC3E}">
        <p14:creationId xmlns:p14="http://schemas.microsoft.com/office/powerpoint/2010/main" val="4044402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Събития</a:t>
            </a:r>
            <a:endParaRPr lang="bg-BG" dirty="0"/>
          </a:p>
        </p:txBody>
      </p:sp>
      <p:sp>
        <p:nvSpPr>
          <p:cNvPr id="3" name="Content Placeholder 2"/>
          <p:cNvSpPr>
            <a:spLocks noGrp="1"/>
          </p:cNvSpPr>
          <p:nvPr>
            <p:ph idx="1"/>
          </p:nvPr>
        </p:nvSpPr>
        <p:spPr/>
        <p:txBody>
          <a:bodyPr>
            <a:normAutofit/>
          </a:bodyPr>
          <a:lstStyle/>
          <a:p>
            <a:r>
              <a:rPr lang="ru-RU" sz="2800" dirty="0"/>
              <a:t>ОС не може да се «довери» на потребителски процеси:</a:t>
            </a:r>
          </a:p>
          <a:p>
            <a:pPr lvl="1"/>
            <a:r>
              <a:rPr lang="ru-RU" sz="2400" dirty="0"/>
              <a:t>Потребителските процеси могат да бъдат </a:t>
            </a:r>
            <a:r>
              <a:rPr lang="ru-RU" sz="2400" dirty="0" smtClean="0"/>
              <a:t>злонамерени или да имат грешки.</a:t>
            </a:r>
            <a:endParaRPr lang="ru-RU" sz="2400" dirty="0"/>
          </a:p>
          <a:p>
            <a:pPr lvl="1"/>
            <a:r>
              <a:rPr lang="ru-RU" sz="2400" dirty="0"/>
              <a:t>Сривът на потребителския процес не трябва да засяга ОС.</a:t>
            </a:r>
          </a:p>
          <a:p>
            <a:pPr lvl="1"/>
            <a:r>
              <a:rPr lang="ru-RU" sz="2400" dirty="0"/>
              <a:t>Един </a:t>
            </a:r>
            <a:r>
              <a:rPr lang="ru-RU" sz="2400" dirty="0" smtClean="0"/>
              <a:t>потребителски процес </a:t>
            </a:r>
            <a:r>
              <a:rPr lang="ru-RU" sz="2400" dirty="0"/>
              <a:t>не </a:t>
            </a:r>
            <a:r>
              <a:rPr lang="ru-RU" sz="2400" dirty="0" smtClean="0"/>
              <a:t>трябва да може </a:t>
            </a:r>
            <a:r>
              <a:rPr lang="ru-RU" sz="2400" dirty="0"/>
              <a:t>да </a:t>
            </a:r>
            <a:r>
              <a:rPr lang="ru-RU" sz="2400" dirty="0" smtClean="0"/>
              <a:t>„унищожи“ процесора</a:t>
            </a:r>
            <a:r>
              <a:rPr lang="ru-RU" sz="2400" dirty="0"/>
              <a:t>.</a:t>
            </a:r>
          </a:p>
          <a:p>
            <a:pPr lvl="1"/>
            <a:r>
              <a:rPr lang="ru-RU" sz="2400" dirty="0" smtClean="0"/>
              <a:t>Съществуват различни таймерни прекъсвания.</a:t>
            </a:r>
            <a:endParaRPr lang="bg-BG" sz="2400" dirty="0"/>
          </a:p>
          <a:p>
            <a:r>
              <a:rPr lang="ru-RU" sz="2800" dirty="0" smtClean="0"/>
              <a:t>Затова общия подход за ОС изисква потребителските </a:t>
            </a:r>
            <a:r>
              <a:rPr lang="ru-RU" sz="2800" dirty="0"/>
              <a:t>процеси не могат </a:t>
            </a:r>
            <a:r>
              <a:rPr lang="ru-RU" sz="2800" dirty="0" smtClean="0"/>
              <a:t>да «прекъсват» дейностите на ОС.</a:t>
            </a:r>
          </a:p>
          <a:p>
            <a:pPr lvl="1"/>
            <a:r>
              <a:rPr lang="ru-RU" sz="2400" dirty="0" smtClean="0"/>
              <a:t>Затова прекъсванията от ядтото на ОС имат по-висок приоритет от прекъсванията на потребителите.</a:t>
            </a:r>
          </a:p>
          <a:p>
            <a:pPr lvl="1"/>
            <a:r>
              <a:rPr lang="ru-RU" sz="2400" dirty="0" smtClean="0"/>
              <a:t>Има апаратни прекъсвания, които са с по-висок приоритет от прекъсванията на ядтото на ОС.</a:t>
            </a:r>
          </a:p>
        </p:txBody>
      </p:sp>
    </p:spTree>
    <p:extLst>
      <p:ext uri="{BB962C8B-B14F-4D97-AF65-F5344CB8AC3E}">
        <p14:creationId xmlns:p14="http://schemas.microsoft.com/office/powerpoint/2010/main" val="341377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Събития</a:t>
            </a:r>
            <a:endParaRPr lang="bg-BG" dirty="0"/>
          </a:p>
        </p:txBody>
      </p:sp>
      <p:sp>
        <p:nvSpPr>
          <p:cNvPr id="3" name="Content Placeholder 2"/>
          <p:cNvSpPr>
            <a:spLocks noGrp="1"/>
          </p:cNvSpPr>
          <p:nvPr>
            <p:ph idx="1"/>
          </p:nvPr>
        </p:nvSpPr>
        <p:spPr/>
        <p:txBody>
          <a:bodyPr>
            <a:normAutofit/>
          </a:bodyPr>
          <a:lstStyle/>
          <a:p>
            <a:r>
              <a:rPr lang="ru-RU" sz="2800" i="1" dirty="0">
                <a:effectLst>
                  <a:outerShdw blurRad="38100" dist="38100" dir="2700000" algn="tl">
                    <a:srgbClr val="000000">
                      <a:alpha val="43137"/>
                    </a:srgbClr>
                  </a:outerShdw>
                </a:effectLst>
              </a:rPr>
              <a:t>Събитие</a:t>
            </a:r>
            <a:r>
              <a:rPr lang="ru-RU" sz="2800" dirty="0"/>
              <a:t> </a:t>
            </a:r>
            <a:r>
              <a:rPr lang="ru-RU" sz="2800" dirty="0" smtClean="0"/>
              <a:t>(в контекст</a:t>
            </a:r>
            <a:r>
              <a:rPr lang="bg-BG" sz="2800" dirty="0" smtClean="0"/>
              <a:t>а на компютърна система)</a:t>
            </a:r>
            <a:r>
              <a:rPr lang="ru-RU" sz="2800" dirty="0" smtClean="0"/>
              <a:t> </a:t>
            </a:r>
            <a:r>
              <a:rPr lang="ru-RU" sz="2800" dirty="0"/>
              <a:t>е действие или </a:t>
            </a:r>
            <a:r>
              <a:rPr lang="ru-RU" sz="2800" dirty="0" smtClean="0"/>
              <a:t>явление, </a:t>
            </a:r>
            <a:r>
              <a:rPr lang="ru-RU" sz="2800" dirty="0"/>
              <a:t>което може да бъде идентифицирано </a:t>
            </a:r>
            <a:r>
              <a:rPr lang="ru-RU" sz="2800" dirty="0" smtClean="0"/>
              <a:t>от </a:t>
            </a:r>
            <a:r>
              <a:rPr lang="ru-RU" sz="2800" dirty="0"/>
              <a:t>програма и има значение за </a:t>
            </a:r>
            <a:r>
              <a:rPr lang="ru-RU" sz="2800" dirty="0" smtClean="0"/>
              <a:t>работата на хардуера </a:t>
            </a:r>
            <a:r>
              <a:rPr lang="ru-RU" sz="2800" dirty="0"/>
              <a:t>или </a:t>
            </a:r>
            <a:r>
              <a:rPr lang="ru-RU" sz="2800" dirty="0" smtClean="0"/>
              <a:t>софтуера. </a:t>
            </a:r>
            <a:endParaRPr lang="en-US" sz="2800" dirty="0" smtClean="0"/>
          </a:p>
          <a:p>
            <a:r>
              <a:rPr lang="ru-RU" sz="2800" dirty="0" smtClean="0"/>
              <a:t>ОС </a:t>
            </a:r>
            <a:r>
              <a:rPr lang="ru-RU" sz="2800" dirty="0"/>
              <a:t>е софтуерна система, управлявана от събития, </a:t>
            </a:r>
            <a:r>
              <a:rPr lang="ru-RU" sz="2800" dirty="0" smtClean="0"/>
              <a:t>които могат да се разделят на два вида:</a:t>
            </a:r>
          </a:p>
          <a:p>
            <a:pPr lvl="1"/>
            <a:r>
              <a:rPr lang="ru-RU" sz="2400" i="1" dirty="0" smtClean="0">
                <a:effectLst>
                  <a:outerShdw blurRad="38100" dist="38100" dir="2700000" algn="tl">
                    <a:srgbClr val="000000">
                      <a:alpha val="43137"/>
                    </a:srgbClr>
                  </a:outerShdw>
                </a:effectLst>
              </a:rPr>
              <a:t>Прекъсването</a:t>
            </a:r>
            <a:r>
              <a:rPr lang="ru-RU" sz="2400" dirty="0" smtClean="0"/>
              <a:t> е събитие, генерирано от апаратната част на компютъра или програми с цел ОС да реагира на случилото се изменение в средата на работа на компютъра</a:t>
            </a:r>
            <a:endParaRPr lang="ru-RU" sz="2400" dirty="0"/>
          </a:p>
          <a:p>
            <a:pPr lvl="1"/>
            <a:r>
              <a:rPr lang="ru-RU" sz="2400" i="1" dirty="0" smtClean="0">
                <a:effectLst>
                  <a:outerShdw blurRad="38100" dist="38100" dir="2700000" algn="tl">
                    <a:srgbClr val="000000">
                      <a:alpha val="43137"/>
                    </a:srgbClr>
                  </a:outerShdw>
                </a:effectLst>
              </a:rPr>
              <a:t>Изключения</a:t>
            </a:r>
            <a:r>
              <a:rPr lang="ru-RU" sz="2400" dirty="0" smtClean="0"/>
              <a:t> е събитие</a:t>
            </a:r>
            <a:r>
              <a:rPr lang="ru-RU" sz="2400" dirty="0"/>
              <a:t>, </a:t>
            </a:r>
            <a:r>
              <a:rPr lang="ru-RU" sz="2400" dirty="0" smtClean="0"/>
              <a:t>което </a:t>
            </a:r>
            <a:r>
              <a:rPr lang="ru-RU" sz="2400" dirty="0"/>
              <a:t>се </a:t>
            </a:r>
            <a:r>
              <a:rPr lang="bg-BG" sz="2400" dirty="0" smtClean="0"/>
              <a:t>генерира </a:t>
            </a:r>
            <a:r>
              <a:rPr lang="ru-RU" sz="2400" dirty="0" smtClean="0"/>
              <a:t>по </a:t>
            </a:r>
            <a:r>
              <a:rPr lang="ru-RU" sz="2400" dirty="0"/>
              <a:t>време на изпълнението на програма, </a:t>
            </a:r>
            <a:r>
              <a:rPr lang="ru-RU" sz="2400" dirty="0" smtClean="0"/>
              <a:t>при което се нарушава </a:t>
            </a:r>
            <a:r>
              <a:rPr lang="ru-RU" sz="2400" dirty="0"/>
              <a:t>нормалния поток на инструкциите на програмата</a:t>
            </a:r>
            <a:r>
              <a:rPr lang="ru-RU" sz="2400" dirty="0" smtClean="0"/>
              <a:t>.</a:t>
            </a:r>
          </a:p>
          <a:p>
            <a:pPr lvl="2"/>
            <a:r>
              <a:rPr lang="ru-RU" sz="2000" dirty="0" smtClean="0"/>
              <a:t>Изключението може да се дефинира и като специално </a:t>
            </a:r>
            <a:r>
              <a:rPr lang="ru-RU" sz="2000" dirty="0"/>
              <a:t>състояние, </a:t>
            </a:r>
            <a:r>
              <a:rPr lang="ru-RU" sz="2000" dirty="0" smtClean="0"/>
              <a:t>получено при изпълнение на програмата</a:t>
            </a:r>
            <a:r>
              <a:rPr lang="ru-RU" sz="2000" dirty="0"/>
              <a:t>, </a:t>
            </a:r>
            <a:r>
              <a:rPr lang="ru-RU" sz="2000" dirty="0" smtClean="0"/>
              <a:t>но което </a:t>
            </a:r>
            <a:r>
              <a:rPr lang="ru-RU" sz="2000" dirty="0"/>
              <a:t>е неочаквано или аномално.</a:t>
            </a:r>
            <a:endParaRPr lang="ru-RU" sz="2000" dirty="0" smtClean="0"/>
          </a:p>
        </p:txBody>
      </p:sp>
    </p:spTree>
    <p:extLst>
      <p:ext uri="{BB962C8B-B14F-4D97-AF65-F5344CB8AC3E}">
        <p14:creationId xmlns:p14="http://schemas.microsoft.com/office/powerpoint/2010/main" val="2319930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Прекъсвания</a:t>
            </a:r>
            <a:endParaRPr lang="bg-BG" dirty="0"/>
          </a:p>
        </p:txBody>
      </p:sp>
      <p:sp>
        <p:nvSpPr>
          <p:cNvPr id="3" name="Content Placeholder 2"/>
          <p:cNvSpPr>
            <a:spLocks noGrp="1"/>
          </p:cNvSpPr>
          <p:nvPr>
            <p:ph idx="1"/>
          </p:nvPr>
        </p:nvSpPr>
        <p:spPr/>
        <p:txBody>
          <a:bodyPr>
            <a:noAutofit/>
          </a:bodyPr>
          <a:lstStyle/>
          <a:p>
            <a:pPr>
              <a:spcBef>
                <a:spcPts val="0"/>
              </a:spcBef>
            </a:pPr>
            <a:r>
              <a:rPr lang="ru-RU" sz="2600" dirty="0" smtClean="0"/>
              <a:t>Това е техника за да се извести системата, че е постъпило нещо на входа и то се нуждае от обработка или или </a:t>
            </a:r>
            <a:r>
              <a:rPr lang="ru-RU" sz="2600" dirty="0"/>
              <a:t>кога е завършен изходът.</a:t>
            </a:r>
          </a:p>
          <a:p>
            <a:pPr lvl="1">
              <a:spcBef>
                <a:spcPts val="0"/>
              </a:spcBef>
            </a:pPr>
            <a:r>
              <a:rPr lang="ru-RU" sz="2300" dirty="0"/>
              <a:t>Устройството изпраща сигнал в процесора по протежение на шината на състоянието.</a:t>
            </a:r>
          </a:p>
          <a:p>
            <a:pPr marL="347663" lvl="2" indent="-347663">
              <a:spcBef>
                <a:spcPts val="0"/>
              </a:spcBef>
              <a:buSzPct val="70000"/>
              <a:buFont typeface="Wingdings" panose="05000000000000000000" pitchFamily="2" charset="2"/>
              <a:buChar char="Ä"/>
            </a:pPr>
            <a:r>
              <a:rPr lang="ru-RU" sz="2600" dirty="0"/>
              <a:t>Ако прекъсването има приоритет, </a:t>
            </a:r>
            <a:r>
              <a:rPr lang="ru-RU" sz="2600" dirty="0" smtClean="0"/>
              <a:t>по-голям </a:t>
            </a:r>
            <a:r>
              <a:rPr lang="ru-RU" sz="2600" dirty="0"/>
              <a:t>от </a:t>
            </a:r>
            <a:r>
              <a:rPr lang="ru-RU" sz="2600" dirty="0" smtClean="0"/>
              <a:t>текущо обработвания </a:t>
            </a:r>
            <a:r>
              <a:rPr lang="bg-BG" sz="2600" dirty="0" smtClean="0"/>
              <a:t>процес или прекъсване</a:t>
            </a:r>
            <a:r>
              <a:rPr lang="ru-RU" sz="2600" dirty="0" smtClean="0"/>
              <a:t>, </a:t>
            </a:r>
            <a:r>
              <a:rPr lang="ru-RU" sz="2600" dirty="0"/>
              <a:t>процесорът ще </a:t>
            </a:r>
            <a:r>
              <a:rPr lang="ru-RU" sz="2600" dirty="0" smtClean="0"/>
              <a:t>прекрати обработката и </a:t>
            </a:r>
            <a:r>
              <a:rPr lang="ru-RU" sz="2600" dirty="0"/>
              <a:t>ще премине към </a:t>
            </a:r>
            <a:r>
              <a:rPr lang="ru-RU" sz="2600" dirty="0" smtClean="0"/>
              <a:t>специална подпрограма за обработка на конкретното прекъсване (</a:t>
            </a:r>
            <a:r>
              <a:rPr lang="en-US" sz="2600" dirty="0"/>
              <a:t>Interrupt Service Routine </a:t>
            </a:r>
            <a:r>
              <a:rPr lang="bg-BG" sz="2600" dirty="0" smtClean="0"/>
              <a:t>- </a:t>
            </a:r>
            <a:r>
              <a:rPr lang="en-US" sz="2600" dirty="0" smtClean="0"/>
              <a:t>ISR)</a:t>
            </a:r>
            <a:r>
              <a:rPr lang="ru-RU" sz="2600" dirty="0" smtClean="0"/>
              <a:t>.</a:t>
            </a:r>
          </a:p>
          <a:p>
            <a:pPr lvl="1">
              <a:spcBef>
                <a:spcPts val="0"/>
              </a:spcBef>
            </a:pPr>
            <a:r>
              <a:rPr lang="ru-RU" sz="2300" dirty="0" smtClean="0"/>
              <a:t>Тази подпрограма се нарива още и «</a:t>
            </a:r>
            <a:r>
              <a:rPr lang="ru-RU" sz="2300" dirty="0" smtClean="0">
                <a:effectLst>
                  <a:outerShdw blurRad="38100" dist="38100" dir="2700000" algn="tl">
                    <a:srgbClr val="000000">
                      <a:alpha val="43137"/>
                    </a:srgbClr>
                  </a:outerShdw>
                </a:effectLst>
              </a:rPr>
              <a:t>манипулатор на прекъсването</a:t>
            </a:r>
            <a:r>
              <a:rPr lang="ru-RU" sz="2300" dirty="0" smtClean="0"/>
              <a:t>» (англ. </a:t>
            </a:r>
            <a:r>
              <a:rPr lang="en-US" sz="2300" dirty="0" smtClean="0"/>
              <a:t>Interrupt handler</a:t>
            </a:r>
            <a:r>
              <a:rPr lang="bg-BG" sz="2300" dirty="0" smtClean="0"/>
              <a:t> - </a:t>
            </a:r>
            <a:r>
              <a:rPr lang="en-US" sz="2300" dirty="0" smtClean="0"/>
              <a:t>IH)</a:t>
            </a:r>
            <a:r>
              <a:rPr lang="ru-RU" sz="2300" dirty="0" smtClean="0"/>
              <a:t>.</a:t>
            </a:r>
            <a:endParaRPr lang="en-US" sz="2300" dirty="0" smtClean="0"/>
          </a:p>
          <a:p>
            <a:pPr marL="347663" lvl="2" indent="-347663">
              <a:spcBef>
                <a:spcPts val="0"/>
              </a:spcBef>
              <a:buSzPct val="70000"/>
              <a:buFont typeface="Wingdings" panose="05000000000000000000" pitchFamily="2" charset="2"/>
              <a:buChar char="Ä"/>
            </a:pPr>
            <a:r>
              <a:rPr lang="bg-BG" sz="2600" dirty="0" smtClean="0"/>
              <a:t>Манипулаторите </a:t>
            </a:r>
            <a:r>
              <a:rPr lang="bg-BG" sz="2600" dirty="0"/>
              <a:t>на прекъсванията </a:t>
            </a:r>
            <a:r>
              <a:rPr lang="ru-RU" sz="2600" dirty="0"/>
              <a:t>са част от ОС и се изпълнява в режим на ядрото: </a:t>
            </a:r>
          </a:p>
          <a:p>
            <a:pPr lvl="1">
              <a:spcBef>
                <a:spcPts val="0"/>
              </a:spcBef>
            </a:pPr>
            <a:r>
              <a:rPr lang="ru-RU" sz="2300" dirty="0" smtClean="0"/>
              <a:t>Всеки манипулатор е машинен </a:t>
            </a:r>
            <a:r>
              <a:rPr lang="ru-RU" sz="2300" dirty="0"/>
              <a:t>код, поставен на фиксирано място в </a:t>
            </a:r>
            <a:r>
              <a:rPr lang="ru-RU" sz="2300" dirty="0" smtClean="0"/>
              <a:t>оперативната памет на компютъра.</a:t>
            </a:r>
            <a:endParaRPr lang="ru-RU" sz="2300" dirty="0"/>
          </a:p>
        </p:txBody>
      </p:sp>
    </p:spTree>
    <p:extLst>
      <p:ext uri="{BB962C8B-B14F-4D97-AF65-F5344CB8AC3E}">
        <p14:creationId xmlns:p14="http://schemas.microsoft.com/office/powerpoint/2010/main" val="3668284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Събития</a:t>
            </a:r>
            <a:endParaRPr lang="bg-BG" dirty="0"/>
          </a:p>
        </p:txBody>
      </p:sp>
      <p:sp>
        <p:nvSpPr>
          <p:cNvPr id="3" name="Content Placeholder 2"/>
          <p:cNvSpPr>
            <a:spLocks noGrp="1"/>
          </p:cNvSpPr>
          <p:nvPr>
            <p:ph idx="1"/>
          </p:nvPr>
        </p:nvSpPr>
        <p:spPr/>
        <p:txBody>
          <a:bodyPr>
            <a:normAutofit lnSpcReduction="10000"/>
          </a:bodyPr>
          <a:lstStyle/>
          <a:p>
            <a:r>
              <a:rPr lang="ru-RU" sz="2800" dirty="0" smtClean="0">
                <a:effectLst>
                  <a:outerShdw blurRad="38100" dist="38100" dir="2700000" algn="tl">
                    <a:srgbClr val="000000">
                      <a:alpha val="43137"/>
                    </a:srgbClr>
                  </a:outerShdw>
                </a:effectLst>
              </a:rPr>
              <a:t>Хардуерни</a:t>
            </a:r>
            <a:r>
              <a:rPr lang="ru-RU" sz="2800" dirty="0" smtClean="0"/>
              <a:t> прекъсвания</a:t>
            </a:r>
            <a:r>
              <a:rPr lang="ru-RU" sz="2800" dirty="0"/>
              <a:t> </a:t>
            </a:r>
            <a:r>
              <a:rPr lang="ru-RU" sz="2800" dirty="0" smtClean="0"/>
              <a:t>се генерират апаратната част (най-често външни устройства)</a:t>
            </a:r>
          </a:p>
          <a:p>
            <a:pPr lvl="1"/>
            <a:r>
              <a:rPr lang="ru-RU" sz="2600" dirty="0" smtClean="0"/>
              <a:t>Използва се като подход за информиране на процесора, че дадено </a:t>
            </a:r>
            <a:r>
              <a:rPr lang="ru-RU" sz="2600" dirty="0"/>
              <a:t>устройство се нуждае от </a:t>
            </a:r>
            <a:r>
              <a:rPr lang="ru-RU" sz="2600" dirty="0" smtClean="0"/>
              <a:t>«внимание».</a:t>
            </a:r>
          </a:p>
          <a:p>
            <a:pPr lvl="1"/>
            <a:r>
              <a:rPr lang="ru-RU" sz="2600" dirty="0" smtClean="0"/>
              <a:t>Тези събития са асинхронни по характер, т.е. програмистите не могат да предскажат кога ще се случат.</a:t>
            </a:r>
          </a:p>
          <a:p>
            <a:r>
              <a:rPr lang="ru-RU" sz="2800" dirty="0" smtClean="0">
                <a:effectLst>
                  <a:outerShdw blurRad="38100" dist="38100" dir="2700000" algn="tl">
                    <a:srgbClr val="000000">
                      <a:alpha val="43137"/>
                    </a:srgbClr>
                  </a:outerShdw>
                </a:effectLst>
              </a:rPr>
              <a:t>Софтуерни</a:t>
            </a:r>
            <a:r>
              <a:rPr lang="ru-RU" sz="2800" dirty="0" smtClean="0"/>
              <a:t> прекъсвания се генерират от различни процеси, изпълнявани от ОС</a:t>
            </a:r>
          </a:p>
          <a:p>
            <a:pPr lvl="1"/>
            <a:r>
              <a:rPr lang="ru-RU" sz="2600" dirty="0"/>
              <a:t>Те се използват за </a:t>
            </a:r>
            <a:r>
              <a:rPr lang="ru-RU" sz="2600" dirty="0" smtClean="0"/>
              <a:t>реализиране на </a:t>
            </a:r>
            <a:r>
              <a:rPr lang="ru-RU" sz="2600" dirty="0"/>
              <a:t>системни </a:t>
            </a:r>
            <a:r>
              <a:rPr lang="ru-RU" sz="2600" dirty="0" smtClean="0"/>
              <a:t>извиквания на функции на ядрото на ОС.</a:t>
            </a:r>
          </a:p>
          <a:p>
            <a:pPr lvl="1"/>
            <a:r>
              <a:rPr lang="ru-RU" sz="2400" dirty="0"/>
              <a:t>Събитията могат да бъдат генерирани </a:t>
            </a:r>
            <a:r>
              <a:rPr lang="ru-RU" sz="2400" dirty="0" smtClean="0"/>
              <a:t>от:</a:t>
            </a:r>
          </a:p>
          <a:p>
            <a:pPr lvl="2"/>
            <a:r>
              <a:rPr lang="ru-RU" sz="2000" dirty="0" smtClean="0"/>
              <a:t>Потребители - напр. </a:t>
            </a:r>
            <a:r>
              <a:rPr lang="ru-RU" sz="2000" dirty="0"/>
              <a:t>н</a:t>
            </a:r>
            <a:r>
              <a:rPr lang="ru-RU" sz="2000" dirty="0" smtClean="0"/>
              <a:t>атискане на бутон на мишка или клавиш на клавиатура</a:t>
            </a:r>
          </a:p>
          <a:p>
            <a:pPr lvl="2"/>
            <a:r>
              <a:rPr lang="bg-BG" sz="2000" dirty="0"/>
              <a:t>С</a:t>
            </a:r>
            <a:r>
              <a:rPr lang="ru-RU" sz="2000" dirty="0" smtClean="0"/>
              <a:t>истемата – напр. за прекъснване на процес, изчерпване </a:t>
            </a:r>
            <a:r>
              <a:rPr lang="ru-RU" sz="2000" dirty="0"/>
              <a:t>на паметта и </a:t>
            </a:r>
            <a:r>
              <a:rPr lang="ru-RU" sz="2000" dirty="0" smtClean="0"/>
              <a:t>грешки</a:t>
            </a:r>
            <a:r>
              <a:rPr lang="ru-RU" sz="2000" dirty="0"/>
              <a:t>.</a:t>
            </a:r>
            <a:endParaRPr lang="ru-RU" sz="2200" dirty="0"/>
          </a:p>
        </p:txBody>
      </p:sp>
    </p:spTree>
    <p:extLst>
      <p:ext uri="{BB962C8B-B14F-4D97-AF65-F5344CB8AC3E}">
        <p14:creationId xmlns:p14="http://schemas.microsoft.com/office/powerpoint/2010/main" val="4250991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Прекъсвания</a:t>
            </a:r>
            <a:endParaRPr lang="bg-BG" dirty="0"/>
          </a:p>
        </p:txBody>
      </p:sp>
      <p:sp>
        <p:nvSpPr>
          <p:cNvPr id="3" name="Content Placeholder 2"/>
          <p:cNvSpPr>
            <a:spLocks noGrp="1"/>
          </p:cNvSpPr>
          <p:nvPr>
            <p:ph idx="1"/>
          </p:nvPr>
        </p:nvSpPr>
        <p:spPr/>
        <p:txBody>
          <a:bodyPr>
            <a:noAutofit/>
          </a:bodyPr>
          <a:lstStyle/>
          <a:p>
            <a:r>
              <a:rPr lang="ru-RU" sz="2800" dirty="0" smtClean="0"/>
              <a:t>Прекъсванията </a:t>
            </a:r>
            <a:r>
              <a:rPr lang="ru-RU" sz="2800" dirty="0"/>
              <a:t>се </a:t>
            </a:r>
            <a:r>
              <a:rPr lang="ru-RU" sz="2800" dirty="0" smtClean="0"/>
              <a:t>приоритизирани</a:t>
            </a:r>
            <a:endParaRPr lang="ru-RU" sz="2800" dirty="0"/>
          </a:p>
          <a:p>
            <a:pPr lvl="1"/>
            <a:r>
              <a:rPr lang="ru-RU" sz="2400" dirty="0"/>
              <a:t>Нивото на приоритет на прекъсване (</a:t>
            </a:r>
            <a:r>
              <a:rPr lang="ru-RU" sz="2400" dirty="0" smtClean="0"/>
              <a:t>IPL</a:t>
            </a:r>
            <a:r>
              <a:rPr lang="bg-BG" sz="2400" dirty="0" smtClean="0"/>
              <a:t> – </a:t>
            </a:r>
            <a:r>
              <a:rPr lang="en-US" sz="2400" dirty="0" smtClean="0"/>
              <a:t>interrupt priority level</a:t>
            </a:r>
            <a:r>
              <a:rPr lang="ru-RU" sz="2400" dirty="0" smtClean="0"/>
              <a:t>) </a:t>
            </a:r>
            <a:r>
              <a:rPr lang="ru-RU" sz="2400" dirty="0"/>
              <a:t>е част от текущото състояние на прекъсване на системата, което показва заявките за прекъсване, които ще бъдат приети в момента. </a:t>
            </a:r>
            <a:endParaRPr lang="en-US" sz="2400" dirty="0" smtClean="0"/>
          </a:p>
          <a:p>
            <a:pPr lvl="1"/>
            <a:r>
              <a:rPr lang="ru-RU" sz="2400" dirty="0" smtClean="0"/>
              <a:t>IPL </a:t>
            </a:r>
            <a:r>
              <a:rPr lang="ru-RU" sz="2400" dirty="0"/>
              <a:t>може да бъде посочен в хардуер </a:t>
            </a:r>
            <a:r>
              <a:rPr lang="ru-RU" sz="2400" dirty="0" smtClean="0"/>
              <a:t>чрез регистр/-и </a:t>
            </a:r>
            <a:r>
              <a:rPr lang="ru-RU" sz="2400" dirty="0"/>
              <a:t>в </a:t>
            </a:r>
            <a:r>
              <a:rPr lang="ru-RU" sz="2400" dirty="0" smtClean="0"/>
              <a:t>«</a:t>
            </a:r>
            <a:r>
              <a:rPr lang="bg-BG" sz="2400" dirty="0" smtClean="0"/>
              <a:t>П</a:t>
            </a:r>
            <a:r>
              <a:rPr lang="ru-RU" sz="2400" dirty="0" smtClean="0"/>
              <a:t>рограмируем Контролер на Прекъсванията» </a:t>
            </a:r>
            <a:r>
              <a:rPr lang="ru-RU" sz="2400" dirty="0"/>
              <a:t>или в софтуер от </a:t>
            </a:r>
            <a:r>
              <a:rPr lang="ru-RU" sz="2400" dirty="0" smtClean="0"/>
              <a:t>битови маски, чрез цяло </a:t>
            </a:r>
            <a:r>
              <a:rPr lang="ru-RU" sz="2400" dirty="0"/>
              <a:t>число </a:t>
            </a:r>
            <a:r>
              <a:rPr lang="ru-RU" sz="2400" dirty="0" smtClean="0"/>
              <a:t>или в програмния код </a:t>
            </a:r>
            <a:r>
              <a:rPr lang="ru-RU" sz="2400" dirty="0"/>
              <a:t>на </a:t>
            </a:r>
            <a:r>
              <a:rPr lang="ru-RU" sz="2400" dirty="0" smtClean="0"/>
              <a:t>нишките.</a:t>
            </a:r>
            <a:br>
              <a:rPr lang="ru-RU" sz="2400" dirty="0" smtClean="0"/>
            </a:br>
            <a:r>
              <a:rPr lang="ru-RU" sz="2400" dirty="0" smtClean="0"/>
              <a:t>Нормалните </a:t>
            </a:r>
            <a:r>
              <a:rPr lang="ru-RU" sz="2400" dirty="0"/>
              <a:t>програми се изпълняват </a:t>
            </a:r>
            <a:r>
              <a:rPr lang="ru-RU" sz="2400" dirty="0" smtClean="0"/>
              <a:t/>
            </a:r>
            <a:br>
              <a:rPr lang="ru-RU" sz="2400" dirty="0" smtClean="0"/>
            </a:br>
            <a:r>
              <a:rPr lang="ru-RU" sz="2400" dirty="0" smtClean="0"/>
              <a:t>на ниво </a:t>
            </a:r>
            <a:r>
              <a:rPr lang="ru-RU" sz="2400" dirty="0"/>
              <a:t>под </a:t>
            </a:r>
            <a:r>
              <a:rPr lang="ru-RU" sz="2400" dirty="0" smtClean="0"/>
              <a:t>най-ниския </a:t>
            </a:r>
            <a:r>
              <a:rPr lang="ru-RU" sz="2400" dirty="0"/>
              <a:t>приоритет </a:t>
            </a:r>
            <a:r>
              <a:rPr lang="ru-RU" sz="2400" dirty="0" smtClean="0"/>
              <a:t/>
            </a:r>
            <a:br>
              <a:rPr lang="ru-RU" sz="2400" dirty="0" smtClean="0"/>
            </a:br>
            <a:r>
              <a:rPr lang="ru-RU" sz="2400" dirty="0" smtClean="0"/>
              <a:t>на прекъсване </a:t>
            </a:r>
            <a:r>
              <a:rPr lang="ru-RU" sz="2400" dirty="0"/>
              <a:t>(т.е. приоритет на </a:t>
            </a:r>
            <a:r>
              <a:rPr lang="en-US" sz="2400" dirty="0" smtClean="0"/>
              <a:t/>
            </a:r>
            <a:br>
              <a:rPr lang="en-US" sz="2400" dirty="0" smtClean="0"/>
            </a:br>
            <a:r>
              <a:rPr lang="ru-RU" sz="2400" dirty="0" smtClean="0"/>
              <a:t>прекъсване </a:t>
            </a:r>
            <a:r>
              <a:rPr lang="ru-RU" sz="2400" dirty="0"/>
              <a:t>0</a:t>
            </a:r>
            <a:r>
              <a:rPr lang="ru-RU" sz="2400" dirty="0" smtClean="0"/>
              <a:t>).</a:t>
            </a:r>
            <a:endParaRPr lang="en-US" sz="2400" dirty="0" smtClean="0"/>
          </a:p>
          <a:p>
            <a:endParaRPr lang="ru-RU" sz="2800" dirty="0"/>
          </a:p>
        </p:txBody>
      </p:sp>
      <p:pic>
        <p:nvPicPr>
          <p:cNvPr id="4" name="Picture 3"/>
          <p:cNvPicPr>
            <a:picLocks noChangeAspect="1"/>
          </p:cNvPicPr>
          <p:nvPr/>
        </p:nvPicPr>
        <p:blipFill>
          <a:blip r:embed="rId2"/>
          <a:stretch>
            <a:fillRect/>
          </a:stretch>
        </p:blipFill>
        <p:spPr>
          <a:xfrm>
            <a:off x="7466012" y="3753450"/>
            <a:ext cx="4158817" cy="2804368"/>
          </a:xfrm>
          <a:prstGeom prst="rect">
            <a:avLst/>
          </a:prstGeom>
        </p:spPr>
      </p:pic>
    </p:spTree>
    <p:extLst>
      <p:ext uri="{BB962C8B-B14F-4D97-AF65-F5344CB8AC3E}">
        <p14:creationId xmlns:p14="http://schemas.microsoft.com/office/powerpoint/2010/main" val="81644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Прекъсвания</a:t>
            </a:r>
            <a:endParaRPr lang="bg-BG" dirty="0"/>
          </a:p>
        </p:txBody>
      </p:sp>
      <p:sp>
        <p:nvSpPr>
          <p:cNvPr id="3" name="Content Placeholder 2"/>
          <p:cNvSpPr>
            <a:spLocks noGrp="1"/>
          </p:cNvSpPr>
          <p:nvPr>
            <p:ph idx="1"/>
          </p:nvPr>
        </p:nvSpPr>
        <p:spPr/>
        <p:txBody>
          <a:bodyPr>
            <a:noAutofit/>
          </a:bodyPr>
          <a:lstStyle/>
          <a:p>
            <a:r>
              <a:rPr lang="ru-RU" sz="2400" dirty="0"/>
              <a:t>За да се гарантира, че процесорът се връща към това, което прави, стойността на брояча на </a:t>
            </a:r>
            <a:r>
              <a:rPr lang="ru-RU" sz="2400" dirty="0" smtClean="0"/>
              <a:t>програмата </a:t>
            </a:r>
            <a:r>
              <a:rPr lang="en-US" sz="2400" dirty="0" smtClean="0"/>
              <a:t>(PC – program counter)</a:t>
            </a:r>
            <a:r>
              <a:rPr lang="ru-RU" sz="2400" dirty="0" smtClean="0"/>
              <a:t> </a:t>
            </a:r>
            <a:r>
              <a:rPr lang="ru-RU" sz="2400" dirty="0"/>
              <a:t>преди прекъсването се съхранява на стека или в регистър, преди процесорът да скочи към първата инструкция в обработващия прекъсвания.</a:t>
            </a:r>
          </a:p>
          <a:p>
            <a:pPr lvl="1"/>
            <a:r>
              <a:rPr lang="ru-RU" sz="2000" dirty="0"/>
              <a:t>Тъй като прекъсването на нисък приоритет може само по себе си да бъде прекъснато от прекъсване на по-висок приоритет, старите стойности на брояча на програмата са подредени на ниво прекъсване на стека.</a:t>
            </a:r>
          </a:p>
          <a:p>
            <a:r>
              <a:rPr lang="ru-RU" sz="2400" dirty="0"/>
              <a:t>Последната инструкция в манипулатор на прекъсвания трябва да </a:t>
            </a:r>
            <a:r>
              <a:rPr lang="ru-RU" sz="2400" dirty="0" smtClean="0"/>
              <a:t>зареди </a:t>
            </a:r>
            <a:r>
              <a:rPr lang="bg-BG" sz="2400" dirty="0" smtClean="0"/>
              <a:t>в </a:t>
            </a:r>
            <a:r>
              <a:rPr lang="ru-RU" sz="2400" dirty="0" smtClean="0"/>
              <a:t>PC такава стойност, че ходът на изпълнението да се върне в точката напрекъсване, т.е. да зареди следващата изструкция на прекъснатия процес.</a:t>
            </a:r>
          </a:p>
          <a:p>
            <a:pPr lvl="1"/>
            <a:r>
              <a:rPr lang="ru-RU" sz="2000" dirty="0"/>
              <a:t>В различни ОС върху различни апаратни платформи (основно архитектура на процесора) тази процедура може да е много различно.</a:t>
            </a:r>
          </a:p>
          <a:p>
            <a:r>
              <a:rPr lang="ru-RU" sz="2400" dirty="0"/>
              <a:t>Инструкцията за връщане от прекъсване (RTI) е това, което се </a:t>
            </a:r>
            <a:r>
              <a:rPr lang="ru-RU" sz="2400" dirty="0" smtClean="0"/>
              <a:t>използва в кода на програмата </a:t>
            </a:r>
            <a:r>
              <a:rPr lang="ru-RU" sz="2400" dirty="0"/>
              <a:t>за да се </a:t>
            </a:r>
            <a:r>
              <a:rPr lang="ru-RU" sz="2400" dirty="0" smtClean="0"/>
              <a:t>стартира физическото връщане към състоянието преди прекъсване.</a:t>
            </a:r>
            <a:endParaRPr lang="ru-RU" sz="2000" dirty="0"/>
          </a:p>
        </p:txBody>
      </p:sp>
    </p:spTree>
    <p:extLst>
      <p:ext uri="{BB962C8B-B14F-4D97-AF65-F5344CB8AC3E}">
        <p14:creationId xmlns:p14="http://schemas.microsoft.com/office/powerpoint/2010/main" val="100442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Вектор на прекъсванията</a:t>
            </a:r>
            <a:endParaRPr lang="bg-BG" dirty="0"/>
          </a:p>
        </p:txBody>
      </p:sp>
      <p:sp>
        <p:nvSpPr>
          <p:cNvPr id="3" name="Content Placeholder 2"/>
          <p:cNvSpPr>
            <a:spLocks noGrp="1"/>
          </p:cNvSpPr>
          <p:nvPr>
            <p:ph idx="1"/>
          </p:nvPr>
        </p:nvSpPr>
        <p:spPr>
          <a:xfrm>
            <a:off x="908662" y="1143000"/>
            <a:ext cx="10900750" cy="5562600"/>
          </a:xfrm>
        </p:spPr>
        <p:txBody>
          <a:bodyPr>
            <a:normAutofit fontScale="85000" lnSpcReduction="20000"/>
          </a:bodyPr>
          <a:lstStyle/>
          <a:p>
            <a:r>
              <a:rPr lang="bg-BG" sz="2800" dirty="0" smtClean="0"/>
              <a:t>Мястото на разположение на програмата за обработка на прекъсването се нарича „</a:t>
            </a:r>
            <a:r>
              <a:rPr lang="bg-BG" sz="2800" dirty="0" smtClean="0">
                <a:effectLst>
                  <a:outerShdw blurRad="38100" dist="38100" dir="2700000" algn="tl">
                    <a:srgbClr val="000000">
                      <a:alpha val="43137"/>
                    </a:srgbClr>
                  </a:outerShdw>
                </a:effectLst>
              </a:rPr>
              <a:t>вектор на прекъсване</a:t>
            </a:r>
            <a:r>
              <a:rPr lang="bg-BG" sz="2800" dirty="0" smtClean="0"/>
              <a:t>“.</a:t>
            </a:r>
          </a:p>
          <a:p>
            <a:pPr lvl="1"/>
            <a:r>
              <a:rPr lang="ru-RU" sz="2400" dirty="0"/>
              <a:t>Той държи </a:t>
            </a:r>
            <a:r>
              <a:rPr lang="bg-BG" sz="2400" dirty="0" smtClean="0"/>
              <a:t>На практика това е указател към функция в контекстна на езика </a:t>
            </a:r>
            <a:r>
              <a:rPr lang="en-US" sz="2400" dirty="0" smtClean="0"/>
              <a:t>C</a:t>
            </a:r>
            <a:r>
              <a:rPr lang="bg-BG" sz="2400" dirty="0" smtClean="0"/>
              <a:t>, т.е. това е </a:t>
            </a:r>
            <a:r>
              <a:rPr lang="ru-RU" sz="2400" dirty="0" smtClean="0"/>
              <a:t>адреса </a:t>
            </a:r>
            <a:r>
              <a:rPr lang="ru-RU" sz="2400" dirty="0"/>
              <a:t>на първата инструкция в </a:t>
            </a:r>
            <a:r>
              <a:rPr lang="ru-RU" sz="2400" dirty="0" smtClean="0"/>
              <a:t>конкретния манипулатор на </a:t>
            </a:r>
            <a:r>
              <a:rPr lang="ru-RU" sz="2400" dirty="0"/>
              <a:t>прекъсване</a:t>
            </a:r>
            <a:r>
              <a:rPr lang="ru-RU" sz="2400" dirty="0" smtClean="0"/>
              <a:t>.</a:t>
            </a:r>
            <a:endParaRPr lang="bg-BG" sz="2400" dirty="0" smtClean="0"/>
          </a:p>
          <a:p>
            <a:r>
              <a:rPr lang="ru-RU" sz="2800" dirty="0" smtClean="0"/>
              <a:t>Всички разрешени прекъсвания се съхраняват на определено място </a:t>
            </a:r>
            <a:r>
              <a:rPr lang="ru-RU" sz="2800" dirty="0"/>
              <a:t>в основната </a:t>
            </a:r>
            <a:r>
              <a:rPr lang="ru-RU" sz="2800" dirty="0" smtClean="0"/>
              <a:t>памет, което е известно като </a:t>
            </a:r>
            <a:r>
              <a:rPr lang="bg-BG" sz="2800" dirty="0" smtClean="0"/>
              <a:t>„</a:t>
            </a:r>
            <a:r>
              <a:rPr lang="ru-RU" sz="2800" dirty="0" smtClean="0">
                <a:effectLst>
                  <a:outerShdw blurRad="38100" dist="38100" dir="2700000" algn="tl">
                    <a:srgbClr val="000000">
                      <a:alpha val="43137"/>
                    </a:srgbClr>
                  </a:outerShdw>
                </a:effectLst>
              </a:rPr>
              <a:t>Таблица </a:t>
            </a:r>
            <a:r>
              <a:rPr lang="ru-RU" sz="2800" dirty="0">
                <a:effectLst>
                  <a:outerShdw blurRad="38100" dist="38100" dir="2700000" algn="tl">
                    <a:srgbClr val="000000">
                      <a:alpha val="43137"/>
                    </a:srgbClr>
                  </a:outerShdw>
                </a:effectLst>
              </a:rPr>
              <a:t>с вектори </a:t>
            </a:r>
            <a:r>
              <a:rPr lang="ru-RU" sz="2800" dirty="0" smtClean="0">
                <a:effectLst>
                  <a:outerShdw blurRad="38100" dist="38100" dir="2700000" algn="tl">
                    <a:srgbClr val="000000">
                      <a:alpha val="43137"/>
                    </a:srgbClr>
                  </a:outerShdw>
                </a:effectLst>
              </a:rPr>
              <a:t>на прекъсване</a:t>
            </a:r>
            <a:r>
              <a:rPr lang="bg-BG" sz="2800" dirty="0"/>
              <a:t>“</a:t>
            </a:r>
            <a:r>
              <a:rPr lang="ru-RU" sz="2800" dirty="0" smtClean="0"/>
              <a:t>.</a:t>
            </a:r>
            <a:endParaRPr lang="ru-RU" sz="2800" dirty="0"/>
          </a:p>
          <a:p>
            <a:pPr lvl="1"/>
            <a:r>
              <a:rPr lang="ru-RU" sz="2400" dirty="0" smtClean="0"/>
              <a:t>За всяко приоритетно ниво </a:t>
            </a:r>
            <a:r>
              <a:rPr lang="ru-RU" sz="2400" dirty="0"/>
              <a:t>на прекъсване има </a:t>
            </a:r>
            <a:r>
              <a:rPr lang="ru-RU" sz="2400" dirty="0" smtClean="0"/>
              <a:t>отделен </a:t>
            </a:r>
            <a:r>
              <a:rPr lang="ru-RU" sz="2400" dirty="0"/>
              <a:t>манипулатор </a:t>
            </a:r>
            <a:r>
              <a:rPr lang="ru-RU" sz="2400" dirty="0" smtClean="0"/>
              <a:t>на прекъсване</a:t>
            </a:r>
            <a:r>
              <a:rPr lang="ru-RU" sz="2400" dirty="0"/>
              <a:t>.</a:t>
            </a:r>
          </a:p>
          <a:p>
            <a:r>
              <a:rPr lang="ru-RU" sz="2800" dirty="0"/>
              <a:t>Трите </a:t>
            </a:r>
            <a:r>
              <a:rPr lang="ru-RU" sz="2800" dirty="0" smtClean="0"/>
              <a:t>най-популярни </a:t>
            </a:r>
            <a:r>
              <a:rPr lang="ru-RU" sz="2800" dirty="0"/>
              <a:t>метода за намиране на стартовия адрес на манипулатор </a:t>
            </a:r>
            <a:r>
              <a:rPr lang="ru-RU" sz="2800" dirty="0" smtClean="0"/>
              <a:t>са както следва:</a:t>
            </a:r>
            <a:endParaRPr lang="ru-RU" sz="2800" dirty="0"/>
          </a:p>
          <a:p>
            <a:pPr lvl="1"/>
            <a:r>
              <a:rPr lang="ru-RU" sz="2400" dirty="0"/>
              <a:t>Методът </a:t>
            </a:r>
            <a:r>
              <a:rPr lang="ru-RU" sz="2400" dirty="0" smtClean="0"/>
              <a:t>с константен адрес използва директно зареждане на програмния </a:t>
            </a:r>
            <a:r>
              <a:rPr lang="ru-RU" sz="2400" dirty="0"/>
              <a:t>брояч </a:t>
            </a:r>
            <a:r>
              <a:rPr lang="ru-RU" sz="2400" dirty="0" smtClean="0"/>
              <a:t>с конкретен (константен) адрес.</a:t>
            </a:r>
            <a:endParaRPr lang="ru-RU" sz="2400" dirty="0"/>
          </a:p>
          <a:p>
            <a:pPr lvl="1"/>
            <a:r>
              <a:rPr lang="ru-RU" sz="2400" dirty="0"/>
              <a:t>Методът </a:t>
            </a:r>
            <a:r>
              <a:rPr lang="bg-BG" sz="2400" dirty="0"/>
              <a:t>„ </a:t>
            </a:r>
            <a:r>
              <a:rPr lang="ru-RU" sz="2400" dirty="0" smtClean="0"/>
              <a:t>Fetch</a:t>
            </a:r>
            <a:r>
              <a:rPr lang="bg-BG" sz="2400" dirty="0" smtClean="0"/>
              <a:t>“</a:t>
            </a:r>
            <a:r>
              <a:rPr lang="ru-RU" sz="2400" dirty="0" smtClean="0"/>
              <a:t>, при който адресът се получава индиректно – адресът </a:t>
            </a:r>
            <a:r>
              <a:rPr lang="bg-BG" sz="2400" dirty="0" smtClean="0"/>
              <a:t>от </a:t>
            </a:r>
            <a:r>
              <a:rPr lang="ru-RU" sz="2400" dirty="0" smtClean="0"/>
              <a:t>вектора </a:t>
            </a:r>
            <a:r>
              <a:rPr lang="ru-RU" sz="2400" dirty="0"/>
              <a:t>за </a:t>
            </a:r>
            <a:r>
              <a:rPr lang="ru-RU" sz="2400" dirty="0" smtClean="0"/>
              <a:t>прекъсване се използва за </a:t>
            </a:r>
            <a:r>
              <a:rPr lang="ru-RU" sz="2400" dirty="0"/>
              <a:t>да </a:t>
            </a:r>
            <a:r>
              <a:rPr lang="ru-RU" sz="2400" dirty="0" smtClean="0"/>
              <a:t>получи истинския адрес (процедурата може да е с различна сложност).</a:t>
            </a:r>
            <a:endParaRPr lang="ru-RU" sz="2400" dirty="0"/>
          </a:p>
          <a:p>
            <a:pPr lvl="1"/>
            <a:r>
              <a:rPr lang="ru-RU" sz="2400" dirty="0" smtClean="0"/>
              <a:t>Методът </a:t>
            </a:r>
            <a:r>
              <a:rPr lang="ru-RU" sz="2400" dirty="0"/>
              <a:t>„Прекъсване </a:t>
            </a:r>
            <a:r>
              <a:rPr lang="ru-RU" sz="2400" dirty="0" smtClean="0"/>
              <a:t>с </a:t>
            </a:r>
            <a:r>
              <a:rPr lang="ru-RU" sz="2400" dirty="0"/>
              <a:t>потвърждение</a:t>
            </a:r>
            <a:r>
              <a:rPr lang="ru-RU" sz="2400" dirty="0" smtClean="0"/>
              <a:t>“ изисква </a:t>
            </a:r>
            <a:r>
              <a:rPr lang="ru-RU" sz="2400" dirty="0"/>
              <a:t>външното </a:t>
            </a:r>
            <a:r>
              <a:rPr lang="ru-RU" sz="2400" dirty="0" smtClean="0"/>
              <a:t>устройство, генериращо прекъсването да предаде на </a:t>
            </a:r>
            <a:r>
              <a:rPr lang="ru-RU" sz="2400" dirty="0"/>
              <a:t>процесора на </a:t>
            </a:r>
            <a:r>
              <a:rPr lang="ru-RU" sz="2400" dirty="0" smtClean="0"/>
              <a:t>вектора на прекъсване, който трябва да го обработи.</a:t>
            </a:r>
            <a:endParaRPr lang="ru-RU" sz="2400" dirty="0"/>
          </a:p>
          <a:p>
            <a:endParaRPr lang="ru-RU" sz="2800" dirty="0"/>
          </a:p>
          <a:p>
            <a:endParaRPr lang="ru-RU" sz="2800" dirty="0"/>
          </a:p>
          <a:p>
            <a:endParaRPr lang="bg-BG" sz="2800" dirty="0" smtClean="0"/>
          </a:p>
        </p:txBody>
      </p:sp>
    </p:spTree>
    <p:extLst>
      <p:ext uri="{BB962C8B-B14F-4D97-AF65-F5344CB8AC3E}">
        <p14:creationId xmlns:p14="http://schemas.microsoft.com/office/powerpoint/2010/main" val="238531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Изключения</a:t>
            </a:r>
            <a:endParaRPr lang="bg-BG" dirty="0"/>
          </a:p>
        </p:txBody>
      </p:sp>
      <p:sp>
        <p:nvSpPr>
          <p:cNvPr id="3" name="Content Placeholder 2"/>
          <p:cNvSpPr>
            <a:spLocks noGrp="1"/>
          </p:cNvSpPr>
          <p:nvPr>
            <p:ph idx="1"/>
          </p:nvPr>
        </p:nvSpPr>
        <p:spPr/>
        <p:txBody>
          <a:bodyPr>
            <a:noAutofit/>
          </a:bodyPr>
          <a:lstStyle/>
          <a:p>
            <a:pPr>
              <a:spcBef>
                <a:spcPts val="0"/>
              </a:spcBef>
            </a:pPr>
            <a:r>
              <a:rPr lang="ru-RU" sz="2800" dirty="0"/>
              <a:t>Изключения могат да възникнат по всяко време в изпълнението на програмата.</a:t>
            </a:r>
          </a:p>
          <a:p>
            <a:pPr lvl="1">
              <a:spcBef>
                <a:spcPts val="0"/>
              </a:spcBef>
            </a:pPr>
            <a:r>
              <a:rPr lang="ru-RU" sz="2400" dirty="0"/>
              <a:t>Ако </a:t>
            </a:r>
            <a:r>
              <a:rPr lang="ru-RU" sz="2400" dirty="0" smtClean="0"/>
              <a:t>процесът извършва </a:t>
            </a:r>
            <a:r>
              <a:rPr lang="ru-RU" sz="2400" dirty="0"/>
              <a:t>някаква </a:t>
            </a:r>
            <a:r>
              <a:rPr lang="ru-RU" sz="2400" dirty="0" smtClean="0"/>
              <a:t>недопустима операция или обработката се извършва по недопустим начин, то това е основания процесорът да генерира изключение</a:t>
            </a:r>
            <a:r>
              <a:rPr lang="ru-RU" sz="2400" dirty="0"/>
              <a:t>.</a:t>
            </a:r>
          </a:p>
          <a:p>
            <a:pPr>
              <a:spcBef>
                <a:spcPts val="0"/>
              </a:spcBef>
            </a:pPr>
            <a:r>
              <a:rPr lang="ru-RU" sz="2800" dirty="0" smtClean="0"/>
              <a:t>Изключенията </a:t>
            </a:r>
            <a:r>
              <a:rPr lang="ru-RU" sz="2800" dirty="0"/>
              <a:t>са </a:t>
            </a:r>
            <a:r>
              <a:rPr lang="ru-RU" sz="2800" dirty="0" smtClean="0"/>
              <a:t>класически начин </a:t>
            </a:r>
            <a:r>
              <a:rPr lang="ru-RU" sz="2800" dirty="0"/>
              <a:t>да влезете в режим на ядрото.</a:t>
            </a:r>
          </a:p>
          <a:p>
            <a:pPr lvl="1">
              <a:spcBef>
                <a:spcPts val="0"/>
              </a:spcBef>
            </a:pPr>
            <a:r>
              <a:rPr lang="ru-RU" sz="2400" dirty="0"/>
              <a:t>Манипулаторите </a:t>
            </a:r>
            <a:r>
              <a:rPr lang="ru-RU" sz="2400" dirty="0" smtClean="0"/>
              <a:t>на изключенията са част от ОС </a:t>
            </a:r>
            <a:r>
              <a:rPr lang="ru-RU" sz="2400" dirty="0"/>
              <a:t>и </a:t>
            </a:r>
            <a:r>
              <a:rPr lang="ru-RU" sz="2400" dirty="0" smtClean="0"/>
              <a:t>винаги се </a:t>
            </a:r>
            <a:r>
              <a:rPr lang="ru-RU" sz="2400" dirty="0"/>
              <a:t>изпълняват в режим на ядрото.</a:t>
            </a:r>
          </a:p>
          <a:p>
            <a:pPr>
              <a:spcBef>
                <a:spcPts val="0"/>
              </a:spcBef>
            </a:pPr>
            <a:r>
              <a:rPr lang="ru-RU" sz="2800" dirty="0" smtClean="0"/>
              <a:t>Източници на изключения </a:t>
            </a:r>
          </a:p>
          <a:p>
            <a:pPr lvl="1">
              <a:spcBef>
                <a:spcPts val="0"/>
              </a:spcBef>
            </a:pPr>
            <a:r>
              <a:rPr lang="ru-RU" sz="2400" dirty="0" smtClean="0"/>
              <a:t>Изключения </a:t>
            </a:r>
            <a:r>
              <a:rPr lang="bg-BG" sz="2400" dirty="0" smtClean="0"/>
              <a:t>поради </a:t>
            </a:r>
            <a:r>
              <a:rPr lang="ru-RU" sz="2400" dirty="0" smtClean="0"/>
              <a:t>програмни грешки: напр</a:t>
            </a:r>
            <a:r>
              <a:rPr lang="ru-RU" sz="2400" dirty="0"/>
              <a:t>. </a:t>
            </a:r>
            <a:r>
              <a:rPr lang="ru-RU" sz="2400" dirty="0" smtClean="0"/>
              <a:t>деляне </a:t>
            </a:r>
            <a:r>
              <a:rPr lang="ru-RU" sz="2400" dirty="0"/>
              <a:t>по </a:t>
            </a:r>
            <a:r>
              <a:rPr lang="ru-RU" sz="2400" dirty="0" smtClean="0"/>
              <a:t>нула</a:t>
            </a:r>
          </a:p>
          <a:p>
            <a:pPr lvl="1">
              <a:spcBef>
                <a:spcPts val="0"/>
              </a:spcBef>
            </a:pPr>
            <a:r>
              <a:rPr lang="ru-RU" sz="2400" dirty="0" smtClean="0"/>
              <a:t>Програмно-генерирани изключения:  напр. </a:t>
            </a:r>
            <a:r>
              <a:rPr lang="ru-RU" sz="2400" dirty="0"/>
              <a:t>п</a:t>
            </a:r>
            <a:r>
              <a:rPr lang="ru-RU" sz="2400" dirty="0" smtClean="0"/>
              <a:t>репълване или достигане на точка на прекъсване в режим </a:t>
            </a:r>
            <a:r>
              <a:rPr lang="en-US" sz="2400" dirty="0" smtClean="0"/>
              <a:t>”debug”</a:t>
            </a:r>
            <a:endParaRPr lang="ru-RU" sz="2400" dirty="0" smtClean="0"/>
          </a:p>
          <a:p>
            <a:pPr lvl="1">
              <a:spcBef>
                <a:spcPts val="0"/>
              </a:spcBef>
            </a:pPr>
            <a:r>
              <a:rPr lang="ru-RU" sz="2400" dirty="0" smtClean="0"/>
              <a:t>Резултат от диагностика на машината: напр. прекъсната </a:t>
            </a:r>
            <a:r>
              <a:rPr lang="bg-BG" sz="2400" dirty="0" smtClean="0"/>
              <a:t>комуникация (няма физически канал).</a:t>
            </a:r>
            <a:endParaRPr lang="bg-BG" sz="2400" dirty="0"/>
          </a:p>
        </p:txBody>
      </p:sp>
    </p:spTree>
    <p:extLst>
      <p:ext uri="{BB962C8B-B14F-4D97-AF65-F5344CB8AC3E}">
        <p14:creationId xmlns:p14="http://schemas.microsoft.com/office/powerpoint/2010/main" val="1274726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Изключения</a:t>
            </a:r>
            <a:endParaRPr lang="bg-BG" dirty="0"/>
          </a:p>
        </p:txBody>
      </p:sp>
      <p:sp>
        <p:nvSpPr>
          <p:cNvPr id="3" name="Content Placeholder 2"/>
          <p:cNvSpPr>
            <a:spLocks noGrp="1"/>
          </p:cNvSpPr>
          <p:nvPr>
            <p:ph idx="1"/>
          </p:nvPr>
        </p:nvSpPr>
        <p:spPr/>
        <p:txBody>
          <a:bodyPr>
            <a:noAutofit/>
          </a:bodyPr>
          <a:lstStyle/>
          <a:p>
            <a:pPr>
              <a:spcBef>
                <a:spcPts val="0"/>
              </a:spcBef>
            </a:pPr>
            <a:r>
              <a:rPr lang="ru-RU" sz="2800" dirty="0" smtClean="0"/>
              <a:t>Първата основна задача на манипулатора </a:t>
            </a:r>
            <a:r>
              <a:rPr lang="ru-RU" sz="2800" dirty="0"/>
              <a:t>на </a:t>
            </a:r>
            <a:r>
              <a:rPr lang="ru-RU" sz="2800" dirty="0" smtClean="0"/>
              <a:t>изключение е </a:t>
            </a:r>
            <a:r>
              <a:rPr lang="ru-RU" sz="2800" dirty="0"/>
              <a:t>да </a:t>
            </a:r>
            <a:r>
              <a:rPr lang="ru-RU" sz="2800" dirty="0" smtClean="0"/>
              <a:t>се определи дали </a:t>
            </a:r>
            <a:r>
              <a:rPr lang="ru-RU" sz="2800" dirty="0"/>
              <a:t>проблемът е </a:t>
            </a:r>
            <a:r>
              <a:rPr lang="ru-RU" sz="2800" dirty="0" smtClean="0"/>
              <a:t>позволява възстановяване на изпълнението на инструкциите.</a:t>
            </a:r>
            <a:endParaRPr lang="ru-RU" sz="2800" dirty="0"/>
          </a:p>
          <a:p>
            <a:pPr lvl="1">
              <a:spcBef>
                <a:spcPts val="0"/>
              </a:spcBef>
            </a:pPr>
            <a:r>
              <a:rPr lang="ru-RU" sz="2400" dirty="0"/>
              <a:t>Ако проблемът не може да бъде възстановен, програмата се </a:t>
            </a:r>
            <a:r>
              <a:rPr lang="ru-RU" sz="2400" dirty="0" smtClean="0"/>
              <a:t>прекратява, т.е. </a:t>
            </a:r>
            <a:r>
              <a:rPr lang="en-US" sz="2400" dirty="0" smtClean="0"/>
              <a:t>PC </a:t>
            </a:r>
            <a:r>
              <a:rPr lang="bg-BG" sz="2400" dirty="0" smtClean="0"/>
              <a:t>не се пренасочва към кода на процеса</a:t>
            </a:r>
            <a:r>
              <a:rPr lang="ru-RU" sz="2400" dirty="0" smtClean="0"/>
              <a:t>.</a:t>
            </a:r>
            <a:endParaRPr lang="ru-RU" sz="2400" dirty="0"/>
          </a:p>
          <a:p>
            <a:pPr lvl="1">
              <a:spcBef>
                <a:spcPts val="0"/>
              </a:spcBef>
            </a:pPr>
            <a:r>
              <a:rPr lang="ru-RU" sz="2400" dirty="0"/>
              <a:t>Ако изключението може да бъде възстановено, </a:t>
            </a:r>
            <a:r>
              <a:rPr lang="ru-RU" sz="2400" dirty="0" smtClean="0"/>
              <a:t>манипулаторът </a:t>
            </a:r>
            <a:r>
              <a:rPr lang="ru-RU" sz="2400" dirty="0"/>
              <a:t>предприема необходимите </a:t>
            </a:r>
            <a:r>
              <a:rPr lang="ru-RU" sz="2400" dirty="0" smtClean="0"/>
              <a:t>стъпки </a:t>
            </a:r>
            <a:r>
              <a:rPr lang="ru-RU" sz="2400" dirty="0"/>
              <a:t>за </a:t>
            </a:r>
            <a:r>
              <a:rPr lang="ru-RU" sz="2400" dirty="0" smtClean="0"/>
              <a:t>това.</a:t>
            </a:r>
          </a:p>
          <a:p>
            <a:pPr lvl="2">
              <a:spcBef>
                <a:spcPts val="0"/>
              </a:spcBef>
            </a:pPr>
            <a:r>
              <a:rPr lang="ru-RU" sz="2000" dirty="0" smtClean="0">
                <a:effectLst>
                  <a:outerShdw blurRad="38100" dist="38100" dir="2700000" algn="tl">
                    <a:srgbClr val="000000">
                      <a:alpha val="43137"/>
                    </a:srgbClr>
                  </a:outerShdw>
                </a:effectLst>
              </a:rPr>
              <a:t>Внимание </a:t>
            </a:r>
            <a:r>
              <a:rPr lang="ru-RU" sz="2000" dirty="0" smtClean="0"/>
              <a:t>!  Обработката се връща към инструкцията, генерирала изключението, </a:t>
            </a:r>
            <a:r>
              <a:rPr lang="ru-RU" sz="2000" dirty="0"/>
              <a:t>така че да може да се извърши </a:t>
            </a:r>
            <a:r>
              <a:rPr lang="ru-RU" sz="2000" dirty="0" smtClean="0"/>
              <a:t>повторно при корегиран контекст. Така процесът </a:t>
            </a:r>
            <a:r>
              <a:rPr lang="ru-RU" sz="2000" dirty="0"/>
              <a:t>няма да има представа, че нещо се е объркало.</a:t>
            </a:r>
          </a:p>
          <a:p>
            <a:pPr lvl="2">
              <a:spcBef>
                <a:spcPts val="0"/>
              </a:spcBef>
            </a:pPr>
            <a:r>
              <a:rPr lang="ru-RU" sz="2000" dirty="0" smtClean="0"/>
              <a:t>Част от действията за промяна на контекства, извършвани от манипулаторът, е разширяване на стека, освобождаване на памет в хипа (</a:t>
            </a:r>
            <a:r>
              <a:rPr lang="bg-BG" sz="2000" dirty="0" smtClean="0"/>
              <a:t>англ. </a:t>
            </a:r>
            <a:r>
              <a:rPr lang="en-US" sz="2000" dirty="0" smtClean="0"/>
              <a:t>Heap</a:t>
            </a:r>
            <a:r>
              <a:rPr lang="bg-BG" sz="2000" dirty="0" smtClean="0"/>
              <a:t>)</a:t>
            </a:r>
            <a:r>
              <a:rPr lang="ru-RU" sz="2000" dirty="0" smtClean="0"/>
              <a:t> и др.</a:t>
            </a:r>
            <a:endParaRPr lang="bg-BG" sz="1600" dirty="0"/>
          </a:p>
        </p:txBody>
      </p:sp>
    </p:spTree>
    <p:extLst>
      <p:ext uri="{BB962C8B-B14F-4D97-AF65-F5344CB8AC3E}">
        <p14:creationId xmlns:p14="http://schemas.microsoft.com/office/powerpoint/2010/main" val="3684109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Изключения</a:t>
            </a:r>
            <a:endParaRPr lang="bg-BG" dirty="0"/>
          </a:p>
        </p:txBody>
      </p:sp>
      <p:sp>
        <p:nvSpPr>
          <p:cNvPr id="3" name="Content Placeholder 2"/>
          <p:cNvSpPr>
            <a:spLocks noGrp="1"/>
          </p:cNvSpPr>
          <p:nvPr>
            <p:ph idx="1"/>
          </p:nvPr>
        </p:nvSpPr>
        <p:spPr/>
        <p:txBody>
          <a:bodyPr>
            <a:noAutofit/>
          </a:bodyPr>
          <a:lstStyle/>
          <a:p>
            <a:r>
              <a:rPr lang="bg-BG" sz="2800" dirty="0"/>
              <a:t>Изключенията могат да се разделят на 3 основни групи според характера си</a:t>
            </a:r>
            <a:r>
              <a:rPr lang="bg-BG" sz="2800" dirty="0" smtClean="0"/>
              <a:t>:</a:t>
            </a:r>
          </a:p>
          <a:p>
            <a:pPr lvl="1"/>
            <a:r>
              <a:rPr lang="ru-RU" sz="2400" dirty="0" smtClean="0"/>
              <a:t>Грешки (англ. </a:t>
            </a:r>
            <a:r>
              <a:rPr lang="en-US" sz="2400" dirty="0" smtClean="0"/>
              <a:t>Fault)</a:t>
            </a:r>
            <a:endParaRPr lang="ru-RU" sz="2400" dirty="0"/>
          </a:p>
          <a:p>
            <a:pPr lvl="2"/>
            <a:r>
              <a:rPr lang="ru-RU" sz="2000" dirty="0"/>
              <a:t>Изключение, което обикновено може да бъде коригирано</a:t>
            </a:r>
            <a:r>
              <a:rPr lang="ru-RU" sz="2000" dirty="0" smtClean="0"/>
              <a:t>. След </a:t>
            </a:r>
            <a:r>
              <a:rPr lang="ru-RU" sz="2000" dirty="0"/>
              <a:t>като се коригира, програмата може да продължи да изпълнява.</a:t>
            </a:r>
          </a:p>
          <a:p>
            <a:pPr lvl="2"/>
            <a:r>
              <a:rPr lang="ru-RU" sz="2000" dirty="0"/>
              <a:t>Примери: </a:t>
            </a:r>
            <a:r>
              <a:rPr lang="ru-RU" sz="2000" dirty="0" smtClean="0"/>
              <a:t>Делене на 0; </a:t>
            </a:r>
            <a:r>
              <a:rPr lang="ru-RU" sz="2000" dirty="0"/>
              <a:t>Невалиден </a:t>
            </a:r>
            <a:r>
              <a:rPr lang="ru-RU" sz="2000" dirty="0" smtClean="0"/>
              <a:t>код на операция; </a:t>
            </a:r>
            <a:r>
              <a:rPr lang="ru-RU" sz="2000" dirty="0"/>
              <a:t>Устройство не е достъпно; ...</a:t>
            </a:r>
          </a:p>
          <a:p>
            <a:pPr lvl="1"/>
            <a:r>
              <a:rPr lang="en-US" sz="2400" dirty="0" smtClean="0"/>
              <a:t>TRAPs</a:t>
            </a:r>
            <a:endParaRPr lang="ru-RU" sz="2400" dirty="0"/>
          </a:p>
          <a:p>
            <a:pPr lvl="2"/>
            <a:r>
              <a:rPr lang="ru-RU" sz="2000" dirty="0" smtClean="0"/>
              <a:t>Тези изключения се докладват веднага след възприемането им след опработка на </a:t>
            </a:r>
            <a:r>
              <a:rPr lang="en-US" sz="2000" dirty="0" smtClean="0"/>
              <a:t>TRAP-</a:t>
            </a:r>
            <a:r>
              <a:rPr lang="bg-BG" sz="2000" dirty="0" smtClean="0"/>
              <a:t>инструкцията</a:t>
            </a:r>
            <a:r>
              <a:rPr lang="ru-RU" sz="2000" dirty="0" smtClean="0"/>
              <a:t>.</a:t>
            </a:r>
            <a:endParaRPr lang="ru-RU" sz="2000" dirty="0"/>
          </a:p>
          <a:p>
            <a:pPr lvl="2"/>
            <a:r>
              <a:rPr lang="ru-RU" sz="2000" dirty="0"/>
              <a:t>Примери: </a:t>
            </a:r>
            <a:r>
              <a:rPr lang="ru-RU" sz="2000" dirty="0" smtClean="0"/>
              <a:t>Точка </a:t>
            </a:r>
            <a:r>
              <a:rPr lang="ru-RU" sz="2000" dirty="0"/>
              <a:t>на </a:t>
            </a:r>
            <a:r>
              <a:rPr lang="ru-RU" sz="2000" dirty="0" smtClean="0"/>
              <a:t>прекъсване; </a:t>
            </a:r>
            <a:r>
              <a:rPr lang="ru-RU" sz="2000" dirty="0"/>
              <a:t>Препълване; ...</a:t>
            </a:r>
          </a:p>
          <a:p>
            <a:pPr lvl="1"/>
            <a:r>
              <a:rPr lang="bg-BG" sz="2400" dirty="0" smtClean="0"/>
              <a:t>Прекратяване </a:t>
            </a:r>
            <a:r>
              <a:rPr lang="en-US" sz="2400" dirty="0" smtClean="0"/>
              <a:t>(</a:t>
            </a:r>
            <a:r>
              <a:rPr lang="bg-BG" sz="2400" dirty="0" smtClean="0"/>
              <a:t>англ. </a:t>
            </a:r>
            <a:r>
              <a:rPr lang="en-US" sz="2400" dirty="0" smtClean="0"/>
              <a:t>Abort)</a:t>
            </a:r>
            <a:endParaRPr lang="ru-RU" sz="2400" dirty="0"/>
          </a:p>
          <a:p>
            <a:pPr lvl="2"/>
            <a:r>
              <a:rPr lang="ru-RU" sz="2000" dirty="0"/>
              <a:t>Тежки невъзстановими грешки.</a:t>
            </a:r>
          </a:p>
          <a:p>
            <a:pPr lvl="2"/>
            <a:r>
              <a:rPr lang="ru-RU" sz="2000" dirty="0"/>
              <a:t>Примери: вътрешни грешки в откритите хардуер (грешки в шината, грешки в </a:t>
            </a:r>
            <a:r>
              <a:rPr lang="ru-RU" sz="2000" dirty="0" smtClean="0"/>
              <a:t>кеша,...)</a:t>
            </a:r>
            <a:endParaRPr lang="bg-BG" sz="2000" dirty="0"/>
          </a:p>
        </p:txBody>
      </p:sp>
    </p:spTree>
    <p:extLst>
      <p:ext uri="{BB962C8B-B14F-4D97-AF65-F5344CB8AC3E}">
        <p14:creationId xmlns:p14="http://schemas.microsoft.com/office/powerpoint/2010/main" val="339154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Атомарна операция</a:t>
            </a:r>
            <a:endParaRPr lang="en-US" dirty="0"/>
          </a:p>
        </p:txBody>
      </p:sp>
      <p:sp>
        <p:nvSpPr>
          <p:cNvPr id="3" name="Content Placeholder 2"/>
          <p:cNvSpPr>
            <a:spLocks noGrp="1"/>
          </p:cNvSpPr>
          <p:nvPr>
            <p:ph idx="1"/>
          </p:nvPr>
        </p:nvSpPr>
        <p:spPr/>
        <p:txBody>
          <a:bodyPr>
            <a:normAutofit fontScale="85000" lnSpcReduction="20000"/>
          </a:bodyPr>
          <a:lstStyle/>
          <a:p>
            <a:pPr>
              <a:lnSpc>
                <a:spcPct val="120000"/>
              </a:lnSpc>
              <a:spcBef>
                <a:spcPts val="0"/>
              </a:spcBef>
            </a:pPr>
            <a:r>
              <a:rPr lang="bg-BG" sz="2800" dirty="0" smtClean="0"/>
              <a:t>В програмирането една операция, извършена от компютър се счита за </a:t>
            </a:r>
            <a:r>
              <a:rPr lang="bg-BG" sz="2800" i="1" dirty="0" smtClean="0">
                <a:effectLst>
                  <a:outerShdw blurRad="38100" dist="38100" dir="2700000" algn="tl">
                    <a:srgbClr val="000000">
                      <a:alpha val="43137"/>
                    </a:srgbClr>
                  </a:outerShdw>
                </a:effectLst>
              </a:rPr>
              <a:t>атомарна</a:t>
            </a:r>
            <a:r>
              <a:rPr lang="bg-BG" sz="2800" dirty="0" smtClean="0"/>
              <a:t>, ако е гарантирано, че е изолирана от други операции, които може да се случват по същото време. </a:t>
            </a:r>
          </a:p>
          <a:p>
            <a:pPr lvl="1">
              <a:lnSpc>
                <a:spcPct val="120000"/>
              </a:lnSpc>
              <a:spcBef>
                <a:spcPts val="0"/>
              </a:spcBef>
            </a:pPr>
            <a:r>
              <a:rPr lang="bg-BG" sz="2400" dirty="0" smtClean="0"/>
              <a:t>Атомарните операции са неделими. </a:t>
            </a:r>
          </a:p>
          <a:p>
            <a:pPr lvl="1">
              <a:lnSpc>
                <a:spcPct val="120000"/>
              </a:lnSpc>
              <a:spcBef>
                <a:spcPts val="0"/>
              </a:spcBef>
            </a:pPr>
            <a:r>
              <a:rPr lang="bg-BG" sz="2400" dirty="0" smtClean="0"/>
              <a:t>Атомарните операции са критично важни, когато се работи със споделени ресурси, т.е. те са съществен елемент на конкурентното програмиране.</a:t>
            </a:r>
          </a:p>
          <a:p>
            <a:pPr>
              <a:lnSpc>
                <a:spcPct val="120000"/>
              </a:lnSpc>
              <a:spcBef>
                <a:spcPts val="0"/>
              </a:spcBef>
            </a:pPr>
            <a:r>
              <a:rPr lang="bg-BG" sz="2800" dirty="0" smtClean="0"/>
              <a:t>Когато данни се използват от атомарна операция, която на свой ред е част от други атомарни или неатомарни операции, то тези данни могат да съществуват само в среда на последователна обработка.</a:t>
            </a:r>
          </a:p>
          <a:p>
            <a:pPr lvl="1">
              <a:lnSpc>
                <a:spcPct val="120000"/>
              </a:lnSpc>
              <a:spcBef>
                <a:spcPts val="0"/>
              </a:spcBef>
            </a:pPr>
            <a:r>
              <a:rPr lang="bg-BG" sz="2400" dirty="0" smtClean="0"/>
              <a:t>При споделяне е задължително да се използват заключващи механизми с цел избягване на грешки в данните.</a:t>
            </a:r>
          </a:p>
          <a:p>
            <a:pPr lvl="2">
              <a:lnSpc>
                <a:spcPct val="120000"/>
              </a:lnSpc>
              <a:spcBef>
                <a:spcPts val="0"/>
              </a:spcBef>
            </a:pPr>
            <a:r>
              <a:rPr lang="bg-BG" sz="2000" dirty="0" smtClean="0"/>
              <a:t>Заключването води до проблеми със </a:t>
            </a:r>
            <a:r>
              <a:rPr lang="bg-BG" sz="2000" dirty="0" err="1" smtClean="0"/>
              <a:t>сериализация</a:t>
            </a:r>
            <a:r>
              <a:rPr lang="bg-BG" sz="2000" dirty="0" smtClean="0"/>
              <a:t> на процесите, блокировки, приоритетни инверсии и други.</a:t>
            </a:r>
          </a:p>
          <a:p>
            <a:pPr lvl="1">
              <a:lnSpc>
                <a:spcPct val="120000"/>
              </a:lnSpc>
              <a:spcBef>
                <a:spcPts val="0"/>
              </a:spcBef>
            </a:pPr>
            <a:r>
              <a:rPr lang="bg-BG" sz="2400" dirty="0" smtClean="0"/>
              <a:t>Друга техника използва копие на данните, което непрекъсната се сравнява с първоизточника и при настъпила промяна се заменя с новата стойност. В този случай много по-трудно се гарантира целостта на данните, използвани в атомарната операция.</a:t>
            </a:r>
            <a:endParaRPr lang="bg-BG" sz="2400" dirty="0"/>
          </a:p>
        </p:txBody>
      </p:sp>
    </p:spTree>
    <p:extLst>
      <p:ext uri="{BB962C8B-B14F-4D97-AF65-F5344CB8AC3E}">
        <p14:creationId xmlns:p14="http://schemas.microsoft.com/office/powerpoint/2010/main" val="2177384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Транзакция</a:t>
            </a:r>
            <a:endParaRPr lang="en-US" dirty="0"/>
          </a:p>
        </p:txBody>
      </p:sp>
      <p:sp>
        <p:nvSpPr>
          <p:cNvPr id="3" name="Content Placeholder 2"/>
          <p:cNvSpPr>
            <a:spLocks noGrp="1"/>
          </p:cNvSpPr>
          <p:nvPr>
            <p:ph idx="1"/>
          </p:nvPr>
        </p:nvSpPr>
        <p:spPr/>
        <p:txBody>
          <a:bodyPr>
            <a:normAutofit fontScale="77500" lnSpcReduction="20000"/>
          </a:bodyPr>
          <a:lstStyle/>
          <a:p>
            <a:pPr>
              <a:lnSpc>
                <a:spcPct val="120000"/>
              </a:lnSpc>
              <a:spcBef>
                <a:spcPts val="0"/>
              </a:spcBef>
            </a:pPr>
            <a:r>
              <a:rPr lang="bg-BG" dirty="0" smtClean="0"/>
              <a:t>В програмирането под термина „</a:t>
            </a:r>
            <a:r>
              <a:rPr lang="bg-BG" i="1" dirty="0" smtClean="0">
                <a:effectLst>
                  <a:outerShdw blurRad="38100" dist="38100" dir="2700000" algn="tl">
                    <a:srgbClr val="000000">
                      <a:alpha val="43137"/>
                    </a:srgbClr>
                  </a:outerShdw>
                </a:effectLst>
              </a:rPr>
              <a:t>транзакция“</a:t>
            </a:r>
            <a:r>
              <a:rPr lang="bg-BG" dirty="0" smtClean="0"/>
              <a:t> най-често се разбира последователност от обмен на данни и свързаните с това дейности (напр. актуализиране на БД), които се третира като една неделима дейност</a:t>
            </a:r>
          </a:p>
          <a:p>
            <a:pPr lvl="1">
              <a:lnSpc>
                <a:spcPct val="120000"/>
              </a:lnSpc>
              <a:spcBef>
                <a:spcPts val="0"/>
              </a:spcBef>
            </a:pPr>
            <a:r>
              <a:rPr lang="bg-BG" dirty="0"/>
              <a:t>За да бъде завършена транзакция и промените в данните да станат постоянни, транзакцията трябва да бъде завършена изцяло. </a:t>
            </a:r>
          </a:p>
          <a:p>
            <a:pPr lvl="1">
              <a:lnSpc>
                <a:spcPct val="120000"/>
              </a:lnSpc>
              <a:spcBef>
                <a:spcPts val="0"/>
              </a:spcBef>
            </a:pPr>
            <a:r>
              <a:rPr lang="bg-BG" dirty="0" smtClean="0"/>
              <a:t>Транзакцията е необходима за нуждите на удовлетворяване на заявка и за осигуряване на целостта на данни. </a:t>
            </a:r>
          </a:p>
          <a:p>
            <a:pPr lvl="2">
              <a:lnSpc>
                <a:spcPct val="120000"/>
              </a:lnSpc>
              <a:spcBef>
                <a:spcPts val="0"/>
              </a:spcBef>
            </a:pPr>
            <a:r>
              <a:rPr lang="bg-BG" dirty="0"/>
              <a:t>Ако нещо се случи преди транзакцията да бъде успешно завършена, всички промени в </a:t>
            </a:r>
            <a:r>
              <a:rPr lang="bg-BG" dirty="0" smtClean="0"/>
              <a:t>данните </a:t>
            </a:r>
            <a:r>
              <a:rPr lang="bg-BG" dirty="0"/>
              <a:t>трябва </a:t>
            </a:r>
            <a:r>
              <a:rPr lang="bg-BG" dirty="0" smtClean="0"/>
              <a:t>да </a:t>
            </a:r>
            <a:r>
              <a:rPr lang="bg-BG" dirty="0"/>
              <a:t>бъдат отменени</a:t>
            </a:r>
            <a:r>
              <a:rPr lang="bg-BG" dirty="0" smtClean="0"/>
              <a:t>.</a:t>
            </a:r>
          </a:p>
          <a:p>
            <a:pPr lvl="1">
              <a:lnSpc>
                <a:spcPct val="120000"/>
              </a:lnSpc>
              <a:spcBef>
                <a:spcPts val="0"/>
              </a:spcBef>
            </a:pPr>
            <a:r>
              <a:rPr lang="ru-RU" dirty="0"/>
              <a:t>В контекста на </a:t>
            </a:r>
            <a:r>
              <a:rPr lang="ru-RU" dirty="0" err="1"/>
              <a:t>обработката</a:t>
            </a:r>
            <a:r>
              <a:rPr lang="ru-RU" dirty="0"/>
              <a:t> на транзакция, </a:t>
            </a:r>
            <a:r>
              <a:rPr lang="ru-RU" dirty="0" err="1"/>
              <a:t>акронимът</a:t>
            </a:r>
            <a:r>
              <a:rPr lang="ru-RU" dirty="0"/>
              <a:t> ACID се </a:t>
            </a:r>
            <a:r>
              <a:rPr lang="ru-RU" dirty="0" err="1"/>
              <a:t>отнася</a:t>
            </a:r>
            <a:r>
              <a:rPr lang="ru-RU" dirty="0"/>
              <a:t> до </a:t>
            </a:r>
            <a:r>
              <a:rPr lang="ru-RU" dirty="0" err="1"/>
              <a:t>четирите</a:t>
            </a:r>
            <a:r>
              <a:rPr lang="ru-RU" dirty="0"/>
              <a:t> </a:t>
            </a:r>
            <a:endParaRPr lang="ru-RU" dirty="0" smtClean="0"/>
          </a:p>
          <a:p>
            <a:pPr lvl="1">
              <a:lnSpc>
                <a:spcPct val="120000"/>
              </a:lnSpc>
              <a:spcBef>
                <a:spcPts val="0"/>
              </a:spcBef>
            </a:pPr>
            <a:r>
              <a:rPr lang="ru-RU" dirty="0" err="1" smtClean="0"/>
              <a:t>Ключовите</a:t>
            </a:r>
            <a:r>
              <a:rPr lang="ru-RU" dirty="0" smtClean="0"/>
              <a:t> </a:t>
            </a:r>
            <a:r>
              <a:rPr lang="ru-RU" dirty="0"/>
              <a:t>свойства на </a:t>
            </a:r>
            <a:r>
              <a:rPr lang="ru-RU" dirty="0" smtClean="0"/>
              <a:t>транзакция </a:t>
            </a:r>
            <a:r>
              <a:rPr lang="ru-RU" dirty="0" err="1" smtClean="0"/>
              <a:t>са</a:t>
            </a:r>
            <a:r>
              <a:rPr lang="ru-RU" dirty="0" smtClean="0"/>
              <a:t> </a:t>
            </a:r>
            <a:r>
              <a:rPr lang="ru-RU" dirty="0" err="1" smtClean="0"/>
              <a:t>четири</a:t>
            </a:r>
            <a:r>
              <a:rPr lang="en-US" dirty="0" smtClean="0"/>
              <a:t>:</a:t>
            </a:r>
            <a:r>
              <a:rPr lang="ru-RU" dirty="0" smtClean="0"/>
              <a:t> </a:t>
            </a:r>
            <a:r>
              <a:rPr lang="ru-RU" dirty="0" err="1"/>
              <a:t>атомарност</a:t>
            </a:r>
            <a:r>
              <a:rPr lang="ru-RU" dirty="0"/>
              <a:t>, </a:t>
            </a:r>
            <a:r>
              <a:rPr lang="ru-RU" dirty="0" err="1"/>
              <a:t>последователност</a:t>
            </a:r>
            <a:r>
              <a:rPr lang="ru-RU" dirty="0"/>
              <a:t>, </a:t>
            </a:r>
            <a:r>
              <a:rPr lang="ru-RU" dirty="0" err="1"/>
              <a:t>изолация</a:t>
            </a:r>
            <a:r>
              <a:rPr lang="ru-RU" dirty="0"/>
              <a:t> и </a:t>
            </a:r>
            <a:r>
              <a:rPr lang="ru-RU" dirty="0" err="1"/>
              <a:t>дълготрайност</a:t>
            </a:r>
            <a:r>
              <a:rPr lang="ru-RU" dirty="0"/>
              <a:t>. </a:t>
            </a:r>
            <a:endParaRPr lang="ru-RU" dirty="0" smtClean="0"/>
          </a:p>
          <a:p>
            <a:pPr lvl="2">
              <a:lnSpc>
                <a:spcPct val="120000"/>
              </a:lnSpc>
              <a:spcBef>
                <a:spcPts val="0"/>
              </a:spcBef>
            </a:pPr>
            <a:r>
              <a:rPr lang="ru-RU" dirty="0" smtClean="0"/>
              <a:t>англ. </a:t>
            </a:r>
            <a:r>
              <a:rPr lang="en-US" dirty="0"/>
              <a:t>ACID properties (atomicity, consistency, isolation, and </a:t>
            </a:r>
            <a:r>
              <a:rPr lang="en-US" dirty="0" smtClean="0"/>
              <a:t>durability)</a:t>
            </a:r>
            <a:endParaRPr lang="ru-RU" dirty="0"/>
          </a:p>
          <a:p>
            <a:pPr lvl="2">
              <a:lnSpc>
                <a:spcPct val="120000"/>
              </a:lnSpc>
              <a:spcBef>
                <a:spcPts val="0"/>
              </a:spcBef>
            </a:pPr>
            <a:r>
              <a:rPr lang="ru-RU" dirty="0" err="1" smtClean="0"/>
              <a:t>Всички</a:t>
            </a:r>
            <a:r>
              <a:rPr lang="ru-RU" dirty="0" smtClean="0"/>
              <a:t> </a:t>
            </a:r>
            <a:r>
              <a:rPr lang="ru-RU" dirty="0" err="1"/>
              <a:t>промени</a:t>
            </a:r>
            <a:r>
              <a:rPr lang="ru-RU" dirty="0"/>
              <a:t> в </a:t>
            </a:r>
            <a:r>
              <a:rPr lang="ru-RU" dirty="0" err="1"/>
              <a:t>данните</a:t>
            </a:r>
            <a:r>
              <a:rPr lang="ru-RU" dirty="0"/>
              <a:t> се </a:t>
            </a:r>
            <a:r>
              <a:rPr lang="ru-RU" dirty="0" err="1"/>
              <a:t>извършват</a:t>
            </a:r>
            <a:r>
              <a:rPr lang="ru-RU" dirty="0"/>
              <a:t> </a:t>
            </a:r>
            <a:r>
              <a:rPr lang="ru-RU" dirty="0" err="1"/>
              <a:t>така</a:t>
            </a:r>
            <a:r>
              <a:rPr lang="ru-RU" dirty="0"/>
              <a:t>, </a:t>
            </a:r>
            <a:r>
              <a:rPr lang="ru-RU" dirty="0" err="1"/>
              <a:t>сякаш</a:t>
            </a:r>
            <a:r>
              <a:rPr lang="ru-RU" dirty="0"/>
              <a:t> </a:t>
            </a:r>
            <a:r>
              <a:rPr lang="ru-RU" dirty="0" err="1"/>
              <a:t>са</a:t>
            </a:r>
            <a:r>
              <a:rPr lang="ru-RU" dirty="0"/>
              <a:t> </a:t>
            </a:r>
            <a:r>
              <a:rPr lang="ru-RU" dirty="0" err="1"/>
              <a:t>една</a:t>
            </a:r>
            <a:r>
              <a:rPr lang="ru-RU" dirty="0"/>
              <a:t> операция. </a:t>
            </a:r>
            <a:r>
              <a:rPr lang="ru-RU" dirty="0" err="1"/>
              <a:t>Тоест</a:t>
            </a:r>
            <a:r>
              <a:rPr lang="ru-RU" dirty="0"/>
              <a:t> </a:t>
            </a:r>
            <a:r>
              <a:rPr lang="ru-RU" dirty="0" err="1"/>
              <a:t>всички</a:t>
            </a:r>
            <a:r>
              <a:rPr lang="ru-RU" dirty="0"/>
              <a:t> </a:t>
            </a:r>
            <a:r>
              <a:rPr lang="ru-RU" dirty="0" err="1"/>
              <a:t>промени</a:t>
            </a:r>
            <a:r>
              <a:rPr lang="ru-RU" dirty="0"/>
              <a:t> </a:t>
            </a:r>
            <a:r>
              <a:rPr lang="ru-RU" dirty="0" err="1"/>
              <a:t>са</a:t>
            </a:r>
            <a:r>
              <a:rPr lang="ru-RU" dirty="0"/>
              <a:t> </a:t>
            </a:r>
            <a:r>
              <a:rPr lang="ru-RU" dirty="0" err="1"/>
              <a:t>извършени</a:t>
            </a:r>
            <a:r>
              <a:rPr lang="ru-RU" dirty="0"/>
              <a:t> или </a:t>
            </a:r>
            <a:r>
              <a:rPr lang="ru-RU" dirty="0" err="1"/>
              <a:t>нито</a:t>
            </a:r>
            <a:r>
              <a:rPr lang="ru-RU" dirty="0"/>
              <a:t> </a:t>
            </a:r>
            <a:r>
              <a:rPr lang="ru-RU" dirty="0" err="1"/>
              <a:t>една</a:t>
            </a:r>
            <a:r>
              <a:rPr lang="ru-RU" dirty="0"/>
              <a:t> от </a:t>
            </a:r>
            <a:r>
              <a:rPr lang="ru-RU" dirty="0" err="1"/>
              <a:t>тях</a:t>
            </a:r>
            <a:r>
              <a:rPr lang="ru-RU" dirty="0"/>
              <a:t>.</a:t>
            </a:r>
            <a:endParaRPr lang="bg-BG" dirty="0"/>
          </a:p>
        </p:txBody>
      </p:sp>
    </p:spTree>
    <p:extLst>
      <p:ext uri="{BB962C8B-B14F-4D97-AF65-F5344CB8AC3E}">
        <p14:creationId xmlns:p14="http://schemas.microsoft.com/office/powerpoint/2010/main" val="1792470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Транзакция</a:t>
            </a:r>
            <a:endParaRPr lang="en-US" dirty="0"/>
          </a:p>
        </p:txBody>
      </p:sp>
      <p:sp>
        <p:nvSpPr>
          <p:cNvPr id="3" name="Content Placeholder 2"/>
          <p:cNvSpPr>
            <a:spLocks noGrp="1"/>
          </p:cNvSpPr>
          <p:nvPr>
            <p:ph idx="1"/>
          </p:nvPr>
        </p:nvSpPr>
        <p:spPr/>
        <p:txBody>
          <a:bodyPr>
            <a:normAutofit fontScale="92500" lnSpcReduction="10000"/>
          </a:bodyPr>
          <a:lstStyle/>
          <a:p>
            <a:pPr>
              <a:spcBef>
                <a:spcPts val="0"/>
              </a:spcBef>
            </a:pPr>
            <a:r>
              <a:rPr lang="bg-BG" sz="2800" dirty="0" smtClean="0"/>
              <a:t>Програма, която управлява или наблюдава последователността от събития, които са част от транзакция, най-често се нарича „</a:t>
            </a:r>
            <a:r>
              <a:rPr lang="bg-BG" sz="2800" i="1" dirty="0" smtClean="0">
                <a:effectLst>
                  <a:outerShdw blurRad="38100" dist="38100" dir="2700000" algn="tl">
                    <a:srgbClr val="000000">
                      <a:alpha val="43137"/>
                    </a:srgbClr>
                  </a:outerShdw>
                </a:effectLst>
              </a:rPr>
              <a:t>монитор на транзакция</a:t>
            </a:r>
            <a:r>
              <a:rPr lang="bg-BG" sz="2800" dirty="0" smtClean="0"/>
              <a:t>“.</a:t>
            </a:r>
          </a:p>
          <a:p>
            <a:pPr lvl="1">
              <a:spcBef>
                <a:spcPts val="0"/>
              </a:spcBef>
            </a:pPr>
            <a:r>
              <a:rPr lang="bg-BG" sz="2400" dirty="0" smtClean="0"/>
              <a:t>Понякога това е много по-сложна система и тогава се използва названието „</a:t>
            </a:r>
            <a:r>
              <a:rPr lang="bg-BG" sz="2400" i="1" dirty="0" smtClean="0">
                <a:effectLst>
                  <a:outerShdw blurRad="38100" dist="38100" dir="2700000" algn="tl">
                    <a:srgbClr val="000000">
                      <a:alpha val="43137"/>
                    </a:srgbClr>
                  </a:outerShdw>
                </a:effectLst>
              </a:rPr>
              <a:t>транзакционен сървър</a:t>
            </a:r>
            <a:r>
              <a:rPr lang="bg-BG" sz="2400" dirty="0" smtClean="0"/>
              <a:t>“</a:t>
            </a:r>
          </a:p>
          <a:p>
            <a:pPr>
              <a:spcBef>
                <a:spcPts val="0"/>
              </a:spcBef>
            </a:pPr>
            <a:r>
              <a:rPr lang="bg-BG" sz="2800" dirty="0" smtClean="0"/>
              <a:t>Мониторите на транзакции се делят на няколко основни вида:</a:t>
            </a:r>
          </a:p>
          <a:p>
            <a:pPr lvl="1">
              <a:spcBef>
                <a:spcPts val="0"/>
              </a:spcBef>
            </a:pPr>
            <a:r>
              <a:rPr lang="bg-BG" sz="2400" dirty="0" smtClean="0"/>
              <a:t>Класически – отговарят само на ACID-характеристиките</a:t>
            </a:r>
          </a:p>
          <a:p>
            <a:pPr lvl="1">
              <a:spcBef>
                <a:spcPts val="0"/>
              </a:spcBef>
            </a:pPr>
            <a:r>
              <a:rPr lang="bg-BG" sz="2400" dirty="0" smtClean="0"/>
              <a:t>Разпределени и вложени транзакции</a:t>
            </a:r>
          </a:p>
          <a:p>
            <a:pPr lvl="2">
              <a:spcBef>
                <a:spcPts val="0"/>
              </a:spcBef>
            </a:pPr>
            <a:r>
              <a:rPr lang="bg-BG" sz="2000" dirty="0" smtClean="0"/>
              <a:t> Приложенията станаха по-сложни и често изискваха транзакционен достъп до множество системи от БД. </a:t>
            </a:r>
          </a:p>
          <a:p>
            <a:pPr lvl="2">
              <a:spcBef>
                <a:spcPts val="0"/>
              </a:spcBef>
            </a:pPr>
            <a:r>
              <a:rPr lang="bg-BG" sz="2000" dirty="0" smtClean="0"/>
              <a:t>В този случай една сложна транзакция се разлага на </a:t>
            </a:r>
            <a:r>
              <a:rPr lang="bg-BG" sz="2000" dirty="0" err="1" smtClean="0"/>
              <a:t>подтранзакции</a:t>
            </a:r>
            <a:r>
              <a:rPr lang="bg-BG" sz="2000" dirty="0" smtClean="0"/>
              <a:t>: при </a:t>
            </a:r>
            <a:r>
              <a:rPr lang="bg-BG" sz="2000" i="1" dirty="0" smtClean="0">
                <a:effectLst>
                  <a:outerShdw blurRad="38100" dist="38100" dir="2700000" algn="tl">
                    <a:srgbClr val="000000">
                      <a:alpha val="43137"/>
                    </a:srgbClr>
                  </a:outerShdw>
                </a:effectLst>
              </a:rPr>
              <a:t>разпределената </a:t>
            </a:r>
            <a:r>
              <a:rPr lang="bg-BG" sz="2000" dirty="0" smtClean="0"/>
              <a:t>транзакция се използва подход «отдолу-нагоре», докато при «вложената транзакция» подходът е «отгоре-надолу».</a:t>
            </a:r>
          </a:p>
          <a:p>
            <a:pPr lvl="1">
              <a:spcBef>
                <a:spcPts val="0"/>
              </a:spcBef>
            </a:pPr>
            <a:r>
              <a:rPr lang="bg-BG" sz="2400" dirty="0" smtClean="0"/>
              <a:t>Верижни транзакции и саги</a:t>
            </a:r>
          </a:p>
          <a:p>
            <a:pPr lvl="2">
              <a:spcBef>
                <a:spcPts val="0"/>
              </a:spcBef>
            </a:pPr>
            <a:r>
              <a:rPr lang="bg-BG" sz="2000" i="1" dirty="0" smtClean="0">
                <a:effectLst>
                  <a:outerShdw blurRad="38100" dist="38100" dir="2700000" algn="tl">
                    <a:srgbClr val="000000">
                      <a:alpha val="43137"/>
                    </a:srgbClr>
                  </a:outerShdw>
                </a:effectLst>
              </a:rPr>
              <a:t>Верижните </a:t>
            </a:r>
            <a:r>
              <a:rPr lang="bg-BG" sz="2000" dirty="0" smtClean="0"/>
              <a:t>транзакции представят идеята за разлагане на такива дълготрайни транзакции на малки, последователно изпълняващи се </a:t>
            </a:r>
            <a:r>
              <a:rPr lang="bg-BG" sz="2000" dirty="0" err="1" smtClean="0"/>
              <a:t>подтранзакции</a:t>
            </a:r>
            <a:r>
              <a:rPr lang="bg-BG" sz="2000" dirty="0" smtClean="0"/>
              <a:t>.</a:t>
            </a:r>
          </a:p>
          <a:p>
            <a:pPr lvl="2">
              <a:spcBef>
                <a:spcPts val="0"/>
              </a:spcBef>
            </a:pPr>
            <a:r>
              <a:rPr lang="bg-BG" sz="2000" i="1" dirty="0" smtClean="0">
                <a:effectLst>
                  <a:outerShdw blurRad="38100" dist="38100" dir="2700000" algn="tl">
                    <a:srgbClr val="000000">
                      <a:alpha val="43137"/>
                    </a:srgbClr>
                  </a:outerShdw>
                </a:effectLst>
              </a:rPr>
              <a:t>Сагите</a:t>
            </a:r>
            <a:r>
              <a:rPr lang="bg-BG" sz="2000" dirty="0" smtClean="0"/>
              <a:t> (англ. </a:t>
            </a:r>
            <a:r>
              <a:rPr lang="bg-BG" sz="2000" dirty="0" err="1" smtClean="0"/>
              <a:t>Saga</a:t>
            </a:r>
            <a:r>
              <a:rPr lang="bg-BG" sz="2000" dirty="0" smtClean="0"/>
              <a:t>) се основават на концепцията за верижни транзакции и предлагат компенсационен механизъм за връщане назад на вече завършени </a:t>
            </a:r>
            <a:r>
              <a:rPr lang="bg-BG" sz="2000" dirty="0" err="1" smtClean="0"/>
              <a:t>подтранзакции</a:t>
            </a:r>
            <a:r>
              <a:rPr lang="bg-BG" sz="2000" dirty="0" smtClean="0"/>
              <a:t>.</a:t>
            </a:r>
          </a:p>
        </p:txBody>
      </p:sp>
    </p:spTree>
    <p:extLst>
      <p:ext uri="{BB962C8B-B14F-4D97-AF65-F5344CB8AC3E}">
        <p14:creationId xmlns:p14="http://schemas.microsoft.com/office/powerpoint/2010/main" val="336106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Транзакция</a:t>
            </a:r>
            <a:endParaRPr lang="en-US" dirty="0"/>
          </a:p>
        </p:txBody>
      </p:sp>
      <p:sp>
        <p:nvSpPr>
          <p:cNvPr id="3" name="Content Placeholder 2"/>
          <p:cNvSpPr>
            <a:spLocks noGrp="1"/>
          </p:cNvSpPr>
          <p:nvPr>
            <p:ph idx="1"/>
          </p:nvPr>
        </p:nvSpPr>
        <p:spPr/>
        <p:txBody>
          <a:bodyPr>
            <a:normAutofit fontScale="70000" lnSpcReduction="20000"/>
          </a:bodyPr>
          <a:lstStyle/>
          <a:p>
            <a:pPr>
              <a:lnSpc>
                <a:spcPct val="120000"/>
              </a:lnSpc>
              <a:spcBef>
                <a:spcPts val="0"/>
              </a:spcBef>
            </a:pPr>
            <a:r>
              <a:rPr lang="bg-BG" dirty="0" smtClean="0"/>
              <a:t>В програмирането под термина „</a:t>
            </a:r>
            <a:r>
              <a:rPr lang="bg-BG" i="1" dirty="0" smtClean="0">
                <a:effectLst>
                  <a:outerShdw blurRad="38100" dist="38100" dir="2700000" algn="tl">
                    <a:srgbClr val="000000">
                      <a:alpha val="43137"/>
                    </a:srgbClr>
                  </a:outerShdw>
                </a:effectLst>
              </a:rPr>
              <a:t>транзакция“</a:t>
            </a:r>
            <a:r>
              <a:rPr lang="bg-BG" dirty="0" smtClean="0"/>
              <a:t> най-често се разбира последователност от обмен на данни и свързаните с това дейности (напр. актуализиране на БД), които се третира като една неделима дейност</a:t>
            </a:r>
          </a:p>
          <a:p>
            <a:pPr lvl="1">
              <a:lnSpc>
                <a:spcPct val="120000"/>
              </a:lnSpc>
              <a:spcBef>
                <a:spcPts val="0"/>
              </a:spcBef>
            </a:pPr>
            <a:r>
              <a:rPr lang="bg-BG" dirty="0"/>
              <a:t>За да бъде завършена транзакция и промените в данните да станат постоянни, транзакцията трябва да бъде завършена изцяло. </a:t>
            </a:r>
          </a:p>
          <a:p>
            <a:pPr lvl="1">
              <a:lnSpc>
                <a:spcPct val="120000"/>
              </a:lnSpc>
              <a:spcBef>
                <a:spcPts val="0"/>
              </a:spcBef>
            </a:pPr>
            <a:r>
              <a:rPr lang="bg-BG" dirty="0" smtClean="0"/>
              <a:t>Транзакцията е необходима за нуждите на удовлетворяване на заявка и за осигуряване на целостта на данни. </a:t>
            </a:r>
          </a:p>
          <a:p>
            <a:pPr lvl="2">
              <a:lnSpc>
                <a:spcPct val="120000"/>
              </a:lnSpc>
              <a:spcBef>
                <a:spcPts val="0"/>
              </a:spcBef>
            </a:pPr>
            <a:r>
              <a:rPr lang="bg-BG" dirty="0"/>
              <a:t>Ако нещо се случи преди транзакцията да бъде успешно завършена, всички промени в </a:t>
            </a:r>
            <a:r>
              <a:rPr lang="bg-BG" dirty="0" smtClean="0"/>
              <a:t>данните </a:t>
            </a:r>
            <a:r>
              <a:rPr lang="bg-BG" dirty="0"/>
              <a:t>трябва </a:t>
            </a:r>
            <a:r>
              <a:rPr lang="bg-BG" dirty="0" smtClean="0"/>
              <a:t>да </a:t>
            </a:r>
            <a:r>
              <a:rPr lang="bg-BG" dirty="0"/>
              <a:t>бъдат отменени.</a:t>
            </a:r>
          </a:p>
          <a:p>
            <a:pPr>
              <a:lnSpc>
                <a:spcPct val="120000"/>
              </a:lnSpc>
              <a:spcBef>
                <a:spcPts val="0"/>
              </a:spcBef>
            </a:pPr>
            <a:r>
              <a:rPr lang="bg-BG" dirty="0" smtClean="0"/>
              <a:t>Пример за типична транзакция:</a:t>
            </a:r>
          </a:p>
          <a:p>
            <a:pPr lvl="1">
              <a:lnSpc>
                <a:spcPct val="120000"/>
              </a:lnSpc>
              <a:spcBef>
                <a:spcPts val="0"/>
              </a:spcBef>
            </a:pPr>
            <a:r>
              <a:rPr lang="bg-BG" dirty="0" smtClean="0"/>
              <a:t>Поръчка на каталожна стока, подадена по телефона от клиент и въведена в компютър от представител на клиента. </a:t>
            </a:r>
          </a:p>
          <a:p>
            <a:pPr lvl="1">
              <a:lnSpc>
                <a:spcPct val="120000"/>
              </a:lnSpc>
              <a:spcBef>
                <a:spcPts val="0"/>
              </a:spcBef>
            </a:pPr>
            <a:r>
              <a:rPr lang="bg-BG" dirty="0" smtClean="0"/>
              <a:t>Транзакцията на поръчката включва проверка на база данни с инвентар, потвърждаване, че артикулът е наличен, пускане на поръчката и потвърждаване, че поръчката е направена и очакваното време на изпращане. </a:t>
            </a:r>
          </a:p>
          <a:p>
            <a:pPr lvl="2">
              <a:lnSpc>
                <a:spcPct val="120000"/>
              </a:lnSpc>
              <a:spcBef>
                <a:spcPts val="0"/>
              </a:spcBef>
            </a:pPr>
            <a:r>
              <a:rPr lang="bg-BG" dirty="0" smtClean="0"/>
              <a:t>Ако разглеждаме това като една транзакция, тогава всички стъпки трябва да бъдат завършени, преди транзакцията да е успешна и базата данни действително да бъде променена, за да отрази новия ред. </a:t>
            </a:r>
          </a:p>
        </p:txBody>
      </p:sp>
    </p:spTree>
    <p:extLst>
      <p:ext uri="{BB962C8B-B14F-4D97-AF65-F5344CB8AC3E}">
        <p14:creationId xmlns:p14="http://schemas.microsoft.com/office/powerpoint/2010/main" val="1793325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Транзакция</a:t>
            </a:r>
            <a:endParaRPr lang="en-US" dirty="0"/>
          </a:p>
        </p:txBody>
      </p:sp>
      <p:sp>
        <p:nvSpPr>
          <p:cNvPr id="3" name="Content Placeholder 2"/>
          <p:cNvSpPr>
            <a:spLocks noGrp="1"/>
          </p:cNvSpPr>
          <p:nvPr>
            <p:ph idx="1"/>
          </p:nvPr>
        </p:nvSpPr>
        <p:spPr/>
        <p:txBody>
          <a:bodyPr>
            <a:normAutofit/>
          </a:bodyPr>
          <a:lstStyle/>
          <a:p>
            <a:pPr>
              <a:lnSpc>
                <a:spcPct val="120000"/>
              </a:lnSpc>
              <a:spcBef>
                <a:spcPts val="0"/>
              </a:spcBef>
            </a:pPr>
            <a:r>
              <a:rPr lang="bg-BG" dirty="0" smtClean="0"/>
              <a:t>Локални и разпределени транзакции</a:t>
            </a:r>
          </a:p>
        </p:txBody>
      </p:sp>
      <p:pic>
        <p:nvPicPr>
          <p:cNvPr id="5" name="Picture 4"/>
          <p:cNvPicPr>
            <a:picLocks noChangeAspect="1"/>
          </p:cNvPicPr>
          <p:nvPr/>
        </p:nvPicPr>
        <p:blipFill>
          <a:blip r:embed="rId2"/>
          <a:stretch>
            <a:fillRect/>
          </a:stretch>
        </p:blipFill>
        <p:spPr>
          <a:xfrm>
            <a:off x="3351212" y="1892877"/>
            <a:ext cx="8040871" cy="4660324"/>
          </a:xfrm>
          <a:prstGeom prst="rect">
            <a:avLst/>
          </a:prstGeom>
        </p:spPr>
      </p:pic>
    </p:spTree>
    <p:extLst>
      <p:ext uri="{BB962C8B-B14F-4D97-AF65-F5344CB8AC3E}">
        <p14:creationId xmlns:p14="http://schemas.microsoft.com/office/powerpoint/2010/main" val="1201891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bg-BG"/>
          </a:p>
        </p:txBody>
      </p:sp>
      <p:sp>
        <p:nvSpPr>
          <p:cNvPr id="3" name="Content Placeholder 2"/>
          <p:cNvSpPr>
            <a:spLocks noGrp="1"/>
          </p:cNvSpPr>
          <p:nvPr>
            <p:ph idx="1"/>
          </p:nvPr>
        </p:nvSpPr>
        <p:spPr/>
        <p:txBody>
          <a:bodyPr/>
          <a:lstStyle/>
          <a:p>
            <a:pPr marL="0" indent="0" algn="ctr">
              <a:buNone/>
            </a:pPr>
            <a:endParaRPr lang="bg-BG" dirty="0" smtClean="0"/>
          </a:p>
          <a:p>
            <a:pPr marL="0" indent="0" algn="ctr">
              <a:buNone/>
            </a:pPr>
            <a:endParaRPr lang="bg-BG" dirty="0"/>
          </a:p>
          <a:p>
            <a:pPr marL="0" indent="0" algn="ctr">
              <a:buNone/>
            </a:pPr>
            <a:endParaRPr lang="bg-BG" dirty="0" smtClean="0"/>
          </a:p>
          <a:p>
            <a:pPr marL="0" indent="0" algn="ctr">
              <a:buNone/>
            </a:pPr>
            <a:endParaRPr lang="bg-BG" dirty="0"/>
          </a:p>
          <a:p>
            <a:pPr marL="0" indent="0" algn="ctr">
              <a:buNone/>
            </a:pPr>
            <a:endParaRPr lang="bg-BG" dirty="0" smtClean="0"/>
          </a:p>
          <a:p>
            <a:pPr marL="0" indent="0" algn="ctr">
              <a:buNone/>
            </a:pPr>
            <a:r>
              <a:rPr lang="bg-BG" sz="4400" b="1" dirty="0" smtClean="0">
                <a:effectLst>
                  <a:outerShdw blurRad="38100" dist="38100" dir="2700000" algn="tl">
                    <a:srgbClr val="000000">
                      <a:alpha val="43137"/>
                    </a:srgbClr>
                  </a:outerShdw>
                </a:effectLst>
              </a:rPr>
              <a:t>Управление на паметта</a:t>
            </a:r>
            <a:endParaRPr lang="bg-BG" sz="4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9597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1"/>
          <p:cNvSpPr>
            <a:spLocks noGrp="1"/>
          </p:cNvSpPr>
          <p:nvPr>
            <p:ph idx="1"/>
          </p:nvPr>
        </p:nvSpPr>
        <p:spPr/>
        <p:txBody>
          <a:bodyPr>
            <a:normAutofit fontScale="92500" lnSpcReduction="20000"/>
          </a:bodyPr>
          <a:lstStyle/>
          <a:p>
            <a:pPr>
              <a:spcBef>
                <a:spcPts val="300"/>
              </a:spcBef>
            </a:pPr>
            <a:r>
              <a:rPr lang="bg-BG" altLang="en-US" sz="2800" dirty="0" smtClean="0"/>
              <a:t>Управлението паметта и оптимизирането на нейното използването е от решаващо значение за работата на всяка компютърната система.</a:t>
            </a:r>
          </a:p>
          <a:p>
            <a:pPr lvl="1">
              <a:spcBef>
                <a:spcPts val="300"/>
              </a:spcBef>
            </a:pPr>
            <a:r>
              <a:rPr lang="bg-BG" altLang="en-US" sz="2400" dirty="0" smtClean="0"/>
              <a:t>Без достатъчно памет няма къде да се разположат елементите на програмата (променливите, данни, функциите и т.н.)</a:t>
            </a:r>
          </a:p>
          <a:p>
            <a:pPr>
              <a:spcBef>
                <a:spcPts val="300"/>
              </a:spcBef>
            </a:pPr>
            <a:r>
              <a:rPr lang="bg-BG" altLang="en-US" sz="2800" dirty="0" smtClean="0">
                <a:effectLst>
                  <a:outerShdw blurRad="38100" dist="38100" dir="2700000" algn="tl">
                    <a:srgbClr val="000000">
                      <a:alpha val="43137"/>
                    </a:srgbClr>
                  </a:outerShdw>
                </a:effectLst>
              </a:rPr>
              <a:t>Управлението на паметта </a:t>
            </a:r>
            <a:r>
              <a:rPr lang="bg-BG" altLang="en-US" sz="2800" dirty="0" smtClean="0"/>
              <a:t>е една от най-важните задачи на компютъра по време на работата. Основните дейности са:</a:t>
            </a:r>
          </a:p>
          <a:p>
            <a:pPr lvl="1">
              <a:spcBef>
                <a:spcPts val="300"/>
              </a:spcBef>
            </a:pPr>
            <a:r>
              <a:rPr lang="bg-BG" altLang="en-US" sz="2400" dirty="0" smtClean="0"/>
              <a:t>Осигуряване на начини за разпределяне на паметта на програмите (</a:t>
            </a:r>
            <a:r>
              <a:rPr lang="bg-BG" altLang="en-US" sz="2400" dirty="0" err="1" smtClean="0"/>
              <a:t>англ</a:t>
            </a:r>
            <a:r>
              <a:rPr lang="bg-BG" altLang="en-US" sz="2400" dirty="0" smtClean="0"/>
              <a:t>. </a:t>
            </a:r>
            <a:r>
              <a:rPr lang="bg-BG" altLang="en-US" sz="2400" dirty="0" err="1" smtClean="0">
                <a:effectLst>
                  <a:outerShdw blurRad="38100" dist="38100" dir="2700000" algn="tl">
                    <a:srgbClr val="000000">
                      <a:alpha val="43137"/>
                    </a:srgbClr>
                  </a:outerShdw>
                </a:effectLst>
              </a:rPr>
              <a:t>Tasks</a:t>
            </a:r>
            <a:r>
              <a:rPr lang="bg-BG" altLang="en-US" sz="2400" dirty="0" smtClean="0"/>
              <a:t>), която е необходима за зареждане, стартиране и работа.</a:t>
            </a:r>
          </a:p>
          <a:p>
            <a:pPr lvl="1">
              <a:spcBef>
                <a:spcPts val="300"/>
              </a:spcBef>
            </a:pPr>
            <a:r>
              <a:rPr lang="bg-BG" altLang="en-US" sz="2400" dirty="0" smtClean="0"/>
              <a:t>Освобождаване на заделената памет при завършване на работата на програмата.</a:t>
            </a:r>
          </a:p>
          <a:p>
            <a:pPr lvl="1">
              <a:spcBef>
                <a:spcPts val="300"/>
              </a:spcBef>
            </a:pPr>
            <a:r>
              <a:rPr lang="bg-BG" altLang="en-US" sz="2400" dirty="0" smtClean="0"/>
              <a:t>Заемане/освобождаване на памет, необходима за работата на програмата в реално време.</a:t>
            </a:r>
          </a:p>
          <a:p>
            <a:pPr>
              <a:lnSpc>
                <a:spcPct val="100000"/>
              </a:lnSpc>
              <a:spcBef>
                <a:spcPts val="300"/>
              </a:spcBef>
            </a:pPr>
            <a:r>
              <a:rPr lang="bg-BG" altLang="en-US" sz="2800" dirty="0" smtClean="0">
                <a:effectLst>
                  <a:outerShdw blurRad="38100" dist="38100" dir="2700000" algn="tl">
                    <a:srgbClr val="000000">
                      <a:alpha val="43137"/>
                    </a:srgbClr>
                  </a:outerShdw>
                </a:effectLst>
              </a:rPr>
              <a:t>Отделянето</a:t>
            </a:r>
            <a:r>
              <a:rPr lang="bg-BG" altLang="en-US" sz="2800" dirty="0" smtClean="0"/>
              <a:t> </a:t>
            </a:r>
            <a:r>
              <a:rPr lang="bg-BG" altLang="en-US" sz="2800" dirty="0"/>
              <a:t>на необходимата </a:t>
            </a:r>
            <a:r>
              <a:rPr lang="bg-BG" altLang="en-US" sz="2800" dirty="0">
                <a:effectLst>
                  <a:outerShdw blurRad="38100" dist="38100" dir="2700000" algn="tl">
                    <a:srgbClr val="000000">
                      <a:alpha val="43137"/>
                    </a:srgbClr>
                  </a:outerShdw>
                </a:effectLst>
              </a:rPr>
              <a:t>памет</a:t>
            </a:r>
            <a:r>
              <a:rPr lang="bg-BG" altLang="en-US" sz="2800" dirty="0"/>
              <a:t> за елементите на програмата се извършва по два начина:</a:t>
            </a:r>
          </a:p>
          <a:p>
            <a:pPr lvl="1">
              <a:spcBef>
                <a:spcPts val="300"/>
              </a:spcBef>
            </a:pPr>
            <a:r>
              <a:rPr lang="bg-BG" altLang="en-US" sz="2400" dirty="0" smtClean="0">
                <a:effectLst>
                  <a:outerShdw blurRad="38100" dist="38100" dir="2700000" algn="tl">
                    <a:srgbClr val="000000">
                      <a:alpha val="43137"/>
                    </a:srgbClr>
                  </a:outerShdw>
                </a:effectLst>
              </a:rPr>
              <a:t>Статично</a:t>
            </a:r>
            <a:r>
              <a:rPr lang="bg-BG" altLang="en-US" sz="2400" dirty="0" smtClean="0"/>
              <a:t> – това се извършва по време на компилация, когато предварително се знае къде ще се разположи елемента.</a:t>
            </a:r>
          </a:p>
          <a:p>
            <a:pPr lvl="1">
              <a:spcBef>
                <a:spcPts val="300"/>
              </a:spcBef>
            </a:pPr>
            <a:r>
              <a:rPr lang="bg-BG" altLang="en-US" sz="2400" dirty="0" smtClean="0">
                <a:effectLst>
                  <a:outerShdw blurRad="38100" dist="38100" dir="2700000" algn="tl">
                    <a:srgbClr val="000000">
                      <a:alpha val="43137"/>
                    </a:srgbClr>
                  </a:outerShdw>
                </a:effectLst>
              </a:rPr>
              <a:t>Динамично</a:t>
            </a:r>
            <a:r>
              <a:rPr lang="bg-BG" altLang="en-US" sz="2400" dirty="0" smtClean="0"/>
              <a:t> – това се </a:t>
            </a:r>
            <a:r>
              <a:rPr lang="bg-BG" altLang="en-US" sz="2400" dirty="0"/>
              <a:t>извършва по време </a:t>
            </a:r>
            <a:r>
              <a:rPr lang="bg-BG" altLang="en-US" sz="2400" dirty="0" smtClean="0"/>
              <a:t>на изпълнението на програмата според конкретните нужди.</a:t>
            </a:r>
            <a:endParaRPr lang="bg-BG" altLang="en-US" sz="2400" dirty="0"/>
          </a:p>
        </p:txBody>
      </p:sp>
      <p:sp>
        <p:nvSpPr>
          <p:cNvPr id="46083" name="Title 2"/>
          <p:cNvSpPr>
            <a:spLocks noGrp="1"/>
          </p:cNvSpPr>
          <p:nvPr>
            <p:ph type="title"/>
          </p:nvPr>
        </p:nvSpPr>
        <p:spPr/>
        <p:txBody>
          <a:bodyPr/>
          <a:lstStyle/>
          <a:p>
            <a:pPr>
              <a:defRPr/>
            </a:pPr>
            <a:r>
              <a:rPr lang="bg-BG" b="1" dirty="0" smtClean="0"/>
              <a:t>Управление на паметта</a:t>
            </a:r>
            <a:endParaRPr lang="en-US" b="1" dirty="0" smtClean="0"/>
          </a:p>
        </p:txBody>
      </p:sp>
    </p:spTree>
    <p:extLst>
      <p:ext uri="{BB962C8B-B14F-4D97-AF65-F5344CB8AC3E}">
        <p14:creationId xmlns:p14="http://schemas.microsoft.com/office/powerpoint/2010/main" val="13996571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1"/>
          <p:cNvSpPr>
            <a:spLocks noGrp="1"/>
          </p:cNvSpPr>
          <p:nvPr>
            <p:ph idx="1"/>
          </p:nvPr>
        </p:nvSpPr>
        <p:spPr/>
        <p:txBody>
          <a:bodyPr vert="horz" lIns="91440" tIns="45720" rIns="91440" bIns="45720" rtlCol="0">
            <a:normAutofit fontScale="92500" lnSpcReduction="20000"/>
          </a:bodyPr>
          <a:lstStyle/>
          <a:p>
            <a:pPr>
              <a:spcBef>
                <a:spcPts val="300"/>
              </a:spcBef>
            </a:pPr>
            <a:r>
              <a:rPr lang="bg-BG" altLang="en-US" sz="2800" dirty="0"/>
              <a:t>Статичното отделяне на паметта се прави в периода на компилация, като заделената памет се освобождава при завършване на работата на програмата:</a:t>
            </a:r>
          </a:p>
          <a:p>
            <a:pPr lvl="1">
              <a:spcBef>
                <a:spcPts val="300"/>
              </a:spcBef>
            </a:pPr>
            <a:r>
              <a:rPr lang="bg-BG" altLang="en-US" sz="2400" dirty="0"/>
              <a:t>Променливи – това се прави само за тези, за които е известно, че съществуват за цялото изпълнение на програмата и когато е възможно да се определи техния размер по време на компилирането </a:t>
            </a:r>
          </a:p>
          <a:p>
            <a:pPr lvl="2"/>
            <a:r>
              <a:rPr lang="bg-BG" altLang="en-US" dirty="0"/>
              <a:t>Ако е проста променлива - използва се типа на променливата</a:t>
            </a:r>
          </a:p>
          <a:p>
            <a:pPr lvl="2"/>
            <a:r>
              <a:rPr lang="bg-BG" altLang="en-US" dirty="0"/>
              <a:t>Ако е агрегатна променлива – освен типа е необходим и броя на </a:t>
            </a:r>
            <a:r>
              <a:rPr lang="bg-BG" altLang="en-US" dirty="0" err="1"/>
              <a:t>агрегираните</a:t>
            </a:r>
            <a:r>
              <a:rPr lang="bg-BG" altLang="en-US" dirty="0"/>
              <a:t> елементи (напр. брой на елементите в масива).</a:t>
            </a:r>
          </a:p>
          <a:p>
            <a:pPr lvl="1">
              <a:spcBef>
                <a:spcPts val="300"/>
              </a:spcBef>
            </a:pPr>
            <a:r>
              <a:rPr lang="bg-BG" altLang="en-US" sz="2400" dirty="0"/>
              <a:t>Функциите – тяхното разположение се описва в момента на компилация.</a:t>
            </a:r>
          </a:p>
          <a:p>
            <a:pPr lvl="1">
              <a:spcBef>
                <a:spcPts val="300"/>
              </a:spcBef>
            </a:pPr>
            <a:r>
              <a:rPr lang="bg-BG" altLang="en-US" sz="2400" dirty="0"/>
              <a:t>Обекти – те се създават в реално време, след работа на специална функция (т.нар. конструктор).</a:t>
            </a:r>
          </a:p>
          <a:p>
            <a:pPr>
              <a:spcBef>
                <a:spcPts val="300"/>
              </a:spcBef>
            </a:pPr>
            <a:r>
              <a:rPr lang="bg-BG" altLang="en-US" sz="2800" dirty="0"/>
              <a:t>Динамичното отделяне изисква по-гъвката система на вземане / връщане на памет. </a:t>
            </a:r>
          </a:p>
          <a:p>
            <a:pPr lvl="1">
              <a:spcBef>
                <a:spcPts val="300"/>
              </a:spcBef>
            </a:pPr>
            <a:r>
              <a:rPr lang="bg-BG" altLang="en-US" sz="2400" dirty="0"/>
              <a:t>Трябва да се определи къде се създават динамичните елементи, кой и кога се освобождава заетата памет, как се определя достъпа до тях и т.н. </a:t>
            </a:r>
          </a:p>
        </p:txBody>
      </p:sp>
      <p:sp>
        <p:nvSpPr>
          <p:cNvPr id="46083" name="Title 2"/>
          <p:cNvSpPr>
            <a:spLocks noGrp="1"/>
          </p:cNvSpPr>
          <p:nvPr>
            <p:ph type="title"/>
          </p:nvPr>
        </p:nvSpPr>
        <p:spPr/>
        <p:txBody>
          <a:bodyPr vert="horz" lIns="91440" tIns="45720" rIns="91440" bIns="45720" rtlCol="0" anchor="b">
            <a:normAutofit/>
          </a:bodyPr>
          <a:lstStyle/>
          <a:p>
            <a:r>
              <a:rPr lang="bg-BG" dirty="0"/>
              <a:t>Управление на паметта</a:t>
            </a:r>
            <a:endParaRPr lang="en-US" dirty="0"/>
          </a:p>
        </p:txBody>
      </p:sp>
    </p:spTree>
    <p:extLst>
      <p:ext uri="{BB962C8B-B14F-4D97-AF65-F5344CB8AC3E}">
        <p14:creationId xmlns:p14="http://schemas.microsoft.com/office/powerpoint/2010/main" val="31506957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Управление на паметта</a:t>
            </a:r>
            <a:endParaRPr lang="bg-BG" dirty="0"/>
          </a:p>
        </p:txBody>
      </p:sp>
      <p:sp>
        <p:nvSpPr>
          <p:cNvPr id="3" name="Content Placeholder 2"/>
          <p:cNvSpPr>
            <a:spLocks noGrp="1"/>
          </p:cNvSpPr>
          <p:nvPr>
            <p:ph idx="1"/>
          </p:nvPr>
        </p:nvSpPr>
        <p:spPr/>
        <p:txBody>
          <a:bodyPr/>
          <a:lstStyle/>
          <a:p>
            <a:r>
              <a:rPr lang="ru-RU" dirty="0"/>
              <a:t>Обикновено се разделя на три </a:t>
            </a:r>
            <a:r>
              <a:rPr lang="ru-RU" dirty="0" smtClean="0"/>
              <a:t>подобласти:</a:t>
            </a:r>
          </a:p>
          <a:p>
            <a:pPr lvl="1"/>
            <a:r>
              <a:rPr lang="ru-RU" dirty="0" smtClean="0"/>
              <a:t>Апаратно </a:t>
            </a:r>
            <a:r>
              <a:rPr lang="ru-RU" dirty="0"/>
              <a:t>управление на </a:t>
            </a:r>
            <a:r>
              <a:rPr lang="ru-RU" dirty="0" smtClean="0"/>
              <a:t>паметта</a:t>
            </a:r>
          </a:p>
          <a:p>
            <a:pPr lvl="2"/>
            <a:r>
              <a:rPr lang="ru-RU" dirty="0" smtClean="0"/>
              <a:t>Управлението </a:t>
            </a:r>
            <a:r>
              <a:rPr lang="ru-RU" dirty="0"/>
              <a:t>на паметта на хардуерно ниво се отнася до електронните устройства, които всъщност съхраняват данни: т.е. RAM и кеш памет</a:t>
            </a:r>
            <a:r>
              <a:rPr lang="ru-RU" dirty="0" smtClean="0"/>
              <a:t>.</a:t>
            </a:r>
          </a:p>
          <a:p>
            <a:pPr lvl="1"/>
            <a:r>
              <a:rPr lang="ru-RU" dirty="0" smtClean="0"/>
              <a:t>Управление </a:t>
            </a:r>
            <a:r>
              <a:rPr lang="ru-RU" dirty="0"/>
              <a:t>на паметта на </a:t>
            </a:r>
            <a:r>
              <a:rPr lang="ru-RU" dirty="0" smtClean="0"/>
              <a:t>ОС</a:t>
            </a:r>
          </a:p>
          <a:p>
            <a:pPr lvl="2"/>
            <a:r>
              <a:rPr lang="ru-RU" dirty="0"/>
              <a:t>Паметта трябва да се разпределя за потребителски програми и да се използва повторно от други програми, когато вече не е </a:t>
            </a:r>
            <a:r>
              <a:rPr lang="ru-RU" dirty="0" smtClean="0"/>
              <a:t>необходима.</a:t>
            </a:r>
          </a:p>
          <a:p>
            <a:pPr lvl="2"/>
            <a:r>
              <a:rPr lang="ru-RU" dirty="0" smtClean="0"/>
              <a:t>ОС </a:t>
            </a:r>
            <a:r>
              <a:rPr lang="ru-RU" dirty="0"/>
              <a:t>може да </a:t>
            </a:r>
            <a:r>
              <a:rPr lang="ru-RU" dirty="0" smtClean="0"/>
              <a:t>управлява «виртуална памет».</a:t>
            </a:r>
          </a:p>
          <a:p>
            <a:pPr lvl="1"/>
            <a:r>
              <a:rPr lang="ru-RU" dirty="0" smtClean="0"/>
              <a:t>Управление </a:t>
            </a:r>
            <a:r>
              <a:rPr lang="ru-RU" dirty="0"/>
              <a:t>на паметта на </a:t>
            </a:r>
            <a:r>
              <a:rPr lang="ru-RU" dirty="0" smtClean="0"/>
              <a:t>приложението</a:t>
            </a:r>
          </a:p>
          <a:p>
            <a:pPr lvl="2"/>
            <a:r>
              <a:rPr lang="ru-RU" dirty="0"/>
              <a:t>Това включва </a:t>
            </a:r>
            <a:r>
              <a:rPr lang="ru-RU" dirty="0" smtClean="0"/>
              <a:t>заделяне </a:t>
            </a:r>
            <a:r>
              <a:rPr lang="ru-RU" dirty="0"/>
              <a:t>на паметта, необходима за структури от данни и обекти </a:t>
            </a:r>
            <a:r>
              <a:rPr lang="ru-RU" dirty="0" smtClean="0"/>
              <a:t>в адрсното поле на процеса, </a:t>
            </a:r>
            <a:r>
              <a:rPr lang="bg-BG" dirty="0" smtClean="0"/>
              <a:t>както и </a:t>
            </a:r>
            <a:r>
              <a:rPr lang="ru-RU" dirty="0" smtClean="0"/>
              <a:t>възстановяване на </a:t>
            </a:r>
            <a:r>
              <a:rPr lang="ru-RU" dirty="0"/>
              <a:t>тази памет за повторна </a:t>
            </a:r>
            <a:r>
              <a:rPr lang="ru-RU" dirty="0" smtClean="0"/>
              <a:t>употреба (аковече </a:t>
            </a:r>
            <a:r>
              <a:rPr lang="ru-RU" dirty="0"/>
              <a:t>не е </a:t>
            </a:r>
            <a:r>
              <a:rPr lang="ru-RU" dirty="0" smtClean="0"/>
              <a:t>необходима).</a:t>
            </a:r>
            <a:endParaRPr lang="bg-BG" dirty="0"/>
          </a:p>
        </p:txBody>
      </p:sp>
    </p:spTree>
    <p:extLst>
      <p:ext uri="{BB962C8B-B14F-4D97-AF65-F5344CB8AC3E}">
        <p14:creationId xmlns:p14="http://schemas.microsoft.com/office/powerpoint/2010/main" val="3994345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1"/>
          <p:cNvSpPr>
            <a:spLocks noGrp="1"/>
          </p:cNvSpPr>
          <p:nvPr>
            <p:ph idx="1"/>
          </p:nvPr>
        </p:nvSpPr>
        <p:spPr/>
        <p:txBody>
          <a:bodyPr vert="horz" lIns="91440" tIns="45720" rIns="91440" bIns="45720" rtlCol="0">
            <a:normAutofit/>
          </a:bodyPr>
          <a:lstStyle/>
          <a:p>
            <a:pPr>
              <a:spcBef>
                <a:spcPts val="300"/>
              </a:spcBef>
            </a:pPr>
            <a:r>
              <a:rPr lang="bg-BG" altLang="en-US" sz="2800" dirty="0"/>
              <a:t>Без значение какви схеми се използва, разпределението на паметта (отделяне/освобождаване) в крайна сметка се извършват от </a:t>
            </a:r>
            <a:r>
              <a:rPr lang="bg-BG" altLang="en-US" sz="2800" dirty="0" smtClean="0"/>
              <a:t>ОС.</a:t>
            </a:r>
            <a:endParaRPr lang="bg-BG" altLang="en-US" sz="2800" dirty="0"/>
          </a:p>
          <a:p>
            <a:pPr lvl="1">
              <a:spcBef>
                <a:spcPts val="300"/>
              </a:spcBef>
            </a:pPr>
            <a:r>
              <a:rPr lang="bg-BG" altLang="en-US" sz="2400" dirty="0"/>
              <a:t>Това действие е платформено зависимо.</a:t>
            </a:r>
          </a:p>
          <a:p>
            <a:pPr lvl="1">
              <a:spcBef>
                <a:spcPts val="300"/>
              </a:spcBef>
            </a:pPr>
            <a:r>
              <a:rPr lang="bg-BG" altLang="en-US" sz="2400" dirty="0"/>
              <a:t>Програмистът не може да е сигурен, че то ще се извърши, т.е. трябва да се използва механизмите на ОС, даващи информация за статуса на завършване на задачи.</a:t>
            </a:r>
          </a:p>
          <a:p>
            <a:pPr>
              <a:spcBef>
                <a:spcPts val="300"/>
              </a:spcBef>
            </a:pPr>
            <a:r>
              <a:rPr lang="bg-BG" altLang="en-US" sz="2800" dirty="0"/>
              <a:t>Съществуват и допълнителни дейности на ОС по управление на паметта: </a:t>
            </a:r>
          </a:p>
          <a:p>
            <a:pPr lvl="1">
              <a:spcBef>
                <a:spcPts val="300"/>
              </a:spcBef>
            </a:pPr>
            <a:r>
              <a:rPr lang="bg-BG" altLang="en-US" sz="2400" dirty="0"/>
              <a:t>виртуална памет </a:t>
            </a:r>
          </a:p>
          <a:p>
            <a:pPr lvl="1">
              <a:spcBef>
                <a:spcPts val="300"/>
              </a:spcBef>
            </a:pPr>
            <a:r>
              <a:rPr lang="bg-BG" altLang="en-US" sz="2400" dirty="0"/>
              <a:t>управление на страниците (</a:t>
            </a:r>
            <a:r>
              <a:rPr lang="bg-BG" altLang="en-US" sz="2400" dirty="0" err="1"/>
              <a:t>англ</a:t>
            </a:r>
            <a:r>
              <a:rPr lang="bg-BG" altLang="en-US" sz="2400" dirty="0"/>
              <a:t>. </a:t>
            </a:r>
            <a:r>
              <a:rPr lang="bg-BG" altLang="en-US" sz="2400" dirty="0" err="1"/>
              <a:t>memory</a:t>
            </a:r>
            <a:r>
              <a:rPr lang="bg-BG" altLang="en-US" sz="2400" dirty="0"/>
              <a:t> </a:t>
            </a:r>
            <a:r>
              <a:rPr lang="bg-BG" altLang="en-US" sz="2400" dirty="0" err="1"/>
              <a:t>paging</a:t>
            </a:r>
            <a:r>
              <a:rPr lang="bg-BG" altLang="en-US" sz="2400" dirty="0"/>
              <a:t>) </a:t>
            </a:r>
          </a:p>
          <a:p>
            <a:pPr lvl="1">
              <a:spcBef>
                <a:spcPts val="300"/>
              </a:spcBef>
            </a:pPr>
            <a:r>
              <a:rPr lang="bg-BG" altLang="en-US" sz="2400" dirty="0"/>
              <a:t>сваляне/зареждане на паметта на/от външно запомнящо устройство (</a:t>
            </a:r>
            <a:r>
              <a:rPr lang="bg-BG" altLang="en-US" sz="2400" dirty="0" err="1"/>
              <a:t>англ</a:t>
            </a:r>
            <a:r>
              <a:rPr lang="bg-BG" altLang="en-US" sz="2400" dirty="0"/>
              <a:t>. </a:t>
            </a:r>
            <a:r>
              <a:rPr lang="bg-BG" altLang="en-US" sz="2400" dirty="0" err="1"/>
              <a:t>memory</a:t>
            </a:r>
            <a:r>
              <a:rPr lang="bg-BG" altLang="en-US" sz="2400" dirty="0"/>
              <a:t> </a:t>
            </a:r>
            <a:r>
              <a:rPr lang="bg-BG" altLang="en-US" sz="2400" dirty="0" err="1"/>
              <a:t>swapping</a:t>
            </a:r>
            <a:r>
              <a:rPr lang="bg-BG" altLang="en-US" sz="2400" dirty="0"/>
              <a:t> ) </a:t>
            </a:r>
          </a:p>
          <a:p>
            <a:pPr lvl="1">
              <a:spcBef>
                <a:spcPts val="300"/>
              </a:spcBef>
            </a:pPr>
            <a:r>
              <a:rPr lang="bg-BG" altLang="en-US" sz="2400" dirty="0"/>
              <a:t>Тези дейности са „прозрачни“ за програмата на конкретния език.</a:t>
            </a:r>
          </a:p>
        </p:txBody>
      </p:sp>
      <p:sp>
        <p:nvSpPr>
          <p:cNvPr id="48131" name="Title 2"/>
          <p:cNvSpPr>
            <a:spLocks noGrp="1"/>
          </p:cNvSpPr>
          <p:nvPr>
            <p:ph type="title"/>
          </p:nvPr>
        </p:nvSpPr>
        <p:spPr/>
        <p:txBody>
          <a:bodyPr vert="horz" lIns="91440" tIns="45720" rIns="91440" bIns="45720" rtlCol="0" anchor="b">
            <a:normAutofit/>
          </a:bodyPr>
          <a:lstStyle/>
          <a:p>
            <a:r>
              <a:rPr lang="bg-BG" dirty="0"/>
              <a:t>Управление на паметта</a:t>
            </a:r>
            <a:endParaRPr lang="en-US" dirty="0"/>
          </a:p>
        </p:txBody>
      </p:sp>
    </p:spTree>
    <p:extLst>
      <p:ext uri="{BB962C8B-B14F-4D97-AF65-F5344CB8AC3E}">
        <p14:creationId xmlns:p14="http://schemas.microsoft.com/office/powerpoint/2010/main" val="1871406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Задължителни дефиниции</a:t>
            </a:r>
            <a:endParaRPr lang="bg-BG" dirty="0"/>
          </a:p>
        </p:txBody>
      </p:sp>
      <p:sp>
        <p:nvSpPr>
          <p:cNvPr id="3" name="Content Placeholder 2"/>
          <p:cNvSpPr>
            <a:spLocks noGrp="1"/>
          </p:cNvSpPr>
          <p:nvPr>
            <p:ph idx="1"/>
          </p:nvPr>
        </p:nvSpPr>
        <p:spPr>
          <a:xfrm>
            <a:off x="908662" y="1143000"/>
            <a:ext cx="10976950" cy="5410200"/>
          </a:xfrm>
        </p:spPr>
        <p:txBody>
          <a:bodyPr>
            <a:noAutofit/>
          </a:bodyPr>
          <a:lstStyle/>
          <a:p>
            <a:pPr>
              <a:spcBef>
                <a:spcPts val="0"/>
              </a:spcBef>
            </a:pPr>
            <a:r>
              <a:rPr lang="ru-RU" sz="2800" i="1" dirty="0">
                <a:effectLst>
                  <a:outerShdw blurRad="38100" dist="38100" dir="2700000" algn="tl">
                    <a:srgbClr val="000000">
                      <a:alpha val="43137"/>
                    </a:srgbClr>
                  </a:outerShdw>
                </a:effectLst>
              </a:rPr>
              <a:t>Страницата</a:t>
            </a:r>
            <a:r>
              <a:rPr lang="ru-RU" sz="2800" dirty="0"/>
              <a:t> е блок от памет с фиксиран размер, позициониран на някакъв начален адрес в адресното пространство на програмата.</a:t>
            </a:r>
          </a:p>
          <a:p>
            <a:pPr lvl="1">
              <a:spcBef>
                <a:spcPts val="0"/>
              </a:spcBef>
            </a:pPr>
            <a:r>
              <a:rPr lang="ru-RU" sz="2400" dirty="0"/>
              <a:t>Наборът от страници, до които дадена програма има достъп, образува нейното </a:t>
            </a:r>
            <a:r>
              <a:rPr lang="ru-RU" sz="2400" i="1" dirty="0">
                <a:effectLst>
                  <a:outerShdw blurRad="38100" dist="38100" dir="2700000" algn="tl">
                    <a:srgbClr val="000000">
                      <a:alpha val="43137"/>
                    </a:srgbClr>
                  </a:outerShdw>
                </a:effectLst>
              </a:rPr>
              <a:t>логическо адресно пространство</a:t>
            </a:r>
            <a:r>
              <a:rPr lang="ru-RU" sz="2400" dirty="0"/>
              <a:t>.</a:t>
            </a:r>
          </a:p>
          <a:p>
            <a:pPr lvl="1">
              <a:spcBef>
                <a:spcPts val="0"/>
              </a:spcBef>
            </a:pPr>
            <a:r>
              <a:rPr lang="ru-RU" sz="2400" dirty="0"/>
              <a:t>Всяка страница в адресното пространство на програмата е картографирана към реален (физически) блок от основната памет, известен като </a:t>
            </a:r>
            <a:r>
              <a:rPr lang="ru-RU" sz="2400" i="1" dirty="0">
                <a:effectLst>
                  <a:outerShdw blurRad="38100" dist="38100" dir="2700000" algn="tl">
                    <a:srgbClr val="000000">
                      <a:alpha val="43137"/>
                    </a:srgbClr>
                  </a:outerShdw>
                </a:effectLst>
              </a:rPr>
              <a:t>рамка на </a:t>
            </a:r>
            <a:r>
              <a:rPr lang="ru-RU" sz="2400" i="1" dirty="0" smtClean="0">
                <a:effectLst>
                  <a:outerShdw blurRad="38100" dist="38100" dir="2700000" algn="tl">
                    <a:srgbClr val="000000">
                      <a:alpha val="43137"/>
                    </a:srgbClr>
                  </a:outerShdw>
                </a:effectLst>
              </a:rPr>
              <a:t>страница</a:t>
            </a:r>
            <a:r>
              <a:rPr lang="ru-RU" sz="2400" dirty="0" smtClean="0"/>
              <a:t> </a:t>
            </a:r>
            <a:r>
              <a:rPr lang="en-US" sz="2400" dirty="0" smtClean="0"/>
              <a:t>(</a:t>
            </a:r>
            <a:r>
              <a:rPr lang="ru-RU" sz="2400" dirty="0" smtClean="0"/>
              <a:t>англ. </a:t>
            </a:r>
            <a:r>
              <a:rPr lang="en-US" sz="2400" dirty="0" smtClean="0"/>
              <a:t>Page frame)</a:t>
            </a:r>
            <a:r>
              <a:rPr lang="ru-RU" sz="2400" dirty="0" smtClean="0"/>
              <a:t>.</a:t>
            </a:r>
            <a:endParaRPr lang="ru-RU" sz="2400" dirty="0"/>
          </a:p>
          <a:p>
            <a:pPr lvl="1">
              <a:spcBef>
                <a:spcPts val="0"/>
              </a:spcBef>
            </a:pPr>
            <a:r>
              <a:rPr lang="ru-RU" sz="2400" dirty="0"/>
              <a:t>Наборът от рамки на страници формира </a:t>
            </a:r>
            <a:r>
              <a:rPr lang="ru-RU" sz="2400" i="1" dirty="0">
                <a:effectLst>
                  <a:outerShdw blurRad="38100" dist="38100" dir="2700000" algn="tl">
                    <a:srgbClr val="000000">
                      <a:alpha val="43137"/>
                    </a:srgbClr>
                  </a:outerShdw>
                </a:effectLst>
              </a:rPr>
              <a:t>физическата основна памет </a:t>
            </a:r>
            <a:r>
              <a:rPr lang="ru-RU" sz="2400" dirty="0"/>
              <a:t>на системата.</a:t>
            </a:r>
          </a:p>
          <a:p>
            <a:pPr>
              <a:spcBef>
                <a:spcPts val="0"/>
              </a:spcBef>
            </a:pPr>
            <a:r>
              <a:rPr lang="ru-RU" sz="2800" dirty="0"/>
              <a:t>Съхранението на съдържанието на рамката на страницата на диска е известно като </a:t>
            </a:r>
            <a:r>
              <a:rPr lang="ru-RU" sz="2800" i="1" dirty="0">
                <a:effectLst>
                  <a:outerShdw blurRad="38100" dist="38100" dir="2700000" algn="tl">
                    <a:srgbClr val="000000">
                      <a:alpha val="43137"/>
                    </a:srgbClr>
                  </a:outerShdw>
                </a:effectLst>
              </a:rPr>
              <a:t>виртуална памет</a:t>
            </a:r>
            <a:r>
              <a:rPr lang="ru-RU" sz="2800" dirty="0"/>
              <a:t>.</a:t>
            </a:r>
            <a:endParaRPr lang="bg-BG" sz="2800" dirty="0"/>
          </a:p>
          <a:p>
            <a:pPr lvl="1">
              <a:spcBef>
                <a:spcPts val="0"/>
              </a:spcBef>
            </a:pPr>
            <a:r>
              <a:rPr lang="bg-BG" sz="2400" i="1" dirty="0" smtClean="0">
                <a:effectLst>
                  <a:outerShdw blurRad="38100" dist="38100" dir="2700000" algn="tl">
                    <a:srgbClr val="000000">
                      <a:alpha val="43137"/>
                    </a:srgbClr>
                  </a:outerShdw>
                </a:effectLst>
              </a:rPr>
              <a:t>Разделянето на страници </a:t>
            </a:r>
            <a:r>
              <a:rPr lang="en-US" sz="2400" dirty="0" smtClean="0"/>
              <a:t>(</a:t>
            </a:r>
            <a:r>
              <a:rPr lang="bg-BG" sz="2400" dirty="0" smtClean="0"/>
              <a:t>англ. </a:t>
            </a:r>
            <a:r>
              <a:rPr lang="en-US" sz="2400" dirty="0" smtClean="0"/>
              <a:t>Paging)</a:t>
            </a:r>
            <a:r>
              <a:rPr lang="ru-RU" sz="2400" dirty="0"/>
              <a:t> е механизъм, който копира съдържанието на неизползваните рамки на </a:t>
            </a:r>
            <a:r>
              <a:rPr lang="ru-RU" sz="2400" dirty="0" smtClean="0"/>
              <a:t>външен диск</a:t>
            </a:r>
            <a:r>
              <a:rPr lang="ru-RU" sz="2400" dirty="0"/>
              <a:t>, като по този начин прави рамките на страниците свободни за използване от други процеси</a:t>
            </a:r>
            <a:r>
              <a:rPr lang="ru-RU" sz="2400" dirty="0" smtClean="0"/>
              <a:t>.</a:t>
            </a:r>
            <a:endParaRPr lang="ru-RU" sz="2400" dirty="0"/>
          </a:p>
        </p:txBody>
      </p:sp>
    </p:spTree>
    <p:extLst>
      <p:ext uri="{BB962C8B-B14F-4D97-AF65-F5344CB8AC3E}">
        <p14:creationId xmlns:p14="http://schemas.microsoft.com/office/powerpoint/2010/main" val="2367449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Разпределение на паметта</a:t>
            </a:r>
            <a:endParaRPr lang="bg-BG"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6612" y="1167245"/>
            <a:ext cx="7088416" cy="5577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p:txBody>
          <a:bodyPr vert="horz" lIns="91440" tIns="45720" rIns="91440" bIns="45720" rtlCol="0">
            <a:noAutofit/>
          </a:bodyPr>
          <a:lstStyle/>
          <a:p>
            <a:pPr>
              <a:spcBef>
                <a:spcPts val="0"/>
              </a:spcBef>
            </a:pPr>
            <a:r>
              <a:rPr lang="bg-BG" sz="2700" dirty="0"/>
              <a:t>Основни ограничения</a:t>
            </a:r>
          </a:p>
          <a:p>
            <a:pPr lvl="1">
              <a:spcBef>
                <a:spcPts val="0"/>
              </a:spcBef>
            </a:pPr>
            <a:r>
              <a:rPr lang="bg-BG" sz="2300" dirty="0"/>
              <a:t>Потребителското адресно поле е достъпно от полето на ОС.</a:t>
            </a:r>
          </a:p>
          <a:p>
            <a:pPr lvl="1">
              <a:spcBef>
                <a:spcPts val="0"/>
              </a:spcBef>
            </a:pPr>
            <a:r>
              <a:rPr lang="bg-BG" sz="2300" dirty="0"/>
              <a:t>Адресното поле на ОС не е достъпно от потребителското адресно поле.</a:t>
            </a:r>
          </a:p>
          <a:p>
            <a:pPr>
              <a:spcBef>
                <a:spcPts val="0"/>
              </a:spcBef>
            </a:pPr>
            <a:r>
              <a:rPr lang="ru-RU" sz="2700" dirty="0"/>
              <a:t>Всяка програма в потребителски режим смята, че тя е единствената програма в паметта.</a:t>
            </a:r>
          </a:p>
          <a:p>
            <a:pPr lvl="1">
              <a:spcBef>
                <a:spcPts val="0"/>
              </a:spcBef>
            </a:pPr>
            <a:r>
              <a:rPr lang="ru-RU" sz="2300" dirty="0"/>
              <a:t>Подсистемата за управление паметта в ОС създава тази илюзия за всеки от стартираните процеси: </a:t>
            </a:r>
          </a:p>
          <a:p>
            <a:pPr lvl="2"/>
            <a:r>
              <a:rPr lang="ru-RU" sz="2000" dirty="0"/>
              <a:t>ОС блокира възможността на процеса да вижда или да се намесва в адресните полета на другите процеси.</a:t>
            </a:r>
          </a:p>
          <a:p>
            <a:pPr lvl="1">
              <a:spcBef>
                <a:spcPts val="0"/>
              </a:spcBef>
            </a:pPr>
            <a:r>
              <a:rPr lang="ru-RU" sz="2300" dirty="0"/>
              <a:t>Системата предоставя на всяка програма карта адресно пространство според нейните нужди.</a:t>
            </a:r>
          </a:p>
          <a:p>
            <a:pPr>
              <a:spcBef>
                <a:spcPts val="0"/>
              </a:spcBef>
            </a:pPr>
            <a:r>
              <a:rPr lang="ru-RU" sz="2700" dirty="0"/>
              <a:t>Разпределението на паметта се извършва преди или по време на изпълнение на програмата, т.е. дисциплина за управление е статична памет или динамична памет</a:t>
            </a:r>
            <a:r>
              <a:rPr lang="ru-RU" sz="2700" dirty="0" smtClean="0"/>
              <a:t>.</a:t>
            </a:r>
            <a:endParaRPr lang="bg-BG" sz="2700" dirty="0"/>
          </a:p>
        </p:txBody>
      </p:sp>
    </p:spTree>
    <p:extLst>
      <p:ext uri="{BB962C8B-B14F-4D97-AF65-F5344CB8AC3E}">
        <p14:creationId xmlns:p14="http://schemas.microsoft.com/office/powerpoint/2010/main" val="3008154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Пример</a:t>
            </a:r>
            <a:endParaRPr lang="en-US" dirty="0"/>
          </a:p>
        </p:txBody>
      </p:sp>
      <p:sp>
        <p:nvSpPr>
          <p:cNvPr id="3" name="Content Placeholder 2"/>
          <p:cNvSpPr>
            <a:spLocks noGrp="1"/>
          </p:cNvSpPr>
          <p:nvPr>
            <p:ph idx="1"/>
          </p:nvPr>
        </p:nvSpPr>
        <p:spPr/>
        <p:txBody>
          <a:bodyPr/>
          <a:lstStyle/>
          <a:p>
            <a:r>
              <a:rPr lang="bg-BG" sz="2800" dirty="0" smtClean="0"/>
              <a:t>Типично разпределение на </a:t>
            </a:r>
            <a:br>
              <a:rPr lang="bg-BG" sz="2800" dirty="0" smtClean="0"/>
            </a:br>
            <a:r>
              <a:rPr lang="bg-BG" sz="2800" dirty="0" smtClean="0"/>
              <a:t>паметта в </a:t>
            </a:r>
            <a:r>
              <a:rPr lang="en-US" sz="2800" dirty="0" smtClean="0"/>
              <a:t>32-bit </a:t>
            </a:r>
            <a:r>
              <a:rPr lang="en-US" sz="2800" dirty="0"/>
              <a:t>Linux OS.</a:t>
            </a:r>
          </a:p>
        </p:txBody>
      </p:sp>
      <p:pic>
        <p:nvPicPr>
          <p:cNvPr id="5" name="Picture 4" descr="https://gabrieletolomei.files.wordpress.com/2013/10/program_in_memory2.png"/>
          <p:cNvPicPr/>
          <p:nvPr/>
        </p:nvPicPr>
        <p:blipFill>
          <a:blip r:embed="rId2">
            <a:extLst>
              <a:ext uri="{28A0092B-C50C-407E-A947-70E740481C1C}">
                <a14:useLocalDpi xmlns:a14="http://schemas.microsoft.com/office/drawing/2010/main" val="0"/>
              </a:ext>
            </a:extLst>
          </a:blip>
          <a:srcRect/>
          <a:stretch>
            <a:fillRect/>
          </a:stretch>
        </p:blipFill>
        <p:spPr bwMode="auto">
          <a:xfrm>
            <a:off x="6246812" y="1129145"/>
            <a:ext cx="5120512" cy="5295900"/>
          </a:xfrm>
          <a:prstGeom prst="rect">
            <a:avLst/>
          </a:prstGeom>
          <a:noFill/>
          <a:ln>
            <a:noFill/>
          </a:ln>
        </p:spPr>
      </p:pic>
    </p:spTree>
    <p:extLst>
      <p:ext uri="{BB962C8B-B14F-4D97-AF65-F5344CB8AC3E}">
        <p14:creationId xmlns:p14="http://schemas.microsoft.com/office/powerpoint/2010/main" val="2776073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Адресно поле на процес</a:t>
            </a:r>
            <a:endParaRPr lang="bg-BG" dirty="0"/>
          </a:p>
        </p:txBody>
      </p:sp>
      <p:sp>
        <p:nvSpPr>
          <p:cNvPr id="3" name="Content Placeholder 2"/>
          <p:cNvSpPr>
            <a:spLocks noGrp="1"/>
          </p:cNvSpPr>
          <p:nvPr>
            <p:ph idx="1"/>
          </p:nvPr>
        </p:nvSpPr>
        <p:spPr/>
        <p:txBody>
          <a:bodyPr>
            <a:normAutofit lnSpcReduction="10000"/>
          </a:bodyPr>
          <a:lstStyle/>
          <a:p>
            <a:r>
              <a:rPr lang="ru-RU" dirty="0"/>
              <a:t>Разпределение на статична </a:t>
            </a:r>
            <a:r>
              <a:rPr lang="ru-RU" dirty="0" smtClean="0"/>
              <a:t>памет</a:t>
            </a:r>
          </a:p>
          <a:p>
            <a:pPr lvl="1"/>
            <a:r>
              <a:rPr lang="ru-RU" dirty="0" smtClean="0"/>
              <a:t>Разпределението </a:t>
            </a:r>
            <a:r>
              <a:rPr lang="ru-RU" dirty="0"/>
              <a:t>се извършва преди изпълнението на програмата</a:t>
            </a:r>
            <a:r>
              <a:rPr lang="ru-RU" dirty="0" smtClean="0"/>
              <a:t>.</a:t>
            </a:r>
          </a:p>
          <a:p>
            <a:pPr lvl="1"/>
            <a:r>
              <a:rPr lang="ru-RU" dirty="0" smtClean="0"/>
              <a:t>Той </a:t>
            </a:r>
            <a:r>
              <a:rPr lang="ru-RU" dirty="0"/>
              <a:t>използва структурата от данни, наречена „Стек</a:t>
            </a:r>
            <a:r>
              <a:rPr lang="ru-RU" dirty="0" smtClean="0"/>
              <a:t>“ (англ. </a:t>
            </a:r>
            <a:r>
              <a:rPr lang="en-US" dirty="0" smtClean="0"/>
              <a:t>Stack)</a:t>
            </a:r>
            <a:r>
              <a:rPr lang="ru-RU" dirty="0" smtClean="0"/>
              <a:t> </a:t>
            </a:r>
            <a:r>
              <a:rPr lang="ru-RU" dirty="0"/>
              <a:t>за прилагане на статично разпределение</a:t>
            </a:r>
            <a:r>
              <a:rPr lang="ru-RU" dirty="0" smtClean="0"/>
              <a:t>.</a:t>
            </a:r>
          </a:p>
          <a:p>
            <a:r>
              <a:rPr lang="ru-RU" dirty="0" smtClean="0"/>
              <a:t>Динамично </a:t>
            </a:r>
            <a:r>
              <a:rPr lang="ru-RU" dirty="0"/>
              <a:t>разпределение на </a:t>
            </a:r>
            <a:r>
              <a:rPr lang="ru-RU" dirty="0" smtClean="0"/>
              <a:t>паметта</a:t>
            </a:r>
          </a:p>
          <a:p>
            <a:pPr lvl="1"/>
            <a:r>
              <a:rPr lang="ru-RU" dirty="0" smtClean="0"/>
              <a:t>Разпределението </a:t>
            </a:r>
            <a:r>
              <a:rPr lang="ru-RU" dirty="0"/>
              <a:t>се извършва по време на изпълнение на програмата</a:t>
            </a:r>
            <a:r>
              <a:rPr lang="ru-RU" dirty="0" smtClean="0"/>
              <a:t>.</a:t>
            </a:r>
          </a:p>
          <a:p>
            <a:pPr lvl="1"/>
            <a:r>
              <a:rPr lang="ru-RU" dirty="0" smtClean="0"/>
              <a:t>Той </a:t>
            </a:r>
            <a:r>
              <a:rPr lang="ru-RU" dirty="0"/>
              <a:t>използва структурата от данни, наречена „Heap</a:t>
            </a:r>
            <a:r>
              <a:rPr lang="ru-RU" dirty="0" smtClean="0"/>
              <a:t>“ </a:t>
            </a:r>
            <a:r>
              <a:rPr lang="ru-RU" dirty="0"/>
              <a:t>за прилагане на динамично разпределение</a:t>
            </a:r>
            <a:r>
              <a:rPr lang="ru-RU" dirty="0" smtClean="0"/>
              <a:t>.</a:t>
            </a:r>
          </a:p>
          <a:p>
            <a:pPr lvl="1"/>
            <a:r>
              <a:rPr lang="ru-RU" dirty="0" smtClean="0"/>
              <a:t>Има </a:t>
            </a:r>
            <a:r>
              <a:rPr lang="ru-RU" dirty="0"/>
              <a:t>повторно използване на паметта и паметта може да бъде освободена, когато не е необходима.</a:t>
            </a:r>
            <a:endParaRPr lang="bg-BG" dirty="0"/>
          </a:p>
        </p:txBody>
      </p:sp>
    </p:spTree>
    <p:extLst>
      <p:ext uri="{BB962C8B-B14F-4D97-AF65-F5344CB8AC3E}">
        <p14:creationId xmlns:p14="http://schemas.microsoft.com/office/powerpoint/2010/main" val="1948485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Адресно поле на процес</a:t>
            </a:r>
          </a:p>
        </p:txBody>
      </p:sp>
      <p:sp>
        <p:nvSpPr>
          <p:cNvPr id="3" name="Content Placeholder 2"/>
          <p:cNvSpPr>
            <a:spLocks noGrp="1"/>
          </p:cNvSpPr>
          <p:nvPr>
            <p:ph idx="1"/>
          </p:nvPr>
        </p:nvSpPr>
        <p:spPr/>
        <p:txBody>
          <a:bodyPr>
            <a:normAutofit fontScale="92500" lnSpcReduction="10000"/>
          </a:bodyPr>
          <a:lstStyle/>
          <a:p>
            <a:r>
              <a:rPr lang="ru-RU" dirty="0" smtClean="0"/>
              <a:t>Разпределението на паметта за процеса има следната логическа структура (зависи от конкретната ОС):</a:t>
            </a:r>
            <a:endParaRPr lang="ru-RU" dirty="0"/>
          </a:p>
          <a:p>
            <a:pPr lvl="1"/>
            <a:r>
              <a:rPr lang="ru-RU" dirty="0"/>
              <a:t>Всички глобални данни, поставени непосредствено над кода, за да се осигури максимален растеж.</a:t>
            </a:r>
          </a:p>
          <a:p>
            <a:pPr lvl="1"/>
            <a:r>
              <a:rPr lang="ru-RU" dirty="0"/>
              <a:t>Машинният код започва възможно най-ниско</a:t>
            </a:r>
          </a:p>
          <a:p>
            <a:pPr lvl="1"/>
            <a:r>
              <a:rPr lang="ru-RU" dirty="0"/>
              <a:t>напр. от адрес 0 нагоре.</a:t>
            </a:r>
          </a:p>
          <a:p>
            <a:pPr lvl="1"/>
            <a:r>
              <a:rPr lang="ru-RU" dirty="0"/>
              <a:t>Стек – управляван от компилатор</a:t>
            </a:r>
          </a:p>
          <a:p>
            <a:pPr lvl="1"/>
            <a:r>
              <a:rPr lang="ru-RU" dirty="0"/>
              <a:t>Стекът е поставен възможно най-високо, расте надолу.</a:t>
            </a:r>
          </a:p>
          <a:p>
            <a:pPr lvl="1"/>
            <a:r>
              <a:rPr lang="ru-RU" dirty="0"/>
              <a:t>Heap – управляван от програмист</a:t>
            </a:r>
          </a:p>
          <a:p>
            <a:pPr lvl="1"/>
            <a:r>
              <a:rPr lang="ru-RU" dirty="0"/>
              <a:t>Статични данни – инициализира се при стартиране на процеса</a:t>
            </a:r>
          </a:p>
          <a:p>
            <a:pPr lvl="1"/>
            <a:r>
              <a:rPr lang="ru-RU" dirty="0"/>
              <a:t>Литерали – инициализира се при стартиране на процеса</a:t>
            </a:r>
          </a:p>
          <a:p>
            <a:pPr lvl="1"/>
            <a:r>
              <a:rPr lang="ru-RU" dirty="0"/>
              <a:t>Инструкции – инициализира се при стартиране на процеса</a:t>
            </a:r>
            <a:endParaRPr lang="bg-BG" dirty="0"/>
          </a:p>
        </p:txBody>
      </p:sp>
      <p:pic>
        <p:nvPicPr>
          <p:cNvPr id="4" name="Picture 3"/>
          <p:cNvPicPr>
            <a:picLocks noChangeAspect="1"/>
          </p:cNvPicPr>
          <p:nvPr/>
        </p:nvPicPr>
        <p:blipFill>
          <a:blip r:embed="rId2"/>
          <a:stretch>
            <a:fillRect/>
          </a:stretch>
        </p:blipFill>
        <p:spPr>
          <a:xfrm>
            <a:off x="6170612" y="2057400"/>
            <a:ext cx="5303983" cy="4611119"/>
          </a:xfrm>
          <a:prstGeom prst="rect">
            <a:avLst/>
          </a:prstGeom>
        </p:spPr>
      </p:pic>
    </p:spTree>
    <p:extLst>
      <p:ext uri="{BB962C8B-B14F-4D97-AF65-F5344CB8AC3E}">
        <p14:creationId xmlns:p14="http://schemas.microsoft.com/office/powerpoint/2010/main" val="1613144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Адресно поле на процес</a:t>
            </a:r>
          </a:p>
        </p:txBody>
      </p:sp>
      <p:sp>
        <p:nvSpPr>
          <p:cNvPr id="3" name="Content Placeholder 2"/>
          <p:cNvSpPr>
            <a:spLocks noGrp="1"/>
          </p:cNvSpPr>
          <p:nvPr>
            <p:ph idx="1"/>
          </p:nvPr>
        </p:nvSpPr>
        <p:spPr/>
        <p:txBody>
          <a:bodyPr>
            <a:normAutofit fontScale="92500" lnSpcReduction="10000"/>
          </a:bodyPr>
          <a:lstStyle/>
          <a:p>
            <a:r>
              <a:rPr lang="ru-RU" dirty="0" smtClean="0"/>
              <a:t>Физически постигането </a:t>
            </a:r>
            <a:r>
              <a:rPr lang="ru-RU" dirty="0"/>
              <a:t>на подобна </a:t>
            </a:r>
            <a:r>
              <a:rPr lang="ru-RU" dirty="0" smtClean="0"/>
              <a:t>разпределение </a:t>
            </a:r>
            <a:r>
              <a:rPr lang="ru-RU" dirty="0"/>
              <a:t>на паметта е трудна </a:t>
            </a:r>
            <a:r>
              <a:rPr lang="ru-RU" dirty="0" smtClean="0"/>
              <a:t>задача, защото зависи от следните проблеми:</a:t>
            </a:r>
            <a:endParaRPr lang="ru-RU" dirty="0"/>
          </a:p>
          <a:p>
            <a:pPr lvl="1"/>
            <a:r>
              <a:rPr lang="ru-RU" dirty="0"/>
              <a:t>Кодът, който се занимава с </a:t>
            </a:r>
            <a:r>
              <a:rPr lang="ru-RU" dirty="0" smtClean="0"/>
              <a:t>изключения ипрекъсвания трябва </a:t>
            </a:r>
            <a:r>
              <a:rPr lang="ru-RU" dirty="0"/>
              <a:t>да </a:t>
            </a:r>
            <a:r>
              <a:rPr lang="ru-RU" dirty="0" smtClean="0"/>
              <a:t>съществува в адресното поле. Къде се разполага той?</a:t>
            </a:r>
            <a:endParaRPr lang="ru-RU" dirty="0"/>
          </a:p>
          <a:p>
            <a:pPr lvl="2"/>
            <a:r>
              <a:rPr lang="ru-RU" dirty="0"/>
              <a:t>Системата не може да го постави по средата, тъй като това би ограничило растежа на глобалните данни и стека.</a:t>
            </a:r>
          </a:p>
          <a:p>
            <a:pPr lvl="1"/>
            <a:r>
              <a:rPr lang="ru-RU" dirty="0"/>
              <a:t>Паметта </a:t>
            </a:r>
            <a:r>
              <a:rPr lang="ru-RU" dirty="0" smtClean="0"/>
              <a:t>за ОС трябва </a:t>
            </a:r>
            <a:r>
              <a:rPr lang="ru-RU" dirty="0"/>
              <a:t>да бъде </a:t>
            </a:r>
            <a:r>
              <a:rPr lang="ru-RU" dirty="0" smtClean="0"/>
              <a:t>разположи някъде в реалната оперативна памет. Къде?</a:t>
            </a:r>
            <a:endParaRPr lang="ru-RU" dirty="0"/>
          </a:p>
          <a:p>
            <a:pPr lvl="2"/>
            <a:r>
              <a:rPr lang="ru-RU" dirty="0"/>
              <a:t>ОС обикновено се поставя или под машинния код, или над стека.</a:t>
            </a:r>
          </a:p>
          <a:p>
            <a:pPr lvl="1"/>
            <a:r>
              <a:rPr lang="ru-RU" dirty="0" smtClean="0"/>
              <a:t>Мултипрограмирането изисква да </a:t>
            </a:r>
            <a:r>
              <a:rPr lang="ru-RU" dirty="0"/>
              <a:t>се </a:t>
            </a:r>
            <a:r>
              <a:rPr lang="ru-RU" dirty="0" smtClean="0"/>
              <a:t>променя адресното поле на неактивните процеси с цел оптимизация на използването.</a:t>
            </a:r>
            <a:endParaRPr lang="ru-RU" dirty="0"/>
          </a:p>
          <a:p>
            <a:pPr lvl="2"/>
            <a:r>
              <a:rPr lang="ru-RU" dirty="0" smtClean="0"/>
              <a:t>В най-ранните компютри, ОС се е разглеждала и се е прехвърля </a:t>
            </a:r>
            <a:r>
              <a:rPr lang="ru-RU" dirty="0"/>
              <a:t>към дисковата памет на програмите.</a:t>
            </a:r>
            <a:endParaRPr lang="bg-BG" dirty="0"/>
          </a:p>
        </p:txBody>
      </p:sp>
    </p:spTree>
    <p:extLst>
      <p:ext uri="{BB962C8B-B14F-4D97-AF65-F5344CB8AC3E}">
        <p14:creationId xmlns:p14="http://schemas.microsoft.com/office/powerpoint/2010/main" val="1576682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1"/>
          <p:cNvSpPr>
            <a:spLocks noGrp="1"/>
          </p:cNvSpPr>
          <p:nvPr>
            <p:ph idx="1"/>
          </p:nvPr>
        </p:nvSpPr>
        <p:spPr>
          <a:xfrm>
            <a:off x="908662" y="1143000"/>
            <a:ext cx="11053150" cy="5410200"/>
          </a:xfrm>
        </p:spPr>
        <p:txBody>
          <a:bodyPr vert="horz" lIns="91440" tIns="45720" rIns="91440" bIns="45720" rtlCol="0">
            <a:normAutofit fontScale="85000" lnSpcReduction="20000"/>
          </a:bodyPr>
          <a:lstStyle/>
          <a:p>
            <a:r>
              <a:rPr lang="bg-BG" altLang="en-US" dirty="0"/>
              <a:t>Стекът е част от паметта с организация LIFO (</a:t>
            </a:r>
            <a:r>
              <a:rPr lang="bg-BG" altLang="en-US" dirty="0" err="1"/>
              <a:t>last-in</a:t>
            </a:r>
            <a:r>
              <a:rPr lang="bg-BG" altLang="en-US" dirty="0"/>
              <a:t>, </a:t>
            </a:r>
            <a:r>
              <a:rPr lang="bg-BG" altLang="en-US" dirty="0" err="1"/>
              <a:t>first-out</a:t>
            </a:r>
            <a:r>
              <a:rPr lang="bg-BG" altLang="en-US" dirty="0"/>
              <a:t>) </a:t>
            </a:r>
          </a:p>
          <a:p>
            <a:pPr lvl="1"/>
            <a:r>
              <a:rPr lang="bg-BG" altLang="en-US" dirty="0"/>
              <a:t>Използва се за създаване на локални променливи (времето им на живот трябва да се определя от блока, в който са създадени), параметри на извиквани подпрограми, както и връщаните стойности от работата на подпрограмите. </a:t>
            </a:r>
          </a:p>
          <a:p>
            <a:pPr lvl="1"/>
            <a:r>
              <a:rPr lang="bg-BG" altLang="en-US" dirty="0"/>
              <a:t>Този начин на отделяне на памет е много лесен и се управлява от системата за изпълнение на програмите (</a:t>
            </a:r>
            <a:r>
              <a:rPr lang="bg-BG" altLang="en-US" dirty="0" err="1"/>
              <a:t>run-time</a:t>
            </a:r>
            <a:r>
              <a:rPr lang="bg-BG" altLang="en-US" dirty="0"/>
              <a:t> </a:t>
            </a:r>
            <a:r>
              <a:rPr lang="bg-BG" altLang="en-US" dirty="0" err="1"/>
              <a:t>tasks</a:t>
            </a:r>
            <a:r>
              <a:rPr lang="bg-BG" altLang="en-US" dirty="0"/>
              <a:t> </a:t>
            </a:r>
            <a:r>
              <a:rPr lang="bg-BG" altLang="en-US" dirty="0" err="1"/>
              <a:t>management</a:t>
            </a:r>
            <a:r>
              <a:rPr lang="bg-BG" altLang="en-US" dirty="0"/>
              <a:t> </a:t>
            </a:r>
            <a:r>
              <a:rPr lang="bg-BG" altLang="en-US" dirty="0" err="1"/>
              <a:t>system</a:t>
            </a:r>
            <a:r>
              <a:rPr lang="bg-BG" altLang="en-US" dirty="0"/>
              <a:t>).</a:t>
            </a:r>
          </a:p>
          <a:p>
            <a:r>
              <a:rPr lang="bg-BG" altLang="en-US" dirty="0"/>
              <a:t>Заемането/освобождаването на памет в </a:t>
            </a:r>
            <a:r>
              <a:rPr lang="bg-BG" altLang="en-US" dirty="0" err="1"/>
              <a:t>хийпа</a:t>
            </a:r>
            <a:r>
              <a:rPr lang="bg-BG" altLang="en-US" dirty="0"/>
              <a:t> се реализира по различни идеологии в различните езици за програмиране. </a:t>
            </a:r>
          </a:p>
          <a:p>
            <a:pPr lvl="1"/>
            <a:r>
              <a:rPr lang="bg-BG" altLang="en-US" dirty="0"/>
              <a:t>В някои езици (напр. C, C++) е необходимо явно (</a:t>
            </a:r>
            <a:r>
              <a:rPr lang="bg-BG" altLang="en-US" dirty="0" err="1"/>
              <a:t>експлицитно</a:t>
            </a:r>
            <a:r>
              <a:rPr lang="bg-BG" altLang="en-US" dirty="0"/>
              <a:t>) управление на процеса на заемане и освобождаване</a:t>
            </a:r>
          </a:p>
          <a:p>
            <a:pPr lvl="1"/>
            <a:r>
              <a:rPr lang="bg-BG" altLang="en-US" dirty="0"/>
              <a:t>В други езици (C#, Java) паметта имплицитно се заема/освобождава при </a:t>
            </a:r>
            <a:r>
              <a:rPr lang="bg-BG" altLang="en-US" dirty="0" err="1"/>
              <a:t>съсдаването</a:t>
            </a:r>
            <a:r>
              <a:rPr lang="bg-BG" altLang="en-US" dirty="0"/>
              <a:t> и унищожаването на елементите. </a:t>
            </a:r>
          </a:p>
          <a:p>
            <a:pPr lvl="1"/>
            <a:r>
              <a:rPr lang="bg-BG" altLang="en-US" dirty="0"/>
              <a:t>Най-известната система за автоматизирано освобождаване на паметта се нарича „</a:t>
            </a:r>
            <a:r>
              <a:rPr lang="bg-BG" altLang="en-US" dirty="0" err="1"/>
              <a:t>garbage</a:t>
            </a:r>
            <a:r>
              <a:rPr lang="bg-BG" altLang="en-US" dirty="0"/>
              <a:t> </a:t>
            </a:r>
            <a:r>
              <a:rPr lang="bg-BG" altLang="en-US" dirty="0" err="1"/>
              <a:t>collection</a:t>
            </a:r>
            <a:r>
              <a:rPr lang="bg-BG" altLang="en-US" dirty="0"/>
              <a:t>“ („събиране на боклука“ ).</a:t>
            </a:r>
          </a:p>
        </p:txBody>
      </p:sp>
      <p:sp>
        <p:nvSpPr>
          <p:cNvPr id="47107" name="Title 2"/>
          <p:cNvSpPr>
            <a:spLocks noGrp="1"/>
          </p:cNvSpPr>
          <p:nvPr>
            <p:ph type="title"/>
          </p:nvPr>
        </p:nvSpPr>
        <p:spPr/>
        <p:txBody>
          <a:bodyPr vert="horz" lIns="91440" tIns="45720" rIns="91440" bIns="45720" rtlCol="0" anchor="b">
            <a:normAutofit/>
          </a:bodyPr>
          <a:lstStyle/>
          <a:p>
            <a:r>
              <a:rPr lang="en-US" dirty="0"/>
              <a:t>Heap vs. Stack</a:t>
            </a:r>
          </a:p>
        </p:txBody>
      </p:sp>
    </p:spTree>
    <p:extLst>
      <p:ext uri="{BB962C8B-B14F-4D97-AF65-F5344CB8AC3E}">
        <p14:creationId xmlns:p14="http://schemas.microsoft.com/office/powerpoint/2010/main" val="3112918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1"/>
          <p:cNvSpPr>
            <a:spLocks noGrp="1"/>
          </p:cNvSpPr>
          <p:nvPr>
            <p:ph idx="1"/>
          </p:nvPr>
        </p:nvSpPr>
        <p:spPr/>
        <p:txBody>
          <a:bodyPr vert="horz" lIns="91440" tIns="45720" rIns="91440" bIns="45720" rtlCol="0">
            <a:normAutofit/>
          </a:bodyPr>
          <a:lstStyle/>
          <a:p>
            <a:r>
              <a:rPr lang="bg-BG" altLang="en-US" dirty="0" smtClean="0"/>
              <a:t>Примерно разпределение </a:t>
            </a:r>
            <a:r>
              <a:rPr lang="bg-BG" altLang="en-US" dirty="0"/>
              <a:t>на </a:t>
            </a:r>
            <a:r>
              <a:rPr lang="bg-BG" altLang="en-US" dirty="0" smtClean="0"/>
              <a:t/>
            </a:r>
            <a:br>
              <a:rPr lang="bg-BG" altLang="en-US" dirty="0" smtClean="0"/>
            </a:br>
            <a:r>
              <a:rPr lang="bg-BG" altLang="en-US" dirty="0" smtClean="0"/>
              <a:t>паметта за даден процес.</a:t>
            </a:r>
            <a:endParaRPr lang="bg-BG" altLang="en-US" dirty="0"/>
          </a:p>
        </p:txBody>
      </p:sp>
      <p:sp>
        <p:nvSpPr>
          <p:cNvPr id="47107" name="Title 2"/>
          <p:cNvSpPr>
            <a:spLocks noGrp="1"/>
          </p:cNvSpPr>
          <p:nvPr>
            <p:ph type="title"/>
          </p:nvPr>
        </p:nvSpPr>
        <p:spPr/>
        <p:txBody>
          <a:bodyPr/>
          <a:lstStyle/>
          <a:p>
            <a:pPr>
              <a:defRPr/>
            </a:pPr>
            <a:r>
              <a:rPr lang="bg-BG" dirty="0"/>
              <a:t>Управление на паметта</a:t>
            </a:r>
            <a:endParaRPr lang="en-US" dirty="0" smtClean="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6012" y="271267"/>
            <a:ext cx="4095750" cy="6586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3893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err="1"/>
              <a:t>Хийп</a:t>
            </a:r>
            <a:endParaRPr lang="en-US" dirty="0"/>
          </a:p>
        </p:txBody>
      </p:sp>
      <p:sp>
        <p:nvSpPr>
          <p:cNvPr id="3" name="Content Placeholder 2"/>
          <p:cNvSpPr>
            <a:spLocks noGrp="1"/>
          </p:cNvSpPr>
          <p:nvPr>
            <p:ph idx="1"/>
          </p:nvPr>
        </p:nvSpPr>
        <p:spPr/>
        <p:txBody>
          <a:bodyPr vert="horz" lIns="91440" tIns="45720" rIns="91440" bIns="45720" rtlCol="0">
            <a:normAutofit fontScale="77500" lnSpcReduction="20000"/>
          </a:bodyPr>
          <a:lstStyle/>
          <a:p>
            <a:pPr>
              <a:lnSpc>
                <a:spcPct val="120000"/>
              </a:lnSpc>
              <a:spcBef>
                <a:spcPts val="0"/>
              </a:spcBef>
            </a:pPr>
            <a:r>
              <a:rPr lang="bg-BG" dirty="0"/>
              <a:t>Реализация</a:t>
            </a:r>
          </a:p>
          <a:p>
            <a:pPr lvl="1">
              <a:lnSpc>
                <a:spcPct val="120000"/>
              </a:lnSpc>
              <a:spcBef>
                <a:spcPts val="0"/>
              </a:spcBef>
            </a:pPr>
            <a:r>
              <a:rPr lang="bg-BG" dirty="0"/>
              <a:t>Списък на пълните блокове</a:t>
            </a:r>
          </a:p>
          <a:p>
            <a:pPr lvl="1">
              <a:lnSpc>
                <a:spcPct val="120000"/>
              </a:lnSpc>
              <a:spcBef>
                <a:spcPts val="0"/>
              </a:spcBef>
            </a:pPr>
            <a:r>
              <a:rPr lang="bg-BG" dirty="0"/>
              <a:t>Списък на свободните </a:t>
            </a:r>
            <a:r>
              <a:rPr lang="bg-BG" dirty="0" smtClean="0"/>
              <a:t>блокове</a:t>
            </a:r>
          </a:p>
          <a:p>
            <a:pPr>
              <a:lnSpc>
                <a:spcPct val="120000"/>
              </a:lnSpc>
              <a:spcBef>
                <a:spcPts val="0"/>
              </a:spcBef>
            </a:pPr>
            <a:r>
              <a:rPr lang="ru-RU" dirty="0" smtClean="0"/>
              <a:t>Нови заделяния на памет (</a:t>
            </a:r>
            <a:r>
              <a:rPr lang="ru-RU" dirty="0"/>
              <a:t>т.е. чрез new или malloc) се удовлетворяват чрез създаване на подходящ блок от един от свободните блокове.</a:t>
            </a:r>
          </a:p>
          <a:p>
            <a:pPr lvl="1">
              <a:lnSpc>
                <a:spcPct val="120000"/>
              </a:lnSpc>
              <a:spcBef>
                <a:spcPts val="0"/>
              </a:spcBef>
            </a:pPr>
            <a:r>
              <a:rPr lang="ru-RU" dirty="0"/>
              <a:t>Това </a:t>
            </a:r>
            <a:r>
              <a:rPr lang="ru-RU" dirty="0" smtClean="0"/>
              <a:t>налага </a:t>
            </a:r>
            <a:r>
              <a:rPr lang="ru-RU" dirty="0"/>
              <a:t>актуализиране на </a:t>
            </a:r>
            <a:r>
              <a:rPr lang="ru-RU" dirty="0" smtClean="0"/>
              <a:t>списъците за заети/свободни блокове:</a:t>
            </a:r>
            <a:r>
              <a:rPr lang="ru-RU" dirty="0"/>
              <a:t> </a:t>
            </a:r>
            <a:r>
              <a:rPr lang="ru-RU" dirty="0" smtClean="0"/>
              <a:t>необходимата мета </a:t>
            </a:r>
            <a:r>
              <a:rPr lang="ru-RU" dirty="0"/>
              <a:t>информацията за блоковете </a:t>
            </a:r>
            <a:r>
              <a:rPr lang="ru-RU" dirty="0" smtClean="0"/>
              <a:t>също </a:t>
            </a:r>
            <a:r>
              <a:rPr lang="ru-RU" dirty="0"/>
              <a:t>се съхранява в </a:t>
            </a:r>
            <a:r>
              <a:rPr lang="bg-BG" dirty="0" err="1" smtClean="0"/>
              <a:t>хийпа</a:t>
            </a:r>
            <a:r>
              <a:rPr lang="bg-BG" dirty="0" smtClean="0"/>
              <a:t>, най-</a:t>
            </a:r>
            <a:r>
              <a:rPr lang="ru-RU" dirty="0" smtClean="0"/>
              <a:t>често </a:t>
            </a:r>
            <a:r>
              <a:rPr lang="ru-RU" dirty="0"/>
              <a:t>в малка област точно пред всеки блок.</a:t>
            </a:r>
          </a:p>
          <a:p>
            <a:pPr>
              <a:lnSpc>
                <a:spcPct val="120000"/>
              </a:lnSpc>
              <a:spcBef>
                <a:spcPts val="0"/>
              </a:spcBef>
            </a:pPr>
            <a:r>
              <a:rPr lang="ru-RU" dirty="0"/>
              <a:t>С нарастването на </a:t>
            </a:r>
            <a:r>
              <a:rPr lang="ru-RU" dirty="0" smtClean="0"/>
              <a:t>запълването, нови </a:t>
            </a:r>
            <a:r>
              <a:rPr lang="ru-RU" dirty="0"/>
              <a:t>блокове </a:t>
            </a:r>
            <a:r>
              <a:rPr lang="ru-RU" dirty="0" smtClean="0"/>
              <a:t>най- често </a:t>
            </a:r>
            <a:r>
              <a:rPr lang="ru-RU" dirty="0"/>
              <a:t>се разпределят от по-ниски адреси към по-високи адреси.</a:t>
            </a:r>
          </a:p>
          <a:p>
            <a:pPr>
              <a:lnSpc>
                <a:spcPct val="120000"/>
              </a:lnSpc>
              <a:spcBef>
                <a:spcPts val="0"/>
              </a:spcBef>
            </a:pPr>
            <a:r>
              <a:rPr lang="ru-RU" dirty="0" smtClean="0"/>
              <a:t>Проблем „</a:t>
            </a:r>
            <a:r>
              <a:rPr lang="ru-RU" dirty="0">
                <a:effectLst>
                  <a:outerShdw blurRad="38100" dist="38100" dir="2700000" algn="tl">
                    <a:srgbClr val="000000">
                      <a:alpha val="43137"/>
                    </a:srgbClr>
                  </a:outerShdw>
                </a:effectLst>
              </a:rPr>
              <a:t>Фрагментацията на </a:t>
            </a:r>
            <a:r>
              <a:rPr lang="ru-RU" dirty="0" smtClean="0">
                <a:effectLst>
                  <a:outerShdw blurRad="38100" dist="38100" dir="2700000" algn="tl">
                    <a:srgbClr val="000000">
                      <a:alpha val="43137"/>
                    </a:srgbClr>
                  </a:outerShdw>
                </a:effectLst>
              </a:rPr>
              <a:t>паметта</a:t>
            </a:r>
            <a:r>
              <a:rPr lang="ru-RU" dirty="0" smtClean="0"/>
              <a:t>“.</a:t>
            </a:r>
            <a:endParaRPr lang="ru-RU" dirty="0"/>
          </a:p>
          <a:p>
            <a:pPr lvl="1">
              <a:lnSpc>
                <a:spcPct val="120000"/>
              </a:lnSpc>
              <a:spcBef>
                <a:spcPts val="0"/>
              </a:spcBef>
            </a:pPr>
            <a:r>
              <a:rPr lang="ru-RU" dirty="0"/>
              <a:t>Заявка за разпределяне на голям блок може да се провали, тъй като нито един от свободните блокове не е достатъчно голям, за да удовлетвори заявката за разпределение, въпреки че общият размер на свободните блокове може да е достатъчно голям.</a:t>
            </a:r>
            <a:endParaRPr lang="bg-BG" dirty="0"/>
          </a:p>
        </p:txBody>
      </p:sp>
      <p:pic>
        <p:nvPicPr>
          <p:cNvPr id="5" name="Picture 4" descr="The heap"/>
          <p:cNvPicPr/>
          <p:nvPr/>
        </p:nvPicPr>
        <p:blipFill>
          <a:blip r:embed="rId2">
            <a:extLst>
              <a:ext uri="{28A0092B-C50C-407E-A947-70E740481C1C}">
                <a14:useLocalDpi xmlns:a14="http://schemas.microsoft.com/office/drawing/2010/main" val="0"/>
              </a:ext>
            </a:extLst>
          </a:blip>
          <a:srcRect/>
          <a:stretch>
            <a:fillRect/>
          </a:stretch>
        </p:blipFill>
        <p:spPr bwMode="auto">
          <a:xfrm>
            <a:off x="5561012" y="2514600"/>
            <a:ext cx="6084887" cy="4035136"/>
          </a:xfrm>
          <a:prstGeom prst="rect">
            <a:avLst/>
          </a:prstGeom>
          <a:noFill/>
          <a:ln>
            <a:noFill/>
          </a:ln>
        </p:spPr>
      </p:pic>
    </p:spTree>
    <p:extLst>
      <p:ext uri="{BB962C8B-B14F-4D97-AF65-F5344CB8AC3E}">
        <p14:creationId xmlns:p14="http://schemas.microsoft.com/office/powerpoint/2010/main" val="3373856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a:t>Стек</a:t>
            </a:r>
            <a:endParaRPr lang="en-US" dirty="0"/>
          </a:p>
        </p:txBody>
      </p:sp>
      <p:sp>
        <p:nvSpPr>
          <p:cNvPr id="3" name="Content Placeholder 2"/>
          <p:cNvSpPr>
            <a:spLocks noGrp="1"/>
          </p:cNvSpPr>
          <p:nvPr>
            <p:ph idx="1"/>
          </p:nvPr>
        </p:nvSpPr>
        <p:spPr/>
        <p:txBody>
          <a:bodyPr>
            <a:normAutofit/>
          </a:bodyPr>
          <a:lstStyle/>
          <a:p>
            <a:r>
              <a:rPr lang="ru-RU" sz="2500" dirty="0"/>
              <a:t>Записите за активиране на </a:t>
            </a:r>
            <a:r>
              <a:rPr lang="ru-RU" sz="2500" dirty="0" smtClean="0"/>
              <a:t>подпрограмите </a:t>
            </a:r>
            <a:r>
              <a:rPr lang="ru-RU" sz="2500" dirty="0"/>
              <a:t>се </a:t>
            </a:r>
            <a:r>
              <a:rPr lang="ru-RU" sz="2500" dirty="0" smtClean="0"/>
              <a:t>разполагат </a:t>
            </a:r>
            <a:r>
              <a:rPr lang="ru-RU" sz="2500" dirty="0"/>
              <a:t>в стека, който се използва не само за съхраняване на тези променливи, но и за проследяване на извиквания на вложени функции</a:t>
            </a:r>
            <a:r>
              <a:rPr lang="ru-RU" sz="2500" dirty="0" smtClean="0"/>
              <a:t>.</a:t>
            </a:r>
          </a:p>
        </p:txBody>
      </p:sp>
      <p:pic>
        <p:nvPicPr>
          <p:cNvPr id="5" name="Picture 4" descr="The stack"/>
          <p:cNvPicPr/>
          <p:nvPr/>
        </p:nvPicPr>
        <p:blipFill>
          <a:blip r:embed="rId2">
            <a:extLst>
              <a:ext uri="{28A0092B-C50C-407E-A947-70E740481C1C}">
                <a14:useLocalDpi xmlns:a14="http://schemas.microsoft.com/office/drawing/2010/main" val="0"/>
              </a:ext>
            </a:extLst>
          </a:blip>
          <a:srcRect/>
          <a:stretch>
            <a:fillRect/>
          </a:stretch>
        </p:blipFill>
        <p:spPr bwMode="auto">
          <a:xfrm>
            <a:off x="6323011" y="2438400"/>
            <a:ext cx="5498607" cy="4344694"/>
          </a:xfrm>
          <a:prstGeom prst="rect">
            <a:avLst/>
          </a:prstGeom>
          <a:noFill/>
          <a:ln>
            <a:noFill/>
          </a:ln>
        </p:spPr>
      </p:pic>
    </p:spTree>
    <p:extLst>
      <p:ext uri="{BB962C8B-B14F-4D97-AF65-F5344CB8AC3E}">
        <p14:creationId xmlns:p14="http://schemas.microsoft.com/office/powerpoint/2010/main" val="2055086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dirty="0"/>
              <a:t>Стек</a:t>
            </a:r>
            <a:endParaRPr lang="en-US" dirty="0"/>
          </a:p>
        </p:txBody>
      </p:sp>
      <p:sp>
        <p:nvSpPr>
          <p:cNvPr id="3" name="Content Placeholder 2"/>
          <p:cNvSpPr>
            <a:spLocks noGrp="1"/>
          </p:cNvSpPr>
          <p:nvPr>
            <p:ph idx="1"/>
          </p:nvPr>
        </p:nvSpPr>
        <p:spPr/>
        <p:txBody>
          <a:bodyPr vert="horz" lIns="91440" tIns="45720" rIns="91440" bIns="45720" rtlCol="0">
            <a:normAutofit fontScale="77500" lnSpcReduction="20000"/>
          </a:bodyPr>
          <a:lstStyle/>
          <a:p>
            <a:r>
              <a:rPr lang="ru-RU" dirty="0"/>
              <a:t>Записите за активиране на подпрограмите се разполагат в стека, който се използва не само за съхраняване на тези променливи, но и за проследяване на извиквания на вложени функции.</a:t>
            </a:r>
          </a:p>
          <a:p>
            <a:r>
              <a:rPr lang="ru-RU" dirty="0"/>
              <a:t>За работата на стека е много важен един специален регистър на процесора, наречен </a:t>
            </a:r>
            <a:r>
              <a:rPr lang="bg-BG" altLang="en-US" dirty="0"/>
              <a:t> „</a:t>
            </a:r>
            <a:r>
              <a:rPr lang="ru-RU" i="1" dirty="0">
                <a:effectLst>
                  <a:outerShdw blurRad="38100" dist="38100" dir="2700000" algn="tl">
                    <a:srgbClr val="000000">
                      <a:alpha val="43137"/>
                    </a:srgbClr>
                  </a:outerShdw>
                </a:effectLst>
              </a:rPr>
              <a:t>Указател на върха на </a:t>
            </a:r>
            <a:r>
              <a:rPr lang="ru-RU" i="1" dirty="0" smtClean="0">
                <a:effectLst>
                  <a:outerShdw blurRad="38100" dist="38100" dir="2700000" algn="tl">
                    <a:srgbClr val="000000">
                      <a:alpha val="43137"/>
                    </a:srgbClr>
                  </a:outerShdw>
                </a:effectLst>
              </a:rPr>
              <a:t>стека</a:t>
            </a:r>
            <a:r>
              <a:rPr lang="bg-BG" altLang="en-US" dirty="0" smtClean="0"/>
              <a:t>“</a:t>
            </a:r>
            <a:r>
              <a:rPr lang="ru-RU" dirty="0" smtClean="0"/>
              <a:t> </a:t>
            </a:r>
            <a:r>
              <a:rPr lang="ru-RU" dirty="0"/>
              <a:t>(SP – </a:t>
            </a:r>
            <a:r>
              <a:rPr lang="en-US" dirty="0"/>
              <a:t>Steak Pointer</a:t>
            </a:r>
            <a:r>
              <a:rPr lang="ru-RU" dirty="0" smtClean="0"/>
              <a:t>).</a:t>
            </a:r>
            <a:endParaRPr lang="ru-RU" dirty="0"/>
          </a:p>
          <a:p>
            <a:pPr lvl="1"/>
            <a:r>
              <a:rPr lang="ru-RU" dirty="0"/>
              <a:t>Първоначално SP сочи към върха на стека (т.е. най-високия адрес)</a:t>
            </a:r>
          </a:p>
          <a:p>
            <a:pPr lvl="1"/>
            <a:r>
              <a:rPr lang="ru-RU" dirty="0"/>
              <a:t>Добавянето на стойност към стека намалява SP, а премахването на стойност го увеличава.</a:t>
            </a:r>
          </a:p>
          <a:p>
            <a:r>
              <a:rPr lang="ru-RU" dirty="0"/>
              <a:t>Процесорът има специални инструкции за </a:t>
            </a:r>
            <a:r>
              <a:rPr lang="bg-BG" dirty="0"/>
              <a:t>добавяне и изваждане</a:t>
            </a:r>
            <a:r>
              <a:rPr lang="ru-RU" dirty="0"/>
              <a:t> на стойности в/от стека.</a:t>
            </a:r>
          </a:p>
          <a:p>
            <a:pPr lvl="1"/>
            <a:r>
              <a:rPr lang="ru-RU" dirty="0"/>
              <a:t>Стойностите, които се съхраняват и извличат, са стойностите на регистрите на процесора.</a:t>
            </a:r>
          </a:p>
          <a:p>
            <a:pPr lvl="1"/>
            <a:r>
              <a:rPr lang="ru-RU" dirty="0"/>
              <a:t>Всяко добавяне съхранява стойността в текущото местоположение на SP и </a:t>
            </a:r>
            <a:r>
              <a:rPr lang="en-US" dirty="0"/>
              <a:t>SP </a:t>
            </a:r>
            <a:r>
              <a:rPr lang="bg-BG" dirty="0"/>
              <a:t>намалява стойността си</a:t>
            </a:r>
            <a:r>
              <a:rPr lang="ru-RU" dirty="0"/>
              <a:t>.</a:t>
            </a:r>
          </a:p>
          <a:p>
            <a:pPr lvl="1"/>
            <a:r>
              <a:rPr lang="ru-RU" dirty="0"/>
              <a:t>Изваждането става от позицията, която се сочи от SP, след след което SP се увеличава с размера на извлечената данна.</a:t>
            </a:r>
            <a:endParaRPr lang="en-US" dirty="0"/>
          </a:p>
        </p:txBody>
      </p:sp>
    </p:spTree>
    <p:extLst>
      <p:ext uri="{BB962C8B-B14F-4D97-AF65-F5344CB8AC3E}">
        <p14:creationId xmlns:p14="http://schemas.microsoft.com/office/powerpoint/2010/main" val="1455315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Стек</a:t>
            </a:r>
            <a:endParaRPr lang="en-US" dirty="0"/>
          </a:p>
        </p:txBody>
      </p:sp>
      <p:sp>
        <p:nvSpPr>
          <p:cNvPr id="3" name="Content Placeholder 2"/>
          <p:cNvSpPr>
            <a:spLocks noGrp="1"/>
          </p:cNvSpPr>
          <p:nvPr>
            <p:ph idx="1"/>
          </p:nvPr>
        </p:nvSpPr>
        <p:spPr/>
        <p:txBody>
          <a:bodyPr>
            <a:normAutofit lnSpcReduction="10000"/>
          </a:bodyPr>
          <a:lstStyle/>
          <a:p>
            <a:r>
              <a:rPr lang="ru-RU" sz="2800" dirty="0"/>
              <a:t>Когато се извика </a:t>
            </a:r>
            <a:r>
              <a:rPr lang="ru-RU" sz="2800" dirty="0" smtClean="0"/>
              <a:t>подпрограма, </a:t>
            </a:r>
            <a:r>
              <a:rPr lang="ru-RU" sz="2800" dirty="0"/>
              <a:t>процесорът използва специални инструкции, </a:t>
            </a:r>
            <a:r>
              <a:rPr lang="ru-RU" sz="2800" dirty="0" smtClean="0"/>
              <a:t>чиято задача е да сложи в стека текущата стойност на </a:t>
            </a:r>
            <a:r>
              <a:rPr lang="en-US" sz="2800" dirty="0" smtClean="0"/>
              <a:t>IP</a:t>
            </a:r>
            <a:r>
              <a:rPr lang="bg-BG" sz="2800" dirty="0" smtClean="0"/>
              <a:t> (</a:t>
            </a:r>
            <a:r>
              <a:rPr lang="en-US" sz="2800" dirty="0" smtClean="0"/>
              <a:t>instruction pointer</a:t>
            </a:r>
            <a:r>
              <a:rPr lang="bg-BG" sz="2800" dirty="0" smtClean="0"/>
              <a:t>)</a:t>
            </a:r>
            <a:r>
              <a:rPr lang="en-US" sz="2800" dirty="0" smtClean="0"/>
              <a:t>,</a:t>
            </a:r>
            <a:r>
              <a:rPr lang="ru-RU" sz="2800" dirty="0" smtClean="0"/>
              <a:t> </a:t>
            </a:r>
            <a:r>
              <a:rPr lang="ru-RU" sz="2800" dirty="0"/>
              <a:t>т.е. </a:t>
            </a:r>
            <a:r>
              <a:rPr lang="ru-RU" sz="2800" dirty="0" smtClean="0"/>
              <a:t>адресът на</a:t>
            </a:r>
            <a:r>
              <a:rPr lang="bg-BG" sz="2800" dirty="0" smtClean="0"/>
              <a:t> извикващата инструкция от </a:t>
            </a:r>
            <a:r>
              <a:rPr lang="ru-RU" sz="2800" dirty="0" smtClean="0"/>
              <a:t>кода се поставя в </a:t>
            </a:r>
            <a:r>
              <a:rPr lang="ru-RU" sz="2800" dirty="0"/>
              <a:t>стека.</a:t>
            </a:r>
          </a:p>
          <a:p>
            <a:pPr lvl="1"/>
            <a:r>
              <a:rPr lang="ru-RU" sz="2400" dirty="0" smtClean="0"/>
              <a:t>Използва се за да се снае къде трябва да се върне управлението след приключване на подпрограмата.</a:t>
            </a:r>
          </a:p>
          <a:p>
            <a:pPr lvl="1"/>
            <a:r>
              <a:rPr lang="ru-RU" sz="2400" dirty="0" smtClean="0"/>
              <a:t>Този механизъм позволява да се влагат извиквания на подпрограми една в друга.</a:t>
            </a:r>
            <a:endParaRPr lang="ru-RU" sz="2400" dirty="0"/>
          </a:p>
          <a:p>
            <a:r>
              <a:rPr lang="ru-RU" sz="2800" dirty="0"/>
              <a:t>Грешка „препълване на стека“:</a:t>
            </a:r>
          </a:p>
          <a:p>
            <a:pPr lvl="1"/>
            <a:r>
              <a:rPr lang="ru-RU" sz="2400" dirty="0"/>
              <a:t>Стекът е ограничен блок памет.</a:t>
            </a:r>
          </a:p>
          <a:p>
            <a:pPr lvl="1"/>
            <a:r>
              <a:rPr lang="ru-RU" sz="2400" dirty="0"/>
              <a:t>Потребителите могат да причинят препълване на стека, като извикат твърде много вложени </a:t>
            </a:r>
            <a:r>
              <a:rPr lang="ru-RU" sz="2400" dirty="0" smtClean="0"/>
              <a:t>подпрограми </a:t>
            </a:r>
            <a:r>
              <a:rPr lang="ru-RU" sz="2400" dirty="0"/>
              <a:t>и/или заделят твърде много място за локални променливи.</a:t>
            </a:r>
            <a:endParaRPr lang="en-US" sz="2400" dirty="0"/>
          </a:p>
        </p:txBody>
      </p:sp>
      <p:pic>
        <p:nvPicPr>
          <p:cNvPr id="5" name="Picture 4" descr="File:ProgramCallStack2 en.png"/>
          <p:cNvPicPr/>
          <p:nvPr/>
        </p:nvPicPr>
        <p:blipFill>
          <a:blip r:embed="rId2">
            <a:extLst>
              <a:ext uri="{28A0092B-C50C-407E-A947-70E740481C1C}">
                <a14:useLocalDpi xmlns:a14="http://schemas.microsoft.com/office/drawing/2010/main" val="0"/>
              </a:ext>
            </a:extLst>
          </a:blip>
          <a:srcRect/>
          <a:stretch>
            <a:fillRect/>
          </a:stretch>
        </p:blipFill>
        <p:spPr bwMode="auto">
          <a:xfrm>
            <a:off x="6170612" y="381000"/>
            <a:ext cx="5343525" cy="6348743"/>
          </a:xfrm>
          <a:prstGeom prst="rect">
            <a:avLst/>
          </a:prstGeom>
          <a:noFill/>
          <a:ln>
            <a:noFill/>
          </a:ln>
        </p:spPr>
      </p:pic>
    </p:spTree>
    <p:extLst>
      <p:ext uri="{BB962C8B-B14F-4D97-AF65-F5344CB8AC3E}">
        <p14:creationId xmlns:p14="http://schemas.microsoft.com/office/powerpoint/2010/main" val="2461930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Странична организация на паметта</a:t>
            </a:r>
            <a:endParaRPr lang="bg-BG" dirty="0"/>
          </a:p>
        </p:txBody>
      </p:sp>
      <p:sp>
        <p:nvSpPr>
          <p:cNvPr id="3" name="Content Placeholder 2"/>
          <p:cNvSpPr>
            <a:spLocks noGrp="1"/>
          </p:cNvSpPr>
          <p:nvPr>
            <p:ph idx="1"/>
          </p:nvPr>
        </p:nvSpPr>
        <p:spPr/>
        <p:txBody>
          <a:bodyPr vert="horz" lIns="91440" tIns="45720" rIns="91440" bIns="45720" rtlCol="0">
            <a:normAutofit fontScale="92500" lnSpcReduction="20000"/>
          </a:bodyPr>
          <a:lstStyle/>
          <a:p>
            <a:r>
              <a:rPr lang="ru-RU" i="1" dirty="0">
                <a:effectLst>
                  <a:outerShdw blurRad="38100" dist="38100" dir="2700000" algn="tl">
                    <a:srgbClr val="000000">
                      <a:alpha val="43137"/>
                    </a:srgbClr>
                  </a:outerShdw>
                </a:effectLst>
              </a:rPr>
              <a:t>Страница</a:t>
            </a:r>
            <a:r>
              <a:rPr lang="ru-RU" dirty="0"/>
              <a:t> е блок от памет, позициониран на някакъв начален адрес в адресното пространство на програмата.</a:t>
            </a:r>
          </a:p>
          <a:p>
            <a:pPr lvl="1"/>
            <a:r>
              <a:rPr lang="ru-RU" dirty="0"/>
              <a:t>Размерът е фиксиран от хардуерния дизайн: обикновено между 1 Kbytes и 8 Kbytes.</a:t>
            </a:r>
          </a:p>
          <a:p>
            <a:r>
              <a:rPr lang="ru-RU" dirty="0"/>
              <a:t>Как работи ?</a:t>
            </a:r>
          </a:p>
          <a:p>
            <a:pPr lvl="1"/>
            <a:r>
              <a:rPr lang="ru-RU" dirty="0"/>
              <a:t>Когато програма има достъп до адрес LX в своето адресно пространство, MemoryDecoder разделя стойността на адреса на </a:t>
            </a:r>
            <a:r>
              <a:rPr lang="ru-RU" dirty="0" smtClean="0"/>
              <a:t> големината (размера) </a:t>
            </a:r>
            <a:r>
              <a:rPr lang="ru-RU" dirty="0"/>
              <a:t>на системната страница.</a:t>
            </a:r>
          </a:p>
          <a:p>
            <a:pPr lvl="2"/>
            <a:r>
              <a:rPr lang="ru-RU" dirty="0"/>
              <a:t>Получената стойност е </a:t>
            </a:r>
            <a:r>
              <a:rPr lang="ru-RU" i="1" dirty="0">
                <a:effectLst>
                  <a:outerShdw blurRad="38100" dist="38100" dir="2700000" algn="tl">
                    <a:srgbClr val="000000">
                      <a:alpha val="43137"/>
                    </a:srgbClr>
                  </a:outerShdw>
                </a:effectLst>
              </a:rPr>
              <a:t>логическия номер на страница </a:t>
            </a:r>
            <a:r>
              <a:rPr lang="ru-RU" dirty="0"/>
              <a:t>LP, а остатъкът става </a:t>
            </a:r>
            <a:r>
              <a:rPr lang="ru-RU" i="1" dirty="0">
                <a:effectLst>
                  <a:outerShdw blurRad="38100" dist="38100" dir="2700000" algn="tl">
                    <a:srgbClr val="000000">
                      <a:alpha val="43137"/>
                    </a:srgbClr>
                  </a:outerShdw>
                </a:effectLst>
              </a:rPr>
              <a:t>отместване в тази страница </a:t>
            </a:r>
            <a:r>
              <a:rPr lang="ru-RU" dirty="0"/>
              <a:t>(т.е. LX=LP+OFSET).</a:t>
            </a:r>
          </a:p>
          <a:p>
            <a:pPr lvl="1"/>
            <a:r>
              <a:rPr lang="ru-RU" dirty="0"/>
              <a:t>След това MemoryDecoder съпоставя логическата страница към рамка на физическа страница, като използва справочна таблица.</a:t>
            </a:r>
          </a:p>
          <a:p>
            <a:pPr lvl="1"/>
            <a:r>
              <a:rPr lang="ru-RU" dirty="0"/>
              <a:t>След това добавя към OFFSET и така се получава PX, т.е. крайния физически адрес на местоположението в основната памет.</a:t>
            </a:r>
            <a:endParaRPr lang="bg-BG" dirty="0"/>
          </a:p>
        </p:txBody>
      </p:sp>
    </p:spTree>
    <p:extLst>
      <p:ext uri="{BB962C8B-B14F-4D97-AF65-F5344CB8AC3E}">
        <p14:creationId xmlns:p14="http://schemas.microsoft.com/office/powerpoint/2010/main" val="396138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Странична организация на паметта</a:t>
            </a:r>
            <a:endParaRPr lang="bg-BG" dirty="0"/>
          </a:p>
        </p:txBody>
      </p:sp>
      <p:sp>
        <p:nvSpPr>
          <p:cNvPr id="3" name="Content Placeholder 2"/>
          <p:cNvSpPr>
            <a:spLocks noGrp="1"/>
          </p:cNvSpPr>
          <p:nvPr>
            <p:ph idx="1"/>
          </p:nvPr>
        </p:nvSpPr>
        <p:spPr/>
        <p:txBody>
          <a:bodyPr vert="horz" lIns="91440" tIns="45720" rIns="91440" bIns="45720" rtlCol="0">
            <a:normAutofit/>
          </a:bodyPr>
          <a:lstStyle/>
          <a:p>
            <a:r>
              <a:rPr lang="ru-RU" dirty="0"/>
              <a:t>Пример</a:t>
            </a:r>
            <a:r>
              <a:rPr lang="ru-RU" i="1" dirty="0">
                <a:effectLst>
                  <a:outerShdw blurRad="38100" dist="38100" dir="2700000" algn="tl">
                    <a:srgbClr val="000000">
                      <a:alpha val="43137"/>
                    </a:srgbClr>
                  </a:outerShdw>
                </a:effectLst>
              </a:rPr>
              <a:t>:</a:t>
            </a:r>
          </a:p>
        </p:txBody>
      </p:sp>
      <p:pic>
        <p:nvPicPr>
          <p:cNvPr id="4" name="Picture 3"/>
          <p:cNvPicPr>
            <a:picLocks noChangeAspect="1"/>
          </p:cNvPicPr>
          <p:nvPr/>
        </p:nvPicPr>
        <p:blipFill>
          <a:blip r:embed="rId2"/>
          <a:stretch>
            <a:fillRect/>
          </a:stretch>
        </p:blipFill>
        <p:spPr>
          <a:xfrm>
            <a:off x="5027612" y="912788"/>
            <a:ext cx="6415060" cy="5640412"/>
          </a:xfrm>
          <a:prstGeom prst="rect">
            <a:avLst/>
          </a:prstGeom>
        </p:spPr>
      </p:pic>
    </p:spTree>
    <p:extLst>
      <p:ext uri="{BB962C8B-B14F-4D97-AF65-F5344CB8AC3E}">
        <p14:creationId xmlns:p14="http://schemas.microsoft.com/office/powerpoint/2010/main" val="1055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7107" name="Title 2"/>
          <p:cNvSpPr>
            <a:spLocks noGrp="1"/>
          </p:cNvSpPr>
          <p:nvPr>
            <p:ph type="title"/>
          </p:nvPr>
        </p:nvSpPr>
        <p:spPr/>
        <p:txBody>
          <a:bodyPr/>
          <a:lstStyle/>
          <a:p>
            <a:pPr>
              <a:defRPr/>
            </a:pPr>
            <a:r>
              <a:rPr lang="bg-BG" dirty="0"/>
              <a:t>Управление на паметта</a:t>
            </a:r>
            <a:endParaRPr lang="en-US" dirty="0" smtClean="0"/>
          </a:p>
        </p:txBody>
      </p:sp>
      <p:sp>
        <p:nvSpPr>
          <p:cNvPr id="56322" name="Content Placeholder 1"/>
          <p:cNvSpPr>
            <a:spLocks noGrp="1"/>
          </p:cNvSpPr>
          <p:nvPr>
            <p:ph idx="1"/>
          </p:nvPr>
        </p:nvSpPr>
        <p:spPr/>
        <p:txBody>
          <a:bodyPr vert="horz" lIns="91440" tIns="45720" rIns="91440" bIns="45720" rtlCol="0">
            <a:normAutofit/>
          </a:bodyPr>
          <a:lstStyle/>
          <a:p>
            <a:r>
              <a:rPr lang="bg-BG" altLang="en-US" dirty="0"/>
              <a:t>Разпределение на виртуалната </a:t>
            </a:r>
            <a:br>
              <a:rPr lang="bg-BG" altLang="en-US" dirty="0"/>
            </a:br>
            <a:r>
              <a:rPr lang="bg-BG" altLang="en-US" dirty="0"/>
              <a:t>памет за дадена програма.</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8412" y="79375"/>
            <a:ext cx="4114800" cy="669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40924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altLang="en-US" dirty="0" smtClean="0"/>
              <a:t>Система за </a:t>
            </a:r>
            <a:r>
              <a:rPr lang="bg-BG" altLang="en-US" dirty="0"/>
              <a:t>управление на изпълнението</a:t>
            </a:r>
            <a:endParaRPr lang="en-US" dirty="0"/>
          </a:p>
        </p:txBody>
      </p:sp>
      <p:sp>
        <p:nvSpPr>
          <p:cNvPr id="58371" name="Content Placeholder 2"/>
          <p:cNvSpPr>
            <a:spLocks noGrp="1"/>
          </p:cNvSpPr>
          <p:nvPr>
            <p:ph idx="1"/>
          </p:nvPr>
        </p:nvSpPr>
        <p:spPr/>
        <p:txBody>
          <a:bodyPr vert="horz" lIns="91440" tIns="45720" rIns="91440" bIns="45720" rtlCol="0">
            <a:normAutofit fontScale="85000" lnSpcReduction="20000"/>
          </a:bodyPr>
          <a:lstStyle/>
          <a:p>
            <a:r>
              <a:rPr lang="bg-BG" altLang="en-US" dirty="0"/>
              <a:t>Едно от основните предимства на системата за управление на изпълнението на програмите (т.нар. </a:t>
            </a:r>
            <a:r>
              <a:rPr lang="bg-BG" altLang="en-US" dirty="0" err="1"/>
              <a:t>run-time</a:t>
            </a:r>
            <a:r>
              <a:rPr lang="bg-BG" altLang="en-US" dirty="0"/>
              <a:t> </a:t>
            </a:r>
            <a:r>
              <a:rPr lang="bg-BG" altLang="en-US" dirty="0" err="1"/>
              <a:t>system</a:t>
            </a:r>
            <a:r>
              <a:rPr lang="bg-BG" altLang="en-US" dirty="0"/>
              <a:t>) е това, че за програмистите заемането/освобождаването на памет е лесно и </a:t>
            </a:r>
            <a:r>
              <a:rPr lang="bg-BG" altLang="en-US" dirty="0" err="1"/>
              <a:t>разбирамо</a:t>
            </a:r>
            <a:r>
              <a:rPr lang="bg-BG" altLang="en-US" dirty="0"/>
              <a:t>. </a:t>
            </a:r>
          </a:p>
          <a:p>
            <a:pPr lvl="1"/>
            <a:r>
              <a:rPr lang="bg-BG" altLang="en-US" dirty="0"/>
              <a:t>Независимо, че този процес е зависим от конкретната операционната система, за програмистите това действие е „прозрачно“от стратегиите за управление на паметта, използвани от операционната система.</a:t>
            </a:r>
          </a:p>
          <a:p>
            <a:r>
              <a:rPr lang="bg-BG" altLang="en-US" dirty="0"/>
              <a:t>Два типа управление от програмиста</a:t>
            </a:r>
          </a:p>
          <a:p>
            <a:pPr lvl="1"/>
            <a:r>
              <a:rPr lang="bg-BG" altLang="en-US" dirty="0"/>
              <a:t>Ръчното управлението – то е по-лесно за реализация от системата за управление на изпълнението изпълнение, но е по-сложно за програмист</a:t>
            </a:r>
          </a:p>
          <a:p>
            <a:pPr lvl="2"/>
            <a:r>
              <a:rPr lang="bg-BG" altLang="en-US" dirty="0"/>
              <a:t>Може да доведе до грешки при кодиране поради неправилно управление на паметта според жизнения цикъл на елемента (напр. на променливата). </a:t>
            </a:r>
          </a:p>
          <a:p>
            <a:pPr lvl="1"/>
            <a:r>
              <a:rPr lang="bg-BG" altLang="en-US" dirty="0"/>
              <a:t>Автоматично управление - събирането на отпадъци е по-сложно за реализация от системата за управление, но намалява сложността за програмиста и помага да се намали броят грешки при кодиране, свързани с управлението на памет.</a:t>
            </a:r>
          </a:p>
        </p:txBody>
      </p:sp>
    </p:spTree>
    <p:extLst>
      <p:ext uri="{BB962C8B-B14F-4D97-AF65-F5344CB8AC3E}">
        <p14:creationId xmlns:p14="http://schemas.microsoft.com/office/powerpoint/2010/main" val="27384600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altLang="en-US" dirty="0" smtClean="0"/>
              <a:t>Система за </a:t>
            </a:r>
            <a:r>
              <a:rPr lang="bg-BG" altLang="en-US" dirty="0"/>
              <a:t>управление на изпълнението</a:t>
            </a:r>
            <a:endParaRPr lang="en-US" dirty="0"/>
          </a:p>
        </p:txBody>
      </p:sp>
      <p:sp>
        <p:nvSpPr>
          <p:cNvPr id="58371" name="Content Placeholder 2"/>
          <p:cNvSpPr>
            <a:spLocks noGrp="1"/>
          </p:cNvSpPr>
          <p:nvPr>
            <p:ph idx="1"/>
          </p:nvPr>
        </p:nvSpPr>
        <p:spPr/>
        <p:txBody>
          <a:bodyPr>
            <a:normAutofit/>
          </a:bodyPr>
          <a:lstStyle/>
          <a:p>
            <a:pPr>
              <a:spcBef>
                <a:spcPts val="500"/>
              </a:spcBef>
            </a:pPr>
            <a:r>
              <a:rPr lang="bg-BG" altLang="en-US" sz="2800" dirty="0" smtClean="0"/>
              <a:t>Рефериране на памет (пример от </a:t>
            </a:r>
            <a:r>
              <a:rPr lang="en-US" altLang="en-US" sz="2800" dirty="0" smtClean="0"/>
              <a:t>C++</a:t>
            </a:r>
            <a:r>
              <a:rPr lang="bg-BG" altLang="en-US" sz="2800" dirty="0" smtClean="0"/>
              <a:t>) </a:t>
            </a:r>
            <a:endParaRPr lang="bg-BG" altLang="en-US" sz="1400" dirty="0" smtClean="0"/>
          </a:p>
        </p:txBody>
      </p:sp>
      <p:pic>
        <p:nvPicPr>
          <p:cNvPr id="5" name="Picture 4"/>
          <p:cNvPicPr/>
          <p:nvPr/>
        </p:nvPicPr>
        <p:blipFill>
          <a:blip r:embed="rId2"/>
          <a:stretch>
            <a:fillRect/>
          </a:stretch>
        </p:blipFill>
        <p:spPr>
          <a:xfrm>
            <a:off x="2436812" y="1622817"/>
            <a:ext cx="9296400" cy="5235184"/>
          </a:xfrm>
          <a:prstGeom prst="rect">
            <a:avLst/>
          </a:prstGeom>
        </p:spPr>
      </p:pic>
    </p:spTree>
    <p:extLst>
      <p:ext uri="{BB962C8B-B14F-4D97-AF65-F5344CB8AC3E}">
        <p14:creationId xmlns:p14="http://schemas.microsoft.com/office/powerpoint/2010/main" val="3755210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bg-BG" altLang="en-US" dirty="0"/>
              <a:t>Система за управление на изпълнението</a:t>
            </a:r>
            <a:endParaRPr lang="en-US" dirty="0"/>
          </a:p>
        </p:txBody>
      </p:sp>
      <p:sp>
        <p:nvSpPr>
          <p:cNvPr id="58371" name="Content Placeholder 2"/>
          <p:cNvSpPr>
            <a:spLocks noGrp="1"/>
          </p:cNvSpPr>
          <p:nvPr>
            <p:ph idx="1"/>
          </p:nvPr>
        </p:nvSpPr>
        <p:spPr/>
        <p:txBody>
          <a:bodyPr vert="horz" lIns="91440" tIns="45720" rIns="91440" bIns="45720" rtlCol="0">
            <a:normAutofit/>
          </a:bodyPr>
          <a:lstStyle/>
          <a:p>
            <a:r>
              <a:rPr lang="bg-BG" altLang="en-US" dirty="0"/>
              <a:t>Основен проблем:</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1552" y="1981200"/>
            <a:ext cx="1836259" cy="442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7552" y="2057400"/>
            <a:ext cx="1836259" cy="442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76232" y="2047875"/>
            <a:ext cx="1980780" cy="442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2648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altLang="en-US" dirty="0" smtClean="0"/>
              <a:t>Система за </a:t>
            </a:r>
            <a:r>
              <a:rPr lang="bg-BG" altLang="en-US" dirty="0"/>
              <a:t>управление на изпълнението</a:t>
            </a:r>
            <a:endParaRPr lang="en-US" dirty="0"/>
          </a:p>
        </p:txBody>
      </p:sp>
      <p:sp>
        <p:nvSpPr>
          <p:cNvPr id="58371" name="Content Placeholder 2"/>
          <p:cNvSpPr>
            <a:spLocks noGrp="1"/>
          </p:cNvSpPr>
          <p:nvPr>
            <p:ph idx="1"/>
          </p:nvPr>
        </p:nvSpPr>
        <p:spPr/>
        <p:txBody>
          <a:bodyPr vert="horz" lIns="91440" tIns="45720" rIns="91440" bIns="45720" rtlCol="0">
            <a:normAutofit/>
          </a:bodyPr>
          <a:lstStyle/>
          <a:p>
            <a:pPr>
              <a:spcBef>
                <a:spcPts val="0"/>
              </a:spcBef>
            </a:pPr>
            <a:r>
              <a:rPr lang="bg-BG" altLang="en-US" sz="2800" dirty="0" smtClean="0"/>
              <a:t>„</a:t>
            </a:r>
            <a:r>
              <a:rPr lang="bg-BG" altLang="en-US" sz="2800" i="1" dirty="0" smtClean="0">
                <a:effectLst>
                  <a:outerShdw blurRad="38100" dist="38100" dir="2700000" algn="tl">
                    <a:srgbClr val="000000">
                      <a:alpha val="43137"/>
                    </a:srgbClr>
                  </a:outerShdw>
                </a:effectLst>
              </a:rPr>
              <a:t>Изтичане на паметта</a:t>
            </a:r>
            <a:r>
              <a:rPr lang="bg-BG" altLang="en-US" sz="2800" dirty="0" smtClean="0"/>
              <a:t>“ при динамично запазване.</a:t>
            </a:r>
          </a:p>
          <a:p>
            <a:pPr lvl="1">
              <a:spcBef>
                <a:spcPts val="0"/>
              </a:spcBef>
            </a:pPr>
            <a:r>
              <a:rPr lang="bg-BG" altLang="en-US" sz="2400" dirty="0" smtClean="0"/>
              <a:t>Англ. </a:t>
            </a:r>
            <a:r>
              <a:rPr lang="en-US" altLang="en-US" sz="2400" dirty="0" smtClean="0"/>
              <a:t>Memory Leaks</a:t>
            </a:r>
          </a:p>
          <a:p>
            <a:pPr>
              <a:spcBef>
                <a:spcPts val="0"/>
              </a:spcBef>
            </a:pPr>
            <a:r>
              <a:rPr lang="bg-BG" altLang="en-US" sz="2800" dirty="0" smtClean="0"/>
              <a:t>Защо?</a:t>
            </a:r>
          </a:p>
          <a:p>
            <a:pPr lvl="1">
              <a:spcBef>
                <a:spcPts val="0"/>
              </a:spcBef>
            </a:pPr>
            <a:r>
              <a:rPr lang="bg-BG" altLang="en-US" sz="2400" dirty="0"/>
              <a:t>Свързаност „</a:t>
            </a:r>
            <a:r>
              <a:rPr lang="en-US" altLang="en-US" sz="2400" dirty="0"/>
              <a:t>Steak-Heap</a:t>
            </a:r>
            <a:r>
              <a:rPr lang="en-US" altLang="en-US" sz="2400" dirty="0" smtClean="0"/>
              <a:t>”</a:t>
            </a:r>
            <a:endParaRPr lang="bg-BG" altLang="en-US" sz="2400" dirty="0" smtClean="0"/>
          </a:p>
          <a:p>
            <a:pPr lvl="2">
              <a:spcBef>
                <a:spcPts val="0"/>
              </a:spcBef>
            </a:pPr>
            <a:r>
              <a:rPr lang="bg-BG" altLang="en-US" sz="2000" dirty="0" smtClean="0"/>
              <a:t>Обект от стека заема динамична памет</a:t>
            </a:r>
            <a:endParaRPr lang="en-US" altLang="en-US" sz="2000" dirty="0"/>
          </a:p>
          <a:p>
            <a:pPr lvl="1">
              <a:spcBef>
                <a:spcPts val="0"/>
              </a:spcBef>
            </a:pPr>
            <a:r>
              <a:rPr lang="ru-RU" altLang="en-US" sz="2400" dirty="0" smtClean="0"/>
              <a:t>Сложност </a:t>
            </a:r>
            <a:r>
              <a:rPr lang="ru-RU" altLang="en-US" sz="2400" dirty="0"/>
              <a:t>на </a:t>
            </a:r>
            <a:r>
              <a:rPr lang="ru-RU" altLang="en-US" sz="2400" dirty="0" smtClean="0"/>
              <a:t>използването</a:t>
            </a:r>
            <a:endParaRPr lang="ru-RU" altLang="en-US" sz="2400" dirty="0"/>
          </a:p>
          <a:p>
            <a:pPr lvl="2">
              <a:spcBef>
                <a:spcPts val="0"/>
              </a:spcBef>
            </a:pPr>
            <a:r>
              <a:rPr lang="ru-RU" altLang="en-US" sz="2000" dirty="0"/>
              <a:t>Ако </a:t>
            </a:r>
            <a:r>
              <a:rPr lang="ru-RU" altLang="en-US" sz="2000" dirty="0" smtClean="0"/>
              <a:t>заделената памет </a:t>
            </a:r>
            <a:r>
              <a:rPr lang="ru-RU" altLang="en-US" sz="2000" dirty="0"/>
              <a:t>се предават </a:t>
            </a:r>
            <a:r>
              <a:rPr lang="ru-RU" altLang="en-US" sz="2000" dirty="0" smtClean="0"/>
              <a:t>в няколко модулите</a:t>
            </a:r>
            <a:r>
              <a:rPr lang="ru-RU" altLang="en-US" sz="2000" dirty="0"/>
              <a:t>, тогава дизайнът на </a:t>
            </a:r>
            <a:r>
              <a:rPr lang="ru-RU" altLang="en-US" sz="2000" dirty="0" smtClean="0"/>
              <a:t>подсистемата за управление на паметта трябва </a:t>
            </a:r>
            <a:r>
              <a:rPr lang="ru-RU" altLang="en-US" sz="2000" dirty="0"/>
              <a:t>да </a:t>
            </a:r>
            <a:r>
              <a:rPr lang="ru-RU" altLang="en-US" sz="2000" dirty="0" smtClean="0"/>
              <a:t>отчете рази възможност.</a:t>
            </a:r>
          </a:p>
          <a:p>
            <a:pPr lvl="2">
              <a:spcBef>
                <a:spcPts val="0"/>
              </a:spcBef>
            </a:pPr>
            <a:r>
              <a:rPr lang="ru-RU" altLang="en-US" sz="2000" dirty="0" smtClean="0"/>
              <a:t>Пример: да не може да се освободи памет, която се използва от някой от модулите.</a:t>
            </a:r>
            <a:endParaRPr lang="ru-RU" altLang="en-US" sz="2000" dirty="0"/>
          </a:p>
          <a:p>
            <a:pPr lvl="1">
              <a:spcBef>
                <a:spcPts val="0"/>
              </a:spcBef>
            </a:pPr>
            <a:r>
              <a:rPr lang="ru-RU" altLang="en-US" sz="2400" dirty="0"/>
              <a:t>Лоша референтна </a:t>
            </a:r>
            <a:r>
              <a:rPr lang="ru-RU" altLang="en-US" sz="2400" dirty="0" smtClean="0"/>
              <a:t>локализация</a:t>
            </a:r>
            <a:endParaRPr lang="ru-RU" altLang="en-US" sz="2400" dirty="0"/>
          </a:p>
          <a:p>
            <a:pPr lvl="2">
              <a:spcBef>
                <a:spcPts val="0"/>
              </a:spcBef>
            </a:pPr>
            <a:r>
              <a:rPr lang="ru-RU" altLang="en-US" sz="2000" dirty="0"/>
              <a:t>Ако мениджърът на паметта постави далеч един от друг блоковете, които програмата ще използва заедно, тогава това ще доведе до проблеми с </a:t>
            </a:r>
            <a:r>
              <a:rPr lang="ru-RU" altLang="en-US" sz="2000" dirty="0" smtClean="0"/>
              <a:t>производителността. Ако блоковоте са последователни, то достъпът </a:t>
            </a:r>
            <a:r>
              <a:rPr lang="ru-RU" altLang="en-US" sz="2000" dirty="0"/>
              <a:t>до паметта </a:t>
            </a:r>
            <a:r>
              <a:rPr lang="ru-RU" altLang="en-US" sz="2000" dirty="0" smtClean="0"/>
              <a:t>е по-бърз, но опасността от клъстеризация е по-висока.</a:t>
            </a:r>
          </a:p>
          <a:p>
            <a:pPr lvl="2">
              <a:spcBef>
                <a:spcPts val="0"/>
              </a:spcBef>
            </a:pPr>
            <a:r>
              <a:rPr lang="ru-RU" altLang="en-US" sz="2000" dirty="0" smtClean="0"/>
              <a:t>англ. </a:t>
            </a:r>
            <a:r>
              <a:rPr lang="en-US" altLang="en-US" sz="2000" dirty="0" smtClean="0"/>
              <a:t>Locality </a:t>
            </a:r>
            <a:r>
              <a:rPr lang="en-US" altLang="en-US" sz="2000" dirty="0"/>
              <a:t>of </a:t>
            </a:r>
            <a:r>
              <a:rPr lang="en-US" altLang="en-US" sz="2000" dirty="0" smtClean="0"/>
              <a:t>reference</a:t>
            </a:r>
            <a:endParaRPr lang="bg-BG" altLang="en-US" sz="2000" dirty="0" smtClean="0"/>
          </a:p>
          <a:p>
            <a:pPr lvl="2">
              <a:spcBef>
                <a:spcPts val="0"/>
              </a:spcBef>
            </a:pPr>
            <a:endParaRPr lang="en-US" altLang="en-US" sz="2000" dirty="0" smtClean="0"/>
          </a:p>
          <a:p>
            <a:pPr>
              <a:spcBef>
                <a:spcPts val="0"/>
              </a:spcBef>
            </a:pPr>
            <a:endParaRPr lang="bg-BG" altLang="en-US" sz="2800" dirty="0"/>
          </a:p>
        </p:txBody>
      </p:sp>
      <p:pic>
        <p:nvPicPr>
          <p:cNvPr id="7" name="Picture 6" descr="http://www.c-sharpcorner.com/UploadFile/rmcochran/csharp_memory01122006130034PM/Images/heapvsstack2.gif"/>
          <p:cNvPicPr/>
          <p:nvPr/>
        </p:nvPicPr>
        <p:blipFill>
          <a:blip r:embed="rId2">
            <a:extLst>
              <a:ext uri="{28A0092B-C50C-407E-A947-70E740481C1C}">
                <a14:useLocalDpi xmlns:a14="http://schemas.microsoft.com/office/drawing/2010/main" val="0"/>
              </a:ext>
            </a:extLst>
          </a:blip>
          <a:srcRect/>
          <a:stretch>
            <a:fillRect/>
          </a:stretch>
        </p:blipFill>
        <p:spPr bwMode="auto">
          <a:xfrm>
            <a:off x="6932612" y="2286000"/>
            <a:ext cx="4850907" cy="4038600"/>
          </a:xfrm>
          <a:prstGeom prst="rect">
            <a:avLst/>
          </a:prstGeom>
          <a:noFill/>
          <a:ln>
            <a:noFill/>
          </a:ln>
        </p:spPr>
      </p:pic>
    </p:spTree>
    <p:extLst>
      <p:ext uri="{BB962C8B-B14F-4D97-AF65-F5344CB8AC3E}">
        <p14:creationId xmlns:p14="http://schemas.microsoft.com/office/powerpoint/2010/main" val="42021800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5837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37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371">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371">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371">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37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1"/>
          <p:cNvSpPr>
            <a:spLocks noGrp="1"/>
          </p:cNvSpPr>
          <p:nvPr>
            <p:ph idx="1"/>
          </p:nvPr>
        </p:nvSpPr>
        <p:spPr/>
        <p:txBody>
          <a:bodyPr>
            <a:noAutofit/>
          </a:bodyPr>
          <a:lstStyle/>
          <a:p>
            <a:pPr>
              <a:lnSpc>
                <a:spcPct val="80000"/>
              </a:lnSpc>
            </a:pPr>
            <a:r>
              <a:rPr lang="bg-BG" altLang="en-US" sz="2600" dirty="0" smtClean="0"/>
              <a:t>То се реализира чрез явни инструкции в кода на програмата, които програмистът слага за да предизвика освобождаване на неизползваните данни</a:t>
            </a:r>
            <a:r>
              <a:rPr lang="en-US" altLang="en-US" sz="2600" dirty="0" smtClean="0"/>
              <a:t>. </a:t>
            </a:r>
            <a:endParaRPr lang="en-US" altLang="en-US" sz="2600" dirty="0"/>
          </a:p>
          <a:p>
            <a:pPr lvl="1">
              <a:lnSpc>
                <a:spcPct val="80000"/>
              </a:lnSpc>
            </a:pPr>
            <a:r>
              <a:rPr lang="bg-BG" altLang="en-US" sz="2200" dirty="0" smtClean="0"/>
              <a:t>Това е много стара техника за управление на паметта, но след </a:t>
            </a:r>
            <a:r>
              <a:rPr lang="en-US" altLang="en-US" sz="2200" dirty="0" smtClean="0"/>
              <a:t>1990</a:t>
            </a:r>
            <a:r>
              <a:rPr lang="bg-BG" altLang="en-US" sz="2200" dirty="0" smtClean="0"/>
              <a:t> г. езиците с автоматично изчистване на паметта стават по-популярни</a:t>
            </a:r>
            <a:r>
              <a:rPr lang="en-US" altLang="en-US" sz="2300" dirty="0" smtClean="0"/>
              <a:t>.</a:t>
            </a:r>
          </a:p>
          <a:p>
            <a:pPr lvl="1">
              <a:lnSpc>
                <a:spcPct val="80000"/>
              </a:lnSpc>
            </a:pPr>
            <a:r>
              <a:rPr lang="bg-BG" altLang="en-US" sz="2300" dirty="0" smtClean="0"/>
              <a:t>Пример: най-добре предимствата и недостатъците на този подход си личат в езиците </a:t>
            </a:r>
            <a:r>
              <a:rPr lang="en-US" altLang="en-US" sz="2300" dirty="0" smtClean="0"/>
              <a:t>C </a:t>
            </a:r>
            <a:r>
              <a:rPr lang="bg-BG" altLang="en-US" sz="2300" dirty="0" smtClean="0"/>
              <a:t>и</a:t>
            </a:r>
            <a:r>
              <a:rPr lang="en-US" altLang="en-US" sz="2300" dirty="0" smtClean="0"/>
              <a:t> </a:t>
            </a:r>
            <a:r>
              <a:rPr lang="en-US" altLang="en-US" sz="2300" dirty="0"/>
              <a:t>C++. </a:t>
            </a:r>
          </a:p>
          <a:p>
            <a:pPr>
              <a:lnSpc>
                <a:spcPct val="80000"/>
              </a:lnSpc>
            </a:pPr>
            <a:r>
              <a:rPr lang="bg-BG" altLang="en-US" sz="2600" dirty="0" smtClean="0"/>
              <a:t>Заемане/освобождаване на памет при ръчно управление</a:t>
            </a:r>
            <a:r>
              <a:rPr lang="en-US" altLang="en-US" sz="2600" dirty="0" smtClean="0"/>
              <a:t>. </a:t>
            </a:r>
          </a:p>
          <a:p>
            <a:pPr lvl="1">
              <a:lnSpc>
                <a:spcPct val="80000"/>
              </a:lnSpc>
            </a:pPr>
            <a:r>
              <a:rPr lang="bg-BG" altLang="en-US" sz="2300" dirty="0" smtClean="0"/>
              <a:t>Заемане: извършва се със специални функции (при </a:t>
            </a:r>
            <a:r>
              <a:rPr lang="en-US" altLang="en-US" sz="2300" dirty="0" smtClean="0"/>
              <a:t>C </a:t>
            </a:r>
            <a:r>
              <a:rPr lang="bg-BG" altLang="en-US" sz="2300" dirty="0" smtClean="0"/>
              <a:t>това са </a:t>
            </a:r>
            <a:r>
              <a:rPr lang="en-US" altLang="en-US" sz="2300" i="1" dirty="0" err="1" smtClean="0"/>
              <a:t>malloc</a:t>
            </a:r>
            <a:r>
              <a:rPr lang="bg-BG" altLang="en-US" sz="2300" i="1" dirty="0" smtClean="0"/>
              <a:t>, </a:t>
            </a:r>
            <a:r>
              <a:rPr lang="en-US" altLang="en-US" sz="2300" i="1" dirty="0" err="1" smtClean="0"/>
              <a:t>calloc</a:t>
            </a:r>
            <a:r>
              <a:rPr lang="en-US" altLang="en-US" sz="2300" i="1" dirty="0" smtClean="0"/>
              <a:t>,…</a:t>
            </a:r>
            <a:r>
              <a:rPr lang="en-US" altLang="en-US" sz="2300" dirty="0" smtClean="0"/>
              <a:t>) </a:t>
            </a:r>
            <a:r>
              <a:rPr lang="bg-BG" altLang="en-US" sz="2300" dirty="0" smtClean="0"/>
              <a:t>или със специален оператор (за </a:t>
            </a:r>
            <a:r>
              <a:rPr lang="en-US" altLang="en-US" sz="2300" dirty="0" smtClean="0"/>
              <a:t>C</a:t>
            </a:r>
            <a:r>
              <a:rPr lang="en-US" altLang="en-US" sz="2300" dirty="0"/>
              <a:t>++ </a:t>
            </a:r>
            <a:r>
              <a:rPr lang="bg-BG" altLang="en-US" sz="2300" dirty="0" smtClean="0"/>
              <a:t>и</a:t>
            </a:r>
            <a:r>
              <a:rPr lang="en-US" altLang="en-US" sz="2300" dirty="0" smtClean="0"/>
              <a:t> </a:t>
            </a:r>
            <a:r>
              <a:rPr lang="en-US" altLang="en-US" sz="2300" dirty="0"/>
              <a:t>Java </a:t>
            </a:r>
            <a:r>
              <a:rPr lang="bg-BG" altLang="en-US" sz="2300" dirty="0" smtClean="0"/>
              <a:t>това е </a:t>
            </a:r>
            <a:r>
              <a:rPr lang="en-US" altLang="en-US" sz="2300" i="1" dirty="0" smtClean="0"/>
              <a:t>new</a:t>
            </a:r>
            <a:r>
              <a:rPr lang="bg-BG" altLang="en-US" sz="2300" i="1" dirty="0" smtClean="0"/>
              <a:t>).</a:t>
            </a:r>
            <a:r>
              <a:rPr lang="en-US" altLang="en-US" sz="2300" dirty="0" smtClean="0"/>
              <a:t> </a:t>
            </a:r>
            <a:endParaRPr lang="bg-BG" altLang="en-US" sz="2300" dirty="0" smtClean="0"/>
          </a:p>
          <a:p>
            <a:pPr lvl="1">
              <a:lnSpc>
                <a:spcPct val="80000"/>
              </a:lnSpc>
            </a:pPr>
            <a:r>
              <a:rPr lang="bg-BG" altLang="en-US" sz="2300" dirty="0" smtClean="0"/>
              <a:t>Освобождаване: </a:t>
            </a:r>
            <a:r>
              <a:rPr lang="bg-BG" altLang="en-US" sz="2300" dirty="0"/>
              <a:t>извършва се със специални функции (при </a:t>
            </a:r>
            <a:r>
              <a:rPr lang="en-US" altLang="en-US" sz="2300" dirty="0"/>
              <a:t>C </a:t>
            </a:r>
            <a:r>
              <a:rPr lang="bg-BG" altLang="en-US" sz="2300" dirty="0"/>
              <a:t>това </a:t>
            </a:r>
            <a:r>
              <a:rPr lang="bg-BG" altLang="en-US" sz="2300" dirty="0" smtClean="0"/>
              <a:t>е </a:t>
            </a:r>
            <a:r>
              <a:rPr lang="en-US" altLang="en-US" sz="2300" i="1" dirty="0" smtClean="0"/>
              <a:t>free</a:t>
            </a:r>
            <a:r>
              <a:rPr lang="bg-BG" altLang="en-US" sz="2300" dirty="0" smtClean="0"/>
              <a:t>)</a:t>
            </a:r>
            <a:r>
              <a:rPr lang="en-US" altLang="en-US" sz="2300" dirty="0" smtClean="0"/>
              <a:t> </a:t>
            </a:r>
            <a:r>
              <a:rPr lang="bg-BG" altLang="en-US" sz="2300" dirty="0" smtClean="0"/>
              <a:t> или </a:t>
            </a:r>
            <a:r>
              <a:rPr lang="bg-BG" altLang="en-US" sz="2300" dirty="0"/>
              <a:t>със специален оператор (за </a:t>
            </a:r>
            <a:r>
              <a:rPr lang="en-US" altLang="en-US" sz="2300" dirty="0"/>
              <a:t>C++ </a:t>
            </a:r>
            <a:r>
              <a:rPr lang="bg-BG" altLang="en-US" sz="2300" dirty="0"/>
              <a:t>това е </a:t>
            </a:r>
            <a:r>
              <a:rPr lang="en-US" altLang="en-US" sz="2300" i="1" dirty="0" smtClean="0"/>
              <a:t>delete</a:t>
            </a:r>
            <a:r>
              <a:rPr lang="bg-BG" altLang="en-US" sz="2300" dirty="0" smtClean="0"/>
              <a:t>).</a:t>
            </a:r>
            <a:r>
              <a:rPr lang="en-US" altLang="en-US" sz="2300" i="1" dirty="0" smtClean="0"/>
              <a:t> </a:t>
            </a:r>
            <a:endParaRPr lang="bg-BG" altLang="en-US" sz="2300" i="1" dirty="0" smtClean="0"/>
          </a:p>
          <a:p>
            <a:pPr lvl="1">
              <a:lnSpc>
                <a:spcPct val="80000"/>
              </a:lnSpc>
            </a:pPr>
            <a:r>
              <a:rPr lang="bg-BG" altLang="en-US" sz="2300" i="1" dirty="0" smtClean="0"/>
              <a:t>Внимание !</a:t>
            </a:r>
            <a:r>
              <a:rPr lang="bg-BG" altLang="en-US" sz="2300" dirty="0" smtClean="0"/>
              <a:t>  Това, че е поискано създаване на динамични данни не означава, че те ще бъдат създадени, т.е. трябва да се следи дали наистина са създадени.</a:t>
            </a:r>
            <a:endParaRPr lang="en-US" altLang="en-US" sz="2300" dirty="0"/>
          </a:p>
        </p:txBody>
      </p:sp>
      <p:sp>
        <p:nvSpPr>
          <p:cNvPr id="60419" name="Title 2"/>
          <p:cNvSpPr>
            <a:spLocks noGrp="1"/>
          </p:cNvSpPr>
          <p:nvPr>
            <p:ph type="title"/>
          </p:nvPr>
        </p:nvSpPr>
        <p:spPr/>
        <p:txBody>
          <a:bodyPr/>
          <a:lstStyle/>
          <a:p>
            <a:pPr>
              <a:defRPr/>
            </a:pPr>
            <a:r>
              <a:rPr lang="bg-BG" dirty="0" smtClean="0"/>
              <a:t>Ръчно управление на паметта</a:t>
            </a:r>
            <a:endParaRPr lang="en-US" b="1" dirty="0" smtClean="0"/>
          </a:p>
        </p:txBody>
      </p:sp>
    </p:spTree>
    <p:extLst>
      <p:ext uri="{BB962C8B-B14F-4D97-AF65-F5344CB8AC3E}">
        <p14:creationId xmlns:p14="http://schemas.microsoft.com/office/powerpoint/2010/main" val="3386499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1"/>
          <p:cNvSpPr>
            <a:spLocks noGrp="1"/>
          </p:cNvSpPr>
          <p:nvPr>
            <p:ph idx="1"/>
          </p:nvPr>
        </p:nvSpPr>
        <p:spPr>
          <a:xfrm>
            <a:off x="908662" y="1143000"/>
            <a:ext cx="10900750" cy="5562600"/>
          </a:xfrm>
        </p:spPr>
        <p:txBody>
          <a:bodyPr>
            <a:noAutofit/>
          </a:bodyPr>
          <a:lstStyle/>
          <a:p>
            <a:pPr>
              <a:lnSpc>
                <a:spcPct val="80000"/>
              </a:lnSpc>
              <a:spcBef>
                <a:spcPts val="300"/>
              </a:spcBef>
            </a:pPr>
            <a:r>
              <a:rPr lang="bg-BG" altLang="en-US" sz="2800" dirty="0" smtClean="0"/>
              <a:t>Ръчно управление на паметта създава предпоставки за поява на няколко добре известни вида дефекти: </a:t>
            </a:r>
          </a:p>
          <a:p>
            <a:pPr lvl="1">
              <a:lnSpc>
                <a:spcPct val="80000"/>
              </a:lnSpc>
              <a:spcBef>
                <a:spcPts val="300"/>
              </a:spcBef>
            </a:pPr>
            <a:r>
              <a:rPr lang="bg-BG" altLang="en-US" sz="2400" dirty="0" smtClean="0"/>
              <a:t>„Изтичане на памет“ – когато неизползван елемент не се освобождава и това води до постепенно намаляване на обема на паметта за данни, използвана от програмата. </a:t>
            </a:r>
          </a:p>
          <a:p>
            <a:pPr lvl="1">
              <a:lnSpc>
                <a:spcPct val="80000"/>
              </a:lnSpc>
              <a:spcBef>
                <a:spcPts val="300"/>
              </a:spcBef>
            </a:pPr>
            <a:r>
              <a:rPr lang="bg-BG" altLang="en-US" sz="2400" dirty="0" smtClean="0"/>
              <a:t>Освобождаването на паметта автоматично не „де-реферира“ съответния указател към тази памет, т.е. има възможност той да продължи да се използва, включително и да се повтори процеса на освобождаване на паметта. </a:t>
            </a:r>
          </a:p>
          <a:p>
            <a:pPr lvl="2">
              <a:lnSpc>
                <a:spcPct val="80000"/>
              </a:lnSpc>
              <a:spcBef>
                <a:spcPts val="300"/>
              </a:spcBef>
            </a:pPr>
            <a:r>
              <a:rPr lang="bg-BG" altLang="en-US" sz="2000" dirty="0" smtClean="0"/>
              <a:t>Ако се използва като достъп до данни, то има работа с невалидни данни. </a:t>
            </a:r>
          </a:p>
          <a:p>
            <a:pPr lvl="2">
              <a:lnSpc>
                <a:spcPct val="80000"/>
              </a:lnSpc>
              <a:spcBef>
                <a:spcPts val="300"/>
              </a:spcBef>
            </a:pPr>
            <a:r>
              <a:rPr lang="bg-BG" altLang="en-US" sz="2000" dirty="0" smtClean="0"/>
              <a:t>Ако се извърши повторно освобождаване, то може да се унищожи целия </a:t>
            </a:r>
            <a:r>
              <a:rPr lang="bg-BG" altLang="en-US" sz="2000" dirty="0" err="1" smtClean="0"/>
              <a:t>хийп</a:t>
            </a:r>
            <a:r>
              <a:rPr lang="bg-BG" altLang="en-US" sz="2000" dirty="0" smtClean="0"/>
              <a:t>.</a:t>
            </a:r>
          </a:p>
          <a:p>
            <a:pPr lvl="1">
              <a:lnSpc>
                <a:spcPct val="80000"/>
              </a:lnSpc>
              <a:spcBef>
                <a:spcPts val="300"/>
              </a:spcBef>
            </a:pPr>
            <a:r>
              <a:rPr lang="bg-BG" altLang="en-US" sz="2400" dirty="0" smtClean="0"/>
              <a:t>За подобряване на резултатите в някои езици се добавя възможност за автоматизирано освобождаване на ресурса при стартиране на дескриптора.</a:t>
            </a:r>
          </a:p>
          <a:p>
            <a:pPr lvl="2">
              <a:lnSpc>
                <a:spcPct val="80000"/>
              </a:lnSpc>
              <a:spcBef>
                <a:spcPts val="300"/>
              </a:spcBef>
            </a:pPr>
            <a:r>
              <a:rPr lang="bg-BG" altLang="en-US" sz="2000" dirty="0" smtClean="0"/>
              <a:t>Пример:</a:t>
            </a:r>
            <a:r>
              <a:rPr lang="en-US" altLang="en-US" sz="2000" dirty="0" smtClean="0"/>
              <a:t> </a:t>
            </a:r>
            <a:r>
              <a:rPr lang="bg-BG" altLang="en-US" sz="2000" dirty="0" smtClean="0"/>
              <a:t>в </a:t>
            </a:r>
            <a:r>
              <a:rPr lang="en-US" altLang="en-US" sz="2000" dirty="0" smtClean="0"/>
              <a:t>C++</a:t>
            </a:r>
            <a:r>
              <a:rPr lang="bg-BG" altLang="en-US" sz="2000" dirty="0" smtClean="0"/>
              <a:t> това се реализира с </a:t>
            </a:r>
            <a:r>
              <a:rPr lang="en-US" altLang="en-US" sz="2000" dirty="0" smtClean="0"/>
              <a:t>STL</a:t>
            </a:r>
            <a:r>
              <a:rPr lang="bg-BG" altLang="en-US" sz="2000" dirty="0" smtClean="0"/>
              <a:t>-шаблона </a:t>
            </a:r>
            <a:r>
              <a:rPr lang="en-US" altLang="en-US" sz="2000" i="1" dirty="0" err="1" smtClean="0"/>
              <a:t>auto_ptr</a:t>
            </a:r>
            <a:r>
              <a:rPr lang="bg-BG" altLang="en-US" sz="2000" dirty="0" smtClean="0"/>
              <a:t>.</a:t>
            </a:r>
          </a:p>
          <a:p>
            <a:pPr>
              <a:lnSpc>
                <a:spcPct val="80000"/>
              </a:lnSpc>
              <a:spcBef>
                <a:spcPts val="300"/>
              </a:spcBef>
            </a:pPr>
            <a:r>
              <a:rPr lang="bg-BG" altLang="en-US" sz="2800" dirty="0"/>
              <a:t>Основното предимство </a:t>
            </a:r>
            <a:r>
              <a:rPr lang="bg-BG" altLang="en-US" sz="2800" dirty="0" smtClean="0"/>
              <a:t>е по-бързото освобождаване на ресурса и точното време за това действие – процесът е предсказуем, защото се управлява директно от програмиста.</a:t>
            </a:r>
            <a:endParaRPr lang="bg-BG" altLang="en-US" sz="2800" dirty="0"/>
          </a:p>
        </p:txBody>
      </p:sp>
      <p:sp>
        <p:nvSpPr>
          <p:cNvPr id="61443" name="Title 2"/>
          <p:cNvSpPr>
            <a:spLocks noGrp="1"/>
          </p:cNvSpPr>
          <p:nvPr>
            <p:ph type="title"/>
          </p:nvPr>
        </p:nvSpPr>
        <p:spPr/>
        <p:txBody>
          <a:bodyPr/>
          <a:lstStyle/>
          <a:p>
            <a:pPr>
              <a:defRPr/>
            </a:pPr>
            <a:r>
              <a:rPr lang="bg-BG" dirty="0"/>
              <a:t>Ръчно управление на паметта</a:t>
            </a:r>
            <a:endParaRPr lang="en-US" dirty="0" smtClean="0"/>
          </a:p>
        </p:txBody>
      </p:sp>
    </p:spTree>
    <p:extLst>
      <p:ext uri="{BB962C8B-B14F-4D97-AF65-F5344CB8AC3E}">
        <p14:creationId xmlns:p14="http://schemas.microsoft.com/office/powerpoint/2010/main" val="41852875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Автоматично управление на паметта</a:t>
            </a:r>
            <a:endParaRPr lang="bg-BG" dirty="0"/>
          </a:p>
        </p:txBody>
      </p:sp>
      <p:sp>
        <p:nvSpPr>
          <p:cNvPr id="3" name="Content Placeholder 2"/>
          <p:cNvSpPr>
            <a:spLocks noGrp="1"/>
          </p:cNvSpPr>
          <p:nvPr>
            <p:ph idx="1"/>
          </p:nvPr>
        </p:nvSpPr>
        <p:spPr>
          <a:xfrm>
            <a:off x="908662" y="1143000"/>
            <a:ext cx="10900750" cy="5562600"/>
          </a:xfrm>
        </p:spPr>
        <p:txBody>
          <a:bodyPr>
            <a:normAutofit fontScale="92500" lnSpcReduction="10000"/>
          </a:bodyPr>
          <a:lstStyle/>
          <a:p>
            <a:r>
              <a:rPr lang="ru-RU" dirty="0"/>
              <a:t>Автоматичното управление на паметта е услуга, като част от езика или като </a:t>
            </a:r>
            <a:r>
              <a:rPr lang="ru-RU" dirty="0" smtClean="0"/>
              <a:t>разширение чрез библиотека, </a:t>
            </a:r>
            <a:r>
              <a:rPr lang="ru-RU" dirty="0"/>
              <a:t>която автоматично рециклира памет, която </a:t>
            </a:r>
            <a:r>
              <a:rPr lang="ru-RU" dirty="0" smtClean="0"/>
              <a:t>процесът освободил и използвал за други нужди.</a:t>
            </a:r>
            <a:endParaRPr lang="ru-RU" dirty="0"/>
          </a:p>
          <a:p>
            <a:pPr lvl="1"/>
            <a:r>
              <a:rPr lang="ru-RU" dirty="0" smtClean="0"/>
              <a:t>Целта на тези процедури е основно насочена към рециклиране на блокове от паметта, </a:t>
            </a:r>
            <a:r>
              <a:rPr lang="ru-RU" dirty="0"/>
              <a:t>които са недостъпни от </a:t>
            </a:r>
            <a:r>
              <a:rPr lang="ru-RU" dirty="0" smtClean="0"/>
              <a:t>програмния код.</a:t>
            </a:r>
            <a:endParaRPr lang="ru-RU" dirty="0"/>
          </a:p>
          <a:p>
            <a:pPr lvl="2"/>
            <a:r>
              <a:rPr lang="ru-RU" dirty="0" smtClean="0"/>
              <a:t>Това са блокове</a:t>
            </a:r>
            <a:r>
              <a:rPr lang="ru-RU" dirty="0"/>
              <a:t>, които не могат да бъдат достигнати чрез следване на </a:t>
            </a:r>
            <a:r>
              <a:rPr lang="ru-RU" dirty="0" smtClean="0"/>
              <a:t>указатели или референции (англ. </a:t>
            </a:r>
            <a:r>
              <a:rPr lang="en-US" dirty="0" smtClean="0"/>
              <a:t>Reference)</a:t>
            </a:r>
            <a:r>
              <a:rPr lang="ru-RU" dirty="0" smtClean="0"/>
              <a:t>.</a:t>
            </a:r>
            <a:endParaRPr lang="ru-RU" dirty="0"/>
          </a:p>
          <a:p>
            <a:pPr lvl="1"/>
            <a:r>
              <a:rPr lang="ru-RU" dirty="0"/>
              <a:t>Има много </a:t>
            </a:r>
            <a:r>
              <a:rPr lang="ru-RU" dirty="0" smtClean="0"/>
              <a:t>подходи за да се определи кая «заета» памет </a:t>
            </a:r>
            <a:r>
              <a:rPr lang="ru-RU" dirty="0"/>
              <a:t>вече не е необходима: </a:t>
            </a:r>
            <a:endParaRPr lang="ru-RU" dirty="0" smtClean="0"/>
          </a:p>
          <a:p>
            <a:pPr lvl="2"/>
            <a:r>
              <a:rPr lang="ru-RU" dirty="0" smtClean="0"/>
              <a:t>Разчита </a:t>
            </a:r>
            <a:r>
              <a:rPr lang="ru-RU" dirty="0"/>
              <a:t>се на определяне кои блокове не са посочени от програмни променливи.</a:t>
            </a:r>
          </a:p>
          <a:p>
            <a:pPr lvl="2"/>
            <a:r>
              <a:rPr lang="ru-RU" dirty="0"/>
              <a:t>Има много потенциални капани и много възможни усъвършенствания.</a:t>
            </a:r>
          </a:p>
          <a:p>
            <a:pPr lvl="2"/>
            <a:r>
              <a:rPr lang="ru-RU" dirty="0"/>
              <a:t>Някои техники често могат да се използват в комбинация.</a:t>
            </a:r>
            <a:endParaRPr lang="bg-BG" dirty="0"/>
          </a:p>
        </p:txBody>
      </p:sp>
    </p:spTree>
    <p:extLst>
      <p:ext uri="{BB962C8B-B14F-4D97-AF65-F5344CB8AC3E}">
        <p14:creationId xmlns:p14="http://schemas.microsoft.com/office/powerpoint/2010/main" val="402746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p:cNvSpPr>
            <a:spLocks noGrp="1"/>
          </p:cNvSpPr>
          <p:nvPr>
            <p:ph idx="1"/>
          </p:nvPr>
        </p:nvSpPr>
        <p:spPr>
          <a:xfrm>
            <a:off x="908662" y="1143000"/>
            <a:ext cx="10900750" cy="5562600"/>
          </a:xfrm>
        </p:spPr>
        <p:txBody>
          <a:bodyPr>
            <a:normAutofit/>
          </a:bodyPr>
          <a:lstStyle/>
          <a:p>
            <a:r>
              <a:rPr lang="ru-RU" altLang="en-US" dirty="0"/>
              <a:t>Основните групи техники за управление на паметта:</a:t>
            </a:r>
          </a:p>
          <a:p>
            <a:pPr lvl="1"/>
            <a:r>
              <a:rPr lang="ru-RU" altLang="en-US" dirty="0"/>
              <a:t>Първата група техники </a:t>
            </a:r>
            <a:r>
              <a:rPr lang="ru-RU" altLang="en-US" dirty="0" smtClean="0"/>
              <a:t>проследяват указателите </a:t>
            </a:r>
            <a:r>
              <a:rPr lang="ru-RU" altLang="en-US" dirty="0"/>
              <a:t>за да </a:t>
            </a:r>
            <a:r>
              <a:rPr lang="ru-RU" altLang="en-US" dirty="0" smtClean="0"/>
              <a:t>определят </a:t>
            </a:r>
            <a:r>
              <a:rPr lang="ru-RU" altLang="en-US" dirty="0"/>
              <a:t>кои блокове от паметта са достъпни от програмни променливи (известни като </a:t>
            </a:r>
            <a:r>
              <a:rPr lang="ru-RU" altLang="en-US" dirty="0" smtClean="0"/>
              <a:t>«</a:t>
            </a:r>
            <a:r>
              <a:rPr lang="en-US" altLang="en-US" dirty="0" smtClean="0"/>
              <a:t>root set</a:t>
            </a:r>
            <a:r>
              <a:rPr lang="ru-RU" altLang="en-US" dirty="0" smtClean="0"/>
              <a:t>»). Това са т.нар «колектори </a:t>
            </a:r>
            <a:r>
              <a:rPr lang="ru-RU" altLang="en-US" dirty="0"/>
              <a:t>за </a:t>
            </a:r>
            <a:r>
              <a:rPr lang="ru-RU" altLang="en-US" dirty="0" smtClean="0"/>
              <a:t>проследяване»</a:t>
            </a:r>
            <a:r>
              <a:rPr lang="en-US" altLang="en-US" dirty="0"/>
              <a:t> </a:t>
            </a:r>
            <a:r>
              <a:rPr lang="bg-BG" altLang="en-US" dirty="0"/>
              <a:t>(</a:t>
            </a:r>
            <a:r>
              <a:rPr lang="bg-BG" altLang="en-US" dirty="0" smtClean="0"/>
              <a:t>англ. </a:t>
            </a:r>
            <a:r>
              <a:rPr lang="en-US" altLang="en-US" dirty="0" smtClean="0"/>
              <a:t>tracing collectors</a:t>
            </a:r>
            <a:r>
              <a:rPr lang="bg-BG" altLang="en-US" dirty="0" smtClean="0"/>
              <a:t>)</a:t>
            </a:r>
            <a:r>
              <a:rPr lang="ru-RU" altLang="en-US" dirty="0" smtClean="0"/>
              <a:t>.</a:t>
            </a:r>
            <a:endParaRPr lang="bg-BG" altLang="en-US" dirty="0" smtClean="0"/>
          </a:p>
          <a:p>
            <a:pPr lvl="2"/>
            <a:r>
              <a:rPr lang="bg-BG" dirty="0" smtClean="0"/>
              <a:t>Основни типове</a:t>
            </a:r>
            <a:r>
              <a:rPr lang="en-US" dirty="0" smtClean="0"/>
              <a:t>: </a:t>
            </a:r>
            <a:r>
              <a:rPr lang="en-US" dirty="0"/>
              <a:t>Mark-and-sweep collectors, Stop-and-Copy collectors, Incremental collectors, and Conservative collectors</a:t>
            </a:r>
          </a:p>
          <a:p>
            <a:pPr lvl="1"/>
            <a:r>
              <a:rPr lang="ru-RU" altLang="en-US" dirty="0" smtClean="0"/>
              <a:t>Втората група техники не разчитат на проследяване, а използват т.нар. «броячи на препратки» (англ. </a:t>
            </a:r>
            <a:r>
              <a:rPr lang="en-US" altLang="en-US" dirty="0" smtClean="0"/>
              <a:t>reference </a:t>
            </a:r>
            <a:r>
              <a:rPr lang="en-US" altLang="en-US" dirty="0"/>
              <a:t>counting</a:t>
            </a:r>
            <a:r>
              <a:rPr lang="ru-RU" altLang="en-US" dirty="0" smtClean="0"/>
              <a:t>).</a:t>
            </a:r>
          </a:p>
          <a:p>
            <a:pPr lvl="2"/>
            <a:r>
              <a:rPr lang="ru-RU" altLang="en-US" dirty="0"/>
              <a:t>Броят на препратките (т.е. </a:t>
            </a:r>
            <a:r>
              <a:rPr lang="ru-RU" altLang="en-US" dirty="0" smtClean="0"/>
              <a:t>указатели и референции) се определя като броят </a:t>
            </a:r>
            <a:r>
              <a:rPr lang="ru-RU" altLang="en-US" dirty="0"/>
              <a:t>на </a:t>
            </a:r>
            <a:r>
              <a:rPr lang="ru-RU" altLang="en-US" dirty="0" smtClean="0"/>
              <a:t>свързванията от други блокове към конкретен блок в паметта.</a:t>
            </a:r>
            <a:endParaRPr lang="en-US" altLang="en-US" dirty="0"/>
          </a:p>
          <a:p>
            <a:pPr lvl="2"/>
            <a:r>
              <a:rPr lang="bg-BG" dirty="0"/>
              <a:t>Основни </a:t>
            </a:r>
            <a:r>
              <a:rPr lang="bg-BG" dirty="0" smtClean="0"/>
              <a:t>типове</a:t>
            </a:r>
            <a:r>
              <a:rPr lang="en-US" altLang="en-US" dirty="0" smtClean="0"/>
              <a:t>: </a:t>
            </a:r>
            <a:r>
              <a:rPr lang="en-US" altLang="en-US" dirty="0"/>
              <a:t>Simple, Deferred, One-bit, and Weighted. </a:t>
            </a:r>
          </a:p>
          <a:p>
            <a:pPr>
              <a:spcBef>
                <a:spcPts val="300"/>
              </a:spcBef>
            </a:pPr>
            <a:endParaRPr lang="bg-BG" altLang="en-US" sz="2000" dirty="0" smtClean="0"/>
          </a:p>
        </p:txBody>
      </p:sp>
      <p:sp>
        <p:nvSpPr>
          <p:cNvPr id="49155" name="Title 2"/>
          <p:cNvSpPr>
            <a:spLocks noGrp="1"/>
          </p:cNvSpPr>
          <p:nvPr>
            <p:ph type="title"/>
          </p:nvPr>
        </p:nvSpPr>
        <p:spPr/>
        <p:txBody>
          <a:bodyPr/>
          <a:lstStyle/>
          <a:p>
            <a:pPr>
              <a:defRPr/>
            </a:pPr>
            <a:r>
              <a:rPr lang="bg-BG" dirty="0"/>
              <a:t>Автоматично управление на паметта</a:t>
            </a:r>
            <a:endParaRPr lang="en-US" b="1" dirty="0" smtClean="0"/>
          </a:p>
        </p:txBody>
      </p:sp>
    </p:spTree>
    <p:extLst>
      <p:ext uri="{BB962C8B-B14F-4D97-AF65-F5344CB8AC3E}">
        <p14:creationId xmlns:p14="http://schemas.microsoft.com/office/powerpoint/2010/main" val="16582437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p:cNvSpPr>
            <a:spLocks noGrp="1"/>
          </p:cNvSpPr>
          <p:nvPr>
            <p:ph idx="1"/>
          </p:nvPr>
        </p:nvSpPr>
        <p:spPr>
          <a:xfrm>
            <a:off x="908662" y="1143000"/>
            <a:ext cx="10900750" cy="5562600"/>
          </a:xfrm>
        </p:spPr>
        <p:txBody>
          <a:bodyPr>
            <a:normAutofit/>
          </a:bodyPr>
          <a:lstStyle/>
          <a:p>
            <a:r>
              <a:rPr lang="ru-RU" altLang="en-US" dirty="0"/>
              <a:t>Други видове класификации:</a:t>
            </a:r>
          </a:p>
          <a:p>
            <a:pPr lvl="1"/>
            <a:r>
              <a:rPr lang="en-US" altLang="en-US" dirty="0"/>
              <a:t>Incremental vs Stop-the-world</a:t>
            </a:r>
            <a:r>
              <a:rPr lang="ru-RU" altLang="en-US" dirty="0" smtClean="0"/>
              <a:t>:</a:t>
            </a:r>
            <a:endParaRPr lang="ru-RU" altLang="en-US" dirty="0"/>
          </a:p>
          <a:p>
            <a:pPr lvl="2"/>
            <a:r>
              <a:rPr lang="ru-RU" altLang="en-US" dirty="0"/>
              <a:t>Инкрементален колектор е този, който работи едновременно с програмата.</a:t>
            </a:r>
          </a:p>
          <a:p>
            <a:pPr lvl="2"/>
            <a:r>
              <a:rPr lang="ru-RU" altLang="en-US" dirty="0" smtClean="0"/>
              <a:t>«</a:t>
            </a:r>
            <a:r>
              <a:rPr lang="en-US" altLang="en-US" dirty="0" smtClean="0"/>
              <a:t>Stop-the-world</a:t>
            </a:r>
            <a:r>
              <a:rPr lang="ru-RU" altLang="en-US" dirty="0"/>
              <a:t>»</a:t>
            </a:r>
            <a:r>
              <a:rPr lang="bg-BG" altLang="en-US" dirty="0" smtClean="0"/>
              <a:t> к</a:t>
            </a:r>
            <a:r>
              <a:rPr lang="ru-RU" altLang="en-US" dirty="0" smtClean="0"/>
              <a:t>олекторът спира </a:t>
            </a:r>
            <a:r>
              <a:rPr lang="ru-RU" altLang="en-US" dirty="0"/>
              <a:t>изпълнението на </a:t>
            </a:r>
            <a:r>
              <a:rPr lang="ru-RU" altLang="en-US" dirty="0" smtClean="0"/>
              <a:t>програмата </a:t>
            </a:r>
            <a:r>
              <a:rPr lang="ru-RU" altLang="en-US" dirty="0"/>
              <a:t>за да търси </a:t>
            </a:r>
            <a:r>
              <a:rPr lang="ru-RU" altLang="en-US" dirty="0" smtClean="0"/>
              <a:t>«боклук».</a:t>
            </a:r>
            <a:endParaRPr lang="ru-RU" altLang="en-US" dirty="0"/>
          </a:p>
          <a:p>
            <a:pPr lvl="1"/>
            <a:r>
              <a:rPr lang="ru-RU" altLang="en-US" dirty="0" smtClean="0"/>
              <a:t>Със и без сгъстяване (уплътняване на паметта) :</a:t>
            </a:r>
            <a:endParaRPr lang="ru-RU" altLang="en-US" dirty="0"/>
          </a:p>
          <a:p>
            <a:pPr lvl="2"/>
            <a:r>
              <a:rPr lang="ru-RU" altLang="en-US" dirty="0" smtClean="0"/>
              <a:t>При сгъстяване, колектор </a:t>
            </a:r>
            <a:r>
              <a:rPr lang="ru-RU" altLang="en-US" dirty="0"/>
              <a:t>е </a:t>
            </a:r>
            <a:r>
              <a:rPr lang="ru-RU" altLang="en-US" dirty="0" smtClean="0"/>
              <a:t>премества </a:t>
            </a:r>
            <a:r>
              <a:rPr lang="ru-RU" altLang="en-US" dirty="0"/>
              <a:t>обекти в </a:t>
            </a:r>
            <a:r>
              <a:rPr lang="ru-RU" altLang="en-US" dirty="0" smtClean="0"/>
              <a:t>паметта за да «уплътни» използваното пространство.</a:t>
            </a:r>
            <a:endParaRPr lang="ru-RU" altLang="en-US" dirty="0"/>
          </a:p>
          <a:p>
            <a:pPr lvl="2"/>
            <a:r>
              <a:rPr lang="ru-RU" altLang="en-US" dirty="0"/>
              <a:t>Неуплътняващ колектор е този, който оставя всички обекти там, където са възникнали.</a:t>
            </a:r>
            <a:endParaRPr lang="bg-BG" altLang="en-US" sz="1200" dirty="0" smtClean="0"/>
          </a:p>
        </p:txBody>
      </p:sp>
      <p:sp>
        <p:nvSpPr>
          <p:cNvPr id="49155" name="Title 2"/>
          <p:cNvSpPr>
            <a:spLocks noGrp="1"/>
          </p:cNvSpPr>
          <p:nvPr>
            <p:ph type="title"/>
          </p:nvPr>
        </p:nvSpPr>
        <p:spPr/>
        <p:txBody>
          <a:bodyPr/>
          <a:lstStyle/>
          <a:p>
            <a:pPr>
              <a:defRPr/>
            </a:pPr>
            <a:r>
              <a:rPr lang="bg-BG" dirty="0"/>
              <a:t>Автоматично управление на паметта</a:t>
            </a:r>
            <a:endParaRPr lang="en-US" b="1" dirty="0" smtClean="0"/>
          </a:p>
        </p:txBody>
      </p:sp>
    </p:spTree>
    <p:extLst>
      <p:ext uri="{BB962C8B-B14F-4D97-AF65-F5344CB8AC3E}">
        <p14:creationId xmlns:p14="http://schemas.microsoft.com/office/powerpoint/2010/main" val="514741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p:cNvSpPr>
            <a:spLocks noGrp="1"/>
          </p:cNvSpPr>
          <p:nvPr>
            <p:ph idx="1"/>
          </p:nvPr>
        </p:nvSpPr>
        <p:spPr>
          <a:xfrm>
            <a:off x="908662" y="1143000"/>
            <a:ext cx="10900750" cy="5562600"/>
          </a:xfrm>
        </p:spPr>
        <p:txBody>
          <a:bodyPr>
            <a:normAutofit lnSpcReduction="10000"/>
          </a:bodyPr>
          <a:lstStyle/>
          <a:p>
            <a:pPr>
              <a:spcBef>
                <a:spcPts val="300"/>
              </a:spcBef>
            </a:pPr>
            <a:r>
              <a:rPr lang="bg-BG" altLang="en-US" sz="2800" dirty="0" smtClean="0"/>
              <a:t>Този метод за управление на паметта спада към групата на </a:t>
            </a:r>
            <a:r>
              <a:rPr lang="bg-BG" altLang="en-US" sz="2800" dirty="0" smtClean="0">
                <a:effectLst>
                  <a:outerShdw blurRad="38100" dist="38100" dir="2700000" algn="tl">
                    <a:srgbClr val="000000">
                      <a:alpha val="43137"/>
                    </a:srgbClr>
                  </a:outerShdw>
                </a:effectLst>
              </a:rPr>
              <a:t>автоматичните методи</a:t>
            </a:r>
            <a:r>
              <a:rPr lang="bg-BG" altLang="en-US" sz="2800" dirty="0" smtClean="0"/>
              <a:t>. </a:t>
            </a:r>
          </a:p>
          <a:p>
            <a:pPr lvl="1">
              <a:spcBef>
                <a:spcPts val="300"/>
              </a:spcBef>
            </a:pPr>
            <a:r>
              <a:rPr lang="bg-BG" altLang="en-US" sz="2400" dirty="0" smtClean="0"/>
              <a:t>Предложен е за първи път от John McCarthy (1959) за създаване на списъчните структури с променлив размер в езика LISP. </a:t>
            </a:r>
          </a:p>
          <a:p>
            <a:pPr lvl="1">
              <a:spcBef>
                <a:spcPts val="300"/>
              </a:spcBef>
            </a:pPr>
            <a:r>
              <a:rPr lang="bg-BG" altLang="en-US" sz="2400" dirty="0" smtClean="0"/>
              <a:t>Това е вариант на управление на </a:t>
            </a:r>
            <a:r>
              <a:rPr lang="bg-BG" altLang="en-US" sz="2400" dirty="0" smtClean="0">
                <a:effectLst>
                  <a:outerShdw blurRad="38100" dist="38100" dir="2700000" algn="tl">
                    <a:srgbClr val="000000">
                      <a:alpha val="43137"/>
                    </a:srgbClr>
                  </a:outerShdw>
                </a:effectLst>
              </a:rPr>
              <a:t>ограничен ресурс</a:t>
            </a:r>
            <a:r>
              <a:rPr lang="bg-BG" altLang="en-US" sz="2400" dirty="0" smtClean="0"/>
              <a:t>, който в случая е оперативната памет (</a:t>
            </a:r>
            <a:r>
              <a:rPr lang="bg-BG" altLang="en-US" sz="2400" dirty="0" smtClean="0">
                <a:effectLst>
                  <a:outerShdw blurRad="38100" dist="38100" dir="2700000" algn="tl">
                    <a:srgbClr val="000000">
                      <a:alpha val="43137"/>
                    </a:srgbClr>
                  </a:outerShdw>
                </a:effectLst>
              </a:rPr>
              <a:t>RAM</a:t>
            </a:r>
            <a:r>
              <a:rPr lang="bg-BG" altLang="en-US" sz="2400" dirty="0" smtClean="0"/>
              <a:t>) на компютъра. </a:t>
            </a:r>
          </a:p>
          <a:p>
            <a:pPr>
              <a:spcBef>
                <a:spcPts val="300"/>
              </a:spcBef>
            </a:pPr>
            <a:r>
              <a:rPr lang="bg-BG" altLang="en-US" sz="2800" dirty="0" smtClean="0"/>
              <a:t>Името на метода идва от желанието да се изчисти паметта от ненужни и неизползваеми елементи (те се явяват “боклук” за компютъра). </a:t>
            </a:r>
          </a:p>
          <a:p>
            <a:pPr lvl="1">
              <a:spcBef>
                <a:spcPts val="300"/>
              </a:spcBef>
            </a:pPr>
            <a:r>
              <a:rPr lang="bg-BG" altLang="en-US" sz="2400" dirty="0" smtClean="0"/>
              <a:t>Терминът има много по-широк смисъл и се отнася до метод за многократно повторно използване на паметта за различни елементи във времето - паметта се заема, след което методът я възстановява за повторна употреба.</a:t>
            </a:r>
          </a:p>
          <a:p>
            <a:pPr lvl="1">
              <a:spcBef>
                <a:spcPts val="300"/>
              </a:spcBef>
            </a:pPr>
            <a:r>
              <a:rPr lang="bg-BG" altLang="en-US" sz="2400" dirty="0">
                <a:effectLst>
                  <a:outerShdw blurRad="38100" dist="38100" dir="2700000" algn="tl">
                    <a:srgbClr val="000000">
                      <a:alpha val="43137"/>
                    </a:srgbClr>
                  </a:outerShdw>
                </a:effectLst>
              </a:rPr>
              <a:t>Не се </a:t>
            </a:r>
            <a:r>
              <a:rPr lang="bg-BG" altLang="en-US" sz="2400" dirty="0" smtClean="0">
                <a:effectLst>
                  <a:outerShdw blurRad="38100" dist="38100" dir="2700000" algn="tl">
                    <a:srgbClr val="000000">
                      <a:alpha val="43137"/>
                    </a:srgbClr>
                  </a:outerShdw>
                </a:effectLst>
              </a:rPr>
              <a:t>използва</a:t>
            </a:r>
            <a:r>
              <a:rPr lang="bg-BG" altLang="en-US" sz="2400" dirty="0" smtClean="0"/>
              <a:t> за управление на други ограничени ресурси като файлови дескриптори, </a:t>
            </a:r>
            <a:r>
              <a:rPr lang="bg-BG" altLang="en-US" sz="2400" dirty="0" err="1" smtClean="0"/>
              <a:t>сокети</a:t>
            </a:r>
            <a:r>
              <a:rPr lang="bg-BG" altLang="en-US" sz="2400" dirty="0" smtClean="0"/>
              <a:t>, дескриптори на устройства, прозорци за потребителска комуникация и др.</a:t>
            </a:r>
            <a:r>
              <a:rPr lang="en-US" altLang="en-US" sz="2400" dirty="0" smtClean="0"/>
              <a:t> </a:t>
            </a:r>
            <a:endParaRPr lang="bg-BG" altLang="en-US" sz="2400" dirty="0"/>
          </a:p>
          <a:p>
            <a:pPr>
              <a:spcBef>
                <a:spcPts val="300"/>
              </a:spcBef>
            </a:pPr>
            <a:endParaRPr lang="bg-BG" altLang="en-US" sz="1800" dirty="0" smtClean="0"/>
          </a:p>
        </p:txBody>
      </p:sp>
      <p:sp>
        <p:nvSpPr>
          <p:cNvPr id="49155" name="Title 2"/>
          <p:cNvSpPr>
            <a:spLocks noGrp="1"/>
          </p:cNvSpPr>
          <p:nvPr>
            <p:ph type="title"/>
          </p:nvPr>
        </p:nvSpPr>
        <p:spPr/>
        <p:txBody>
          <a:bodyPr/>
          <a:lstStyle/>
          <a:p>
            <a:pPr>
              <a:defRPr/>
            </a:pPr>
            <a:r>
              <a:rPr lang="bg-BG" b="1" dirty="0" smtClean="0"/>
              <a:t>„</a:t>
            </a:r>
            <a:r>
              <a:rPr lang="en-CA" b="1" dirty="0" smtClean="0"/>
              <a:t>Garbage collection</a:t>
            </a:r>
            <a:r>
              <a:rPr lang="bg-BG" b="1" dirty="0" smtClean="0"/>
              <a:t>“</a:t>
            </a:r>
            <a:endParaRPr lang="en-US" b="1" dirty="0" smtClean="0"/>
          </a:p>
        </p:txBody>
      </p:sp>
    </p:spTree>
    <p:extLst>
      <p:ext uri="{BB962C8B-B14F-4D97-AF65-F5344CB8AC3E}">
        <p14:creationId xmlns:p14="http://schemas.microsoft.com/office/powerpoint/2010/main" val="34359594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1"/>
          <p:cNvSpPr>
            <a:spLocks noGrp="1"/>
          </p:cNvSpPr>
          <p:nvPr>
            <p:ph idx="1"/>
          </p:nvPr>
        </p:nvSpPr>
        <p:spPr>
          <a:xfrm>
            <a:off x="908662" y="1143000"/>
            <a:ext cx="10976950" cy="5410200"/>
          </a:xfrm>
        </p:spPr>
        <p:txBody>
          <a:bodyPr>
            <a:noAutofit/>
          </a:bodyPr>
          <a:lstStyle/>
          <a:p>
            <a:pPr>
              <a:spcBef>
                <a:spcPts val="0"/>
              </a:spcBef>
            </a:pPr>
            <a:r>
              <a:rPr lang="ru-RU" altLang="en-US" sz="2800" dirty="0" err="1" smtClean="0"/>
              <a:t>Основните</a:t>
            </a:r>
            <a:r>
              <a:rPr lang="ru-RU" altLang="en-US" sz="2800" dirty="0" smtClean="0"/>
              <a:t> </a:t>
            </a:r>
            <a:r>
              <a:rPr lang="bg-BG" altLang="en-US" sz="2800" dirty="0" smtClean="0"/>
              <a:t>задачи на метода са</a:t>
            </a:r>
            <a:r>
              <a:rPr lang="ru-RU" altLang="en-US" sz="2800" dirty="0" smtClean="0"/>
              <a:t>:</a:t>
            </a:r>
            <a:endParaRPr lang="ru-RU" altLang="en-US" sz="2800" dirty="0"/>
          </a:p>
          <a:p>
            <a:pPr lvl="1">
              <a:spcBef>
                <a:spcPts val="0"/>
              </a:spcBef>
            </a:pPr>
            <a:r>
              <a:rPr lang="ru-RU" altLang="en-US" sz="2400" dirty="0" smtClean="0"/>
              <a:t>Намиране на данните/елементите/обектите, </a:t>
            </a:r>
            <a:r>
              <a:rPr lang="ru-RU" altLang="en-US" sz="2400" dirty="0"/>
              <a:t>които няма да се използват повече.</a:t>
            </a:r>
          </a:p>
          <a:p>
            <a:pPr lvl="1">
              <a:spcBef>
                <a:spcPts val="0"/>
              </a:spcBef>
            </a:pPr>
            <a:r>
              <a:rPr lang="ru-RU" altLang="en-US" sz="2400" dirty="0"/>
              <a:t>Възстановане на ресурсите, използвани от тези </a:t>
            </a:r>
            <a:r>
              <a:rPr lang="ru-RU" altLang="en-US" sz="2400" dirty="0" smtClean="0"/>
              <a:t>данни/елементи/обекти.</a:t>
            </a:r>
            <a:endParaRPr lang="bg-BG" altLang="en-US" sz="2400" dirty="0"/>
          </a:p>
          <a:p>
            <a:pPr>
              <a:spcBef>
                <a:spcPts val="0"/>
              </a:spcBef>
            </a:pPr>
            <a:r>
              <a:rPr lang="ru-RU" altLang="en-US" sz="2800" dirty="0"/>
              <a:t>Като прави ненужно ръчното освобождаване на памет (и често го забранява), </a:t>
            </a:r>
            <a:r>
              <a:rPr lang="ru-RU" altLang="en-US" sz="2800" dirty="0" smtClean="0"/>
              <a:t>тази процедура освобождава </a:t>
            </a:r>
            <a:r>
              <a:rPr lang="ru-RU" altLang="en-US" sz="2800" dirty="0"/>
              <a:t>програмиста от необходимостта да се тревожи за освобождаване на обекти, които вече не са необходими, </a:t>
            </a:r>
            <a:endParaRPr lang="ru-RU" altLang="en-US" sz="2800" dirty="0" smtClean="0"/>
          </a:p>
          <a:p>
            <a:pPr lvl="1">
              <a:spcBef>
                <a:spcPts val="0"/>
              </a:spcBef>
            </a:pPr>
            <a:r>
              <a:rPr lang="ru-RU" altLang="en-US" sz="2400" dirty="0" smtClean="0"/>
              <a:t>Това често поглъща </a:t>
            </a:r>
            <a:r>
              <a:rPr lang="ru-RU" altLang="en-US" sz="2400" dirty="0"/>
              <a:t>значително количество усилия за проектиране.</a:t>
            </a:r>
          </a:p>
          <a:p>
            <a:pPr lvl="1">
              <a:spcBef>
                <a:spcPts val="0"/>
              </a:spcBef>
            </a:pPr>
            <a:r>
              <a:rPr lang="ru-RU" altLang="en-US" sz="2400" dirty="0"/>
              <a:t>Той също така помага на програмистите в усилията им да направят програмите по-стабилни, защото предотвратява много грешки по време на изпълнение.</a:t>
            </a:r>
          </a:p>
          <a:p>
            <a:pPr lvl="2">
              <a:spcBef>
                <a:spcPts val="0"/>
              </a:spcBef>
            </a:pPr>
            <a:r>
              <a:rPr lang="ru-RU" altLang="en-US" sz="2000" dirty="0"/>
              <a:t>Например, </a:t>
            </a:r>
            <a:r>
              <a:rPr lang="ru-RU" altLang="en-US" sz="2000" dirty="0" smtClean="0"/>
              <a:t>процедурата </a:t>
            </a:r>
            <a:r>
              <a:rPr lang="ru-RU" altLang="en-US" sz="2000" dirty="0"/>
              <a:t>предотвратява грешки </a:t>
            </a:r>
            <a:r>
              <a:rPr lang="ru-RU" altLang="en-US" sz="2000" dirty="0" smtClean="0"/>
              <a:t>от вида «висящ указател», </a:t>
            </a:r>
            <a:r>
              <a:rPr lang="ru-RU" altLang="en-US" sz="2000" dirty="0"/>
              <a:t>когато се използва препратка към освободен обект</a:t>
            </a:r>
            <a:r>
              <a:rPr lang="ru-RU" altLang="en-US" sz="2000" dirty="0" smtClean="0"/>
              <a:t>.</a:t>
            </a:r>
            <a:endParaRPr lang="bg-BG" altLang="en-US" sz="2000" dirty="0" smtClean="0"/>
          </a:p>
        </p:txBody>
      </p:sp>
      <p:sp>
        <p:nvSpPr>
          <p:cNvPr id="51203" name="Title 2"/>
          <p:cNvSpPr>
            <a:spLocks noGrp="1"/>
          </p:cNvSpPr>
          <p:nvPr>
            <p:ph type="title"/>
          </p:nvPr>
        </p:nvSpPr>
        <p:spPr/>
        <p:txBody>
          <a:bodyPr/>
          <a:lstStyle/>
          <a:p>
            <a:pPr>
              <a:defRPr/>
            </a:pPr>
            <a:r>
              <a:rPr lang="bg-BG" dirty="0"/>
              <a:t>„</a:t>
            </a:r>
            <a:r>
              <a:rPr lang="en-CA" dirty="0"/>
              <a:t>Garbage collection</a:t>
            </a:r>
            <a:r>
              <a:rPr lang="bg-BG" dirty="0"/>
              <a:t>“</a:t>
            </a:r>
            <a:endParaRPr lang="en-US" dirty="0" smtClean="0"/>
          </a:p>
        </p:txBody>
      </p:sp>
    </p:spTree>
    <p:extLst>
      <p:ext uri="{BB962C8B-B14F-4D97-AF65-F5344CB8AC3E}">
        <p14:creationId xmlns:p14="http://schemas.microsoft.com/office/powerpoint/2010/main" val="7264806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ntent Placeholder 1"/>
          <p:cNvSpPr>
            <a:spLocks noGrp="1"/>
          </p:cNvSpPr>
          <p:nvPr>
            <p:ph idx="1"/>
          </p:nvPr>
        </p:nvSpPr>
        <p:spPr>
          <a:xfrm>
            <a:off x="908662" y="1143000"/>
            <a:ext cx="10900750" cy="5638800"/>
          </a:xfrm>
        </p:spPr>
        <p:txBody>
          <a:bodyPr>
            <a:normAutofit lnSpcReduction="10000"/>
          </a:bodyPr>
          <a:lstStyle/>
          <a:p>
            <a:pPr>
              <a:lnSpc>
                <a:spcPct val="95000"/>
              </a:lnSpc>
              <a:spcBef>
                <a:spcPts val="400"/>
              </a:spcBef>
            </a:pPr>
            <a:r>
              <a:rPr lang="bg-BG" altLang="en-US" sz="2800" dirty="0" smtClean="0"/>
              <a:t>Автоматичното унищожаване на ненужните обекти създава предпоставки за ограничаване на появата на следните видове дефекти в програмата: </a:t>
            </a:r>
          </a:p>
          <a:p>
            <a:pPr lvl="1">
              <a:lnSpc>
                <a:spcPct val="95000"/>
              </a:lnSpc>
              <a:spcBef>
                <a:spcPts val="400"/>
              </a:spcBef>
            </a:pPr>
            <a:r>
              <a:rPr lang="bg-BG" altLang="en-US" sz="2400" dirty="0" smtClean="0"/>
              <a:t>Дефекти, свързани с използването на указатели към области от паметта, които вече са били освободени по погрешка. </a:t>
            </a:r>
          </a:p>
          <a:p>
            <a:pPr lvl="1">
              <a:lnSpc>
                <a:spcPct val="95000"/>
              </a:lnSpc>
              <a:spcBef>
                <a:spcPts val="400"/>
              </a:spcBef>
            </a:pPr>
            <a:r>
              <a:rPr lang="bg-BG" altLang="en-US" sz="2400" dirty="0" smtClean="0"/>
              <a:t>Дефекти, свързани с двукратно освобождаване на една и съща заделена памет (т.нар. „</a:t>
            </a:r>
            <a:r>
              <a:rPr lang="bg-BG" altLang="en-US" sz="2400" dirty="0" err="1" smtClean="0">
                <a:effectLst>
                  <a:outerShdw blurRad="38100" dist="38100" dir="2700000" algn="tl">
                    <a:srgbClr val="000000">
                      <a:alpha val="43137"/>
                    </a:srgbClr>
                  </a:outerShdw>
                </a:effectLst>
              </a:rPr>
              <a:t>double</a:t>
            </a:r>
            <a:r>
              <a:rPr lang="bg-BG" altLang="en-US" sz="2400" dirty="0" smtClean="0">
                <a:effectLst>
                  <a:outerShdw blurRad="38100" dist="38100" dir="2700000" algn="tl">
                    <a:srgbClr val="000000">
                      <a:alpha val="43137"/>
                    </a:srgbClr>
                  </a:outerShdw>
                </a:effectLst>
              </a:rPr>
              <a:t> </a:t>
            </a:r>
            <a:r>
              <a:rPr lang="bg-BG" altLang="en-US" sz="2400" dirty="0" err="1" smtClean="0">
                <a:effectLst>
                  <a:outerShdw blurRad="38100" dist="38100" dir="2700000" algn="tl">
                    <a:srgbClr val="000000">
                      <a:alpha val="43137"/>
                    </a:srgbClr>
                  </a:outerShdw>
                </a:effectLst>
              </a:rPr>
              <a:t>free</a:t>
            </a:r>
            <a:r>
              <a:rPr lang="bg-BG" altLang="en-US" sz="2400" dirty="0" smtClean="0"/>
              <a:t>“). </a:t>
            </a:r>
          </a:p>
          <a:p>
            <a:pPr lvl="1">
              <a:lnSpc>
                <a:spcPct val="95000"/>
              </a:lnSpc>
              <a:spcBef>
                <a:spcPts val="400"/>
              </a:spcBef>
            </a:pPr>
            <a:r>
              <a:rPr lang="bg-BG" altLang="en-US" sz="2400" dirty="0" smtClean="0"/>
              <a:t>Т.нар. „</a:t>
            </a:r>
            <a:r>
              <a:rPr lang="bg-BG" altLang="en-US" sz="2400" dirty="0" smtClean="0">
                <a:effectLst>
                  <a:outerShdw blurRad="38100" dist="38100" dir="2700000" algn="tl">
                    <a:srgbClr val="000000">
                      <a:alpha val="43137"/>
                    </a:srgbClr>
                  </a:outerShdw>
                </a:effectLst>
              </a:rPr>
              <a:t>изтичане на паметта</a:t>
            </a:r>
            <a:r>
              <a:rPr lang="bg-BG" altLang="en-US" sz="2400" dirty="0" smtClean="0"/>
              <a:t>“ (</a:t>
            </a:r>
            <a:r>
              <a:rPr lang="bg-BG" altLang="en-US" sz="2400" dirty="0" err="1" smtClean="0"/>
              <a:t>англ</a:t>
            </a:r>
            <a:r>
              <a:rPr lang="bg-BG" altLang="en-US" sz="2400" dirty="0" smtClean="0"/>
              <a:t>. </a:t>
            </a:r>
            <a:r>
              <a:rPr lang="bg-BG" altLang="en-US" sz="2400" dirty="0" err="1" smtClean="0"/>
              <a:t>memory</a:t>
            </a:r>
            <a:r>
              <a:rPr lang="bg-BG" altLang="en-US" sz="2400" dirty="0" smtClean="0"/>
              <a:t> </a:t>
            </a:r>
            <a:r>
              <a:rPr lang="bg-BG" altLang="en-US" sz="2400" dirty="0" err="1" smtClean="0"/>
              <a:t>leaks</a:t>
            </a:r>
            <a:r>
              <a:rPr lang="bg-BG" altLang="en-US" sz="2400" dirty="0" smtClean="0"/>
              <a:t>), при което заета памет се </a:t>
            </a:r>
            <a:r>
              <a:rPr lang="bg-BG" altLang="en-US" sz="2400" dirty="0" err="1" smtClean="0"/>
              <a:t>дереферира</a:t>
            </a:r>
            <a:r>
              <a:rPr lang="bg-BG" altLang="en-US" sz="2400" dirty="0" smtClean="0"/>
              <a:t> (т.е. нищо вече не позволява тя да се използва), но не се връща за освобождаване – това води до постепенно запълване/изчерпване на оперативната памет за създаване на динамични обекти. </a:t>
            </a:r>
          </a:p>
          <a:p>
            <a:pPr>
              <a:lnSpc>
                <a:spcPct val="95000"/>
              </a:lnSpc>
              <a:spcBef>
                <a:spcPts val="400"/>
              </a:spcBef>
            </a:pPr>
            <a:r>
              <a:rPr lang="bg-BG" altLang="en-US" sz="2800" dirty="0" smtClean="0"/>
              <a:t>Друго предимство е, че освобождавайки програмистите от необходимостта за управление на паметта се спестява значително време за разработка на програмите, намалява се сериозно сложността им ,т.е. увеличава продуктивност на програмирането.  </a:t>
            </a:r>
            <a:endParaRPr lang="bg-BG" altLang="en-US" sz="2800" dirty="0"/>
          </a:p>
        </p:txBody>
      </p:sp>
      <p:sp>
        <p:nvSpPr>
          <p:cNvPr id="53251" name="Title 2"/>
          <p:cNvSpPr>
            <a:spLocks noGrp="1"/>
          </p:cNvSpPr>
          <p:nvPr>
            <p:ph type="title"/>
          </p:nvPr>
        </p:nvSpPr>
        <p:spPr>
          <a:xfrm>
            <a:off x="912811" y="177800"/>
            <a:ext cx="11049001" cy="724915"/>
          </a:xfrm>
        </p:spPr>
        <p:txBody>
          <a:bodyPr>
            <a:normAutofit/>
          </a:bodyPr>
          <a:lstStyle/>
          <a:p>
            <a:pPr>
              <a:defRPr/>
            </a:pPr>
            <a:r>
              <a:rPr lang="bg-BG" dirty="0" smtClean="0"/>
              <a:t>„</a:t>
            </a:r>
            <a:r>
              <a:rPr lang="en-CA" dirty="0"/>
              <a:t>Garbage </a:t>
            </a:r>
            <a:r>
              <a:rPr lang="en-CA"/>
              <a:t>collection</a:t>
            </a:r>
            <a:r>
              <a:rPr lang="bg-BG" smtClean="0"/>
              <a:t>“: предимства за програмиста</a:t>
            </a:r>
            <a:endParaRPr lang="en-US" dirty="0" smtClean="0"/>
          </a:p>
        </p:txBody>
      </p:sp>
    </p:spTree>
    <p:extLst>
      <p:ext uri="{BB962C8B-B14F-4D97-AF65-F5344CB8AC3E}">
        <p14:creationId xmlns:p14="http://schemas.microsoft.com/office/powerpoint/2010/main" val="458794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1"/>
          <p:cNvSpPr>
            <a:spLocks noGrp="1"/>
          </p:cNvSpPr>
          <p:nvPr>
            <p:ph idx="1"/>
          </p:nvPr>
        </p:nvSpPr>
        <p:spPr/>
        <p:txBody>
          <a:bodyPr>
            <a:normAutofit fontScale="92500" lnSpcReduction="10000"/>
          </a:bodyPr>
          <a:lstStyle/>
          <a:p>
            <a:pPr>
              <a:lnSpc>
                <a:spcPct val="100000"/>
              </a:lnSpc>
              <a:spcBef>
                <a:spcPts val="500"/>
              </a:spcBef>
            </a:pPr>
            <a:r>
              <a:rPr lang="bg-BG" altLang="en-US" sz="2800" dirty="0" smtClean="0"/>
              <a:t>Това е </a:t>
            </a:r>
            <a:r>
              <a:rPr lang="bg-BG" altLang="en-US" sz="2800" dirty="0" err="1" smtClean="0"/>
              <a:t>ресурсоемък</a:t>
            </a:r>
            <a:r>
              <a:rPr lang="bg-BG" altLang="en-US" sz="2800" dirty="0" smtClean="0"/>
              <a:t> процес:</a:t>
            </a:r>
          </a:p>
          <a:p>
            <a:pPr lvl="1">
              <a:lnSpc>
                <a:spcPct val="100000"/>
              </a:lnSpc>
              <a:spcBef>
                <a:spcPts val="500"/>
              </a:spcBef>
            </a:pPr>
            <a:r>
              <a:rPr lang="bg-BG" altLang="en-US" sz="2400" dirty="0" smtClean="0"/>
              <a:t>В реално време се използва памет и процесор за вземането на решение за това какво и кога да се освободи – води до намаляване на производителността на програмата.</a:t>
            </a:r>
          </a:p>
          <a:p>
            <a:pPr lvl="1">
              <a:lnSpc>
                <a:spcPct val="100000"/>
              </a:lnSpc>
              <a:spcBef>
                <a:spcPts val="500"/>
              </a:spcBef>
            </a:pPr>
            <a:r>
              <a:rPr lang="bg-BG" altLang="en-US" sz="2400" dirty="0" smtClean="0"/>
              <a:t>Автономността на процеса не използва знанията на програмиста за какво и кога да се освободи.</a:t>
            </a:r>
          </a:p>
          <a:p>
            <a:pPr lvl="1">
              <a:lnSpc>
                <a:spcPct val="100000"/>
              </a:lnSpc>
              <a:spcBef>
                <a:spcPts val="500"/>
              </a:spcBef>
            </a:pPr>
            <a:r>
              <a:rPr lang="bg-BG" altLang="en-US" sz="2400" dirty="0" smtClean="0"/>
              <a:t>Наказанието за удобството да не се пояснява ръчно използването на паметта в кода е водещ, което потенциално води до понижена производителност.</a:t>
            </a:r>
          </a:p>
          <a:p>
            <a:pPr>
              <a:lnSpc>
                <a:spcPct val="100000"/>
              </a:lnSpc>
              <a:spcBef>
                <a:spcPts val="500"/>
              </a:spcBef>
            </a:pPr>
            <a:r>
              <a:rPr lang="bg-BG" altLang="en-US" sz="2800" dirty="0" smtClean="0"/>
              <a:t>Моментът, в която завършва работата е предварително неопределен във времето (реално непредсказуем).</a:t>
            </a:r>
          </a:p>
          <a:p>
            <a:pPr lvl="1">
              <a:lnSpc>
                <a:spcPct val="100000"/>
              </a:lnSpc>
              <a:spcBef>
                <a:spcPts val="500"/>
              </a:spcBef>
            </a:pPr>
            <a:r>
              <a:rPr lang="bg-BG" altLang="en-US" sz="2400" dirty="0" smtClean="0"/>
              <a:t>Непредвидимите закъснения могат да бъдат неприемливи в среди с изисквания за  реално време (напр. драйвери на устройства или обработка на транзакции).</a:t>
            </a:r>
          </a:p>
          <a:p>
            <a:pPr>
              <a:lnSpc>
                <a:spcPct val="100000"/>
              </a:lnSpc>
              <a:spcBef>
                <a:spcPts val="500"/>
              </a:spcBef>
            </a:pPr>
            <a:r>
              <a:rPr lang="bg-BG" altLang="en-US" sz="2800" dirty="0" smtClean="0"/>
              <a:t>Тъй като основните алгоритми са  рекурсивни, то това може да доведе до непредсказуемо запълване на стека.</a:t>
            </a:r>
          </a:p>
        </p:txBody>
      </p:sp>
      <p:sp>
        <p:nvSpPr>
          <p:cNvPr id="54275" name="Title 2"/>
          <p:cNvSpPr>
            <a:spLocks noGrp="1"/>
          </p:cNvSpPr>
          <p:nvPr>
            <p:ph type="title"/>
          </p:nvPr>
        </p:nvSpPr>
        <p:spPr>
          <a:xfrm>
            <a:off x="912811" y="177800"/>
            <a:ext cx="11049001" cy="724915"/>
          </a:xfrm>
        </p:spPr>
        <p:txBody>
          <a:bodyPr>
            <a:normAutofit/>
          </a:bodyPr>
          <a:lstStyle/>
          <a:p>
            <a:pPr>
              <a:defRPr/>
            </a:pPr>
            <a:r>
              <a:rPr lang="bg-BG" sz="3900" dirty="0"/>
              <a:t>„</a:t>
            </a:r>
            <a:r>
              <a:rPr lang="en-CA" sz="3900" dirty="0"/>
              <a:t>Garbage collection</a:t>
            </a:r>
            <a:r>
              <a:rPr lang="bg-BG" sz="3900" dirty="0"/>
              <a:t>“</a:t>
            </a:r>
            <a:r>
              <a:rPr lang="en-CA" sz="3900" b="1" dirty="0" smtClean="0"/>
              <a:t>: </a:t>
            </a:r>
            <a:r>
              <a:rPr lang="bg-BG" sz="3900" b="1" dirty="0" smtClean="0"/>
              <a:t>недостатъци за програмиста</a:t>
            </a:r>
            <a:endParaRPr lang="en-US" sz="3900" dirty="0" smtClean="0"/>
          </a:p>
        </p:txBody>
      </p:sp>
    </p:spTree>
    <p:extLst>
      <p:ext uri="{BB962C8B-B14F-4D97-AF65-F5344CB8AC3E}">
        <p14:creationId xmlns:p14="http://schemas.microsoft.com/office/powerpoint/2010/main" val="42939859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ntent Placeholder 1"/>
          <p:cNvSpPr>
            <a:spLocks noGrp="1"/>
          </p:cNvSpPr>
          <p:nvPr>
            <p:ph idx="1"/>
          </p:nvPr>
        </p:nvSpPr>
        <p:spPr>
          <a:xfrm>
            <a:off x="908662" y="1143000"/>
            <a:ext cx="10900750" cy="5257800"/>
          </a:xfrm>
        </p:spPr>
        <p:txBody>
          <a:bodyPr>
            <a:noAutofit/>
          </a:bodyPr>
          <a:lstStyle/>
          <a:p>
            <a:pPr>
              <a:lnSpc>
                <a:spcPct val="80000"/>
              </a:lnSpc>
              <a:spcBef>
                <a:spcPts val="0"/>
              </a:spcBef>
            </a:pPr>
            <a:r>
              <a:rPr lang="bg-BG" altLang="en-US" sz="2600" dirty="0" smtClean="0"/>
              <a:t>Методът е неприложим в случаите </a:t>
            </a:r>
            <a:r>
              <a:rPr lang="bg-BG" altLang="en-US" sz="2600" dirty="0"/>
              <a:t>на „изтичане на </a:t>
            </a:r>
            <a:r>
              <a:rPr lang="bg-BG" altLang="en-US" sz="2600" dirty="0" smtClean="0"/>
              <a:t>памет“ когато дадена област се реферира от указател, но никога повече не се използва в програмата.</a:t>
            </a:r>
            <a:r>
              <a:rPr lang="en-US" altLang="en-US" sz="2600" dirty="0" smtClean="0"/>
              <a:t> </a:t>
            </a:r>
            <a:endParaRPr lang="en-US" altLang="en-US" sz="2600" dirty="0"/>
          </a:p>
          <a:p>
            <a:pPr lvl="1">
              <a:lnSpc>
                <a:spcPct val="80000"/>
              </a:lnSpc>
              <a:spcBef>
                <a:spcPts val="0"/>
              </a:spcBef>
            </a:pPr>
            <a:r>
              <a:rPr lang="bg-BG" altLang="en-US" sz="2300" dirty="0" smtClean="0"/>
              <a:t>„Събирането на боклука“ много лошо си взаимодейства с кеша и с системите за виртуална памет, защото тези системи резервират стандартно повече памет, отколкото използват.</a:t>
            </a:r>
          </a:p>
          <a:p>
            <a:pPr lvl="2">
              <a:lnSpc>
                <a:spcPct val="80000"/>
              </a:lnSpc>
              <a:spcBef>
                <a:spcPts val="0"/>
              </a:spcBef>
            </a:pPr>
            <a:r>
              <a:rPr lang="bg-BG" altLang="en-US" sz="2000" dirty="0" smtClean="0"/>
              <a:t>Стандартен проблем – такава празна страница се освобождава от автоматичното почистване на паметта, но кеша/виртуалната памет не го знаят и започват да я използват.</a:t>
            </a:r>
            <a:endParaRPr lang="en-US" altLang="en-US" sz="2000" dirty="0" smtClean="0"/>
          </a:p>
          <a:p>
            <a:pPr lvl="2">
              <a:lnSpc>
                <a:spcPct val="80000"/>
              </a:lnSpc>
              <a:spcBef>
                <a:spcPts val="0"/>
              </a:spcBef>
            </a:pPr>
            <a:r>
              <a:rPr lang="bg-BG" altLang="en-US" sz="2000" dirty="0" smtClean="0"/>
              <a:t>Решаването на този проблем води до много повече ресурси в ОС за следене на реално останалите страници на кеша/виртуалната памет след работата на системата за изчистване</a:t>
            </a:r>
            <a:r>
              <a:rPr lang="en-US" altLang="en-US" sz="2000" dirty="0" smtClean="0"/>
              <a:t>. </a:t>
            </a:r>
            <a:endParaRPr lang="en-US" altLang="en-US" sz="2000" dirty="0"/>
          </a:p>
          <a:p>
            <a:pPr>
              <a:lnSpc>
                <a:spcPct val="80000"/>
              </a:lnSpc>
              <a:spcBef>
                <a:spcPts val="600"/>
              </a:spcBef>
            </a:pPr>
            <a:r>
              <a:rPr lang="bg-BG" altLang="en-US" sz="2600" dirty="0" smtClean="0"/>
              <a:t>Динамичната оценка на ефективността на работата на системата много сериозно се влияе от момента на стартиране/спиране на работата на автоматичното освобождаване на паметта.</a:t>
            </a:r>
          </a:p>
          <a:p>
            <a:pPr lvl="1">
              <a:lnSpc>
                <a:spcPct val="80000"/>
              </a:lnSpc>
              <a:spcBef>
                <a:spcPts val="0"/>
              </a:spcBef>
            </a:pPr>
            <a:r>
              <a:rPr lang="bg-BG" altLang="en-US" sz="2300" dirty="0" smtClean="0"/>
              <a:t>Задачата може да се окаже нерешима.</a:t>
            </a:r>
          </a:p>
          <a:p>
            <a:pPr lvl="1">
              <a:lnSpc>
                <a:spcPct val="80000"/>
              </a:lnSpc>
              <a:spcBef>
                <a:spcPts val="0"/>
              </a:spcBef>
            </a:pPr>
            <a:r>
              <a:rPr lang="bg-BG" altLang="en-US" sz="2300" dirty="0" smtClean="0"/>
              <a:t>Още по-голям е проблемът, ако има няколко задачи, конкуриращи се за ресурсите – заемането/освобождаването трябва да се реализира по-сложно.</a:t>
            </a:r>
            <a:endParaRPr lang="en-US" altLang="en-US" sz="2300" dirty="0" smtClean="0"/>
          </a:p>
        </p:txBody>
      </p:sp>
      <p:sp>
        <p:nvSpPr>
          <p:cNvPr id="55299" name="Title 2"/>
          <p:cNvSpPr>
            <a:spLocks noGrp="1"/>
          </p:cNvSpPr>
          <p:nvPr>
            <p:ph type="title"/>
          </p:nvPr>
        </p:nvSpPr>
        <p:spPr/>
        <p:txBody>
          <a:bodyPr>
            <a:normAutofit/>
          </a:bodyPr>
          <a:lstStyle/>
          <a:p>
            <a:pPr>
              <a:defRPr/>
            </a:pPr>
            <a:r>
              <a:rPr lang="bg-BG" sz="3900" dirty="0"/>
              <a:t>„</a:t>
            </a:r>
            <a:r>
              <a:rPr lang="en-CA" sz="3900" dirty="0"/>
              <a:t>Garbage collection</a:t>
            </a:r>
            <a:r>
              <a:rPr lang="bg-BG" sz="3900" dirty="0"/>
              <a:t>“</a:t>
            </a:r>
            <a:r>
              <a:rPr lang="en-CA" sz="3900" dirty="0"/>
              <a:t>: </a:t>
            </a:r>
            <a:r>
              <a:rPr lang="bg-BG" sz="3900" dirty="0"/>
              <a:t>недостатъци за програмиста</a:t>
            </a:r>
            <a:endParaRPr lang="en-US" sz="3900" dirty="0" smtClean="0"/>
          </a:p>
        </p:txBody>
      </p:sp>
    </p:spTree>
    <p:extLst>
      <p:ext uri="{BB962C8B-B14F-4D97-AF65-F5344CB8AC3E}">
        <p14:creationId xmlns:p14="http://schemas.microsoft.com/office/powerpoint/2010/main" val="19167324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1"/>
          <p:cNvSpPr>
            <a:spLocks noGrp="1"/>
          </p:cNvSpPr>
          <p:nvPr>
            <p:ph idx="1"/>
          </p:nvPr>
        </p:nvSpPr>
        <p:spPr/>
        <p:txBody>
          <a:bodyPr>
            <a:noAutofit/>
          </a:bodyPr>
          <a:lstStyle/>
          <a:p>
            <a:pPr>
              <a:lnSpc>
                <a:spcPct val="80000"/>
              </a:lnSpc>
            </a:pPr>
            <a:r>
              <a:rPr lang="bg-BG" altLang="en-US" sz="2800" dirty="0" err="1" smtClean="0">
                <a:effectLst>
                  <a:outerShdw blurRad="38100" dist="38100" dir="2700000" algn="tl">
                    <a:srgbClr val="000000">
                      <a:alpha val="43137"/>
                    </a:srgbClr>
                  </a:outerShdw>
                </a:effectLst>
              </a:rPr>
              <a:t>Финализаторът</a:t>
            </a:r>
            <a:r>
              <a:rPr lang="bg-BG" altLang="en-US" sz="2800" dirty="0" smtClean="0">
                <a:effectLst>
                  <a:outerShdw blurRad="38100" dist="38100" dir="2700000" algn="tl">
                    <a:srgbClr val="000000">
                      <a:alpha val="43137"/>
                    </a:srgbClr>
                  </a:outerShdw>
                </a:effectLst>
              </a:rPr>
              <a:t> </a:t>
            </a:r>
            <a:r>
              <a:rPr lang="bg-BG" altLang="en-US" sz="2800" dirty="0" smtClean="0"/>
              <a:t>(</a:t>
            </a:r>
            <a:r>
              <a:rPr lang="bg-BG" altLang="en-US" sz="2800" dirty="0" err="1" smtClean="0"/>
              <a:t>англ</a:t>
            </a:r>
            <a:r>
              <a:rPr lang="bg-BG" altLang="en-US" sz="2800" dirty="0" smtClean="0"/>
              <a:t>. </a:t>
            </a:r>
            <a:r>
              <a:rPr lang="bg-BG" altLang="en-US" sz="2800" dirty="0" err="1" smtClean="0">
                <a:effectLst>
                  <a:outerShdw blurRad="38100" dist="38100" dir="2700000" algn="tl">
                    <a:srgbClr val="000000">
                      <a:alpha val="43137"/>
                    </a:srgbClr>
                  </a:outerShdw>
                </a:effectLst>
              </a:rPr>
              <a:t>finalizer</a:t>
            </a:r>
            <a:r>
              <a:rPr lang="bg-BG" altLang="en-US" sz="2800" dirty="0" smtClean="0"/>
              <a:t>) е част от кода, който се използва да стартира необходимите действия, когато вече не се използва придобит ресурс (например: файл, част от памет, комуникационен канал и др.).</a:t>
            </a:r>
          </a:p>
          <a:p>
            <a:pPr lvl="1">
              <a:lnSpc>
                <a:spcPct val="80000"/>
              </a:lnSpc>
            </a:pPr>
            <a:r>
              <a:rPr lang="bg-BG" altLang="en-US" sz="2400" dirty="0" smtClean="0"/>
              <a:t>Това води до действия, нормално завършващи използването на ресурса , след което ОС се сигнализира за освобождаване на този ресурс. </a:t>
            </a:r>
          </a:p>
          <a:p>
            <a:pPr>
              <a:lnSpc>
                <a:spcPct val="80000"/>
              </a:lnSpc>
            </a:pPr>
            <a:r>
              <a:rPr lang="bg-BG" altLang="en-US" sz="2800" dirty="0" smtClean="0"/>
              <a:t>В някои езици </a:t>
            </a:r>
            <a:r>
              <a:rPr lang="bg-BG" altLang="en-US" sz="2800" i="1" dirty="0" err="1" smtClean="0"/>
              <a:t>finalizer</a:t>
            </a:r>
            <a:r>
              <a:rPr lang="bg-BG" altLang="en-US" sz="2800" i="1" dirty="0" smtClean="0"/>
              <a:t>()</a:t>
            </a:r>
            <a:r>
              <a:rPr lang="bg-BG" altLang="en-US" sz="2800" dirty="0" smtClean="0"/>
              <a:t>, който се използва когато се </a:t>
            </a:r>
            <a:r>
              <a:rPr lang="bg-BG" altLang="en-US" sz="2800" dirty="0" err="1" smtClean="0"/>
              <a:t>стартиравтоматичната</a:t>
            </a:r>
            <a:r>
              <a:rPr lang="bg-BG" altLang="en-US" sz="2800" dirty="0" smtClean="0"/>
              <a:t> система за почистване на паметта. </a:t>
            </a:r>
          </a:p>
          <a:p>
            <a:pPr lvl="1">
              <a:lnSpc>
                <a:spcPct val="80000"/>
              </a:lnSpc>
            </a:pPr>
            <a:r>
              <a:rPr lang="bg-BG" altLang="en-US" sz="2400" dirty="0" smtClean="0"/>
              <a:t>По това той донякъде наподобява </a:t>
            </a:r>
            <a:r>
              <a:rPr lang="bg-BG" altLang="en-US" sz="2400" dirty="0" err="1" smtClean="0">
                <a:effectLst>
                  <a:outerShdw blurRad="38100" dist="38100" dir="2700000" algn="tl">
                    <a:srgbClr val="000000">
                      <a:alpha val="43137"/>
                    </a:srgbClr>
                  </a:outerShdw>
                </a:effectLst>
              </a:rPr>
              <a:t>деструктурите</a:t>
            </a:r>
            <a:r>
              <a:rPr lang="bg-BG" altLang="en-US" sz="2400" dirty="0" smtClean="0">
                <a:effectLst>
                  <a:outerShdw blurRad="38100" dist="38100" dir="2700000" algn="tl">
                    <a:srgbClr val="000000">
                      <a:alpha val="43137"/>
                    </a:srgbClr>
                  </a:outerShdw>
                </a:effectLst>
              </a:rPr>
              <a:t> </a:t>
            </a:r>
            <a:r>
              <a:rPr lang="bg-BG" altLang="en-US" sz="2400" dirty="0" smtClean="0"/>
              <a:t>в обектните езици – разликата с </a:t>
            </a:r>
            <a:r>
              <a:rPr lang="bg-BG" altLang="en-US" sz="2400" dirty="0" err="1" smtClean="0"/>
              <a:t>деструктурите</a:t>
            </a:r>
            <a:r>
              <a:rPr lang="bg-BG" altLang="en-US" sz="2400" dirty="0" smtClean="0"/>
              <a:t> е, че те </a:t>
            </a:r>
            <a:r>
              <a:rPr lang="bg-BG" altLang="en-US" sz="2400" dirty="0" err="1" smtClean="0"/>
              <a:t>експлицитно</a:t>
            </a:r>
            <a:r>
              <a:rPr lang="bg-BG" altLang="en-US" sz="2400" dirty="0" smtClean="0"/>
              <a:t> се стартират при освобождаване на обекта.</a:t>
            </a:r>
          </a:p>
          <a:p>
            <a:pPr lvl="1">
              <a:lnSpc>
                <a:spcPct val="80000"/>
              </a:lnSpc>
            </a:pPr>
            <a:r>
              <a:rPr lang="bg-BG" altLang="en-US" sz="2400" dirty="0" smtClean="0"/>
              <a:t>Методът </a:t>
            </a:r>
            <a:r>
              <a:rPr lang="bg-BG" altLang="en-US" sz="2400" i="1" dirty="0" err="1" smtClean="0"/>
              <a:t>finalizer</a:t>
            </a:r>
            <a:r>
              <a:rPr lang="bg-BG" altLang="en-US" sz="2400" i="1" dirty="0" smtClean="0"/>
              <a:t>()</a:t>
            </a:r>
            <a:r>
              <a:rPr lang="bg-BG" altLang="en-US" sz="2400" dirty="0" smtClean="0"/>
              <a:t> е </a:t>
            </a:r>
            <a:r>
              <a:rPr lang="bg-BG" altLang="en-US" sz="2400" dirty="0" err="1" smtClean="0"/>
              <a:t>недерминистичен</a:t>
            </a:r>
            <a:r>
              <a:rPr lang="bg-BG" altLang="en-US" sz="2400" dirty="0" smtClean="0"/>
              <a:t>, затова е добре да не се използват в тривиални случаи (програмистът няма никакво управление на процеса).</a:t>
            </a:r>
          </a:p>
          <a:p>
            <a:pPr lvl="1">
              <a:lnSpc>
                <a:spcPct val="80000"/>
              </a:lnSpc>
            </a:pPr>
            <a:r>
              <a:rPr lang="bg-BG" altLang="en-US" sz="2400" dirty="0" smtClean="0"/>
              <a:t>Примери за използване: </a:t>
            </a:r>
            <a:r>
              <a:rPr lang="bg-BG" altLang="en-US" sz="2400" dirty="0" err="1" smtClean="0"/>
              <a:t>Java</a:t>
            </a:r>
            <a:r>
              <a:rPr lang="bg-BG" altLang="en-US" sz="2400" dirty="0" smtClean="0"/>
              <a:t>, C#. </a:t>
            </a:r>
          </a:p>
        </p:txBody>
      </p:sp>
      <p:sp>
        <p:nvSpPr>
          <p:cNvPr id="57347" name="Title 2"/>
          <p:cNvSpPr>
            <a:spLocks noGrp="1"/>
          </p:cNvSpPr>
          <p:nvPr>
            <p:ph type="title"/>
          </p:nvPr>
        </p:nvSpPr>
        <p:spPr/>
        <p:txBody>
          <a:bodyPr/>
          <a:lstStyle/>
          <a:p>
            <a:pPr>
              <a:defRPr/>
            </a:pPr>
            <a:r>
              <a:rPr lang="bg-BG" dirty="0"/>
              <a:t>„</a:t>
            </a:r>
            <a:r>
              <a:rPr lang="en-CA" dirty="0"/>
              <a:t>Garbage collection</a:t>
            </a:r>
            <a:r>
              <a:rPr lang="bg-BG" dirty="0"/>
              <a:t>“</a:t>
            </a:r>
            <a:r>
              <a:rPr lang="en-CA" b="1" dirty="0" smtClean="0"/>
              <a:t>: </a:t>
            </a:r>
            <a:r>
              <a:rPr lang="bg-BG" b="1" dirty="0" err="1" smtClean="0"/>
              <a:t>Финализатори</a:t>
            </a:r>
            <a:endParaRPr lang="en-US" dirty="0" smtClean="0"/>
          </a:p>
        </p:txBody>
      </p:sp>
    </p:spTree>
    <p:extLst>
      <p:ext uri="{BB962C8B-B14F-4D97-AF65-F5344CB8AC3E}">
        <p14:creationId xmlns:p14="http://schemas.microsoft.com/office/powerpoint/2010/main" val="2226858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ntent Placeholder 1"/>
          <p:cNvSpPr>
            <a:spLocks noGrp="1"/>
          </p:cNvSpPr>
          <p:nvPr>
            <p:ph idx="1"/>
          </p:nvPr>
        </p:nvSpPr>
        <p:spPr/>
        <p:txBody>
          <a:bodyPr>
            <a:normAutofit/>
          </a:bodyPr>
          <a:lstStyle/>
          <a:p>
            <a:pPr>
              <a:lnSpc>
                <a:spcPct val="100000"/>
              </a:lnSpc>
              <a:spcBef>
                <a:spcPts val="600"/>
              </a:spcBef>
            </a:pPr>
            <a:r>
              <a:rPr lang="bg-BG" altLang="en-US" sz="2800" dirty="0" smtClean="0"/>
              <a:t>В практиката много често се оказва, че операциите изпълнявани от </a:t>
            </a:r>
            <a:r>
              <a:rPr lang="bg-BG" altLang="en-US" sz="2800" dirty="0" err="1" smtClean="0"/>
              <a:t>деструкторите</a:t>
            </a:r>
            <a:r>
              <a:rPr lang="bg-BG" altLang="en-US" sz="2800" dirty="0" smtClean="0"/>
              <a:t> на обекти не е подходящо да се реализират чрез </a:t>
            </a:r>
            <a:r>
              <a:rPr lang="bg-BG" altLang="en-US" sz="2800" dirty="0" err="1" smtClean="0"/>
              <a:t>финализатори</a:t>
            </a:r>
            <a:r>
              <a:rPr lang="bg-BG" altLang="en-US" sz="2800" dirty="0" smtClean="0"/>
              <a:t>. </a:t>
            </a:r>
          </a:p>
          <a:p>
            <a:pPr lvl="1">
              <a:lnSpc>
                <a:spcPct val="100000"/>
              </a:lnSpc>
            </a:pPr>
            <a:r>
              <a:rPr lang="bg-BG" altLang="en-US" sz="2400" dirty="0" smtClean="0"/>
              <a:t>Най-добре това се вижда в случаите, при които има много „чувствителни“ ресурси (т.е. малко на брой, но много използвани ресурси) – ако се очаква да се освободят от </a:t>
            </a:r>
            <a:r>
              <a:rPr lang="bg-BG" altLang="en-US" sz="2400" dirty="0" err="1" smtClean="0"/>
              <a:t>финализаторът</a:t>
            </a:r>
            <a:r>
              <a:rPr lang="bg-BG" altLang="en-US" sz="2400" dirty="0" smtClean="0"/>
              <a:t>, то те може непредсказуемо дълго да останат „заети“. </a:t>
            </a:r>
          </a:p>
          <a:p>
            <a:pPr lvl="1">
              <a:lnSpc>
                <a:spcPct val="100000"/>
              </a:lnSpc>
            </a:pPr>
            <a:r>
              <a:rPr lang="bg-BG" altLang="en-US" sz="2400" dirty="0" smtClean="0"/>
              <a:t>За </a:t>
            </a:r>
            <a:r>
              <a:rPr lang="bg-BG" altLang="en-US" sz="2400" dirty="0" err="1" smtClean="0"/>
              <a:t>минамизация</a:t>
            </a:r>
            <a:r>
              <a:rPr lang="bg-BG" altLang="en-US" sz="2400" dirty="0" smtClean="0"/>
              <a:t> на проблема, в някои езици съществува метод към обектите за почистване на ресурсите, т.е. </a:t>
            </a:r>
            <a:r>
              <a:rPr lang="bg-BG" altLang="en-US" sz="2400" dirty="0" err="1" smtClean="0"/>
              <a:t>финализаторите</a:t>
            </a:r>
            <a:r>
              <a:rPr lang="bg-BG" altLang="en-US" sz="2400" dirty="0" smtClean="0"/>
              <a:t> се използват само в случаите на неуспешно почистване на ресурса.</a:t>
            </a:r>
            <a:endParaRPr lang="bg-BG" altLang="en-US" sz="2800" dirty="0" smtClean="0"/>
          </a:p>
          <a:p>
            <a:pPr lvl="2">
              <a:lnSpc>
                <a:spcPct val="100000"/>
              </a:lnSpc>
            </a:pPr>
            <a:r>
              <a:rPr lang="bg-BG" altLang="en-US" sz="2000" dirty="0" smtClean="0"/>
              <a:t>Пример: C# където интерфейсът </a:t>
            </a:r>
            <a:r>
              <a:rPr lang="bg-BG" altLang="en-US" sz="2000" dirty="0" err="1" smtClean="0"/>
              <a:t>IDisposable</a:t>
            </a:r>
            <a:r>
              <a:rPr lang="bg-BG" altLang="en-US" sz="2000" dirty="0" smtClean="0"/>
              <a:t> може да се използва за почистване на ресурс. </a:t>
            </a:r>
            <a:endParaRPr lang="bg-BG" altLang="en-US" sz="2000" dirty="0"/>
          </a:p>
        </p:txBody>
      </p:sp>
      <p:sp>
        <p:nvSpPr>
          <p:cNvPr id="58371" name="Title 2"/>
          <p:cNvSpPr>
            <a:spLocks noGrp="1"/>
          </p:cNvSpPr>
          <p:nvPr>
            <p:ph type="title"/>
          </p:nvPr>
        </p:nvSpPr>
        <p:spPr/>
        <p:txBody>
          <a:bodyPr/>
          <a:lstStyle/>
          <a:p>
            <a:pPr>
              <a:defRPr/>
            </a:pPr>
            <a:r>
              <a:rPr lang="bg-BG" dirty="0"/>
              <a:t>„</a:t>
            </a:r>
            <a:r>
              <a:rPr lang="en-CA" dirty="0"/>
              <a:t>Garbage collection</a:t>
            </a:r>
            <a:r>
              <a:rPr lang="bg-BG" dirty="0"/>
              <a:t>“</a:t>
            </a:r>
            <a:r>
              <a:rPr lang="en-CA" b="1" dirty="0" smtClean="0"/>
              <a:t>: </a:t>
            </a:r>
            <a:r>
              <a:rPr lang="bg-BG" dirty="0" err="1"/>
              <a:t>Финализатори</a:t>
            </a:r>
            <a:endParaRPr lang="en-US" dirty="0" smtClean="0"/>
          </a:p>
        </p:txBody>
      </p:sp>
    </p:spTree>
    <p:extLst>
      <p:ext uri="{BB962C8B-B14F-4D97-AF65-F5344CB8AC3E}">
        <p14:creationId xmlns:p14="http://schemas.microsoft.com/office/powerpoint/2010/main" val="25380400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vert="horz" lIns="91440" tIns="45720" rIns="91440" bIns="45720" rtlCol="0">
            <a:normAutofit/>
          </a:bodyPr>
          <a:lstStyle/>
          <a:p>
            <a:endParaRPr lang="en-US" sz="2800" dirty="0"/>
          </a:p>
          <a:p>
            <a:endParaRPr lang="en-US" sz="2800" dirty="0" smtClean="0"/>
          </a:p>
          <a:p>
            <a:endParaRPr lang="en-US" sz="2800" dirty="0"/>
          </a:p>
          <a:p>
            <a:endParaRPr lang="en-US" sz="4000" b="1" dirty="0">
              <a:effectLst>
                <a:outerShdw blurRad="38100" dist="38100" dir="2700000" algn="tl">
                  <a:srgbClr val="000000">
                    <a:alpha val="43137"/>
                  </a:srgbClr>
                </a:outerShdw>
              </a:effectLst>
            </a:endParaRPr>
          </a:p>
          <a:p>
            <a:pPr marL="0" indent="0" algn="ctr">
              <a:buNone/>
            </a:pPr>
            <a:r>
              <a:rPr lang="bg-BG" sz="4000" b="1" dirty="0">
                <a:effectLst>
                  <a:outerShdw blurRad="38100" dist="38100" dir="2700000" algn="tl">
                    <a:srgbClr val="000000">
                      <a:alpha val="43137"/>
                    </a:srgbClr>
                  </a:outerShdw>
                </a:effectLst>
              </a:rPr>
              <a:t>Въпроси</a:t>
            </a:r>
            <a:r>
              <a:rPr lang="en-US" sz="40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6487862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pPr lvl="1"/>
            <a:r>
              <a:rPr lang="en-US" b="1" dirty="0">
                <a:solidFill>
                  <a:schemeClr val="bg1"/>
                </a:solidFill>
                <a:effectLst>
                  <a:outerShdw blurRad="38100" dist="38100" dir="2700000" algn="tl">
                    <a:srgbClr val="000000">
                      <a:alpha val="43137"/>
                    </a:srgbClr>
                  </a:outerShdw>
                </a:effectLst>
                <a:latin typeface="Calibri" panose="020F0502020204030204" pitchFamily="34" charset="0"/>
              </a:rPr>
              <a:t>Reference Counting</a:t>
            </a:r>
          </a:p>
        </p:txBody>
      </p:sp>
      <p:sp>
        <p:nvSpPr>
          <p:cNvPr id="3" name="Content Placeholder 2"/>
          <p:cNvSpPr>
            <a:spLocks noGrp="1"/>
          </p:cNvSpPr>
          <p:nvPr>
            <p:ph idx="1"/>
          </p:nvPr>
        </p:nvSpPr>
        <p:spPr/>
        <p:txBody>
          <a:bodyPr>
            <a:normAutofit lnSpcReduction="10000"/>
          </a:bodyPr>
          <a:lstStyle/>
          <a:p>
            <a:r>
              <a:rPr lang="en-US" sz="2800" dirty="0"/>
              <a:t>A simple framework for garbage collection.</a:t>
            </a:r>
          </a:p>
          <a:p>
            <a:pPr lvl="1"/>
            <a:r>
              <a:rPr lang="en-US" sz="2400" dirty="0"/>
              <a:t>But it has several serious weakness.</a:t>
            </a:r>
          </a:p>
          <a:p>
            <a:r>
              <a:rPr lang="en-US" sz="2800" dirty="0"/>
              <a:t>Idea: </a:t>
            </a:r>
          </a:p>
          <a:p>
            <a:pPr lvl="1"/>
            <a:r>
              <a:rPr lang="en-US" sz="2400" dirty="0"/>
              <a:t>Add/Store in each object a reference count field tracking how many references exist to the object.</a:t>
            </a:r>
          </a:p>
          <a:p>
            <a:pPr lvl="2"/>
            <a:r>
              <a:rPr lang="en-US" sz="2000" dirty="0"/>
              <a:t>How many pointers reference this object?</a:t>
            </a:r>
          </a:p>
          <a:p>
            <a:pPr lvl="1"/>
            <a:r>
              <a:rPr lang="en-US" sz="2400" dirty="0"/>
              <a:t>Update field when the reference changes</a:t>
            </a:r>
          </a:p>
          <a:p>
            <a:pPr lvl="2"/>
            <a:r>
              <a:rPr lang="en-US" sz="2000" dirty="0"/>
              <a:t>Creating a reference to an object increments its (</a:t>
            </a:r>
            <a:r>
              <a:rPr lang="en-US" sz="2000" i="1" dirty="0" err="1"/>
              <a:t>RefCount</a:t>
            </a:r>
            <a:r>
              <a:rPr lang="en-US" sz="2000" i="1" dirty="0"/>
              <a:t>++</a:t>
            </a:r>
            <a:r>
              <a:rPr lang="en-US" sz="2000" dirty="0"/>
              <a:t>)</a:t>
            </a:r>
          </a:p>
          <a:p>
            <a:pPr lvl="2"/>
            <a:r>
              <a:rPr lang="en-US" sz="2000" dirty="0"/>
              <a:t>When creating an object, set its </a:t>
            </a:r>
            <a:r>
              <a:rPr lang="en-US" sz="2000" i="1" dirty="0" err="1"/>
              <a:t>RefCount</a:t>
            </a:r>
            <a:r>
              <a:rPr lang="en-US" sz="2000" i="1" dirty="0"/>
              <a:t>=0</a:t>
            </a:r>
            <a:r>
              <a:rPr lang="en-US" sz="2000" dirty="0"/>
              <a:t>.</a:t>
            </a:r>
          </a:p>
          <a:p>
            <a:pPr lvl="1"/>
            <a:r>
              <a:rPr lang="en-US" sz="2400" dirty="0"/>
              <a:t>Removing a reference to an object decrements its (</a:t>
            </a:r>
            <a:r>
              <a:rPr lang="en-US" sz="2400" i="1" dirty="0" err="1"/>
              <a:t>RefCount</a:t>
            </a:r>
            <a:r>
              <a:rPr lang="en-US" sz="2400" i="1" dirty="0"/>
              <a:t>--</a:t>
            </a:r>
            <a:r>
              <a:rPr lang="en-US" sz="2400" dirty="0"/>
              <a:t>)</a:t>
            </a:r>
          </a:p>
          <a:p>
            <a:pPr lvl="1"/>
            <a:r>
              <a:rPr lang="en-US" sz="2400" dirty="0"/>
              <a:t>When nothing points to an object, it can be deleted: object is unreachable and can be reclaimed. </a:t>
            </a:r>
          </a:p>
          <a:p>
            <a:pPr lvl="2"/>
            <a:r>
              <a:rPr lang="en-US" sz="2000" dirty="0"/>
              <a:t>This might decrease other objects' counts and trigger more reclamations.</a:t>
            </a:r>
          </a:p>
          <a:p>
            <a:pPr lvl="2"/>
            <a:endParaRPr lang="en-US" sz="2000" dirty="0"/>
          </a:p>
          <a:p>
            <a:pPr lvl="2"/>
            <a:endParaRPr lang="en-US" sz="2000" dirty="0"/>
          </a:p>
        </p:txBody>
      </p:sp>
    </p:spTree>
    <p:extLst>
      <p:ext uri="{BB962C8B-B14F-4D97-AF65-F5344CB8AC3E}">
        <p14:creationId xmlns:p14="http://schemas.microsoft.com/office/powerpoint/2010/main" val="339534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pPr lvl="1"/>
            <a:r>
              <a:rPr lang="en-US" b="1" dirty="0">
                <a:solidFill>
                  <a:schemeClr val="bg1"/>
                </a:solidFill>
                <a:effectLst>
                  <a:outerShdw blurRad="38100" dist="38100" dir="2700000" algn="tl">
                    <a:srgbClr val="000000">
                      <a:alpha val="43137"/>
                    </a:srgbClr>
                  </a:outerShdw>
                </a:effectLst>
                <a:latin typeface="Calibri" panose="020F0502020204030204" pitchFamily="34" charset="0"/>
              </a:rPr>
              <a:t>Reference Counting</a:t>
            </a:r>
          </a:p>
        </p:txBody>
      </p:sp>
      <p:sp>
        <p:nvSpPr>
          <p:cNvPr id="3" name="Content Placeholder 2"/>
          <p:cNvSpPr>
            <a:spLocks noGrp="1"/>
          </p:cNvSpPr>
          <p:nvPr>
            <p:ph idx="1"/>
          </p:nvPr>
        </p:nvSpPr>
        <p:spPr/>
        <p:txBody>
          <a:bodyPr>
            <a:normAutofit/>
          </a:bodyPr>
          <a:lstStyle/>
          <a:p>
            <a:r>
              <a:rPr lang="en-US" sz="2800" dirty="0"/>
              <a:t>Add a reference count field for every object.</a:t>
            </a:r>
          </a:p>
          <a:p>
            <a:pPr lvl="1"/>
            <a:r>
              <a:rPr lang="en-US" sz="2400" dirty="0"/>
              <a:t>How many pointers reference this object?</a:t>
            </a:r>
          </a:p>
          <a:p>
            <a:r>
              <a:rPr lang="en-US" sz="2800" dirty="0"/>
              <a:t>Update field when the reference changes</a:t>
            </a:r>
          </a:p>
          <a:p>
            <a:pPr lvl="1"/>
            <a:r>
              <a:rPr lang="en-US" sz="2400" dirty="0"/>
              <a:t>New object get </a:t>
            </a:r>
            <a:r>
              <a:rPr lang="en-US" sz="2400" i="1" dirty="0" err="1"/>
              <a:t>RefCount</a:t>
            </a:r>
            <a:r>
              <a:rPr lang="en-US" sz="2400" dirty="0"/>
              <a:t> of 1</a:t>
            </a:r>
          </a:p>
          <a:p>
            <a:pPr lvl="1"/>
            <a:r>
              <a:rPr lang="en-US" sz="2400" dirty="0"/>
              <a:t>The pointer </a:t>
            </a:r>
            <a:r>
              <a:rPr lang="en-US" sz="2400" i="1" dirty="0"/>
              <a:t>p</a:t>
            </a:r>
            <a:r>
              <a:rPr lang="en-US" sz="2400" dirty="0"/>
              <a:t> that points to </a:t>
            </a:r>
            <a:r>
              <a:rPr lang="en-US" sz="2400" i="1" dirty="0"/>
              <a:t>obj1</a:t>
            </a:r>
            <a:r>
              <a:rPr lang="en-US" sz="2400" dirty="0"/>
              <a:t> is modified to point </a:t>
            </a:r>
            <a:r>
              <a:rPr lang="en-US" sz="2400" i="1" dirty="0"/>
              <a:t>obj2</a:t>
            </a:r>
            <a:r>
              <a:rPr lang="en-US" sz="2400" dirty="0"/>
              <a:t>:</a:t>
            </a:r>
          </a:p>
          <a:p>
            <a:pPr lvl="2"/>
            <a:r>
              <a:rPr lang="en-US" sz="2000" dirty="0"/>
              <a:t>The relevant </a:t>
            </a:r>
            <a:r>
              <a:rPr lang="en-US" sz="2000" i="1" dirty="0" err="1"/>
              <a:t>RefCount</a:t>
            </a:r>
            <a:r>
              <a:rPr lang="en-US" sz="2000" dirty="0"/>
              <a:t> property is increased/decreased, e.g.</a:t>
            </a:r>
            <a:br>
              <a:rPr lang="en-US" sz="2000" dirty="0"/>
            </a:br>
            <a:r>
              <a:rPr lang="en-US" sz="2000" i="1" dirty="0"/>
              <a:t>obj1.RefCount</a:t>
            </a:r>
            <a:r>
              <a:rPr lang="en-US" sz="2000" dirty="0"/>
              <a:t>--, </a:t>
            </a:r>
            <a:r>
              <a:rPr lang="en-US" sz="2000" i="1" dirty="0"/>
              <a:t>obj2.RefCount</a:t>
            </a:r>
            <a:r>
              <a:rPr lang="en-US" sz="2000" dirty="0"/>
              <a:t>++</a:t>
            </a:r>
          </a:p>
          <a:p>
            <a:r>
              <a:rPr lang="en-US" sz="2800" dirty="0"/>
              <a:t>When nothing points to an objects, it can be deleted</a:t>
            </a:r>
          </a:p>
          <a:p>
            <a:pPr lvl="1"/>
            <a:r>
              <a:rPr lang="en-US" sz="2400" dirty="0"/>
              <a:t>if </a:t>
            </a:r>
            <a:r>
              <a:rPr lang="en-US" sz="2400" i="1" dirty="0"/>
              <a:t>obj1.RefCount</a:t>
            </a:r>
            <a:r>
              <a:rPr lang="en-US" sz="2400" dirty="0"/>
              <a:t> == 0</a:t>
            </a:r>
          </a:p>
          <a:p>
            <a:pPr lvl="2"/>
            <a:r>
              <a:rPr lang="en-US" sz="2000" dirty="0"/>
              <a:t>delete </a:t>
            </a:r>
            <a:r>
              <a:rPr lang="en-US" sz="2000" i="1" dirty="0"/>
              <a:t>obj1</a:t>
            </a:r>
          </a:p>
          <a:p>
            <a:pPr lvl="2"/>
            <a:r>
              <a:rPr lang="en-US" sz="2000" dirty="0"/>
              <a:t>decrement </a:t>
            </a:r>
            <a:r>
              <a:rPr lang="en-US" sz="2000" i="1" dirty="0" err="1"/>
              <a:t>RefCount</a:t>
            </a:r>
            <a:r>
              <a:rPr lang="en-US" sz="2000" dirty="0"/>
              <a:t> for all children </a:t>
            </a:r>
            <a:r>
              <a:rPr lang="en-US" sz="2000" i="1" dirty="0"/>
              <a:t>obj1</a:t>
            </a:r>
            <a:r>
              <a:rPr lang="en-US" sz="2000" dirty="0"/>
              <a:t>.</a:t>
            </a:r>
          </a:p>
          <a:p>
            <a:pPr lvl="2"/>
            <a:r>
              <a:rPr lang="en-US" sz="2000" dirty="0"/>
              <a:t>recursively delete objects whose </a:t>
            </a:r>
            <a:r>
              <a:rPr lang="en-US" sz="2000" i="1" dirty="0" err="1"/>
              <a:t>RefCount</a:t>
            </a:r>
            <a:r>
              <a:rPr lang="en-US" sz="2000" dirty="0"/>
              <a:t> is decremented to 0.</a:t>
            </a:r>
          </a:p>
        </p:txBody>
      </p:sp>
    </p:spTree>
    <p:extLst>
      <p:ext uri="{BB962C8B-B14F-4D97-AF65-F5344CB8AC3E}">
        <p14:creationId xmlns:p14="http://schemas.microsoft.com/office/powerpoint/2010/main" val="187712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pPr lvl="1"/>
            <a:r>
              <a:rPr lang="en-US" b="1" dirty="0">
                <a:solidFill>
                  <a:schemeClr val="bg1"/>
                </a:solidFill>
                <a:effectLst>
                  <a:outerShdw blurRad="38100" dist="38100" dir="2700000" algn="tl">
                    <a:srgbClr val="000000">
                      <a:alpha val="43137"/>
                    </a:srgbClr>
                  </a:outerShdw>
                </a:effectLst>
                <a:latin typeface="Calibri" panose="020F0502020204030204" pitchFamily="34" charset="0"/>
              </a:rPr>
              <a:t>Reference Counting</a:t>
            </a:r>
          </a:p>
        </p:txBody>
      </p:sp>
      <p:sp>
        <p:nvSpPr>
          <p:cNvPr id="3" name="Content Placeholder 2"/>
          <p:cNvSpPr>
            <a:spLocks noGrp="1"/>
          </p:cNvSpPr>
          <p:nvPr>
            <p:ph idx="1"/>
          </p:nvPr>
        </p:nvSpPr>
        <p:spPr/>
        <p:txBody>
          <a:bodyPr>
            <a:normAutofit/>
          </a:bodyPr>
          <a:lstStyle/>
          <a:p>
            <a:r>
              <a:rPr lang="en-US" sz="2800" dirty="0"/>
              <a:t>One major problem: a</a:t>
            </a:r>
            <a:r>
              <a:rPr lang="en-US" dirty="0" smtClean="0"/>
              <a:t> circular linked-list cycle</a:t>
            </a:r>
          </a:p>
          <a:p>
            <a:pPr lvl="1"/>
            <a:r>
              <a:rPr lang="en-US" dirty="0"/>
              <a:t>Because all the objects are referenced, all have nonzero </a:t>
            </a:r>
            <a:r>
              <a:rPr lang="en-US" i="1" dirty="0" err="1"/>
              <a:t>RefCount</a:t>
            </a:r>
            <a:r>
              <a:rPr lang="en-US" dirty="0" smtClean="0"/>
              <a:t> </a:t>
            </a:r>
            <a:r>
              <a:rPr lang="en-US" dirty="0"/>
              <a:t>and are never reclaimed</a:t>
            </a:r>
            <a:r>
              <a:rPr lang="en-US" dirty="0" smtClean="0"/>
              <a:t>.</a:t>
            </a:r>
          </a:p>
          <a:p>
            <a:pPr lvl="2"/>
            <a:r>
              <a:rPr lang="en-US" dirty="0" smtClean="0"/>
              <a:t>After ‘</a:t>
            </a:r>
            <a:r>
              <a:rPr lang="en-US" i="1" dirty="0" smtClean="0"/>
              <a:t>delete head</a:t>
            </a:r>
            <a:r>
              <a:rPr lang="en-US" dirty="0" smtClean="0"/>
              <a:t>’ t</a:t>
            </a:r>
            <a:r>
              <a:rPr lang="en-US" dirty="0"/>
              <a:t>he list is </a:t>
            </a:r>
            <a:r>
              <a:rPr lang="en-US" dirty="0" smtClean="0"/>
              <a:t>unreachable but can’t </a:t>
            </a:r>
            <a:r>
              <a:rPr lang="en-US" dirty="0"/>
              <a:t>be </a:t>
            </a:r>
            <a:r>
              <a:rPr lang="en-US" dirty="0" smtClean="0"/>
              <a:t>reclaimed: all </a:t>
            </a:r>
            <a:r>
              <a:rPr lang="en-US" i="1" dirty="0" err="1" smtClean="0"/>
              <a:t>RefCount</a:t>
            </a:r>
            <a:r>
              <a:rPr lang="en-US" i="1" dirty="0" smtClean="0"/>
              <a:t> </a:t>
            </a:r>
            <a:r>
              <a:rPr lang="en-US" dirty="0" smtClean="0"/>
              <a:t>are equal to 1.</a:t>
            </a:r>
          </a:p>
          <a:p>
            <a:pPr lvl="1"/>
            <a:r>
              <a:rPr lang="en-US" dirty="0" smtClean="0"/>
              <a:t>Simple reference </a:t>
            </a:r>
            <a:r>
              <a:rPr lang="en-US" dirty="0"/>
              <a:t>counting is most useful in situations where it can be guaranteed that there will be no loops and where modifications to the reference structure are comparatively infrequent. </a:t>
            </a:r>
            <a:endParaRPr lang="en-US" dirty="0" smtClean="0"/>
          </a:p>
        </p:txBody>
      </p:sp>
      <p:pic>
        <p:nvPicPr>
          <p:cNvPr id="3074" name="Picture 2" descr="Image result for cycled linked li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0479" y="4437112"/>
            <a:ext cx="4570805" cy="1823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8664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07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r>
              <a:rPr lang="en-US" dirty="0" smtClean="0"/>
              <a:t>Mark-and-Sweep</a:t>
            </a:r>
            <a:endParaRPr lang="en-US" dirty="0"/>
          </a:p>
        </p:txBody>
      </p:sp>
      <p:sp>
        <p:nvSpPr>
          <p:cNvPr id="3" name="Content Placeholder 2"/>
          <p:cNvSpPr>
            <a:spLocks noGrp="1"/>
          </p:cNvSpPr>
          <p:nvPr>
            <p:ph idx="1"/>
          </p:nvPr>
        </p:nvSpPr>
        <p:spPr/>
        <p:txBody>
          <a:bodyPr>
            <a:noAutofit/>
          </a:bodyPr>
          <a:lstStyle/>
          <a:p>
            <a:pPr>
              <a:spcBef>
                <a:spcPts val="200"/>
              </a:spcBef>
            </a:pPr>
            <a:r>
              <a:rPr lang="en-US" sz="2800" dirty="0"/>
              <a:t>The algorithm is part of a tracing techniques. </a:t>
            </a:r>
          </a:p>
          <a:p>
            <a:pPr lvl="1">
              <a:spcBef>
                <a:spcPts val="200"/>
              </a:spcBef>
            </a:pPr>
            <a:r>
              <a:rPr lang="en-US" sz="2400" dirty="0"/>
              <a:t>It traces out the entire collection of objects that are directly or indirectly accessible by the program.</a:t>
            </a:r>
          </a:p>
          <a:p>
            <a:pPr>
              <a:spcBef>
                <a:spcPts val="200"/>
              </a:spcBef>
            </a:pPr>
            <a:r>
              <a:rPr lang="en-US" sz="2800" dirty="0"/>
              <a:t>Two phases:</a:t>
            </a:r>
          </a:p>
          <a:p>
            <a:pPr lvl="1">
              <a:spcBef>
                <a:spcPts val="200"/>
              </a:spcBef>
            </a:pPr>
            <a:r>
              <a:rPr lang="en-US" sz="2400" dirty="0"/>
              <a:t>The Mark phase</a:t>
            </a:r>
          </a:p>
          <a:p>
            <a:pPr lvl="2">
              <a:spcBef>
                <a:spcPts val="200"/>
              </a:spcBef>
            </a:pPr>
            <a:r>
              <a:rPr lang="en-US" sz="2000" dirty="0"/>
              <a:t>Explore pointers starting from the program variables, and mark all reachable objects</a:t>
            </a:r>
          </a:p>
          <a:p>
            <a:pPr lvl="1">
              <a:spcBef>
                <a:spcPts val="200"/>
              </a:spcBef>
            </a:pPr>
            <a:r>
              <a:rPr lang="en-US" sz="2400" dirty="0"/>
              <a:t>The Sweep phase</a:t>
            </a:r>
          </a:p>
          <a:p>
            <a:pPr lvl="2">
              <a:spcBef>
                <a:spcPts val="200"/>
              </a:spcBef>
            </a:pPr>
            <a:r>
              <a:rPr lang="en-US" sz="2000" dirty="0"/>
              <a:t>Sweep through all objects in the heap and reclaim the unmarked ones</a:t>
            </a:r>
          </a:p>
        </p:txBody>
      </p:sp>
    </p:spTree>
    <p:extLst>
      <p:ext uri="{BB962C8B-B14F-4D97-AF65-F5344CB8AC3E}">
        <p14:creationId xmlns:p14="http://schemas.microsoft.com/office/powerpoint/2010/main" val="4086706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r>
              <a:rPr lang="en-US" dirty="0" smtClean="0"/>
              <a:t>Mark-and-Sweep</a:t>
            </a:r>
            <a:endParaRPr lang="en-US" dirty="0"/>
          </a:p>
        </p:txBody>
      </p:sp>
      <p:sp>
        <p:nvSpPr>
          <p:cNvPr id="3" name="Content Placeholder 2"/>
          <p:cNvSpPr>
            <a:spLocks noGrp="1"/>
          </p:cNvSpPr>
          <p:nvPr>
            <p:ph idx="1"/>
          </p:nvPr>
        </p:nvSpPr>
        <p:spPr/>
        <p:txBody>
          <a:bodyPr>
            <a:noAutofit/>
          </a:bodyPr>
          <a:lstStyle/>
          <a:p>
            <a:pPr>
              <a:spcBef>
                <a:spcPts val="200"/>
              </a:spcBef>
            </a:pPr>
            <a:r>
              <a:rPr lang="en-US" sz="2800" dirty="0"/>
              <a:t>How it works?</a:t>
            </a:r>
          </a:p>
        </p:txBody>
      </p:sp>
      <p:pic>
        <p:nvPicPr>
          <p:cNvPr id="5" name="Picture 4"/>
          <p:cNvPicPr>
            <a:picLocks noChangeAspect="1"/>
          </p:cNvPicPr>
          <p:nvPr/>
        </p:nvPicPr>
        <p:blipFill>
          <a:blip r:embed="rId2"/>
          <a:stretch>
            <a:fillRect/>
          </a:stretch>
        </p:blipFill>
        <p:spPr>
          <a:xfrm>
            <a:off x="4582244" y="1876318"/>
            <a:ext cx="5851400" cy="4505010"/>
          </a:xfrm>
          <a:prstGeom prst="rect">
            <a:avLst/>
          </a:prstGeom>
        </p:spPr>
      </p:pic>
      <p:pic>
        <p:nvPicPr>
          <p:cNvPr id="6" name="Picture 5"/>
          <p:cNvPicPr>
            <a:picLocks noChangeAspect="1"/>
          </p:cNvPicPr>
          <p:nvPr/>
        </p:nvPicPr>
        <p:blipFill>
          <a:blip r:embed="rId3"/>
          <a:stretch>
            <a:fillRect/>
          </a:stretch>
        </p:blipFill>
        <p:spPr>
          <a:xfrm>
            <a:off x="4582244" y="1876318"/>
            <a:ext cx="5851400" cy="4505010"/>
          </a:xfrm>
          <a:prstGeom prst="rect">
            <a:avLst/>
          </a:prstGeom>
        </p:spPr>
      </p:pic>
      <p:pic>
        <p:nvPicPr>
          <p:cNvPr id="7" name="Picture 6"/>
          <p:cNvPicPr>
            <a:picLocks noChangeAspect="1"/>
          </p:cNvPicPr>
          <p:nvPr/>
        </p:nvPicPr>
        <p:blipFill>
          <a:blip r:embed="rId4"/>
          <a:stretch>
            <a:fillRect/>
          </a:stretch>
        </p:blipFill>
        <p:spPr>
          <a:xfrm>
            <a:off x="4582244" y="1876318"/>
            <a:ext cx="5851400" cy="4505010"/>
          </a:xfrm>
          <a:prstGeom prst="rect">
            <a:avLst/>
          </a:prstGeom>
        </p:spPr>
      </p:pic>
    </p:spTree>
    <p:extLst>
      <p:ext uri="{BB962C8B-B14F-4D97-AF65-F5344CB8AC3E}">
        <p14:creationId xmlns:p14="http://schemas.microsoft.com/office/powerpoint/2010/main" val="71177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r>
              <a:rPr lang="en-US" dirty="0" smtClean="0"/>
              <a:t>The Mark phase</a:t>
            </a:r>
            <a:endParaRPr lang="en-US" dirty="0"/>
          </a:p>
        </p:txBody>
      </p:sp>
      <p:sp>
        <p:nvSpPr>
          <p:cNvPr id="3" name="Content Placeholder 2"/>
          <p:cNvSpPr>
            <a:spLocks noGrp="1"/>
          </p:cNvSpPr>
          <p:nvPr>
            <p:ph idx="1"/>
          </p:nvPr>
        </p:nvSpPr>
        <p:spPr/>
        <p:txBody>
          <a:bodyPr>
            <a:noAutofit/>
          </a:bodyPr>
          <a:lstStyle/>
          <a:p>
            <a:pPr>
              <a:spcBef>
                <a:spcPts val="200"/>
              </a:spcBef>
            </a:pPr>
            <a:r>
              <a:rPr lang="en-US" sz="2800" dirty="0"/>
              <a:t>Explore pointers starting from the program variables, and mark all reachable objects.</a:t>
            </a:r>
          </a:p>
          <a:p>
            <a:pPr lvl="1">
              <a:spcBef>
                <a:spcPts val="200"/>
              </a:spcBef>
            </a:pPr>
            <a:r>
              <a:rPr lang="en-US" sz="2400" dirty="0"/>
              <a:t>When an object is created, its mark bit is set to 0(false). </a:t>
            </a:r>
          </a:p>
          <a:p>
            <a:pPr lvl="1">
              <a:spcBef>
                <a:spcPts val="200"/>
              </a:spcBef>
            </a:pPr>
            <a:endParaRPr lang="en-US" sz="2400" dirty="0"/>
          </a:p>
          <a:p>
            <a:pPr lvl="1">
              <a:spcBef>
                <a:spcPts val="200"/>
              </a:spcBef>
            </a:pPr>
            <a:endParaRPr lang="en-US" sz="2400" dirty="0"/>
          </a:p>
          <a:p>
            <a:pPr lvl="1">
              <a:spcBef>
                <a:spcPts val="200"/>
              </a:spcBef>
            </a:pPr>
            <a:endParaRPr lang="en-US" sz="2400" dirty="0"/>
          </a:p>
          <a:p>
            <a:pPr lvl="1">
              <a:spcBef>
                <a:spcPts val="200"/>
              </a:spcBef>
            </a:pPr>
            <a:endParaRPr lang="en-US" sz="2400" dirty="0"/>
          </a:p>
          <a:p>
            <a:pPr lvl="1">
              <a:spcBef>
                <a:spcPts val="200"/>
              </a:spcBef>
            </a:pPr>
            <a:endParaRPr lang="en-US" sz="2400" dirty="0"/>
          </a:p>
          <a:p>
            <a:pPr lvl="1">
              <a:spcBef>
                <a:spcPts val="200"/>
              </a:spcBef>
            </a:pPr>
            <a:endParaRPr lang="en-US" sz="2400" dirty="0"/>
          </a:p>
          <a:p>
            <a:pPr lvl="1">
              <a:spcBef>
                <a:spcPts val="200"/>
              </a:spcBef>
            </a:pPr>
            <a:endParaRPr lang="en-US" sz="2400" dirty="0"/>
          </a:p>
          <a:p>
            <a:pPr lvl="1">
              <a:spcBef>
                <a:spcPts val="200"/>
              </a:spcBef>
            </a:pPr>
            <a:r>
              <a:rPr lang="en-US" sz="2400" dirty="0"/>
              <a:t>‘</a:t>
            </a:r>
            <a:r>
              <a:rPr lang="en-US" sz="2400" i="1" dirty="0">
                <a:effectLst>
                  <a:outerShdw blurRad="38100" dist="38100" dir="2700000" algn="tl">
                    <a:srgbClr val="000000">
                      <a:alpha val="43137"/>
                    </a:srgbClr>
                  </a:outerShdw>
                </a:effectLst>
              </a:rPr>
              <a:t>root</a:t>
            </a:r>
            <a:r>
              <a:rPr lang="en-US" sz="2400" dirty="0"/>
              <a:t>’ is a variable that refer to an object and is directly accessible by local variable. </a:t>
            </a:r>
          </a:p>
        </p:txBody>
      </p:sp>
      <p:pic>
        <p:nvPicPr>
          <p:cNvPr id="5" name="Picture 4"/>
          <p:cNvPicPr>
            <a:picLocks noChangeAspect="1"/>
          </p:cNvPicPr>
          <p:nvPr/>
        </p:nvPicPr>
        <p:blipFill>
          <a:blip r:embed="rId2"/>
          <a:stretch>
            <a:fillRect/>
          </a:stretch>
        </p:blipFill>
        <p:spPr>
          <a:xfrm>
            <a:off x="3574132" y="2924944"/>
            <a:ext cx="5394960" cy="2237682"/>
          </a:xfrm>
          <a:prstGeom prst="rect">
            <a:avLst/>
          </a:prstGeom>
        </p:spPr>
      </p:pic>
    </p:spTree>
    <p:extLst>
      <p:ext uri="{BB962C8B-B14F-4D97-AF65-F5344CB8AC3E}">
        <p14:creationId xmlns:p14="http://schemas.microsoft.com/office/powerpoint/2010/main" val="1427842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r>
              <a:rPr lang="en-US" dirty="0" smtClean="0"/>
              <a:t>The Sweep phase</a:t>
            </a:r>
            <a:endParaRPr lang="en-US" dirty="0"/>
          </a:p>
        </p:txBody>
      </p:sp>
      <p:sp>
        <p:nvSpPr>
          <p:cNvPr id="3" name="Content Placeholder 2"/>
          <p:cNvSpPr>
            <a:spLocks noGrp="1"/>
          </p:cNvSpPr>
          <p:nvPr>
            <p:ph idx="1"/>
          </p:nvPr>
        </p:nvSpPr>
        <p:spPr/>
        <p:txBody>
          <a:bodyPr>
            <a:noAutofit/>
          </a:bodyPr>
          <a:lstStyle/>
          <a:p>
            <a:pPr>
              <a:spcBef>
                <a:spcPts val="200"/>
              </a:spcBef>
            </a:pPr>
            <a:r>
              <a:rPr lang="en-US" sz="2800" dirty="0"/>
              <a:t>Explore pointers starting from the program variables, and mark all reachable objects:</a:t>
            </a:r>
          </a:p>
        </p:txBody>
      </p:sp>
      <p:pic>
        <p:nvPicPr>
          <p:cNvPr id="4" name="Picture 3"/>
          <p:cNvPicPr>
            <a:picLocks noChangeAspect="1"/>
          </p:cNvPicPr>
          <p:nvPr/>
        </p:nvPicPr>
        <p:blipFill>
          <a:blip r:embed="rId2"/>
          <a:stretch>
            <a:fillRect/>
          </a:stretch>
        </p:blipFill>
        <p:spPr>
          <a:xfrm>
            <a:off x="3862164" y="2996953"/>
            <a:ext cx="5394960" cy="2182231"/>
          </a:xfrm>
          <a:prstGeom prst="rect">
            <a:avLst/>
          </a:prstGeom>
        </p:spPr>
      </p:pic>
    </p:spTree>
    <p:extLst>
      <p:ext uri="{BB962C8B-B14F-4D97-AF65-F5344CB8AC3E}">
        <p14:creationId xmlns:p14="http://schemas.microsoft.com/office/powerpoint/2010/main" val="950643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Mark-and-Sweep</a:t>
            </a:r>
            <a:endParaRPr lang="en-US" dirty="0"/>
          </a:p>
        </p:txBody>
      </p:sp>
      <p:sp>
        <p:nvSpPr>
          <p:cNvPr id="3" name="Content Placeholder 2"/>
          <p:cNvSpPr>
            <a:spLocks noGrp="1"/>
          </p:cNvSpPr>
          <p:nvPr>
            <p:ph idx="1"/>
          </p:nvPr>
        </p:nvSpPr>
        <p:spPr/>
        <p:txBody>
          <a:bodyPr/>
          <a:lstStyle/>
          <a:p>
            <a:r>
              <a:rPr lang="en-US" sz="2400" dirty="0"/>
              <a:t>Advantages:</a:t>
            </a:r>
          </a:p>
          <a:p>
            <a:pPr lvl="1"/>
            <a:r>
              <a:rPr lang="en-US" sz="2000" dirty="0"/>
              <a:t>It handles the case with cyclic references, even in case of a cycle, this algorithm never ends up in an infinite loop.</a:t>
            </a:r>
          </a:p>
          <a:p>
            <a:pPr lvl="1"/>
            <a:r>
              <a:rPr lang="en-US" sz="2000" dirty="0"/>
              <a:t>There are no additional overheads incurred during the execution of the algorithm.</a:t>
            </a:r>
          </a:p>
          <a:p>
            <a:r>
              <a:rPr lang="en-US" sz="2400" dirty="0"/>
              <a:t>Disadvantages:</a:t>
            </a:r>
          </a:p>
          <a:p>
            <a:pPr lvl="1"/>
            <a:r>
              <a:rPr lang="en-US" sz="2000" dirty="0"/>
              <a:t>The main disadvantage is the fact that that normal program execution is suspended while the garbage collection algorithm runs.</a:t>
            </a:r>
          </a:p>
          <a:p>
            <a:pPr lvl="1"/>
            <a:r>
              <a:rPr lang="en-US" sz="2000" dirty="0"/>
              <a:t>After the algorithm is run several times on a program, reachable objects end up being separated by many, small unused memory regions. </a:t>
            </a:r>
          </a:p>
          <a:p>
            <a:pPr lvl="2"/>
            <a:r>
              <a:rPr lang="en-US" sz="1800" dirty="0"/>
              <a:t>This problem is termed as “</a:t>
            </a:r>
            <a:r>
              <a:rPr lang="en-US" sz="1800" i="1" dirty="0">
                <a:effectLst>
                  <a:outerShdw blurRad="38100" dist="38100" dir="2700000" algn="tl">
                    <a:srgbClr val="000000">
                      <a:alpha val="43137"/>
                    </a:srgbClr>
                  </a:outerShdw>
                </a:effectLst>
              </a:rPr>
              <a:t>Fragmentation</a:t>
            </a:r>
            <a:r>
              <a:rPr lang="en-US" sz="1800" dirty="0"/>
              <a:t>”: system has memory available in “fragments” but it is unable to utilize that memory space.</a:t>
            </a:r>
          </a:p>
        </p:txBody>
      </p:sp>
      <p:pic>
        <p:nvPicPr>
          <p:cNvPr id="4098" name="Picture 2" descr="https://www.geeksforgeeks.org/wp-content/uploads/HeapMemor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0348" y="5559974"/>
            <a:ext cx="4241304" cy="965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69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r>
              <a:rPr lang="en-US" dirty="0" smtClean="0"/>
              <a:t>Stop-and-Copy</a:t>
            </a:r>
            <a:endParaRPr lang="en-US" dirty="0"/>
          </a:p>
        </p:txBody>
      </p:sp>
      <p:sp>
        <p:nvSpPr>
          <p:cNvPr id="3" name="Content Placeholder 2"/>
          <p:cNvSpPr>
            <a:spLocks noGrp="1"/>
          </p:cNvSpPr>
          <p:nvPr>
            <p:ph idx="1"/>
          </p:nvPr>
        </p:nvSpPr>
        <p:spPr>
          <a:xfrm>
            <a:off x="1773932" y="1484784"/>
            <a:ext cx="8568952" cy="4896544"/>
          </a:xfrm>
        </p:spPr>
        <p:txBody>
          <a:bodyPr>
            <a:noAutofit/>
          </a:bodyPr>
          <a:lstStyle/>
          <a:p>
            <a:pPr>
              <a:lnSpc>
                <a:spcPct val="110000"/>
              </a:lnSpc>
              <a:spcBef>
                <a:spcPts val="0"/>
              </a:spcBef>
            </a:pPr>
            <a:r>
              <a:rPr lang="en-US" sz="2800" dirty="0"/>
              <a:t>It works by splitting the available memory in half.</a:t>
            </a:r>
          </a:p>
          <a:p>
            <a:pPr lvl="1">
              <a:lnSpc>
                <a:spcPct val="110000"/>
              </a:lnSpc>
              <a:spcBef>
                <a:spcPts val="0"/>
              </a:spcBef>
            </a:pPr>
            <a:r>
              <a:rPr lang="en-US" sz="2400" dirty="0"/>
              <a:t>One half is designated as the </a:t>
            </a:r>
            <a:r>
              <a:rPr lang="en-US" sz="2400" i="1" dirty="0">
                <a:effectLst>
                  <a:outerShdw blurRad="38100" dist="38100" dir="2700000" algn="tl">
                    <a:srgbClr val="000000">
                      <a:alpha val="43137"/>
                    </a:srgbClr>
                  </a:outerShdw>
                </a:effectLst>
              </a:rPr>
              <a:t>current half </a:t>
            </a:r>
            <a:r>
              <a:rPr lang="en-US" sz="2400" dirty="0"/>
              <a:t>(where all allocations take place) and the other half is designated as the </a:t>
            </a:r>
            <a:r>
              <a:rPr lang="en-US" sz="2400" i="1" dirty="0">
                <a:effectLst>
                  <a:outerShdw blurRad="38100" dist="38100" dir="2700000" algn="tl">
                    <a:srgbClr val="000000">
                      <a:alpha val="43137"/>
                    </a:srgbClr>
                  </a:outerShdw>
                </a:effectLst>
              </a:rPr>
              <a:t>idle half </a:t>
            </a:r>
            <a:r>
              <a:rPr lang="en-US" sz="2400" dirty="0"/>
              <a:t>(nothing happens to it). </a:t>
            </a:r>
          </a:p>
          <a:p>
            <a:pPr lvl="1">
              <a:lnSpc>
                <a:spcPct val="110000"/>
              </a:lnSpc>
              <a:spcBef>
                <a:spcPts val="0"/>
              </a:spcBef>
            </a:pPr>
            <a:r>
              <a:rPr lang="en-US" altLang="en-US" sz="2400" dirty="0"/>
              <a:t>It is a kind of a tracing collector.</a:t>
            </a:r>
          </a:p>
          <a:p>
            <a:pPr lvl="2">
              <a:lnSpc>
                <a:spcPct val="110000"/>
              </a:lnSpc>
              <a:spcBef>
                <a:spcPts val="0"/>
              </a:spcBef>
            </a:pPr>
            <a:r>
              <a:rPr lang="en-US" sz="2000" dirty="0"/>
              <a:t>The collector traverses the heap by starting at the root pointers.</a:t>
            </a:r>
          </a:p>
          <a:p>
            <a:pPr lvl="2">
              <a:lnSpc>
                <a:spcPct val="110000"/>
              </a:lnSpc>
              <a:spcBef>
                <a:spcPts val="0"/>
              </a:spcBef>
            </a:pPr>
            <a:r>
              <a:rPr lang="en-US" sz="2000" dirty="0"/>
              <a:t>For each node traversed, the collector copies the node into the idle half of the heap (adjusting the pointers so that links are still maintained</a:t>
            </a:r>
          </a:p>
          <a:p>
            <a:pPr lvl="2">
              <a:lnSpc>
                <a:spcPct val="110000"/>
              </a:lnSpc>
              <a:spcBef>
                <a:spcPts val="0"/>
              </a:spcBef>
            </a:pPr>
            <a:r>
              <a:rPr lang="en-US" sz="2000" dirty="0"/>
              <a:t>When the copy is complete (all reachable nodes have been copied into the idle heap), the designations of the heaps are switched, the idle heap becomes the current heap and the current heap becomes the idle heap.</a:t>
            </a:r>
          </a:p>
        </p:txBody>
      </p:sp>
    </p:spTree>
    <p:extLst>
      <p:ext uri="{BB962C8B-B14F-4D97-AF65-F5344CB8AC3E}">
        <p14:creationId xmlns:p14="http://schemas.microsoft.com/office/powerpoint/2010/main" val="196156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r>
              <a:rPr lang="en-US" dirty="0" smtClean="0"/>
              <a:t>Stop-and-Copy</a:t>
            </a:r>
            <a:endParaRPr lang="en-US" dirty="0"/>
          </a:p>
        </p:txBody>
      </p:sp>
      <p:sp>
        <p:nvSpPr>
          <p:cNvPr id="3" name="Content Placeholder 2"/>
          <p:cNvSpPr>
            <a:spLocks noGrp="1"/>
          </p:cNvSpPr>
          <p:nvPr>
            <p:ph idx="1"/>
          </p:nvPr>
        </p:nvSpPr>
        <p:spPr>
          <a:xfrm>
            <a:off x="1773932" y="1484784"/>
            <a:ext cx="8568952" cy="4896544"/>
          </a:xfrm>
        </p:spPr>
        <p:txBody>
          <a:bodyPr>
            <a:noAutofit/>
          </a:bodyPr>
          <a:lstStyle/>
          <a:p>
            <a:pPr>
              <a:lnSpc>
                <a:spcPct val="110000"/>
              </a:lnSpc>
              <a:spcBef>
                <a:spcPts val="0"/>
              </a:spcBef>
            </a:pPr>
            <a:r>
              <a:rPr lang="en-US" sz="2800" dirty="0"/>
              <a:t>It works by splitting the available memory in half.</a:t>
            </a:r>
          </a:p>
          <a:p>
            <a:pPr lvl="1">
              <a:lnSpc>
                <a:spcPct val="110000"/>
              </a:lnSpc>
              <a:spcBef>
                <a:spcPts val="0"/>
              </a:spcBef>
            </a:pPr>
            <a:r>
              <a:rPr lang="en-US" sz="2400" dirty="0"/>
              <a:t>One half is designated as the </a:t>
            </a:r>
            <a:r>
              <a:rPr lang="en-US" sz="2400" i="1" dirty="0">
                <a:effectLst>
                  <a:outerShdw blurRad="38100" dist="38100" dir="2700000" algn="tl">
                    <a:srgbClr val="000000">
                      <a:alpha val="43137"/>
                    </a:srgbClr>
                  </a:outerShdw>
                </a:effectLst>
              </a:rPr>
              <a:t>current half </a:t>
            </a:r>
            <a:r>
              <a:rPr lang="en-US" sz="2400" dirty="0"/>
              <a:t>(where all allocations take place) and the other half is designated as the </a:t>
            </a:r>
            <a:r>
              <a:rPr lang="en-US" sz="2400" i="1" dirty="0">
                <a:effectLst>
                  <a:outerShdw blurRad="38100" dist="38100" dir="2700000" algn="tl">
                    <a:srgbClr val="000000">
                      <a:alpha val="43137"/>
                    </a:srgbClr>
                  </a:outerShdw>
                </a:effectLst>
              </a:rPr>
              <a:t>idle half </a:t>
            </a:r>
            <a:r>
              <a:rPr lang="en-US" sz="2400" dirty="0"/>
              <a:t>(nothing happens to it). </a:t>
            </a:r>
          </a:p>
          <a:p>
            <a:pPr lvl="1">
              <a:lnSpc>
                <a:spcPct val="110000"/>
              </a:lnSpc>
              <a:spcBef>
                <a:spcPts val="0"/>
              </a:spcBef>
            </a:pPr>
            <a:r>
              <a:rPr lang="en-US" altLang="en-US" sz="2400" dirty="0"/>
              <a:t>It is a kind of a tracing collector.</a:t>
            </a:r>
          </a:p>
          <a:p>
            <a:pPr lvl="2">
              <a:lnSpc>
                <a:spcPct val="110000"/>
              </a:lnSpc>
              <a:spcBef>
                <a:spcPts val="0"/>
              </a:spcBef>
            </a:pPr>
            <a:r>
              <a:rPr lang="en-US" sz="2000" dirty="0"/>
              <a:t>The collector traverses the heap by starting at the root pointers.</a:t>
            </a:r>
          </a:p>
          <a:p>
            <a:pPr lvl="2">
              <a:lnSpc>
                <a:spcPct val="110000"/>
              </a:lnSpc>
              <a:spcBef>
                <a:spcPts val="0"/>
              </a:spcBef>
            </a:pPr>
            <a:r>
              <a:rPr lang="en-US" sz="2000" dirty="0"/>
              <a:t>For each node traversed, the collector copies the node into the idle half of the heap (adjusting the pointers so that links are still maintained</a:t>
            </a:r>
          </a:p>
          <a:p>
            <a:pPr lvl="2">
              <a:lnSpc>
                <a:spcPct val="110000"/>
              </a:lnSpc>
              <a:spcBef>
                <a:spcPts val="0"/>
              </a:spcBef>
            </a:pPr>
            <a:r>
              <a:rPr lang="en-US" sz="2000" dirty="0"/>
              <a:t>When the copy is complete (all reachable nodes have been copied into the idle heap), the designations of the heaps are switched, the idle heap becomes the current heap and the current heap becomes the idle heap.</a:t>
            </a:r>
          </a:p>
        </p:txBody>
      </p:sp>
    </p:spTree>
    <p:extLst>
      <p:ext uri="{BB962C8B-B14F-4D97-AF65-F5344CB8AC3E}">
        <p14:creationId xmlns:p14="http://schemas.microsoft.com/office/powerpoint/2010/main" val="2455931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p>
            <a:r>
              <a:rPr lang="en-US" dirty="0" smtClean="0"/>
              <a:t>Stop-and-Copy</a:t>
            </a:r>
            <a:endParaRPr lang="en-US" dirty="0"/>
          </a:p>
        </p:txBody>
      </p:sp>
      <p:sp>
        <p:nvSpPr>
          <p:cNvPr id="3" name="Content Placeholder 2"/>
          <p:cNvSpPr>
            <a:spLocks noGrp="1"/>
          </p:cNvSpPr>
          <p:nvPr>
            <p:ph idx="1"/>
          </p:nvPr>
        </p:nvSpPr>
        <p:spPr>
          <a:xfrm>
            <a:off x="1773932" y="1484784"/>
            <a:ext cx="8568952" cy="4896544"/>
          </a:xfrm>
        </p:spPr>
        <p:txBody>
          <a:bodyPr>
            <a:noAutofit/>
          </a:bodyPr>
          <a:lstStyle/>
          <a:p>
            <a:pPr>
              <a:lnSpc>
                <a:spcPct val="110000"/>
              </a:lnSpc>
              <a:spcBef>
                <a:spcPts val="0"/>
              </a:spcBef>
            </a:pPr>
            <a:r>
              <a:rPr lang="en-US" sz="2800" dirty="0"/>
              <a:t>It works by splitting the available memory in half.</a:t>
            </a:r>
          </a:p>
        </p:txBody>
      </p:sp>
      <p:pic>
        <p:nvPicPr>
          <p:cNvPr id="4" name="Picture 3"/>
          <p:cNvPicPr>
            <a:picLocks noChangeAspect="1"/>
          </p:cNvPicPr>
          <p:nvPr/>
        </p:nvPicPr>
        <p:blipFill>
          <a:blip r:embed="rId3"/>
          <a:stretch>
            <a:fillRect/>
          </a:stretch>
        </p:blipFill>
        <p:spPr>
          <a:xfrm>
            <a:off x="4654252" y="2162509"/>
            <a:ext cx="5769038" cy="4352081"/>
          </a:xfrm>
          <a:prstGeom prst="rect">
            <a:avLst/>
          </a:prstGeom>
        </p:spPr>
      </p:pic>
    </p:spTree>
    <p:extLst>
      <p:ext uri="{BB962C8B-B14F-4D97-AF65-F5344CB8AC3E}">
        <p14:creationId xmlns:p14="http://schemas.microsoft.com/office/powerpoint/2010/main" val="4120807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approach</a:t>
            </a:r>
            <a:endParaRPr lang="en-US" dirty="0"/>
          </a:p>
        </p:txBody>
      </p:sp>
      <p:sp>
        <p:nvSpPr>
          <p:cNvPr id="3" name="Content Placeholder 2"/>
          <p:cNvSpPr>
            <a:spLocks noGrp="1"/>
          </p:cNvSpPr>
          <p:nvPr>
            <p:ph idx="1"/>
          </p:nvPr>
        </p:nvSpPr>
        <p:spPr/>
        <p:txBody>
          <a:bodyPr/>
          <a:lstStyle/>
          <a:p>
            <a:r>
              <a:rPr lang="en-US" sz="2800" dirty="0"/>
              <a:t>The best garbage collectors in use today are based on a combination of smaller garbage collectors. </a:t>
            </a:r>
          </a:p>
          <a:p>
            <a:pPr lvl="1"/>
            <a:r>
              <a:rPr lang="en-US" sz="2400" dirty="0"/>
              <a:t>Each garbage collector is targeted to reclaim specific types of garbage. </a:t>
            </a:r>
          </a:p>
          <a:p>
            <a:pPr lvl="1"/>
            <a:r>
              <a:rPr lang="en-US" sz="2400" dirty="0"/>
              <a:t>Usually has some final “fallback” garbage collector to handle everything else.</a:t>
            </a:r>
          </a:p>
          <a:p>
            <a:r>
              <a:rPr lang="en-US" sz="2800" dirty="0"/>
              <a:t>Idea: most objects have extremely short lifetimes (“</a:t>
            </a:r>
            <a:r>
              <a:rPr lang="en-US" sz="2800" i="1" dirty="0"/>
              <a:t>objects die </a:t>
            </a:r>
            <a:r>
              <a:rPr lang="en-US" sz="2800" i="1"/>
              <a:t>young</a:t>
            </a:r>
            <a:r>
              <a:rPr lang="en-US" sz="2800"/>
              <a:t>”). </a:t>
            </a:r>
            <a:endParaRPr lang="en-US" sz="2800" dirty="0"/>
          </a:p>
          <a:p>
            <a:pPr lvl="1"/>
            <a:r>
              <a:rPr lang="en-US" sz="2400" dirty="0"/>
              <a:t>Objects allocated locally in a function. </a:t>
            </a:r>
          </a:p>
          <a:p>
            <a:pPr lvl="1"/>
            <a:r>
              <a:rPr lang="en-US" sz="2400" dirty="0"/>
              <a:t>Temporary objects used to construct larger objects. </a:t>
            </a:r>
          </a:p>
          <a:p>
            <a:pPr lvl="1"/>
            <a:r>
              <a:rPr lang="en-US" sz="2400" dirty="0"/>
              <a:t>Optimize garbage collection to reclaim young objects rapidly while spending less time on older objects.</a:t>
            </a:r>
          </a:p>
        </p:txBody>
      </p:sp>
    </p:spTree>
    <p:extLst>
      <p:ext uri="{BB962C8B-B14F-4D97-AF65-F5344CB8AC3E}">
        <p14:creationId xmlns:p14="http://schemas.microsoft.com/office/powerpoint/2010/main" val="1676682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approach</a:t>
            </a:r>
            <a:endParaRPr lang="en-US" dirty="0"/>
          </a:p>
        </p:txBody>
      </p:sp>
      <p:sp>
        <p:nvSpPr>
          <p:cNvPr id="3" name="Content Placeholder 2"/>
          <p:cNvSpPr>
            <a:spLocks noGrp="1"/>
          </p:cNvSpPr>
          <p:nvPr>
            <p:ph idx="1"/>
          </p:nvPr>
        </p:nvSpPr>
        <p:spPr/>
        <p:txBody>
          <a:bodyPr/>
          <a:lstStyle/>
          <a:p>
            <a:r>
              <a:rPr lang="en-US" dirty="0"/>
              <a:t>Partition memory into several “generations.” </a:t>
            </a:r>
            <a:endParaRPr lang="en-US" dirty="0" smtClean="0"/>
          </a:p>
          <a:p>
            <a:pPr lvl="1"/>
            <a:r>
              <a:rPr lang="en-US" dirty="0" smtClean="0"/>
              <a:t>Objects </a:t>
            </a:r>
            <a:r>
              <a:rPr lang="en-US" dirty="0"/>
              <a:t>are always allocated in the first generation. </a:t>
            </a:r>
            <a:endParaRPr lang="en-US" dirty="0" smtClean="0"/>
          </a:p>
          <a:p>
            <a:r>
              <a:rPr lang="en-US" dirty="0" smtClean="0"/>
              <a:t>When </a:t>
            </a:r>
            <a:r>
              <a:rPr lang="en-US" dirty="0"/>
              <a:t>the first generation fills up, garbage collect it. </a:t>
            </a:r>
            <a:endParaRPr lang="en-US" dirty="0" smtClean="0"/>
          </a:p>
          <a:p>
            <a:pPr lvl="1"/>
            <a:r>
              <a:rPr lang="en-US" dirty="0" smtClean="0"/>
              <a:t>Runs quickly: it collects </a:t>
            </a:r>
            <a:r>
              <a:rPr lang="en-US" dirty="0"/>
              <a:t>only a small region of memory. </a:t>
            </a:r>
            <a:endParaRPr lang="en-US" dirty="0" smtClean="0"/>
          </a:p>
          <a:p>
            <a:r>
              <a:rPr lang="en-US" dirty="0" smtClean="0"/>
              <a:t>Move </a:t>
            </a:r>
            <a:r>
              <a:rPr lang="en-US" dirty="0"/>
              <a:t>objects that survive in the first generation long enough into the next generation. </a:t>
            </a:r>
            <a:endParaRPr lang="en-US" dirty="0" smtClean="0"/>
          </a:p>
          <a:p>
            <a:pPr lvl="1"/>
            <a:r>
              <a:rPr lang="en-US" dirty="0" smtClean="0"/>
              <a:t>When </a:t>
            </a:r>
            <a:r>
              <a:rPr lang="en-US" dirty="0"/>
              <a:t>no space can be found, run a full (slower) garbage collection on all of memory</a:t>
            </a:r>
            <a:endParaRPr lang="en-US" sz="2400" dirty="0"/>
          </a:p>
        </p:txBody>
      </p:sp>
    </p:spTree>
    <p:extLst>
      <p:ext uri="{BB962C8B-B14F-4D97-AF65-F5344CB8AC3E}">
        <p14:creationId xmlns:p14="http://schemas.microsoft.com/office/powerpoint/2010/main" val="58872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Литература </a:t>
            </a:r>
            <a:endParaRPr lang="bg-BG" dirty="0"/>
          </a:p>
        </p:txBody>
      </p:sp>
      <p:sp>
        <p:nvSpPr>
          <p:cNvPr id="3" name="Content Placeholder 2"/>
          <p:cNvSpPr>
            <a:spLocks noGrp="1"/>
          </p:cNvSpPr>
          <p:nvPr>
            <p:ph idx="1"/>
          </p:nvPr>
        </p:nvSpPr>
        <p:spPr/>
        <p:txBody>
          <a:bodyPr vert="horz" lIns="91440" tIns="45720" rIns="91440" bIns="45720" rtlCol="0">
            <a:normAutofit fontScale="47500" lnSpcReduction="20000"/>
          </a:bodyPr>
          <a:lstStyle/>
          <a:p>
            <a:r>
              <a:rPr lang="en-US" sz="2800" dirty="0">
                <a:hlinkClick r:id="rId2"/>
              </a:rPr>
              <a:t>https://www.dsl-ltd.co.uk/support/embedded-os/</a:t>
            </a:r>
            <a:endParaRPr lang="en-US" sz="2800" dirty="0"/>
          </a:p>
          <a:p>
            <a:r>
              <a:rPr lang="en-US" sz="2800" dirty="0">
                <a:hlinkClick r:id="rId3"/>
              </a:rPr>
              <a:t>https://www.javatpoint.com/operating-system</a:t>
            </a:r>
            <a:endParaRPr lang="en-US" sz="2800" dirty="0"/>
          </a:p>
          <a:p>
            <a:r>
              <a:rPr lang="en-US" sz="2800" dirty="0">
                <a:hlinkClick r:id="rId4"/>
              </a:rPr>
              <a:t>https://www.tutorialspoint.com/</a:t>
            </a:r>
            <a:endParaRPr lang="bg-BG" sz="2800" dirty="0"/>
          </a:p>
          <a:p>
            <a:r>
              <a:rPr lang="en-US" sz="2800" dirty="0">
                <a:hlinkClick r:id="rId5"/>
              </a:rPr>
              <a:t>https://www.geeksforgeeks.org/</a:t>
            </a:r>
            <a:endParaRPr lang="en-US" sz="2800" dirty="0"/>
          </a:p>
          <a:p>
            <a:r>
              <a:rPr lang="en-US" sz="2800" dirty="0">
                <a:hlinkClick r:id="rId6"/>
              </a:rPr>
              <a:t>https://www.shresthanischal.com.np/2021/02/difference-between-soft-hard-and-firm.html</a:t>
            </a:r>
            <a:endParaRPr lang="bg-BG" sz="2800" dirty="0"/>
          </a:p>
          <a:p>
            <a:r>
              <a:rPr lang="en-US" sz="2800" dirty="0">
                <a:hlinkClick r:id="rId7"/>
              </a:rPr>
              <a:t>https://www.geeksforgeeks.org/process-scheduler-job-and-process-status/</a:t>
            </a:r>
            <a:endParaRPr lang="bg-BG" sz="2800" dirty="0"/>
          </a:p>
          <a:p>
            <a:r>
              <a:rPr lang="en-US" sz="2800" dirty="0">
                <a:hlinkClick r:id="rId8"/>
              </a:rPr>
              <a:t>https://www.scaler.com/topics/operating-system/interrupt-handling/</a:t>
            </a:r>
            <a:endParaRPr lang="en-US" sz="2800" dirty="0"/>
          </a:p>
          <a:p>
            <a:r>
              <a:rPr lang="en-US" sz="2800" dirty="0"/>
              <a:t>https://www.ibm.com/docs/en/zos-basic-skills?topic=system-what-is-interrupt-processing</a:t>
            </a:r>
            <a:endParaRPr lang="bg-BG" sz="2800" dirty="0"/>
          </a:p>
          <a:p>
            <a:r>
              <a:rPr lang="en-US" sz="2800" dirty="0">
                <a:hlinkClick r:id="rId9"/>
              </a:rPr>
              <a:t>https://aws.amazon.com/what-is/api/</a:t>
            </a:r>
            <a:endParaRPr lang="bg-BG" sz="2800" dirty="0"/>
          </a:p>
          <a:p>
            <a:r>
              <a:rPr lang="en-US" sz="2800" dirty="0">
                <a:hlinkClick r:id="rId10"/>
              </a:rPr>
              <a:t>https://www.altexsoft.com/blog/engineering/what-is-api-definition-types-specifications-documentation/</a:t>
            </a:r>
            <a:endParaRPr lang="bg-BG" sz="2800" dirty="0"/>
          </a:p>
          <a:p>
            <a:r>
              <a:rPr lang="en-US" sz="2800" dirty="0">
                <a:hlinkClick r:id="rId11"/>
              </a:rPr>
              <a:t>https://www.guru99.com/what-is-api.html</a:t>
            </a:r>
            <a:endParaRPr lang="bg-BG" sz="2800" dirty="0"/>
          </a:p>
          <a:p>
            <a:r>
              <a:rPr lang="en-US" sz="2800" dirty="0">
                <a:hlinkClick r:id="rId12"/>
              </a:rPr>
              <a:t>https://www.netsolutions.com/insights/what-is-a-framework-in-programming/</a:t>
            </a:r>
            <a:endParaRPr lang="en-US" sz="2800" dirty="0"/>
          </a:p>
          <a:p>
            <a:r>
              <a:rPr lang="en-US" sz="2800" dirty="0">
                <a:hlinkClick r:id="rId13"/>
              </a:rPr>
              <a:t>https://medium.com/@</a:t>
            </a:r>
            <a:r>
              <a:rPr lang="en-US" sz="2800" dirty="0" smtClean="0">
                <a:hlinkClick r:id="rId13"/>
              </a:rPr>
              <a:t>StueyGK/static-libraries-vs-dynamic-libraries-af78f0b5f1e4</a:t>
            </a:r>
            <a:endParaRPr lang="bg-BG" sz="2800" dirty="0" smtClean="0"/>
          </a:p>
          <a:p>
            <a:r>
              <a:rPr lang="en-US" sz="2800" dirty="0">
                <a:hlinkClick r:id="rId14"/>
              </a:rPr>
              <a:t>https://www.jmix.io/cuba-blog/classification-of-development-frameworks-for-enterprise-applications</a:t>
            </a:r>
            <a:r>
              <a:rPr lang="en-US" sz="2800" dirty="0" smtClean="0">
                <a:hlinkClick r:id="rId14"/>
              </a:rPr>
              <a:t>/</a:t>
            </a:r>
            <a:endParaRPr lang="bg-BG" sz="2800" dirty="0" smtClean="0"/>
          </a:p>
          <a:p>
            <a:r>
              <a:rPr lang="en-US" sz="2800" dirty="0"/>
              <a:t>https://www.geeksforgeeks.org/working-with-shared-libraries-set-1/</a:t>
            </a:r>
          </a:p>
          <a:p>
            <a:r>
              <a:rPr lang="en-US" sz="2800" dirty="0">
                <a:hlinkClick r:id="rId15"/>
              </a:rPr>
              <a:t>http://wiki.c2.com</a:t>
            </a:r>
            <a:endParaRPr lang="en-US" sz="2800" dirty="0"/>
          </a:p>
          <a:p>
            <a:r>
              <a:rPr lang="en-US" sz="2800" dirty="0">
                <a:hlinkClick r:id="rId16"/>
              </a:rPr>
              <a:t>https://www.memorymanagement.org/</a:t>
            </a:r>
            <a:endParaRPr lang="en-US" sz="2800" dirty="0"/>
          </a:p>
          <a:p>
            <a:r>
              <a:rPr lang="en-US" sz="2800" dirty="0">
                <a:hlinkClick r:id="rId17"/>
              </a:rPr>
              <a:t>https://web.stanford.edu/class/archive/cs/cs143/cs143.1128/lectures/18/Slides18.pdf</a:t>
            </a:r>
            <a:endParaRPr lang="en-US" sz="2800" dirty="0"/>
          </a:p>
          <a:p>
            <a:r>
              <a:rPr lang="en-US" sz="2800" dirty="0">
                <a:hlinkClick r:id="rId18"/>
              </a:rPr>
              <a:t>http://www.cse.iitm.ac.in/~chester/courses/15o_os/</a:t>
            </a:r>
            <a:endParaRPr lang="en-US" sz="2800" dirty="0"/>
          </a:p>
          <a:p>
            <a:r>
              <a:rPr lang="en-US" sz="2800">
                <a:hlinkClick r:id="rId19"/>
              </a:rPr>
              <a:t>https://minnie.tuhs.org/CompArch/Lectures/</a:t>
            </a:r>
            <a:endParaRPr lang="en-US" sz="2800"/>
          </a:p>
          <a:p>
            <a:endParaRPr lang="en-US" sz="2800" dirty="0"/>
          </a:p>
          <a:p>
            <a:r>
              <a:rPr lang="en-US" sz="2800" dirty="0">
                <a:hlinkClick r:id="rId20"/>
              </a:rPr>
              <a:t>https://blog.purestorage.com/purely-informational/task-vs-process-in-linux/</a:t>
            </a:r>
            <a:endParaRPr lang="bg-BG" sz="2800" dirty="0"/>
          </a:p>
        </p:txBody>
      </p:sp>
    </p:spTree>
    <p:extLst>
      <p:ext uri="{BB962C8B-B14F-4D97-AF65-F5344CB8AC3E}">
        <p14:creationId xmlns:p14="http://schemas.microsoft.com/office/powerpoint/2010/main" val="2313004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S102787947">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11647</Words>
  <Application>Microsoft Office PowerPoint</Application>
  <PresentationFormat>Custom</PresentationFormat>
  <Paragraphs>936</Paragraphs>
  <Slides>111</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111</vt:i4>
      </vt:variant>
    </vt:vector>
  </HeadingPairs>
  <TitlesOfParts>
    <vt:vector size="116" baseType="lpstr">
      <vt:lpstr>Arial</vt:lpstr>
      <vt:lpstr>Calibri</vt:lpstr>
      <vt:lpstr>Euphemia</vt:lpstr>
      <vt:lpstr>Wingdings</vt:lpstr>
      <vt:lpstr>TS102787947</vt:lpstr>
      <vt:lpstr>Влияния на операционната система</vt:lpstr>
      <vt:lpstr>Въведение</vt:lpstr>
      <vt:lpstr>Въведение</vt:lpstr>
      <vt:lpstr>Въведение</vt:lpstr>
      <vt:lpstr>Структура на компютърната система</vt:lpstr>
      <vt:lpstr>Програмни библиотеки</vt:lpstr>
      <vt:lpstr>Програмни библиотеки</vt:lpstr>
      <vt:lpstr>Програмни библиотеки</vt:lpstr>
      <vt:lpstr>Програмни библиотеки</vt:lpstr>
      <vt:lpstr>Програмни библиотеки</vt:lpstr>
      <vt:lpstr>Програмни библиотеки</vt:lpstr>
      <vt:lpstr>Framework (бълг. Рамка)</vt:lpstr>
      <vt:lpstr>Framework (бълг. Рамка)</vt:lpstr>
      <vt:lpstr>Framework (бълг. Рамка)</vt:lpstr>
      <vt:lpstr>Типове ОС</vt:lpstr>
      <vt:lpstr>Типове ОС</vt:lpstr>
      <vt:lpstr>Майнфрайм (пакетни) ОС </vt:lpstr>
      <vt:lpstr>Мултипрограмна операционна система</vt:lpstr>
      <vt:lpstr>Мултипроцесорна операционна система</vt:lpstr>
      <vt:lpstr>Многозадачни операционни системи</vt:lpstr>
      <vt:lpstr>Мрежови операционни системи</vt:lpstr>
      <vt:lpstr>Разпределена операционна система</vt:lpstr>
      <vt:lpstr>Системи за реално време</vt:lpstr>
      <vt:lpstr>Вградена операционна система</vt:lpstr>
      <vt:lpstr>Мобилна операционна система</vt:lpstr>
      <vt:lpstr>Основни концепции на ОС</vt:lpstr>
      <vt:lpstr>Програма, процес, задача</vt:lpstr>
      <vt:lpstr>Процес</vt:lpstr>
      <vt:lpstr>Процес</vt:lpstr>
      <vt:lpstr>Задача</vt:lpstr>
      <vt:lpstr>Контекст на процеса</vt:lpstr>
      <vt:lpstr>Управление на паметта </vt:lpstr>
      <vt:lpstr>Файлове</vt:lpstr>
      <vt:lpstr>Потребителски интерфейс</vt:lpstr>
      <vt:lpstr>Потребителски интерфейс</vt:lpstr>
      <vt:lpstr>Application Programming Interface (API)</vt:lpstr>
      <vt:lpstr>Application Programming Interface (API)</vt:lpstr>
      <vt:lpstr>API класификация по области на приложение</vt:lpstr>
      <vt:lpstr>API класификация по области на приложение</vt:lpstr>
      <vt:lpstr>API спецификации/протоколи</vt:lpstr>
      <vt:lpstr>API спецификации/протоколи</vt:lpstr>
      <vt:lpstr>API: класификация по обхват</vt:lpstr>
      <vt:lpstr>API: тестване</vt:lpstr>
      <vt:lpstr>Режим „Kernel mode“</vt:lpstr>
      <vt:lpstr>Режим „Kernel mode“</vt:lpstr>
      <vt:lpstr>Събития</vt:lpstr>
      <vt:lpstr>Събития</vt:lpstr>
      <vt:lpstr>Прекъсвания</vt:lpstr>
      <vt:lpstr>Събития</vt:lpstr>
      <vt:lpstr>Прекъсвания</vt:lpstr>
      <vt:lpstr>Прекъсвания</vt:lpstr>
      <vt:lpstr>Вектор на прекъсванията</vt:lpstr>
      <vt:lpstr>Изключения</vt:lpstr>
      <vt:lpstr>Изключения</vt:lpstr>
      <vt:lpstr>Изключения</vt:lpstr>
      <vt:lpstr>Атомарна операция</vt:lpstr>
      <vt:lpstr>Транзакция</vt:lpstr>
      <vt:lpstr>Транзакция</vt:lpstr>
      <vt:lpstr>Транзакция</vt:lpstr>
      <vt:lpstr>Транзакция</vt:lpstr>
      <vt:lpstr>PowerPoint Presentation</vt:lpstr>
      <vt:lpstr>Управление на паметта</vt:lpstr>
      <vt:lpstr>Управление на паметта</vt:lpstr>
      <vt:lpstr>Управление на паметта</vt:lpstr>
      <vt:lpstr>Управление на паметта</vt:lpstr>
      <vt:lpstr>Задължителни дефиниции</vt:lpstr>
      <vt:lpstr>Разпределение на паметта</vt:lpstr>
      <vt:lpstr>Пример</vt:lpstr>
      <vt:lpstr>Адресно поле на процес</vt:lpstr>
      <vt:lpstr>Адресно поле на процес</vt:lpstr>
      <vt:lpstr>Адресно поле на процес</vt:lpstr>
      <vt:lpstr>Heap vs. Stack</vt:lpstr>
      <vt:lpstr>Управление на паметта</vt:lpstr>
      <vt:lpstr>Хийп</vt:lpstr>
      <vt:lpstr>Стек</vt:lpstr>
      <vt:lpstr>Стек</vt:lpstr>
      <vt:lpstr>Стек</vt:lpstr>
      <vt:lpstr>Странична организация на паметта</vt:lpstr>
      <vt:lpstr>Странична организация на паметта</vt:lpstr>
      <vt:lpstr>Управление на паметта</vt:lpstr>
      <vt:lpstr>Система за управление на изпълнението</vt:lpstr>
      <vt:lpstr>Система за управление на изпълнението</vt:lpstr>
      <vt:lpstr>Система за управление на изпълнението</vt:lpstr>
      <vt:lpstr>Система за управление на изпълнението</vt:lpstr>
      <vt:lpstr>Ръчно управление на паметта</vt:lpstr>
      <vt:lpstr>Ръчно управление на паметта</vt:lpstr>
      <vt:lpstr>Автоматично управление на паметта</vt:lpstr>
      <vt:lpstr>Автоматично управление на паметта</vt:lpstr>
      <vt:lpstr>Автоматично управление на паметта</vt:lpstr>
      <vt:lpstr>„Garbage collection“</vt:lpstr>
      <vt:lpstr>„Garbage collection“</vt:lpstr>
      <vt:lpstr>„Garbage collection“: предимства за програмиста</vt:lpstr>
      <vt:lpstr>„Garbage collection“: недостатъци за програмиста</vt:lpstr>
      <vt:lpstr>„Garbage collection“: недостатъци за програмиста</vt:lpstr>
      <vt:lpstr>„Garbage collection“: Финализатори</vt:lpstr>
      <vt:lpstr>„Garbage collection“: Финализатори</vt:lpstr>
      <vt:lpstr>PowerPoint Presentation</vt:lpstr>
      <vt:lpstr>Reference Counting</vt:lpstr>
      <vt:lpstr>Reference Counting</vt:lpstr>
      <vt:lpstr>Reference Counting</vt:lpstr>
      <vt:lpstr>Mark-and-Sweep</vt:lpstr>
      <vt:lpstr>Mark-and-Sweep</vt:lpstr>
      <vt:lpstr>The Mark phase</vt:lpstr>
      <vt:lpstr>The Sweep phase</vt:lpstr>
      <vt:lpstr>Mark-and-Sweep</vt:lpstr>
      <vt:lpstr>Stop-and-Copy</vt:lpstr>
      <vt:lpstr>Stop-and-Copy</vt:lpstr>
      <vt:lpstr>Stop-and-Copy</vt:lpstr>
      <vt:lpstr>Hybrid approach</vt:lpstr>
      <vt:lpstr>Hybrid approach</vt:lpstr>
      <vt:lpstr>Литература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2014-02-04T07:26:08Z</dcterms:created>
  <dcterms:modified xsi:type="dcterms:W3CDTF">2023-03-07T06:16:08Z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ies>
</file>