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2"/>
  </p:notesMasterIdLst>
  <p:sldIdLst>
    <p:sldId id="256" r:id="rId2"/>
    <p:sldId id="702" r:id="rId3"/>
    <p:sldId id="703" r:id="rId4"/>
    <p:sldId id="704" r:id="rId5"/>
    <p:sldId id="705" r:id="rId6"/>
    <p:sldId id="530" r:id="rId7"/>
    <p:sldId id="706" r:id="rId8"/>
    <p:sldId id="707" r:id="rId9"/>
    <p:sldId id="708" r:id="rId10"/>
    <p:sldId id="709" r:id="rId11"/>
    <p:sldId id="710" r:id="rId12"/>
    <p:sldId id="711" r:id="rId13"/>
    <p:sldId id="712" r:id="rId14"/>
    <p:sldId id="713" r:id="rId15"/>
    <p:sldId id="714" r:id="rId16"/>
    <p:sldId id="715" r:id="rId17"/>
    <p:sldId id="716" r:id="rId18"/>
    <p:sldId id="717" r:id="rId19"/>
    <p:sldId id="718" r:id="rId20"/>
    <p:sldId id="719" r:id="rId21"/>
    <p:sldId id="720" r:id="rId22"/>
    <p:sldId id="721" r:id="rId23"/>
    <p:sldId id="722" r:id="rId24"/>
    <p:sldId id="723" r:id="rId25"/>
    <p:sldId id="724" r:id="rId26"/>
    <p:sldId id="725" r:id="rId27"/>
    <p:sldId id="726" r:id="rId28"/>
    <p:sldId id="727" r:id="rId29"/>
    <p:sldId id="728" r:id="rId30"/>
    <p:sldId id="535" r:id="rId31"/>
    <p:sldId id="536" r:id="rId32"/>
    <p:sldId id="541" r:id="rId33"/>
    <p:sldId id="608" r:id="rId34"/>
    <p:sldId id="609" r:id="rId35"/>
    <p:sldId id="594" r:id="rId36"/>
    <p:sldId id="595" r:id="rId37"/>
    <p:sldId id="610" r:id="rId38"/>
    <p:sldId id="561" r:id="rId39"/>
    <p:sldId id="542" r:id="rId40"/>
    <p:sldId id="590" r:id="rId41"/>
    <p:sldId id="611" r:id="rId42"/>
    <p:sldId id="612" r:id="rId43"/>
    <p:sldId id="613" r:id="rId44"/>
    <p:sldId id="615" r:id="rId45"/>
    <p:sldId id="616" r:id="rId46"/>
    <p:sldId id="617" r:id="rId47"/>
    <p:sldId id="618" r:id="rId48"/>
    <p:sldId id="573" r:id="rId49"/>
    <p:sldId id="546" r:id="rId50"/>
    <p:sldId id="620" r:id="rId51"/>
    <p:sldId id="621" r:id="rId52"/>
    <p:sldId id="622" r:id="rId53"/>
    <p:sldId id="547" r:id="rId54"/>
    <p:sldId id="623" r:id="rId55"/>
    <p:sldId id="624" r:id="rId56"/>
    <p:sldId id="625" r:id="rId57"/>
    <p:sldId id="575" r:id="rId58"/>
    <p:sldId id="626" r:id="rId59"/>
    <p:sldId id="627" r:id="rId60"/>
    <p:sldId id="628" r:id="rId61"/>
    <p:sldId id="629" r:id="rId62"/>
    <p:sldId id="630" r:id="rId63"/>
    <p:sldId id="566" r:id="rId64"/>
    <p:sldId id="631" r:id="rId65"/>
    <p:sldId id="632" r:id="rId66"/>
    <p:sldId id="636" r:id="rId67"/>
    <p:sldId id="637" r:id="rId68"/>
    <p:sldId id="638" r:id="rId69"/>
    <p:sldId id="639" r:id="rId70"/>
    <p:sldId id="555" r:id="rId71"/>
    <p:sldId id="641" r:id="rId72"/>
    <p:sldId id="640" r:id="rId73"/>
    <p:sldId id="642" r:id="rId74"/>
    <p:sldId id="643" r:id="rId75"/>
    <p:sldId id="634" r:id="rId76"/>
    <p:sldId id="635" r:id="rId77"/>
    <p:sldId id="633" r:id="rId78"/>
    <p:sldId id="646" r:id="rId79"/>
    <p:sldId id="647" r:id="rId80"/>
    <p:sldId id="645" r:id="rId81"/>
    <p:sldId id="648" r:id="rId82"/>
    <p:sldId id="644" r:id="rId83"/>
    <p:sldId id="649" r:id="rId84"/>
    <p:sldId id="650" r:id="rId85"/>
    <p:sldId id="651" r:id="rId86"/>
    <p:sldId id="658" r:id="rId87"/>
    <p:sldId id="656" r:id="rId88"/>
    <p:sldId id="657" r:id="rId89"/>
    <p:sldId id="655" r:id="rId90"/>
    <p:sldId id="659" r:id="rId91"/>
    <p:sldId id="660" r:id="rId92"/>
    <p:sldId id="534" r:id="rId93"/>
    <p:sldId id="662" r:id="rId94"/>
    <p:sldId id="664" r:id="rId95"/>
    <p:sldId id="665" r:id="rId96"/>
    <p:sldId id="663" r:id="rId97"/>
    <p:sldId id="666" r:id="rId98"/>
    <p:sldId id="667" r:id="rId99"/>
    <p:sldId id="680" r:id="rId100"/>
    <p:sldId id="668" r:id="rId101"/>
    <p:sldId id="670" r:id="rId102"/>
    <p:sldId id="556" r:id="rId103"/>
    <p:sldId id="673" r:id="rId104"/>
    <p:sldId id="674" r:id="rId105"/>
    <p:sldId id="679" r:id="rId106"/>
    <p:sldId id="675" r:id="rId107"/>
    <p:sldId id="677" r:id="rId108"/>
    <p:sldId id="678" r:id="rId109"/>
    <p:sldId id="669" r:id="rId110"/>
    <p:sldId id="671" r:id="rId111"/>
    <p:sldId id="685" r:id="rId112"/>
    <p:sldId id="686" r:id="rId113"/>
    <p:sldId id="687" r:id="rId114"/>
    <p:sldId id="688" r:id="rId115"/>
    <p:sldId id="689" r:id="rId116"/>
    <p:sldId id="690" r:id="rId117"/>
    <p:sldId id="691" r:id="rId118"/>
    <p:sldId id="692" r:id="rId119"/>
    <p:sldId id="693" r:id="rId120"/>
    <p:sldId id="694" r:id="rId121"/>
    <p:sldId id="696" r:id="rId122"/>
    <p:sldId id="697" r:id="rId123"/>
    <p:sldId id="698" r:id="rId124"/>
    <p:sldId id="699" r:id="rId125"/>
    <p:sldId id="700" r:id="rId126"/>
    <p:sldId id="701" r:id="rId127"/>
    <p:sldId id="304" r:id="rId128"/>
    <p:sldId id="682" r:id="rId129"/>
    <p:sldId id="683" r:id="rId130"/>
    <p:sldId id="684" r:id="rId131"/>
  </p:sldIdLst>
  <p:sldSz cx="9144000" cy="6858000" type="screen4x3"/>
  <p:notesSz cx="6858000" cy="9144000"/>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99"/>
    <a:srgbClr val="000000"/>
    <a:srgbClr val="8597E1"/>
    <a:srgbClr val="A06932"/>
    <a:srgbClr val="0033CC"/>
    <a:srgbClr val="080808"/>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299" autoAdjust="0"/>
  </p:normalViewPr>
  <p:slideViewPr>
    <p:cSldViewPr>
      <p:cViewPr varScale="1">
        <p:scale>
          <a:sx n="104" d="100"/>
          <a:sy n="104" d="100"/>
        </p:scale>
        <p:origin x="12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2F3DAC9-9FD8-4985-BC37-9E6FDCD433AA}" type="datetimeFigureOut">
              <a:rPr lang="en-US"/>
              <a:pPr>
                <a:defRPr/>
              </a:pPr>
              <a:t>3/20/2023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47FA846-4432-4BC5-87D2-3704DFF48F9E}" type="slidenum">
              <a:rPr lang="en-US"/>
              <a:pPr>
                <a:defRPr/>
              </a:pPr>
              <a:t>‹#›</a:t>
            </a:fld>
            <a:endParaRPr lang="en-US"/>
          </a:p>
        </p:txBody>
      </p:sp>
    </p:spTree>
    <p:extLst>
      <p:ext uri="{BB962C8B-B14F-4D97-AF65-F5344CB8AC3E}">
        <p14:creationId xmlns:p14="http://schemas.microsoft.com/office/powerpoint/2010/main" val="3348771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bwMode="auto">
          <a:xfrm>
            <a:off x="884238" y="4635500"/>
            <a:ext cx="4860925" cy="411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166" tIns="43801" rIns="89166" bIns="43801" numCol="1" anchor="t" anchorCtr="0" compatLnSpc="1">
            <a:prstTxWarp prst="textNoShape">
              <a:avLst/>
            </a:prstTxWarp>
          </a:bodyPr>
          <a:lstStyle/>
          <a:p>
            <a:endParaRPr lang="en-US" altLang="en-US" smtClean="0">
              <a:latin typeface="Times" pitchFamily="18" charset="0"/>
            </a:endParaRPr>
          </a:p>
        </p:txBody>
      </p:sp>
      <p:sp>
        <p:nvSpPr>
          <p:cNvPr id="14339" name="Rectangle 3"/>
          <p:cNvSpPr>
            <a:spLocks noGrp="1" noRot="1" noChangeAspect="1" noChangeArrowheads="1" noTextEdit="1"/>
          </p:cNvSpPr>
          <p:nvPr>
            <p:ph type="sldImg"/>
          </p:nvPr>
        </p:nvSpPr>
        <p:spPr bwMode="auto">
          <a:xfrm>
            <a:off x="1039813" y="852488"/>
            <a:ext cx="4551362" cy="34131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393506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Dijkstra</a:t>
            </a:r>
            <a:endParaRPr lang="en-US" dirty="0"/>
          </a:p>
        </p:txBody>
      </p:sp>
      <p:sp>
        <p:nvSpPr>
          <p:cNvPr id="4" name="Slide Number Placeholder 3"/>
          <p:cNvSpPr>
            <a:spLocks noGrp="1"/>
          </p:cNvSpPr>
          <p:nvPr>
            <p:ph type="sldNum" sz="quarter" idx="10"/>
          </p:nvPr>
        </p:nvSpPr>
        <p:spPr/>
        <p:txBody>
          <a:bodyPr/>
          <a:lstStyle/>
          <a:p>
            <a:pPr>
              <a:defRPr/>
            </a:pPr>
            <a:fld id="{F84AC3D8-CDBB-47E6-92C9-F77108C7A265}" type="slidenum">
              <a:rPr lang="en-US" altLang="en-US" smtClean="0"/>
              <a:pPr>
                <a:defRPr/>
              </a:pPr>
              <a:t>4</a:t>
            </a:fld>
            <a:endParaRPr lang="en-US" altLang="en-US"/>
          </a:p>
        </p:txBody>
      </p:sp>
    </p:spTree>
    <p:extLst>
      <p:ext uri="{BB962C8B-B14F-4D97-AF65-F5344CB8AC3E}">
        <p14:creationId xmlns:p14="http://schemas.microsoft.com/office/powerpoint/2010/main" val="3069697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bg-BG" sz="1200" noProof="0" dirty="0" smtClean="0"/>
              <a:t>Различните модели за разработка водят до различни варианти</a:t>
            </a:r>
            <a:r>
              <a:rPr lang="bg-BG" sz="1200" baseline="0" noProof="0" dirty="0" smtClean="0"/>
              <a:t> на реализация на основните процеси като задачи, продължителност, значение и момент.</a:t>
            </a:r>
            <a:endParaRPr lang="bg-BG" noProof="0" dirty="0"/>
          </a:p>
        </p:txBody>
      </p:sp>
      <p:sp>
        <p:nvSpPr>
          <p:cNvPr id="4" name="Slide Number Placeholder 3"/>
          <p:cNvSpPr>
            <a:spLocks noGrp="1"/>
          </p:cNvSpPr>
          <p:nvPr>
            <p:ph type="sldNum" sz="quarter" idx="10"/>
          </p:nvPr>
        </p:nvSpPr>
        <p:spPr/>
        <p:txBody>
          <a:bodyPr/>
          <a:lstStyle/>
          <a:p>
            <a:pPr>
              <a:defRPr/>
            </a:pPr>
            <a:fld id="{F84AC3D8-CDBB-47E6-92C9-F77108C7A265}" type="slidenum">
              <a:rPr lang="en-US" altLang="en-US" smtClean="0"/>
              <a:pPr>
                <a:defRPr/>
              </a:pPr>
              <a:t>5</a:t>
            </a:fld>
            <a:endParaRPr lang="en-US" altLang="en-US"/>
          </a:p>
        </p:txBody>
      </p:sp>
    </p:spTree>
    <p:extLst>
      <p:ext uri="{BB962C8B-B14F-4D97-AF65-F5344CB8AC3E}">
        <p14:creationId xmlns:p14="http://schemas.microsoft.com/office/powerpoint/2010/main" val="4225967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884238" y="4635500"/>
            <a:ext cx="4860925" cy="411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166" tIns="43801" rIns="89166" bIns="43801" numCol="1" anchor="t" anchorCtr="0" compatLnSpc="1">
            <a:prstTxWarp prst="textNoShape">
              <a:avLst/>
            </a:prstTxWarp>
          </a:bodyPr>
          <a:lstStyle/>
          <a:p>
            <a:endParaRPr lang="en-US" altLang="en-US" smtClean="0">
              <a:latin typeface="Times" pitchFamily="18" charset="0"/>
            </a:endParaRPr>
          </a:p>
        </p:txBody>
      </p:sp>
      <p:sp>
        <p:nvSpPr>
          <p:cNvPr id="16387" name="Rectangle 3"/>
          <p:cNvSpPr>
            <a:spLocks noGrp="1" noRot="1" noChangeAspect="1" noChangeArrowheads="1" noTextEdit="1"/>
          </p:cNvSpPr>
          <p:nvPr>
            <p:ph type="sldImg"/>
          </p:nvPr>
        </p:nvSpPr>
        <p:spPr bwMode="auto">
          <a:xfrm>
            <a:off x="1039813" y="852488"/>
            <a:ext cx="4551362" cy="34131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969757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ru-RU" dirty="0" smtClean="0"/>
              <a:t>Парадокс на </a:t>
            </a:r>
            <a:r>
              <a:rPr lang="ru-RU" dirty="0" err="1" smtClean="0"/>
              <a:t>пестицидите</a:t>
            </a:r>
            <a:r>
              <a:rPr lang="ru-RU" dirty="0" smtClean="0"/>
              <a:t>: </a:t>
            </a:r>
            <a:r>
              <a:rPr lang="ru-RU" dirty="0" err="1" smtClean="0"/>
              <a:t>Повтарящото</a:t>
            </a:r>
            <a:r>
              <a:rPr lang="ru-RU" dirty="0" smtClean="0"/>
              <a:t> се </a:t>
            </a:r>
            <a:r>
              <a:rPr lang="ru-RU" dirty="0" err="1" smtClean="0"/>
              <a:t>използване</a:t>
            </a:r>
            <a:r>
              <a:rPr lang="ru-RU" dirty="0" smtClean="0"/>
              <a:t> на </a:t>
            </a:r>
            <a:r>
              <a:rPr lang="ru-RU" dirty="0" err="1" smtClean="0"/>
              <a:t>една</a:t>
            </a:r>
            <a:r>
              <a:rPr lang="ru-RU" dirty="0" smtClean="0"/>
              <a:t> и </a:t>
            </a:r>
            <a:r>
              <a:rPr lang="ru-RU" dirty="0" err="1" smtClean="0"/>
              <a:t>съща</a:t>
            </a:r>
            <a:r>
              <a:rPr lang="ru-RU" dirty="0" smtClean="0"/>
              <a:t> </a:t>
            </a:r>
            <a:r>
              <a:rPr lang="ru-RU" dirty="0" err="1" smtClean="0"/>
              <a:t>пестицидна</a:t>
            </a:r>
            <a:r>
              <a:rPr lang="ru-RU" dirty="0" smtClean="0"/>
              <a:t> </a:t>
            </a:r>
            <a:r>
              <a:rPr lang="ru-RU" dirty="0" err="1" smtClean="0"/>
              <a:t>смес</a:t>
            </a:r>
            <a:r>
              <a:rPr lang="ru-RU" dirty="0" smtClean="0"/>
              <a:t> за </a:t>
            </a:r>
            <a:r>
              <a:rPr lang="ru-RU" dirty="0" err="1" smtClean="0"/>
              <a:t>убиване</a:t>
            </a:r>
            <a:r>
              <a:rPr lang="ru-RU" dirty="0" smtClean="0"/>
              <a:t> на </a:t>
            </a:r>
            <a:r>
              <a:rPr lang="ru-RU" dirty="0" err="1" smtClean="0"/>
              <a:t>насекомите</a:t>
            </a:r>
            <a:r>
              <a:rPr lang="ru-RU" dirty="0" smtClean="0"/>
              <a:t> с течение на </a:t>
            </a:r>
            <a:r>
              <a:rPr lang="ru-RU" dirty="0" err="1" smtClean="0"/>
              <a:t>времето</a:t>
            </a:r>
            <a:r>
              <a:rPr lang="ru-RU" dirty="0" smtClean="0"/>
              <a:t> </a:t>
            </a:r>
            <a:r>
              <a:rPr lang="ru-RU" dirty="0" err="1" smtClean="0"/>
              <a:t>ще</a:t>
            </a:r>
            <a:r>
              <a:rPr lang="ru-RU" dirty="0" smtClean="0"/>
              <a:t> </a:t>
            </a:r>
            <a:r>
              <a:rPr lang="ru-RU" dirty="0" err="1" smtClean="0"/>
              <a:t>доведе</a:t>
            </a:r>
            <a:r>
              <a:rPr lang="ru-RU" dirty="0" smtClean="0"/>
              <a:t> до развитие на </a:t>
            </a:r>
            <a:r>
              <a:rPr lang="ru-RU" dirty="0" err="1" smtClean="0"/>
              <a:t>устойчивост</a:t>
            </a:r>
            <a:r>
              <a:rPr lang="ru-RU" dirty="0" smtClean="0"/>
              <a:t> в </a:t>
            </a:r>
            <a:r>
              <a:rPr lang="ru-RU" dirty="0" err="1" smtClean="0"/>
              <a:t>насекомите</a:t>
            </a:r>
            <a:r>
              <a:rPr lang="ru-RU" dirty="0" smtClean="0"/>
              <a:t> </a:t>
            </a:r>
            <a:r>
              <a:rPr lang="ru-RU" dirty="0" err="1" smtClean="0"/>
              <a:t>срещу</a:t>
            </a:r>
            <a:r>
              <a:rPr lang="ru-RU" dirty="0" smtClean="0"/>
              <a:t> </a:t>
            </a:r>
            <a:r>
              <a:rPr lang="ru-RU" dirty="0" err="1" smtClean="0"/>
              <a:t>пестицидите</a:t>
            </a:r>
            <a:r>
              <a:rPr lang="ru-RU" dirty="0" smtClean="0"/>
              <a:t>. </a:t>
            </a: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12</a:t>
            </a:fld>
            <a:endParaRPr lang="en-US"/>
          </a:p>
        </p:txBody>
      </p:sp>
    </p:spTree>
    <p:extLst>
      <p:ext uri="{BB962C8B-B14F-4D97-AF65-F5344CB8AC3E}">
        <p14:creationId xmlns:p14="http://schemas.microsoft.com/office/powerpoint/2010/main" val="2244586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13</a:t>
            </a:fld>
            <a:endParaRPr lang="en-US"/>
          </a:p>
        </p:txBody>
      </p:sp>
    </p:spTree>
    <p:extLst>
      <p:ext uri="{BB962C8B-B14F-4D97-AF65-F5344CB8AC3E}">
        <p14:creationId xmlns:p14="http://schemas.microsoft.com/office/powerpoint/2010/main" val="2448587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14</a:t>
            </a:fld>
            <a:endParaRPr lang="en-US"/>
          </a:p>
        </p:txBody>
      </p:sp>
    </p:spTree>
    <p:extLst>
      <p:ext uri="{BB962C8B-B14F-4D97-AF65-F5344CB8AC3E}">
        <p14:creationId xmlns:p14="http://schemas.microsoft.com/office/powerpoint/2010/main" val="600350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15</a:t>
            </a:fld>
            <a:endParaRPr lang="en-US"/>
          </a:p>
        </p:txBody>
      </p:sp>
    </p:spTree>
    <p:extLst>
      <p:ext uri="{BB962C8B-B14F-4D97-AF65-F5344CB8AC3E}">
        <p14:creationId xmlns:p14="http://schemas.microsoft.com/office/powerpoint/2010/main" val="2885195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16</a:t>
            </a:fld>
            <a:endParaRPr lang="en-US"/>
          </a:p>
        </p:txBody>
      </p:sp>
    </p:spTree>
    <p:extLst>
      <p:ext uri="{BB962C8B-B14F-4D97-AF65-F5344CB8AC3E}">
        <p14:creationId xmlns:p14="http://schemas.microsoft.com/office/powerpoint/2010/main" val="4133244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9B13933-525E-4A3E-8641-D0374FE1147B}" type="slidenum">
              <a:rPr lang="en-US" smtClean="0"/>
              <a:pPr>
                <a:defRPr/>
              </a:pPr>
              <a:t>35</a:t>
            </a:fld>
            <a:endParaRPr lang="en-US"/>
          </a:p>
        </p:txBody>
      </p:sp>
    </p:spTree>
    <p:extLst>
      <p:ext uri="{BB962C8B-B14F-4D97-AF65-F5344CB8AC3E}">
        <p14:creationId xmlns:p14="http://schemas.microsoft.com/office/powerpoint/2010/main" val="3416120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9B13933-525E-4A3E-8641-D0374FE1147B}" type="slidenum">
              <a:rPr lang="en-US" smtClean="0"/>
              <a:pPr>
                <a:defRPr/>
              </a:pPr>
              <a:t>36</a:t>
            </a:fld>
            <a:endParaRPr lang="en-US"/>
          </a:p>
        </p:txBody>
      </p:sp>
    </p:spTree>
    <p:extLst>
      <p:ext uri="{BB962C8B-B14F-4D97-AF65-F5344CB8AC3E}">
        <p14:creationId xmlns:p14="http://schemas.microsoft.com/office/powerpoint/2010/main" val="3416120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9B13933-525E-4A3E-8641-D0374FE1147B}" type="slidenum">
              <a:rPr lang="en-US" smtClean="0"/>
              <a:pPr>
                <a:defRPr/>
              </a:pPr>
              <a:t>37</a:t>
            </a:fld>
            <a:endParaRPr lang="en-US"/>
          </a:p>
        </p:txBody>
      </p:sp>
    </p:spTree>
    <p:extLst>
      <p:ext uri="{BB962C8B-B14F-4D97-AF65-F5344CB8AC3E}">
        <p14:creationId xmlns:p14="http://schemas.microsoft.com/office/powerpoint/2010/main" val="3416120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bg-BG" sz="2000" dirty="0" smtClean="0"/>
              <a:t>Интеграционното тестване се фокусира върху проверка на комуникацията по данни между тези модули.</a:t>
            </a:r>
          </a:p>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43</a:t>
            </a:fld>
            <a:endParaRPr lang="en-US"/>
          </a:p>
        </p:txBody>
      </p:sp>
    </p:spTree>
    <p:extLst>
      <p:ext uri="{BB962C8B-B14F-4D97-AF65-F5344CB8AC3E}">
        <p14:creationId xmlns:p14="http://schemas.microsoft.com/office/powerpoint/2010/main" val="424998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64</a:t>
            </a:fld>
            <a:endParaRPr lang="en-US"/>
          </a:p>
        </p:txBody>
      </p:sp>
    </p:spTree>
    <p:extLst>
      <p:ext uri="{BB962C8B-B14F-4D97-AF65-F5344CB8AC3E}">
        <p14:creationId xmlns:p14="http://schemas.microsoft.com/office/powerpoint/2010/main" val="3985194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Step 1) Analysis of Business Requirements</a:t>
            </a:r>
          </a:p>
          <a:p>
            <a:r>
              <a:rPr lang="en-US" sz="1200" kern="1200" dirty="0" smtClean="0">
                <a:solidFill>
                  <a:schemeClr val="tx1"/>
                </a:solidFill>
                <a:effectLst/>
                <a:latin typeface="+mn-lt"/>
                <a:ea typeface="+mn-ea"/>
                <a:cs typeface="+mn-cs"/>
              </a:rPr>
              <a:t>One of the most important activities in the UAT is to identify and develop test scenarios. These test scenarios are derived from the following documents:</a:t>
            </a:r>
            <a:r>
              <a:rPr lang="bg-BG"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Business Use Cases</a:t>
            </a:r>
            <a:r>
              <a:rPr lang="bg-BG"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Process Flow Diagrams</a:t>
            </a:r>
            <a:r>
              <a:rPr lang="bg-BG"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Business Requirements Document</a:t>
            </a:r>
            <a:r>
              <a:rPr lang="bg-BG" sz="1200"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System Requirements Specification</a:t>
            </a:r>
            <a:endParaRPr lang="bg-BG" sz="1200" kern="1200" dirty="0" smtClean="0">
              <a:solidFill>
                <a:schemeClr val="tx1"/>
              </a:solidFill>
              <a:effectLst/>
              <a:latin typeface="+mn-lt"/>
              <a:ea typeface="+mn-ea"/>
              <a:cs typeface="+mn-cs"/>
            </a:endParaRPr>
          </a:p>
          <a:p>
            <a:r>
              <a:rPr lang="en-US" dirty="0" smtClean="0"/>
              <a:t>Step 2) Creation of UAT Plan:</a:t>
            </a:r>
          </a:p>
          <a:p>
            <a:r>
              <a:rPr lang="en-US" dirty="0" smtClean="0"/>
              <a:t>The UAT test plan outlines the strategy that will be used to verify and ensure an application meets its business requirements. It documents entry and exit criteria for UAT, Test scenarios and test cases approach and timelines of testing.</a:t>
            </a:r>
          </a:p>
          <a:p>
            <a:r>
              <a:rPr lang="en-US" dirty="0" smtClean="0"/>
              <a:t>Step 3) Identify Test Scenarios and Test Cases:</a:t>
            </a:r>
          </a:p>
          <a:p>
            <a:r>
              <a:rPr lang="en-US" dirty="0" smtClean="0"/>
              <a:t>Identify the test scenarios with respect to high-level business process and create test cases with clear test steps. Test Cases should sufficiently cover most of the UAT scenarios. Business Use cases are input for creating the test cases.</a:t>
            </a:r>
          </a:p>
          <a:p>
            <a:r>
              <a:rPr lang="en-US" dirty="0" smtClean="0"/>
              <a:t>Step 4) Preparation of Test Data:</a:t>
            </a:r>
          </a:p>
          <a:p>
            <a:r>
              <a:rPr lang="en-US" dirty="0" smtClean="0"/>
              <a:t>It is best advised to use live data for UAT. Data should be scrambled for privacy and security reasons. Tester should be familiar with the database flow.</a:t>
            </a:r>
          </a:p>
          <a:p>
            <a:r>
              <a:rPr lang="en-US" dirty="0" smtClean="0"/>
              <a:t>Step 5) Run and record the results:</a:t>
            </a:r>
          </a:p>
          <a:p>
            <a:r>
              <a:rPr lang="en-US" dirty="0" smtClean="0"/>
              <a:t>Execute test cases and report bugs if any. Re-test bugs once fixed. Test Management tools can be used for execution.</a:t>
            </a:r>
          </a:p>
          <a:p>
            <a:r>
              <a:rPr lang="en-US" dirty="0" smtClean="0"/>
              <a:t>Step 6) Confirm Business Objectives met:</a:t>
            </a:r>
          </a:p>
          <a:p>
            <a:r>
              <a:rPr lang="en-US" dirty="0" smtClean="0"/>
              <a:t>Business Analysts or UAT Testers needs to send a sign off mail after the UAT testing. After sign-off, the product is good to go for production. </a:t>
            </a:r>
            <a:endParaRPr lang="bg-BG" dirty="0" smtClean="0"/>
          </a:p>
          <a:p>
            <a:endParaRPr lang="bg-BG" dirty="0" smtClean="0"/>
          </a:p>
          <a:p>
            <a:r>
              <a:rPr lang="en-US" dirty="0" smtClean="0"/>
              <a:t>Deliverables for UAT testing are Test Plan, UAT Scenarios and Test Cases, Test Results and Defect Log</a:t>
            </a:r>
          </a:p>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73</a:t>
            </a:fld>
            <a:endParaRPr lang="en-US"/>
          </a:p>
        </p:txBody>
      </p:sp>
    </p:spTree>
    <p:extLst>
      <p:ext uri="{BB962C8B-B14F-4D97-AF65-F5344CB8AC3E}">
        <p14:creationId xmlns:p14="http://schemas.microsoft.com/office/powerpoint/2010/main" val="2774924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74</a:t>
            </a:fld>
            <a:endParaRPr lang="en-US"/>
          </a:p>
        </p:txBody>
      </p:sp>
    </p:spTree>
    <p:extLst>
      <p:ext uri="{BB962C8B-B14F-4D97-AF65-F5344CB8AC3E}">
        <p14:creationId xmlns:p14="http://schemas.microsoft.com/office/powerpoint/2010/main" val="2774924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bg-BG" sz="2000" noProof="0" dirty="0" smtClean="0"/>
              <a:t>Внимавайте! Програмата за деинсталиране трябва да бъде тествана преди и да се използва, защото трябва да работи</a:t>
            </a:r>
            <a:r>
              <a:rPr lang="bg-BG" sz="2000" baseline="0" noProof="0" dirty="0" smtClean="0"/>
              <a:t> добре.</a:t>
            </a:r>
            <a:endParaRPr lang="bg-BG" altLang="en-US" noProof="0" dirty="0" smtClean="0">
              <a:latin typeface="Times"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2" indent="0" algn="l" defTabSz="914400" rtl="0" eaLnBrk="0" fontAlgn="base" latinLnBrk="0" hangingPunct="0">
              <a:lnSpc>
                <a:spcPct val="100000"/>
              </a:lnSpc>
              <a:spcBef>
                <a:spcPct val="30000"/>
              </a:spcBef>
              <a:spcAft>
                <a:spcPct val="0"/>
              </a:spcAft>
              <a:buClrTx/>
              <a:buSzTx/>
              <a:buFontTx/>
              <a:buNone/>
              <a:tabLst/>
              <a:defRPr/>
            </a:pPr>
            <a:endParaRPr lang="bg-BG" altLang="en-US" noProof="0" dirty="0" smtClean="0">
              <a:latin typeface="Times"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en-US" dirty="0" smtClean="0">
              <a:latin typeface="Times"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dirty="0" err="1" smtClean="0"/>
              <a:t>Поддръжка</a:t>
            </a:r>
            <a:r>
              <a:rPr lang="ru-RU" sz="1200" dirty="0" smtClean="0"/>
              <a:t> на </a:t>
            </a:r>
            <a:r>
              <a:rPr lang="ru-RU" sz="1200" dirty="0" err="1" smtClean="0"/>
              <a:t>софтуер</a:t>
            </a:r>
            <a:r>
              <a:rPr lang="ru-RU" sz="1200" dirty="0" smtClean="0"/>
              <a:t>  - англ. </a:t>
            </a:r>
            <a:r>
              <a:rPr lang="en-US" sz="1200" dirty="0" smtClean="0"/>
              <a:t>Maintenance</a:t>
            </a:r>
            <a:r>
              <a:rPr lang="bg-BG" sz="1200" dirty="0" smtClean="0"/>
              <a:t> </a:t>
            </a:r>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114</a:t>
            </a:fld>
            <a:endParaRPr lang="en-US"/>
          </a:p>
        </p:txBody>
      </p:sp>
    </p:spTree>
    <p:extLst>
      <p:ext uri="{BB962C8B-B14F-4D97-AF65-F5344CB8AC3E}">
        <p14:creationId xmlns:p14="http://schemas.microsoft.com/office/powerpoint/2010/main" val="1917212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bwMode="auto">
          <a:xfrm>
            <a:off x="884238" y="4635500"/>
            <a:ext cx="4860925" cy="411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9166" tIns="43801" rIns="89166" bIns="43801" numCol="1" anchor="t" anchorCtr="0" compatLnSpc="1">
            <a:prstTxWarp prst="textNoShape">
              <a:avLst/>
            </a:prstTxWarp>
          </a:bodyPr>
          <a:lstStyle/>
          <a:p>
            <a:endParaRPr lang="en-US" altLang="en-US" smtClean="0">
              <a:latin typeface="Times" pitchFamily="18" charset="0"/>
            </a:endParaRPr>
          </a:p>
        </p:txBody>
      </p:sp>
      <p:sp>
        <p:nvSpPr>
          <p:cNvPr id="54275" name="Rectangle 3"/>
          <p:cNvSpPr>
            <a:spLocks noGrp="1" noRot="1" noChangeAspect="1" noChangeArrowheads="1" noTextEdit="1"/>
          </p:cNvSpPr>
          <p:nvPr>
            <p:ph type="sldImg"/>
          </p:nvPr>
        </p:nvSpPr>
        <p:spPr bwMode="auto">
          <a:xfrm>
            <a:off x="1039813" y="852488"/>
            <a:ext cx="4551362" cy="34131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2584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ru-RU" sz="2400" dirty="0" err="1" smtClean="0"/>
              <a:t>Нефункционалният</a:t>
            </a:r>
            <a:r>
              <a:rPr lang="ru-RU" sz="2400" dirty="0" smtClean="0"/>
              <a:t> тип </a:t>
            </a:r>
            <a:r>
              <a:rPr lang="ru-RU" sz="2400" dirty="0" err="1" smtClean="0"/>
              <a:t>тестване</a:t>
            </a:r>
            <a:r>
              <a:rPr lang="ru-RU" sz="2400" dirty="0" smtClean="0"/>
              <a:t> се </a:t>
            </a:r>
            <a:r>
              <a:rPr lang="ru-RU" sz="2400" dirty="0" err="1" smtClean="0"/>
              <a:t>извършва</a:t>
            </a:r>
            <a:r>
              <a:rPr lang="ru-RU" sz="2400" dirty="0" smtClean="0"/>
              <a:t> </a:t>
            </a:r>
            <a:r>
              <a:rPr lang="ru-RU" sz="2400" dirty="0" err="1" smtClean="0"/>
              <a:t>въз</a:t>
            </a:r>
            <a:r>
              <a:rPr lang="ru-RU" sz="2400" dirty="0" smtClean="0"/>
              <a:t> основа на </a:t>
            </a:r>
            <a:r>
              <a:rPr lang="ru-RU" sz="2400" dirty="0" err="1" smtClean="0"/>
              <a:t>нефункционалните</a:t>
            </a:r>
            <a:r>
              <a:rPr lang="ru-RU" sz="2400" dirty="0" smtClean="0"/>
              <a:t> </a:t>
            </a:r>
            <a:r>
              <a:rPr lang="ru-RU" sz="2400" dirty="0" err="1" smtClean="0"/>
              <a:t>изисквания</a:t>
            </a:r>
            <a:r>
              <a:rPr lang="ru-RU" sz="2400" dirty="0" smtClean="0"/>
              <a:t> на продукта.</a:t>
            </a:r>
          </a:p>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121</a:t>
            </a:fld>
            <a:endParaRPr lang="en-US"/>
          </a:p>
        </p:txBody>
      </p:sp>
    </p:spTree>
    <p:extLst>
      <p:ext uri="{BB962C8B-B14F-4D97-AF65-F5344CB8AC3E}">
        <p14:creationId xmlns:p14="http://schemas.microsoft.com/office/powerpoint/2010/main" val="3818758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ru-RU" sz="2400" dirty="0" err="1" smtClean="0"/>
              <a:t>Нефункционалният</a:t>
            </a:r>
            <a:r>
              <a:rPr lang="ru-RU" sz="2400" dirty="0" smtClean="0"/>
              <a:t> тип </a:t>
            </a:r>
            <a:r>
              <a:rPr lang="ru-RU" sz="2400" dirty="0" err="1" smtClean="0"/>
              <a:t>тестване</a:t>
            </a:r>
            <a:r>
              <a:rPr lang="ru-RU" sz="2400" dirty="0" smtClean="0"/>
              <a:t> се </a:t>
            </a:r>
            <a:r>
              <a:rPr lang="ru-RU" sz="2400" dirty="0" err="1" smtClean="0"/>
              <a:t>извършва</a:t>
            </a:r>
            <a:r>
              <a:rPr lang="ru-RU" sz="2400" dirty="0" smtClean="0"/>
              <a:t> </a:t>
            </a:r>
            <a:r>
              <a:rPr lang="ru-RU" sz="2400" dirty="0" err="1" smtClean="0"/>
              <a:t>въз</a:t>
            </a:r>
            <a:r>
              <a:rPr lang="ru-RU" sz="2400" dirty="0" smtClean="0"/>
              <a:t> основа на </a:t>
            </a:r>
            <a:r>
              <a:rPr lang="ru-RU" sz="2400" dirty="0" err="1" smtClean="0"/>
              <a:t>нефункционалните</a:t>
            </a:r>
            <a:r>
              <a:rPr lang="ru-RU" sz="2400" dirty="0" smtClean="0"/>
              <a:t> </a:t>
            </a:r>
            <a:r>
              <a:rPr lang="ru-RU" sz="2400" dirty="0" err="1" smtClean="0"/>
              <a:t>изисквания</a:t>
            </a:r>
            <a:r>
              <a:rPr lang="ru-RU" sz="2400" dirty="0" smtClean="0"/>
              <a:t> на продукта.</a:t>
            </a:r>
          </a:p>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122</a:t>
            </a:fld>
            <a:endParaRPr lang="en-US"/>
          </a:p>
        </p:txBody>
      </p:sp>
    </p:spTree>
    <p:extLst>
      <p:ext uri="{BB962C8B-B14F-4D97-AF65-F5344CB8AC3E}">
        <p14:creationId xmlns:p14="http://schemas.microsoft.com/office/powerpoint/2010/main" val="7124377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47FA846-4432-4BC5-87D2-3704DFF48F9E}" type="slidenum">
              <a:rPr lang="en-US" smtClean="0"/>
              <a:pPr>
                <a:defRPr/>
              </a:pPr>
              <a:t>123</a:t>
            </a:fld>
            <a:endParaRPr lang="en-US"/>
          </a:p>
        </p:txBody>
      </p:sp>
    </p:spTree>
    <p:extLst>
      <p:ext uri="{BB962C8B-B14F-4D97-AF65-F5344CB8AC3E}">
        <p14:creationId xmlns:p14="http://schemas.microsoft.com/office/powerpoint/2010/main" val="3052252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sz="2000" dirty="0" smtClean="0"/>
              <a:t>The tester will apply random test cases on the system under test to find bugs/errors without predefining any test case.</a:t>
            </a:r>
          </a:p>
          <a:p>
            <a:endParaRPr lang="en-US" dirty="0"/>
          </a:p>
        </p:txBody>
      </p:sp>
      <p:sp>
        <p:nvSpPr>
          <p:cNvPr id="4" name="Slide Number Placeholder 3"/>
          <p:cNvSpPr>
            <a:spLocks noGrp="1"/>
          </p:cNvSpPr>
          <p:nvPr>
            <p:ph type="sldNum" sz="quarter" idx="10"/>
          </p:nvPr>
        </p:nvSpPr>
        <p:spPr/>
        <p:txBody>
          <a:bodyPr/>
          <a:lstStyle/>
          <a:p>
            <a:pPr>
              <a:defRPr/>
            </a:pPr>
            <a:fld id="{49B13933-525E-4A3E-8641-D0374FE1147B}" type="slidenum">
              <a:rPr lang="en-US" smtClean="0"/>
              <a:pPr>
                <a:defRPr/>
              </a:pPr>
              <a:t>130</a:t>
            </a:fld>
            <a:endParaRPr lang="en-US"/>
          </a:p>
        </p:txBody>
      </p:sp>
    </p:spTree>
    <p:extLst>
      <p:ext uri="{BB962C8B-B14F-4D97-AF65-F5344CB8AC3E}">
        <p14:creationId xmlns:p14="http://schemas.microsoft.com/office/powerpoint/2010/main" val="2242023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25"/>
          <p:cNvGrpSpPr>
            <a:grpSpLocks/>
          </p:cNvGrpSpPr>
          <p:nvPr/>
        </p:nvGrpSpPr>
        <p:grpSpPr bwMode="auto">
          <a:xfrm>
            <a:off x="0" y="68263"/>
            <a:ext cx="8678863" cy="6713537"/>
            <a:chOff x="0" y="43"/>
            <a:chExt cx="5467" cy="4229"/>
          </a:xfrm>
        </p:grpSpPr>
        <p:sp>
          <p:nvSpPr>
            <p:cNvPr id="5" name="Rectangle 217"/>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en-US" altLang="en-US" smtClean="0"/>
            </a:p>
          </p:txBody>
        </p:sp>
        <p:grpSp>
          <p:nvGrpSpPr>
            <p:cNvPr id="6" name="Group 324"/>
            <p:cNvGrpSpPr>
              <a:grpSpLocks/>
            </p:cNvGrpSpPr>
            <p:nvPr userDrawn="1"/>
          </p:nvGrpSpPr>
          <p:grpSpPr bwMode="auto">
            <a:xfrm>
              <a:off x="0" y="43"/>
              <a:ext cx="624" cy="4229"/>
              <a:chOff x="0" y="43"/>
              <a:chExt cx="624" cy="4229"/>
            </a:xfrm>
          </p:grpSpPr>
          <p:sp>
            <p:nvSpPr>
              <p:cNvPr id="7" name="Line 224"/>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225"/>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Line 226"/>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227"/>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Line 228"/>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Line 229"/>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Line 230"/>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231"/>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232"/>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233"/>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234"/>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235"/>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236"/>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37"/>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38"/>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39"/>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40"/>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41"/>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42"/>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43"/>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44"/>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245"/>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246"/>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247"/>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248"/>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249"/>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250"/>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251"/>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252"/>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253"/>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254"/>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255"/>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256"/>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Line 257"/>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258"/>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259"/>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Line 260"/>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Line 261"/>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262"/>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263"/>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Line 264"/>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Line 265"/>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266"/>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Line 267"/>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Line 268"/>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269"/>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270"/>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Line 271"/>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Line 272"/>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273"/>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Line 274"/>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Line 275"/>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Line 276"/>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Line 277"/>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278"/>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Line 279"/>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 name="Line 280"/>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Line 281"/>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 name="Line 282"/>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Line 283"/>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 name="Line 284"/>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8" name="Line 285"/>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 name="Line 286"/>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Line 287"/>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 name="Line 288"/>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Line 289"/>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290"/>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 name="Line 291"/>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5" name="Line 292"/>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 name="Line 293"/>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7" name="Line 294"/>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295"/>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Line 296"/>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 name="Line 297"/>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298"/>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 name="Line 299"/>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3" name="Line 300"/>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Line 301"/>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 name="Line 302"/>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6" name="Line 303"/>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 name="Line 304"/>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 name="Line 305"/>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 name="Line 306"/>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 name="Line 307"/>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 name="Line 308"/>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 name="Line 309"/>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 name="Line 310"/>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 name="Line 311"/>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5" name="Line 312"/>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 name="Line 313"/>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Line 314"/>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 name="Line 315"/>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9" name="Line 316"/>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0" name="Line 317"/>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 name="Line 318"/>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 name="Line 319"/>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 name="Line 320"/>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 name="Line 321"/>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05" name="Rectangle 220"/>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kumimoji="1" lang="bg-BG" altLang="en-US" smtClean="0"/>
          </a:p>
        </p:txBody>
      </p:sp>
      <p:sp>
        <p:nvSpPr>
          <p:cNvPr id="106" name="Rectangle 21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kumimoji="1" lang="bg-BG" altLang="en-US" smtClean="0"/>
          </a:p>
        </p:txBody>
      </p:sp>
      <p:sp>
        <p:nvSpPr>
          <p:cNvPr id="3175" name="Rectangle 103"/>
          <p:cNvSpPr>
            <a:spLocks noGrp="1" noChangeArrowheads="1"/>
          </p:cNvSpPr>
          <p:nvPr>
            <p:ph type="ctrTitle"/>
          </p:nvPr>
        </p:nvSpPr>
        <p:spPr>
          <a:xfrm>
            <a:off x="1169988" y="1046163"/>
            <a:ext cx="7380287" cy="1012825"/>
          </a:xfrm>
        </p:spPr>
        <p:txBody>
          <a:bodyPr/>
          <a:lstStyle>
            <a:lvl1pPr>
              <a:defRPr sz="4000"/>
            </a:lvl1pPr>
          </a:lstStyle>
          <a:p>
            <a:pPr lvl="0"/>
            <a:r>
              <a:rPr lang="en-US" altLang="en-US" noProof="0" smtClean="0"/>
              <a:t>Click to edit Master title style</a:t>
            </a:r>
          </a:p>
        </p:txBody>
      </p:sp>
      <p:sp>
        <p:nvSpPr>
          <p:cNvPr id="3293" name="Rectangle 221"/>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en-US" altLang="en-US" noProof="0" smtClean="0"/>
              <a:t>Click to edit Master subtitle style</a:t>
            </a:r>
          </a:p>
        </p:txBody>
      </p:sp>
      <p:sp>
        <p:nvSpPr>
          <p:cNvPr id="107" name="Rectangle 105"/>
          <p:cNvSpPr>
            <a:spLocks noGrp="1" noChangeArrowheads="1"/>
          </p:cNvSpPr>
          <p:nvPr>
            <p:ph type="dt" sz="half" idx="10"/>
          </p:nvPr>
        </p:nvSpPr>
        <p:spPr>
          <a:xfrm>
            <a:off x="1387475" y="6357938"/>
            <a:ext cx="1905000" cy="457200"/>
          </a:xfrm>
          <a:extLst>
            <a:ext uri="{909E8E84-426E-40DD-AFC4-6F175D3DCCD1}">
              <a14:hiddenFill xmlns:a14="http://schemas.microsoft.com/office/drawing/2010/main">
                <a:solidFill>
                  <a:schemeClr val="accent1"/>
                </a:solidFill>
              </a14:hiddenFill>
            </a:ext>
          </a:extLst>
        </p:spPr>
        <p:txBody>
          <a:bodyPr/>
          <a:lstStyle>
            <a:lvl1pPr>
              <a:defRPr/>
            </a:lvl1pPr>
          </a:lstStyle>
          <a:p>
            <a:pPr>
              <a:defRPr/>
            </a:pPr>
            <a:endParaRPr lang="en-US" altLang="en-US"/>
          </a:p>
        </p:txBody>
      </p:sp>
      <p:sp>
        <p:nvSpPr>
          <p:cNvPr id="108" name="Rectangle 106"/>
          <p:cNvSpPr>
            <a:spLocks noGrp="1" noChangeArrowheads="1"/>
          </p:cNvSpPr>
          <p:nvPr>
            <p:ph type="ftr" sz="quarter" idx="11"/>
          </p:nvPr>
        </p:nvSpPr>
        <p:spPr>
          <a:xfrm>
            <a:off x="3722688" y="6357938"/>
            <a:ext cx="2271712" cy="457200"/>
          </a:xfrm>
          <a:prstGeom prst="rect">
            <a:avLst/>
          </a:prstGeom>
        </p:spPr>
        <p:txBody>
          <a:bodyPr/>
          <a:lstStyle>
            <a:lvl1pPr>
              <a:defRPr/>
            </a:lvl1pPr>
          </a:lstStyle>
          <a:p>
            <a:pPr>
              <a:defRPr/>
            </a:pPr>
            <a:endParaRPr lang="en-US" altLang="en-US"/>
          </a:p>
        </p:txBody>
      </p:sp>
      <p:sp>
        <p:nvSpPr>
          <p:cNvPr id="109" name="Rectangle 107"/>
          <p:cNvSpPr>
            <a:spLocks noGrp="1" noChangeArrowheads="1"/>
          </p:cNvSpPr>
          <p:nvPr>
            <p:ph type="sldNum" sz="quarter" idx="12"/>
          </p:nvPr>
        </p:nvSpPr>
        <p:spPr>
          <a:xfrm>
            <a:off x="6464300" y="6361113"/>
            <a:ext cx="1906588" cy="457200"/>
          </a:xfrm>
        </p:spPr>
        <p:txBody>
          <a:bodyPr/>
          <a:lstStyle>
            <a:lvl1pPr>
              <a:defRPr/>
            </a:lvl1pPr>
          </a:lstStyle>
          <a:p>
            <a:pPr>
              <a:defRPr/>
            </a:pPr>
            <a:fld id="{881713E1-18F1-4B7B-A4DF-8A7DF8DB3C75}" type="slidenum">
              <a:rPr lang="en-US" altLang="en-US"/>
              <a:pPr>
                <a:defRPr/>
              </a:pPr>
              <a:t>‹#›</a:t>
            </a:fld>
            <a:endParaRPr lang="en-US" altLang="en-US"/>
          </a:p>
        </p:txBody>
      </p:sp>
    </p:spTree>
    <p:extLst>
      <p:ext uri="{BB962C8B-B14F-4D97-AF65-F5344CB8AC3E}">
        <p14:creationId xmlns:p14="http://schemas.microsoft.com/office/powerpoint/2010/main" val="1535731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p:txBody>
          <a:bodyPr/>
          <a:lstStyle>
            <a:lvl1pPr>
              <a:defRPr/>
            </a:lvl1pPr>
          </a:lstStyle>
          <a:p>
            <a:pPr>
              <a:defRPr/>
            </a:pPr>
            <a:fld id="{9800B423-32FA-4440-8601-D059D936783E}" type="slidenum">
              <a:rPr lang="en-US" altLang="en-US"/>
              <a:pPr>
                <a:defRPr/>
              </a:pPr>
              <a:t>‹#›</a:t>
            </a:fld>
            <a:endParaRPr lang="en-US" altLang="en-US"/>
          </a:p>
        </p:txBody>
      </p:sp>
    </p:spTree>
    <p:extLst>
      <p:ext uri="{BB962C8B-B14F-4D97-AF65-F5344CB8AC3E}">
        <p14:creationId xmlns:p14="http://schemas.microsoft.com/office/powerpoint/2010/main" val="1404503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p:txBody>
          <a:bodyPr/>
          <a:lstStyle>
            <a:lvl1pPr>
              <a:defRPr/>
            </a:lvl1pPr>
          </a:lstStyle>
          <a:p>
            <a:pPr>
              <a:defRPr/>
            </a:pPr>
            <a:fld id="{2F370E4C-9B0F-4438-AA10-26511DD058F4}" type="slidenum">
              <a:rPr lang="en-US" altLang="en-US"/>
              <a:pPr>
                <a:defRPr/>
              </a:pPr>
              <a:t>‹#›</a:t>
            </a:fld>
            <a:endParaRPr lang="en-US" altLang="en-US"/>
          </a:p>
        </p:txBody>
      </p:sp>
    </p:spTree>
    <p:extLst>
      <p:ext uri="{BB962C8B-B14F-4D97-AF65-F5344CB8AC3E}">
        <p14:creationId xmlns:p14="http://schemas.microsoft.com/office/powerpoint/2010/main" val="334765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09625" y="2214563"/>
            <a:ext cx="3902075" cy="3881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64100" y="2214563"/>
            <a:ext cx="3903663" cy="3881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Footer Placeholder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p:txBody>
          <a:bodyPr/>
          <a:lstStyle>
            <a:lvl1pPr>
              <a:defRPr/>
            </a:lvl1pPr>
          </a:lstStyle>
          <a:p>
            <a:pPr>
              <a:defRPr/>
            </a:pPr>
            <a:fld id="{6372FE1B-32A8-4F4E-8C73-87D5DCF2913F}" type="slidenum">
              <a:rPr lang="en-US" altLang="en-US"/>
              <a:pPr>
                <a:defRPr/>
              </a:pPr>
              <a:t>‹#›</a:t>
            </a:fld>
            <a:endParaRPr lang="en-US" altLang="en-US"/>
          </a:p>
        </p:txBody>
      </p:sp>
    </p:spTree>
    <p:extLst>
      <p:ext uri="{BB962C8B-B14F-4D97-AF65-F5344CB8AC3E}">
        <p14:creationId xmlns:p14="http://schemas.microsoft.com/office/powerpoint/2010/main" val="123500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p:txBody>
          <a:bodyPr/>
          <a:lstStyle>
            <a:lvl1pPr>
              <a:defRPr/>
            </a:lvl1pPr>
          </a:lstStyle>
          <a:p>
            <a:pPr>
              <a:defRPr/>
            </a:pPr>
            <a:fld id="{3DA5B81A-C9CA-4EF9-ADB8-64CE2E49A4C7}" type="slidenum">
              <a:rPr lang="en-US" altLang="en-US"/>
              <a:pPr>
                <a:defRPr/>
              </a:pPr>
              <a:t>‹#›</a:t>
            </a:fld>
            <a:endParaRPr lang="en-US" altLang="en-US"/>
          </a:p>
        </p:txBody>
      </p:sp>
    </p:spTree>
    <p:extLst>
      <p:ext uri="{BB962C8B-B14F-4D97-AF65-F5344CB8AC3E}">
        <p14:creationId xmlns:p14="http://schemas.microsoft.com/office/powerpoint/2010/main" val="3556001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p:txBody>
          <a:bodyPr/>
          <a:lstStyle>
            <a:lvl1pPr>
              <a:defRPr/>
            </a:lvl1pPr>
          </a:lstStyle>
          <a:p>
            <a:pPr>
              <a:defRPr/>
            </a:pPr>
            <a:fld id="{C4CBFE91-18CC-4866-9F64-93F3D7A426BC}" type="slidenum">
              <a:rPr lang="en-US" altLang="en-US"/>
              <a:pPr>
                <a:defRPr/>
              </a:pPr>
              <a:t>‹#›</a:t>
            </a:fld>
            <a:endParaRPr lang="en-US" altLang="en-US"/>
          </a:p>
        </p:txBody>
      </p:sp>
    </p:spTree>
    <p:extLst>
      <p:ext uri="{BB962C8B-B14F-4D97-AF65-F5344CB8AC3E}">
        <p14:creationId xmlns:p14="http://schemas.microsoft.com/office/powerpoint/2010/main" val="3781634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p:txBody>
          <a:bodyPr/>
          <a:lstStyle>
            <a:lvl1pPr>
              <a:defRPr/>
            </a:lvl1pPr>
          </a:lstStyle>
          <a:p>
            <a:pPr>
              <a:defRPr/>
            </a:pPr>
            <a:fld id="{78823081-D28F-429E-8FB3-4166065EF87C}" type="slidenum">
              <a:rPr lang="en-US" altLang="en-US"/>
              <a:pPr>
                <a:defRPr/>
              </a:pPr>
              <a:t>‹#›</a:t>
            </a:fld>
            <a:endParaRPr lang="en-US" altLang="en-US"/>
          </a:p>
        </p:txBody>
      </p:sp>
    </p:spTree>
    <p:extLst>
      <p:ext uri="{BB962C8B-B14F-4D97-AF65-F5344CB8AC3E}">
        <p14:creationId xmlns:p14="http://schemas.microsoft.com/office/powerpoint/2010/main" val="874758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Footer Placeholder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p:txBody>
          <a:bodyPr/>
          <a:lstStyle>
            <a:lvl1pPr>
              <a:defRPr/>
            </a:lvl1pPr>
          </a:lstStyle>
          <a:p>
            <a:pPr>
              <a:defRPr/>
            </a:pPr>
            <a:fld id="{BB83AC2F-1F97-46B7-B3C1-1737E9B98CA1}" type="slidenum">
              <a:rPr lang="en-US" altLang="en-US"/>
              <a:pPr>
                <a:defRPr/>
              </a:pPr>
              <a:t>‹#›</a:t>
            </a:fld>
            <a:endParaRPr lang="en-US" altLang="en-US"/>
          </a:p>
        </p:txBody>
      </p:sp>
    </p:spTree>
    <p:extLst>
      <p:ext uri="{BB962C8B-B14F-4D97-AF65-F5344CB8AC3E}">
        <p14:creationId xmlns:p14="http://schemas.microsoft.com/office/powerpoint/2010/main" val="174895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ltLang="en-US"/>
          </a:p>
        </p:txBody>
      </p:sp>
      <p:sp>
        <p:nvSpPr>
          <p:cNvPr id="6" name="Footer Placeholder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p:txBody>
          <a:bodyPr/>
          <a:lstStyle>
            <a:lvl1pPr>
              <a:defRPr/>
            </a:lvl1pPr>
          </a:lstStyle>
          <a:p>
            <a:pPr>
              <a:defRPr/>
            </a:pPr>
            <a:fld id="{C7FB00BC-E5F8-4B3D-85A4-4A531944AB8B}" type="slidenum">
              <a:rPr lang="en-US" altLang="en-US"/>
              <a:pPr>
                <a:defRPr/>
              </a:pPr>
              <a:t>‹#›</a:t>
            </a:fld>
            <a:endParaRPr lang="en-US" altLang="en-US"/>
          </a:p>
        </p:txBody>
      </p:sp>
    </p:spTree>
    <p:extLst>
      <p:ext uri="{BB962C8B-B14F-4D97-AF65-F5344CB8AC3E}">
        <p14:creationId xmlns:p14="http://schemas.microsoft.com/office/powerpoint/2010/main" val="2768056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p:txBody>
          <a:bodyPr/>
          <a:lstStyle>
            <a:lvl1pPr>
              <a:defRPr/>
            </a:lvl1pPr>
          </a:lstStyle>
          <a:p>
            <a:pPr>
              <a:defRPr/>
            </a:pPr>
            <a:fld id="{45157942-B097-4FFE-BC26-FBB652B667DB}" type="slidenum">
              <a:rPr lang="en-US" altLang="en-US"/>
              <a:pPr>
                <a:defRPr/>
              </a:pPr>
              <a:t>‹#›</a:t>
            </a:fld>
            <a:endParaRPr lang="en-US" altLang="en-US"/>
          </a:p>
        </p:txBody>
      </p:sp>
    </p:spTree>
    <p:extLst>
      <p:ext uri="{BB962C8B-B14F-4D97-AF65-F5344CB8AC3E}">
        <p14:creationId xmlns:p14="http://schemas.microsoft.com/office/powerpoint/2010/main" val="2569619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78625" y="609600"/>
            <a:ext cx="1989138"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09625" y="609600"/>
            <a:ext cx="58166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xfrm>
            <a:off x="3132138" y="6600825"/>
            <a:ext cx="3086100" cy="233363"/>
          </a:xfrm>
          <a:prstGeom prst="rect">
            <a:avLst/>
          </a:prstGeom>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p:txBody>
          <a:bodyPr/>
          <a:lstStyle>
            <a:lvl1pPr>
              <a:defRPr/>
            </a:lvl1pPr>
          </a:lstStyle>
          <a:p>
            <a:pPr>
              <a:defRPr/>
            </a:pPr>
            <a:fld id="{975CAFDA-145A-43CC-AF5F-AA9CCB016439}" type="slidenum">
              <a:rPr lang="en-US" altLang="en-US"/>
              <a:pPr>
                <a:defRPr/>
              </a:pPr>
              <a:t>‹#›</a:t>
            </a:fld>
            <a:endParaRPr lang="en-US" altLang="en-US"/>
          </a:p>
        </p:txBody>
      </p:sp>
    </p:spTree>
    <p:extLst>
      <p:ext uri="{BB962C8B-B14F-4D97-AF65-F5344CB8AC3E}">
        <p14:creationId xmlns:p14="http://schemas.microsoft.com/office/powerpoint/2010/main" val="316255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25"/>
          <p:cNvGrpSpPr>
            <a:grpSpLocks/>
          </p:cNvGrpSpPr>
          <p:nvPr/>
        </p:nvGrpSpPr>
        <p:grpSpPr bwMode="auto">
          <a:xfrm>
            <a:off x="0" y="68263"/>
            <a:ext cx="8915400" cy="6713537"/>
            <a:chOff x="0" y="43"/>
            <a:chExt cx="5616" cy="4229"/>
          </a:xfrm>
        </p:grpSpPr>
        <p:grpSp>
          <p:nvGrpSpPr>
            <p:cNvPr id="1031" name="Group 222"/>
            <p:cNvGrpSpPr>
              <a:grpSpLocks/>
            </p:cNvGrpSpPr>
            <p:nvPr userDrawn="1"/>
          </p:nvGrpSpPr>
          <p:grpSpPr bwMode="auto">
            <a:xfrm>
              <a:off x="0" y="43"/>
              <a:ext cx="408" cy="4229"/>
              <a:chOff x="0" y="43"/>
              <a:chExt cx="5760" cy="4229"/>
            </a:xfrm>
          </p:grpSpPr>
          <p:sp>
            <p:nvSpPr>
              <p:cNvPr id="2" name="Line 122"/>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Line 123"/>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Line 124"/>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 name="Line 125"/>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 name="Line 126"/>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2" name="Line 127"/>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3" name="Line 128"/>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Line 129"/>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5" name="Line 130"/>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6" name="Line 131"/>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7" name="Line 132"/>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8" name="Line 133"/>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9" name="Line 134"/>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0" name="Line 135"/>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1" name="Line 136"/>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2" name="Line 137"/>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3" name="Line 138"/>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 name="Line 139"/>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 name="Line 140"/>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6" name="Line 141"/>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7" name="Line 142"/>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8" name="Line 143"/>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9" name="Line 144"/>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0" name="Line 145"/>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1" name="Line 146"/>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2" name="Line 147"/>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3" name="Line 148"/>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4" name="Line 149"/>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5" name="Line 150"/>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6" name="Line 151"/>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7" name="Line 152"/>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8" name="Line 153"/>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69" name="Line 154"/>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0" name="Line 155"/>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1" name="Line 156"/>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2" name="Line 157"/>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3" name="Line 158"/>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4" name="Line 159"/>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 name="Line 160"/>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6" name="Line 161"/>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7" name="Line 162"/>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8" name="Line 163"/>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9" name="Line 164"/>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0" name="Line 165"/>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1" name="Line 166"/>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2" name="Line 167"/>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3" name="Line 168"/>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4" name="Line 169"/>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5" name="Line 170"/>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6" name="Line 171"/>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7" name="Line 172"/>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8" name="Line 173"/>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9" name="Line 174"/>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0" name="Line 175"/>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1" name="Line 176"/>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2" name="Line 177"/>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3" name="Line 178"/>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4" name="Line 179"/>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5" name="Line 180"/>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6" name="Line 181"/>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7" name="Line 182"/>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8" name="Line 183"/>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9" name="Line 184"/>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0" name="Line 185"/>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1" name="Line 186"/>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2" name="Line 187"/>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3" name="Line 188"/>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4" name="Line 189"/>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5" name="Line 190"/>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6" name="Line 191"/>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7" name="Line 192"/>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8" name="Line 193"/>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9" name="Line 194"/>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0" name="Line 195"/>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1" name="Line 196"/>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2" name="Line 197"/>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3" name="Line 198"/>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4" name="Line 199"/>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5" name="Line 200"/>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 name="Line 201"/>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7" name="Line 202"/>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8" name="Line 203"/>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9" name="Line 204"/>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0" name="Line 205"/>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1" name="Line 206"/>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2" name="Line 207"/>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3" name="Line 208"/>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4" name="Line 209"/>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5" name="Line 210"/>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 name="Line 211"/>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 name="Line 212"/>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8" name="Line 213"/>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9" name="Line 214"/>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 name="Line 215"/>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1" name="Line 216"/>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2" name="Line 217"/>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3" name="Line 218"/>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4" name="Line 219"/>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032" name="Group 224"/>
            <p:cNvGrpSpPr>
              <a:grpSpLocks/>
            </p:cNvGrpSpPr>
            <p:nvPr userDrawn="1"/>
          </p:nvGrpSpPr>
          <p:grpSpPr bwMode="auto">
            <a:xfrm>
              <a:off x="400" y="205"/>
              <a:ext cx="5216" cy="866"/>
              <a:chOff x="400" y="205"/>
              <a:chExt cx="5216" cy="866"/>
            </a:xfrm>
          </p:grpSpPr>
          <p:sp>
            <p:nvSpPr>
              <p:cNvPr id="1034" name="Rectangle 116"/>
              <p:cNvSpPr>
                <a:spLocks noChangeArrowheads="1"/>
              </p:cNvSpPr>
              <p:nvPr userDrawn="1"/>
            </p:nvSpPr>
            <p:spPr bwMode="auto">
              <a:xfrm>
                <a:off x="521" y="205"/>
                <a:ext cx="193" cy="72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en-US" altLang="en-US" smtClean="0"/>
              </a:p>
            </p:txBody>
          </p:sp>
          <p:sp>
            <p:nvSpPr>
              <p:cNvPr id="1035" name="Rectangle 112"/>
              <p:cNvSpPr>
                <a:spLocks noChangeArrowheads="1"/>
              </p:cNvSpPr>
              <p:nvPr userDrawn="1"/>
            </p:nvSpPr>
            <p:spPr bwMode="auto">
              <a:xfrm>
                <a:off x="400" y="308"/>
                <a:ext cx="3567" cy="29"/>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en-US" altLang="en-US" smtClean="0"/>
              </a:p>
            </p:txBody>
          </p:sp>
          <p:sp>
            <p:nvSpPr>
              <p:cNvPr id="1036" name="Rectangle 117"/>
              <p:cNvSpPr>
                <a:spLocks noChangeArrowheads="1"/>
              </p:cNvSpPr>
              <p:nvPr userDrawn="1"/>
            </p:nvSpPr>
            <p:spPr bwMode="auto">
              <a:xfrm>
                <a:off x="4599" y="957"/>
                <a:ext cx="929" cy="11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en-US" altLang="en-US" smtClean="0"/>
              </a:p>
            </p:txBody>
          </p:sp>
          <p:sp>
            <p:nvSpPr>
              <p:cNvPr id="1037" name="Rectangle 113"/>
              <p:cNvSpPr>
                <a:spLocks noChangeArrowheads="1"/>
              </p:cNvSpPr>
              <p:nvPr userDrawn="1"/>
            </p:nvSpPr>
            <p:spPr bwMode="auto">
              <a:xfrm>
                <a:off x="2049" y="1006"/>
                <a:ext cx="3567" cy="29"/>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defRPr/>
                </a:pPr>
                <a:endParaRPr lang="en-US" altLang="en-US" smtClean="0"/>
              </a:p>
            </p:txBody>
          </p:sp>
        </p:grpSp>
      </p:grpSp>
      <p:sp>
        <p:nvSpPr>
          <p:cNvPr id="1027" name="Rectangle 3"/>
          <p:cNvSpPr>
            <a:spLocks noGrp="1" noChangeArrowheads="1"/>
          </p:cNvSpPr>
          <p:nvPr>
            <p:ph type="body" idx="1"/>
          </p:nvPr>
        </p:nvSpPr>
        <p:spPr bwMode="auto">
          <a:xfrm>
            <a:off x="811213" y="1778000"/>
            <a:ext cx="7958137" cy="475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028" name="Rectangle 4"/>
          <p:cNvSpPr>
            <a:spLocks noGrp="1" noChangeArrowheads="1"/>
          </p:cNvSpPr>
          <p:nvPr>
            <p:ph type="dt" sz="half" idx="2"/>
          </p:nvPr>
        </p:nvSpPr>
        <p:spPr bwMode="auto">
          <a:xfrm>
            <a:off x="809625" y="6597650"/>
            <a:ext cx="1905000" cy="2333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400">
                <a:solidFill>
                  <a:schemeClr val="folHlink"/>
                </a:solidFill>
              </a:defRPr>
            </a:lvl1pPr>
          </a:lstStyle>
          <a:p>
            <a:pPr>
              <a:defRPr/>
            </a:pPr>
            <a:endParaRPr lang="en-US" altLang="en-US"/>
          </a:p>
        </p:txBody>
      </p:sp>
      <p:sp>
        <p:nvSpPr>
          <p:cNvPr id="1030" name="Rectangle 6"/>
          <p:cNvSpPr>
            <a:spLocks noGrp="1" noChangeArrowheads="1"/>
          </p:cNvSpPr>
          <p:nvPr>
            <p:ph type="sldNum" sz="quarter" idx="4"/>
          </p:nvPr>
        </p:nvSpPr>
        <p:spPr bwMode="auto">
          <a:xfrm>
            <a:off x="6589713" y="6600825"/>
            <a:ext cx="2193925"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solidFill>
                  <a:schemeClr val="folHlink"/>
                </a:solidFill>
              </a:defRPr>
            </a:lvl1pPr>
          </a:lstStyle>
          <a:p>
            <a:pPr>
              <a:defRPr/>
            </a:pPr>
            <a:fld id="{7FE8F541-EED7-47DC-9794-6FB306CFCFE4}" type="slidenum">
              <a:rPr lang="en-US" altLang="en-US"/>
              <a:pPr>
                <a:defRPr/>
              </a:pPr>
              <a:t>‹#›</a:t>
            </a:fld>
            <a:endParaRPr lang="en-US" altLang="en-US"/>
          </a:p>
        </p:txBody>
      </p:sp>
      <p:sp>
        <p:nvSpPr>
          <p:cNvPr id="3" name="Title Placeholder 2"/>
          <p:cNvSpPr>
            <a:spLocks noGrp="1" noChangeArrowheads="1"/>
          </p:cNvSpPr>
          <p:nvPr>
            <p:ph type="title"/>
          </p:nvPr>
        </p:nvSpPr>
        <p:spPr bwMode="auto">
          <a:xfrm>
            <a:off x="1187450" y="609600"/>
            <a:ext cx="7562850" cy="865188"/>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Lst>
  <p:timing>
    <p:tnLst>
      <p:par>
        <p:cTn id="1" dur="indefinite" restart="never" nodeType="tmRoot"/>
      </p:par>
    </p:tnLst>
  </p:timing>
  <p:txStyles>
    <p:titleStyle>
      <a:lvl1pPr algn="ctr" rtl="0" eaLnBrk="0" fontAlgn="base" hangingPunct="0">
        <a:lnSpc>
          <a:spcPct val="85000"/>
        </a:lnSpc>
        <a:spcBef>
          <a:spcPct val="0"/>
        </a:spcBef>
        <a:spcAft>
          <a:spcPct val="0"/>
        </a:spcAft>
        <a:defRPr sz="4400" b="1">
          <a:solidFill>
            <a:schemeClr val="tx2"/>
          </a:solidFill>
          <a:effectLst>
            <a:outerShdw blurRad="38100" dist="38100" dir="2700000" algn="tl">
              <a:srgbClr val="000000">
                <a:alpha val="43137"/>
              </a:srgbClr>
            </a:outerShdw>
          </a:effectLst>
          <a:latin typeface="Calibri" panose="020F0502020204030204" pitchFamily="34" charset="0"/>
          <a:ea typeface="+mj-ea"/>
          <a:cs typeface="+mj-cs"/>
        </a:defRPr>
      </a:lvl1pPr>
      <a:lvl2pPr algn="ctr" rtl="0" eaLnBrk="0" fontAlgn="base" hangingPunct="0">
        <a:lnSpc>
          <a:spcPct val="85000"/>
        </a:lnSpc>
        <a:spcBef>
          <a:spcPct val="0"/>
        </a:spcBef>
        <a:spcAft>
          <a:spcPct val="0"/>
        </a:spcAft>
        <a:defRPr sz="4400" b="1">
          <a:solidFill>
            <a:schemeClr val="tx2"/>
          </a:solidFill>
          <a:latin typeface="Calibri" pitchFamily="34" charset="0"/>
        </a:defRPr>
      </a:lvl2pPr>
      <a:lvl3pPr algn="ctr" rtl="0" eaLnBrk="0" fontAlgn="base" hangingPunct="0">
        <a:lnSpc>
          <a:spcPct val="85000"/>
        </a:lnSpc>
        <a:spcBef>
          <a:spcPct val="0"/>
        </a:spcBef>
        <a:spcAft>
          <a:spcPct val="0"/>
        </a:spcAft>
        <a:defRPr sz="4400" b="1">
          <a:solidFill>
            <a:schemeClr val="tx2"/>
          </a:solidFill>
          <a:latin typeface="Calibri" pitchFamily="34" charset="0"/>
        </a:defRPr>
      </a:lvl3pPr>
      <a:lvl4pPr algn="ctr" rtl="0" eaLnBrk="0" fontAlgn="base" hangingPunct="0">
        <a:lnSpc>
          <a:spcPct val="85000"/>
        </a:lnSpc>
        <a:spcBef>
          <a:spcPct val="0"/>
        </a:spcBef>
        <a:spcAft>
          <a:spcPct val="0"/>
        </a:spcAft>
        <a:defRPr sz="4400" b="1">
          <a:solidFill>
            <a:schemeClr val="tx2"/>
          </a:solidFill>
          <a:latin typeface="Calibri" pitchFamily="34" charset="0"/>
        </a:defRPr>
      </a:lvl4pPr>
      <a:lvl5pPr algn="ctr" rtl="0" eaLnBrk="0" fontAlgn="base" hangingPunct="0">
        <a:lnSpc>
          <a:spcPct val="85000"/>
        </a:lnSpc>
        <a:spcBef>
          <a:spcPct val="0"/>
        </a:spcBef>
        <a:spcAft>
          <a:spcPct val="0"/>
        </a:spcAft>
        <a:defRPr sz="4400" b="1">
          <a:solidFill>
            <a:schemeClr val="tx2"/>
          </a:solidFill>
          <a:latin typeface="Calibri" pitchFamily="34" charset="0"/>
        </a:defRPr>
      </a:lvl5pPr>
      <a:lvl6pPr marL="457200" algn="ctr" rtl="0" fontAlgn="base">
        <a:lnSpc>
          <a:spcPct val="85000"/>
        </a:lnSpc>
        <a:spcBef>
          <a:spcPct val="0"/>
        </a:spcBef>
        <a:spcAft>
          <a:spcPct val="0"/>
        </a:spcAft>
        <a:defRPr sz="4400">
          <a:solidFill>
            <a:schemeClr val="tx2"/>
          </a:solidFill>
          <a:latin typeface="Times New Roman" pitchFamily="18" charset="0"/>
        </a:defRPr>
      </a:lvl6pPr>
      <a:lvl7pPr marL="914400" algn="ctr" rtl="0" fontAlgn="base">
        <a:lnSpc>
          <a:spcPct val="85000"/>
        </a:lnSpc>
        <a:spcBef>
          <a:spcPct val="0"/>
        </a:spcBef>
        <a:spcAft>
          <a:spcPct val="0"/>
        </a:spcAft>
        <a:defRPr sz="4400">
          <a:solidFill>
            <a:schemeClr val="tx2"/>
          </a:solidFill>
          <a:latin typeface="Times New Roman" pitchFamily="18" charset="0"/>
        </a:defRPr>
      </a:lvl7pPr>
      <a:lvl8pPr marL="1371600" algn="ctr" rtl="0" fontAlgn="base">
        <a:lnSpc>
          <a:spcPct val="85000"/>
        </a:lnSpc>
        <a:spcBef>
          <a:spcPct val="0"/>
        </a:spcBef>
        <a:spcAft>
          <a:spcPct val="0"/>
        </a:spcAft>
        <a:defRPr sz="4400">
          <a:solidFill>
            <a:schemeClr val="tx2"/>
          </a:solidFill>
          <a:latin typeface="Times New Roman" pitchFamily="18" charset="0"/>
        </a:defRPr>
      </a:lvl8pPr>
      <a:lvl9pPr marL="1828800" algn="ctr" rtl="0" fontAlgn="base">
        <a:lnSpc>
          <a:spcPct val="85000"/>
        </a:lnSpc>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SzPct val="70000"/>
        <a:buFont typeface="Wingdings" pitchFamily="2" charset="2"/>
        <a:buChar char="Ä"/>
        <a:defRPr sz="3200">
          <a:solidFill>
            <a:schemeClr val="tx1"/>
          </a:solidFill>
          <a:latin typeface="Calibri" panose="020F0502020204030204" pitchFamily="34" charset="0"/>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Ø"/>
        <a:defRPr sz="2800">
          <a:solidFill>
            <a:schemeClr val="tx1"/>
          </a:solidFill>
          <a:latin typeface="Calibri" panose="020F0502020204030204" pitchFamily="34" charset="0"/>
        </a:defRPr>
      </a:lvl2pPr>
      <a:lvl3pPr marL="1200150" indent="-342900" algn="l" rtl="0" eaLnBrk="0" fontAlgn="base" hangingPunct="0">
        <a:spcBef>
          <a:spcPct val="20000"/>
        </a:spcBef>
        <a:spcAft>
          <a:spcPct val="0"/>
        </a:spcAft>
        <a:buClr>
          <a:schemeClr val="accent2"/>
        </a:buClr>
        <a:buSzPct val="80000"/>
        <a:buFont typeface="Wingdings" pitchFamily="2" charset="2"/>
        <a:buChar char="²"/>
        <a:defRPr sz="2400">
          <a:solidFill>
            <a:schemeClr val="tx1"/>
          </a:solidFill>
          <a:latin typeface="Calibri" panose="020F0502020204030204" pitchFamily="34" charset="0"/>
        </a:defRPr>
      </a:lvl3pPr>
      <a:lvl4pPr marL="1428750" indent="-228600" algn="l" rtl="0" eaLnBrk="0" fontAlgn="base" hangingPunct="0">
        <a:spcBef>
          <a:spcPct val="20000"/>
        </a:spcBef>
        <a:spcAft>
          <a:spcPct val="0"/>
        </a:spcAft>
        <a:buClr>
          <a:schemeClr val="accent2"/>
        </a:buClr>
        <a:buSzPct val="70000"/>
        <a:buFont typeface="Wingdings" pitchFamily="2" charset="2"/>
        <a:buChar char="v"/>
        <a:defRPr sz="2000">
          <a:solidFill>
            <a:schemeClr val="tx1"/>
          </a:solidFill>
          <a:latin typeface="Calibri" panose="020F0502020204030204" pitchFamily="34" charset="0"/>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a:solidFill>
            <a:schemeClr val="tx1"/>
          </a:solidFill>
          <a:latin typeface="Calibri" panose="020F0502020204030204" pitchFamily="34" charset="0"/>
        </a:defRPr>
      </a:lvl5pPr>
      <a:lvl6pPr marL="22288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mn-lt"/>
        </a:defRPr>
      </a:lvl6pPr>
      <a:lvl7pPr marL="26860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mn-lt"/>
        </a:defRPr>
      </a:lvl7pPr>
      <a:lvl8pPr marL="31432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mn-lt"/>
        </a:defRPr>
      </a:lvl8pPr>
      <a:lvl9pPr marL="36004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guru99.com/images/stories/software-test-life-cycle.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uru99.com/images/6-2015/052615_0721_Howtocreate1.pn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6.png"/><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guru99.com/images/5-2015/user_accptance_testing.pn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guru99.com/images/TestingPhase.png"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guru99.com/images/stories/Sanity_Smoke_Testing.png"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guru99.com/images/3-2016/032316_1114_RiskBasedTe3.png" TargetMode="Externa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guru99.com/images/3-2016/032316_1114_RiskBasedTe4.png"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guru99.com/images/1/022218_1114_WhatisNonFu2.png"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1143000" y="1066800"/>
            <a:ext cx="7380288" cy="1012825"/>
          </a:xfrm>
        </p:spPr>
        <p:txBody>
          <a:bodyPr/>
          <a:lstStyle/>
          <a:p>
            <a:pPr eaLnBrk="1" hangingPunct="1">
              <a:defRPr/>
            </a:pPr>
            <a:r>
              <a:rPr lang="bg-BG" altLang="en-US" dirty="0" smtClean="0">
                <a:latin typeface="Cambria" pitchFamily="18" charset="0"/>
              </a:rPr>
              <a:t>Тестване на Програмно Осигуряване</a:t>
            </a:r>
            <a:endParaRPr lang="en-GB" altLang="en-US" dirty="0" smtClean="0">
              <a:latin typeface="Cambria" pitchFamily="18" charset="0"/>
            </a:endParaRPr>
          </a:p>
        </p:txBody>
      </p:sp>
      <p:sp>
        <p:nvSpPr>
          <p:cNvPr id="13315" name="Rectangle 3"/>
          <p:cNvSpPr>
            <a:spLocks noGrp="1" noChangeArrowheads="1"/>
          </p:cNvSpPr>
          <p:nvPr>
            <p:ph type="subTitle" idx="1"/>
          </p:nvPr>
        </p:nvSpPr>
        <p:spPr/>
        <p:txBody>
          <a:bodyPr/>
          <a:lstStyle/>
          <a:p>
            <a:pPr eaLnBrk="1" hangingPunct="1"/>
            <a:endParaRPr lang="bg-BG" altLang="en-US" dirty="0" smtClean="0"/>
          </a:p>
          <a:p>
            <a:pPr eaLnBrk="1" hangingPunct="1"/>
            <a:endParaRPr lang="bg-BG" altLang="en-US" dirty="0" smtClean="0"/>
          </a:p>
          <a:p>
            <a:pPr eaLnBrk="1" hangingPunct="1"/>
            <a:endParaRPr lang="en-US" altLang="en-US" dirty="0" smtClean="0"/>
          </a:p>
        </p:txBody>
      </p:sp>
      <p:sp>
        <p:nvSpPr>
          <p:cNvPr id="13316" name="Text Box 5"/>
          <p:cNvSpPr txBox="1">
            <a:spLocks noChangeArrowheads="1"/>
          </p:cNvSpPr>
          <p:nvPr/>
        </p:nvSpPr>
        <p:spPr bwMode="auto">
          <a:xfrm>
            <a:off x="1447800" y="5410200"/>
            <a:ext cx="7086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accent2"/>
              </a:buClr>
              <a:buFont typeface="Wingdings" pitchFamily="2" charset="2"/>
              <a:buChar char="w"/>
              <a:defRPr sz="3200">
                <a:solidFill>
                  <a:schemeClr val="tx1"/>
                </a:solidFill>
                <a:latin typeface="Times New Roman" pitchFamily="18" charset="0"/>
              </a:defRPr>
            </a:lvl1pPr>
            <a:lvl2pPr marL="742950" indent="-285750" algn="l" eaLnBrk="0" hangingPunct="0">
              <a:spcBef>
                <a:spcPct val="20000"/>
              </a:spcBef>
              <a:buClr>
                <a:schemeClr val="accent2"/>
              </a:buClr>
              <a:buSzPct val="55000"/>
              <a:buFont typeface="Wingdings" pitchFamily="2" charset="2"/>
              <a:buChar char="n"/>
              <a:defRPr sz="2800">
                <a:solidFill>
                  <a:schemeClr val="tx1"/>
                </a:solidFill>
                <a:latin typeface="Times New Roman" pitchFamily="18" charset="0"/>
              </a:defRPr>
            </a:lvl2pPr>
            <a:lvl3pPr marL="1143000" indent="-228600" algn="l" eaLnBrk="0" hangingPunct="0">
              <a:spcBef>
                <a:spcPct val="20000"/>
              </a:spcBef>
              <a:buClr>
                <a:schemeClr val="accent2"/>
              </a:buClr>
              <a:buSzPct val="65000"/>
              <a:buFont typeface="Wingdings" pitchFamily="2" charset="2"/>
              <a:buChar char="l"/>
              <a:defRPr sz="2400">
                <a:solidFill>
                  <a:schemeClr val="tx1"/>
                </a:solidFill>
                <a:latin typeface="Times New Roman" pitchFamily="18" charset="0"/>
              </a:defRPr>
            </a:lvl3pPr>
            <a:lvl4pPr marL="1600200" indent="-228600" algn="l" eaLnBrk="0" hangingPunct="0">
              <a:spcBef>
                <a:spcPct val="20000"/>
              </a:spcBef>
              <a:buClr>
                <a:schemeClr val="accent2"/>
              </a:buClr>
              <a:buSzPct val="85000"/>
              <a:buFont typeface="Wingdings" pitchFamily="2" charset="2"/>
              <a:buChar char="w"/>
              <a:defRPr sz="2000">
                <a:solidFill>
                  <a:schemeClr val="tx1"/>
                </a:solidFill>
                <a:latin typeface="Times New Roman" pitchFamily="18" charset="0"/>
              </a:defRPr>
            </a:lvl4pPr>
            <a:lvl5pPr marL="2057400" indent="-228600" algn="l" eaLnBrk="0" hangingPunct="0">
              <a:spcBef>
                <a:spcPct val="20000"/>
              </a:spcBef>
              <a:buClr>
                <a:schemeClr val="accent2"/>
              </a:buClr>
              <a:buSzPct val="80000"/>
              <a:buFont typeface="Wingdings" pitchFamily="2" charset="2"/>
              <a:buChar char="§"/>
              <a:defRPr>
                <a:solidFill>
                  <a:schemeClr val="tx1"/>
                </a:solidFill>
                <a:latin typeface="Times New Roman" pitchFamily="18" charset="0"/>
              </a:defRPr>
            </a:lvl5pPr>
            <a:lvl6pPr marL="2514600" indent="-228600" eaLnBrk="0" fontAlgn="base" hangingPunct="0">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defRPr>
            </a:lvl6pPr>
            <a:lvl7pPr marL="2971800" indent="-228600" eaLnBrk="0" fontAlgn="base" hangingPunct="0">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defRPr>
            </a:lvl7pPr>
            <a:lvl8pPr marL="3429000" indent="-228600" eaLnBrk="0" fontAlgn="base" hangingPunct="0">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defRPr>
            </a:lvl8pPr>
            <a:lvl9pPr marL="3886200" indent="-228600" eaLnBrk="0" fontAlgn="base" hangingPunct="0">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defRPr>
            </a:lvl9pPr>
          </a:lstStyle>
          <a:p>
            <a:pPr algn="ctr" eaLnBrk="1" hangingPunct="1">
              <a:spcBef>
                <a:spcPct val="0"/>
              </a:spcBef>
              <a:buClrTx/>
              <a:buFontTx/>
              <a:buNone/>
              <a:defRPr/>
            </a:pPr>
            <a:r>
              <a:rPr lang="bg-BG" altLang="en-US" sz="2800" dirty="0" smtClean="0">
                <a:effectLst>
                  <a:outerShdw blurRad="38100" dist="38100" dir="2700000" algn="tl">
                    <a:srgbClr val="000000">
                      <a:alpha val="43137"/>
                    </a:srgbClr>
                  </a:outerShdw>
                </a:effectLst>
                <a:latin typeface="Calibri" panose="020F0502020204030204" pitchFamily="34" charset="0"/>
              </a:rPr>
              <a:t>Основни видове </a:t>
            </a:r>
          </a:p>
          <a:p>
            <a:pPr algn="ctr" eaLnBrk="1" hangingPunct="1">
              <a:spcBef>
                <a:spcPct val="0"/>
              </a:spcBef>
              <a:buClrTx/>
              <a:buFontTx/>
              <a:buNone/>
              <a:defRPr/>
            </a:pPr>
            <a:r>
              <a:rPr lang="bg-BG" altLang="en-US" sz="2800" dirty="0" smtClean="0">
                <a:effectLst>
                  <a:outerShdw blurRad="38100" dist="38100" dir="2700000" algn="tl">
                    <a:srgbClr val="000000">
                      <a:alpha val="43137"/>
                    </a:srgbClr>
                  </a:outerShdw>
                </a:effectLst>
                <a:latin typeface="Calibri" panose="020F0502020204030204" pitchFamily="34" charset="0"/>
              </a:rPr>
              <a:t>тестване на софтуер</a:t>
            </a:r>
            <a:endParaRPr lang="en-GB" altLang="en-US" sz="2800" b="1" dirty="0" smtClean="0">
              <a:effectLst>
                <a:outerShdw blurRad="38100" dist="38100" dir="2700000" algn="tl">
                  <a:srgbClr val="000000">
                    <a:alpha val="43137"/>
                  </a:srgbClr>
                </a:outerShdw>
              </a:effectLst>
              <a:latin typeface="Calibri" panose="020F0502020204030204" pitchFamily="34" charset="0"/>
            </a:endParaRPr>
          </a:p>
        </p:txBody>
      </p:sp>
      <p:pic>
        <p:nvPicPr>
          <p:cNvPr id="133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2636838"/>
            <a:ext cx="3927475"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a:solidFill>
                  <a:schemeClr val="tx1"/>
                </a:solidFill>
              </a:rPr>
              <a:t>Тестването като задача</a:t>
            </a:r>
            <a:endParaRPr lang="en-US" dirty="0"/>
          </a:p>
        </p:txBody>
      </p:sp>
      <p:sp>
        <p:nvSpPr>
          <p:cNvPr id="3" name="Content Placeholder 2"/>
          <p:cNvSpPr>
            <a:spLocks noGrp="1"/>
          </p:cNvSpPr>
          <p:nvPr>
            <p:ph idx="1"/>
          </p:nvPr>
        </p:nvSpPr>
        <p:spPr>
          <a:xfrm>
            <a:off x="809625" y="1773238"/>
            <a:ext cx="7958138" cy="4756150"/>
          </a:xfrm>
        </p:spPr>
        <p:txBody>
          <a:bodyPr/>
          <a:lstStyle/>
          <a:p>
            <a:pPr>
              <a:lnSpc>
                <a:spcPct val="90000"/>
              </a:lnSpc>
              <a:spcBef>
                <a:spcPts val="0"/>
              </a:spcBef>
              <a:defRPr/>
            </a:pPr>
            <a:r>
              <a:rPr lang="bg-BG" altLang="en-US" sz="2700" dirty="0"/>
              <a:t>Същност </a:t>
            </a:r>
            <a:endParaRPr lang="en-US" altLang="en-US" sz="2700" dirty="0"/>
          </a:p>
          <a:p>
            <a:pPr lvl="1">
              <a:lnSpc>
                <a:spcPct val="90000"/>
              </a:lnSpc>
              <a:spcBef>
                <a:spcPts val="0"/>
              </a:spcBef>
              <a:defRPr/>
            </a:pPr>
            <a:r>
              <a:rPr lang="bg-BG" altLang="en-US" sz="2300" dirty="0"/>
              <a:t>Тестването е процес на изпълняване на програма с цел проверка за нестабилности (дефекти) в нея на основата на създадени сценарии и очаквани резултати.</a:t>
            </a:r>
            <a:endParaRPr lang="en-US" altLang="en-US" sz="2300" dirty="0"/>
          </a:p>
          <a:p>
            <a:pPr lvl="1">
              <a:lnSpc>
                <a:spcPct val="90000"/>
              </a:lnSpc>
              <a:spcBef>
                <a:spcPts val="0"/>
              </a:spcBef>
              <a:defRPr/>
            </a:pPr>
            <a:r>
              <a:rPr lang="bg-BG" altLang="en-US" sz="2300" dirty="0"/>
              <a:t>Тестването е техническа задача, но тя включва важни аспекти, свързани с икономика и човешка психология.</a:t>
            </a:r>
          </a:p>
          <a:p>
            <a:pPr>
              <a:lnSpc>
                <a:spcPct val="90000"/>
              </a:lnSpc>
              <a:spcBef>
                <a:spcPts val="0"/>
              </a:spcBef>
              <a:defRPr/>
            </a:pPr>
            <a:r>
              <a:rPr lang="bg-BG" altLang="en-US" sz="2585" dirty="0" smtClean="0"/>
              <a:t>Нуждата </a:t>
            </a:r>
            <a:r>
              <a:rPr lang="bg-BG" altLang="en-US" sz="2585" dirty="0"/>
              <a:t>от тестване се определя от желанието за повишаване на стойността на продукта, който се продава.</a:t>
            </a:r>
          </a:p>
          <a:p>
            <a:pPr marL="685817" lvl="1" indent="-263776">
              <a:lnSpc>
                <a:spcPct val="90000"/>
              </a:lnSpc>
              <a:spcBef>
                <a:spcPts val="0"/>
              </a:spcBef>
              <a:defRPr/>
            </a:pPr>
            <a:r>
              <a:rPr lang="bg-BG" altLang="en-US" sz="2215" dirty="0"/>
              <a:t>Тестването се използва за подобряване на качеството и надеждността като процедура за откриване на налични </a:t>
            </a:r>
            <a:r>
              <a:rPr lang="bg-BG" altLang="en-US" sz="2215" dirty="0" smtClean="0"/>
              <a:t>грешки чрез анализ на разликите между очаквани и получени резултати.</a:t>
            </a:r>
            <a:endParaRPr lang="bg-BG" altLang="en-US" sz="2215" dirty="0"/>
          </a:p>
          <a:p>
            <a:pPr marL="685817" lvl="1" indent="-263776">
              <a:lnSpc>
                <a:spcPct val="90000"/>
              </a:lnSpc>
              <a:spcBef>
                <a:spcPts val="0"/>
              </a:spcBef>
              <a:defRPr/>
            </a:pPr>
            <a:r>
              <a:rPr lang="bg-BG" altLang="en-US" sz="2215" dirty="0"/>
              <a:t>Повишаването на стойността е за сметка на подобряване на качеството и надеждността</a:t>
            </a:r>
            <a:r>
              <a:rPr lang="bg-BG" altLang="en-US" sz="2215" dirty="0" smtClean="0"/>
              <a:t>.</a:t>
            </a:r>
            <a:endParaRPr lang="bg-BG" altLang="en-US" sz="2215" dirty="0"/>
          </a:p>
        </p:txBody>
      </p:sp>
    </p:spTree>
    <p:extLst>
      <p:ext uri="{BB962C8B-B14F-4D97-AF65-F5344CB8AC3E}">
        <p14:creationId xmlns:p14="http://schemas.microsoft.com/office/powerpoint/2010/main" val="178868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827088" y="1741488"/>
            <a:ext cx="8208962" cy="4856162"/>
          </a:xfrm>
        </p:spPr>
        <p:txBody>
          <a:bodyPr lIns="83852" tIns="41190" rIns="83852" bIns="41190"/>
          <a:lstStyle/>
          <a:p>
            <a:pPr eaLnBrk="1" hangingPunct="1">
              <a:spcBef>
                <a:spcPct val="0"/>
              </a:spcBef>
            </a:pPr>
            <a:r>
              <a:rPr lang="bg-BG" altLang="en-US" smtClean="0"/>
              <a:t>За откриване на дефекти (</a:t>
            </a:r>
            <a:r>
              <a:rPr lang="en-US" altLang="en-US" smtClean="0"/>
              <a:t>d</a:t>
            </a:r>
            <a:r>
              <a:rPr lang="en-GB" altLang="en-US" smtClean="0"/>
              <a:t>efect testing)</a:t>
            </a:r>
          </a:p>
          <a:p>
            <a:pPr lvl="1" eaLnBrk="1" hangingPunct="1">
              <a:spcBef>
                <a:spcPct val="0"/>
              </a:spcBef>
            </a:pPr>
            <a:r>
              <a:rPr lang="bg-BG" altLang="en-US" smtClean="0"/>
              <a:t>Насочено е към откриване на максимално количество дефекти в</a:t>
            </a:r>
            <a:r>
              <a:rPr lang="en-US" altLang="en-US" smtClean="0"/>
              <a:t> </a:t>
            </a:r>
            <a:r>
              <a:rPr lang="bg-BG" altLang="en-US" smtClean="0"/>
              <a:t>системите</a:t>
            </a:r>
            <a:r>
              <a:rPr lang="en-GB" altLang="en-US" smtClean="0"/>
              <a:t>.</a:t>
            </a:r>
          </a:p>
          <a:p>
            <a:pPr lvl="1" eaLnBrk="1" hangingPunct="1">
              <a:spcBef>
                <a:spcPct val="0"/>
              </a:spcBef>
            </a:pPr>
            <a:r>
              <a:rPr lang="bg-BG" altLang="en-US" smtClean="0"/>
              <a:t>Успешен тест</a:t>
            </a:r>
          </a:p>
          <a:p>
            <a:pPr lvl="2" eaLnBrk="1" hangingPunct="1">
              <a:spcBef>
                <a:spcPct val="0"/>
              </a:spcBef>
            </a:pPr>
            <a:r>
              <a:rPr lang="bg-BG" altLang="en-US" smtClean="0"/>
              <a:t>Всеки тест, който намира нов дефект</a:t>
            </a:r>
            <a:r>
              <a:rPr lang="en-GB" altLang="en-US" smtClean="0"/>
              <a:t>.</a:t>
            </a:r>
          </a:p>
          <a:p>
            <a:pPr eaLnBrk="1" hangingPunct="1">
              <a:spcBef>
                <a:spcPct val="0"/>
              </a:spcBef>
            </a:pPr>
            <a:r>
              <a:rPr lang="bg-BG" altLang="en-US" smtClean="0"/>
              <a:t>Тестване за приемливост (</a:t>
            </a:r>
            <a:r>
              <a:rPr lang="en-US" altLang="en-US" smtClean="0"/>
              <a:t>v</a:t>
            </a:r>
            <a:r>
              <a:rPr lang="en-GB" altLang="en-US" smtClean="0"/>
              <a:t>alidation testing)</a:t>
            </a:r>
          </a:p>
          <a:p>
            <a:pPr lvl="1" eaLnBrk="1" hangingPunct="1">
              <a:spcBef>
                <a:spcPct val="0"/>
              </a:spcBef>
            </a:pPr>
            <a:r>
              <a:rPr lang="bg-BG" altLang="en-US" smtClean="0"/>
              <a:t>Насочен е за определяне как разработения софтуер отговаря на заданието си</a:t>
            </a:r>
            <a:r>
              <a:rPr lang="en-GB" altLang="en-US" smtClean="0"/>
              <a:t>.</a:t>
            </a:r>
          </a:p>
          <a:p>
            <a:pPr lvl="1" eaLnBrk="1" hangingPunct="1">
              <a:spcBef>
                <a:spcPct val="0"/>
              </a:spcBef>
            </a:pPr>
            <a:r>
              <a:rPr lang="bg-BG" altLang="en-US" smtClean="0"/>
              <a:t>Успешен тест</a:t>
            </a:r>
          </a:p>
          <a:p>
            <a:pPr lvl="2" eaLnBrk="1" hangingPunct="1">
              <a:spcBef>
                <a:spcPct val="0"/>
              </a:spcBef>
            </a:pPr>
            <a:r>
              <a:rPr lang="bg-BG" altLang="en-US" smtClean="0"/>
              <a:t>Всеки тест, който показва че даденото изискване е правилно реализирано.</a:t>
            </a:r>
            <a:endParaRPr lang="en-GB" altLang="en-US" smtClean="0"/>
          </a:p>
        </p:txBody>
      </p:sp>
      <p:sp>
        <p:nvSpPr>
          <p:cNvPr id="836611" name="Rectangle 3"/>
          <p:cNvSpPr>
            <a:spLocks noGrp="1" noRot="1" noChangeArrowheads="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rPr>
              <a:t>Тестването като задача</a:t>
            </a:r>
            <a:endParaRPr lang="en-GB" dirty="0">
              <a:solidFill>
                <a:schemeClr val="tx1"/>
              </a:solidFill>
              <a:latin typeface="Arial" charset="0"/>
            </a:endParaRPr>
          </a:p>
        </p:txBody>
      </p:sp>
    </p:spTree>
    <p:extLst>
      <p:ext uri="{BB962C8B-B14F-4D97-AF65-F5344CB8AC3E}">
        <p14:creationId xmlns:p14="http://schemas.microsoft.com/office/powerpoint/2010/main" val="209487136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rPr>
              <a:t>Тестването като задача</a:t>
            </a:r>
            <a:endParaRPr lang="en-US" dirty="0">
              <a:solidFill>
                <a:schemeClr val="tx1"/>
              </a:solidFill>
              <a:latin typeface="Arial" charset="0"/>
            </a:endParaRPr>
          </a:p>
        </p:txBody>
      </p:sp>
      <p:sp>
        <p:nvSpPr>
          <p:cNvPr id="3" name="Content Placeholder 2"/>
          <p:cNvSpPr>
            <a:spLocks noGrp="1"/>
          </p:cNvSpPr>
          <p:nvPr>
            <p:ph idx="1"/>
          </p:nvPr>
        </p:nvSpPr>
        <p:spPr/>
        <p:txBody>
          <a:bodyPr/>
          <a:lstStyle/>
          <a:p>
            <a:r>
              <a:rPr lang="bg-BG" sz="2800" dirty="0"/>
              <a:t>Степента на откриване на </a:t>
            </a:r>
            <a:r>
              <a:rPr lang="bg-BG" sz="2800" dirty="0" smtClean="0"/>
              <a:t>дефектите директно не </a:t>
            </a:r>
            <a:r>
              <a:rPr lang="bg-BG" sz="2800" dirty="0" err="1"/>
              <a:t>корелира</a:t>
            </a:r>
            <a:r>
              <a:rPr lang="bg-BG" sz="2800" dirty="0"/>
              <a:t> </a:t>
            </a:r>
            <a:r>
              <a:rPr lang="bg-BG" sz="2800" dirty="0" smtClean="0"/>
              <a:t>с </a:t>
            </a:r>
            <a:r>
              <a:rPr lang="bg-BG" sz="2800" dirty="0"/>
              <a:t>мерките за надеждност на системата</a:t>
            </a:r>
            <a:r>
              <a:rPr lang="bg-BG" sz="2800" dirty="0" smtClean="0"/>
              <a:t>. </a:t>
            </a:r>
          </a:p>
          <a:p>
            <a:pPr lvl="1"/>
            <a:r>
              <a:rPr lang="bg-BG" sz="2400" dirty="0" smtClean="0"/>
              <a:t>Основен проблем е многото негативни резултати при тестване</a:t>
            </a:r>
          </a:p>
          <a:p>
            <a:pPr lvl="2"/>
            <a:r>
              <a:rPr lang="bg-BG" sz="2000" dirty="0" smtClean="0"/>
              <a:t>Кое гарантира коректността на тестването?</a:t>
            </a:r>
          </a:p>
          <a:p>
            <a:pPr lvl="2"/>
            <a:r>
              <a:rPr lang="bg-BG" sz="2000" dirty="0" smtClean="0"/>
              <a:t>За да се получи статистическа достоверност е необходимо много тестове, т.е. статистическият подход е изключително сложен</a:t>
            </a:r>
          </a:p>
          <a:p>
            <a:pPr lvl="2"/>
            <a:r>
              <a:rPr lang="bg-BG" sz="2000" dirty="0" smtClean="0"/>
              <a:t>Систематичността не гарантира подобряване на откриването на дефекти в сравнение със случайните тестове.</a:t>
            </a:r>
          </a:p>
          <a:p>
            <a:pPr marL="0" indent="0">
              <a:buNone/>
            </a:pPr>
            <a:endParaRPr lang="bg-BG" sz="2800" dirty="0" smtClean="0"/>
          </a:p>
        </p:txBody>
      </p:sp>
    </p:spTree>
    <p:extLst>
      <p:ext uri="{BB962C8B-B14F-4D97-AF65-F5344CB8AC3E}">
        <p14:creationId xmlns:p14="http://schemas.microsoft.com/office/powerpoint/2010/main" val="3963826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rPr>
              <a:t>Тестването като задача</a:t>
            </a:r>
            <a:endParaRPr lang="en-US" dirty="0">
              <a:solidFill>
                <a:schemeClr val="tx1"/>
              </a:solidFill>
              <a:latin typeface="Arial" charset="0"/>
            </a:endParaRPr>
          </a:p>
        </p:txBody>
      </p:sp>
      <p:sp>
        <p:nvSpPr>
          <p:cNvPr id="3" name="Content Placeholder 2"/>
          <p:cNvSpPr>
            <a:spLocks noGrp="1"/>
          </p:cNvSpPr>
          <p:nvPr>
            <p:ph idx="1"/>
          </p:nvPr>
        </p:nvSpPr>
        <p:spPr/>
        <p:txBody>
          <a:bodyPr/>
          <a:lstStyle/>
          <a:p>
            <a:pPr>
              <a:spcBef>
                <a:spcPts val="0"/>
              </a:spcBef>
            </a:pPr>
            <a:r>
              <a:rPr lang="bg-BG" sz="2400" dirty="0" smtClean="0"/>
              <a:t>Няма един единствен верен подход, независимо че количеството тестове за едно и също ниво на качество на продукта е сравнително постоянна величина :</a:t>
            </a:r>
          </a:p>
          <a:p>
            <a:pPr lvl="1">
              <a:spcBef>
                <a:spcPts val="0"/>
              </a:spcBef>
            </a:pPr>
            <a:r>
              <a:rPr lang="bg-BG" sz="2000" dirty="0" smtClean="0"/>
              <a:t>Различните области на приложение изискват различни подходи.</a:t>
            </a:r>
          </a:p>
          <a:p>
            <a:pPr lvl="1">
              <a:spcBef>
                <a:spcPts val="0"/>
              </a:spcBef>
            </a:pPr>
            <a:r>
              <a:rPr lang="bg-BG" sz="2000" dirty="0" smtClean="0"/>
              <a:t>Различните модели за разработка изискват реорганизиране на начина и усилията за тестване.</a:t>
            </a:r>
          </a:p>
          <a:p>
            <a:pPr>
              <a:spcBef>
                <a:spcPts val="0"/>
              </a:spcBef>
            </a:pPr>
            <a:r>
              <a:rPr lang="bg-BG" sz="2400" dirty="0" smtClean="0"/>
              <a:t>Основни дейности в процеса на тестване:</a:t>
            </a:r>
          </a:p>
          <a:p>
            <a:pPr lvl="1">
              <a:spcBef>
                <a:spcPts val="0"/>
              </a:spcBef>
            </a:pPr>
            <a:r>
              <a:rPr lang="bg-BG" sz="2000" dirty="0" smtClean="0"/>
              <a:t>Моделиране на околната среда</a:t>
            </a:r>
          </a:p>
          <a:p>
            <a:pPr lvl="1">
              <a:spcBef>
                <a:spcPts val="0"/>
              </a:spcBef>
            </a:pPr>
            <a:r>
              <a:rPr lang="bg-BG" sz="2000" dirty="0" smtClean="0"/>
              <a:t>Генерация на тест, т.е. определяне какво и как да се тества и какво се очаква да се получи</a:t>
            </a:r>
          </a:p>
          <a:p>
            <a:pPr lvl="1">
              <a:spcBef>
                <a:spcPts val="0"/>
              </a:spcBef>
            </a:pPr>
            <a:r>
              <a:rPr lang="bg-BG" sz="2000" dirty="0" smtClean="0"/>
              <a:t>Изпълнение на теста</a:t>
            </a:r>
          </a:p>
          <a:p>
            <a:pPr lvl="1">
              <a:spcBef>
                <a:spcPts val="0"/>
              </a:spcBef>
            </a:pPr>
            <a:r>
              <a:rPr lang="bg-BG" sz="2000" dirty="0" smtClean="0"/>
              <a:t>Оценка на резултата от теста</a:t>
            </a:r>
          </a:p>
          <a:p>
            <a:pPr lvl="1">
              <a:spcBef>
                <a:spcPts val="0"/>
              </a:spcBef>
            </a:pPr>
            <a:r>
              <a:rPr lang="bg-BG" sz="2000" dirty="0" smtClean="0"/>
              <a:t>Измерване на напредъка в отстраняване на дефектите.</a:t>
            </a:r>
            <a:endParaRPr lang="bg-BG" sz="2000" dirty="0"/>
          </a:p>
        </p:txBody>
      </p:sp>
    </p:spTree>
    <p:extLst>
      <p:ext uri="{BB962C8B-B14F-4D97-AF65-F5344CB8AC3E}">
        <p14:creationId xmlns:p14="http://schemas.microsoft.com/office/powerpoint/2010/main" val="1238853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Основни групи тестове</a:t>
            </a:r>
            <a:endParaRPr lang="en-US" dirty="0"/>
          </a:p>
        </p:txBody>
      </p:sp>
      <p:sp>
        <p:nvSpPr>
          <p:cNvPr id="3" name="Content Placeholder 2"/>
          <p:cNvSpPr>
            <a:spLocks noGrp="1"/>
          </p:cNvSpPr>
          <p:nvPr>
            <p:ph idx="1"/>
          </p:nvPr>
        </p:nvSpPr>
        <p:spPr>
          <a:xfrm>
            <a:off x="811213" y="1778000"/>
            <a:ext cx="8332787" cy="4751388"/>
          </a:xfrm>
        </p:spPr>
        <p:txBody>
          <a:bodyPr/>
          <a:lstStyle/>
          <a:p>
            <a:pPr>
              <a:spcBef>
                <a:spcPts val="0"/>
              </a:spcBef>
            </a:pPr>
            <a:r>
              <a:rPr lang="bg-BG" sz="2400" dirty="0" smtClean="0"/>
              <a:t>Изискванията към системата се разделят на:</a:t>
            </a:r>
          </a:p>
          <a:p>
            <a:pPr lvl="1">
              <a:spcBef>
                <a:spcPts val="0"/>
              </a:spcBef>
            </a:pPr>
            <a:r>
              <a:rPr lang="bg-BG" sz="2000" dirty="0" smtClean="0">
                <a:effectLst>
                  <a:outerShdw blurRad="38100" dist="38100" dir="2700000" algn="tl">
                    <a:srgbClr val="000000">
                      <a:alpha val="43137"/>
                    </a:srgbClr>
                  </a:outerShdw>
                </a:effectLst>
              </a:rPr>
              <a:t>Функционални</a:t>
            </a:r>
            <a:r>
              <a:rPr lang="bg-BG" sz="2000" dirty="0" smtClean="0"/>
              <a:t>, т.е. какво системата трябва да прави</a:t>
            </a:r>
          </a:p>
          <a:p>
            <a:pPr lvl="1">
              <a:spcBef>
                <a:spcPts val="0"/>
              </a:spcBef>
            </a:pPr>
            <a:r>
              <a:rPr lang="bg-BG" sz="2000" dirty="0" smtClean="0">
                <a:effectLst>
                  <a:outerShdw blurRad="38100" dist="38100" dir="2700000" algn="tl">
                    <a:srgbClr val="000000">
                      <a:alpha val="43137"/>
                    </a:srgbClr>
                  </a:outerShdw>
                </a:effectLst>
              </a:rPr>
              <a:t>Нефункционални</a:t>
            </a:r>
            <a:r>
              <a:rPr lang="bg-BG" sz="2000" dirty="0" smtClean="0"/>
              <a:t>, определящи допълнителни характеристики </a:t>
            </a:r>
            <a:br>
              <a:rPr lang="bg-BG" sz="2000" dirty="0" smtClean="0"/>
            </a:br>
            <a:r>
              <a:rPr lang="bg-BG" sz="2000" dirty="0" smtClean="0"/>
              <a:t>като производителност, надеждност, сигурност и др.</a:t>
            </a:r>
          </a:p>
          <a:p>
            <a:pPr>
              <a:spcBef>
                <a:spcPts val="0"/>
              </a:spcBef>
            </a:pPr>
            <a:r>
              <a:rPr lang="bg-BG" sz="2400" dirty="0" smtClean="0"/>
              <a:t>Това определя необходимостта от провеждане на три категории тестване:</a:t>
            </a:r>
          </a:p>
          <a:p>
            <a:pPr lvl="1">
              <a:spcBef>
                <a:spcPts val="0"/>
              </a:spcBef>
            </a:pPr>
            <a:r>
              <a:rPr lang="bg-BG" sz="2000" dirty="0" smtClean="0"/>
              <a:t>Функционално тестване</a:t>
            </a:r>
            <a:r>
              <a:rPr lang="en-US" sz="2000" dirty="0" smtClean="0"/>
              <a:t> – </a:t>
            </a:r>
            <a:r>
              <a:rPr lang="bg-BG" sz="2000" dirty="0" smtClean="0"/>
              <a:t>първо те се реализират</a:t>
            </a:r>
          </a:p>
          <a:p>
            <a:pPr lvl="2">
              <a:spcBef>
                <a:spcPts val="0"/>
              </a:spcBef>
            </a:pPr>
            <a:r>
              <a:rPr lang="bg-BG" sz="1800" dirty="0" err="1" smtClean="0"/>
              <a:t>Англ</a:t>
            </a:r>
            <a:r>
              <a:rPr lang="bg-BG" sz="1800" dirty="0" smtClean="0"/>
              <a:t>. </a:t>
            </a:r>
            <a:r>
              <a:rPr lang="bg-BG" sz="1800" dirty="0" err="1" smtClean="0"/>
              <a:t>Functional</a:t>
            </a:r>
            <a:r>
              <a:rPr lang="bg-BG" sz="1800" dirty="0" smtClean="0"/>
              <a:t> </a:t>
            </a:r>
            <a:r>
              <a:rPr lang="bg-BG" sz="1800" dirty="0" err="1" smtClean="0"/>
              <a:t>testing</a:t>
            </a:r>
            <a:endParaRPr lang="bg-BG" sz="1800" dirty="0" smtClean="0"/>
          </a:p>
          <a:p>
            <a:pPr lvl="1">
              <a:spcBef>
                <a:spcPts val="0"/>
              </a:spcBef>
            </a:pPr>
            <a:r>
              <a:rPr lang="bg-BG" sz="2000" dirty="0" smtClean="0"/>
              <a:t>Нефункционално тестване – извършват се според типа на софтуера</a:t>
            </a:r>
          </a:p>
          <a:p>
            <a:pPr lvl="2">
              <a:spcBef>
                <a:spcPts val="0"/>
              </a:spcBef>
            </a:pPr>
            <a:r>
              <a:rPr lang="bg-BG" sz="1800" dirty="0" err="1" smtClean="0"/>
              <a:t>Angl</a:t>
            </a:r>
            <a:r>
              <a:rPr lang="bg-BG" sz="1800" dirty="0" smtClean="0"/>
              <a:t>. </a:t>
            </a:r>
            <a:r>
              <a:rPr lang="bg-BG" sz="1800" dirty="0" err="1" smtClean="0"/>
              <a:t>Non-functional</a:t>
            </a:r>
            <a:r>
              <a:rPr lang="bg-BG" sz="1800" dirty="0" smtClean="0"/>
              <a:t> </a:t>
            </a:r>
            <a:r>
              <a:rPr lang="bg-BG" sz="1800" dirty="0" err="1" smtClean="0"/>
              <a:t>testing</a:t>
            </a:r>
            <a:endParaRPr lang="bg-BG" sz="1800" dirty="0" smtClean="0"/>
          </a:p>
          <a:p>
            <a:pPr lvl="2">
              <a:spcBef>
                <a:spcPts val="0"/>
              </a:spcBef>
            </a:pPr>
            <a:r>
              <a:rPr lang="bg-BG" sz="1800" dirty="0" smtClean="0"/>
              <a:t>Много често се реализира като «Тестване на производителността» </a:t>
            </a:r>
          </a:p>
          <a:p>
            <a:pPr lvl="3">
              <a:spcBef>
                <a:spcPts val="0"/>
              </a:spcBef>
            </a:pPr>
            <a:r>
              <a:rPr lang="bg-BG" sz="1800" dirty="0" err="1" smtClean="0"/>
              <a:t>англ</a:t>
            </a:r>
            <a:r>
              <a:rPr lang="bg-BG" sz="1800" dirty="0" smtClean="0"/>
              <a:t>. </a:t>
            </a:r>
            <a:r>
              <a:rPr lang="bg-BG" sz="1800" dirty="0" err="1" smtClean="0"/>
              <a:t>Performance</a:t>
            </a:r>
            <a:r>
              <a:rPr lang="bg-BG" sz="1800" dirty="0" smtClean="0"/>
              <a:t> </a:t>
            </a:r>
            <a:r>
              <a:rPr lang="bg-BG" sz="1800" dirty="0" err="1" smtClean="0"/>
              <a:t>testing</a:t>
            </a:r>
            <a:endParaRPr lang="bg-BG" sz="1800" dirty="0" smtClean="0"/>
          </a:p>
          <a:p>
            <a:pPr lvl="1">
              <a:spcBef>
                <a:spcPts val="0"/>
              </a:spcBef>
            </a:pPr>
            <a:r>
              <a:rPr lang="bg-BG" sz="2000" dirty="0" smtClean="0"/>
              <a:t>Регресивно тестване и тестване за поддръжка</a:t>
            </a:r>
          </a:p>
          <a:p>
            <a:pPr lvl="2">
              <a:spcBef>
                <a:spcPts val="0"/>
              </a:spcBef>
            </a:pPr>
            <a:r>
              <a:rPr lang="bg-BG" sz="1800" dirty="0" smtClean="0"/>
              <a:t>Дефинира как се запазва качеството на софтуера след направени поправки или добавяне на нови модули в него.</a:t>
            </a:r>
          </a:p>
          <a:p>
            <a:pPr lvl="2">
              <a:spcBef>
                <a:spcPts val="0"/>
              </a:spcBef>
            </a:pPr>
            <a:r>
              <a:rPr lang="bg-BG" sz="1800" dirty="0" err="1" smtClean="0"/>
              <a:t>Англ</a:t>
            </a:r>
            <a:r>
              <a:rPr lang="bg-BG" sz="1800" dirty="0" smtClean="0"/>
              <a:t>. </a:t>
            </a:r>
            <a:r>
              <a:rPr lang="bg-BG" sz="1800" dirty="0" err="1" smtClean="0"/>
              <a:t>Regresion</a:t>
            </a:r>
            <a:r>
              <a:rPr lang="bg-BG" sz="1800" dirty="0" smtClean="0"/>
              <a:t> &amp; </a:t>
            </a:r>
            <a:r>
              <a:rPr lang="bg-BG" sz="1800" dirty="0" err="1" smtClean="0"/>
              <a:t>Maintenance</a:t>
            </a:r>
            <a:r>
              <a:rPr lang="bg-BG" sz="1800" dirty="0" smtClean="0"/>
              <a:t> </a:t>
            </a:r>
            <a:r>
              <a:rPr lang="bg-BG" sz="1800" dirty="0" err="1" smtClean="0"/>
              <a:t>testing</a:t>
            </a:r>
            <a:endParaRPr lang="bg-BG" sz="1800" dirty="0"/>
          </a:p>
        </p:txBody>
      </p:sp>
    </p:spTree>
    <p:extLst>
      <p:ext uri="{BB962C8B-B14F-4D97-AF65-F5344CB8AC3E}">
        <p14:creationId xmlns:p14="http://schemas.microsoft.com/office/powerpoint/2010/main" val="35529731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latin typeface="Arial" charset="0"/>
              </a:rPr>
              <a:t>Някои важни термини</a:t>
            </a:r>
            <a:endParaRPr lang="en-US" dirty="0">
              <a:solidFill>
                <a:schemeClr val="tx1"/>
              </a:solidFill>
              <a:latin typeface="Arial" charset="0"/>
            </a:endParaRPr>
          </a:p>
        </p:txBody>
      </p:sp>
      <p:sp>
        <p:nvSpPr>
          <p:cNvPr id="3" name="Content Placeholder 2"/>
          <p:cNvSpPr>
            <a:spLocks noGrp="1"/>
          </p:cNvSpPr>
          <p:nvPr>
            <p:ph idx="1"/>
          </p:nvPr>
        </p:nvSpPr>
        <p:spPr>
          <a:xfrm>
            <a:off x="809625" y="1916833"/>
            <a:ext cx="8154864" cy="4612556"/>
          </a:xfrm>
        </p:spPr>
        <p:txBody>
          <a:bodyPr/>
          <a:lstStyle/>
          <a:p>
            <a:r>
              <a:rPr lang="bg-BG" sz="2800" dirty="0" smtClean="0"/>
              <a:t>Независима </a:t>
            </a:r>
            <a:r>
              <a:rPr lang="bg-BG" sz="2800" dirty="0" err="1" smtClean="0"/>
              <a:t>тестируема</a:t>
            </a:r>
            <a:r>
              <a:rPr lang="bg-BG" sz="2800" dirty="0" smtClean="0"/>
              <a:t> характеристика </a:t>
            </a:r>
          </a:p>
          <a:p>
            <a:pPr lvl="1"/>
            <a:r>
              <a:rPr lang="bg-BG" sz="2400" dirty="0" smtClean="0"/>
              <a:t>Характеристика, която може да бъде самостоятелно управлявана и наблюдавана</a:t>
            </a:r>
          </a:p>
          <a:p>
            <a:pPr lvl="2"/>
            <a:r>
              <a:rPr lang="bg-BG" sz="2000" dirty="0" smtClean="0"/>
              <a:t>Наличието на такива характеристики позволява създаването на тестовете, при които важните елементи ще се проверяват изолирани от другите елементи.</a:t>
            </a:r>
          </a:p>
          <a:p>
            <a:pPr lvl="1"/>
            <a:r>
              <a:rPr lang="bg-BG" sz="2400" dirty="0" err="1" smtClean="0"/>
              <a:t>англ</a:t>
            </a:r>
            <a:r>
              <a:rPr lang="bg-BG" sz="2400" dirty="0" smtClean="0"/>
              <a:t>. </a:t>
            </a:r>
            <a:r>
              <a:rPr lang="bg-BG" sz="2400" dirty="0" err="1" smtClean="0"/>
              <a:t>Independently</a:t>
            </a:r>
            <a:r>
              <a:rPr lang="bg-BG" sz="2400" dirty="0" smtClean="0"/>
              <a:t> </a:t>
            </a:r>
            <a:r>
              <a:rPr lang="bg-BG" sz="2400" dirty="0" err="1" smtClean="0"/>
              <a:t>Testable</a:t>
            </a:r>
            <a:r>
              <a:rPr lang="bg-BG" sz="2400" dirty="0" smtClean="0"/>
              <a:t> </a:t>
            </a:r>
            <a:r>
              <a:rPr lang="bg-BG" sz="2400" dirty="0" err="1" smtClean="0"/>
              <a:t>Feature</a:t>
            </a:r>
            <a:r>
              <a:rPr lang="bg-BG" sz="2400" dirty="0" smtClean="0"/>
              <a:t> (ITF) </a:t>
            </a:r>
          </a:p>
          <a:p>
            <a:r>
              <a:rPr lang="bg-BG" sz="2800" dirty="0" smtClean="0"/>
              <a:t>Тестов случай:</a:t>
            </a:r>
          </a:p>
          <a:p>
            <a:pPr lvl="1"/>
            <a:r>
              <a:rPr lang="bg-BG" sz="2400" dirty="0" smtClean="0"/>
              <a:t>Задава вход, условия на среда за тестване, ограничения и очаквани резултати</a:t>
            </a:r>
          </a:p>
          <a:p>
            <a:pPr lvl="1"/>
            <a:r>
              <a:rPr lang="bg-BG" sz="2400" dirty="0" err="1" smtClean="0"/>
              <a:t>англ</a:t>
            </a:r>
            <a:r>
              <a:rPr lang="bg-BG" sz="2400" dirty="0" smtClean="0"/>
              <a:t>. </a:t>
            </a:r>
            <a:r>
              <a:rPr lang="bg-BG" sz="2400" dirty="0" err="1" smtClean="0"/>
              <a:t>Test</a:t>
            </a:r>
            <a:r>
              <a:rPr lang="bg-BG" sz="2400" dirty="0" smtClean="0"/>
              <a:t> </a:t>
            </a:r>
            <a:r>
              <a:rPr lang="bg-BG" sz="2400" dirty="0" err="1" smtClean="0"/>
              <a:t>case</a:t>
            </a:r>
            <a:r>
              <a:rPr lang="bg-BG" sz="2400" dirty="0" smtClean="0"/>
              <a:t>: </a:t>
            </a:r>
            <a:endParaRPr lang="bg-BG" sz="2400" dirty="0"/>
          </a:p>
        </p:txBody>
      </p:sp>
    </p:spTree>
    <p:extLst>
      <p:ext uri="{BB962C8B-B14F-4D97-AF65-F5344CB8AC3E}">
        <p14:creationId xmlns:p14="http://schemas.microsoft.com/office/powerpoint/2010/main" val="27408163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latin typeface="Arial" charset="0"/>
              </a:rPr>
              <a:t>Някои важни термини</a:t>
            </a:r>
            <a:endParaRPr lang="en-US" dirty="0">
              <a:solidFill>
                <a:schemeClr val="tx1"/>
              </a:solidFill>
              <a:latin typeface="Arial" charset="0"/>
            </a:endParaRPr>
          </a:p>
        </p:txBody>
      </p:sp>
      <p:sp>
        <p:nvSpPr>
          <p:cNvPr id="3" name="Content Placeholder 2"/>
          <p:cNvSpPr>
            <a:spLocks noGrp="1"/>
          </p:cNvSpPr>
          <p:nvPr>
            <p:ph idx="1"/>
          </p:nvPr>
        </p:nvSpPr>
        <p:spPr>
          <a:xfrm>
            <a:off x="809625" y="1916833"/>
            <a:ext cx="8154864" cy="4612556"/>
          </a:xfrm>
        </p:spPr>
        <p:txBody>
          <a:bodyPr/>
          <a:lstStyle/>
          <a:p>
            <a:r>
              <a:rPr lang="bg-BG" sz="2800" dirty="0" smtClean="0"/>
              <a:t>Специфика на тестови случаи:</a:t>
            </a:r>
          </a:p>
          <a:p>
            <a:pPr lvl="1"/>
            <a:r>
              <a:rPr lang="bg-BG" sz="2400" dirty="0" smtClean="0"/>
              <a:t>Свойство/характеристика за тестови случаи, което позволява те да се обособят в специфична група.</a:t>
            </a:r>
          </a:p>
          <a:p>
            <a:r>
              <a:rPr lang="bg-BG" sz="2800" dirty="0" smtClean="0"/>
              <a:t>Тест: </a:t>
            </a:r>
          </a:p>
          <a:p>
            <a:pPr lvl="1"/>
            <a:r>
              <a:rPr lang="bg-BG" sz="2400" dirty="0" smtClean="0"/>
              <a:t>Дейността по извършване на описан тестов случай с изследвания продукт.</a:t>
            </a:r>
          </a:p>
          <a:p>
            <a:r>
              <a:rPr lang="bg-BG" sz="2800" dirty="0" smtClean="0"/>
              <a:t>Тестов пакет (тестов вектор):</a:t>
            </a:r>
          </a:p>
          <a:p>
            <a:pPr lvl="1"/>
            <a:r>
              <a:rPr lang="bg-BG" sz="2400" dirty="0" smtClean="0"/>
              <a:t>Множество от тестови случаи, групирани по дадена специфика.</a:t>
            </a:r>
          </a:p>
          <a:p>
            <a:pPr lvl="1"/>
            <a:r>
              <a:rPr lang="bg-BG" sz="2400" dirty="0" smtClean="0"/>
              <a:t>Тестовият набор за система може да съдържа няколко тестови пакета, например за всеки ITF в системата.</a:t>
            </a:r>
            <a:endParaRPr lang="bg-BG" sz="2400" dirty="0"/>
          </a:p>
        </p:txBody>
      </p:sp>
    </p:spTree>
    <p:extLst>
      <p:ext uri="{BB962C8B-B14F-4D97-AF65-F5344CB8AC3E}">
        <p14:creationId xmlns:p14="http://schemas.microsoft.com/office/powerpoint/2010/main" val="41237964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bg-BG" dirty="0">
                <a:solidFill>
                  <a:schemeClr val="tx1"/>
                </a:solidFill>
                <a:latin typeface="Arial" charset="0"/>
              </a:rPr>
              <a:t>Някои важни термини</a:t>
            </a:r>
            <a:endParaRPr lang="en-US" dirty="0">
              <a:solidFill>
                <a:schemeClr val="tx1"/>
              </a:solidFill>
              <a:latin typeface="Arial" charset="0"/>
            </a:endParaRPr>
          </a:p>
        </p:txBody>
      </p:sp>
      <p:sp>
        <p:nvSpPr>
          <p:cNvPr id="3" name="Content Placeholder 2"/>
          <p:cNvSpPr>
            <a:spLocks noGrp="1"/>
          </p:cNvSpPr>
          <p:nvPr>
            <p:ph idx="1"/>
          </p:nvPr>
        </p:nvSpPr>
        <p:spPr>
          <a:xfrm>
            <a:off x="809625" y="1916833"/>
            <a:ext cx="8154864" cy="4612556"/>
          </a:xfrm>
        </p:spPr>
        <p:txBody>
          <a:bodyPr/>
          <a:lstStyle/>
          <a:p>
            <a:pPr>
              <a:spcBef>
                <a:spcPts val="0"/>
              </a:spcBef>
            </a:pPr>
            <a:r>
              <a:rPr lang="bg-BG" sz="2800" dirty="0" smtClean="0"/>
              <a:t>Тестов сценарий</a:t>
            </a:r>
          </a:p>
          <a:p>
            <a:pPr lvl="1">
              <a:spcBef>
                <a:spcPts val="0"/>
              </a:spcBef>
            </a:pPr>
            <a:r>
              <a:rPr lang="bg-BG" sz="2400" dirty="0" smtClean="0"/>
              <a:t>Това е вероятен начин или метод за тестване на приложение</a:t>
            </a:r>
          </a:p>
          <a:p>
            <a:pPr lvl="2">
              <a:spcBef>
                <a:spcPts val="0"/>
              </a:spcBef>
            </a:pPr>
            <a:r>
              <a:rPr lang="bg-BG" sz="2000" dirty="0" smtClean="0"/>
              <a:t>По същността си може да е недостатъчно ясен, защото обхваща множество възможности.</a:t>
            </a:r>
          </a:p>
          <a:p>
            <a:pPr lvl="2">
              <a:spcBef>
                <a:spcPts val="0"/>
              </a:spcBef>
            </a:pPr>
            <a:r>
              <a:rPr lang="bg-BG" sz="2000" dirty="0" smtClean="0"/>
              <a:t>Може да се дефинира с един или с повече тестови случая.</a:t>
            </a:r>
          </a:p>
          <a:p>
            <a:pPr marL="342900" lvl="2">
              <a:spcBef>
                <a:spcPts val="0"/>
              </a:spcBef>
              <a:buSzPct val="70000"/>
              <a:buFont typeface="Wingdings" pitchFamily="2" charset="2"/>
              <a:buChar char="Ä"/>
            </a:pPr>
            <a:r>
              <a:rPr lang="bg-BG" sz="2800" dirty="0" smtClean="0">
                <a:ea typeface="+mn-ea"/>
                <a:cs typeface="+mn-cs"/>
              </a:rPr>
              <a:t>Условие, влияещо на теста (</a:t>
            </a:r>
            <a:r>
              <a:rPr lang="bg-BG" sz="2800" dirty="0" err="1" smtClean="0">
                <a:ea typeface="+mn-ea"/>
                <a:cs typeface="+mn-cs"/>
              </a:rPr>
              <a:t>англ</a:t>
            </a:r>
            <a:r>
              <a:rPr lang="bg-BG" sz="2800" dirty="0" smtClean="0">
                <a:ea typeface="+mn-ea"/>
                <a:cs typeface="+mn-cs"/>
              </a:rPr>
              <a:t>. “</a:t>
            </a:r>
            <a:r>
              <a:rPr lang="bg-BG" sz="2800" dirty="0" err="1" smtClean="0">
                <a:ea typeface="+mn-ea"/>
                <a:cs typeface="+mn-cs"/>
              </a:rPr>
              <a:t>test</a:t>
            </a:r>
            <a:r>
              <a:rPr lang="bg-BG" sz="2800" dirty="0" smtClean="0">
                <a:ea typeface="+mn-ea"/>
                <a:cs typeface="+mn-cs"/>
              </a:rPr>
              <a:t> </a:t>
            </a:r>
            <a:r>
              <a:rPr lang="bg-BG" sz="2800" dirty="0" err="1" smtClean="0">
                <a:ea typeface="+mn-ea"/>
                <a:cs typeface="+mn-cs"/>
              </a:rPr>
              <a:t>condition</a:t>
            </a:r>
            <a:r>
              <a:rPr lang="bg-BG" sz="2800" dirty="0" smtClean="0">
                <a:ea typeface="+mn-ea"/>
                <a:cs typeface="+mn-cs"/>
              </a:rPr>
              <a:t>”)</a:t>
            </a:r>
          </a:p>
          <a:p>
            <a:pPr lvl="1">
              <a:spcBef>
                <a:spcPts val="0"/>
              </a:spcBef>
            </a:pPr>
            <a:r>
              <a:rPr lang="bg-BG" sz="2400" dirty="0" smtClean="0"/>
              <a:t>Това е задължителна спецификация, която трябва да</a:t>
            </a:r>
            <a:r>
              <a:rPr lang="en-US" sz="2400" dirty="0" smtClean="0"/>
              <a:t> </a:t>
            </a:r>
            <a:r>
              <a:rPr lang="bg-BG" sz="2400" dirty="0" smtClean="0"/>
              <a:t>се следва за да се реализира тества коректно. </a:t>
            </a:r>
          </a:p>
          <a:p>
            <a:pPr lvl="2">
              <a:spcBef>
                <a:spcPts val="0"/>
              </a:spcBef>
            </a:pPr>
            <a:r>
              <a:rPr lang="bg-BG" sz="2000" dirty="0" smtClean="0"/>
              <a:t>В тестов сценарий може да има множество условия, формиращи за тестване.</a:t>
            </a:r>
          </a:p>
          <a:p>
            <a:pPr lvl="1">
              <a:spcBef>
                <a:spcPts val="0"/>
              </a:spcBef>
            </a:pPr>
            <a:r>
              <a:rPr lang="bg-BG" sz="2400" dirty="0" smtClean="0"/>
              <a:t>Изразява целта на даден тестов случай/-и </a:t>
            </a:r>
          </a:p>
          <a:p>
            <a:pPr lvl="2">
              <a:spcBef>
                <a:spcPts val="0"/>
              </a:spcBef>
            </a:pPr>
            <a:r>
              <a:rPr lang="bg-BG" sz="2000" dirty="0" smtClean="0"/>
              <a:t>Функционалността, елемент или събитие, което искате да потвърдите. </a:t>
            </a:r>
            <a:endParaRPr lang="bg-BG" sz="2000" dirty="0"/>
          </a:p>
        </p:txBody>
      </p:sp>
    </p:spTree>
    <p:extLst>
      <p:ext uri="{BB962C8B-B14F-4D97-AF65-F5344CB8AC3E}">
        <p14:creationId xmlns:p14="http://schemas.microsoft.com/office/powerpoint/2010/main" val="4886572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809625" y="1916113"/>
            <a:ext cx="7958138" cy="4613275"/>
          </a:xfrm>
        </p:spPr>
        <p:txBody>
          <a:bodyPr lIns="83852" tIns="41190" rIns="83852" bIns="41190"/>
          <a:lstStyle/>
          <a:p>
            <a:pPr eaLnBrk="1" hangingPunct="1">
              <a:spcBef>
                <a:spcPts val="550"/>
              </a:spcBef>
            </a:pPr>
            <a:r>
              <a:rPr lang="bg-BG" altLang="en-US" sz="2800" dirty="0" smtClean="0"/>
              <a:t>Тестването за откриване на дефекти и локализацията на нестабилността (т.нар. „</a:t>
            </a:r>
            <a:r>
              <a:rPr lang="bg-BG" altLang="en-US" sz="2800" dirty="0" err="1" smtClean="0"/>
              <a:t>дебъгване</a:t>
            </a:r>
            <a:r>
              <a:rPr lang="bg-BG" altLang="en-US" sz="2800" dirty="0" smtClean="0"/>
              <a:t>“) не са едно и също нещо:</a:t>
            </a:r>
          </a:p>
          <a:p>
            <a:pPr lvl="1" eaLnBrk="1" hangingPunct="1">
              <a:spcBef>
                <a:spcPts val="550"/>
              </a:spcBef>
            </a:pPr>
            <a:r>
              <a:rPr lang="bg-BG" altLang="en-US" sz="2400" dirty="0" smtClean="0"/>
              <a:t>Тестването търси дали има дефекти и при какви случаи се проявяват (тестовия вектор)</a:t>
            </a:r>
            <a:r>
              <a:rPr lang="en-GB" altLang="en-US" sz="2400" dirty="0" smtClean="0"/>
              <a:t>.</a:t>
            </a:r>
          </a:p>
          <a:p>
            <a:pPr lvl="1" eaLnBrk="1" hangingPunct="1">
              <a:spcBef>
                <a:spcPts val="550"/>
              </a:spcBef>
            </a:pPr>
            <a:r>
              <a:rPr lang="bg-BG" altLang="en-US" sz="2400" dirty="0" err="1" smtClean="0"/>
              <a:t>Дебъгването</a:t>
            </a:r>
            <a:r>
              <a:rPr lang="bg-BG" altLang="en-US" sz="2400" dirty="0" smtClean="0"/>
              <a:t> има за задача да локализира намерения с тестване дефект и да предложи начин за премахването му</a:t>
            </a:r>
            <a:r>
              <a:rPr lang="en-GB" altLang="en-US" sz="2400" dirty="0" smtClean="0"/>
              <a:t>.</a:t>
            </a:r>
          </a:p>
          <a:p>
            <a:pPr eaLnBrk="1" hangingPunct="1">
              <a:spcBef>
                <a:spcPts val="550"/>
              </a:spcBef>
            </a:pPr>
            <a:r>
              <a:rPr lang="bg-BG" altLang="en-US" sz="2800" dirty="0" smtClean="0"/>
              <a:t>Това изисква създаването на хипотези за функционирането на програмата, които след това с тестване се проверяват</a:t>
            </a:r>
            <a:r>
              <a:rPr lang="en-GB" altLang="en-US" sz="2800" dirty="0" smtClean="0"/>
              <a:t>.</a:t>
            </a:r>
          </a:p>
        </p:txBody>
      </p:sp>
      <p:sp>
        <p:nvSpPr>
          <p:cNvPr id="838659" name="Rectangle 3"/>
          <p:cNvSpPr>
            <a:spLocks noGrp="1" noRot="1" noChangeArrowheads="1"/>
          </p:cNvSpPr>
          <p:nvPr>
            <p:ph type="title"/>
          </p:nvPr>
        </p:nvSpPr>
        <p:spPr/>
        <p:txBody>
          <a:bodyPr/>
          <a:lstStyle/>
          <a:p>
            <a:pPr>
              <a:defRPr/>
            </a:pPr>
            <a:r>
              <a:rPr lang="bg-BG" dirty="0">
                <a:solidFill>
                  <a:schemeClr val="tx1"/>
                </a:solidFill>
                <a:latin typeface="Arial" charset="0"/>
              </a:rPr>
              <a:t>Тестване </a:t>
            </a:r>
            <a:r>
              <a:rPr lang="en-GB" dirty="0">
                <a:solidFill>
                  <a:schemeClr val="tx1"/>
                </a:solidFill>
                <a:latin typeface="Arial" charset="0"/>
              </a:rPr>
              <a:t>vs. </a:t>
            </a:r>
            <a:r>
              <a:rPr lang="bg-BG" dirty="0">
                <a:solidFill>
                  <a:schemeClr val="tx1"/>
                </a:solidFill>
                <a:latin typeface="Arial" charset="0"/>
              </a:rPr>
              <a:t>Дебъгване</a:t>
            </a:r>
            <a:endParaRPr lang="en-GB" dirty="0">
              <a:solidFill>
                <a:schemeClr val="tx1"/>
              </a:solidFill>
              <a:latin typeface="Arial" charset="0"/>
            </a:endParaRPr>
          </a:p>
        </p:txBody>
      </p:sp>
    </p:spTree>
    <p:extLst>
      <p:ext uri="{BB962C8B-B14F-4D97-AF65-F5344CB8AC3E}">
        <p14:creationId xmlns:p14="http://schemas.microsoft.com/office/powerpoint/2010/main" val="19195952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TLC Model image">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916907"/>
            <a:ext cx="6264696" cy="3059782"/>
          </a:xfrm>
          <a:prstGeom prst="rect">
            <a:avLst/>
          </a:prstGeom>
          <a:noFill/>
          <a:ln>
            <a:noFill/>
          </a:ln>
        </p:spPr>
      </p:pic>
      <p:sp>
        <p:nvSpPr>
          <p:cNvPr id="2" name="Title 1"/>
          <p:cNvSpPr>
            <a:spLocks noGrp="1"/>
          </p:cNvSpPr>
          <p:nvPr>
            <p:ph type="title"/>
          </p:nvPr>
        </p:nvSpPr>
        <p:spPr/>
        <p:txBody>
          <a:bodyPr/>
          <a:lstStyle/>
          <a:p>
            <a:r>
              <a:rPr lang="bg-BG" dirty="0"/>
              <a:t>STLC-модел</a:t>
            </a:r>
            <a:endParaRPr lang="en-US" dirty="0"/>
          </a:p>
        </p:txBody>
      </p:sp>
      <p:sp>
        <p:nvSpPr>
          <p:cNvPr id="3" name="Content Placeholder 2"/>
          <p:cNvSpPr>
            <a:spLocks noGrp="1"/>
          </p:cNvSpPr>
          <p:nvPr>
            <p:ph idx="1"/>
          </p:nvPr>
        </p:nvSpPr>
        <p:spPr/>
        <p:txBody>
          <a:bodyPr/>
          <a:lstStyle/>
          <a:p>
            <a:r>
              <a:rPr lang="bg-BG" sz="2800" dirty="0" smtClean="0"/>
              <a:t>Основният модел на реализация на процеса на тестване е известен като “STLC-модел”:</a:t>
            </a:r>
          </a:p>
          <a:p>
            <a:pPr lvl="1"/>
            <a:r>
              <a:rPr lang="bg-BG" sz="2400" dirty="0" smtClean="0"/>
              <a:t>За всеки от етапите има определени критерии за влизане и излизане в/от етапа, дейности за изпълнение и резултати, свързани с етапа.</a:t>
            </a:r>
          </a:p>
          <a:p>
            <a:pPr lvl="2"/>
            <a:r>
              <a:rPr lang="bg-BG" sz="2000" dirty="0" smtClean="0"/>
              <a:t>Критериите за влизане дават предпоставките, които трябва да бъдат изпълнени, преди да се започне етапа.</a:t>
            </a:r>
          </a:p>
          <a:p>
            <a:pPr lvl="2"/>
            <a:r>
              <a:rPr lang="bg-BG" sz="2000" dirty="0" smtClean="0"/>
              <a:t>Критериите за излизане определят елементите, които трябва да бъдат завършени, преди да може да се приключи етапа.</a:t>
            </a:r>
          </a:p>
          <a:p>
            <a:pPr lvl="2"/>
            <a:r>
              <a:rPr lang="bg-BG" sz="2000" dirty="0" smtClean="0"/>
              <a:t>В идеалния случай, не може да се започне нов етап докато не се изпълнят критериите за излизане на предходния. В реалните проекти това не винаги е възможно.</a:t>
            </a:r>
          </a:p>
          <a:p>
            <a:endParaRPr lang="bg-BG" sz="2800" dirty="0"/>
          </a:p>
        </p:txBody>
      </p:sp>
    </p:spTree>
    <p:extLst>
      <p:ext uri="{BB962C8B-B14F-4D97-AF65-F5344CB8AC3E}">
        <p14:creationId xmlns:p14="http://schemas.microsoft.com/office/powerpoint/2010/main" val="54755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smtClean="0">
                <a:solidFill>
                  <a:schemeClr val="tx1"/>
                </a:solidFill>
              </a:rPr>
              <a:t>Основни принципи на тестването</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bg-BG" altLang="en-US" sz="2800" dirty="0" smtClean="0"/>
              <a:t>Старите успешни тестови вектори стават все по-малко полезни.</a:t>
            </a:r>
          </a:p>
          <a:p>
            <a:pPr lvl="1">
              <a:lnSpc>
                <a:spcPct val="90000"/>
              </a:lnSpc>
            </a:pPr>
            <a:r>
              <a:rPr lang="bg-BG" sz="2400" dirty="0" smtClean="0"/>
              <a:t>Тестовите случаи трябва редовно да се преглеждат и ревизират, добавяйки нови и различни тестови случаи, за да се помогне да се намерят нови (и повече) дефекти. </a:t>
            </a:r>
          </a:p>
          <a:p>
            <a:pPr lvl="2">
              <a:lnSpc>
                <a:spcPct val="90000"/>
              </a:lnSpc>
            </a:pPr>
            <a:r>
              <a:rPr lang="bg-BG" sz="2000" dirty="0" smtClean="0"/>
              <a:t>Ако се провежда един и същ набор от повтарящи се тестове, методът ще бъде безполезен за откриване на нови дефекти.</a:t>
            </a:r>
            <a:endParaRPr lang="bg-BG" altLang="en-US" sz="2000" dirty="0" smtClean="0"/>
          </a:p>
          <a:p>
            <a:pPr lvl="2">
              <a:lnSpc>
                <a:spcPct val="90000"/>
              </a:lnSpc>
            </a:pPr>
            <a:r>
              <a:rPr lang="bg-BG" altLang="en-US" sz="2000" dirty="0" smtClean="0"/>
              <a:t>Т.нар. „Парадокс на пестицидите“</a:t>
            </a:r>
          </a:p>
          <a:p>
            <a:pPr lvl="1">
              <a:lnSpc>
                <a:spcPct val="90000"/>
              </a:lnSpc>
            </a:pPr>
            <a:r>
              <a:rPr lang="bg-BG" altLang="en-US" sz="2400" dirty="0" smtClean="0"/>
              <a:t>Трябва да се подобрява съществуващите методи за тестване за да стават тестовете по-ефективни. </a:t>
            </a:r>
          </a:p>
          <a:p>
            <a:pPr lvl="2">
              <a:lnSpc>
                <a:spcPct val="90000"/>
              </a:lnSpc>
            </a:pPr>
            <a:r>
              <a:rPr lang="bg-BG" altLang="en-US" sz="2000" dirty="0" smtClean="0"/>
              <a:t>Въпреки това, никога не можете да твърдите, че продуктът ви е без дефекти.</a:t>
            </a:r>
            <a:endParaRPr lang="bg-BG" altLang="en-US" sz="2000" dirty="0"/>
          </a:p>
        </p:txBody>
      </p:sp>
    </p:spTree>
    <p:extLst>
      <p:ext uri="{BB962C8B-B14F-4D97-AF65-F5344CB8AC3E}">
        <p14:creationId xmlns:p14="http://schemas.microsoft.com/office/powerpoint/2010/main" val="2645784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smtClean="0">
                <a:solidFill>
                  <a:schemeClr val="tx1"/>
                </a:solidFill>
              </a:rPr>
              <a:t>Основни принципи на тестването</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bg-BG" altLang="en-US" sz="2800" dirty="0" smtClean="0"/>
              <a:t>Тестването позволява да се говори за наличието на дефекти и не дава основание да се твърди за отсъствието на дефекти. </a:t>
            </a:r>
          </a:p>
          <a:p>
            <a:pPr lvl="1">
              <a:lnSpc>
                <a:spcPct val="90000"/>
              </a:lnSpc>
            </a:pPr>
            <a:r>
              <a:rPr lang="bg-BG" altLang="en-US" sz="2400" dirty="0" smtClean="0"/>
              <a:t>Тестването намалява вероятността от неоткрити дефекти, останали в софтуера, но дори и да не бъдат откривани дефекти, това не е доказателство за коректност.</a:t>
            </a:r>
          </a:p>
          <a:p>
            <a:pPr lvl="1">
              <a:lnSpc>
                <a:spcPct val="90000"/>
              </a:lnSpc>
            </a:pPr>
            <a:r>
              <a:rPr lang="bg-BG" altLang="en-US" sz="2400" dirty="0" smtClean="0"/>
              <a:t>Ако направите софтуера си 99% без дефекти, това не значи че ще отговаря на нуждите и изискванията на клиентите.</a:t>
            </a:r>
          </a:p>
          <a:p>
            <a:pPr lvl="2">
              <a:lnSpc>
                <a:spcPct val="90000"/>
              </a:lnSpc>
            </a:pPr>
            <a:r>
              <a:rPr lang="bg-BG" altLang="en-US" sz="2000" dirty="0"/>
              <a:t>Може </a:t>
            </a:r>
            <a:r>
              <a:rPr lang="bg-BG" altLang="en-US" sz="2000" dirty="0" smtClean="0"/>
              <a:t>да не е тествано най-важното изискване на клиента.</a:t>
            </a:r>
            <a:endParaRPr lang="bg-BG" altLang="en-US" sz="2000" dirty="0"/>
          </a:p>
        </p:txBody>
      </p:sp>
    </p:spTree>
    <p:extLst>
      <p:ext uri="{BB962C8B-B14F-4D97-AF65-F5344CB8AC3E}">
        <p14:creationId xmlns:p14="http://schemas.microsoft.com/office/powerpoint/2010/main" val="11477834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smtClean="0">
                <a:solidFill>
                  <a:schemeClr val="tx1"/>
                </a:solidFill>
              </a:rPr>
              <a:t>Основни принципи на тестването</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bg-BG" altLang="en-US" sz="2800" dirty="0" smtClean="0"/>
              <a:t>Отсъствието на грешки при тестване на значи, че няма грешки. </a:t>
            </a:r>
          </a:p>
          <a:p>
            <a:pPr lvl="1">
              <a:lnSpc>
                <a:spcPct val="90000"/>
              </a:lnSpc>
            </a:pPr>
            <a:r>
              <a:rPr lang="bg-BG" altLang="en-US" sz="2400" dirty="0" smtClean="0"/>
              <a:t>Това значи, че тестването може да  е било за грешно изискване. </a:t>
            </a:r>
          </a:p>
          <a:p>
            <a:pPr lvl="2">
              <a:lnSpc>
                <a:spcPct val="90000"/>
              </a:lnSpc>
            </a:pPr>
            <a:r>
              <a:rPr lang="bg-BG" altLang="en-US" sz="2000" dirty="0" smtClean="0"/>
              <a:t>Тестването не е просто намиране на дефекти, но и проверка дали софтуерът отговаря на нуждите на бизнеса. </a:t>
            </a:r>
          </a:p>
          <a:p>
            <a:pPr lvl="1">
              <a:lnSpc>
                <a:spcPct val="90000"/>
              </a:lnSpc>
            </a:pPr>
            <a:r>
              <a:rPr lang="bg-BG" altLang="en-US" sz="2400" dirty="0" smtClean="0"/>
              <a:t>Ако от началото на тестването няма намерени грешки, то или сме избрали напълно грешна методология, или грешката е толкова «потайна», че обикновените тестовите случаи не я ловят.</a:t>
            </a:r>
          </a:p>
        </p:txBody>
      </p:sp>
    </p:spTree>
    <p:extLst>
      <p:ext uri="{BB962C8B-B14F-4D97-AF65-F5344CB8AC3E}">
        <p14:creationId xmlns:p14="http://schemas.microsoft.com/office/powerpoint/2010/main" val="18035011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smtClean="0">
                <a:solidFill>
                  <a:schemeClr val="tx1"/>
                </a:solidFill>
              </a:rPr>
              <a:t>Основни принципи на тестването</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bg-BG" altLang="en-US" sz="2800" dirty="0" smtClean="0"/>
              <a:t>Ранно тестване е спасително</a:t>
            </a:r>
          </a:p>
          <a:p>
            <a:pPr lvl="1">
              <a:lnSpc>
                <a:spcPct val="90000"/>
              </a:lnSpc>
            </a:pPr>
            <a:r>
              <a:rPr lang="bg-BG" altLang="en-US" sz="2400" dirty="0" smtClean="0"/>
              <a:t>Тестването трябва да започне възможно най-рано в жизнения цикъл на разработката на софтуер. </a:t>
            </a:r>
          </a:p>
          <a:p>
            <a:pPr lvl="2">
              <a:lnSpc>
                <a:spcPct val="90000"/>
              </a:lnSpc>
            </a:pPr>
            <a:r>
              <a:rPr lang="bg-BG" altLang="en-US" sz="2000" dirty="0" smtClean="0"/>
              <a:t>Дефектите в изискванията или фазата на проектиране е необходимо да се уловят в ранните етапи. </a:t>
            </a:r>
          </a:p>
          <a:p>
            <a:pPr lvl="1">
              <a:lnSpc>
                <a:spcPct val="90000"/>
              </a:lnSpc>
            </a:pPr>
            <a:r>
              <a:rPr lang="bg-BG" altLang="en-US" sz="2400" dirty="0" smtClean="0"/>
              <a:t>Ранното  тестване прави много по-евтино отстраняването на дефектите.</a:t>
            </a:r>
          </a:p>
          <a:p>
            <a:pPr lvl="2">
              <a:lnSpc>
                <a:spcPct val="90000"/>
              </a:lnSpc>
            </a:pPr>
            <a:r>
              <a:rPr lang="bg-BG" altLang="en-US" sz="2000" dirty="0" smtClean="0"/>
              <a:t>Проблем «Какво значи ‘ранно </a:t>
            </a:r>
            <a:r>
              <a:rPr lang="bg-BG" altLang="en-US" sz="2000" dirty="0" err="1" smtClean="0"/>
              <a:t>тестване’</a:t>
            </a:r>
            <a:r>
              <a:rPr lang="bg-BG" altLang="en-US" sz="2000" dirty="0" smtClean="0"/>
              <a:t>?» - препоръчва се да започнете да намирате грешката в момента, в който са дефинирани изискванията. </a:t>
            </a:r>
            <a:endParaRPr lang="bg-BG" altLang="en-US" sz="2000" dirty="0"/>
          </a:p>
        </p:txBody>
      </p:sp>
    </p:spTree>
    <p:extLst>
      <p:ext uri="{BB962C8B-B14F-4D97-AF65-F5344CB8AC3E}">
        <p14:creationId xmlns:p14="http://schemas.microsoft.com/office/powerpoint/2010/main" val="32699388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smtClean="0">
                <a:solidFill>
                  <a:schemeClr val="tx1"/>
                </a:solidFill>
              </a:rPr>
              <a:t>Основни принципи на тестването</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pPr>
            <a:r>
              <a:rPr lang="bg-BG" altLang="en-US" sz="2800" dirty="0" smtClean="0"/>
              <a:t>Тестването зависи от контекста</a:t>
            </a:r>
          </a:p>
          <a:p>
            <a:pPr lvl="1">
              <a:lnSpc>
                <a:spcPct val="90000"/>
              </a:lnSpc>
            </a:pPr>
            <a:r>
              <a:rPr lang="bg-BG" altLang="en-US" sz="2400" dirty="0" smtClean="0"/>
              <a:t>Начините на тестване зависят от предназначението, вида, начина на създаване (архитектура, програмна парадигма, програмен език, технологии), средата на функциониране и квалификацията на потенциалния потребител.</a:t>
            </a:r>
          </a:p>
          <a:p>
            <a:pPr lvl="2">
              <a:lnSpc>
                <a:spcPct val="90000"/>
              </a:lnSpc>
            </a:pPr>
            <a:r>
              <a:rPr lang="bg-BG" altLang="en-US" sz="2000" dirty="0" smtClean="0"/>
              <a:t>Няма такова нещо като «напълно идентичен софтуер»</a:t>
            </a:r>
          </a:p>
          <a:p>
            <a:pPr lvl="1">
              <a:lnSpc>
                <a:spcPct val="90000"/>
              </a:lnSpc>
            </a:pPr>
            <a:r>
              <a:rPr lang="bg-BG" altLang="en-US" sz="2400" dirty="0" smtClean="0"/>
              <a:t>Може да използват различни подходи, методологии, техники и видове тестове. </a:t>
            </a:r>
          </a:p>
          <a:p>
            <a:pPr lvl="2">
              <a:lnSpc>
                <a:spcPct val="90000"/>
              </a:lnSpc>
            </a:pPr>
            <a:r>
              <a:rPr lang="bg-BG" altLang="en-US" sz="2000" dirty="0" smtClean="0"/>
              <a:t>Пример: тестването POS-терминал в магазин за търговия на дребно е различно от тестването на ATM машина.</a:t>
            </a:r>
            <a:endParaRPr lang="bg-BG" altLang="en-US" sz="1600" dirty="0"/>
          </a:p>
        </p:txBody>
      </p:sp>
    </p:spTree>
    <p:extLst>
      <p:ext uri="{BB962C8B-B14F-4D97-AF65-F5344CB8AC3E}">
        <p14:creationId xmlns:p14="http://schemas.microsoft.com/office/powerpoint/2010/main" val="6508683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a:solidFill>
                  <a:schemeClr val="tx1"/>
                </a:solidFill>
              </a:rPr>
              <a:t>10-те </a:t>
            </a:r>
            <a:r>
              <a:rPr lang="bg-BG" dirty="0" smtClean="0">
                <a:solidFill>
                  <a:schemeClr val="tx1"/>
                </a:solidFill>
              </a:rPr>
              <a:t>основни правила</a:t>
            </a:r>
            <a:endParaRPr lang="bg-BG" dirty="0">
              <a:solidFill>
                <a:schemeClr val="tx1"/>
              </a:solidFill>
            </a:endParaRPr>
          </a:p>
        </p:txBody>
      </p:sp>
      <p:sp>
        <p:nvSpPr>
          <p:cNvPr id="21507" name="Rectangle 3"/>
          <p:cNvSpPr>
            <a:spLocks noGrp="1" noChangeArrowheads="1"/>
          </p:cNvSpPr>
          <p:nvPr>
            <p:ph type="body" idx="4294967295"/>
          </p:nvPr>
        </p:nvSpPr>
        <p:spPr>
          <a:xfrm>
            <a:off x="900113" y="1741488"/>
            <a:ext cx="8024812" cy="4783137"/>
          </a:xfrm>
        </p:spPr>
        <p:txBody>
          <a:bodyPr lIns="83852" tIns="41190" rIns="83852" bIns="41190"/>
          <a:lstStyle/>
          <a:p>
            <a:pPr eaLnBrk="1" hangingPunct="1">
              <a:spcBef>
                <a:spcPts val="550"/>
              </a:spcBef>
              <a:buFont typeface="Wingdings" pitchFamily="2" charset="2"/>
              <a:buChar char=""/>
            </a:pPr>
            <a:r>
              <a:rPr lang="bg-BG" altLang="en-US" sz="2400" dirty="0" smtClean="0">
                <a:latin typeface="Calibri" pitchFamily="34" charset="0"/>
              </a:rPr>
              <a:t>#1: Дефинирането на очаквания резултат/изходни данни са задължителна част от тестова процедура.</a:t>
            </a:r>
          </a:p>
          <a:p>
            <a:pPr eaLnBrk="1" hangingPunct="1">
              <a:spcBef>
                <a:spcPts val="550"/>
              </a:spcBef>
              <a:buFont typeface="Wingdings" pitchFamily="2" charset="2"/>
              <a:buChar char=""/>
            </a:pPr>
            <a:r>
              <a:rPr lang="bg-BG" altLang="en-US" sz="2400" dirty="0" smtClean="0">
                <a:latin typeface="Calibri" pitchFamily="34" charset="0"/>
              </a:rPr>
              <a:t>#2: Програмистите трябва да избягват желанието да тестват собствените си програми</a:t>
            </a:r>
            <a:r>
              <a:rPr lang="bg-BG" altLang="en-US" sz="2400" dirty="0" smtClean="0"/>
              <a:t>, освен ако нямат склонност към мазохизъм.</a:t>
            </a:r>
            <a:endParaRPr lang="bg-BG" altLang="en-US" sz="2400" dirty="0" smtClean="0">
              <a:latin typeface="Calibri" pitchFamily="34" charset="0"/>
            </a:endParaRPr>
          </a:p>
          <a:p>
            <a:pPr eaLnBrk="1" hangingPunct="1">
              <a:spcBef>
                <a:spcPts val="550"/>
              </a:spcBef>
              <a:buFont typeface="Wingdings" pitchFamily="2" charset="2"/>
              <a:buChar char=""/>
            </a:pPr>
            <a:r>
              <a:rPr lang="bg-BG" altLang="en-US" sz="2400" dirty="0" smtClean="0">
                <a:latin typeface="Calibri" pitchFamily="34" charset="0"/>
              </a:rPr>
              <a:t>#3: Групата, създала софтуера не трябва никога да отговаря за тестването на собствените си програми.</a:t>
            </a:r>
          </a:p>
          <a:p>
            <a:pPr eaLnBrk="1" hangingPunct="1">
              <a:spcBef>
                <a:spcPts val="550"/>
              </a:spcBef>
              <a:buFont typeface="Wingdings" pitchFamily="2" charset="2"/>
              <a:buChar char=""/>
            </a:pPr>
            <a:r>
              <a:rPr lang="bg-BG" altLang="en-US" sz="2400" dirty="0" smtClean="0">
                <a:latin typeface="Calibri" pitchFamily="34" charset="0"/>
              </a:rPr>
              <a:t>#4: Резултатите от всеки тест трябва да се изследват внимателно и задълбочено.</a:t>
            </a:r>
          </a:p>
          <a:p>
            <a:pPr eaLnBrk="1" hangingPunct="1">
              <a:spcBef>
                <a:spcPts val="550"/>
              </a:spcBef>
              <a:buFont typeface="Wingdings" pitchFamily="2" charset="2"/>
              <a:buChar char=""/>
            </a:pPr>
            <a:r>
              <a:rPr lang="bg-BG" altLang="en-US" sz="2400" dirty="0" smtClean="0">
                <a:latin typeface="Calibri" pitchFamily="34" charset="0"/>
              </a:rPr>
              <a:t>#5: Генерираните тестове трябва да обхващат както случаите с невалиден или неочакван входен набор от данни, така и с валиден и очакван входен набор.</a:t>
            </a:r>
          </a:p>
        </p:txBody>
      </p:sp>
    </p:spTree>
    <p:extLst>
      <p:ext uri="{BB962C8B-B14F-4D97-AF65-F5344CB8AC3E}">
        <p14:creationId xmlns:p14="http://schemas.microsoft.com/office/powerpoint/2010/main" val="6381564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p:txBody>
          <a:bodyPr/>
          <a:lstStyle/>
          <a:p>
            <a:pPr>
              <a:defRPr/>
            </a:pPr>
            <a:r>
              <a:rPr lang="bg-BG" dirty="0">
                <a:solidFill>
                  <a:schemeClr val="tx1"/>
                </a:solidFill>
              </a:rPr>
              <a:t>10-те основни правила</a:t>
            </a:r>
          </a:p>
        </p:txBody>
      </p:sp>
      <p:sp>
        <p:nvSpPr>
          <p:cNvPr id="22531" name="Rectangle 3"/>
          <p:cNvSpPr>
            <a:spLocks noGrp="1" noChangeArrowheads="1"/>
          </p:cNvSpPr>
          <p:nvPr>
            <p:ph type="body" idx="4294967295"/>
          </p:nvPr>
        </p:nvSpPr>
        <p:spPr>
          <a:xfrm>
            <a:off x="827088" y="1741488"/>
            <a:ext cx="8281987" cy="4313237"/>
          </a:xfrm>
        </p:spPr>
        <p:txBody>
          <a:bodyPr lIns="83852" tIns="41190" rIns="83852" bIns="41190"/>
          <a:lstStyle/>
          <a:p>
            <a:pPr eaLnBrk="1" hangingPunct="1">
              <a:spcBef>
                <a:spcPts val="550"/>
              </a:spcBef>
              <a:buFont typeface="Wingdings" pitchFamily="2" charset="2"/>
              <a:buChar char=""/>
            </a:pPr>
            <a:r>
              <a:rPr lang="bg-BG" altLang="en-US" sz="2400" smtClean="0">
                <a:latin typeface="Calibri" pitchFamily="34" charset="0"/>
              </a:rPr>
              <a:t>#6: Проверката дали програмата прави това, за което е създадена е половината от работата. Другата половина е за проверка дали програмата прави неща, за които не е предназначена.</a:t>
            </a:r>
          </a:p>
          <a:p>
            <a:pPr eaLnBrk="1" hangingPunct="1">
              <a:spcBef>
                <a:spcPts val="550"/>
              </a:spcBef>
              <a:buFont typeface="Wingdings" pitchFamily="2" charset="2"/>
              <a:buChar char=""/>
            </a:pPr>
            <a:r>
              <a:rPr lang="bg-BG" altLang="en-US" sz="2400" smtClean="0">
                <a:latin typeface="Calibri" pitchFamily="34" charset="0"/>
              </a:rPr>
              <a:t>#7: Избягвайте безсмислените тестове освен ако програмата не е безсмислена.</a:t>
            </a:r>
          </a:p>
          <a:p>
            <a:pPr eaLnBrk="1" hangingPunct="1">
              <a:spcBef>
                <a:spcPts val="550"/>
              </a:spcBef>
              <a:buFont typeface="Wingdings" pitchFamily="2" charset="2"/>
              <a:buChar char=""/>
            </a:pPr>
            <a:r>
              <a:rPr lang="bg-BG" altLang="en-US" sz="2400" smtClean="0">
                <a:latin typeface="Calibri" pitchFamily="34" charset="0"/>
              </a:rPr>
              <a:t>#8: Не планирайте тестове с презумпция, че няма грешки.</a:t>
            </a:r>
          </a:p>
          <a:p>
            <a:pPr eaLnBrk="1" hangingPunct="1">
              <a:spcBef>
                <a:spcPts val="550"/>
              </a:spcBef>
              <a:buFont typeface="Wingdings" pitchFamily="2" charset="2"/>
              <a:buChar char=""/>
            </a:pPr>
            <a:r>
              <a:rPr lang="bg-BG" altLang="en-US" sz="2400" smtClean="0">
                <a:latin typeface="Calibri" pitchFamily="34" charset="0"/>
              </a:rPr>
              <a:t>#9: Вероятността за наличие на още грешки в дадена част от програмата е пропорционална на броя на намерените вече грешки.</a:t>
            </a:r>
          </a:p>
          <a:p>
            <a:pPr eaLnBrk="1" hangingPunct="1">
              <a:spcBef>
                <a:spcPts val="550"/>
              </a:spcBef>
              <a:buFont typeface="Wingdings" pitchFamily="2" charset="2"/>
              <a:buChar char=""/>
            </a:pPr>
            <a:r>
              <a:rPr lang="bg-BG" altLang="en-US" sz="2400" smtClean="0">
                <a:latin typeface="Calibri" pitchFamily="34" charset="0"/>
              </a:rPr>
              <a:t>#10: Тестването е изключително интелектуален и творчески процес.</a:t>
            </a:r>
          </a:p>
        </p:txBody>
      </p:sp>
    </p:spTree>
    <p:extLst>
      <p:ext uri="{BB962C8B-B14F-4D97-AF65-F5344CB8AC3E}">
        <p14:creationId xmlns:p14="http://schemas.microsoft.com/office/powerpoint/2010/main" val="27478019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Допълнителни правила</a:t>
            </a:r>
            <a:endParaRPr lang="en-US" dirty="0"/>
          </a:p>
        </p:txBody>
      </p:sp>
      <p:sp>
        <p:nvSpPr>
          <p:cNvPr id="24579" name="Content Placeholder 2"/>
          <p:cNvSpPr>
            <a:spLocks noGrp="1"/>
          </p:cNvSpPr>
          <p:nvPr>
            <p:ph idx="1"/>
          </p:nvPr>
        </p:nvSpPr>
        <p:spPr>
          <a:xfrm>
            <a:off x="809624" y="1916113"/>
            <a:ext cx="8082856" cy="4613275"/>
          </a:xfrm>
        </p:spPr>
        <p:txBody>
          <a:bodyPr/>
          <a:lstStyle/>
          <a:p>
            <a:pPr>
              <a:spcBef>
                <a:spcPts val="0"/>
              </a:spcBef>
            </a:pPr>
            <a:r>
              <a:rPr lang="bg-BG" altLang="en-US" sz="2600" dirty="0" smtClean="0"/>
              <a:t>Разберете бизнес причината, която стои зад необходимостта за създаване на софтуера. </a:t>
            </a:r>
          </a:p>
          <a:p>
            <a:pPr lvl="1">
              <a:spcBef>
                <a:spcPts val="0"/>
              </a:spcBef>
            </a:pPr>
            <a:r>
              <a:rPr lang="bg-BG" altLang="en-US" sz="2200" dirty="0" smtClean="0"/>
              <a:t>Това подпомага не само дизайна и реализацията, но и </a:t>
            </a:r>
            <a:br>
              <a:rPr lang="bg-BG" altLang="en-US" sz="2200" dirty="0" smtClean="0"/>
            </a:br>
            <a:r>
              <a:rPr lang="bg-BG" altLang="en-US" sz="2200" dirty="0" smtClean="0"/>
              <a:t>планирането на тестване.</a:t>
            </a:r>
          </a:p>
          <a:p>
            <a:pPr>
              <a:spcBef>
                <a:spcPts val="0"/>
              </a:spcBef>
            </a:pPr>
            <a:r>
              <a:rPr lang="bg-BG" altLang="en-US" sz="2600" dirty="0"/>
              <a:t>Колкото по-рано се започне и колкото по-често се прави – толкова по-добре</a:t>
            </a:r>
            <a:r>
              <a:rPr lang="bg-BG" altLang="en-US" sz="2600" dirty="0" smtClean="0"/>
              <a:t>.</a:t>
            </a:r>
          </a:p>
          <a:p>
            <a:pPr marL="800100" lvl="2">
              <a:spcBef>
                <a:spcPts val="0"/>
              </a:spcBef>
              <a:buFont typeface="Wingdings" pitchFamily="2" charset="2"/>
              <a:buChar char="Ä"/>
            </a:pPr>
            <a:r>
              <a:rPr lang="bg-BG" altLang="en-US" sz="2200" dirty="0"/>
              <a:t>Използвайте както статично, така и динамично тестване.</a:t>
            </a:r>
          </a:p>
          <a:p>
            <a:pPr>
              <a:spcBef>
                <a:spcPts val="0"/>
              </a:spcBef>
            </a:pPr>
            <a:r>
              <a:rPr lang="bg-BG" altLang="en-US" sz="2600" dirty="0" smtClean="0"/>
              <a:t>Разработката </a:t>
            </a:r>
            <a:r>
              <a:rPr lang="bg-BG" altLang="en-US" sz="2600" dirty="0"/>
              <a:t>и тестването трябва да са един процес, т.е. тестването трябва да започва с появата на първите готови елементи.</a:t>
            </a:r>
          </a:p>
          <a:p>
            <a:pPr lvl="1">
              <a:spcBef>
                <a:spcPts val="0"/>
              </a:spcBef>
            </a:pPr>
            <a:r>
              <a:rPr lang="bg-BG" altLang="en-US" sz="2200" dirty="0"/>
              <a:t>Резултатите са по-добри, по-евтино е, а и няма да създаде неприятна конфронтация между разработчици и тестери</a:t>
            </a:r>
            <a:r>
              <a:rPr lang="bg-BG" altLang="en-US" sz="2200" dirty="0" smtClean="0"/>
              <a:t>.</a:t>
            </a:r>
          </a:p>
        </p:txBody>
      </p:sp>
    </p:spTree>
    <p:extLst>
      <p:ext uri="{BB962C8B-B14F-4D97-AF65-F5344CB8AC3E}">
        <p14:creationId xmlns:p14="http://schemas.microsoft.com/office/powerpoint/2010/main" val="41409892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Допълнителни правила</a:t>
            </a:r>
            <a:endParaRPr lang="en-US" dirty="0"/>
          </a:p>
        </p:txBody>
      </p:sp>
      <p:sp>
        <p:nvSpPr>
          <p:cNvPr id="24579" name="Content Placeholder 2"/>
          <p:cNvSpPr>
            <a:spLocks noGrp="1"/>
          </p:cNvSpPr>
          <p:nvPr>
            <p:ph idx="1"/>
          </p:nvPr>
        </p:nvSpPr>
        <p:spPr>
          <a:xfrm>
            <a:off x="809624" y="1916113"/>
            <a:ext cx="8334376" cy="4613275"/>
          </a:xfrm>
        </p:spPr>
        <p:txBody>
          <a:bodyPr/>
          <a:lstStyle/>
          <a:p>
            <a:pPr>
              <a:spcBef>
                <a:spcPts val="0"/>
              </a:spcBef>
            </a:pPr>
            <a:r>
              <a:rPr lang="bg-BG" altLang="en-US" sz="2600" dirty="0"/>
              <a:t>Няма смисъл да се започва без цялостен план за изпитания</a:t>
            </a:r>
          </a:p>
          <a:p>
            <a:pPr lvl="1">
              <a:spcBef>
                <a:spcPts val="0"/>
              </a:spcBef>
            </a:pPr>
            <a:r>
              <a:rPr lang="bg-BG" altLang="en-US" sz="2200" dirty="0"/>
              <a:t>Планът представлява основата на методологията за тестване.</a:t>
            </a:r>
          </a:p>
          <a:p>
            <a:pPr>
              <a:spcBef>
                <a:spcPts val="0"/>
              </a:spcBef>
            </a:pPr>
            <a:r>
              <a:rPr lang="bg-BG" altLang="en-US" sz="2600" dirty="0" smtClean="0"/>
              <a:t>Формализирайте </a:t>
            </a:r>
            <a:r>
              <a:rPr lang="bg-BG" altLang="en-US" sz="2600" dirty="0"/>
              <a:t>методика за тестване преди началото</a:t>
            </a:r>
          </a:p>
          <a:p>
            <a:pPr lvl="1">
              <a:spcBef>
                <a:spcPts val="0"/>
              </a:spcBef>
            </a:pPr>
            <a:r>
              <a:rPr lang="bg-BG" altLang="en-US" sz="2200" dirty="0" smtClean="0"/>
              <a:t>Това осигурява възможност за  </a:t>
            </a:r>
            <a:r>
              <a:rPr lang="bg-BG" altLang="en-US" sz="2200" dirty="0" err="1"/>
              <a:t>сравняемост</a:t>
            </a:r>
            <a:r>
              <a:rPr lang="bg-BG" altLang="en-US" sz="2200" dirty="0"/>
              <a:t> на </a:t>
            </a:r>
            <a:r>
              <a:rPr lang="bg-BG" altLang="en-US" sz="2200" dirty="0" smtClean="0"/>
              <a:t>резултатите, т.е. коректност </a:t>
            </a:r>
            <a:r>
              <a:rPr lang="bg-BG" altLang="en-US" sz="2200" dirty="0"/>
              <a:t>на отчитане на напредъка.</a:t>
            </a:r>
          </a:p>
          <a:p>
            <a:pPr>
              <a:spcBef>
                <a:spcPts val="0"/>
              </a:spcBef>
            </a:pPr>
            <a:r>
              <a:rPr lang="bg-BG" altLang="en-US" sz="2600" dirty="0" smtClean="0"/>
              <a:t>Използвайте различни видове тестове и нива на тестване</a:t>
            </a:r>
          </a:p>
          <a:p>
            <a:pPr lvl="1">
              <a:spcBef>
                <a:spcPts val="0"/>
              </a:spcBef>
            </a:pPr>
            <a:r>
              <a:rPr lang="bg-BG" altLang="en-US" sz="2200" dirty="0" smtClean="0"/>
              <a:t>регресия, интеграция, системно, стрес, натоварване,...</a:t>
            </a:r>
          </a:p>
          <a:p>
            <a:pPr>
              <a:spcBef>
                <a:spcPts val="0"/>
              </a:spcBef>
            </a:pPr>
            <a:r>
              <a:rPr lang="bg-BG" altLang="en-US" sz="2600" dirty="0" smtClean="0"/>
              <a:t>Текущите анализи на тестването и получаваните резултатите съществено може да намали разходите.</a:t>
            </a:r>
            <a:endParaRPr lang="bg-BG" altLang="en-US" sz="2600" dirty="0"/>
          </a:p>
        </p:txBody>
      </p:sp>
    </p:spTree>
    <p:extLst>
      <p:ext uri="{BB962C8B-B14F-4D97-AF65-F5344CB8AC3E}">
        <p14:creationId xmlns:p14="http://schemas.microsoft.com/office/powerpoint/2010/main" val="42767493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Допълнителни правила</a:t>
            </a:r>
            <a:endParaRPr lang="en-US" dirty="0"/>
          </a:p>
        </p:txBody>
      </p:sp>
      <p:sp>
        <p:nvSpPr>
          <p:cNvPr id="24579" name="Content Placeholder 2"/>
          <p:cNvSpPr>
            <a:spLocks noGrp="1"/>
          </p:cNvSpPr>
          <p:nvPr>
            <p:ph idx="1"/>
          </p:nvPr>
        </p:nvSpPr>
        <p:spPr>
          <a:xfrm>
            <a:off x="809624" y="1916113"/>
            <a:ext cx="8154864" cy="4613275"/>
          </a:xfrm>
        </p:spPr>
        <p:txBody>
          <a:bodyPr/>
          <a:lstStyle/>
          <a:p>
            <a:pPr>
              <a:spcBef>
                <a:spcPts val="0"/>
              </a:spcBef>
            </a:pPr>
            <a:r>
              <a:rPr lang="bg-BG" altLang="en-US" sz="2800" dirty="0" smtClean="0"/>
              <a:t>Използване на външна група за тестване</a:t>
            </a:r>
          </a:p>
          <a:p>
            <a:pPr lvl="1">
              <a:defRPr/>
            </a:pPr>
            <a:r>
              <a:rPr lang="bg-BG" sz="2400" dirty="0"/>
              <a:t>Много честа практика, защото някои видове тестване е не трябва да се организират и извършват от разработчиците.</a:t>
            </a:r>
          </a:p>
          <a:p>
            <a:pPr lvl="1">
              <a:defRPr/>
            </a:pPr>
            <a:r>
              <a:rPr lang="bg-BG" sz="2400" dirty="0"/>
              <a:t>Изисква се групата да е специализирана за нашия клас ПО, иначе резултатите от тестването ще са приемливи само за определени тестове.</a:t>
            </a:r>
          </a:p>
          <a:p>
            <a:pPr lvl="1">
              <a:defRPr/>
            </a:pPr>
            <a:r>
              <a:rPr lang="bg-BG" sz="2400" dirty="0"/>
              <a:t>Необходимо е подготовка на изчерпателна документация преди да се започне процеса.</a:t>
            </a:r>
          </a:p>
          <a:p>
            <a:pPr lvl="1">
              <a:defRPr/>
            </a:pPr>
            <a:r>
              <a:rPr lang="bg-BG" sz="2400" dirty="0" smtClean="0"/>
              <a:t>Използва </a:t>
            </a:r>
            <a:r>
              <a:rPr lang="bg-BG" sz="2400" dirty="0"/>
              <a:t>се за доказване на качество на </a:t>
            </a:r>
            <a:r>
              <a:rPr lang="bg-BG" sz="2400" dirty="0" smtClean="0"/>
              <a:t>създавания продукт.</a:t>
            </a:r>
            <a:endParaRPr lang="en-US" sz="2400" dirty="0"/>
          </a:p>
        </p:txBody>
      </p:sp>
    </p:spTree>
    <p:extLst>
      <p:ext uri="{BB962C8B-B14F-4D97-AF65-F5344CB8AC3E}">
        <p14:creationId xmlns:p14="http://schemas.microsoft.com/office/powerpoint/2010/main" val="23508853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Методология на тестване</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Дефиниция</a:t>
            </a:r>
          </a:p>
          <a:p>
            <a:pPr lvl="1">
              <a:spcBef>
                <a:spcPts val="0"/>
              </a:spcBef>
            </a:pPr>
            <a:r>
              <a:rPr lang="bg-BG" sz="2400" dirty="0" smtClean="0"/>
              <a:t>Определя се като стратегии и видове тестове, използвани за удостоверяване, че тестваното приложение отговаря на очакванията на клиента. </a:t>
            </a:r>
          </a:p>
          <a:p>
            <a:pPr marL="342900" lvl="2">
              <a:spcBef>
                <a:spcPts val="0"/>
              </a:spcBef>
              <a:buSzPct val="70000"/>
              <a:buFont typeface="Wingdings" pitchFamily="2" charset="2"/>
              <a:buChar char="Ä"/>
            </a:pPr>
            <a:r>
              <a:rPr lang="bg-BG" sz="2800" dirty="0"/>
              <a:t>Всяка методология на изпитване има </a:t>
            </a:r>
            <a:r>
              <a:rPr lang="bg-BG" sz="2800" dirty="0" smtClean="0"/>
              <a:t>фокус (т.е. основна цел), </a:t>
            </a:r>
            <a:r>
              <a:rPr lang="bg-BG" sz="2800" dirty="0"/>
              <a:t>стратегия за изпитване и резултати.</a:t>
            </a:r>
          </a:p>
          <a:p>
            <a:pPr lvl="1">
              <a:spcBef>
                <a:spcPts val="0"/>
              </a:spcBef>
            </a:pPr>
            <a:r>
              <a:rPr lang="bg-BG" sz="2400" dirty="0" smtClean="0"/>
              <a:t>Реализира функционално </a:t>
            </a:r>
            <a:r>
              <a:rPr lang="bg-BG" sz="2400" dirty="0"/>
              <a:t>и нефункционално тестване за </a:t>
            </a:r>
            <a:r>
              <a:rPr lang="bg-BG" sz="2400" dirty="0" err="1"/>
              <a:t>валидиране</a:t>
            </a:r>
            <a:r>
              <a:rPr lang="bg-BG" sz="2400" dirty="0"/>
              <a:t> на приложението. </a:t>
            </a:r>
          </a:p>
          <a:p>
            <a:pPr lvl="2">
              <a:spcBef>
                <a:spcPts val="0"/>
              </a:spcBef>
            </a:pPr>
            <a:r>
              <a:rPr lang="bg-BG" sz="2000" dirty="0" smtClean="0"/>
              <a:t>Примери за методологии: модулно тестване, интеграционно тестване, системно тестване, </a:t>
            </a:r>
            <a:r>
              <a:rPr lang="bg-BG" sz="2000" dirty="0" err="1" smtClean="0"/>
              <a:t>тестване</a:t>
            </a:r>
            <a:r>
              <a:rPr lang="bg-BG" sz="2000" dirty="0" smtClean="0"/>
              <a:t> за производителност, …</a:t>
            </a:r>
          </a:p>
          <a:p>
            <a:pPr lvl="1">
              <a:spcBef>
                <a:spcPts val="0"/>
              </a:spcBef>
            </a:pPr>
            <a:r>
              <a:rPr lang="bg-BG" sz="2400" dirty="0" smtClean="0"/>
              <a:t>Имат различен вид според модела на разработка (т.е. модел на водопада, </a:t>
            </a:r>
            <a:r>
              <a:rPr lang="en-US" sz="2400" dirty="0" smtClean="0"/>
              <a:t>Extreme, </a:t>
            </a:r>
            <a:r>
              <a:rPr lang="bg-BG" sz="2400" dirty="0" err="1" smtClean="0"/>
              <a:t>Agile</a:t>
            </a:r>
            <a:r>
              <a:rPr lang="bg-BG" sz="2400" dirty="0" smtClean="0"/>
              <a:t> </a:t>
            </a:r>
            <a:r>
              <a:rPr lang="bg-BG" sz="2400" dirty="0"/>
              <a:t>и други </a:t>
            </a:r>
            <a:r>
              <a:rPr lang="bg-BG" sz="2400" dirty="0" smtClean="0"/>
              <a:t>модели</a:t>
            </a:r>
            <a:r>
              <a:rPr lang="en-US" sz="2400" dirty="0" smtClean="0"/>
              <a:t>)</a:t>
            </a:r>
            <a:r>
              <a:rPr lang="bg-BG" sz="2400" dirty="0" smtClean="0"/>
              <a:t>. </a:t>
            </a:r>
            <a:endParaRPr lang="bg-BG" sz="2400" dirty="0"/>
          </a:p>
        </p:txBody>
      </p:sp>
    </p:spTree>
    <p:extLst>
      <p:ext uri="{BB962C8B-B14F-4D97-AF65-F5344CB8AC3E}">
        <p14:creationId xmlns:p14="http://schemas.microsoft.com/office/powerpoint/2010/main" val="4344083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Стратегия за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800" dirty="0" smtClean="0"/>
              <a:t>Тя представлява набор от насоки, даващи общите подходи за тестване на един или повече проекта:</a:t>
            </a:r>
          </a:p>
          <a:p>
            <a:pPr lvl="1">
              <a:spcBef>
                <a:spcPts val="0"/>
              </a:spcBef>
            </a:pPr>
            <a:r>
              <a:rPr lang="bg-BG" sz="2400" dirty="0" smtClean="0"/>
              <a:t>обясняват дизайна на тестовете и </a:t>
            </a:r>
          </a:p>
          <a:p>
            <a:pPr lvl="1">
              <a:spcBef>
                <a:spcPts val="0"/>
              </a:spcBef>
            </a:pPr>
            <a:r>
              <a:rPr lang="bg-BG" sz="2400" dirty="0" smtClean="0"/>
              <a:t>определя как трябва да се направят тестовете</a:t>
            </a:r>
          </a:p>
          <a:p>
            <a:pPr lvl="1">
              <a:spcBef>
                <a:spcPts val="0"/>
              </a:spcBef>
            </a:pPr>
            <a:r>
              <a:rPr lang="bg-BG" sz="2400" dirty="0" smtClean="0"/>
              <a:t>Стратегия включва: цели и обхват, формати на документация, тестови процеси, структура за отчитане на екипи, комуникационна стратегия на клиента и др.</a:t>
            </a:r>
          </a:p>
          <a:p>
            <a:pPr>
              <a:spcBef>
                <a:spcPts val="0"/>
              </a:spcBef>
            </a:pPr>
            <a:r>
              <a:rPr lang="bg-BG" sz="2800" dirty="0" smtClean="0"/>
              <a:t>Тестовата стратегия не може да бъде променяна</a:t>
            </a:r>
          </a:p>
          <a:p>
            <a:pPr lvl="1">
              <a:spcBef>
                <a:spcPts val="0"/>
              </a:spcBef>
            </a:pPr>
            <a:r>
              <a:rPr lang="bg-BG" sz="2400" dirty="0" smtClean="0"/>
              <a:t>Това е дългосрочен план за действие, т.е. можете да не се използва информация, която не е конкретна за дадения проект.</a:t>
            </a:r>
          </a:p>
          <a:p>
            <a:pPr lvl="1">
              <a:spcBef>
                <a:spcPts val="0"/>
              </a:spcBef>
            </a:pPr>
            <a:r>
              <a:rPr lang="bg-BG" sz="2400" dirty="0" smtClean="0"/>
              <a:t>В малки проект стратегия често е раздел от плана за тестване.</a:t>
            </a:r>
            <a:endParaRPr lang="bg-BG" sz="2800" dirty="0"/>
          </a:p>
        </p:txBody>
      </p:sp>
    </p:spTree>
    <p:extLst>
      <p:ext uri="{BB962C8B-B14F-4D97-AF65-F5344CB8AC3E}">
        <p14:creationId xmlns:p14="http://schemas.microsoft.com/office/powerpoint/2010/main" val="36782869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Стратегия за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400" dirty="0" smtClean="0"/>
              <a:t>Стратегията заема началната </a:t>
            </a:r>
            <a:br>
              <a:rPr lang="bg-BG" sz="2400" dirty="0" smtClean="0"/>
            </a:br>
            <a:r>
              <a:rPr lang="bg-BG" sz="2400" dirty="0" smtClean="0"/>
              <a:t>позиция в процесите на създаване</a:t>
            </a:r>
            <a:br>
              <a:rPr lang="bg-BG" sz="2400" dirty="0" smtClean="0"/>
            </a:br>
            <a:r>
              <a:rPr lang="bg-BG" sz="2400" dirty="0" smtClean="0"/>
              <a:t>и провеждане на тестовете:</a:t>
            </a:r>
            <a:endParaRPr lang="bg-BG" sz="2400" dirty="0"/>
          </a:p>
        </p:txBody>
      </p:sp>
      <p:pic>
        <p:nvPicPr>
          <p:cNvPr id="4" name="Picture 3" descr="Test Strategy in stlc image">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940152" y="1772816"/>
            <a:ext cx="3024336" cy="4968552"/>
          </a:xfrm>
          <a:prstGeom prst="rect">
            <a:avLst/>
          </a:prstGeom>
          <a:noFill/>
          <a:ln>
            <a:noFill/>
          </a:ln>
        </p:spPr>
      </p:pic>
    </p:spTree>
    <p:extLst>
      <p:ext uri="{BB962C8B-B14F-4D97-AF65-F5344CB8AC3E}">
        <p14:creationId xmlns:p14="http://schemas.microsoft.com/office/powerpoint/2010/main" val="2856536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Сценарии за тестване</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ru-RU" sz="2800" dirty="0" smtClean="0"/>
              <a:t>Дефиниция</a:t>
            </a:r>
          </a:p>
          <a:p>
            <a:pPr lvl="1">
              <a:spcBef>
                <a:spcPts val="0"/>
              </a:spcBef>
            </a:pPr>
            <a:r>
              <a:rPr lang="bg-BG" sz="2400" dirty="0" smtClean="0"/>
              <a:t>Това е всяка функционалност, която може да бъде тествана. </a:t>
            </a:r>
          </a:p>
          <a:p>
            <a:pPr lvl="2">
              <a:spcBef>
                <a:spcPts val="0"/>
              </a:spcBef>
            </a:pPr>
            <a:r>
              <a:rPr lang="bg-BG" sz="2000" dirty="0" smtClean="0"/>
              <a:t>Тестерът трябва да се поставите на мястото на крайния потребител и да измислите сценарии в реалния свят и да ги използва като случаи за тестване.</a:t>
            </a:r>
          </a:p>
          <a:p>
            <a:pPr>
              <a:spcBef>
                <a:spcPts val="0"/>
              </a:spcBef>
            </a:pPr>
            <a:r>
              <a:rPr lang="bg-BG" sz="2800" dirty="0" smtClean="0"/>
              <a:t>Основният проблем, е че не всичко може да се опише като сценарии за тестване:</a:t>
            </a:r>
          </a:p>
          <a:p>
            <a:pPr lvl="1">
              <a:spcBef>
                <a:spcPts val="0"/>
              </a:spcBef>
            </a:pPr>
            <a:r>
              <a:rPr lang="bg-BG" sz="2400" dirty="0" smtClean="0"/>
              <a:t>При много сложни проекти или при прекъсване на проекта това може да е изключително трудно.</a:t>
            </a:r>
          </a:p>
          <a:p>
            <a:pPr lvl="1">
              <a:spcBef>
                <a:spcPts val="0"/>
              </a:spcBef>
            </a:pPr>
            <a:r>
              <a:rPr lang="bg-BG" sz="2400" dirty="0" smtClean="0"/>
              <a:t>При регресивно тестване може да е много трудно – изисква допълнителни документи.</a:t>
            </a:r>
          </a:p>
          <a:p>
            <a:pPr lvl="1">
              <a:spcBef>
                <a:spcPts val="0"/>
              </a:spcBef>
            </a:pPr>
            <a:r>
              <a:rPr lang="en-US" sz="2400" dirty="0" smtClean="0"/>
              <a:t>Agile</a:t>
            </a:r>
            <a:r>
              <a:rPr lang="bg-BG" sz="2400" dirty="0" smtClean="0"/>
              <a:t>-методологията не е подходяща за тях.</a:t>
            </a:r>
          </a:p>
          <a:p>
            <a:pPr>
              <a:spcBef>
                <a:spcPts val="0"/>
              </a:spcBef>
            </a:pPr>
            <a:endParaRPr lang="bg-BG" sz="2800" dirty="0" smtClean="0"/>
          </a:p>
        </p:txBody>
      </p:sp>
    </p:spTree>
    <p:extLst>
      <p:ext uri="{BB962C8B-B14F-4D97-AF65-F5344CB8AC3E}">
        <p14:creationId xmlns:p14="http://schemas.microsoft.com/office/powerpoint/2010/main" val="31757397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Сценарии за тестване</a:t>
            </a:r>
            <a:endParaRPr lang="en-US" dirty="0"/>
          </a:p>
        </p:txBody>
      </p:sp>
      <p:sp>
        <p:nvSpPr>
          <p:cNvPr id="3" name="Content Placeholder 2"/>
          <p:cNvSpPr>
            <a:spLocks noGrp="1"/>
          </p:cNvSpPr>
          <p:nvPr>
            <p:ph idx="1"/>
          </p:nvPr>
        </p:nvSpPr>
        <p:spPr/>
        <p:txBody>
          <a:bodyPr/>
          <a:lstStyle/>
          <a:p>
            <a:pPr marL="342900" lvl="2">
              <a:spcBef>
                <a:spcPts val="0"/>
              </a:spcBef>
              <a:buSzPct val="70000"/>
              <a:buFont typeface="Wingdings" pitchFamily="2" charset="2"/>
              <a:buChar char="Ä"/>
            </a:pPr>
            <a:r>
              <a:rPr lang="bg-BG" sz="2800" dirty="0" smtClean="0">
                <a:ea typeface="+mn-ea"/>
                <a:cs typeface="+mn-cs"/>
              </a:rPr>
              <a:t>Сценариите за тестване се създават, защото:</a:t>
            </a:r>
          </a:p>
          <a:p>
            <a:pPr lvl="1">
              <a:spcBef>
                <a:spcPts val="0"/>
              </a:spcBef>
            </a:pPr>
            <a:r>
              <a:rPr lang="bg-BG" sz="2400" dirty="0" smtClean="0"/>
              <a:t>Осигуряват възможност за пълно покритие</a:t>
            </a:r>
          </a:p>
          <a:p>
            <a:pPr lvl="1">
              <a:spcBef>
                <a:spcPts val="0"/>
              </a:spcBef>
            </a:pPr>
            <a:r>
              <a:rPr lang="bg-BG" sz="2400" dirty="0" smtClean="0"/>
              <a:t>Те гарантират, че софтуерът работи за най-често срещаните случаи на употреба.</a:t>
            </a:r>
          </a:p>
          <a:p>
            <a:pPr lvl="2">
              <a:spcBef>
                <a:spcPts val="0"/>
              </a:spcBef>
            </a:pPr>
            <a:r>
              <a:rPr lang="bg-BG" sz="2000" dirty="0" smtClean="0"/>
              <a:t>Могат да се привлекат и </a:t>
            </a:r>
            <a:r>
              <a:rPr lang="bg-BG" sz="2000" dirty="0" err="1" smtClean="0"/>
              <a:t>стейкхолдерите</a:t>
            </a:r>
            <a:r>
              <a:rPr lang="bg-BG" sz="2000" dirty="0" smtClean="0"/>
              <a:t> за тяхната разработка.</a:t>
            </a:r>
          </a:p>
          <a:p>
            <a:pPr lvl="1">
              <a:spcBef>
                <a:spcPts val="0"/>
              </a:spcBef>
            </a:pPr>
            <a:r>
              <a:rPr lang="bg-BG" sz="2400" dirty="0" smtClean="0"/>
              <a:t>Те служат като бърз инструмент за определяне на усилията за тестване, т.е. разходи, време, персонал.</a:t>
            </a:r>
          </a:p>
          <a:p>
            <a:pPr lvl="1">
              <a:spcBef>
                <a:spcPts val="0"/>
              </a:spcBef>
            </a:pPr>
            <a:r>
              <a:rPr lang="bg-BG" sz="2400" dirty="0" smtClean="0"/>
              <a:t>Те помагат да се дефинират </a:t>
            </a:r>
            <a:r>
              <a:rPr lang="bg-BG" sz="2400" dirty="0" err="1" smtClean="0"/>
              <a:t>свързаностите</a:t>
            </a:r>
            <a:r>
              <a:rPr lang="bg-BG" sz="2400" dirty="0" smtClean="0"/>
              <a:t> и зависимости между елементите, т.е. транзакциите в системата при реалната употреба.</a:t>
            </a:r>
          </a:p>
          <a:p>
            <a:pPr lvl="1">
              <a:spcBef>
                <a:spcPts val="0"/>
              </a:spcBef>
            </a:pPr>
            <a:r>
              <a:rPr lang="bg-BG" sz="2400" dirty="0" smtClean="0"/>
              <a:t>Те са критично важни за изследване работата на крайната версия на програмата.</a:t>
            </a:r>
            <a:endParaRPr lang="bg-BG" sz="2000" dirty="0"/>
          </a:p>
        </p:txBody>
      </p:sp>
    </p:spTree>
    <p:extLst>
      <p:ext uri="{BB962C8B-B14F-4D97-AF65-F5344CB8AC3E}">
        <p14:creationId xmlns:p14="http://schemas.microsoft.com/office/powerpoint/2010/main" val="32266993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Тестови случаи</a:t>
            </a:r>
            <a:endParaRPr lang="en-US" dirty="0"/>
          </a:p>
        </p:txBody>
      </p:sp>
      <p:sp>
        <p:nvSpPr>
          <p:cNvPr id="3" name="Content Placeholder 2"/>
          <p:cNvSpPr>
            <a:spLocks noGrp="1"/>
          </p:cNvSpPr>
          <p:nvPr>
            <p:ph idx="1"/>
          </p:nvPr>
        </p:nvSpPr>
        <p:spPr/>
        <p:txBody>
          <a:bodyPr/>
          <a:lstStyle/>
          <a:p>
            <a:pPr>
              <a:spcBef>
                <a:spcPts val="0"/>
              </a:spcBef>
            </a:pPr>
            <a:r>
              <a:rPr lang="bg-BG" sz="2600" dirty="0" smtClean="0"/>
              <a:t>Дефиниция</a:t>
            </a:r>
          </a:p>
          <a:p>
            <a:pPr lvl="1">
              <a:spcBef>
                <a:spcPts val="0"/>
              </a:spcBef>
            </a:pPr>
            <a:r>
              <a:rPr lang="bg-BG" sz="2200" dirty="0" smtClean="0"/>
              <a:t>Тестовият случай е набор от действия, изпълнени за проверка на определена функция или функционалност на програмата. </a:t>
            </a:r>
          </a:p>
          <a:p>
            <a:pPr>
              <a:spcBef>
                <a:spcPts val="0"/>
              </a:spcBef>
            </a:pPr>
            <a:r>
              <a:rPr lang="bg-BG" sz="2600" dirty="0" smtClean="0"/>
              <a:t>Тестовият случай съдържа:</a:t>
            </a:r>
          </a:p>
          <a:p>
            <a:pPr lvl="1">
              <a:spcBef>
                <a:spcPts val="0"/>
              </a:spcBef>
            </a:pPr>
            <a:r>
              <a:rPr lang="bg-BG" sz="2200" dirty="0" smtClean="0"/>
              <a:t>тестови стъпки, тестови данни, предварително условие, </a:t>
            </a:r>
            <a:r>
              <a:rPr lang="bg-BG" sz="2200" dirty="0" err="1" smtClean="0"/>
              <a:t>последващо</a:t>
            </a:r>
            <a:r>
              <a:rPr lang="bg-BG" sz="2200" dirty="0" smtClean="0"/>
              <a:t> условие, разработени за специфичен сценарий за тестване, за да се провери всяко изискване. </a:t>
            </a:r>
          </a:p>
          <a:p>
            <a:pPr>
              <a:spcBef>
                <a:spcPts val="0"/>
              </a:spcBef>
            </a:pPr>
            <a:r>
              <a:rPr lang="bg-BG" sz="2600" dirty="0" smtClean="0"/>
              <a:t>Тестовият случай задължително включва:</a:t>
            </a:r>
          </a:p>
          <a:p>
            <a:pPr lvl="1">
              <a:spcBef>
                <a:spcPts val="0"/>
              </a:spcBef>
            </a:pPr>
            <a:r>
              <a:rPr lang="bg-BG" sz="2200" dirty="0" smtClean="0"/>
              <a:t>специфични променливи или условия, с помощта на които тестерът може да сравнява очакваните и реалните резултати, за да определи дали даден програмата функционира според изискванията на клиента.</a:t>
            </a:r>
            <a:endParaRPr lang="bg-BG" sz="2200" dirty="0"/>
          </a:p>
        </p:txBody>
      </p:sp>
    </p:spTree>
    <p:extLst>
      <p:ext uri="{BB962C8B-B14F-4D97-AF65-F5344CB8AC3E}">
        <p14:creationId xmlns:p14="http://schemas.microsoft.com/office/powerpoint/2010/main" val="24320411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Тестови случаи</a:t>
            </a:r>
            <a:endParaRPr lang="en-US"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Фази на създаване:</a:t>
            </a:r>
          </a:p>
          <a:p>
            <a:pPr lvl="1">
              <a:spcBef>
                <a:spcPts val="0"/>
              </a:spcBef>
            </a:pPr>
            <a:r>
              <a:rPr lang="bg-BG" sz="2200" dirty="0" smtClean="0"/>
              <a:t>Стъпка 1: Определя се сценария, за който ще се създава тестовия случай.</a:t>
            </a:r>
          </a:p>
          <a:p>
            <a:pPr lvl="1">
              <a:spcBef>
                <a:spcPts val="0"/>
              </a:spcBef>
            </a:pPr>
            <a:r>
              <a:rPr lang="bg-BG" sz="2200" dirty="0" smtClean="0"/>
              <a:t>Стъпка 2: Определя се коя функция ще се тества</a:t>
            </a:r>
          </a:p>
          <a:p>
            <a:pPr lvl="2">
              <a:spcBef>
                <a:spcPts val="0"/>
              </a:spcBef>
            </a:pPr>
            <a:r>
              <a:rPr lang="bg-BG" sz="1800" dirty="0" smtClean="0"/>
              <a:t>Пример: въвеждане на парола.</a:t>
            </a:r>
          </a:p>
          <a:p>
            <a:pPr lvl="1">
              <a:spcBef>
                <a:spcPts val="0"/>
              </a:spcBef>
            </a:pPr>
            <a:r>
              <a:rPr lang="bg-BG" sz="2200" dirty="0" smtClean="0"/>
              <a:t>Стъпка 3: Дефиниране на тестовите данни.</a:t>
            </a:r>
          </a:p>
          <a:p>
            <a:pPr lvl="2">
              <a:spcBef>
                <a:spcPts val="0"/>
              </a:spcBef>
            </a:pPr>
            <a:r>
              <a:rPr lang="bg-BG" sz="1900" dirty="0" smtClean="0"/>
              <a:t>Идентифицирането на данните може да отнеме много време и понякога може да изисква ново създаване на тестови данни (трябва да се документира защо се е наложило).</a:t>
            </a:r>
          </a:p>
          <a:p>
            <a:pPr lvl="1">
              <a:spcBef>
                <a:spcPts val="0"/>
              </a:spcBef>
            </a:pPr>
            <a:r>
              <a:rPr lang="bg-BG" sz="2200" dirty="0" smtClean="0"/>
              <a:t>Стъпка 4: Дефиниране на действията, които трябва да извърши тестера.</a:t>
            </a:r>
          </a:p>
          <a:p>
            <a:pPr lvl="2">
              <a:spcBef>
                <a:spcPts val="0"/>
              </a:spcBef>
            </a:pPr>
            <a:r>
              <a:rPr lang="bg-BG" sz="1900" dirty="0" smtClean="0"/>
              <a:t>Много пъти тестовите стъпки не са прости, следователно те се нуждаят от документация за да не бъдат сбъркани или неправилно разбрани.</a:t>
            </a:r>
          </a:p>
          <a:p>
            <a:pPr>
              <a:spcBef>
                <a:spcPts val="0"/>
              </a:spcBef>
            </a:pPr>
            <a:endParaRPr lang="bg-BG" dirty="0"/>
          </a:p>
        </p:txBody>
      </p:sp>
    </p:spTree>
    <p:extLst>
      <p:ext uri="{BB962C8B-B14F-4D97-AF65-F5344CB8AC3E}">
        <p14:creationId xmlns:p14="http://schemas.microsoft.com/office/powerpoint/2010/main" val="398360898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Тестови случаи</a:t>
            </a:r>
            <a:endParaRPr lang="en-US"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Фази на създаване:</a:t>
            </a:r>
          </a:p>
          <a:p>
            <a:pPr lvl="1">
              <a:spcBef>
                <a:spcPts val="0"/>
              </a:spcBef>
            </a:pPr>
            <a:r>
              <a:rPr lang="bg-BG" sz="2200" dirty="0" smtClean="0"/>
              <a:t>Стъпка 5: Целта на тестовите случаи е да се провери поведението на програмата, т.е. дали се получава за очакван резултат. </a:t>
            </a:r>
          </a:p>
          <a:p>
            <a:pPr lvl="2">
              <a:spcBef>
                <a:spcPts val="0"/>
              </a:spcBef>
            </a:pPr>
            <a:r>
              <a:rPr lang="bg-BG" sz="1800" dirty="0" smtClean="0"/>
              <a:t>При изпълнението тестерът проверява  реалните резултати спрямо очакваните резултати и ще присвои статут на Да/НЕ за теста.</a:t>
            </a:r>
          </a:p>
          <a:p>
            <a:pPr lvl="1">
              <a:spcBef>
                <a:spcPts val="0"/>
              </a:spcBef>
            </a:pPr>
            <a:r>
              <a:rPr lang="bg-BG" sz="2200" dirty="0" smtClean="0"/>
              <a:t>Стъпка 6: дефиниране на „пред-условие“</a:t>
            </a:r>
          </a:p>
          <a:p>
            <a:pPr lvl="2">
              <a:spcBef>
                <a:spcPts val="0"/>
              </a:spcBef>
            </a:pPr>
            <a:r>
              <a:rPr lang="bg-BG" sz="1800" dirty="0" smtClean="0"/>
              <a:t>Това са нещата, които трябва да бъдат въведени, преди тестът да може да стартира (например да е инсталиран браузър, за да имате достъп до тествания сайт). </a:t>
            </a:r>
          </a:p>
          <a:p>
            <a:pPr lvl="1">
              <a:spcBef>
                <a:spcPts val="0"/>
              </a:spcBef>
            </a:pPr>
            <a:r>
              <a:rPr lang="bg-BG" sz="2200" dirty="0" smtClean="0"/>
              <a:t>Стъпка 7: дефиниране на „пост-условие“</a:t>
            </a:r>
          </a:p>
          <a:p>
            <a:pPr lvl="2">
              <a:spcBef>
                <a:spcPts val="0"/>
              </a:spcBef>
            </a:pPr>
            <a:r>
              <a:rPr lang="bg-BG" sz="1800" dirty="0" smtClean="0"/>
              <a:t>Това уточняват всичко, което се прилага след приключване на тестовия случай (например е време, дата и място на съхраняване на резултата).</a:t>
            </a:r>
            <a:endParaRPr lang="bg-BG" sz="1800" dirty="0"/>
          </a:p>
        </p:txBody>
      </p:sp>
    </p:spTree>
    <p:extLst>
      <p:ext uri="{BB962C8B-B14F-4D97-AF65-F5344CB8AC3E}">
        <p14:creationId xmlns:p14="http://schemas.microsoft.com/office/powerpoint/2010/main" val="35306185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Функционално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200"/>
              </a:spcBef>
            </a:pPr>
            <a:r>
              <a:rPr lang="bg-BG" sz="2600" dirty="0" smtClean="0"/>
              <a:t>Функционалното тестване се извършва, за да се провери дали разработеният софтуер има всички характеристики, които са дефинирани в заданието като функционални спецификации.</a:t>
            </a:r>
          </a:p>
          <a:p>
            <a:pPr lvl="1">
              <a:spcBef>
                <a:spcPts val="200"/>
              </a:spcBef>
            </a:pPr>
            <a:r>
              <a:rPr lang="bg-BG" sz="2200" dirty="0" smtClean="0"/>
              <a:t>Много често се реализира по метода на черната кутия, т.е. системата се тества чрез предоставяне на вход, проверка на изхода и сравняване на реалните резултати с очакваните резултати.</a:t>
            </a:r>
          </a:p>
          <a:p>
            <a:pPr lvl="1">
              <a:spcBef>
                <a:spcPts val="200"/>
              </a:spcBef>
            </a:pPr>
            <a:r>
              <a:rPr lang="bg-BG" sz="2200" dirty="0" smtClean="0"/>
              <a:t>Основно се използва за проверка на потребителски интерфейс, API, база от данни, сигурност, комуникация между клиент и сървър, както и друга функционалност. </a:t>
            </a:r>
          </a:p>
          <a:p>
            <a:pPr lvl="1">
              <a:spcBef>
                <a:spcPts val="200"/>
              </a:spcBef>
            </a:pPr>
            <a:r>
              <a:rPr lang="bg-BG" sz="2200" dirty="0" smtClean="0"/>
              <a:t>Тестването може да се извърши ръчно или с помощта на автоматизация.</a:t>
            </a:r>
            <a:endParaRPr lang="bg-BG" sz="2200" dirty="0"/>
          </a:p>
        </p:txBody>
      </p:sp>
    </p:spTree>
    <p:extLst>
      <p:ext uri="{BB962C8B-B14F-4D97-AF65-F5344CB8AC3E}">
        <p14:creationId xmlns:p14="http://schemas.microsoft.com/office/powerpoint/2010/main" val="20476363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Функционално тестване</a:t>
            </a:r>
            <a:endParaRPr lang="en-US" dirty="0"/>
          </a:p>
        </p:txBody>
      </p:sp>
      <p:sp>
        <p:nvSpPr>
          <p:cNvPr id="3" name="Content Placeholder 2"/>
          <p:cNvSpPr>
            <a:spLocks noGrp="1"/>
          </p:cNvSpPr>
          <p:nvPr>
            <p:ph idx="1"/>
          </p:nvPr>
        </p:nvSpPr>
        <p:spPr/>
        <p:txBody>
          <a:bodyPr/>
          <a:lstStyle/>
          <a:p>
            <a:r>
              <a:rPr lang="bg-BG" sz="2800" dirty="0" smtClean="0"/>
              <a:t>Основната цел на функционалното тестване е проверка на :</a:t>
            </a:r>
          </a:p>
          <a:p>
            <a:pPr lvl="1"/>
            <a:r>
              <a:rPr lang="bg-BG" sz="2400" dirty="0" smtClean="0"/>
              <a:t>Тестване на основните функции на софтуера</a:t>
            </a:r>
          </a:p>
          <a:p>
            <a:pPr lvl="1"/>
            <a:r>
              <a:rPr lang="bg-BG" sz="2400" dirty="0" smtClean="0"/>
              <a:t>Тестване на използваемостта на системата </a:t>
            </a:r>
          </a:p>
          <a:p>
            <a:pPr lvl="2"/>
            <a:r>
              <a:rPr lang="bg-BG" sz="2000" dirty="0" smtClean="0"/>
              <a:t>Проверява се дали потребителят може свободно да се движи през екраните без никакви затруднения.</a:t>
            </a:r>
          </a:p>
          <a:p>
            <a:pPr lvl="2"/>
            <a:r>
              <a:rPr lang="bg-BG" sz="2000" dirty="0" err="1" smtClean="0"/>
              <a:t>англ</a:t>
            </a:r>
            <a:r>
              <a:rPr lang="bg-BG" sz="2000" dirty="0" smtClean="0"/>
              <a:t>. </a:t>
            </a:r>
            <a:r>
              <a:rPr lang="bg-BG" sz="2000" dirty="0" err="1" smtClean="0"/>
              <a:t>Usability</a:t>
            </a:r>
            <a:endParaRPr lang="bg-BG" sz="2000" dirty="0" smtClean="0"/>
          </a:p>
          <a:p>
            <a:pPr lvl="1"/>
            <a:r>
              <a:rPr lang="bg-BG" sz="2400" dirty="0" smtClean="0"/>
              <a:t>Достъпност (</a:t>
            </a:r>
            <a:r>
              <a:rPr lang="bg-BG" sz="2400" dirty="0" err="1" smtClean="0"/>
              <a:t>англ</a:t>
            </a:r>
            <a:r>
              <a:rPr lang="bg-BG" sz="2400" dirty="0" smtClean="0"/>
              <a:t>. </a:t>
            </a:r>
            <a:r>
              <a:rPr lang="bg-BG" sz="2400" dirty="0" err="1" smtClean="0"/>
              <a:t>Accesibility</a:t>
            </a:r>
            <a:r>
              <a:rPr lang="bg-BG" sz="2400" dirty="0" smtClean="0"/>
              <a:t>): </a:t>
            </a:r>
          </a:p>
          <a:p>
            <a:pPr lvl="2"/>
            <a:r>
              <a:rPr lang="bg-BG" sz="2000" dirty="0" smtClean="0"/>
              <a:t>Проверява достъпността на системата за потребителя</a:t>
            </a:r>
          </a:p>
          <a:p>
            <a:pPr lvl="1"/>
            <a:r>
              <a:rPr lang="bg-BG" sz="2400" dirty="0" smtClean="0"/>
              <a:t>Проверка на условия за грешка: </a:t>
            </a:r>
          </a:p>
          <a:p>
            <a:pPr lvl="2"/>
            <a:r>
              <a:rPr lang="bg-BG" sz="2000" dirty="0" smtClean="0"/>
              <a:t>Проверява се дали са показани подходящи съобщения за грешки.</a:t>
            </a:r>
            <a:endParaRPr lang="bg-BG" sz="2000" dirty="0"/>
          </a:p>
        </p:txBody>
      </p:sp>
    </p:spTree>
    <p:extLst>
      <p:ext uri="{BB962C8B-B14F-4D97-AF65-F5344CB8AC3E}">
        <p14:creationId xmlns:p14="http://schemas.microsoft.com/office/powerpoint/2010/main" val="37770963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a:t>Нива на </a:t>
            </a:r>
            <a:r>
              <a:rPr lang="bg-BG" dirty="0" smtClean="0"/>
              <a:t>тестване</a:t>
            </a:r>
            <a:endParaRPr lang="en-US" dirty="0"/>
          </a:p>
        </p:txBody>
      </p:sp>
      <p:sp>
        <p:nvSpPr>
          <p:cNvPr id="45059" name="Slide Number Placeholder 3"/>
          <p:cNvSpPr>
            <a:spLocks noGrp="1"/>
          </p:cNvSpPr>
          <p:nvPr>
            <p:ph type="sldNum" sz="quarter" idx="4294967295"/>
          </p:nvPr>
        </p:nvSpPr>
        <p:spPr>
          <a:noFill/>
        </p:spPr>
        <p:txBody>
          <a:bodyPr/>
          <a:lstStyle>
            <a:lvl1pPr algn="ctr">
              <a:defRPr sz="2400">
                <a:solidFill>
                  <a:schemeClr val="tx1"/>
                </a:solidFill>
                <a:latin typeface="Times New Roman" pitchFamily="18" charset="0"/>
              </a:defRPr>
            </a:lvl1pPr>
            <a:lvl2pPr marL="685800" indent="-263525" algn="ctr">
              <a:defRPr sz="2400">
                <a:solidFill>
                  <a:schemeClr val="tx1"/>
                </a:solidFill>
                <a:latin typeface="Times New Roman" pitchFamily="18" charset="0"/>
              </a:defRPr>
            </a:lvl2pPr>
            <a:lvl3pPr marL="1054100" indent="-209550" algn="ctr">
              <a:defRPr sz="2400">
                <a:solidFill>
                  <a:schemeClr val="tx1"/>
                </a:solidFill>
                <a:latin typeface="Times New Roman" pitchFamily="18" charset="0"/>
              </a:defRPr>
            </a:lvl3pPr>
            <a:lvl4pPr marL="1476375" indent="-209550" algn="ctr">
              <a:defRPr sz="2400">
                <a:solidFill>
                  <a:schemeClr val="tx1"/>
                </a:solidFill>
                <a:latin typeface="Times New Roman" pitchFamily="18" charset="0"/>
              </a:defRPr>
            </a:lvl4pPr>
            <a:lvl5pPr marL="1898650" indent="-209550" algn="ctr">
              <a:defRPr sz="2400">
                <a:solidFill>
                  <a:schemeClr val="tx1"/>
                </a:solidFill>
                <a:latin typeface="Times New Roman" pitchFamily="18" charset="0"/>
              </a:defRPr>
            </a:lvl5pPr>
            <a:lvl6pPr marL="2355850" indent="-209550" algn="ctr" eaLnBrk="0" fontAlgn="base" hangingPunct="0">
              <a:spcBef>
                <a:spcPct val="0"/>
              </a:spcBef>
              <a:spcAft>
                <a:spcPct val="0"/>
              </a:spcAft>
              <a:defRPr sz="2400">
                <a:solidFill>
                  <a:schemeClr val="tx1"/>
                </a:solidFill>
                <a:latin typeface="Times New Roman" pitchFamily="18" charset="0"/>
              </a:defRPr>
            </a:lvl6pPr>
            <a:lvl7pPr marL="2813050" indent="-209550" algn="ctr" eaLnBrk="0" fontAlgn="base" hangingPunct="0">
              <a:spcBef>
                <a:spcPct val="0"/>
              </a:spcBef>
              <a:spcAft>
                <a:spcPct val="0"/>
              </a:spcAft>
              <a:defRPr sz="2400">
                <a:solidFill>
                  <a:schemeClr val="tx1"/>
                </a:solidFill>
                <a:latin typeface="Times New Roman" pitchFamily="18" charset="0"/>
              </a:defRPr>
            </a:lvl7pPr>
            <a:lvl8pPr marL="3270250" indent="-209550" algn="ctr" eaLnBrk="0" fontAlgn="base" hangingPunct="0">
              <a:spcBef>
                <a:spcPct val="0"/>
              </a:spcBef>
              <a:spcAft>
                <a:spcPct val="0"/>
              </a:spcAft>
              <a:defRPr sz="2400">
                <a:solidFill>
                  <a:schemeClr val="tx1"/>
                </a:solidFill>
                <a:latin typeface="Times New Roman" pitchFamily="18" charset="0"/>
              </a:defRPr>
            </a:lvl8pPr>
            <a:lvl9pPr marL="3727450" indent="-209550" algn="ctr" eaLnBrk="0" fontAlgn="base" hangingPunct="0">
              <a:spcBef>
                <a:spcPct val="0"/>
              </a:spcBef>
              <a:spcAft>
                <a:spcPct val="0"/>
              </a:spcAft>
              <a:defRPr sz="2400">
                <a:solidFill>
                  <a:schemeClr val="tx1"/>
                </a:solidFill>
                <a:latin typeface="Times New Roman" pitchFamily="18" charset="0"/>
              </a:defRPr>
            </a:lvl9pPr>
          </a:lstStyle>
          <a:p>
            <a:pPr algn="r"/>
            <a:fld id="{CE3A04A4-B01D-4416-9427-A662B0551E45}" type="slidenum">
              <a:rPr lang="en-US" altLang="en-US" sz="1400">
                <a:latin typeface="Arial" charset="0"/>
              </a:rPr>
              <a:pPr algn="r"/>
              <a:t>32</a:t>
            </a:fld>
            <a:endParaRPr lang="en-US" altLang="en-US" sz="1400">
              <a:latin typeface="Arial" charset="0"/>
            </a:endParaRPr>
          </a:p>
        </p:txBody>
      </p:sp>
      <p:pic>
        <p:nvPicPr>
          <p:cNvPr id="2253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17513" y="1601788"/>
            <a:ext cx="5364162" cy="4808537"/>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416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blinds(horizontal)">
                                      <p:cBhvr>
                                        <p:cTn id="7" dur="500"/>
                                        <p:tgtEl>
                                          <p:spTgt spid="22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Тестване на блок</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Под «</a:t>
            </a:r>
            <a:r>
              <a:rPr lang="bg-BG" sz="2800" i="1" dirty="0" smtClean="0">
                <a:effectLst>
                  <a:outerShdw blurRad="38100" dist="38100" dir="2700000" algn="tl">
                    <a:srgbClr val="000000">
                      <a:alpha val="43137"/>
                    </a:srgbClr>
                  </a:outerShdw>
                </a:effectLst>
              </a:rPr>
              <a:t>блок</a:t>
            </a:r>
            <a:r>
              <a:rPr lang="bg-BG" sz="2800" dirty="0" smtClean="0"/>
              <a:t>» на-често се разбира малко парче от код, което може да се тества самостоятелно.</a:t>
            </a:r>
          </a:p>
          <a:p>
            <a:pPr lvl="1">
              <a:spcBef>
                <a:spcPts val="0"/>
              </a:spcBef>
            </a:pPr>
            <a:r>
              <a:rPr lang="bg-BG" sz="2400" dirty="0"/>
              <a:t>Тестване </a:t>
            </a:r>
            <a:r>
              <a:rPr lang="bg-BG" sz="2400" dirty="0" smtClean="0"/>
              <a:t>се </a:t>
            </a:r>
            <a:r>
              <a:rPr lang="bg-BG" sz="2400" dirty="0"/>
              <a:t>извършва по време на разработването (кодирането) на приложение.</a:t>
            </a:r>
          </a:p>
          <a:p>
            <a:pPr lvl="2">
              <a:spcBef>
                <a:spcPts val="0"/>
              </a:spcBef>
            </a:pPr>
            <a:r>
              <a:rPr lang="bg-BG" sz="2000" dirty="0"/>
              <a:t>Това е първото ниво на тестване на </a:t>
            </a:r>
            <a:r>
              <a:rPr lang="bg-BG" sz="2000" dirty="0" smtClean="0"/>
              <a:t>софтуера</a:t>
            </a:r>
          </a:p>
          <a:p>
            <a:pPr lvl="2">
              <a:spcBef>
                <a:spcPts val="0"/>
              </a:spcBef>
            </a:pPr>
            <a:r>
              <a:rPr lang="bg-BG" sz="2000" dirty="0" smtClean="0"/>
              <a:t>Винаги е част от фазата на тестване, независимо от вида на софтуер.</a:t>
            </a:r>
          </a:p>
          <a:p>
            <a:pPr lvl="2">
              <a:spcBef>
                <a:spcPts val="0"/>
              </a:spcBef>
            </a:pPr>
            <a:r>
              <a:rPr lang="bg-BG" sz="2000" dirty="0" err="1" smtClean="0"/>
              <a:t>Англ</a:t>
            </a:r>
            <a:r>
              <a:rPr lang="bg-BG" sz="2000" dirty="0" smtClean="0"/>
              <a:t>. </a:t>
            </a:r>
            <a:r>
              <a:rPr lang="en-US" sz="2000" dirty="0" smtClean="0"/>
              <a:t>Unit Testing</a:t>
            </a:r>
            <a:endParaRPr lang="bg-BG" sz="2000" dirty="0"/>
          </a:p>
          <a:p>
            <a:pPr lvl="1">
              <a:spcBef>
                <a:spcPts val="0"/>
              </a:spcBef>
            </a:pPr>
            <a:r>
              <a:rPr lang="bg-BG" sz="2400" dirty="0" smtClean="0"/>
              <a:t>Това </a:t>
            </a:r>
            <a:r>
              <a:rPr lang="bg-BG" sz="2400" dirty="0"/>
              <a:t>тестване изисква </a:t>
            </a:r>
            <a:r>
              <a:rPr lang="bg-BG" sz="2400" dirty="0" smtClean="0"/>
              <a:t>всеки блок да </a:t>
            </a:r>
            <a:r>
              <a:rPr lang="bg-BG" sz="2400" dirty="0"/>
              <a:t>се тества самостоятелно.</a:t>
            </a:r>
          </a:p>
          <a:p>
            <a:pPr lvl="2">
              <a:spcBef>
                <a:spcPts val="0"/>
              </a:spcBef>
            </a:pPr>
            <a:r>
              <a:rPr lang="bg-BG" sz="2000" dirty="0"/>
              <a:t>Тестовете изолират </a:t>
            </a:r>
            <a:r>
              <a:rPr lang="bg-BG" sz="2000" dirty="0" smtClean="0"/>
              <a:t>част от </a:t>
            </a:r>
            <a:r>
              <a:rPr lang="bg-BG" sz="2000" dirty="0"/>
              <a:t>код и проверяват неговата коректност</a:t>
            </a:r>
            <a:r>
              <a:rPr lang="bg-BG" sz="2000" dirty="0" smtClean="0"/>
              <a:t>.</a:t>
            </a:r>
          </a:p>
          <a:p>
            <a:pPr lvl="2">
              <a:spcBef>
                <a:spcPts val="0"/>
              </a:spcBef>
            </a:pPr>
            <a:r>
              <a:rPr lang="bg-BG" sz="2000" dirty="0" smtClean="0"/>
              <a:t>Блокът може </a:t>
            </a:r>
            <a:r>
              <a:rPr lang="bg-BG" sz="2000" dirty="0"/>
              <a:t>да бъде индивидуална </a:t>
            </a:r>
            <a:r>
              <a:rPr lang="bg-BG" sz="2000" dirty="0" smtClean="0"/>
              <a:t>подпрограма, метод на клас, протокол на клас, ...</a:t>
            </a:r>
            <a:endParaRPr lang="bg-BG" sz="2000" dirty="0"/>
          </a:p>
        </p:txBody>
      </p:sp>
    </p:spTree>
    <p:extLst>
      <p:ext uri="{BB962C8B-B14F-4D97-AF65-F5344CB8AC3E}">
        <p14:creationId xmlns:p14="http://schemas.microsoft.com/office/powerpoint/2010/main" val="17622224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Тестване на блок</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800" dirty="0" smtClean="0"/>
              <a:t>Други характеристики</a:t>
            </a:r>
          </a:p>
          <a:p>
            <a:pPr lvl="1">
              <a:spcBef>
                <a:spcPts val="0"/>
              </a:spcBef>
            </a:pPr>
            <a:r>
              <a:rPr lang="bg-BG" sz="2400" dirty="0"/>
              <a:t>Най-често за генерация на тестовите случаи се използват техники за структурно покритие на кода</a:t>
            </a:r>
            <a:r>
              <a:rPr lang="bg-BG" sz="2400" dirty="0" smtClean="0"/>
              <a:t>.</a:t>
            </a:r>
            <a:endParaRPr lang="en-US" sz="2400" dirty="0" smtClean="0"/>
          </a:p>
          <a:p>
            <a:pPr lvl="2">
              <a:spcBef>
                <a:spcPts val="0"/>
              </a:spcBef>
            </a:pPr>
            <a:r>
              <a:rPr lang="bg-BG" sz="2000" dirty="0" smtClean="0"/>
              <a:t>Метод на бялата кутия</a:t>
            </a:r>
          </a:p>
          <a:p>
            <a:pPr lvl="2">
              <a:spcBef>
                <a:spcPts val="0"/>
              </a:spcBef>
            </a:pPr>
            <a:r>
              <a:rPr lang="bg-BG" sz="2000" dirty="0" smtClean="0"/>
              <a:t>Не се изисква завършване на кодирането на всички блокове за да се започне тестването.</a:t>
            </a:r>
            <a:endParaRPr lang="bg-BG" sz="2000" dirty="0"/>
          </a:p>
          <a:p>
            <a:pPr lvl="1">
              <a:spcBef>
                <a:spcPts val="0"/>
              </a:spcBef>
            </a:pPr>
            <a:r>
              <a:rPr lang="bg-BG" sz="2400" dirty="0" smtClean="0"/>
              <a:t>Обикновено </a:t>
            </a:r>
            <a:r>
              <a:rPr lang="bg-BG" sz="2400" dirty="0"/>
              <a:t>се изпълнява от разработчика</a:t>
            </a:r>
            <a:r>
              <a:rPr lang="bg-BG" sz="2400" dirty="0" smtClean="0"/>
              <a:t>.</a:t>
            </a:r>
          </a:p>
          <a:p>
            <a:pPr lvl="2">
              <a:spcBef>
                <a:spcPts val="0"/>
              </a:spcBef>
            </a:pPr>
            <a:r>
              <a:rPr lang="bg-BG" sz="2000" dirty="0" smtClean="0"/>
              <a:t>Може да се реализира както ръчно, така и автоматично.</a:t>
            </a:r>
            <a:endParaRPr lang="bg-BG" sz="2000" dirty="0"/>
          </a:p>
          <a:p>
            <a:pPr lvl="1">
              <a:spcBef>
                <a:spcPts val="0"/>
              </a:spcBef>
            </a:pPr>
            <a:r>
              <a:rPr lang="bg-BG" sz="2400" dirty="0"/>
              <a:t>Резултатите се </a:t>
            </a:r>
            <a:r>
              <a:rPr lang="bg-BG" sz="2400" dirty="0" err="1"/>
              <a:t>валидират</a:t>
            </a:r>
            <a:r>
              <a:rPr lang="bg-BG" sz="2400" dirty="0"/>
              <a:t> на основата на </a:t>
            </a:r>
            <a:r>
              <a:rPr lang="bg-BG" sz="2400" dirty="0" err="1"/>
              <a:t>траситуемостта</a:t>
            </a:r>
            <a:r>
              <a:rPr lang="bg-BG" sz="2400" dirty="0"/>
              <a:t> на изискванията.</a:t>
            </a:r>
          </a:p>
          <a:p>
            <a:pPr lvl="2">
              <a:spcBef>
                <a:spcPts val="0"/>
              </a:spcBef>
            </a:pPr>
            <a:r>
              <a:rPr lang="bg-BG" sz="2000" dirty="0" smtClean="0"/>
              <a:t>Сложността </a:t>
            </a:r>
            <a:r>
              <a:rPr lang="bg-BG" sz="2000" dirty="0"/>
              <a:t>варира силно в зависимост от типа на софтуера, използваните методи и помощни средства за тестване, както и от цялостната философия/подход към конкретното тестване. </a:t>
            </a:r>
          </a:p>
        </p:txBody>
      </p:sp>
    </p:spTree>
    <p:extLst>
      <p:ext uri="{BB962C8B-B14F-4D97-AF65-F5344CB8AC3E}">
        <p14:creationId xmlns:p14="http://schemas.microsoft.com/office/powerpoint/2010/main" val="1061411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Тестване на блок</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600" dirty="0" smtClean="0"/>
              <a:t>Защо се използва:</a:t>
            </a:r>
          </a:p>
          <a:p>
            <a:pPr lvl="1">
              <a:spcBef>
                <a:spcPts val="0"/>
              </a:spcBef>
            </a:pPr>
            <a:r>
              <a:rPr lang="bg-BG" sz="2200" dirty="0" smtClean="0"/>
              <a:t>Дефектите се откриват и коригират в началото на цикъла на разработка, т.е. спестяват се разходи.</a:t>
            </a:r>
          </a:p>
          <a:p>
            <a:pPr lvl="1">
              <a:spcBef>
                <a:spcPts val="0"/>
              </a:spcBef>
            </a:pPr>
            <a:r>
              <a:rPr lang="bg-BG" sz="2200" dirty="0" smtClean="0"/>
              <a:t>Позволява разработчиците по-добре да разберат кода, което води до възможност за по-бързи промени.</a:t>
            </a:r>
          </a:p>
          <a:p>
            <a:pPr lvl="2">
              <a:spcBef>
                <a:spcPts val="0"/>
              </a:spcBef>
            </a:pPr>
            <a:r>
              <a:rPr lang="bg-BG" sz="1900" dirty="0" smtClean="0"/>
              <a:t>Подпомага регресивното тестване.</a:t>
            </a:r>
          </a:p>
          <a:p>
            <a:pPr lvl="1">
              <a:spcBef>
                <a:spcPts val="0"/>
              </a:spcBef>
            </a:pPr>
            <a:r>
              <a:rPr lang="bg-BG" sz="2200" dirty="0" smtClean="0"/>
              <a:t>Добрата система от тестове често се използва като проектна документация.</a:t>
            </a:r>
          </a:p>
          <a:p>
            <a:pPr lvl="1">
              <a:spcBef>
                <a:spcPts val="0"/>
              </a:spcBef>
            </a:pPr>
            <a:r>
              <a:rPr lang="bg-BG" sz="2200" dirty="0" smtClean="0"/>
              <a:t>Генерираните тестове помагат повторна употреба на кода.</a:t>
            </a:r>
          </a:p>
          <a:p>
            <a:pPr lvl="2">
              <a:spcBef>
                <a:spcPts val="0"/>
              </a:spcBef>
            </a:pPr>
            <a:r>
              <a:rPr lang="bg-BG" sz="1900" dirty="0" smtClean="0"/>
              <a:t>Подпомага мигрирането на кода към нов проект.</a:t>
            </a:r>
          </a:p>
          <a:p>
            <a:pPr lvl="1">
              <a:spcBef>
                <a:spcPts val="0"/>
              </a:spcBef>
            </a:pPr>
            <a:r>
              <a:rPr lang="bg-BG" sz="2200" dirty="0" smtClean="0"/>
              <a:t>Преминаването към следващ етап </a:t>
            </a:r>
            <a:r>
              <a:rPr lang="bg-BG" sz="2200" dirty="0"/>
              <a:t>на </a:t>
            </a:r>
            <a:r>
              <a:rPr lang="bg-BG" sz="2200" dirty="0" smtClean="0"/>
              <a:t>разработка се извършва след отстраняване на дефекти</a:t>
            </a:r>
            <a:r>
              <a:rPr lang="bg-BG" sz="2200" dirty="0"/>
              <a:t>, идентифицирани по време на </a:t>
            </a:r>
            <a:r>
              <a:rPr lang="bg-BG" sz="2200" dirty="0" smtClean="0"/>
              <a:t>тестването.</a:t>
            </a:r>
            <a:endParaRPr lang="bg-BG" sz="2200" dirty="0"/>
          </a:p>
          <a:p>
            <a:pPr lvl="1">
              <a:spcBef>
                <a:spcPts val="0"/>
              </a:spcBef>
            </a:pPr>
            <a:endParaRPr lang="bg-BG" dirty="0" smtClean="0"/>
          </a:p>
        </p:txBody>
      </p:sp>
    </p:spTree>
    <p:extLst>
      <p:ext uri="{BB962C8B-B14F-4D97-AF65-F5344CB8AC3E}">
        <p14:creationId xmlns:p14="http://schemas.microsoft.com/office/powerpoint/2010/main" val="3147552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Тестване </a:t>
            </a:r>
            <a:r>
              <a:rPr lang="bg-BG" dirty="0"/>
              <a:t>на блок</a:t>
            </a:r>
            <a:endParaRPr lang="en-US" dirty="0"/>
          </a:p>
        </p:txBody>
      </p:sp>
      <p:sp>
        <p:nvSpPr>
          <p:cNvPr id="3" name="Content Placeholder 2"/>
          <p:cNvSpPr>
            <a:spLocks noGrp="1"/>
          </p:cNvSpPr>
          <p:nvPr>
            <p:ph idx="1"/>
          </p:nvPr>
        </p:nvSpPr>
        <p:spPr>
          <a:xfrm>
            <a:off x="827584" y="1700808"/>
            <a:ext cx="8136904" cy="4699992"/>
          </a:xfrm>
        </p:spPr>
        <p:txBody>
          <a:bodyPr/>
          <a:lstStyle/>
          <a:p>
            <a:pPr>
              <a:spcBef>
                <a:spcPts val="0"/>
              </a:spcBef>
            </a:pPr>
            <a:r>
              <a:rPr lang="bg-BG" sz="2800" dirty="0" smtClean="0"/>
              <a:t>Добри практики при тестването на ниво „блок“:</a:t>
            </a:r>
          </a:p>
          <a:p>
            <a:pPr lvl="1">
              <a:spcBef>
                <a:spcPts val="0"/>
              </a:spcBef>
            </a:pPr>
            <a:r>
              <a:rPr lang="bg-BG" sz="2400" dirty="0" smtClean="0"/>
              <a:t>Два и повече блока не се тестват наведнъж.</a:t>
            </a:r>
          </a:p>
          <a:p>
            <a:pPr lvl="1">
              <a:spcBef>
                <a:spcPts val="0"/>
              </a:spcBef>
            </a:pPr>
            <a:r>
              <a:rPr lang="bg-BG" sz="2400" dirty="0" smtClean="0"/>
              <a:t>Трябва да се прави често</a:t>
            </a:r>
          </a:p>
          <a:p>
            <a:pPr lvl="2">
              <a:spcBef>
                <a:spcPts val="0"/>
              </a:spcBef>
            </a:pPr>
            <a:r>
              <a:rPr lang="bg-BG" sz="2000" dirty="0" smtClean="0"/>
              <a:t>Колкото повече код се пише без тестване, толкова повече пътища трябва да проверите за грешки.</a:t>
            </a:r>
          </a:p>
          <a:p>
            <a:pPr lvl="1">
              <a:spcBef>
                <a:spcPts val="0"/>
              </a:spcBef>
            </a:pPr>
            <a:r>
              <a:rPr lang="bg-BG" sz="2400" dirty="0" smtClean="0"/>
              <a:t>Тестовите случаи трябва да бъдат независими.</a:t>
            </a:r>
          </a:p>
          <a:p>
            <a:pPr lvl="2">
              <a:spcBef>
                <a:spcPts val="0"/>
              </a:spcBef>
            </a:pPr>
            <a:r>
              <a:rPr lang="bg-BG" sz="2000" dirty="0" smtClean="0"/>
              <a:t>В случай на подобрения или промени в изискванията, тестовите случаи не трябва да се променят.</a:t>
            </a:r>
          </a:p>
          <a:p>
            <a:pPr lvl="1">
              <a:spcBef>
                <a:spcPts val="0"/>
              </a:spcBef>
            </a:pPr>
            <a:r>
              <a:rPr lang="bg-BG" sz="2400" dirty="0"/>
              <a:t>В случай на промяна в кода на някой </a:t>
            </a:r>
            <a:r>
              <a:rPr lang="bg-BG" sz="2400" dirty="0" smtClean="0"/>
              <a:t>блок, </a:t>
            </a:r>
            <a:r>
              <a:rPr lang="bg-BG" sz="2400" dirty="0"/>
              <a:t>трябва да се провери дали има подходящ тестов случай за този </a:t>
            </a:r>
            <a:r>
              <a:rPr lang="bg-BG" sz="2400" dirty="0" smtClean="0"/>
              <a:t>блок.</a:t>
            </a:r>
          </a:p>
          <a:p>
            <a:pPr lvl="1">
              <a:spcBef>
                <a:spcPts val="0"/>
              </a:spcBef>
            </a:pPr>
            <a:r>
              <a:rPr lang="bg-BG" sz="2400" dirty="0"/>
              <a:t>Промени в блоковете не трябва да се приемат преди блоковете да са минали успешно тестването</a:t>
            </a:r>
            <a:r>
              <a:rPr lang="bg-BG" sz="2400" dirty="0" smtClean="0"/>
              <a:t>.</a:t>
            </a:r>
            <a:endParaRPr lang="bg-BG" sz="2400" dirty="0"/>
          </a:p>
        </p:txBody>
      </p:sp>
    </p:spTree>
    <p:extLst>
      <p:ext uri="{BB962C8B-B14F-4D97-AF65-F5344CB8AC3E}">
        <p14:creationId xmlns:p14="http://schemas.microsoft.com/office/powerpoint/2010/main" val="2716419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Тестване на блок</a:t>
            </a:r>
            <a:endParaRPr lang="en-US" dirty="0"/>
          </a:p>
        </p:txBody>
      </p:sp>
      <p:sp>
        <p:nvSpPr>
          <p:cNvPr id="3" name="Content Placeholder 2"/>
          <p:cNvSpPr>
            <a:spLocks noGrp="1"/>
          </p:cNvSpPr>
          <p:nvPr>
            <p:ph idx="1"/>
          </p:nvPr>
        </p:nvSpPr>
        <p:spPr>
          <a:xfrm>
            <a:off x="827584" y="1700808"/>
            <a:ext cx="8064896" cy="4699992"/>
          </a:xfrm>
        </p:spPr>
        <p:txBody>
          <a:bodyPr/>
          <a:lstStyle/>
          <a:p>
            <a:pPr>
              <a:spcBef>
                <a:spcPts val="0"/>
              </a:spcBef>
            </a:pPr>
            <a:r>
              <a:rPr lang="bg-BG" sz="2800" dirty="0" smtClean="0"/>
              <a:t>Добри практики при тестването на ниво „блок“:</a:t>
            </a:r>
          </a:p>
          <a:p>
            <a:pPr lvl="1">
              <a:spcBef>
                <a:spcPts val="0"/>
              </a:spcBef>
            </a:pPr>
            <a:r>
              <a:rPr lang="bg-BG" sz="2400" dirty="0" smtClean="0"/>
              <a:t>Препоръчително е да се използва заедно с тестване на други нива.</a:t>
            </a:r>
          </a:p>
          <a:p>
            <a:pPr lvl="2">
              <a:spcBef>
                <a:spcPts val="0"/>
              </a:spcBef>
            </a:pPr>
            <a:r>
              <a:rPr lang="bg-BG" sz="2000" dirty="0" smtClean="0"/>
              <a:t>По своята същност това тестване е фокусирано върху един единствен блок, т.е. то не може да се използва за </a:t>
            </a:r>
            <a:r>
              <a:rPr lang="bg-BG" sz="2000" dirty="0" err="1" smtClean="0"/>
              <a:t>намиеане</a:t>
            </a:r>
            <a:r>
              <a:rPr lang="bg-BG" sz="2000" dirty="0" smtClean="0"/>
              <a:t> на грешки при интеграция или грешки на системно ниво.</a:t>
            </a:r>
          </a:p>
          <a:p>
            <a:pPr lvl="1">
              <a:spcBef>
                <a:spcPts val="0"/>
              </a:spcBef>
            </a:pPr>
            <a:r>
              <a:rPr lang="bg-BG" sz="2400" dirty="0" smtClean="0"/>
              <a:t>Никога не трябва да се вярва, че тест на ниво «блок» може да ‘</a:t>
            </a:r>
            <a:r>
              <a:rPr lang="bg-BG" sz="2400" dirty="0" err="1" smtClean="0"/>
              <a:t>излови’</a:t>
            </a:r>
            <a:r>
              <a:rPr lang="bg-BG" sz="2400" dirty="0" smtClean="0"/>
              <a:t> всички грешки в софтуера.</a:t>
            </a:r>
          </a:p>
          <a:p>
            <a:pPr lvl="2">
              <a:spcBef>
                <a:spcPts val="0"/>
              </a:spcBef>
            </a:pPr>
            <a:r>
              <a:rPr lang="bg-BG" sz="2000" dirty="0" smtClean="0"/>
              <a:t>Най-често е невъзможно да се оценят всички пътища на изпълнение дори и за най-тривиалните програми.</a:t>
            </a:r>
            <a:endParaRPr lang="bg-BG" sz="2000" dirty="0"/>
          </a:p>
        </p:txBody>
      </p:sp>
    </p:spTree>
    <p:extLst>
      <p:ext uri="{BB962C8B-B14F-4D97-AF65-F5344CB8AC3E}">
        <p14:creationId xmlns:p14="http://schemas.microsoft.com/office/powerpoint/2010/main" val="6158793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Тестване на блок</a:t>
            </a:r>
            <a:endParaRPr lang="en-US" dirty="0"/>
          </a:p>
        </p:txBody>
      </p:sp>
      <p:sp>
        <p:nvSpPr>
          <p:cNvPr id="3" name="Content Placeholder 2"/>
          <p:cNvSpPr>
            <a:spLocks noGrp="1"/>
          </p:cNvSpPr>
          <p:nvPr>
            <p:ph idx="1"/>
          </p:nvPr>
        </p:nvSpPr>
        <p:spPr>
          <a:xfrm>
            <a:off x="827584" y="1700808"/>
            <a:ext cx="7941766" cy="482858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a:t>Добри практики при тестването на ниво „блок“:</a:t>
            </a:r>
          </a:p>
          <a:p>
            <a:pPr lvl="1">
              <a:spcBef>
                <a:spcPts val="0"/>
              </a:spcBef>
            </a:pPr>
            <a:r>
              <a:rPr lang="bg-BG" sz="2400" dirty="0" smtClean="0"/>
              <a:t>При няколко готови блока е необходимо да се извърши „изолиране“ </a:t>
            </a:r>
            <a:r>
              <a:rPr lang="bg-BG" sz="2400" dirty="0"/>
              <a:t>на тествания </a:t>
            </a:r>
            <a:r>
              <a:rPr lang="bg-BG" sz="2400" dirty="0" smtClean="0"/>
              <a:t>блок.</a:t>
            </a:r>
            <a:endParaRPr lang="en-US" sz="2400" dirty="0"/>
          </a:p>
        </p:txBody>
      </p:sp>
      <p:pic>
        <p:nvPicPr>
          <p:cNvPr id="4" name="Picture 3"/>
          <p:cNvPicPr>
            <a:picLocks noChangeAspect="1"/>
          </p:cNvPicPr>
          <p:nvPr/>
        </p:nvPicPr>
        <p:blipFill>
          <a:blip r:embed="rId2"/>
          <a:stretch>
            <a:fillRect/>
          </a:stretch>
        </p:blipFill>
        <p:spPr>
          <a:xfrm>
            <a:off x="827584" y="3068960"/>
            <a:ext cx="3004608" cy="3558988"/>
          </a:xfrm>
          <a:prstGeom prst="rect">
            <a:avLst/>
          </a:prstGeom>
        </p:spPr>
      </p:pic>
      <p:pic>
        <p:nvPicPr>
          <p:cNvPr id="5" name="Picture 4"/>
          <p:cNvPicPr>
            <a:picLocks noChangeAspect="1"/>
          </p:cNvPicPr>
          <p:nvPr/>
        </p:nvPicPr>
        <p:blipFill>
          <a:blip r:embed="rId3"/>
          <a:stretch>
            <a:fillRect/>
          </a:stretch>
        </p:blipFill>
        <p:spPr>
          <a:xfrm>
            <a:off x="5219168" y="3140968"/>
            <a:ext cx="3004608" cy="3558988"/>
          </a:xfrm>
          <a:prstGeom prst="rect">
            <a:avLst/>
          </a:prstGeom>
        </p:spPr>
      </p:pic>
      <p:sp>
        <p:nvSpPr>
          <p:cNvPr id="6" name="Right Arrow 5"/>
          <p:cNvSpPr/>
          <p:nvPr/>
        </p:nvSpPr>
        <p:spPr bwMode="auto">
          <a:xfrm>
            <a:off x="4067944" y="4509120"/>
            <a:ext cx="1008112" cy="288032"/>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10763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altLang="en-US" dirty="0" smtClean="0">
                <a:effectLst/>
              </a:rPr>
              <a:t>Тестване на модул</a:t>
            </a:r>
          </a:p>
        </p:txBody>
      </p:sp>
      <p:sp>
        <p:nvSpPr>
          <p:cNvPr id="23555" name="Rectangle 3"/>
          <p:cNvSpPr>
            <a:spLocks noGrp="1" noChangeArrowheads="1"/>
          </p:cNvSpPr>
          <p:nvPr>
            <p:ph type="body" idx="1"/>
          </p:nvPr>
        </p:nvSpPr>
        <p:spPr>
          <a:xfrm>
            <a:off x="809625" y="1916113"/>
            <a:ext cx="7958138" cy="4613275"/>
          </a:xfrm>
          <a:extLst>
            <a:ext uri="{909E8E84-426E-40DD-AFC4-6F175D3DCCD1}">
              <a14:hiddenFill xmlns:a14="http://schemas.microsoft.com/office/drawing/2010/main">
                <a:solidFill>
                  <a:srgbClr val="FFFFFF"/>
                </a:solidFill>
              </a14:hiddenFill>
            </a:ext>
          </a:extLst>
        </p:spPr>
        <p:txBody>
          <a:bodyPr/>
          <a:lstStyle/>
          <a:p>
            <a:pPr>
              <a:spcBef>
                <a:spcPts val="0"/>
              </a:spcBef>
              <a:defRPr/>
            </a:pPr>
            <a:r>
              <a:rPr lang="bg-BG" altLang="en-US" sz="2600" dirty="0"/>
              <a:t>Тестването на модули </a:t>
            </a:r>
            <a:r>
              <a:rPr lang="bg-BG" altLang="en-US" sz="2600" dirty="0" smtClean="0"/>
              <a:t>(</a:t>
            </a:r>
            <a:r>
              <a:rPr lang="bg-BG" altLang="en-US" sz="2600" dirty="0" err="1" smtClean="0"/>
              <a:t>англ</a:t>
            </a:r>
            <a:r>
              <a:rPr lang="bg-BG" altLang="en-US" sz="2600" dirty="0" smtClean="0"/>
              <a:t>. </a:t>
            </a:r>
            <a:r>
              <a:rPr lang="en-US" altLang="en-US" sz="2600" dirty="0" smtClean="0"/>
              <a:t>Module Testing</a:t>
            </a:r>
            <a:r>
              <a:rPr lang="en-US" altLang="en-US" sz="2600" dirty="0"/>
              <a:t>)</a:t>
            </a:r>
            <a:r>
              <a:rPr lang="bg-BG" altLang="en-US" sz="2600" dirty="0"/>
              <a:t> </a:t>
            </a:r>
            <a:r>
              <a:rPr lang="bg-BG" altLang="en-US" sz="2600" dirty="0" smtClean="0"/>
              <a:t>много напомня тестването на блокове, но съществуват няколко съществени разлики:</a:t>
            </a:r>
          </a:p>
          <a:p>
            <a:pPr lvl="1">
              <a:spcBef>
                <a:spcPts val="0"/>
              </a:spcBef>
              <a:defRPr/>
            </a:pPr>
            <a:r>
              <a:rPr lang="bg-BG" altLang="en-US" sz="2200" dirty="0" smtClean="0"/>
              <a:t>Модулното тестване се извършва от тестерите, а не от разработчиците.</a:t>
            </a:r>
          </a:p>
          <a:p>
            <a:pPr lvl="2">
              <a:spcBef>
                <a:spcPts val="0"/>
              </a:spcBef>
              <a:defRPr/>
            </a:pPr>
            <a:r>
              <a:rPr lang="bg-BG" altLang="en-US" sz="1900" dirty="0" smtClean="0"/>
              <a:t>Дадената подсистема трябва да е завършена цялата.</a:t>
            </a:r>
          </a:p>
          <a:p>
            <a:pPr lvl="2">
              <a:spcBef>
                <a:spcPts val="0"/>
              </a:spcBef>
              <a:defRPr/>
            </a:pPr>
            <a:r>
              <a:rPr lang="bg-BG" altLang="en-US" sz="1900" dirty="0" smtClean="0"/>
              <a:t>Има се достъп до много повече код.</a:t>
            </a:r>
          </a:p>
          <a:p>
            <a:pPr lvl="1">
              <a:spcBef>
                <a:spcPts val="0"/>
              </a:spcBef>
              <a:defRPr/>
            </a:pPr>
            <a:r>
              <a:rPr lang="bg-BG" altLang="en-US" sz="2200" dirty="0"/>
              <a:t>Модулите могат да се тестват паралелно.</a:t>
            </a:r>
          </a:p>
          <a:p>
            <a:pPr lvl="2">
              <a:spcBef>
                <a:spcPts val="0"/>
              </a:spcBef>
              <a:defRPr/>
            </a:pPr>
            <a:r>
              <a:rPr lang="bg-BG" altLang="en-US" sz="1900" dirty="0" smtClean="0"/>
              <a:t>Анализът на логиката на модула позволява да се използват повече от една техника по метода на бялата кутия, т.е. оптимизира се броя на тестовите случаи - лесна </a:t>
            </a:r>
            <a:r>
              <a:rPr lang="bg-BG" altLang="en-US" sz="1900" dirty="0"/>
              <a:t>комбинация на </a:t>
            </a:r>
            <a:r>
              <a:rPr lang="bg-BG" altLang="en-US" sz="1900" dirty="0" smtClean="0"/>
              <a:t>техники.</a:t>
            </a:r>
            <a:endParaRPr lang="bg-BG" altLang="en-US" sz="1900" dirty="0"/>
          </a:p>
          <a:p>
            <a:pPr lvl="1">
              <a:spcBef>
                <a:spcPts val="0"/>
              </a:spcBef>
              <a:defRPr/>
            </a:pPr>
            <a:r>
              <a:rPr lang="bg-BG" altLang="en-US" sz="2200" dirty="0"/>
              <a:t>Лесна локализация на грешката при използване на резултатите от тестването.</a:t>
            </a:r>
          </a:p>
        </p:txBody>
      </p:sp>
    </p:spTree>
    <p:extLst>
      <p:ext uri="{BB962C8B-B14F-4D97-AF65-F5344CB8AC3E}">
        <p14:creationId xmlns:p14="http://schemas.microsoft.com/office/powerpoint/2010/main" val="35833079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Rot="1" noChangeArrowheads="1"/>
          </p:cNvSpPr>
          <p:nvPr>
            <p:ph type="title"/>
          </p:nvPr>
        </p:nvSpPr>
        <p:spPr/>
        <p:txBody>
          <a:bodyPr/>
          <a:lstStyle/>
          <a:p>
            <a:pPr eaLnBrk="1" hangingPunct="1">
              <a:defRPr/>
            </a:pPr>
            <a:r>
              <a:rPr lang="bg-BG" dirty="0" smtClean="0"/>
              <a:t>Тестване на компоненти</a:t>
            </a:r>
            <a:endParaRPr lang="en-US" dirty="0" smtClean="0"/>
          </a:p>
        </p:txBody>
      </p:sp>
      <p:sp>
        <p:nvSpPr>
          <p:cNvPr id="899075" name="Rectangle 3"/>
          <p:cNvSpPr>
            <a:spLocks noGrp="1" noChangeArrowheads="1"/>
          </p:cNvSpPr>
          <p:nvPr>
            <p:ph type="body" idx="1"/>
          </p:nvPr>
        </p:nvSpPr>
        <p:spPr>
          <a:xfrm>
            <a:off x="811213" y="1778000"/>
            <a:ext cx="8153275" cy="4751388"/>
          </a:xfrm>
        </p:spPr>
        <p:txBody>
          <a:bodyPr/>
          <a:lstStyle/>
          <a:p>
            <a:pPr eaLnBrk="1" hangingPunct="1">
              <a:spcBef>
                <a:spcPts val="0"/>
              </a:spcBef>
              <a:defRPr/>
            </a:pPr>
            <a:r>
              <a:rPr lang="bg-BG" sz="2600" dirty="0" smtClean="0"/>
              <a:t>Дефиниция</a:t>
            </a:r>
          </a:p>
          <a:p>
            <a:pPr lvl="1" eaLnBrk="1" hangingPunct="1">
              <a:spcBef>
                <a:spcPts val="0"/>
              </a:spcBef>
              <a:defRPr/>
            </a:pPr>
            <a:r>
              <a:rPr lang="bg-BG" sz="2200" dirty="0" smtClean="0"/>
              <a:t>Тестването на компонент се определя като тип тестване на софтуер, при което тестването се извършва на ниво структурен елемент «компонент» като всеки отделен компонент се тества най-често поотделно, т.е. без интегриране с други компоненти. </a:t>
            </a:r>
          </a:p>
          <a:p>
            <a:pPr lvl="2" eaLnBrk="1" hangingPunct="1">
              <a:spcBef>
                <a:spcPts val="0"/>
              </a:spcBef>
              <a:defRPr/>
            </a:pPr>
            <a:r>
              <a:rPr lang="bg-BG" sz="1900" dirty="0" err="1" smtClean="0"/>
              <a:t>Англ</a:t>
            </a:r>
            <a:r>
              <a:rPr lang="bg-BG" sz="1900" dirty="0" smtClean="0"/>
              <a:t>. </a:t>
            </a:r>
            <a:r>
              <a:rPr lang="bg-BG" sz="1900" dirty="0" err="1" smtClean="0"/>
              <a:t>Component</a:t>
            </a:r>
            <a:r>
              <a:rPr lang="bg-BG" sz="1900" dirty="0" smtClean="0"/>
              <a:t> </a:t>
            </a:r>
            <a:r>
              <a:rPr lang="bg-BG" sz="1900" dirty="0" err="1" smtClean="0"/>
              <a:t>Testing</a:t>
            </a:r>
            <a:endParaRPr lang="bg-BG" sz="1900" dirty="0" smtClean="0"/>
          </a:p>
          <a:p>
            <a:pPr marL="342900" lvl="1" eaLnBrk="1" hangingPunct="1">
              <a:spcBef>
                <a:spcPts val="0"/>
              </a:spcBef>
              <a:buFont typeface="Wingdings" pitchFamily="2" charset="2"/>
              <a:buChar char="Ä"/>
              <a:defRPr/>
            </a:pPr>
            <a:r>
              <a:rPr lang="bg-BG" sz="2600" dirty="0"/>
              <a:t>Съществува различно възприемане на дефиницията на това ниво на тестване:</a:t>
            </a:r>
          </a:p>
          <a:p>
            <a:pPr lvl="1" eaLnBrk="1" hangingPunct="1">
              <a:spcBef>
                <a:spcPts val="0"/>
              </a:spcBef>
              <a:defRPr/>
            </a:pPr>
            <a:r>
              <a:rPr lang="bg-BG" sz="2300" dirty="0"/>
              <a:t>Варира за различните предметни области</a:t>
            </a:r>
          </a:p>
          <a:p>
            <a:pPr lvl="1" eaLnBrk="1" hangingPunct="1">
              <a:spcBef>
                <a:spcPts val="0"/>
              </a:spcBef>
              <a:defRPr/>
            </a:pPr>
            <a:r>
              <a:rPr lang="bg-BG" sz="2300" dirty="0"/>
              <a:t>Варира за различните организация, разработващи софтуер.</a:t>
            </a:r>
          </a:p>
          <a:p>
            <a:pPr lvl="1" eaLnBrk="1" hangingPunct="1">
              <a:spcBef>
                <a:spcPts val="0"/>
              </a:spcBef>
              <a:defRPr/>
            </a:pPr>
            <a:r>
              <a:rPr lang="bg-BG" sz="2300" dirty="0"/>
              <a:t>Влияе се от избраният модел на разработка на софтуера.</a:t>
            </a:r>
          </a:p>
          <a:p>
            <a:pPr lvl="1" eaLnBrk="1" hangingPunct="1">
              <a:spcBef>
                <a:spcPts val="0"/>
              </a:spcBef>
              <a:defRPr/>
            </a:pPr>
            <a:r>
              <a:rPr lang="bg-BG" sz="2300" dirty="0"/>
              <a:t>Влияе се сложност на тествания софтуер на ниво «блок» </a:t>
            </a:r>
          </a:p>
        </p:txBody>
      </p:sp>
    </p:spTree>
    <p:extLst>
      <p:ext uri="{BB962C8B-B14F-4D97-AF65-F5344CB8AC3E}">
        <p14:creationId xmlns:p14="http://schemas.microsoft.com/office/powerpoint/2010/main" val="2930777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Rot="1" noChangeArrowheads="1"/>
          </p:cNvSpPr>
          <p:nvPr>
            <p:ph type="title"/>
          </p:nvPr>
        </p:nvSpPr>
        <p:spPr/>
        <p:txBody>
          <a:bodyPr/>
          <a:lstStyle/>
          <a:p>
            <a:pPr eaLnBrk="1" hangingPunct="1">
              <a:defRPr/>
            </a:pPr>
            <a:r>
              <a:rPr lang="bg-BG" dirty="0" smtClean="0"/>
              <a:t>Тестване на компоненти</a:t>
            </a:r>
            <a:endParaRPr lang="en-US" dirty="0" smtClean="0"/>
          </a:p>
        </p:txBody>
      </p:sp>
      <p:sp>
        <p:nvSpPr>
          <p:cNvPr id="899075" name="Rectangle 3"/>
          <p:cNvSpPr>
            <a:spLocks noGrp="1" noChangeArrowheads="1"/>
          </p:cNvSpPr>
          <p:nvPr>
            <p:ph type="body" idx="1"/>
          </p:nvPr>
        </p:nvSpPr>
        <p:spPr/>
        <p:txBody>
          <a:bodyPr/>
          <a:lstStyle/>
          <a:p>
            <a:pPr eaLnBrk="1" hangingPunct="1">
              <a:spcBef>
                <a:spcPts val="0"/>
              </a:spcBef>
              <a:defRPr/>
            </a:pPr>
            <a:r>
              <a:rPr lang="bg-BG" sz="2600" dirty="0"/>
              <a:t>Основни характеристики</a:t>
            </a:r>
          </a:p>
          <a:p>
            <a:pPr lvl="1" eaLnBrk="1" hangingPunct="1">
              <a:spcBef>
                <a:spcPts val="0"/>
              </a:spcBef>
              <a:defRPr/>
            </a:pPr>
            <a:r>
              <a:rPr lang="bg-BG" sz="2200" dirty="0"/>
              <a:t>Това е техника на тестване, подобна на тестването на блокове, но с по-високо ниво на интеграция</a:t>
            </a:r>
          </a:p>
          <a:p>
            <a:pPr lvl="2" eaLnBrk="1" hangingPunct="1">
              <a:spcBef>
                <a:spcPts val="0"/>
              </a:spcBef>
              <a:defRPr/>
            </a:pPr>
            <a:r>
              <a:rPr lang="bg-BG" sz="1900" dirty="0"/>
              <a:t>Тестването се извършва в контекста на приложението, а не просто директно тестване на конкретен метод. </a:t>
            </a:r>
          </a:p>
          <a:p>
            <a:pPr lvl="1" eaLnBrk="1" hangingPunct="1">
              <a:spcBef>
                <a:spcPts val="0"/>
              </a:spcBef>
              <a:defRPr/>
            </a:pPr>
            <a:r>
              <a:rPr lang="bg-BG" sz="2200" dirty="0"/>
              <a:t>Може да се извърши както от разработчиците, така и от тестери</a:t>
            </a:r>
            <a:r>
              <a:rPr lang="bg-BG" sz="2200" dirty="0" smtClean="0"/>
              <a:t>.</a:t>
            </a:r>
          </a:p>
          <a:p>
            <a:pPr lvl="1" eaLnBrk="1" hangingPunct="1">
              <a:spcBef>
                <a:spcPts val="0"/>
              </a:spcBef>
              <a:defRPr/>
            </a:pPr>
            <a:r>
              <a:rPr lang="bg-BG" sz="2400" dirty="0" smtClean="0"/>
              <a:t>Техниките на извършване силно зависят </a:t>
            </a:r>
            <a:r>
              <a:rPr lang="bg-BG" sz="2400" dirty="0"/>
              <a:t>от това дали има или няма изолация на тествания компонент от останалата част на софтуера</a:t>
            </a:r>
            <a:r>
              <a:rPr lang="bg-BG" sz="2400" dirty="0" smtClean="0"/>
              <a:t>.</a:t>
            </a:r>
          </a:p>
          <a:p>
            <a:pPr lvl="2" eaLnBrk="1" hangingPunct="1">
              <a:spcBef>
                <a:spcPts val="0"/>
              </a:spcBef>
              <a:defRPr/>
            </a:pPr>
            <a:r>
              <a:rPr lang="bg-BG" sz="2000" dirty="0" err="1" smtClean="0"/>
              <a:t>Англ</a:t>
            </a:r>
            <a:r>
              <a:rPr lang="bg-BG" sz="2000" dirty="0" smtClean="0"/>
              <a:t>. </a:t>
            </a:r>
            <a:r>
              <a:rPr lang="en-US" sz="2000" dirty="0"/>
              <a:t>Component testing in </a:t>
            </a:r>
            <a:r>
              <a:rPr lang="en-US" sz="2000" dirty="0" smtClean="0"/>
              <a:t>small</a:t>
            </a:r>
            <a:r>
              <a:rPr lang="bg-BG" sz="2000" dirty="0" smtClean="0"/>
              <a:t> -&gt; тестване с изолирани компоненти</a:t>
            </a:r>
          </a:p>
          <a:p>
            <a:pPr lvl="2" eaLnBrk="1" hangingPunct="1">
              <a:spcBef>
                <a:spcPts val="0"/>
              </a:spcBef>
              <a:defRPr/>
            </a:pPr>
            <a:r>
              <a:rPr lang="bg-BG" sz="2000" dirty="0" err="1" smtClean="0"/>
              <a:t>Англ</a:t>
            </a:r>
            <a:r>
              <a:rPr lang="bg-BG" sz="2000" dirty="0" smtClean="0"/>
              <a:t>. </a:t>
            </a:r>
            <a:r>
              <a:rPr lang="en-US" sz="2000" dirty="0"/>
              <a:t>Component testing in </a:t>
            </a:r>
            <a:r>
              <a:rPr lang="en-US" sz="2000" dirty="0" smtClean="0"/>
              <a:t>large</a:t>
            </a:r>
            <a:r>
              <a:rPr lang="bg-BG" sz="2000" dirty="0" smtClean="0"/>
              <a:t> -&gt; тестване без изолиране</a:t>
            </a:r>
            <a:endParaRPr lang="bg-BG" sz="2000" dirty="0"/>
          </a:p>
          <a:p>
            <a:pPr lvl="1" eaLnBrk="1" hangingPunct="1">
              <a:spcBef>
                <a:spcPts val="0"/>
              </a:spcBef>
              <a:defRPr/>
            </a:pPr>
            <a:endParaRPr lang="bg-BG" sz="2200" dirty="0"/>
          </a:p>
        </p:txBody>
      </p:sp>
    </p:spTree>
    <p:extLst>
      <p:ext uri="{BB962C8B-B14F-4D97-AF65-F5344CB8AC3E}">
        <p14:creationId xmlns:p14="http://schemas.microsoft.com/office/powerpoint/2010/main" val="567485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Интеграционно тестване</a:t>
            </a:r>
            <a:endParaRPr lang="en-US" dirty="0"/>
          </a:p>
        </p:txBody>
      </p:sp>
      <p:sp>
        <p:nvSpPr>
          <p:cNvPr id="3" name="Content Placeholder 2"/>
          <p:cNvSpPr>
            <a:spLocks noGrp="1"/>
          </p:cNvSpPr>
          <p:nvPr>
            <p:ph idx="1"/>
          </p:nvPr>
        </p:nvSpPr>
        <p:spPr/>
        <p:txBody>
          <a:bodyPr/>
          <a:lstStyle/>
          <a:p>
            <a:pPr>
              <a:spcBef>
                <a:spcPts val="0"/>
              </a:spcBef>
            </a:pPr>
            <a:r>
              <a:rPr lang="bg-BG" sz="2600" dirty="0" smtClean="0"/>
              <a:t>Дефиниция</a:t>
            </a:r>
          </a:p>
          <a:p>
            <a:pPr lvl="1">
              <a:spcBef>
                <a:spcPts val="0"/>
              </a:spcBef>
            </a:pPr>
            <a:r>
              <a:rPr lang="bg-BG" sz="2200" dirty="0" smtClean="0"/>
              <a:t>Интеграционното тестване се дефинира като категория на тестване, при което софтуерните модули са интегрирани логически и се тестват като една обща група.</a:t>
            </a:r>
          </a:p>
          <a:p>
            <a:pPr lvl="1">
              <a:spcBef>
                <a:spcPts val="0"/>
              </a:spcBef>
            </a:pPr>
            <a:r>
              <a:rPr lang="bg-BG" sz="2200" dirty="0" err="1" smtClean="0"/>
              <a:t>Англ</a:t>
            </a:r>
            <a:r>
              <a:rPr lang="bg-BG" sz="2200" dirty="0" smtClean="0"/>
              <a:t>. </a:t>
            </a:r>
            <a:r>
              <a:rPr lang="bg-BG" sz="2200" dirty="0" err="1" smtClean="0"/>
              <a:t>Integration</a:t>
            </a:r>
            <a:r>
              <a:rPr lang="bg-BG" sz="2200" dirty="0" smtClean="0"/>
              <a:t> </a:t>
            </a:r>
            <a:r>
              <a:rPr lang="bg-BG" sz="2200" dirty="0" err="1" smtClean="0"/>
              <a:t>Testing</a:t>
            </a:r>
            <a:endParaRPr lang="bg-BG" sz="2200" dirty="0" smtClean="0"/>
          </a:p>
          <a:p>
            <a:pPr>
              <a:spcBef>
                <a:spcPts val="0"/>
              </a:spcBef>
            </a:pPr>
            <a:r>
              <a:rPr lang="bg-BG" sz="2600" dirty="0" smtClean="0"/>
              <a:t>Тестовият случай за интеграция се различава от тестови случаи при блоковото и модулното тестване по смисъла</a:t>
            </a:r>
            <a:r>
              <a:rPr lang="en-US" sz="2600" dirty="0" smtClean="0"/>
              <a:t> </a:t>
            </a:r>
            <a:r>
              <a:rPr lang="bg-BG" sz="2600" dirty="0" smtClean="0"/>
              <a:t>си</a:t>
            </a:r>
          </a:p>
          <a:p>
            <a:pPr lvl="1">
              <a:spcBef>
                <a:spcPts val="0"/>
              </a:spcBef>
            </a:pPr>
            <a:r>
              <a:rPr lang="bg-BG" sz="2200" dirty="0" smtClean="0"/>
              <a:t>Фокусът е главно върху интерфейсите и потока от данни / информация между модулите. </a:t>
            </a:r>
          </a:p>
          <a:p>
            <a:pPr marL="342900" lvl="1" indent="-342900">
              <a:spcBef>
                <a:spcPts val="0"/>
              </a:spcBef>
              <a:buFont typeface="Wingdings" pitchFamily="2" charset="2"/>
              <a:buChar char="Ä"/>
            </a:pPr>
            <a:r>
              <a:rPr lang="bg-BG" sz="2600" dirty="0">
                <a:ea typeface="+mn-ea"/>
                <a:cs typeface="+mn-cs"/>
              </a:rPr>
              <a:t>Реализира се чрез два подхода: </a:t>
            </a:r>
            <a:endParaRPr lang="bg-BG" sz="2600" dirty="0" smtClean="0">
              <a:ea typeface="+mn-ea"/>
              <a:cs typeface="+mn-cs"/>
            </a:endParaRPr>
          </a:p>
          <a:p>
            <a:pPr marL="800100" lvl="2">
              <a:spcBef>
                <a:spcPts val="0"/>
              </a:spcBef>
              <a:buFont typeface="Wingdings" pitchFamily="2" charset="2"/>
              <a:buChar char="Ä"/>
            </a:pPr>
            <a:r>
              <a:rPr lang="bg-BG" sz="2200" dirty="0" smtClean="0">
                <a:ea typeface="+mn-ea"/>
                <a:cs typeface="+mn-cs"/>
              </a:rPr>
              <a:t>Подход </a:t>
            </a:r>
            <a:r>
              <a:rPr lang="bg-BG" sz="2200" dirty="0">
                <a:ea typeface="+mn-ea"/>
                <a:cs typeface="+mn-cs"/>
              </a:rPr>
              <a:t>на </a:t>
            </a:r>
            <a:r>
              <a:rPr lang="bg-BG" sz="2200" dirty="0" smtClean="0">
                <a:ea typeface="+mn-ea"/>
                <a:cs typeface="+mn-cs"/>
              </a:rPr>
              <a:t>„Големия взрив“ (</a:t>
            </a:r>
            <a:r>
              <a:rPr lang="bg-BG" sz="2200" dirty="0" err="1" smtClean="0">
                <a:ea typeface="+mn-ea"/>
                <a:cs typeface="+mn-cs"/>
              </a:rPr>
              <a:t>Англ</a:t>
            </a:r>
            <a:r>
              <a:rPr lang="bg-BG" sz="2200" dirty="0">
                <a:ea typeface="+mn-ea"/>
                <a:cs typeface="+mn-cs"/>
              </a:rPr>
              <a:t>. Big </a:t>
            </a:r>
            <a:r>
              <a:rPr lang="bg-BG" sz="2200" dirty="0" err="1">
                <a:ea typeface="+mn-ea"/>
                <a:cs typeface="+mn-cs"/>
              </a:rPr>
              <a:t>Bang</a:t>
            </a:r>
            <a:r>
              <a:rPr lang="bg-BG" sz="2200" dirty="0">
                <a:ea typeface="+mn-ea"/>
                <a:cs typeface="+mn-cs"/>
              </a:rPr>
              <a:t> </a:t>
            </a:r>
            <a:r>
              <a:rPr lang="bg-BG" sz="2200" dirty="0" err="1" smtClean="0">
                <a:ea typeface="+mn-ea"/>
                <a:cs typeface="+mn-cs"/>
              </a:rPr>
              <a:t>Approach</a:t>
            </a:r>
            <a:r>
              <a:rPr lang="bg-BG" sz="2200" dirty="0" smtClean="0">
                <a:ea typeface="+mn-ea"/>
                <a:cs typeface="+mn-cs"/>
              </a:rPr>
              <a:t>) </a:t>
            </a:r>
          </a:p>
          <a:p>
            <a:pPr marL="800100" lvl="2">
              <a:spcBef>
                <a:spcPts val="0"/>
              </a:spcBef>
              <a:buFont typeface="Wingdings" pitchFamily="2" charset="2"/>
              <a:buChar char="Ä"/>
            </a:pPr>
            <a:r>
              <a:rPr lang="bg-BG" sz="2200" dirty="0" smtClean="0">
                <a:ea typeface="+mn-ea"/>
                <a:cs typeface="+mn-cs"/>
              </a:rPr>
              <a:t>Инкрементален </a:t>
            </a:r>
            <a:r>
              <a:rPr lang="bg-BG" sz="2200" dirty="0">
                <a:ea typeface="+mn-ea"/>
                <a:cs typeface="+mn-cs"/>
              </a:rPr>
              <a:t>подход </a:t>
            </a:r>
            <a:r>
              <a:rPr lang="bg-BG" sz="2200" dirty="0" smtClean="0">
                <a:ea typeface="+mn-ea"/>
                <a:cs typeface="+mn-cs"/>
              </a:rPr>
              <a:t>(</a:t>
            </a:r>
            <a:r>
              <a:rPr lang="bg-BG" sz="2200" dirty="0" err="1" smtClean="0">
                <a:ea typeface="+mn-ea"/>
                <a:cs typeface="+mn-cs"/>
              </a:rPr>
              <a:t>англ</a:t>
            </a:r>
            <a:r>
              <a:rPr lang="bg-BG" sz="2200" dirty="0" smtClean="0">
                <a:ea typeface="+mn-ea"/>
                <a:cs typeface="+mn-cs"/>
              </a:rPr>
              <a:t>. </a:t>
            </a:r>
            <a:r>
              <a:rPr lang="en-US" sz="2200" dirty="0" smtClean="0">
                <a:ea typeface="+mn-ea"/>
                <a:cs typeface="+mn-cs"/>
              </a:rPr>
              <a:t>Incremental Approach)</a:t>
            </a:r>
            <a:endParaRPr lang="bg-BG" sz="2200" dirty="0">
              <a:ea typeface="+mn-ea"/>
              <a:cs typeface="+mn-cs"/>
            </a:endParaRPr>
          </a:p>
          <a:p>
            <a:pPr lvl="1">
              <a:spcBef>
                <a:spcPts val="0"/>
              </a:spcBef>
            </a:pPr>
            <a:endParaRPr lang="bg-BG" sz="2400" dirty="0" smtClean="0"/>
          </a:p>
        </p:txBody>
      </p:sp>
    </p:spTree>
    <p:extLst>
      <p:ext uri="{BB962C8B-B14F-4D97-AF65-F5344CB8AC3E}">
        <p14:creationId xmlns:p14="http://schemas.microsoft.com/office/powerpoint/2010/main" val="25048172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Интеграционно тестване</a:t>
            </a:r>
            <a:endParaRPr lang="en-US" dirty="0"/>
          </a:p>
        </p:txBody>
      </p:sp>
      <p:sp>
        <p:nvSpPr>
          <p:cNvPr id="3" name="Content Placeholder 2"/>
          <p:cNvSpPr>
            <a:spLocks noGrp="1"/>
          </p:cNvSpPr>
          <p:nvPr>
            <p:ph idx="1"/>
          </p:nvPr>
        </p:nvSpPr>
        <p:spPr/>
        <p:txBody>
          <a:bodyPr/>
          <a:lstStyle/>
          <a:p>
            <a:pPr>
              <a:spcBef>
                <a:spcPts val="0"/>
              </a:spcBef>
            </a:pPr>
            <a:r>
              <a:rPr lang="bg-BG" sz="2600" dirty="0" smtClean="0"/>
              <a:t>Цел на тестването</a:t>
            </a:r>
          </a:p>
          <a:p>
            <a:pPr lvl="1">
              <a:spcBef>
                <a:spcPts val="0"/>
              </a:spcBef>
            </a:pPr>
            <a:r>
              <a:rPr lang="bg-BG" sz="2200" dirty="0" smtClean="0"/>
              <a:t>Целта на това ниво на тестване е да се определят дефекти във взаимодействието между тези софтуерни модули, от които е изградена една система, когато те са интегрирани</a:t>
            </a:r>
          </a:p>
          <a:p>
            <a:pPr lvl="2">
              <a:spcBef>
                <a:spcPts val="0"/>
              </a:spcBef>
            </a:pPr>
            <a:r>
              <a:rPr lang="bg-BG" sz="1900" dirty="0" smtClean="0"/>
              <a:t>Типичният софтуерен проект се състои от множество софтуерни модули, кодирани от различни програмисти. </a:t>
            </a:r>
          </a:p>
          <a:p>
            <a:pPr lvl="1">
              <a:spcBef>
                <a:spcPts val="0"/>
              </a:spcBef>
            </a:pPr>
            <a:r>
              <a:rPr lang="bg-BG" sz="2200" dirty="0" smtClean="0"/>
              <a:t>Дава се приоритет на интегриращите връзки, а не на единичните функции/блокове/модули, които вече са били тествани.</a:t>
            </a:r>
          </a:p>
          <a:p>
            <a:pPr lvl="2">
              <a:spcBef>
                <a:spcPts val="0"/>
              </a:spcBef>
            </a:pPr>
            <a:r>
              <a:rPr lang="bg-BG" sz="1900" dirty="0"/>
              <a:t>Интерфейсите на софтуерните модули с базата данни могат да бъдат погрешни</a:t>
            </a:r>
          </a:p>
          <a:p>
            <a:pPr lvl="2">
              <a:spcBef>
                <a:spcPts val="0"/>
              </a:spcBef>
            </a:pPr>
            <a:r>
              <a:rPr lang="bg-BG" sz="1900" dirty="0"/>
              <a:t>Външни хардуерни интерфейси, ако има такива, могат да бъдат погрешни</a:t>
            </a:r>
          </a:p>
          <a:p>
            <a:pPr lvl="2">
              <a:spcBef>
                <a:spcPts val="0"/>
              </a:spcBef>
            </a:pPr>
            <a:r>
              <a:rPr lang="bg-BG" sz="1900" dirty="0"/>
              <a:t>Неадекватното боравене с изключения може да причини проблеми</a:t>
            </a:r>
            <a:r>
              <a:rPr lang="bg-BG" sz="1900" dirty="0" smtClean="0"/>
              <a:t>.</a:t>
            </a:r>
            <a:endParaRPr lang="bg-BG" sz="1900" dirty="0"/>
          </a:p>
        </p:txBody>
      </p:sp>
    </p:spTree>
    <p:extLst>
      <p:ext uri="{BB962C8B-B14F-4D97-AF65-F5344CB8AC3E}">
        <p14:creationId xmlns:p14="http://schemas.microsoft.com/office/powerpoint/2010/main" val="36166702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Подход на „Големия взрив“</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Това е подход, подходящ за малки системи и то когато е необходимо да се провери наведнъж интеграцията</a:t>
            </a:r>
          </a:p>
          <a:p>
            <a:pPr lvl="1">
              <a:spcBef>
                <a:spcPts val="0"/>
              </a:spcBef>
            </a:pPr>
            <a:r>
              <a:rPr lang="bg-BG" sz="2400" dirty="0" smtClean="0"/>
              <a:t>Интегрирането се започва след завършване на </a:t>
            </a:r>
            <a:r>
              <a:rPr lang="bg-BG" sz="2400" dirty="0" smtClean="0">
                <a:effectLst>
                  <a:outerShdw blurRad="38100" dist="38100" dir="2700000" algn="tl">
                    <a:srgbClr val="000000">
                      <a:alpha val="43137"/>
                    </a:srgbClr>
                  </a:outerShdw>
                </a:effectLst>
              </a:rPr>
              <a:t>всички </a:t>
            </a:r>
            <a:r>
              <a:rPr lang="bg-BG" sz="2400" dirty="0" smtClean="0"/>
              <a:t>модули. </a:t>
            </a:r>
          </a:p>
          <a:p>
            <a:pPr lvl="2">
              <a:spcBef>
                <a:spcPts val="0"/>
              </a:spcBef>
            </a:pPr>
            <a:r>
              <a:rPr lang="bg-BG" sz="2000" dirty="0" smtClean="0"/>
              <a:t>След изпълнението на тестването се знае дали всички интегрирани модули (като едно цяло) работят или не коректно.</a:t>
            </a:r>
          </a:p>
          <a:p>
            <a:pPr lvl="1">
              <a:spcBef>
                <a:spcPts val="0"/>
              </a:spcBef>
            </a:pPr>
            <a:r>
              <a:rPr lang="bg-BG" sz="2400" dirty="0" smtClean="0"/>
              <a:t>При този подход е трудно да се знае базовата причина за дефекта поради интегрирането на всичко наведнъж.</a:t>
            </a:r>
          </a:p>
          <a:p>
            <a:pPr lvl="2">
              <a:spcBef>
                <a:spcPts val="0"/>
              </a:spcBef>
            </a:pPr>
            <a:r>
              <a:rPr lang="bg-BG" sz="2000" dirty="0" smtClean="0"/>
              <a:t>Трудно се проверява кой е причинителят на проблема.</a:t>
            </a:r>
          </a:p>
          <a:p>
            <a:pPr lvl="2">
              <a:spcBef>
                <a:spcPts val="0"/>
              </a:spcBef>
            </a:pPr>
            <a:r>
              <a:rPr lang="bg-BG" sz="2000" dirty="0" smtClean="0"/>
              <a:t>Също така, ще има голяма вероятност за поява на критичните дефекти.</a:t>
            </a:r>
          </a:p>
        </p:txBody>
      </p:sp>
    </p:spTree>
    <p:extLst>
      <p:ext uri="{BB962C8B-B14F-4D97-AF65-F5344CB8AC3E}">
        <p14:creationId xmlns:p14="http://schemas.microsoft.com/office/powerpoint/2010/main" val="917647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Инкрементален подход</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Този подход е в пълен контраст с подхода </a:t>
            </a:r>
            <a:r>
              <a:rPr lang="bg-BG" sz="2800" dirty="0"/>
              <a:t>на </a:t>
            </a:r>
            <a:r>
              <a:rPr lang="bg-BG" sz="2800" dirty="0" smtClean="0"/>
              <a:t>„Големия взрив“. </a:t>
            </a:r>
            <a:endParaRPr lang="bg-BG" sz="2800" dirty="0"/>
          </a:p>
          <a:p>
            <a:pPr lvl="1">
              <a:spcBef>
                <a:spcPts val="0"/>
              </a:spcBef>
            </a:pPr>
            <a:r>
              <a:rPr lang="bg-BG" sz="2400" dirty="0" smtClean="0"/>
              <a:t>Първо се тестват </a:t>
            </a:r>
            <a:r>
              <a:rPr lang="bg-BG" sz="2400" dirty="0"/>
              <a:t>всеки модул </a:t>
            </a:r>
            <a:r>
              <a:rPr lang="bg-BG" sz="2400" dirty="0" smtClean="0"/>
              <a:t>поотделно.</a:t>
            </a:r>
          </a:p>
          <a:p>
            <a:pPr lvl="1">
              <a:spcBef>
                <a:spcPts val="0"/>
              </a:spcBef>
            </a:pPr>
            <a:r>
              <a:rPr lang="bg-BG" sz="2400" dirty="0" smtClean="0"/>
              <a:t>След това се продължавате с добавяне </a:t>
            </a:r>
            <a:r>
              <a:rPr lang="bg-BG" sz="2400" dirty="0"/>
              <a:t>към </a:t>
            </a:r>
            <a:r>
              <a:rPr lang="bg-BG" sz="2400" dirty="0" smtClean="0"/>
              <a:t>модула на други модули, които са логически свързани с него.</a:t>
            </a:r>
          </a:p>
          <a:p>
            <a:pPr lvl="2">
              <a:spcBef>
                <a:spcPts val="0"/>
              </a:spcBef>
            </a:pPr>
            <a:r>
              <a:rPr lang="bg-BG" sz="2000" dirty="0" smtClean="0"/>
              <a:t>Добавя се винаги само по един модул и се тества за </a:t>
            </a:r>
            <a:r>
              <a:rPr lang="bg-BG" sz="2000" dirty="0"/>
              <a:t>правилното функциониране</a:t>
            </a:r>
            <a:r>
              <a:rPr lang="bg-BG" sz="2000" dirty="0" smtClean="0"/>
              <a:t>.</a:t>
            </a:r>
          </a:p>
          <a:p>
            <a:pPr lvl="2">
              <a:spcBef>
                <a:spcPts val="0"/>
              </a:spcBef>
            </a:pPr>
            <a:r>
              <a:rPr lang="bg-BG" sz="2000" dirty="0" smtClean="0"/>
              <a:t>Процесът продължава, докато всички модули са присъединени и тествани успешно.</a:t>
            </a:r>
          </a:p>
          <a:p>
            <a:pPr>
              <a:spcBef>
                <a:spcPts val="0"/>
              </a:spcBef>
            </a:pPr>
            <a:r>
              <a:rPr lang="bg-BG" sz="2800" dirty="0" smtClean="0"/>
              <a:t>Грешките са </a:t>
            </a:r>
            <a:r>
              <a:rPr lang="bg-BG" sz="2800" dirty="0"/>
              <a:t>по-лесни за изолиране и коригиране. </a:t>
            </a:r>
          </a:p>
          <a:p>
            <a:pPr lvl="1">
              <a:spcBef>
                <a:spcPts val="0"/>
              </a:spcBef>
            </a:pPr>
            <a:r>
              <a:rPr lang="bg-BG" sz="2400" dirty="0" smtClean="0"/>
              <a:t>Програмата е конструирана и тествана в малки сегменти.</a:t>
            </a:r>
          </a:p>
          <a:p>
            <a:pPr lvl="1">
              <a:spcBef>
                <a:spcPts val="0"/>
              </a:spcBef>
            </a:pPr>
            <a:r>
              <a:rPr lang="bg-BG" sz="2400" dirty="0" smtClean="0"/>
              <a:t>Интерфейсите може да бъдат тествани напълно.</a:t>
            </a:r>
            <a:endParaRPr lang="bg-BG" sz="2400" dirty="0"/>
          </a:p>
        </p:txBody>
      </p:sp>
    </p:spTree>
    <p:extLst>
      <p:ext uri="{BB962C8B-B14F-4D97-AF65-F5344CB8AC3E}">
        <p14:creationId xmlns:p14="http://schemas.microsoft.com/office/powerpoint/2010/main" val="33526022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Инкрементален подход</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Същност </a:t>
            </a:r>
            <a:endParaRPr lang="bg-BG" sz="2800" dirty="0"/>
          </a:p>
        </p:txBody>
      </p:sp>
      <p:grpSp>
        <p:nvGrpSpPr>
          <p:cNvPr id="4" name="Group 104"/>
          <p:cNvGrpSpPr>
            <a:grpSpLocks/>
          </p:cNvGrpSpPr>
          <p:nvPr/>
        </p:nvGrpSpPr>
        <p:grpSpPr bwMode="auto">
          <a:xfrm>
            <a:off x="6776119" y="2611890"/>
            <a:ext cx="1873469" cy="3222131"/>
            <a:chOff x="4208" y="1185"/>
            <a:chExt cx="1384" cy="2381"/>
          </a:xfrm>
        </p:grpSpPr>
        <p:grpSp>
          <p:nvGrpSpPr>
            <p:cNvPr id="5" name="Group 30"/>
            <p:cNvGrpSpPr>
              <a:grpSpLocks/>
            </p:cNvGrpSpPr>
            <p:nvPr/>
          </p:nvGrpSpPr>
          <p:grpSpPr bwMode="auto">
            <a:xfrm>
              <a:off x="4208" y="1207"/>
              <a:ext cx="521" cy="273"/>
              <a:chOff x="3982" y="1207"/>
              <a:chExt cx="521" cy="273"/>
            </a:xfrm>
          </p:grpSpPr>
          <p:sp>
            <p:nvSpPr>
              <p:cNvPr id="38" name="Rectangle 13"/>
              <p:cNvSpPr>
                <a:spLocks noChangeArrowheads="1"/>
              </p:cNvSpPr>
              <p:nvPr/>
            </p:nvSpPr>
            <p:spPr bwMode="auto">
              <a:xfrm>
                <a:off x="4004" y="1229"/>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39" name="Rectangle 14"/>
              <p:cNvSpPr>
                <a:spLocks noChangeArrowheads="1"/>
              </p:cNvSpPr>
              <p:nvPr/>
            </p:nvSpPr>
            <p:spPr bwMode="auto">
              <a:xfrm>
                <a:off x="3982" y="1207"/>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A</a:t>
                </a:r>
                <a:endParaRPr lang="bg-BG" altLang="en-US" sz="1600" b="1" smtClean="0">
                  <a:latin typeface="Arial" panose="020B0604020202020204" pitchFamily="34" charset="0"/>
                </a:endParaRPr>
              </a:p>
            </p:txBody>
          </p:sp>
        </p:grpSp>
        <p:sp>
          <p:nvSpPr>
            <p:cNvPr id="6" name="Rectangle 17"/>
            <p:cNvSpPr>
              <a:spLocks noChangeArrowheads="1"/>
            </p:cNvSpPr>
            <p:nvPr/>
          </p:nvSpPr>
          <p:spPr bwMode="auto">
            <a:xfrm>
              <a:off x="4230" y="1934"/>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7" name="Rectangle 18"/>
            <p:cNvSpPr>
              <a:spLocks noChangeArrowheads="1"/>
            </p:cNvSpPr>
            <p:nvPr/>
          </p:nvSpPr>
          <p:spPr bwMode="auto">
            <a:xfrm>
              <a:off x="4208" y="1911"/>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B</a:t>
              </a:r>
              <a:endParaRPr lang="bg-BG" altLang="en-US" sz="1600" b="1" smtClean="0">
                <a:latin typeface="Arial" panose="020B0604020202020204" pitchFamily="34" charset="0"/>
              </a:endParaRPr>
            </a:p>
          </p:txBody>
        </p:sp>
        <p:sp>
          <p:nvSpPr>
            <p:cNvPr id="8" name="Rectangle 21"/>
            <p:cNvSpPr>
              <a:spLocks noChangeArrowheads="1"/>
            </p:cNvSpPr>
            <p:nvPr/>
          </p:nvSpPr>
          <p:spPr bwMode="auto">
            <a:xfrm>
              <a:off x="4230" y="2591"/>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9" name="Rectangle 22"/>
            <p:cNvSpPr>
              <a:spLocks noChangeArrowheads="1"/>
            </p:cNvSpPr>
            <p:nvPr/>
          </p:nvSpPr>
          <p:spPr bwMode="auto">
            <a:xfrm>
              <a:off x="4208" y="2568"/>
              <a:ext cx="499" cy="249"/>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C</a:t>
              </a:r>
              <a:endParaRPr lang="bg-BG" altLang="en-US" sz="1600" b="1" smtClean="0">
                <a:latin typeface="Arial" panose="020B0604020202020204" pitchFamily="34" charset="0"/>
              </a:endParaRPr>
            </a:p>
          </p:txBody>
        </p:sp>
        <p:grpSp>
          <p:nvGrpSpPr>
            <p:cNvPr id="10" name="Group 28"/>
            <p:cNvGrpSpPr>
              <a:grpSpLocks/>
            </p:cNvGrpSpPr>
            <p:nvPr/>
          </p:nvGrpSpPr>
          <p:grpSpPr bwMode="auto">
            <a:xfrm>
              <a:off x="4209" y="3248"/>
              <a:ext cx="521" cy="273"/>
              <a:chOff x="3983" y="3248"/>
              <a:chExt cx="521" cy="273"/>
            </a:xfrm>
          </p:grpSpPr>
          <p:sp>
            <p:nvSpPr>
              <p:cNvPr id="36" name="Rectangle 23"/>
              <p:cNvSpPr>
                <a:spLocks noChangeArrowheads="1"/>
              </p:cNvSpPr>
              <p:nvPr/>
            </p:nvSpPr>
            <p:spPr bwMode="auto">
              <a:xfrm>
                <a:off x="4005" y="3270"/>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37" name="Rectangle 24"/>
              <p:cNvSpPr>
                <a:spLocks noChangeArrowheads="1"/>
              </p:cNvSpPr>
              <p:nvPr/>
            </p:nvSpPr>
            <p:spPr bwMode="auto">
              <a:xfrm>
                <a:off x="3983" y="3248"/>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D</a:t>
                </a:r>
                <a:endParaRPr lang="bg-BG" altLang="en-US" sz="1600" b="1" smtClean="0">
                  <a:latin typeface="Arial" panose="020B0604020202020204" pitchFamily="34" charset="0"/>
                </a:endParaRPr>
              </a:p>
            </p:txBody>
          </p:sp>
        </p:grpSp>
        <p:grpSp>
          <p:nvGrpSpPr>
            <p:cNvPr id="11" name="Group 33"/>
            <p:cNvGrpSpPr>
              <a:grpSpLocks/>
            </p:cNvGrpSpPr>
            <p:nvPr/>
          </p:nvGrpSpPr>
          <p:grpSpPr bwMode="auto">
            <a:xfrm>
              <a:off x="5228" y="3203"/>
              <a:ext cx="364" cy="363"/>
              <a:chOff x="466" y="3793"/>
              <a:chExt cx="364" cy="363"/>
            </a:xfrm>
          </p:grpSpPr>
          <p:sp>
            <p:nvSpPr>
              <p:cNvPr id="34" name="Oval 32"/>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35" name="Oval 31"/>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T5</a:t>
                </a:r>
                <a:endParaRPr lang="bg-BG" altLang="en-US" sz="1600" b="1" dirty="0" smtClean="0">
                  <a:latin typeface="Arial" panose="020B0604020202020204" pitchFamily="34" charset="0"/>
                </a:endParaRPr>
              </a:p>
            </p:txBody>
          </p:sp>
        </p:grpSp>
        <p:grpSp>
          <p:nvGrpSpPr>
            <p:cNvPr id="12" name="Group 52"/>
            <p:cNvGrpSpPr>
              <a:grpSpLocks/>
            </p:cNvGrpSpPr>
            <p:nvPr/>
          </p:nvGrpSpPr>
          <p:grpSpPr bwMode="auto">
            <a:xfrm>
              <a:off x="5228" y="1185"/>
              <a:ext cx="364" cy="363"/>
              <a:chOff x="466" y="3793"/>
              <a:chExt cx="364" cy="363"/>
            </a:xfrm>
          </p:grpSpPr>
          <p:sp>
            <p:nvSpPr>
              <p:cNvPr id="32" name="Oval 53"/>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33" name="Oval 54"/>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T1</a:t>
                </a:r>
                <a:endParaRPr lang="bg-BG" altLang="en-US" sz="1600" b="1" smtClean="0">
                  <a:latin typeface="Arial" panose="020B0604020202020204" pitchFamily="34" charset="0"/>
                </a:endParaRPr>
              </a:p>
            </p:txBody>
          </p:sp>
        </p:grpSp>
        <p:grpSp>
          <p:nvGrpSpPr>
            <p:cNvPr id="13" name="Group 58"/>
            <p:cNvGrpSpPr>
              <a:grpSpLocks/>
            </p:cNvGrpSpPr>
            <p:nvPr/>
          </p:nvGrpSpPr>
          <p:grpSpPr bwMode="auto">
            <a:xfrm>
              <a:off x="5228" y="1684"/>
              <a:ext cx="364" cy="363"/>
              <a:chOff x="466" y="3793"/>
              <a:chExt cx="364" cy="363"/>
            </a:xfrm>
          </p:grpSpPr>
          <p:sp>
            <p:nvSpPr>
              <p:cNvPr id="30" name="Oval 59"/>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31" name="Oval 60"/>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T2</a:t>
                </a:r>
                <a:endParaRPr lang="bg-BG" altLang="en-US" sz="1600" b="1" smtClean="0">
                  <a:latin typeface="Arial" panose="020B0604020202020204" pitchFamily="34" charset="0"/>
                </a:endParaRPr>
              </a:p>
            </p:txBody>
          </p:sp>
        </p:grpSp>
        <p:grpSp>
          <p:nvGrpSpPr>
            <p:cNvPr id="14" name="Group 64"/>
            <p:cNvGrpSpPr>
              <a:grpSpLocks/>
            </p:cNvGrpSpPr>
            <p:nvPr/>
          </p:nvGrpSpPr>
          <p:grpSpPr bwMode="auto">
            <a:xfrm>
              <a:off x="5228" y="2205"/>
              <a:ext cx="364" cy="363"/>
              <a:chOff x="466" y="3793"/>
              <a:chExt cx="364" cy="363"/>
            </a:xfrm>
          </p:grpSpPr>
          <p:sp>
            <p:nvSpPr>
              <p:cNvPr id="28" name="Oval 65"/>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29" name="Oval 66"/>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T3</a:t>
                </a:r>
                <a:endParaRPr lang="bg-BG" altLang="en-US" sz="1600" b="1" dirty="0" smtClean="0">
                  <a:latin typeface="Arial" panose="020B0604020202020204" pitchFamily="34" charset="0"/>
                </a:endParaRPr>
              </a:p>
            </p:txBody>
          </p:sp>
        </p:grpSp>
        <p:grpSp>
          <p:nvGrpSpPr>
            <p:cNvPr id="15" name="Group 70"/>
            <p:cNvGrpSpPr>
              <a:grpSpLocks/>
            </p:cNvGrpSpPr>
            <p:nvPr/>
          </p:nvGrpSpPr>
          <p:grpSpPr bwMode="auto">
            <a:xfrm>
              <a:off x="5228" y="2704"/>
              <a:ext cx="364" cy="363"/>
              <a:chOff x="466" y="3793"/>
              <a:chExt cx="364" cy="363"/>
            </a:xfrm>
          </p:grpSpPr>
          <p:sp>
            <p:nvSpPr>
              <p:cNvPr id="26" name="Oval 71"/>
              <p:cNvSpPr>
                <a:spLocks noChangeArrowheads="1"/>
              </p:cNvSpPr>
              <p:nvPr/>
            </p:nvSpPr>
            <p:spPr bwMode="auto">
              <a:xfrm>
                <a:off x="489" y="3815"/>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27" name="Oval 72"/>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T4</a:t>
                </a:r>
                <a:endParaRPr lang="bg-BG" altLang="en-US" sz="1600" b="1" smtClean="0">
                  <a:latin typeface="Arial" panose="020B0604020202020204" pitchFamily="34" charset="0"/>
                </a:endParaRPr>
              </a:p>
            </p:txBody>
          </p:sp>
        </p:grpSp>
        <p:cxnSp>
          <p:nvCxnSpPr>
            <p:cNvPr id="16" name="AutoShape 77"/>
            <p:cNvCxnSpPr>
              <a:cxnSpLocks noChangeShapeType="1"/>
              <a:stCxn id="29" idx="2"/>
              <a:endCxn id="7" idx="2"/>
            </p:cNvCxnSpPr>
            <p:nvPr/>
          </p:nvCxnSpPr>
          <p:spPr bwMode="auto">
            <a:xfrm rot="10800000">
              <a:off x="4458" y="2161"/>
              <a:ext cx="770" cy="214"/>
            </a:xfrm>
            <a:prstGeom prst="bentConnector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7" name="AutoShape 78"/>
            <p:cNvCxnSpPr>
              <a:cxnSpLocks noChangeShapeType="1"/>
              <a:stCxn id="29" idx="2"/>
              <a:endCxn id="9" idx="0"/>
            </p:cNvCxnSpPr>
            <p:nvPr/>
          </p:nvCxnSpPr>
          <p:spPr bwMode="auto">
            <a:xfrm rot="10800000" flipV="1">
              <a:off x="4458" y="2375"/>
              <a:ext cx="770" cy="193"/>
            </a:xfrm>
            <a:prstGeom prst="bentConnector2">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18" name="AutoShape 79"/>
            <p:cNvCxnSpPr>
              <a:cxnSpLocks noChangeShapeType="1"/>
              <a:stCxn id="9" idx="2"/>
              <a:endCxn id="37" idx="0"/>
            </p:cNvCxnSpPr>
            <p:nvPr/>
          </p:nvCxnSpPr>
          <p:spPr bwMode="auto">
            <a:xfrm>
              <a:off x="4458" y="2818"/>
              <a:ext cx="1" cy="43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9" name="AutoShape 80"/>
            <p:cNvCxnSpPr>
              <a:cxnSpLocks noChangeShapeType="1"/>
              <a:stCxn id="7" idx="0"/>
              <a:endCxn id="39" idx="2"/>
            </p:cNvCxnSpPr>
            <p:nvPr/>
          </p:nvCxnSpPr>
          <p:spPr bwMode="auto">
            <a:xfrm flipV="1">
              <a:off x="4458" y="1457"/>
              <a:ext cx="0" cy="454"/>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0" name="AutoShape 82"/>
            <p:cNvCxnSpPr>
              <a:cxnSpLocks noChangeShapeType="1"/>
              <a:stCxn id="33" idx="2"/>
              <a:endCxn id="31" idx="2"/>
            </p:cNvCxnSpPr>
            <p:nvPr/>
          </p:nvCxnSpPr>
          <p:spPr bwMode="auto">
            <a:xfrm rot="10800000" flipH="1" flipV="1">
              <a:off x="5228" y="1355"/>
              <a:ext cx="1" cy="499"/>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21" name="AutoShape 83"/>
            <p:cNvCxnSpPr>
              <a:cxnSpLocks noChangeShapeType="1"/>
              <a:stCxn id="27" idx="2"/>
              <a:endCxn id="35" idx="2"/>
            </p:cNvCxnSpPr>
            <p:nvPr/>
          </p:nvCxnSpPr>
          <p:spPr bwMode="auto">
            <a:xfrm rot="10800000" flipH="1" flipV="1">
              <a:off x="5228" y="2874"/>
              <a:ext cx="1" cy="499"/>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22" name="AutoShape 84"/>
            <p:cNvCxnSpPr>
              <a:cxnSpLocks noChangeShapeType="1"/>
              <a:stCxn id="29" idx="2"/>
              <a:endCxn id="27" idx="2"/>
            </p:cNvCxnSpPr>
            <p:nvPr/>
          </p:nvCxnSpPr>
          <p:spPr bwMode="auto">
            <a:xfrm rot="10800000" flipH="1" flipV="1">
              <a:off x="5228" y="2375"/>
              <a:ext cx="1" cy="499"/>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23" name="AutoShape 85"/>
            <p:cNvCxnSpPr>
              <a:cxnSpLocks noChangeShapeType="1"/>
              <a:stCxn id="31" idx="2"/>
              <a:endCxn id="29" idx="2"/>
            </p:cNvCxnSpPr>
            <p:nvPr/>
          </p:nvCxnSpPr>
          <p:spPr bwMode="auto">
            <a:xfrm rot="10800000" flipH="1" flipV="1">
              <a:off x="5228" y="1854"/>
              <a:ext cx="1" cy="521"/>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24" name="AutoShape 86"/>
            <p:cNvCxnSpPr>
              <a:cxnSpLocks noChangeShapeType="1"/>
            </p:cNvCxnSpPr>
            <p:nvPr/>
          </p:nvCxnSpPr>
          <p:spPr bwMode="auto">
            <a:xfrm>
              <a:off x="4457" y="3022"/>
              <a:ext cx="63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25" name="AutoShape 87"/>
            <p:cNvCxnSpPr>
              <a:cxnSpLocks noChangeShapeType="1"/>
            </p:cNvCxnSpPr>
            <p:nvPr/>
          </p:nvCxnSpPr>
          <p:spPr bwMode="auto">
            <a:xfrm>
              <a:off x="4457" y="1638"/>
              <a:ext cx="63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grpSp>
        <p:nvGrpSpPr>
          <p:cNvPr id="40" name="Group 103"/>
          <p:cNvGrpSpPr>
            <a:grpSpLocks/>
          </p:cNvGrpSpPr>
          <p:nvPr/>
        </p:nvGrpSpPr>
        <p:grpSpPr bwMode="auto">
          <a:xfrm>
            <a:off x="4283968" y="3072001"/>
            <a:ext cx="1933572" cy="2547800"/>
            <a:chOff x="2304" y="1434"/>
            <a:chExt cx="1429" cy="1883"/>
          </a:xfrm>
        </p:grpSpPr>
        <p:grpSp>
          <p:nvGrpSpPr>
            <p:cNvPr id="41" name="Group 27"/>
            <p:cNvGrpSpPr>
              <a:grpSpLocks/>
            </p:cNvGrpSpPr>
            <p:nvPr/>
          </p:nvGrpSpPr>
          <p:grpSpPr bwMode="auto">
            <a:xfrm>
              <a:off x="2304" y="1570"/>
              <a:ext cx="521" cy="273"/>
              <a:chOff x="2327" y="1570"/>
              <a:chExt cx="521" cy="273"/>
            </a:xfrm>
          </p:grpSpPr>
          <p:sp>
            <p:nvSpPr>
              <p:cNvPr id="65" name="Rectangle 11"/>
              <p:cNvSpPr>
                <a:spLocks noChangeArrowheads="1"/>
              </p:cNvSpPr>
              <p:nvPr/>
            </p:nvSpPr>
            <p:spPr bwMode="auto">
              <a:xfrm>
                <a:off x="2349" y="1593"/>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66" name="Rectangle 12"/>
              <p:cNvSpPr>
                <a:spLocks noChangeArrowheads="1"/>
              </p:cNvSpPr>
              <p:nvPr/>
            </p:nvSpPr>
            <p:spPr bwMode="auto">
              <a:xfrm>
                <a:off x="2327" y="1571"/>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A</a:t>
                </a:r>
                <a:endParaRPr lang="bg-BG" altLang="en-US" sz="1600" b="1" dirty="0" smtClean="0">
                  <a:latin typeface="Arial" panose="020B0604020202020204" pitchFamily="34" charset="0"/>
                </a:endParaRPr>
              </a:p>
            </p:txBody>
          </p:sp>
        </p:grpSp>
        <p:sp>
          <p:nvSpPr>
            <p:cNvPr id="42" name="Rectangle 15"/>
            <p:cNvSpPr>
              <a:spLocks noChangeArrowheads="1"/>
            </p:cNvSpPr>
            <p:nvPr/>
          </p:nvSpPr>
          <p:spPr bwMode="auto">
            <a:xfrm>
              <a:off x="2326" y="2251"/>
              <a:ext cx="499" cy="250"/>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43" name="Rectangle 16"/>
            <p:cNvSpPr>
              <a:spLocks noChangeArrowheads="1"/>
            </p:cNvSpPr>
            <p:nvPr/>
          </p:nvSpPr>
          <p:spPr bwMode="auto">
            <a:xfrm>
              <a:off x="2304" y="2228"/>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B</a:t>
              </a:r>
              <a:endParaRPr lang="bg-BG" altLang="en-US" sz="1600" b="1" smtClean="0">
                <a:latin typeface="Arial" panose="020B0604020202020204" pitchFamily="34" charset="0"/>
              </a:endParaRPr>
            </a:p>
          </p:txBody>
        </p:sp>
        <p:sp>
          <p:nvSpPr>
            <p:cNvPr id="44" name="Rectangle 19"/>
            <p:cNvSpPr>
              <a:spLocks noChangeArrowheads="1"/>
            </p:cNvSpPr>
            <p:nvPr/>
          </p:nvSpPr>
          <p:spPr bwMode="auto">
            <a:xfrm>
              <a:off x="2326" y="2931"/>
              <a:ext cx="499" cy="249"/>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45" name="Rectangle 20"/>
            <p:cNvSpPr>
              <a:spLocks noChangeArrowheads="1"/>
            </p:cNvSpPr>
            <p:nvPr/>
          </p:nvSpPr>
          <p:spPr bwMode="auto">
            <a:xfrm>
              <a:off x="2304" y="2907"/>
              <a:ext cx="499" cy="250"/>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C</a:t>
              </a:r>
              <a:endParaRPr lang="bg-BG" altLang="en-US" sz="1600" b="1" smtClean="0">
                <a:latin typeface="Arial" panose="020B0604020202020204" pitchFamily="34" charset="0"/>
              </a:endParaRPr>
            </a:p>
          </p:txBody>
        </p:sp>
        <p:grpSp>
          <p:nvGrpSpPr>
            <p:cNvPr id="46" name="Group 49"/>
            <p:cNvGrpSpPr>
              <a:grpSpLocks/>
            </p:cNvGrpSpPr>
            <p:nvPr/>
          </p:nvGrpSpPr>
          <p:grpSpPr bwMode="auto">
            <a:xfrm>
              <a:off x="3347" y="1434"/>
              <a:ext cx="364" cy="363"/>
              <a:chOff x="466" y="3793"/>
              <a:chExt cx="364" cy="363"/>
            </a:xfrm>
          </p:grpSpPr>
          <p:sp>
            <p:nvSpPr>
              <p:cNvPr id="63" name="Oval 50"/>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64" name="Oval 51"/>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T1</a:t>
                </a:r>
                <a:endParaRPr lang="bg-BG" altLang="en-US" sz="1600" b="1" smtClean="0">
                  <a:latin typeface="Arial" panose="020B0604020202020204" pitchFamily="34" charset="0"/>
                </a:endParaRPr>
              </a:p>
            </p:txBody>
          </p:sp>
        </p:grpSp>
        <p:grpSp>
          <p:nvGrpSpPr>
            <p:cNvPr id="47" name="Group 55"/>
            <p:cNvGrpSpPr>
              <a:grpSpLocks/>
            </p:cNvGrpSpPr>
            <p:nvPr/>
          </p:nvGrpSpPr>
          <p:grpSpPr bwMode="auto">
            <a:xfrm>
              <a:off x="3369" y="1933"/>
              <a:ext cx="364" cy="363"/>
              <a:chOff x="466" y="3793"/>
              <a:chExt cx="364" cy="363"/>
            </a:xfrm>
          </p:grpSpPr>
          <p:sp>
            <p:nvSpPr>
              <p:cNvPr id="61" name="Oval 56"/>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62" name="Oval 57"/>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T2</a:t>
                </a:r>
                <a:endParaRPr lang="bg-BG" altLang="en-US" sz="1600" b="1" smtClean="0">
                  <a:latin typeface="Arial" panose="020B0604020202020204" pitchFamily="34" charset="0"/>
                </a:endParaRPr>
              </a:p>
            </p:txBody>
          </p:sp>
        </p:grpSp>
        <p:grpSp>
          <p:nvGrpSpPr>
            <p:cNvPr id="48" name="Group 61"/>
            <p:cNvGrpSpPr>
              <a:grpSpLocks/>
            </p:cNvGrpSpPr>
            <p:nvPr/>
          </p:nvGrpSpPr>
          <p:grpSpPr bwMode="auto">
            <a:xfrm>
              <a:off x="3347" y="2432"/>
              <a:ext cx="364" cy="363"/>
              <a:chOff x="466" y="3793"/>
              <a:chExt cx="364" cy="363"/>
            </a:xfrm>
          </p:grpSpPr>
          <p:sp>
            <p:nvSpPr>
              <p:cNvPr id="59" name="Oval 62"/>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60" name="Oval 63"/>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T3</a:t>
                </a:r>
                <a:endParaRPr lang="bg-BG" altLang="en-US" sz="1600" b="1" smtClean="0">
                  <a:latin typeface="Arial" panose="020B0604020202020204" pitchFamily="34" charset="0"/>
                </a:endParaRPr>
              </a:p>
            </p:txBody>
          </p:sp>
        </p:grpSp>
        <p:grpSp>
          <p:nvGrpSpPr>
            <p:cNvPr id="49" name="Group 67"/>
            <p:cNvGrpSpPr>
              <a:grpSpLocks/>
            </p:cNvGrpSpPr>
            <p:nvPr/>
          </p:nvGrpSpPr>
          <p:grpSpPr bwMode="auto">
            <a:xfrm>
              <a:off x="3347" y="2954"/>
              <a:ext cx="364" cy="363"/>
              <a:chOff x="466" y="3793"/>
              <a:chExt cx="364" cy="363"/>
            </a:xfrm>
          </p:grpSpPr>
          <p:sp>
            <p:nvSpPr>
              <p:cNvPr id="57" name="Oval 68"/>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58" name="Oval 69"/>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T4</a:t>
                </a:r>
                <a:endParaRPr lang="bg-BG" altLang="en-US" sz="1600" b="1" smtClean="0">
                  <a:latin typeface="Arial" panose="020B0604020202020204" pitchFamily="34" charset="0"/>
                </a:endParaRPr>
              </a:p>
            </p:txBody>
          </p:sp>
        </p:grpSp>
        <p:cxnSp>
          <p:nvCxnSpPr>
            <p:cNvPr id="50" name="AutoShape 88"/>
            <p:cNvCxnSpPr>
              <a:cxnSpLocks noChangeShapeType="1"/>
              <a:stCxn id="64" idx="2"/>
              <a:endCxn id="62" idx="2"/>
            </p:cNvCxnSpPr>
            <p:nvPr/>
          </p:nvCxnSpPr>
          <p:spPr bwMode="auto">
            <a:xfrm rot="10800000" flipH="1" flipV="1">
              <a:off x="3347" y="1604"/>
              <a:ext cx="22" cy="499"/>
            </a:xfrm>
            <a:prstGeom prst="bentConnector3">
              <a:avLst>
                <a:gd name="adj1" fmla="val -654546"/>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51" name="AutoShape 89"/>
            <p:cNvCxnSpPr>
              <a:cxnSpLocks noChangeShapeType="1"/>
              <a:stCxn id="60" idx="2"/>
              <a:endCxn id="58" idx="2"/>
            </p:cNvCxnSpPr>
            <p:nvPr/>
          </p:nvCxnSpPr>
          <p:spPr bwMode="auto">
            <a:xfrm rot="10800000" flipH="1" flipV="1">
              <a:off x="3347" y="2602"/>
              <a:ext cx="1" cy="522"/>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52" name="AutoShape 90"/>
            <p:cNvCxnSpPr>
              <a:cxnSpLocks noChangeShapeType="1"/>
              <a:stCxn id="62" idx="2"/>
              <a:endCxn id="60" idx="2"/>
            </p:cNvCxnSpPr>
            <p:nvPr/>
          </p:nvCxnSpPr>
          <p:spPr bwMode="auto">
            <a:xfrm rot="10800000" flipV="1">
              <a:off x="3347" y="2103"/>
              <a:ext cx="22" cy="499"/>
            </a:xfrm>
            <a:prstGeom prst="bentConnector3">
              <a:avLst>
                <a:gd name="adj1" fmla="val 754546"/>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53" name="AutoShape 91"/>
            <p:cNvCxnSpPr>
              <a:cxnSpLocks noChangeShapeType="1"/>
              <a:stCxn id="43" idx="0"/>
              <a:endCxn id="66" idx="2"/>
            </p:cNvCxnSpPr>
            <p:nvPr/>
          </p:nvCxnSpPr>
          <p:spPr bwMode="auto">
            <a:xfrm flipV="1">
              <a:off x="2554" y="1820"/>
              <a:ext cx="0" cy="408"/>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4" name="AutoShape 92"/>
            <p:cNvCxnSpPr>
              <a:cxnSpLocks noChangeShapeType="1"/>
              <a:stCxn id="45" idx="0"/>
              <a:endCxn id="43" idx="2"/>
            </p:cNvCxnSpPr>
            <p:nvPr/>
          </p:nvCxnSpPr>
          <p:spPr bwMode="auto">
            <a:xfrm flipV="1">
              <a:off x="2554" y="2478"/>
              <a:ext cx="0" cy="43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5" name="AutoShape 93"/>
            <p:cNvCxnSpPr>
              <a:cxnSpLocks noChangeShapeType="1"/>
            </p:cNvCxnSpPr>
            <p:nvPr/>
          </p:nvCxnSpPr>
          <p:spPr bwMode="auto">
            <a:xfrm>
              <a:off x="2553" y="2727"/>
              <a:ext cx="63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6" name="AutoShape 94"/>
            <p:cNvCxnSpPr>
              <a:cxnSpLocks noChangeShapeType="1"/>
            </p:cNvCxnSpPr>
            <p:nvPr/>
          </p:nvCxnSpPr>
          <p:spPr bwMode="auto">
            <a:xfrm>
              <a:off x="2553" y="1979"/>
              <a:ext cx="63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grpSp>
        <p:nvGrpSpPr>
          <p:cNvPr id="67" name="Group 102"/>
          <p:cNvGrpSpPr>
            <a:grpSpLocks/>
          </p:cNvGrpSpPr>
          <p:nvPr/>
        </p:nvGrpSpPr>
        <p:grpSpPr bwMode="auto">
          <a:xfrm>
            <a:off x="1793834" y="4528911"/>
            <a:ext cx="1751796" cy="1870537"/>
            <a:chOff x="557" y="1684"/>
            <a:chExt cx="1294" cy="1383"/>
          </a:xfrm>
        </p:grpSpPr>
        <p:grpSp>
          <p:nvGrpSpPr>
            <p:cNvPr id="68" name="Group 25"/>
            <p:cNvGrpSpPr>
              <a:grpSpLocks/>
            </p:cNvGrpSpPr>
            <p:nvPr/>
          </p:nvGrpSpPr>
          <p:grpSpPr bwMode="auto">
            <a:xfrm>
              <a:off x="558" y="1910"/>
              <a:ext cx="521" cy="273"/>
              <a:chOff x="762" y="1910"/>
              <a:chExt cx="521" cy="273"/>
            </a:xfrm>
          </p:grpSpPr>
          <p:sp>
            <p:nvSpPr>
              <p:cNvPr id="85" name="Rectangle 7"/>
              <p:cNvSpPr>
                <a:spLocks noChangeArrowheads="1"/>
              </p:cNvSpPr>
              <p:nvPr/>
            </p:nvSpPr>
            <p:spPr bwMode="auto">
              <a:xfrm>
                <a:off x="784" y="1933"/>
                <a:ext cx="499" cy="249"/>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86" name="Rectangle 8"/>
              <p:cNvSpPr>
                <a:spLocks noChangeArrowheads="1"/>
              </p:cNvSpPr>
              <p:nvPr/>
            </p:nvSpPr>
            <p:spPr bwMode="auto">
              <a:xfrm>
                <a:off x="762" y="1911"/>
                <a:ext cx="499" cy="249"/>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A</a:t>
                </a:r>
                <a:endParaRPr lang="bg-BG" altLang="en-US" sz="1600" b="1" smtClean="0">
                  <a:latin typeface="Arial" panose="020B0604020202020204" pitchFamily="34" charset="0"/>
                </a:endParaRPr>
              </a:p>
            </p:txBody>
          </p:sp>
        </p:grpSp>
        <p:grpSp>
          <p:nvGrpSpPr>
            <p:cNvPr id="69" name="Group 26"/>
            <p:cNvGrpSpPr>
              <a:grpSpLocks/>
            </p:cNvGrpSpPr>
            <p:nvPr/>
          </p:nvGrpSpPr>
          <p:grpSpPr bwMode="auto">
            <a:xfrm>
              <a:off x="557" y="2568"/>
              <a:ext cx="521" cy="273"/>
              <a:chOff x="761" y="2568"/>
              <a:chExt cx="521" cy="273"/>
            </a:xfrm>
          </p:grpSpPr>
          <p:sp>
            <p:nvSpPr>
              <p:cNvPr id="83" name="Rectangle 9"/>
              <p:cNvSpPr>
                <a:spLocks noChangeArrowheads="1"/>
              </p:cNvSpPr>
              <p:nvPr/>
            </p:nvSpPr>
            <p:spPr bwMode="auto">
              <a:xfrm>
                <a:off x="783" y="2591"/>
                <a:ext cx="499" cy="249"/>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84" name="Rectangle 10"/>
              <p:cNvSpPr>
                <a:spLocks noChangeArrowheads="1"/>
              </p:cNvSpPr>
              <p:nvPr/>
            </p:nvSpPr>
            <p:spPr bwMode="auto">
              <a:xfrm>
                <a:off x="761" y="2568"/>
                <a:ext cx="499" cy="249"/>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B</a:t>
                </a:r>
                <a:endParaRPr lang="bg-BG" altLang="en-US" sz="1600" b="1" smtClean="0">
                  <a:latin typeface="Arial" panose="020B0604020202020204" pitchFamily="34" charset="0"/>
                </a:endParaRPr>
              </a:p>
            </p:txBody>
          </p:sp>
        </p:grpSp>
        <p:grpSp>
          <p:nvGrpSpPr>
            <p:cNvPr id="70" name="Group 34"/>
            <p:cNvGrpSpPr>
              <a:grpSpLocks/>
            </p:cNvGrpSpPr>
            <p:nvPr/>
          </p:nvGrpSpPr>
          <p:grpSpPr bwMode="auto">
            <a:xfrm>
              <a:off x="1487" y="1684"/>
              <a:ext cx="364" cy="363"/>
              <a:chOff x="466" y="3793"/>
              <a:chExt cx="364" cy="363"/>
            </a:xfrm>
          </p:grpSpPr>
          <p:sp>
            <p:nvSpPr>
              <p:cNvPr id="81" name="Oval 35"/>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82" name="Oval 36"/>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T1</a:t>
                </a:r>
                <a:endParaRPr lang="bg-BG" altLang="en-US" sz="1600" b="1" smtClean="0">
                  <a:latin typeface="Arial" panose="020B0604020202020204" pitchFamily="34" charset="0"/>
                </a:endParaRPr>
              </a:p>
            </p:txBody>
          </p:sp>
        </p:grpSp>
        <p:grpSp>
          <p:nvGrpSpPr>
            <p:cNvPr id="71" name="Group 37"/>
            <p:cNvGrpSpPr>
              <a:grpSpLocks/>
            </p:cNvGrpSpPr>
            <p:nvPr/>
          </p:nvGrpSpPr>
          <p:grpSpPr bwMode="auto">
            <a:xfrm>
              <a:off x="1487" y="2205"/>
              <a:ext cx="364" cy="363"/>
              <a:chOff x="466" y="3793"/>
              <a:chExt cx="364" cy="363"/>
            </a:xfrm>
          </p:grpSpPr>
          <p:sp>
            <p:nvSpPr>
              <p:cNvPr id="79" name="Oval 38"/>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80" name="Oval 39"/>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T2</a:t>
                </a:r>
                <a:endParaRPr lang="bg-BG" altLang="en-US" sz="1600" b="1" dirty="0" smtClean="0">
                  <a:latin typeface="Arial" panose="020B0604020202020204" pitchFamily="34" charset="0"/>
                </a:endParaRPr>
              </a:p>
            </p:txBody>
          </p:sp>
        </p:grpSp>
        <p:grpSp>
          <p:nvGrpSpPr>
            <p:cNvPr id="72" name="Group 46"/>
            <p:cNvGrpSpPr>
              <a:grpSpLocks/>
            </p:cNvGrpSpPr>
            <p:nvPr/>
          </p:nvGrpSpPr>
          <p:grpSpPr bwMode="auto">
            <a:xfrm>
              <a:off x="1487" y="2704"/>
              <a:ext cx="364" cy="363"/>
              <a:chOff x="466" y="3793"/>
              <a:chExt cx="364" cy="363"/>
            </a:xfrm>
          </p:grpSpPr>
          <p:sp>
            <p:nvSpPr>
              <p:cNvPr id="77" name="Oval 47"/>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78" name="Oval 48"/>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T3</a:t>
                </a:r>
                <a:endParaRPr lang="bg-BG" altLang="en-US" sz="1600" b="1" smtClean="0">
                  <a:latin typeface="Arial" panose="020B0604020202020204" pitchFamily="34" charset="0"/>
                </a:endParaRPr>
              </a:p>
            </p:txBody>
          </p:sp>
        </p:grpSp>
        <p:cxnSp>
          <p:nvCxnSpPr>
            <p:cNvPr id="73" name="AutoShape 95"/>
            <p:cNvCxnSpPr>
              <a:cxnSpLocks noChangeShapeType="1"/>
              <a:stCxn id="84" idx="0"/>
              <a:endCxn id="86" idx="2"/>
            </p:cNvCxnSpPr>
            <p:nvPr/>
          </p:nvCxnSpPr>
          <p:spPr bwMode="auto">
            <a:xfrm flipV="1">
              <a:off x="807" y="2160"/>
              <a:ext cx="1" cy="408"/>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74" name="AutoShape 96"/>
            <p:cNvCxnSpPr>
              <a:cxnSpLocks noChangeShapeType="1"/>
              <a:stCxn id="82" idx="2"/>
              <a:endCxn id="80" idx="2"/>
            </p:cNvCxnSpPr>
            <p:nvPr/>
          </p:nvCxnSpPr>
          <p:spPr bwMode="auto">
            <a:xfrm rot="10800000" flipH="1" flipV="1">
              <a:off x="1487" y="1854"/>
              <a:ext cx="1" cy="521"/>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75" name="AutoShape 97"/>
            <p:cNvCxnSpPr>
              <a:cxnSpLocks noChangeShapeType="1"/>
              <a:stCxn id="80" idx="2"/>
              <a:endCxn id="78" idx="2"/>
            </p:cNvCxnSpPr>
            <p:nvPr/>
          </p:nvCxnSpPr>
          <p:spPr bwMode="auto">
            <a:xfrm rot="10800000" flipH="1" flipV="1">
              <a:off x="1487" y="2375"/>
              <a:ext cx="1" cy="499"/>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76" name="AutoShape 98"/>
            <p:cNvCxnSpPr>
              <a:cxnSpLocks noChangeShapeType="1"/>
            </p:cNvCxnSpPr>
            <p:nvPr/>
          </p:nvCxnSpPr>
          <p:spPr bwMode="auto">
            <a:xfrm>
              <a:off x="807" y="2364"/>
              <a:ext cx="544"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grpSp>
        <p:nvGrpSpPr>
          <p:cNvPr id="87" name="Group 102"/>
          <p:cNvGrpSpPr>
            <a:grpSpLocks/>
          </p:cNvGrpSpPr>
          <p:nvPr/>
        </p:nvGrpSpPr>
        <p:grpSpPr bwMode="auto">
          <a:xfrm>
            <a:off x="1715044" y="2538296"/>
            <a:ext cx="1735551" cy="1195629"/>
            <a:chOff x="569" y="1684"/>
            <a:chExt cx="1282" cy="884"/>
          </a:xfrm>
        </p:grpSpPr>
        <p:grpSp>
          <p:nvGrpSpPr>
            <p:cNvPr id="88" name="Group 25"/>
            <p:cNvGrpSpPr>
              <a:grpSpLocks/>
            </p:cNvGrpSpPr>
            <p:nvPr/>
          </p:nvGrpSpPr>
          <p:grpSpPr bwMode="auto">
            <a:xfrm>
              <a:off x="569" y="2019"/>
              <a:ext cx="499" cy="252"/>
              <a:chOff x="773" y="2019"/>
              <a:chExt cx="499" cy="252"/>
            </a:xfrm>
          </p:grpSpPr>
          <p:sp>
            <p:nvSpPr>
              <p:cNvPr id="105" name="Rectangle 7"/>
              <p:cNvSpPr>
                <a:spLocks noChangeArrowheads="1"/>
              </p:cNvSpPr>
              <p:nvPr/>
            </p:nvSpPr>
            <p:spPr bwMode="auto">
              <a:xfrm>
                <a:off x="773" y="2019"/>
                <a:ext cx="499" cy="249"/>
              </a:xfrm>
              <a:prstGeom prst="rect">
                <a:avLst/>
              </a:prstGeom>
              <a:solidFill>
                <a:schemeClr val="bg2"/>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solidFill>
                      <a:schemeClr val="bg2"/>
                    </a:solidFill>
                    <a:latin typeface="Arial" panose="020B0604020202020204" pitchFamily="34" charset="0"/>
                  </a:rPr>
                  <a:t>A</a:t>
                </a:r>
                <a:endParaRPr lang="bg-BG" altLang="en-US" sz="1600" b="1" smtClean="0">
                  <a:solidFill>
                    <a:schemeClr val="bg2"/>
                  </a:solidFill>
                  <a:latin typeface="Arial" panose="020B0604020202020204" pitchFamily="34" charset="0"/>
                </a:endParaRPr>
              </a:p>
            </p:txBody>
          </p:sp>
          <p:sp>
            <p:nvSpPr>
              <p:cNvPr id="106" name="Rectangle 8"/>
              <p:cNvSpPr>
                <a:spLocks noChangeArrowheads="1"/>
              </p:cNvSpPr>
              <p:nvPr/>
            </p:nvSpPr>
            <p:spPr bwMode="auto">
              <a:xfrm>
                <a:off x="773" y="2022"/>
                <a:ext cx="499" cy="249"/>
              </a:xfrm>
              <a:prstGeom prst="rect">
                <a:avLst/>
              </a:prstGeom>
              <a:solidFill>
                <a:srgbClr val="DDDDDD"/>
              </a:solidFill>
              <a:ln w="12700">
                <a:solidFill>
                  <a:schemeClr val="bg2"/>
                </a:solidFill>
                <a:miter lim="800000"/>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A</a:t>
                </a:r>
                <a:endParaRPr lang="bg-BG" altLang="en-US" sz="1600" b="1" dirty="0" smtClean="0">
                  <a:latin typeface="Arial" panose="020B0604020202020204" pitchFamily="34" charset="0"/>
                </a:endParaRPr>
              </a:p>
            </p:txBody>
          </p:sp>
        </p:grpSp>
        <p:grpSp>
          <p:nvGrpSpPr>
            <p:cNvPr id="90" name="Group 34"/>
            <p:cNvGrpSpPr>
              <a:grpSpLocks/>
            </p:cNvGrpSpPr>
            <p:nvPr/>
          </p:nvGrpSpPr>
          <p:grpSpPr bwMode="auto">
            <a:xfrm>
              <a:off x="1487" y="1684"/>
              <a:ext cx="364" cy="363"/>
              <a:chOff x="466" y="3793"/>
              <a:chExt cx="364" cy="363"/>
            </a:xfrm>
          </p:grpSpPr>
          <p:sp>
            <p:nvSpPr>
              <p:cNvPr id="101" name="Oval 35"/>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102" name="Oval 36"/>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smtClean="0">
                    <a:latin typeface="Arial" panose="020B0604020202020204" pitchFamily="34" charset="0"/>
                  </a:rPr>
                  <a:t>T1</a:t>
                </a:r>
                <a:endParaRPr lang="bg-BG" altLang="en-US" sz="1600" b="1" smtClean="0">
                  <a:latin typeface="Arial" panose="020B0604020202020204" pitchFamily="34" charset="0"/>
                </a:endParaRPr>
              </a:p>
            </p:txBody>
          </p:sp>
        </p:grpSp>
        <p:grpSp>
          <p:nvGrpSpPr>
            <p:cNvPr id="91" name="Group 37"/>
            <p:cNvGrpSpPr>
              <a:grpSpLocks/>
            </p:cNvGrpSpPr>
            <p:nvPr/>
          </p:nvGrpSpPr>
          <p:grpSpPr bwMode="auto">
            <a:xfrm>
              <a:off x="1487" y="2205"/>
              <a:ext cx="364" cy="363"/>
              <a:chOff x="466" y="3793"/>
              <a:chExt cx="364" cy="363"/>
            </a:xfrm>
          </p:grpSpPr>
          <p:sp>
            <p:nvSpPr>
              <p:cNvPr id="99" name="Oval 38"/>
              <p:cNvSpPr>
                <a:spLocks noChangeArrowheads="1"/>
              </p:cNvSpPr>
              <p:nvPr/>
            </p:nvSpPr>
            <p:spPr bwMode="auto">
              <a:xfrm>
                <a:off x="489" y="3816"/>
                <a:ext cx="341" cy="340"/>
              </a:xfrm>
              <a:prstGeom prst="ellipse">
                <a:avLst/>
              </a:prstGeom>
              <a:solidFill>
                <a:schemeClr val="bg2"/>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endParaRPr lang="bg-BG" altLang="en-US" sz="1600" b="1" smtClean="0">
                  <a:latin typeface="Arial" panose="020B0604020202020204" pitchFamily="34" charset="0"/>
                </a:endParaRPr>
              </a:p>
            </p:txBody>
          </p:sp>
          <p:sp>
            <p:nvSpPr>
              <p:cNvPr id="100" name="Oval 39"/>
              <p:cNvSpPr>
                <a:spLocks noChangeArrowheads="1"/>
              </p:cNvSpPr>
              <p:nvPr/>
            </p:nvSpPr>
            <p:spPr bwMode="auto">
              <a:xfrm>
                <a:off x="466" y="3793"/>
                <a:ext cx="341" cy="340"/>
              </a:xfrm>
              <a:prstGeom prst="ellipse">
                <a:avLst/>
              </a:prstGeom>
              <a:solidFill>
                <a:srgbClr val="DDDDDD"/>
              </a:solidFill>
              <a:ln w="12700">
                <a:solidFill>
                  <a:schemeClr val="bg2"/>
                </a:solidFill>
                <a:round/>
                <a:headEnd/>
                <a:tailEnd/>
              </a:ln>
            </p:spPr>
            <p:txBody>
              <a:bodyPr wrap="none" anchor="ct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lgn="ctr" eaLnBrk="1" hangingPunct="1">
                  <a:defRPr/>
                </a:pPr>
                <a:r>
                  <a:rPr lang="en-US" altLang="en-US" sz="1600" b="1" dirty="0" smtClean="0">
                    <a:latin typeface="Arial" panose="020B0604020202020204" pitchFamily="34" charset="0"/>
                  </a:rPr>
                  <a:t>T2</a:t>
                </a:r>
                <a:endParaRPr lang="bg-BG" altLang="en-US" sz="1600" b="1" dirty="0" smtClean="0">
                  <a:latin typeface="Arial" panose="020B0604020202020204" pitchFamily="34" charset="0"/>
                </a:endParaRPr>
              </a:p>
            </p:txBody>
          </p:sp>
        </p:grpSp>
        <p:cxnSp>
          <p:nvCxnSpPr>
            <p:cNvPr id="94" name="AutoShape 96"/>
            <p:cNvCxnSpPr>
              <a:cxnSpLocks noChangeShapeType="1"/>
            </p:cNvCxnSpPr>
            <p:nvPr/>
          </p:nvCxnSpPr>
          <p:spPr bwMode="auto">
            <a:xfrm rot="10800000" flipH="1" flipV="1">
              <a:off x="1461" y="1854"/>
              <a:ext cx="1" cy="521"/>
            </a:xfrm>
            <a:prstGeom prst="bentConnector3">
              <a:avLst>
                <a:gd name="adj1" fmla="val -14400005"/>
              </a:avLst>
            </a:prstGeom>
            <a:noFill/>
            <a:ln w="28575">
              <a:solidFill>
                <a:schemeClr val="tx1"/>
              </a:solidFill>
              <a:miter lim="800000"/>
              <a:headEnd/>
              <a:tailEnd/>
            </a:ln>
            <a:extLst>
              <a:ext uri="{909E8E84-426E-40DD-AFC4-6F175D3DCCD1}">
                <a14:hiddenFill xmlns:a14="http://schemas.microsoft.com/office/drawing/2010/main">
                  <a:noFill/>
                </a14:hiddenFill>
              </a:ext>
            </a:extLst>
          </p:spPr>
        </p:cxnSp>
        <p:cxnSp>
          <p:nvCxnSpPr>
            <p:cNvPr id="96" name="AutoShape 98"/>
            <p:cNvCxnSpPr>
              <a:cxnSpLocks noChangeShapeType="1"/>
              <a:stCxn id="105" idx="3"/>
            </p:cNvCxnSpPr>
            <p:nvPr/>
          </p:nvCxnSpPr>
          <p:spPr bwMode="auto">
            <a:xfrm>
              <a:off x="1068" y="2144"/>
              <a:ext cx="245" cy="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62330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Инкрементален подход</a:t>
            </a:r>
            <a:endParaRPr lang="en-US"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800" dirty="0" smtClean="0"/>
              <a:t>Същност</a:t>
            </a:r>
          </a:p>
          <a:p>
            <a:pPr lvl="1">
              <a:spcBef>
                <a:spcPts val="0"/>
              </a:spcBef>
            </a:pPr>
            <a:r>
              <a:rPr lang="bg-BG" sz="2400" dirty="0" smtClean="0"/>
              <a:t>Този подход се осъществява чрез използване на фиктивни програми, наречени </a:t>
            </a:r>
            <a:r>
              <a:rPr lang="bg-BG" sz="2400" dirty="0" err="1" smtClean="0"/>
              <a:t>Stubs</a:t>
            </a:r>
            <a:r>
              <a:rPr lang="bg-BG" sz="2400" dirty="0" smtClean="0"/>
              <a:t> </a:t>
            </a:r>
            <a:r>
              <a:rPr lang="bg-BG" sz="2400" dirty="0" err="1" smtClean="0"/>
              <a:t>and</a:t>
            </a:r>
            <a:r>
              <a:rPr lang="bg-BG" sz="2400" dirty="0" smtClean="0"/>
              <a:t> </a:t>
            </a:r>
            <a:r>
              <a:rPr lang="bg-BG" sz="2400" dirty="0" err="1" smtClean="0"/>
              <a:t>Drivers</a:t>
            </a:r>
            <a:r>
              <a:rPr lang="bg-BG" sz="2400" dirty="0" smtClean="0"/>
              <a:t>.</a:t>
            </a:r>
          </a:p>
          <a:p>
            <a:pPr lvl="2">
              <a:spcBef>
                <a:spcPts val="0"/>
              </a:spcBef>
            </a:pPr>
            <a:r>
              <a:rPr lang="bg-BG" sz="2000" dirty="0" smtClean="0"/>
              <a:t>Те не прилагат цялата логика на програмиране на софтуерния модул, а просто симулират комуникацията на данни с извикващия модул.</a:t>
            </a:r>
          </a:p>
          <a:p>
            <a:pPr lvl="2">
              <a:spcBef>
                <a:spcPts val="0"/>
              </a:spcBef>
            </a:pPr>
            <a:r>
              <a:rPr lang="bg-BG" sz="2000" dirty="0" err="1" smtClean="0"/>
              <a:t>Stub</a:t>
            </a:r>
            <a:r>
              <a:rPr lang="bg-BG" sz="2000" dirty="0" smtClean="0"/>
              <a:t> се извиква от тествания модул.</a:t>
            </a:r>
            <a:endParaRPr lang="bg-BG" sz="2000" dirty="0"/>
          </a:p>
          <a:p>
            <a:pPr lvl="2">
              <a:spcBef>
                <a:spcPts val="0"/>
              </a:spcBef>
            </a:pPr>
            <a:r>
              <a:rPr lang="en-US" sz="2000" dirty="0" smtClean="0"/>
              <a:t>Driver</a:t>
            </a:r>
            <a:r>
              <a:rPr lang="bg-BG" sz="2000" dirty="0" smtClean="0"/>
              <a:t> се извиква от модула за тестване.</a:t>
            </a:r>
          </a:p>
          <a:p>
            <a:pPr marL="342900" lvl="1">
              <a:spcBef>
                <a:spcPts val="0"/>
              </a:spcBef>
              <a:buFont typeface="Wingdings" pitchFamily="2" charset="2"/>
              <a:buChar char="Ä"/>
            </a:pPr>
            <a:r>
              <a:rPr lang="bg-BG" dirty="0" smtClean="0">
                <a:ea typeface="+mn-ea"/>
                <a:cs typeface="+mn-cs"/>
              </a:rPr>
              <a:t>Реализация</a:t>
            </a:r>
          </a:p>
          <a:p>
            <a:pPr lvl="1">
              <a:spcBef>
                <a:spcPts val="0"/>
              </a:spcBef>
            </a:pPr>
            <a:r>
              <a:rPr lang="bg-BG" sz="2400" dirty="0"/>
              <a:t>Отгоре-Надолу (</a:t>
            </a:r>
            <a:r>
              <a:rPr lang="bg-BG" sz="2400" dirty="0" err="1"/>
              <a:t>англ</a:t>
            </a:r>
            <a:r>
              <a:rPr lang="bg-BG" sz="2400" dirty="0"/>
              <a:t>. </a:t>
            </a:r>
            <a:r>
              <a:rPr lang="bg-BG" sz="2400" dirty="0" err="1"/>
              <a:t>Top-Down</a:t>
            </a:r>
            <a:r>
              <a:rPr lang="bg-BG" sz="2400" dirty="0"/>
              <a:t>)</a:t>
            </a:r>
          </a:p>
          <a:p>
            <a:pPr lvl="1">
              <a:spcBef>
                <a:spcPts val="0"/>
              </a:spcBef>
            </a:pPr>
            <a:r>
              <a:rPr lang="bg-BG" sz="2400" dirty="0"/>
              <a:t>Отдолу-Нагоре  (</a:t>
            </a:r>
            <a:r>
              <a:rPr lang="bg-BG" sz="2400" dirty="0" err="1"/>
              <a:t>англ</a:t>
            </a:r>
            <a:r>
              <a:rPr lang="bg-BG" sz="2400" dirty="0"/>
              <a:t>. </a:t>
            </a:r>
            <a:r>
              <a:rPr lang="bg-BG" sz="2400" dirty="0" err="1"/>
              <a:t>Bottom-Up</a:t>
            </a:r>
            <a:r>
              <a:rPr lang="bg-BG" sz="2400" dirty="0"/>
              <a:t>)</a:t>
            </a:r>
          </a:p>
          <a:p>
            <a:pPr lvl="1">
              <a:spcBef>
                <a:spcPts val="0"/>
              </a:spcBef>
            </a:pPr>
            <a:r>
              <a:rPr lang="bg-BG" sz="2400" dirty="0" err="1"/>
              <a:t>Фибриден</a:t>
            </a:r>
            <a:r>
              <a:rPr lang="bg-BG" sz="2400" dirty="0"/>
              <a:t> подход (</a:t>
            </a:r>
            <a:r>
              <a:rPr lang="bg-BG" sz="2400" dirty="0" err="1"/>
              <a:t>англ</a:t>
            </a:r>
            <a:r>
              <a:rPr lang="bg-BG" sz="2400" dirty="0"/>
              <a:t>. </a:t>
            </a:r>
            <a:r>
              <a:rPr lang="bg-BG" sz="2400" dirty="0" err="1"/>
              <a:t>Sandwich</a:t>
            </a:r>
            <a:r>
              <a:rPr lang="bg-BG" sz="2400" dirty="0"/>
              <a:t>)</a:t>
            </a:r>
          </a:p>
          <a:p>
            <a:pPr marL="800100" lvl="2">
              <a:spcBef>
                <a:spcPts val="0"/>
              </a:spcBef>
              <a:buFont typeface="Wingdings" pitchFamily="2" charset="2"/>
              <a:buChar char="Ä"/>
            </a:pPr>
            <a:endParaRPr lang="bg-BG" dirty="0">
              <a:ea typeface="+mn-ea"/>
              <a:cs typeface="+mn-cs"/>
            </a:endParaRPr>
          </a:p>
        </p:txBody>
      </p:sp>
    </p:spTree>
    <p:extLst>
      <p:ext uri="{BB962C8B-B14F-4D97-AF65-F5344CB8AC3E}">
        <p14:creationId xmlns:p14="http://schemas.microsoft.com/office/powerpoint/2010/main" val="12445386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guru99.com/images/top-down-integration-test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4581128"/>
            <a:ext cx="3707853" cy="187315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bg-BG" sz="4000" dirty="0" smtClean="0"/>
              <a:t>Интегриране „Отгоре-Надолу“</a:t>
            </a:r>
            <a:endParaRPr lang="en-US" sz="4000"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При този тип подход за всеки модул  индивидуално се тества само потребителския интерфейс като основната функционалност е симулирана от </a:t>
            </a:r>
            <a:r>
              <a:rPr lang="bg-BG" sz="2600" dirty="0" err="1" smtClean="0"/>
              <a:t>Stub-блокове</a:t>
            </a:r>
            <a:r>
              <a:rPr lang="bg-BG" sz="2600" dirty="0" smtClean="0"/>
              <a:t>.</a:t>
            </a:r>
          </a:p>
          <a:p>
            <a:pPr lvl="1">
              <a:spcBef>
                <a:spcPts val="0"/>
              </a:spcBef>
            </a:pPr>
            <a:r>
              <a:rPr lang="bg-BG" sz="2200" dirty="0" smtClean="0"/>
              <a:t>След всеки успешен тест се предвижваме надолу като заменяме някой от </a:t>
            </a:r>
            <a:r>
              <a:rPr lang="bg-BG" sz="2200" dirty="0" err="1" smtClean="0"/>
              <a:t>Stub-блоковете</a:t>
            </a:r>
            <a:r>
              <a:rPr lang="bg-BG" sz="2200" dirty="0" smtClean="0"/>
              <a:t> с действителния блок.</a:t>
            </a:r>
          </a:p>
          <a:p>
            <a:pPr lvl="1">
              <a:spcBef>
                <a:spcPts val="0"/>
              </a:spcBef>
            </a:pPr>
            <a:r>
              <a:rPr lang="bg-BG" sz="2200" dirty="0" smtClean="0"/>
              <a:t>Това води до интегриране на по-долните слоеве.</a:t>
            </a:r>
          </a:p>
          <a:p>
            <a:pPr>
              <a:spcBef>
                <a:spcPts val="0"/>
              </a:spcBef>
            </a:pPr>
            <a:r>
              <a:rPr lang="bg-BG" sz="2600" dirty="0" smtClean="0"/>
              <a:t>Защо?</a:t>
            </a:r>
          </a:p>
          <a:p>
            <a:pPr lvl="1">
              <a:spcBef>
                <a:spcPts val="0"/>
              </a:spcBef>
            </a:pPr>
            <a:r>
              <a:rPr lang="bg-BG" sz="2200" dirty="0" smtClean="0"/>
              <a:t>Локализацията на грешки е по-лесна.</a:t>
            </a:r>
          </a:p>
          <a:p>
            <a:pPr lvl="1">
              <a:spcBef>
                <a:spcPts val="0"/>
              </a:spcBef>
            </a:pPr>
            <a:r>
              <a:rPr lang="bg-BG" sz="2200" dirty="0" smtClean="0"/>
              <a:t>Възможност за получаване на ранен прототип.</a:t>
            </a:r>
          </a:p>
          <a:p>
            <a:pPr lvl="1">
              <a:spcBef>
                <a:spcPts val="0"/>
              </a:spcBef>
            </a:pPr>
            <a:r>
              <a:rPr lang="bg-BG" sz="2200" dirty="0" smtClean="0"/>
              <a:t>Критичните модули се тестват по приоритет, т.е. критично-опасните недостатъци ще бъдат открити и отстранени най-рано.</a:t>
            </a:r>
          </a:p>
          <a:p>
            <a:pPr lvl="1">
              <a:spcBef>
                <a:spcPts val="0"/>
              </a:spcBef>
            </a:pPr>
            <a:endParaRPr lang="bg-BG" sz="2200" dirty="0"/>
          </a:p>
        </p:txBody>
      </p:sp>
    </p:spTree>
    <p:extLst>
      <p:ext uri="{BB962C8B-B14F-4D97-AF65-F5344CB8AC3E}">
        <p14:creationId xmlns:p14="http://schemas.microsoft.com/office/powerpoint/2010/main" val="20726461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30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2636912"/>
            <a:ext cx="4637087"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0179"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sz="4000" dirty="0"/>
              <a:t>Интегриране „Отгоре-Надолу“</a:t>
            </a:r>
            <a:endParaRPr lang="bg-BG" altLang="en-US" sz="4000" dirty="0" smtClean="0">
              <a:effectLst/>
            </a:endParaRPr>
          </a:p>
        </p:txBody>
      </p:sp>
      <p:pic>
        <p:nvPicPr>
          <p:cNvPr id="39941" name="Picture 5"/>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400199" y="4183137"/>
            <a:ext cx="4154488" cy="1841500"/>
          </a:xfrm>
          <a:noFill/>
          <a:extLst>
            <a:ext uri="{909E8E84-426E-40DD-AFC4-6F175D3DCCD1}">
              <a14:hiddenFill xmlns:a14="http://schemas.microsoft.com/office/drawing/2010/main">
                <a:solidFill>
                  <a:srgbClr val="FFFFFF"/>
                </a:solidFill>
              </a14:hiddenFill>
            </a:ext>
          </a:extLst>
        </p:spPr>
      </p:pic>
      <p:pic>
        <p:nvPicPr>
          <p:cNvPr id="399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343" y="2236489"/>
            <a:ext cx="31242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672373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linds(horizontal)">
                                      <p:cBhvr>
                                        <p:cTn id="7" dur="500"/>
                                        <p:tgtEl>
                                          <p:spTgt spid="399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41"/>
                                        </p:tgtEl>
                                        <p:attrNameLst>
                                          <p:attrName>style.visibility</p:attrName>
                                        </p:attrNameLst>
                                      </p:cBhvr>
                                      <p:to>
                                        <p:strVal val="visible"/>
                                      </p:to>
                                    </p:set>
                                    <p:animEffect transition="in" filter="blinds(horizontal)">
                                      <p:cBhvr>
                                        <p:cTn id="12" dur="500"/>
                                        <p:tgtEl>
                                          <p:spTgt spid="399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blinds(horizontal)">
                                      <p:cBhvr>
                                        <p:cTn id="17" dur="5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Интегриране „Отгоре-Надолу“</a:t>
            </a:r>
            <a:endParaRPr lang="en-US" sz="4000"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При този тип подход за всеки модул  индивидуално се тества само потребителския интерфейс като основната функционалност е симулирана от </a:t>
            </a:r>
            <a:r>
              <a:rPr lang="bg-BG" sz="2600" dirty="0" err="1" smtClean="0"/>
              <a:t>Stub-блокове</a:t>
            </a:r>
            <a:r>
              <a:rPr lang="bg-BG" sz="2600" dirty="0" smtClean="0"/>
              <a:t>.</a:t>
            </a:r>
          </a:p>
          <a:p>
            <a:pPr lvl="1">
              <a:spcBef>
                <a:spcPts val="0"/>
              </a:spcBef>
            </a:pPr>
            <a:r>
              <a:rPr lang="bg-BG" sz="2200" dirty="0" smtClean="0"/>
              <a:t>След всеки успешен тест се преминава към интегрирането на нов блок като заменяме неговия  </a:t>
            </a:r>
            <a:r>
              <a:rPr lang="bg-BG" sz="2200" dirty="0" err="1" smtClean="0"/>
              <a:t>Stub-блок</a:t>
            </a:r>
            <a:r>
              <a:rPr lang="bg-BG" sz="2200" dirty="0" smtClean="0"/>
              <a:t> с действителния блок.</a:t>
            </a:r>
          </a:p>
          <a:p>
            <a:pPr lvl="1">
              <a:spcBef>
                <a:spcPts val="0"/>
              </a:spcBef>
            </a:pPr>
            <a:r>
              <a:rPr lang="bg-BG" sz="2200" dirty="0" smtClean="0"/>
              <a:t>Интегрирането на по-долните слоеве става по два начина:</a:t>
            </a:r>
          </a:p>
          <a:p>
            <a:pPr lvl="2">
              <a:spcBef>
                <a:spcPts val="0"/>
              </a:spcBef>
            </a:pPr>
            <a:r>
              <a:rPr lang="bg-BG" sz="1900" dirty="0" smtClean="0"/>
              <a:t>Интегриране в дълбочина (</a:t>
            </a:r>
            <a:r>
              <a:rPr lang="bg-BG" sz="1900" dirty="0" err="1" smtClean="0"/>
              <a:t>англ</a:t>
            </a:r>
            <a:r>
              <a:rPr lang="bg-BG" sz="1900" dirty="0" smtClean="0"/>
              <a:t>. </a:t>
            </a:r>
            <a:r>
              <a:rPr lang="bg-BG" sz="1900" dirty="0" err="1" smtClean="0"/>
              <a:t>depth-first</a:t>
            </a:r>
            <a:r>
              <a:rPr lang="bg-BG" sz="1900" dirty="0" smtClean="0"/>
              <a:t> </a:t>
            </a:r>
            <a:r>
              <a:rPr lang="bg-BG" sz="1900" dirty="0" err="1" smtClean="0"/>
              <a:t>manner</a:t>
            </a:r>
            <a:r>
              <a:rPr lang="bg-BG" sz="1900" dirty="0" smtClean="0"/>
              <a:t>) - известна загуба на контрол конкретни тестове и включването на конкретни модули, т.е по-сложно определяне на причината за грешката. </a:t>
            </a:r>
          </a:p>
          <a:p>
            <a:pPr lvl="2">
              <a:spcBef>
                <a:spcPts val="0"/>
              </a:spcBef>
            </a:pPr>
            <a:r>
              <a:rPr lang="bg-BG" sz="1900" dirty="0" smtClean="0"/>
              <a:t>Интегриране в широчина (</a:t>
            </a:r>
            <a:r>
              <a:rPr lang="bg-BG" sz="1900" dirty="0" err="1" smtClean="0"/>
              <a:t>англ</a:t>
            </a:r>
            <a:r>
              <a:rPr lang="bg-BG" sz="1900" dirty="0" smtClean="0"/>
              <a:t>. </a:t>
            </a:r>
            <a:r>
              <a:rPr lang="bg-BG" sz="1900" dirty="0" err="1" smtClean="0"/>
              <a:t>breadth-first</a:t>
            </a:r>
            <a:r>
              <a:rPr lang="bg-BG" sz="1900" dirty="0" smtClean="0"/>
              <a:t> </a:t>
            </a:r>
            <a:r>
              <a:rPr lang="bg-BG" sz="1900" dirty="0" err="1" smtClean="0"/>
              <a:t>manner</a:t>
            </a:r>
            <a:r>
              <a:rPr lang="bg-BG" sz="1900" dirty="0" smtClean="0"/>
              <a:t>) – изисква по сложни </a:t>
            </a:r>
            <a:r>
              <a:rPr lang="bg-BG" sz="1900" dirty="0" err="1" smtClean="0"/>
              <a:t>Stub-модули</a:t>
            </a:r>
            <a:endParaRPr lang="bg-BG" sz="1900" dirty="0"/>
          </a:p>
        </p:txBody>
      </p:sp>
    </p:spTree>
    <p:extLst>
      <p:ext uri="{BB962C8B-B14F-4D97-AF65-F5344CB8AC3E}">
        <p14:creationId xmlns:p14="http://schemas.microsoft.com/office/powerpoint/2010/main" val="25911745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1854324"/>
            <a:ext cx="4102311" cy="2870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bg-BG" sz="4000" dirty="0" smtClean="0"/>
              <a:t>Интегриране „Отгоре-Надолу“</a:t>
            </a:r>
            <a:endParaRPr lang="en-US" sz="4000"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dirty="0" smtClean="0"/>
              <a:t>Пример:</a:t>
            </a:r>
          </a:p>
        </p:txBody>
      </p:sp>
      <p:sp>
        <p:nvSpPr>
          <p:cNvPr id="4" name="Rectangle 3"/>
          <p:cNvSpPr/>
          <p:nvPr/>
        </p:nvSpPr>
        <p:spPr>
          <a:xfrm>
            <a:off x="755576" y="4221088"/>
            <a:ext cx="2808312" cy="2385268"/>
          </a:xfrm>
          <a:prstGeom prst="rect">
            <a:avLst/>
          </a:prstGeom>
        </p:spPr>
        <p:txBody>
          <a:bodyPr wrap="square">
            <a:spAutoFit/>
          </a:bodyPr>
          <a:lstStyle/>
          <a:p>
            <a:pPr marL="114300" lvl="1" algn="l">
              <a:spcBef>
                <a:spcPts val="0"/>
              </a:spcBef>
            </a:pPr>
            <a:r>
              <a:rPr lang="bg-BG" u="sng" dirty="0" smtClean="0">
                <a:effectLst>
                  <a:outerShdw blurRad="38100" dist="38100" dir="2700000" algn="tl">
                    <a:srgbClr val="000000">
                      <a:alpha val="43137"/>
                    </a:srgbClr>
                  </a:outerShdw>
                </a:effectLst>
                <a:latin typeface="Calibri" panose="020F0502020204030204" pitchFamily="34" charset="0"/>
              </a:rPr>
              <a:t>В дълбочина:</a:t>
            </a:r>
          </a:p>
          <a:p>
            <a:pPr marL="457200" lvl="2" indent="-342900" algn="l">
              <a:spcBef>
                <a:spcPts val="600"/>
              </a:spcBef>
              <a:buFont typeface="+mj-lt"/>
              <a:buAutoNum type="arabicPeriod"/>
            </a:pPr>
            <a:r>
              <a:rPr lang="en-US" sz="2000" dirty="0" smtClean="0">
                <a:latin typeface="Calibri" panose="020F0502020204030204" pitchFamily="34" charset="0"/>
              </a:rPr>
              <a:t>A, B, E</a:t>
            </a:r>
          </a:p>
          <a:p>
            <a:pPr marL="457200" lvl="2" indent="-342900" algn="l">
              <a:spcBef>
                <a:spcPts val="0"/>
              </a:spcBef>
              <a:buFont typeface="+mj-lt"/>
              <a:buAutoNum type="arabicPeriod"/>
            </a:pPr>
            <a:r>
              <a:rPr lang="en-US" sz="2000" dirty="0" smtClean="0">
                <a:latin typeface="Calibri" panose="020F0502020204030204" pitchFamily="34" charset="0"/>
              </a:rPr>
              <a:t>F, J</a:t>
            </a:r>
          </a:p>
          <a:p>
            <a:pPr marL="457200" lvl="2" indent="-342900" algn="l">
              <a:spcBef>
                <a:spcPts val="0"/>
              </a:spcBef>
              <a:buFont typeface="+mj-lt"/>
              <a:buAutoNum type="arabicPeriod"/>
            </a:pPr>
            <a:r>
              <a:rPr lang="en-US" sz="2000" dirty="0" smtClean="0">
                <a:latin typeface="Calibri" panose="020F0502020204030204" pitchFamily="34" charset="0"/>
              </a:rPr>
              <a:t>C, G</a:t>
            </a:r>
          </a:p>
          <a:p>
            <a:pPr marL="457200" lvl="2" indent="-342900" algn="l">
              <a:spcBef>
                <a:spcPts val="0"/>
              </a:spcBef>
              <a:buFont typeface="+mj-lt"/>
              <a:buAutoNum type="arabicPeriod"/>
            </a:pPr>
            <a:r>
              <a:rPr lang="en-US" sz="2000" dirty="0" smtClean="0">
                <a:latin typeface="Calibri" panose="020F0502020204030204" pitchFamily="34" charset="0"/>
              </a:rPr>
              <a:t>D, H, K</a:t>
            </a:r>
          </a:p>
          <a:p>
            <a:pPr marL="457200" lvl="2" indent="-342900" algn="l">
              <a:spcBef>
                <a:spcPts val="0"/>
              </a:spcBef>
              <a:buFont typeface="+mj-lt"/>
              <a:buAutoNum type="arabicPeriod"/>
            </a:pPr>
            <a:r>
              <a:rPr lang="en-US" sz="2000" dirty="0" smtClean="0">
                <a:latin typeface="Calibri" panose="020F0502020204030204" pitchFamily="34" charset="0"/>
              </a:rPr>
              <a:t>L, M</a:t>
            </a:r>
          </a:p>
          <a:p>
            <a:pPr marL="457200" lvl="2" indent="-342900" algn="l">
              <a:spcBef>
                <a:spcPts val="0"/>
              </a:spcBef>
              <a:buFont typeface="+mj-lt"/>
              <a:buAutoNum type="arabicPeriod"/>
            </a:pPr>
            <a:r>
              <a:rPr lang="en-US" sz="2000" dirty="0">
                <a:latin typeface="Calibri" panose="020F0502020204030204" pitchFamily="34" charset="0"/>
              </a:rPr>
              <a:t>I</a:t>
            </a:r>
            <a:endParaRPr lang="bg-BG" sz="2000" dirty="0">
              <a:latin typeface="Calibri" panose="020F0502020204030204" pitchFamily="34" charset="0"/>
            </a:endParaRPr>
          </a:p>
        </p:txBody>
      </p:sp>
      <p:sp>
        <p:nvSpPr>
          <p:cNvPr id="6" name="Rectangle 5"/>
          <p:cNvSpPr/>
          <p:nvPr/>
        </p:nvSpPr>
        <p:spPr>
          <a:xfrm>
            <a:off x="3131840" y="4221088"/>
            <a:ext cx="2232248" cy="2154436"/>
          </a:xfrm>
          <a:prstGeom prst="rect">
            <a:avLst/>
          </a:prstGeom>
        </p:spPr>
        <p:txBody>
          <a:bodyPr wrap="square">
            <a:spAutoFit/>
          </a:bodyPr>
          <a:lstStyle/>
          <a:p>
            <a:pPr marL="114300" lvl="1" algn="l">
              <a:spcBef>
                <a:spcPts val="0"/>
              </a:spcBef>
              <a:buSzPct val="75000"/>
            </a:pPr>
            <a:r>
              <a:rPr lang="bg-BG" u="sng" dirty="0">
                <a:effectLst>
                  <a:outerShdw blurRad="38100" dist="38100" dir="2700000" algn="tl">
                    <a:srgbClr val="000000">
                      <a:alpha val="43137"/>
                    </a:srgbClr>
                  </a:outerShdw>
                </a:effectLst>
                <a:latin typeface="Calibri" panose="020F0502020204030204" pitchFamily="34" charset="0"/>
              </a:rPr>
              <a:t>В широчина:</a:t>
            </a:r>
            <a:endParaRPr lang="en-US" u="sng" dirty="0">
              <a:effectLst>
                <a:outerShdw blurRad="38100" dist="38100" dir="2700000" algn="tl">
                  <a:srgbClr val="000000">
                    <a:alpha val="43137"/>
                  </a:srgbClr>
                </a:outerShdw>
              </a:effectLst>
              <a:latin typeface="Calibri" panose="020F0502020204030204" pitchFamily="34" charset="0"/>
            </a:endParaRPr>
          </a:p>
          <a:p>
            <a:pPr marL="571500" lvl="2" indent="-457200" algn="l">
              <a:spcBef>
                <a:spcPts val="600"/>
              </a:spcBef>
              <a:buFont typeface="+mj-lt"/>
              <a:buAutoNum type="arabicPeriod"/>
            </a:pPr>
            <a:r>
              <a:rPr lang="en-US" sz="2000" dirty="0">
                <a:latin typeface="Calibri" panose="020F0502020204030204" pitchFamily="34" charset="0"/>
              </a:rPr>
              <a:t>A</a:t>
            </a:r>
          </a:p>
          <a:p>
            <a:pPr marL="571500" lvl="2" indent="-457200" algn="l">
              <a:spcBef>
                <a:spcPts val="0"/>
              </a:spcBef>
              <a:buFont typeface="+mj-lt"/>
              <a:buAutoNum type="arabicPeriod"/>
            </a:pPr>
            <a:r>
              <a:rPr lang="en-US" sz="2000" dirty="0">
                <a:latin typeface="Calibri" panose="020F0502020204030204" pitchFamily="34" charset="0"/>
              </a:rPr>
              <a:t>B, C, D</a:t>
            </a:r>
          </a:p>
          <a:p>
            <a:pPr marL="571500" lvl="2" indent="-457200" algn="l">
              <a:spcBef>
                <a:spcPts val="0"/>
              </a:spcBef>
              <a:buFont typeface="+mj-lt"/>
              <a:buAutoNum type="arabicPeriod"/>
            </a:pPr>
            <a:r>
              <a:rPr lang="en-US" sz="2000" dirty="0">
                <a:latin typeface="Calibri" panose="020F0502020204030204" pitchFamily="34" charset="0"/>
              </a:rPr>
              <a:t>E, F, G, H, I</a:t>
            </a:r>
          </a:p>
          <a:p>
            <a:pPr marL="571500" lvl="2" indent="-457200" algn="l">
              <a:spcBef>
                <a:spcPts val="0"/>
              </a:spcBef>
              <a:buFont typeface="+mj-lt"/>
              <a:buAutoNum type="arabicPeriod"/>
            </a:pPr>
            <a:r>
              <a:rPr lang="en-US" sz="2000" dirty="0">
                <a:latin typeface="Calibri" panose="020F0502020204030204" pitchFamily="34" charset="0"/>
              </a:rPr>
              <a:t>J, K, L</a:t>
            </a:r>
          </a:p>
          <a:p>
            <a:pPr marL="571500" lvl="2" indent="-457200" algn="l">
              <a:spcBef>
                <a:spcPts val="0"/>
              </a:spcBef>
              <a:buFont typeface="+mj-lt"/>
              <a:buAutoNum type="arabicPeriod"/>
            </a:pPr>
            <a:r>
              <a:rPr lang="en-US" sz="2000" dirty="0">
                <a:latin typeface="Calibri" panose="020F0502020204030204" pitchFamily="34" charset="0"/>
              </a:rPr>
              <a:t>M</a:t>
            </a:r>
            <a:endParaRPr lang="bg-BG" sz="2000" dirty="0">
              <a:latin typeface="Calibri" panose="020F0502020204030204" pitchFamily="34" charset="0"/>
            </a:endParaRPr>
          </a:p>
        </p:txBody>
      </p:sp>
    </p:spTree>
    <p:extLst>
      <p:ext uri="{BB962C8B-B14F-4D97-AF65-F5344CB8AC3E}">
        <p14:creationId xmlns:p14="http://schemas.microsoft.com/office/powerpoint/2010/main" val="3782813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Интегриране „Отгоре-Надолу“</a:t>
            </a:r>
            <a:endParaRPr lang="en-US" sz="4000"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Този подход за интегриране звучи сравнително несложно, но на практика възникват логистични проблеми:</a:t>
            </a:r>
          </a:p>
          <a:p>
            <a:pPr lvl="1">
              <a:spcBef>
                <a:spcPts val="0"/>
              </a:spcBef>
            </a:pPr>
            <a:r>
              <a:rPr lang="bg-BG" sz="2400" dirty="0" smtClean="0"/>
              <a:t>Най-честите проблеми възникват, когато се изисква замяна на ниски нива в йерархията за адекватно тестване на горните нива.</a:t>
            </a:r>
          </a:p>
          <a:p>
            <a:pPr lvl="2">
              <a:spcBef>
                <a:spcPts val="0"/>
              </a:spcBef>
            </a:pPr>
            <a:r>
              <a:rPr lang="bg-BG" sz="2000" dirty="0" smtClean="0"/>
              <a:t>Разработете </a:t>
            </a:r>
            <a:r>
              <a:rPr lang="bg-BG" sz="2000" dirty="0" err="1" smtClean="0"/>
              <a:t>Stub-модули</a:t>
            </a:r>
            <a:r>
              <a:rPr lang="bg-BG" sz="2000" dirty="0" smtClean="0"/>
              <a:t> реализират само ограничен набор функции на симулирания модул, т.е. никакви значителни данни не могат да текат нагоре в програмата.</a:t>
            </a:r>
          </a:p>
          <a:p>
            <a:pPr lvl="2">
              <a:spcBef>
                <a:spcPts val="0"/>
              </a:spcBef>
            </a:pPr>
            <a:r>
              <a:rPr lang="bg-BG" sz="2000" dirty="0" smtClean="0"/>
              <a:t>Забавя се тестването докато </a:t>
            </a:r>
            <a:r>
              <a:rPr lang="bg-BG" sz="2000" dirty="0" err="1" smtClean="0"/>
              <a:t>Stub-модули</a:t>
            </a:r>
            <a:r>
              <a:rPr lang="bg-BG" sz="2000" dirty="0" smtClean="0"/>
              <a:t> се заменят с действителните модули.</a:t>
            </a:r>
          </a:p>
          <a:p>
            <a:pPr lvl="1">
              <a:spcBef>
                <a:spcPts val="0"/>
              </a:spcBef>
            </a:pPr>
            <a:r>
              <a:rPr lang="bg-BG" sz="2400" dirty="0" smtClean="0"/>
              <a:t>Най-ниското ниво в повечето случаи не се тества адекватно.</a:t>
            </a:r>
            <a:endParaRPr lang="bg-BG" sz="2400" dirty="0"/>
          </a:p>
        </p:txBody>
      </p:sp>
    </p:spTree>
    <p:extLst>
      <p:ext uri="{BB962C8B-B14F-4D97-AF65-F5344CB8AC3E}">
        <p14:creationId xmlns:p14="http://schemas.microsoft.com/office/powerpoint/2010/main" val="3437904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sz="4000" dirty="0"/>
              <a:t>Интегриране „</a:t>
            </a:r>
            <a:r>
              <a:rPr lang="bg-BG" sz="4000" dirty="0" smtClean="0"/>
              <a:t>Отдолу-Нагоре“</a:t>
            </a:r>
            <a:endParaRPr lang="bg-BG" altLang="en-US" sz="4000" dirty="0" smtClean="0">
              <a:effectLst/>
            </a:endParaRPr>
          </a:p>
        </p:txBody>
      </p:sp>
      <p:sp>
        <p:nvSpPr>
          <p:cNvPr id="51203" name="Rectangle 3"/>
          <p:cNvSpPr>
            <a:spLocks noGrp="1" noChangeArrowheads="1"/>
          </p:cNvSpPr>
          <p:nvPr>
            <p:ph type="body" idx="1"/>
          </p:nvPr>
        </p:nvSpPr>
        <p:spPr>
          <a:xfrm>
            <a:off x="809624" y="1916113"/>
            <a:ext cx="8226872" cy="4613275"/>
          </a:xfrm>
          <a:extLst>
            <a:ext uri="{909E8E84-426E-40DD-AFC4-6F175D3DCCD1}">
              <a14:hiddenFill xmlns:a14="http://schemas.microsoft.com/office/drawing/2010/main">
                <a:solidFill>
                  <a:srgbClr val="FFFFFF"/>
                </a:solidFill>
              </a14:hiddenFill>
            </a:ext>
          </a:extLst>
        </p:spPr>
        <p:txBody>
          <a:bodyPr/>
          <a:lstStyle/>
          <a:p>
            <a:r>
              <a:rPr lang="bg-BG" altLang="en-US" sz="2600" dirty="0" smtClean="0"/>
              <a:t>При този подход за интегриране всеки модул от по-ниско ниво се тества с замяна на модулите от по-високи модули с </a:t>
            </a:r>
            <a:r>
              <a:rPr lang="en-US" altLang="en-US" sz="2600" dirty="0" smtClean="0"/>
              <a:t>Driver-</a:t>
            </a:r>
            <a:r>
              <a:rPr lang="bg-BG" altLang="en-US" sz="2600" dirty="0" smtClean="0"/>
              <a:t>модули, симулиращи подаването на команди и данни към ниското ниво.</a:t>
            </a:r>
          </a:p>
          <a:p>
            <a:pPr lvl="1"/>
            <a:r>
              <a:rPr lang="bg-BG" altLang="en-US" sz="2200" dirty="0" smtClean="0"/>
              <a:t>Не е необходимо наличие на </a:t>
            </a:r>
            <a:r>
              <a:rPr lang="en-US" altLang="en-US" sz="2200" dirty="0" smtClean="0"/>
              <a:t>Stub-</a:t>
            </a:r>
            <a:r>
              <a:rPr lang="bg-BG" altLang="en-US" sz="2200" dirty="0" smtClean="0"/>
              <a:t>модули, защото се започва интегриране и тестване с модули на най-ниското ниво в програмата. </a:t>
            </a:r>
            <a:endParaRPr lang="bg-BG" altLang="en-US" sz="2200" dirty="0"/>
          </a:p>
        </p:txBody>
      </p:sp>
      <p:pic>
        <p:nvPicPr>
          <p:cNvPr id="5" name="Picture 2" descr="https://www.guru99.com/images/bottom-up-integration-test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4573888"/>
            <a:ext cx="3551318" cy="1910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4722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sz="4000" dirty="0"/>
              <a:t>Интегриране „</a:t>
            </a:r>
            <a:r>
              <a:rPr lang="bg-BG" sz="4000" dirty="0" smtClean="0"/>
              <a:t>Отдолу-Нагоре“</a:t>
            </a:r>
            <a:endParaRPr lang="bg-BG" altLang="en-US" sz="4000" dirty="0" smtClean="0">
              <a:effectLst/>
            </a:endParaRPr>
          </a:p>
        </p:txBody>
      </p:sp>
      <p:sp>
        <p:nvSpPr>
          <p:cNvPr id="51203" name="Rectangle 3"/>
          <p:cNvSpPr>
            <a:spLocks noGrp="1" noChangeArrowheads="1"/>
          </p:cNvSpPr>
          <p:nvPr>
            <p:ph type="body" idx="1"/>
          </p:nvPr>
        </p:nvSpPr>
        <p:spPr>
          <a:xfrm>
            <a:off x="809625" y="1916113"/>
            <a:ext cx="7958138" cy="4613275"/>
          </a:xfrm>
          <a:extLst>
            <a:ext uri="{909E8E84-426E-40DD-AFC4-6F175D3DCCD1}">
              <a14:hiddenFill xmlns:a14="http://schemas.microsoft.com/office/drawing/2010/main">
                <a:solidFill>
                  <a:srgbClr val="FFFFFF"/>
                </a:solidFill>
              </a14:hiddenFill>
            </a:ext>
          </a:extLst>
        </p:spPr>
        <p:txBody>
          <a:bodyPr/>
          <a:lstStyle/>
          <a:p>
            <a:pPr>
              <a:spcBef>
                <a:spcPts val="0"/>
              </a:spcBef>
            </a:pPr>
            <a:r>
              <a:rPr lang="bg-BG" altLang="en-US" sz="2800" dirty="0" smtClean="0"/>
              <a:t>Реализация</a:t>
            </a:r>
          </a:p>
          <a:p>
            <a:pPr lvl="1">
              <a:spcBef>
                <a:spcPts val="0"/>
              </a:spcBef>
            </a:pPr>
            <a:r>
              <a:rPr lang="bg-BG" altLang="en-US" sz="2400" dirty="0"/>
              <a:t>Модулите от ниско ниво се </a:t>
            </a:r>
            <a:r>
              <a:rPr lang="bg-BG" altLang="en-US" sz="2400" dirty="0" err="1"/>
              <a:t>клъстеризират</a:t>
            </a:r>
            <a:r>
              <a:rPr lang="bg-BG" altLang="en-US" sz="2400" dirty="0"/>
              <a:t> (групират) според общите си </a:t>
            </a:r>
            <a:r>
              <a:rPr lang="en-US" altLang="en-US" sz="2400" dirty="0"/>
              <a:t>Driver</a:t>
            </a:r>
            <a:r>
              <a:rPr lang="bg-BG" altLang="en-US" sz="2400" dirty="0"/>
              <a:t>-модули от горно ниво</a:t>
            </a:r>
            <a:r>
              <a:rPr lang="bg-BG" altLang="en-US" sz="2400" dirty="0" smtClean="0"/>
              <a:t>.</a:t>
            </a:r>
          </a:p>
          <a:p>
            <a:pPr lvl="1">
              <a:spcBef>
                <a:spcPts val="0"/>
              </a:spcBef>
            </a:pPr>
            <a:r>
              <a:rPr lang="bg-BG" altLang="en-US" sz="2400" dirty="0" smtClean="0"/>
              <a:t>За модулите от даден клъстер се създава </a:t>
            </a:r>
            <a:r>
              <a:rPr lang="en-US" altLang="en-US" sz="2400" dirty="0" smtClean="0"/>
              <a:t>Driver-</a:t>
            </a:r>
            <a:r>
              <a:rPr lang="bg-BG" altLang="en-US" sz="2400" dirty="0" smtClean="0"/>
              <a:t>модул, който управлява В/И данни към/от модулите.</a:t>
            </a:r>
            <a:endParaRPr lang="bg-BG" altLang="en-US" sz="2400" dirty="0"/>
          </a:p>
          <a:p>
            <a:pPr lvl="1">
              <a:spcBef>
                <a:spcPts val="0"/>
              </a:spcBef>
            </a:pPr>
            <a:r>
              <a:rPr lang="bg-BG" altLang="en-US" sz="2400" dirty="0"/>
              <a:t>Всички модули от един клъстер се проверяват </a:t>
            </a:r>
            <a:r>
              <a:rPr lang="bg-BG" altLang="en-US" sz="2400" dirty="0" smtClean="0"/>
              <a:t>заедно, т.е. в един тестов процес.</a:t>
            </a:r>
            <a:endParaRPr lang="bg-BG" altLang="en-US" sz="2400" dirty="0"/>
          </a:p>
          <a:p>
            <a:pPr lvl="1">
              <a:spcBef>
                <a:spcPts val="0"/>
              </a:spcBef>
            </a:pPr>
            <a:r>
              <a:rPr lang="bg-BG" altLang="en-US" sz="2400" dirty="0"/>
              <a:t>След успешно тестване, </a:t>
            </a:r>
            <a:r>
              <a:rPr lang="en-US" altLang="en-US" sz="2400" dirty="0"/>
              <a:t>Driver</a:t>
            </a:r>
            <a:r>
              <a:rPr lang="bg-BG" altLang="en-US" sz="2400" dirty="0"/>
              <a:t>-модулът за дадения клъстер се заменя с действителния модул. </a:t>
            </a:r>
          </a:p>
          <a:p>
            <a:pPr lvl="1">
              <a:spcBef>
                <a:spcPts val="0"/>
              </a:spcBef>
            </a:pPr>
            <a:endParaRPr lang="bg-BG" altLang="en-US" sz="2400" dirty="0" smtClean="0"/>
          </a:p>
        </p:txBody>
      </p:sp>
    </p:spTree>
    <p:extLst>
      <p:ext uri="{BB962C8B-B14F-4D97-AF65-F5344CB8AC3E}">
        <p14:creationId xmlns:p14="http://schemas.microsoft.com/office/powerpoint/2010/main" val="32271328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sz="4000" dirty="0"/>
              <a:t>Интегриране „</a:t>
            </a:r>
            <a:r>
              <a:rPr lang="bg-BG" sz="4000" dirty="0" smtClean="0"/>
              <a:t>Отдолу-Нагоре“</a:t>
            </a:r>
            <a:endParaRPr lang="bg-BG" altLang="en-US" sz="4000" dirty="0" smtClean="0">
              <a:effectLst/>
            </a:endParaRPr>
          </a:p>
        </p:txBody>
      </p:sp>
      <p:sp>
        <p:nvSpPr>
          <p:cNvPr id="51203" name="Rectangle 3"/>
          <p:cNvSpPr>
            <a:spLocks noGrp="1" noChangeArrowheads="1"/>
          </p:cNvSpPr>
          <p:nvPr>
            <p:ph type="body" idx="1"/>
          </p:nvPr>
        </p:nvSpPr>
        <p:spPr>
          <a:xfrm>
            <a:off x="809625" y="1916113"/>
            <a:ext cx="7958138" cy="4613275"/>
          </a:xfrm>
          <a:extLst>
            <a:ext uri="{909E8E84-426E-40DD-AFC4-6F175D3DCCD1}">
              <a14:hiddenFill xmlns:a14="http://schemas.microsoft.com/office/drawing/2010/main">
                <a:solidFill>
                  <a:srgbClr val="FFFFFF"/>
                </a:solidFill>
              </a14:hiddenFill>
            </a:ext>
          </a:extLst>
        </p:spPr>
        <p:txBody>
          <a:bodyPr/>
          <a:lstStyle/>
          <a:p>
            <a:pPr>
              <a:spcBef>
                <a:spcPts val="0"/>
              </a:spcBef>
            </a:pPr>
            <a:r>
              <a:rPr lang="bg-BG" altLang="en-US" sz="2800" dirty="0" smtClean="0"/>
              <a:t>Реализация</a:t>
            </a:r>
          </a:p>
          <a:p>
            <a:pPr lvl="1">
              <a:spcBef>
                <a:spcPts val="0"/>
              </a:spcBef>
            </a:pPr>
            <a:endParaRPr lang="bg-BG" altLang="en-US" sz="2400"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2610222"/>
            <a:ext cx="57165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2602210"/>
            <a:ext cx="57165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4102" y="2610222"/>
            <a:ext cx="57165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4101" y="2602210"/>
            <a:ext cx="57165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4102" y="2610222"/>
            <a:ext cx="5716587"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34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bg-BG" sz="4000" dirty="0"/>
              <a:t>Интегриране „</a:t>
            </a:r>
            <a:r>
              <a:rPr lang="bg-BG" sz="4000" dirty="0" smtClean="0"/>
              <a:t>Отдолу-Нагоре“</a:t>
            </a:r>
            <a:endParaRPr lang="bg-BG" altLang="en-US" sz="4000" dirty="0" smtClean="0">
              <a:effectLst/>
            </a:endParaRPr>
          </a:p>
        </p:txBody>
      </p:sp>
      <p:sp>
        <p:nvSpPr>
          <p:cNvPr id="51203" name="Rectangle 3"/>
          <p:cNvSpPr>
            <a:spLocks noGrp="1" noChangeArrowheads="1"/>
          </p:cNvSpPr>
          <p:nvPr>
            <p:ph type="body" idx="1"/>
          </p:nvPr>
        </p:nvSpPr>
        <p:spPr>
          <a:xfrm>
            <a:off x="809625" y="1916113"/>
            <a:ext cx="7958138" cy="4613275"/>
          </a:xfrm>
          <a:extLst>
            <a:ext uri="{909E8E84-426E-40DD-AFC4-6F175D3DCCD1}">
              <a14:hiddenFill xmlns:a14="http://schemas.microsoft.com/office/drawing/2010/main">
                <a:solidFill>
                  <a:srgbClr val="FFFFFF"/>
                </a:solidFill>
              </a14:hiddenFill>
            </a:ext>
          </a:extLst>
        </p:spPr>
        <p:txBody>
          <a:bodyPr/>
          <a:lstStyle/>
          <a:p>
            <a:pPr>
              <a:spcBef>
                <a:spcPts val="0"/>
              </a:spcBef>
            </a:pPr>
            <a:r>
              <a:rPr lang="bg-BG" altLang="en-US" sz="2800" dirty="0" smtClean="0"/>
              <a:t>Предимства:</a:t>
            </a:r>
          </a:p>
          <a:p>
            <a:pPr lvl="1">
              <a:spcBef>
                <a:spcPts val="0"/>
              </a:spcBef>
            </a:pPr>
            <a:r>
              <a:rPr lang="bg-BG" altLang="en-US" sz="2400" dirty="0" smtClean="0"/>
              <a:t>Локализацията на грешки е по-лесна.</a:t>
            </a:r>
          </a:p>
          <a:p>
            <a:pPr lvl="1">
              <a:spcBef>
                <a:spcPts val="0"/>
              </a:spcBef>
            </a:pPr>
            <a:r>
              <a:rPr lang="bg-BG" altLang="en-US" sz="2400" dirty="0" smtClean="0"/>
              <a:t>Не се губи време в очакване на всички модули да бъдат разработени.</a:t>
            </a:r>
          </a:p>
          <a:p>
            <a:pPr>
              <a:spcBef>
                <a:spcPts val="0"/>
              </a:spcBef>
            </a:pPr>
            <a:r>
              <a:rPr lang="bg-BG" altLang="en-US" sz="2800" dirty="0" smtClean="0"/>
              <a:t>Недостатъци:</a:t>
            </a:r>
          </a:p>
          <a:p>
            <a:pPr lvl="1">
              <a:spcBef>
                <a:spcPts val="0"/>
              </a:spcBef>
            </a:pPr>
            <a:r>
              <a:rPr lang="bg-BG" altLang="en-US" sz="2400" dirty="0" smtClean="0"/>
              <a:t>Критичните модули, които са най-високо в софтуерната архитектура и които контролират потока на данните/информацията в системата, са тествани последно и това може да са доведе до критични дефекти.</a:t>
            </a:r>
          </a:p>
          <a:p>
            <a:pPr lvl="1">
              <a:spcBef>
                <a:spcPts val="0"/>
              </a:spcBef>
            </a:pPr>
            <a:r>
              <a:rPr lang="bg-BG" altLang="en-US" sz="2400" dirty="0" smtClean="0"/>
              <a:t>Не е възможно създаването на ранен прототип на системата. </a:t>
            </a:r>
            <a:endParaRPr lang="bg-BG" altLang="en-US" sz="2000" dirty="0" smtClean="0"/>
          </a:p>
        </p:txBody>
      </p:sp>
    </p:spTree>
    <p:extLst>
      <p:ext uri="{BB962C8B-B14F-4D97-AF65-F5344CB8AC3E}">
        <p14:creationId xmlns:p14="http://schemas.microsoft.com/office/powerpoint/2010/main" val="413071387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Хибридно интегриране</a:t>
            </a:r>
            <a:endParaRPr lang="en-US"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a:t>При този подход за интегриране се стремим да  използваме предимствата и недостатъците на двата предишни. </a:t>
            </a:r>
          </a:p>
          <a:p>
            <a:pPr lvl="1"/>
            <a:r>
              <a:rPr lang="bg-BG" sz="2400" dirty="0"/>
              <a:t>Позволява да се работи при наличие само на част от «горните» и на «долните» модули, т.е. използват се както </a:t>
            </a:r>
            <a:r>
              <a:rPr lang="bg-BG" sz="2400" dirty="0" err="1"/>
              <a:t>Driver-модули</a:t>
            </a:r>
            <a:r>
              <a:rPr lang="bg-BG" sz="2400" dirty="0"/>
              <a:t>, така и </a:t>
            </a:r>
            <a:r>
              <a:rPr lang="bg-BG" sz="2400" dirty="0" err="1"/>
              <a:t>Stub-модили</a:t>
            </a:r>
            <a:r>
              <a:rPr lang="bg-BG" sz="2400" dirty="0"/>
              <a:t>.</a:t>
            </a:r>
          </a:p>
        </p:txBody>
      </p:sp>
      <p:pic>
        <p:nvPicPr>
          <p:cNvPr id="5122" name="Picture 2" descr="https://www.guru99.com/images/1/Hybrid-Integr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8912" y="4365104"/>
            <a:ext cx="4182771" cy="2377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11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Хибридно интегриране</a:t>
            </a:r>
            <a:endParaRPr lang="en-US" dirty="0"/>
          </a:p>
        </p:txBody>
      </p:sp>
      <p:sp>
        <p:nvSpPr>
          <p:cNvPr id="3" name="Content Placeholder 2"/>
          <p:cNvSpPr>
            <a:spLocks noGrp="1"/>
          </p:cNvSpPr>
          <p:nvPr>
            <p:ph idx="1"/>
          </p:nvPr>
        </p:nvSpPr>
        <p:spPr>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bg-BG" sz="2800" dirty="0" smtClean="0"/>
              <a:t>Същност </a:t>
            </a:r>
          </a:p>
          <a:p>
            <a:pPr lvl="1"/>
            <a:r>
              <a:rPr lang="bg-BG" sz="2400" dirty="0" smtClean="0"/>
              <a:t>Този подход е насочен към по-бързо интегриране на модулите от средните нива, особено когато те са много.</a:t>
            </a:r>
          </a:p>
          <a:p>
            <a:pPr lvl="2"/>
            <a:r>
              <a:rPr lang="bg-BG" sz="2000" dirty="0" smtClean="0"/>
              <a:t>Наличието на готови модули от 1 и 2 ниво рязко съкращава тестването на модулите от средните нива.</a:t>
            </a:r>
          </a:p>
          <a:p>
            <a:pPr lvl="2"/>
            <a:r>
              <a:rPr lang="bg-BG" sz="2000" dirty="0" smtClean="0"/>
              <a:t>Наличието на повечето модули от долните нива премахва създаването на много </a:t>
            </a:r>
            <a:r>
              <a:rPr lang="bg-BG" sz="2000" dirty="0" err="1" smtClean="0"/>
              <a:t>Stub-модили</a:t>
            </a:r>
            <a:r>
              <a:rPr lang="bg-BG" sz="2000" dirty="0" smtClean="0"/>
              <a:t>.</a:t>
            </a:r>
          </a:p>
          <a:p>
            <a:pPr lvl="1"/>
            <a:r>
              <a:rPr lang="bg-BG" sz="2400" dirty="0" smtClean="0"/>
              <a:t>Позволява използването на вече съществуващи модули от предишни проекти.</a:t>
            </a:r>
            <a:endParaRPr lang="bg-BG" sz="2400" dirty="0"/>
          </a:p>
        </p:txBody>
      </p:sp>
    </p:spTree>
    <p:extLst>
      <p:ext uri="{BB962C8B-B14F-4D97-AF65-F5344CB8AC3E}">
        <p14:creationId xmlns:p14="http://schemas.microsoft.com/office/powerpoint/2010/main" val="2496116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Системен тест</a:t>
            </a:r>
            <a:endParaRPr lang="en-US" dirty="0"/>
          </a:p>
        </p:txBody>
      </p:sp>
      <p:sp>
        <p:nvSpPr>
          <p:cNvPr id="3" name="Content Placeholder 2"/>
          <p:cNvSpPr>
            <a:spLocks noGrp="1"/>
          </p:cNvSpPr>
          <p:nvPr>
            <p:ph idx="1"/>
          </p:nvPr>
        </p:nvSpPr>
        <p:spPr/>
        <p:txBody>
          <a:bodyPr/>
          <a:lstStyle/>
          <a:p>
            <a:r>
              <a:rPr lang="bg-BG" sz="2800" dirty="0" smtClean="0"/>
              <a:t>Системният тест е ниво на тестване, което се реализира върху напълно разработен и напълно интегриран софтуерен продукт. </a:t>
            </a:r>
          </a:p>
          <a:p>
            <a:pPr lvl="1"/>
            <a:r>
              <a:rPr lang="bg-BG" sz="2400" dirty="0" smtClean="0"/>
              <a:t>Целта на системния тест е да се оцени цялостната реализация на пълните спецификации на системата. </a:t>
            </a:r>
          </a:p>
          <a:p>
            <a:pPr lvl="1"/>
            <a:r>
              <a:rPr lang="bg-BG" sz="2400" dirty="0" smtClean="0"/>
              <a:t>Системният тест всъщност е поредица от различни тестове, чиято единствена цел е да се провери пълната система.</a:t>
            </a:r>
          </a:p>
          <a:p>
            <a:pPr lvl="2"/>
            <a:r>
              <a:rPr lang="bg-BG" sz="2000" dirty="0" smtClean="0"/>
              <a:t>Обикновено софтуерът е само един елемент от по-голяма компютърна система. </a:t>
            </a:r>
          </a:p>
          <a:p>
            <a:pPr lvl="2"/>
            <a:r>
              <a:rPr lang="bg-BG" sz="2000" dirty="0" smtClean="0"/>
              <a:t>В реална система софтуерът е взаимосвързан с други софтуерни / хардуерни подсистеми или външни системи. </a:t>
            </a:r>
          </a:p>
          <a:p>
            <a:pPr lvl="1"/>
            <a:endParaRPr lang="bg-BG" sz="2400" dirty="0"/>
          </a:p>
        </p:txBody>
      </p:sp>
    </p:spTree>
    <p:extLst>
      <p:ext uri="{BB962C8B-B14F-4D97-AF65-F5344CB8AC3E}">
        <p14:creationId xmlns:p14="http://schemas.microsoft.com/office/powerpoint/2010/main" val="115632856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Системен тест</a:t>
            </a:r>
            <a:endParaRPr lang="en-US" dirty="0"/>
          </a:p>
        </p:txBody>
      </p:sp>
      <p:sp>
        <p:nvSpPr>
          <p:cNvPr id="3" name="Content Placeholder 2"/>
          <p:cNvSpPr>
            <a:spLocks noGrp="1"/>
          </p:cNvSpPr>
          <p:nvPr>
            <p:ph idx="1"/>
          </p:nvPr>
        </p:nvSpPr>
        <p:spPr/>
        <p:txBody>
          <a:bodyPr/>
          <a:lstStyle/>
          <a:p>
            <a:pPr>
              <a:defRPr/>
            </a:pPr>
            <a:r>
              <a:rPr lang="bg-BG" altLang="en-US" sz="2800" dirty="0"/>
              <a:t>Извършва се от външна  група с опит както в разработката, така и в използването на такъв вид системи.</a:t>
            </a:r>
            <a:endParaRPr lang="en-US" altLang="en-US" sz="2800" dirty="0"/>
          </a:p>
          <a:p>
            <a:pPr lvl="1">
              <a:defRPr/>
            </a:pPr>
            <a:r>
              <a:rPr lang="bg-BG" altLang="en-US" sz="2400" dirty="0" smtClean="0"/>
              <a:t>Това е проверка по метода на черната кутия.</a:t>
            </a:r>
          </a:p>
          <a:p>
            <a:pPr lvl="1">
              <a:defRPr/>
            </a:pPr>
            <a:r>
              <a:rPr lang="bg-BG" altLang="en-US" sz="2400" dirty="0" smtClean="0"/>
              <a:t>За проверката на </a:t>
            </a:r>
            <a:r>
              <a:rPr lang="bg-BG" altLang="en-US" sz="2400" dirty="0"/>
              <a:t>функционалността на системата като цяло, т.е. как системата </a:t>
            </a:r>
            <a:r>
              <a:rPr lang="bg-BG" altLang="en-US" sz="2400" dirty="0" smtClean="0"/>
              <a:t>реализира </a:t>
            </a:r>
            <a:r>
              <a:rPr lang="bg-BG" altLang="en-US" sz="2400" dirty="0"/>
              <a:t>определените цели в документа за </a:t>
            </a:r>
            <a:r>
              <a:rPr lang="bg-BG" altLang="en-US" sz="2400" dirty="0" smtClean="0"/>
              <a:t>изискванията, е необходимо:</a:t>
            </a:r>
          </a:p>
          <a:p>
            <a:pPr lvl="2">
              <a:defRPr/>
            </a:pPr>
            <a:r>
              <a:rPr lang="bg-BG" altLang="en-US" sz="2000" dirty="0" smtClean="0"/>
              <a:t>Да се дефинират метрики </a:t>
            </a:r>
            <a:r>
              <a:rPr lang="bg-BG" altLang="en-US" sz="2000" dirty="0"/>
              <a:t>за измерване на степента на реализация на целите.</a:t>
            </a:r>
          </a:p>
          <a:p>
            <a:pPr lvl="2">
              <a:defRPr/>
            </a:pPr>
            <a:r>
              <a:rPr lang="bg-BG" altLang="en-US" sz="2000" dirty="0" smtClean="0"/>
              <a:t>Тестването задължително да се </a:t>
            </a:r>
            <a:r>
              <a:rPr lang="bg-BG" altLang="en-US" sz="2000" dirty="0"/>
              <a:t>извършва </a:t>
            </a:r>
            <a:r>
              <a:rPr lang="bg-BG" altLang="en-US" sz="2000" dirty="0" smtClean="0"/>
              <a:t>и оценява като </a:t>
            </a:r>
            <a:r>
              <a:rPr lang="bg-BG" altLang="en-US" sz="2000" dirty="0"/>
              <a:t>част от </a:t>
            </a:r>
            <a:r>
              <a:rPr lang="bg-BG" altLang="en-US" sz="2000" dirty="0" smtClean="0"/>
              <a:t>работна среда, зададена за проекта.</a:t>
            </a:r>
            <a:endParaRPr lang="en-US" altLang="en-US" sz="2000" dirty="0"/>
          </a:p>
          <a:p>
            <a:pPr lvl="1"/>
            <a:endParaRPr lang="bg-BG" sz="2400" dirty="0"/>
          </a:p>
        </p:txBody>
      </p:sp>
    </p:spTree>
    <p:extLst>
      <p:ext uri="{BB962C8B-B14F-4D97-AF65-F5344CB8AC3E}">
        <p14:creationId xmlns:p14="http://schemas.microsoft.com/office/powerpoint/2010/main" val="200395791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Системен тест</a:t>
            </a:r>
            <a:endParaRPr lang="en-US" dirty="0"/>
          </a:p>
        </p:txBody>
      </p:sp>
      <p:sp>
        <p:nvSpPr>
          <p:cNvPr id="3" name="Content Placeholder 2"/>
          <p:cNvSpPr>
            <a:spLocks noGrp="1"/>
          </p:cNvSpPr>
          <p:nvPr>
            <p:ph idx="1"/>
          </p:nvPr>
        </p:nvSpPr>
        <p:spPr>
          <a:xfrm>
            <a:off x="811213" y="1778000"/>
            <a:ext cx="8081267" cy="4751388"/>
          </a:xfrm>
        </p:spPr>
        <p:txBody>
          <a:bodyPr/>
          <a:lstStyle/>
          <a:p>
            <a:pPr>
              <a:spcBef>
                <a:spcPts val="0"/>
              </a:spcBef>
              <a:defRPr/>
            </a:pPr>
            <a:r>
              <a:rPr lang="bg-BG" altLang="en-US" sz="2800" dirty="0" smtClean="0"/>
              <a:t>Системният тест включва тестване на софтуерния код за няколко различни групи характеристики на системата:</a:t>
            </a:r>
          </a:p>
          <a:p>
            <a:pPr lvl="1">
              <a:spcBef>
                <a:spcPts val="0"/>
              </a:spcBef>
              <a:defRPr/>
            </a:pPr>
            <a:r>
              <a:rPr lang="bg-BG" altLang="en-US" sz="2400" dirty="0" smtClean="0"/>
              <a:t>Тестване на напълно интегрираните подсистеми и системи, включително външни периферни устройства – проверява се как компонентите си взаимодействат помежду си и със системата като цяло.</a:t>
            </a:r>
          </a:p>
          <a:p>
            <a:pPr lvl="2">
              <a:spcBef>
                <a:spcPts val="0"/>
              </a:spcBef>
              <a:defRPr/>
            </a:pPr>
            <a:r>
              <a:rPr lang="bg-BG" altLang="en-US" sz="2000" dirty="0" smtClean="0"/>
              <a:t>наричан още сценарий за тестване „</a:t>
            </a:r>
            <a:r>
              <a:rPr lang="bg-BG" altLang="en-US" sz="2000" dirty="0" err="1" smtClean="0"/>
              <a:t>End-to-End</a:t>
            </a:r>
            <a:r>
              <a:rPr lang="bg-BG" altLang="en-US" sz="2000" dirty="0" smtClean="0"/>
              <a:t>“</a:t>
            </a:r>
          </a:p>
          <a:p>
            <a:pPr lvl="1">
              <a:spcBef>
                <a:spcPts val="0"/>
              </a:spcBef>
              <a:defRPr/>
            </a:pPr>
            <a:r>
              <a:rPr lang="bg-BG" altLang="en-US" sz="2400" dirty="0" smtClean="0"/>
              <a:t>Верифициране на всяка входна точка в програмата с цел проверка за разминаване с очакваните резултати.</a:t>
            </a:r>
          </a:p>
          <a:p>
            <a:pPr lvl="1">
              <a:spcBef>
                <a:spcPts val="0"/>
              </a:spcBef>
              <a:defRPr/>
            </a:pPr>
            <a:r>
              <a:rPr lang="bg-BG" altLang="en-US" sz="2400" dirty="0" smtClean="0"/>
              <a:t>Тестване на опита на потребителя с приложението.</a:t>
            </a:r>
            <a:endParaRPr lang="bg-BG" altLang="en-US" sz="1600" dirty="0" smtClean="0"/>
          </a:p>
          <a:p>
            <a:pPr lvl="1">
              <a:spcBef>
                <a:spcPts val="0"/>
              </a:spcBef>
            </a:pPr>
            <a:endParaRPr lang="bg-BG" sz="2400" dirty="0"/>
          </a:p>
        </p:txBody>
      </p:sp>
    </p:spTree>
    <p:extLst>
      <p:ext uri="{BB962C8B-B14F-4D97-AF65-F5344CB8AC3E}">
        <p14:creationId xmlns:p14="http://schemas.microsoft.com/office/powerpoint/2010/main" val="27756836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Системен тест</a:t>
            </a:r>
            <a:endParaRPr lang="en-US" dirty="0"/>
          </a:p>
        </p:txBody>
      </p:sp>
      <p:sp>
        <p:nvSpPr>
          <p:cNvPr id="3" name="Content Placeholder 2"/>
          <p:cNvSpPr>
            <a:spLocks noGrp="1"/>
          </p:cNvSpPr>
          <p:nvPr>
            <p:ph idx="1"/>
          </p:nvPr>
        </p:nvSpPr>
        <p:spPr>
          <a:xfrm>
            <a:off x="811213" y="1778000"/>
            <a:ext cx="8332787" cy="4751388"/>
          </a:xfrm>
        </p:spPr>
        <p:txBody>
          <a:bodyPr/>
          <a:lstStyle/>
          <a:p>
            <a:pPr>
              <a:lnSpc>
                <a:spcPct val="95000"/>
              </a:lnSpc>
              <a:spcBef>
                <a:spcPts val="0"/>
              </a:spcBef>
              <a:defRPr/>
            </a:pPr>
            <a:r>
              <a:rPr lang="bg-BG" altLang="en-US" sz="2600" dirty="0" smtClean="0"/>
              <a:t>Като подход за тестване на напълно интегриран софтуерен продукт, системното тестването може да се използва за:</a:t>
            </a:r>
          </a:p>
          <a:p>
            <a:pPr lvl="1">
              <a:lnSpc>
                <a:spcPct val="95000"/>
              </a:lnSpc>
              <a:spcBef>
                <a:spcPts val="0"/>
              </a:spcBef>
              <a:defRPr/>
            </a:pPr>
            <a:r>
              <a:rPr lang="bg-BG" altLang="en-US" sz="2200" dirty="0" smtClean="0"/>
              <a:t>Тестване на интегрирането на компоненти за създаване на</a:t>
            </a:r>
            <a:r>
              <a:rPr lang="en-US" altLang="en-US" sz="2200" dirty="0" smtClean="0"/>
              <a:t>:</a:t>
            </a:r>
          </a:p>
          <a:p>
            <a:pPr lvl="2">
              <a:lnSpc>
                <a:spcPct val="95000"/>
              </a:lnSpc>
              <a:spcBef>
                <a:spcPts val="0"/>
              </a:spcBef>
              <a:defRPr/>
            </a:pPr>
            <a:r>
              <a:rPr lang="bg-BG" altLang="en-US" sz="1900" dirty="0" smtClean="0"/>
              <a:t>цялостна система</a:t>
            </a:r>
            <a:endParaRPr lang="en-US" altLang="en-US" sz="1900" dirty="0" smtClean="0"/>
          </a:p>
          <a:p>
            <a:pPr lvl="2">
              <a:lnSpc>
                <a:spcPct val="95000"/>
              </a:lnSpc>
              <a:spcBef>
                <a:spcPts val="0"/>
              </a:spcBef>
              <a:defRPr/>
            </a:pPr>
            <a:r>
              <a:rPr lang="bg-BG" altLang="en-US" sz="1900" dirty="0" smtClean="0"/>
              <a:t>подсистема.</a:t>
            </a:r>
          </a:p>
          <a:p>
            <a:pPr lvl="1">
              <a:lnSpc>
                <a:spcPct val="95000"/>
              </a:lnSpc>
              <a:spcBef>
                <a:spcPts val="0"/>
              </a:spcBef>
              <a:defRPr/>
            </a:pPr>
            <a:r>
              <a:rPr lang="bg-BG" altLang="en-US" sz="2200" dirty="0" smtClean="0"/>
              <a:t>При инкрементален (</a:t>
            </a:r>
            <a:r>
              <a:rPr lang="bg-BG" altLang="en-US" sz="2200" dirty="0" err="1" smtClean="0"/>
              <a:t>постъпков</a:t>
            </a:r>
            <a:r>
              <a:rPr lang="bg-BG" altLang="en-US" sz="2200" dirty="0" smtClean="0"/>
              <a:t>) подход на създаване на програмата, системният тест се използва за тестване на новия прираст (</a:t>
            </a:r>
            <a:r>
              <a:rPr lang="bg-BG" altLang="en-US" sz="2200" dirty="0" err="1" smtClean="0"/>
              <a:t>англ</a:t>
            </a:r>
            <a:r>
              <a:rPr lang="bg-BG" altLang="en-US" sz="2200" dirty="0" smtClean="0"/>
              <a:t>. </a:t>
            </a:r>
            <a:r>
              <a:rPr lang="en-US" altLang="en-US" sz="2200" dirty="0" smtClean="0"/>
              <a:t>I</a:t>
            </a:r>
            <a:r>
              <a:rPr lang="bg-BG" altLang="en-US" sz="2200" dirty="0" err="1" smtClean="0"/>
              <a:t>ncrement</a:t>
            </a:r>
            <a:r>
              <a:rPr lang="bg-BG" altLang="en-US" sz="2200" dirty="0" smtClean="0"/>
              <a:t>), който да бъде предоставен на клиента.</a:t>
            </a:r>
          </a:p>
          <a:p>
            <a:pPr marL="342900" lvl="1" indent="-342900">
              <a:lnSpc>
                <a:spcPct val="95000"/>
              </a:lnSpc>
              <a:spcBef>
                <a:spcPts val="0"/>
              </a:spcBef>
              <a:buFont typeface="Wingdings" pitchFamily="2" charset="2"/>
              <a:buChar char="Ä"/>
              <a:defRPr/>
            </a:pPr>
            <a:r>
              <a:rPr lang="bg-BG" sz="2600" dirty="0" smtClean="0">
                <a:ea typeface="+mn-ea"/>
                <a:cs typeface="+mn-cs"/>
              </a:rPr>
              <a:t>Обикновено има две фази:</a:t>
            </a:r>
          </a:p>
          <a:p>
            <a:pPr lvl="1">
              <a:lnSpc>
                <a:spcPct val="95000"/>
              </a:lnSpc>
              <a:spcBef>
                <a:spcPts val="0"/>
              </a:spcBef>
              <a:defRPr/>
            </a:pPr>
            <a:r>
              <a:rPr lang="bg-BG" sz="2200" dirty="0" smtClean="0"/>
              <a:t>Системната интеграция</a:t>
            </a:r>
          </a:p>
          <a:p>
            <a:pPr lvl="2">
              <a:lnSpc>
                <a:spcPct val="95000"/>
              </a:lnSpc>
              <a:spcBef>
                <a:spcPts val="0"/>
              </a:spcBef>
              <a:defRPr/>
            </a:pPr>
            <a:r>
              <a:rPr lang="en-US" sz="1900" dirty="0" smtClean="0"/>
              <a:t>a</a:t>
            </a:r>
            <a:r>
              <a:rPr lang="bg-BG" sz="1900" dirty="0" err="1" smtClean="0"/>
              <a:t>нгл</a:t>
            </a:r>
            <a:r>
              <a:rPr lang="bg-BG" sz="1900" dirty="0" smtClean="0"/>
              <a:t>. </a:t>
            </a:r>
            <a:r>
              <a:rPr lang="en-US" sz="1900" dirty="0" smtClean="0"/>
              <a:t>System Integration Testing</a:t>
            </a:r>
            <a:endParaRPr lang="bg-BG" sz="1900" dirty="0" smtClean="0"/>
          </a:p>
          <a:p>
            <a:pPr lvl="1">
              <a:lnSpc>
                <a:spcPct val="95000"/>
              </a:lnSpc>
              <a:spcBef>
                <a:spcPts val="0"/>
              </a:spcBef>
              <a:defRPr/>
            </a:pPr>
            <a:r>
              <a:rPr lang="bg-BG" sz="2200" dirty="0" smtClean="0"/>
              <a:t>Версия за клиента – извършва се с теста за приемливост</a:t>
            </a:r>
            <a:endParaRPr lang="en-US" sz="2200" dirty="0" smtClean="0"/>
          </a:p>
          <a:p>
            <a:pPr lvl="2">
              <a:lnSpc>
                <a:spcPct val="95000"/>
              </a:lnSpc>
              <a:spcBef>
                <a:spcPts val="0"/>
              </a:spcBef>
              <a:defRPr/>
            </a:pPr>
            <a:r>
              <a:rPr lang="en-US" sz="1900" dirty="0" smtClean="0"/>
              <a:t>a</a:t>
            </a:r>
            <a:r>
              <a:rPr lang="bg-BG" sz="1900" dirty="0" err="1" smtClean="0"/>
              <a:t>нгл</a:t>
            </a:r>
            <a:r>
              <a:rPr lang="bg-BG" sz="1900" dirty="0" smtClean="0"/>
              <a:t>.</a:t>
            </a:r>
            <a:r>
              <a:rPr lang="en-US" sz="1900" dirty="0" smtClean="0"/>
              <a:t> Release Testing</a:t>
            </a:r>
            <a:endParaRPr lang="bg-BG" sz="1900" dirty="0" smtClean="0"/>
          </a:p>
        </p:txBody>
      </p:sp>
    </p:spTree>
    <p:extLst>
      <p:ext uri="{BB962C8B-B14F-4D97-AF65-F5344CB8AC3E}">
        <p14:creationId xmlns:p14="http://schemas.microsoft.com/office/powerpoint/2010/main" val="4868173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Rot="1" noChangeArrowheads="1"/>
          </p:cNvSpPr>
          <p:nvPr>
            <p:ph type="title"/>
          </p:nvPr>
        </p:nvSpPr>
        <p:spPr/>
        <p:txBody>
          <a:bodyPr/>
          <a:lstStyle/>
          <a:p>
            <a:pPr eaLnBrk="1" hangingPunct="1">
              <a:defRPr/>
            </a:pPr>
            <a:r>
              <a:rPr lang="bg-BG" dirty="0"/>
              <a:t>Системен тест</a:t>
            </a:r>
            <a:endParaRPr lang="en-US" dirty="0" smtClean="0"/>
          </a:p>
        </p:txBody>
      </p:sp>
      <p:sp>
        <p:nvSpPr>
          <p:cNvPr id="884739" name="Rectangle 3"/>
          <p:cNvSpPr>
            <a:spLocks noGrp="1" noChangeArrowheads="1"/>
          </p:cNvSpPr>
          <p:nvPr>
            <p:ph type="body" idx="1"/>
          </p:nvPr>
        </p:nvSpPr>
        <p:spPr>
          <a:xfrm>
            <a:off x="811213" y="1778000"/>
            <a:ext cx="8153275" cy="4751388"/>
          </a:xfrm>
        </p:spPr>
        <p:txBody>
          <a:bodyPr/>
          <a:lstStyle/>
          <a:p>
            <a:pPr eaLnBrk="1" hangingPunct="1">
              <a:lnSpc>
                <a:spcPct val="90000"/>
              </a:lnSpc>
              <a:defRPr/>
            </a:pPr>
            <a:r>
              <a:rPr lang="bg-BG" sz="2400" dirty="0" smtClean="0"/>
              <a:t>Съществуват над 50 вида тестове, които се интерпретират като част от задачите по тестване на ниво „система“. Примери за такива тестове са:</a:t>
            </a:r>
          </a:p>
          <a:p>
            <a:pPr lvl="1" eaLnBrk="1" hangingPunct="1">
              <a:lnSpc>
                <a:spcPct val="90000"/>
              </a:lnSpc>
              <a:defRPr/>
            </a:pPr>
            <a:r>
              <a:rPr lang="bg-BG" sz="2000" dirty="0" smtClean="0"/>
              <a:t>Апаратно/Програмно тестване</a:t>
            </a:r>
          </a:p>
          <a:p>
            <a:pPr lvl="2" eaLnBrk="1" hangingPunct="1">
              <a:lnSpc>
                <a:spcPct val="90000"/>
              </a:lnSpc>
              <a:defRPr/>
            </a:pPr>
            <a:r>
              <a:rPr lang="bg-BG" sz="1800" dirty="0" err="1" smtClean="0"/>
              <a:t>Англ</a:t>
            </a:r>
            <a:r>
              <a:rPr lang="bg-BG" sz="1800" dirty="0" smtClean="0"/>
              <a:t>. </a:t>
            </a:r>
            <a:r>
              <a:rPr lang="bg-BG" sz="1800" dirty="0" err="1" smtClean="0"/>
              <a:t>Hardware</a:t>
            </a:r>
            <a:r>
              <a:rPr lang="bg-BG" sz="1800" dirty="0" smtClean="0"/>
              <a:t>/Software </a:t>
            </a:r>
            <a:r>
              <a:rPr lang="bg-BG" sz="1800" dirty="0" err="1" smtClean="0"/>
              <a:t>testing</a:t>
            </a:r>
            <a:r>
              <a:rPr lang="bg-BG" sz="1800" dirty="0" smtClean="0"/>
              <a:t> (HW/SW </a:t>
            </a:r>
            <a:r>
              <a:rPr lang="bg-BG" sz="1800" dirty="0" err="1" smtClean="0"/>
              <a:t>testing</a:t>
            </a:r>
            <a:r>
              <a:rPr lang="bg-BG" sz="1800" dirty="0" smtClean="0"/>
              <a:t>)</a:t>
            </a:r>
          </a:p>
          <a:p>
            <a:pPr lvl="2" eaLnBrk="1" hangingPunct="1">
              <a:lnSpc>
                <a:spcPct val="90000"/>
              </a:lnSpc>
              <a:defRPr/>
            </a:pPr>
            <a:r>
              <a:rPr lang="bg-BG" sz="1800" dirty="0" smtClean="0"/>
              <a:t>Фокусът е върху тестване на взаимодействието между апаратната и програмната част на системата.</a:t>
            </a:r>
          </a:p>
          <a:p>
            <a:pPr lvl="1" eaLnBrk="1" hangingPunct="1">
              <a:lnSpc>
                <a:spcPct val="90000"/>
              </a:lnSpc>
              <a:defRPr/>
            </a:pPr>
            <a:r>
              <a:rPr lang="bg-BG" sz="2000" dirty="0" smtClean="0"/>
              <a:t>Тест за възстановяване на работоспособността</a:t>
            </a:r>
          </a:p>
          <a:p>
            <a:pPr lvl="2" eaLnBrk="1" hangingPunct="1">
              <a:lnSpc>
                <a:spcPct val="90000"/>
              </a:lnSpc>
              <a:defRPr/>
            </a:pPr>
            <a:r>
              <a:rPr lang="bg-BG" sz="1800" dirty="0" err="1" smtClean="0"/>
              <a:t>Англ</a:t>
            </a:r>
            <a:r>
              <a:rPr lang="bg-BG" sz="1800" dirty="0" smtClean="0"/>
              <a:t>. </a:t>
            </a:r>
            <a:r>
              <a:rPr lang="bg-BG" sz="1800" dirty="0" err="1" smtClean="0"/>
              <a:t>Recovery</a:t>
            </a:r>
            <a:r>
              <a:rPr lang="bg-BG" sz="1800" dirty="0" smtClean="0"/>
              <a:t> </a:t>
            </a:r>
            <a:r>
              <a:rPr lang="bg-BG" sz="1800" dirty="0" err="1" smtClean="0"/>
              <a:t>testing</a:t>
            </a:r>
            <a:endParaRPr lang="bg-BG" sz="1800" dirty="0" smtClean="0"/>
          </a:p>
          <a:p>
            <a:pPr lvl="2" eaLnBrk="1" hangingPunct="1">
              <a:lnSpc>
                <a:spcPct val="90000"/>
              </a:lnSpc>
              <a:defRPr/>
            </a:pPr>
            <a:r>
              <a:rPr lang="bg-BG" sz="1800" dirty="0" smtClean="0"/>
              <a:t>Проверява се надеждността на софтуерното решение, т.е.възможността успешно да се възстанови от възможни сривове.</a:t>
            </a:r>
          </a:p>
          <a:p>
            <a:pPr lvl="1" eaLnBrk="1" hangingPunct="1">
              <a:lnSpc>
                <a:spcPct val="90000"/>
              </a:lnSpc>
              <a:defRPr/>
            </a:pPr>
            <a:r>
              <a:rPr lang="bg-BG" sz="2000" dirty="0" smtClean="0"/>
              <a:t>Миграционно тестване</a:t>
            </a:r>
          </a:p>
          <a:p>
            <a:pPr lvl="2" eaLnBrk="1" hangingPunct="1">
              <a:lnSpc>
                <a:spcPct val="90000"/>
              </a:lnSpc>
              <a:defRPr/>
            </a:pPr>
            <a:r>
              <a:rPr lang="bg-BG" sz="1800" dirty="0" err="1" smtClean="0"/>
              <a:t>Англ</a:t>
            </a:r>
            <a:r>
              <a:rPr lang="bg-BG" sz="1800" dirty="0" smtClean="0"/>
              <a:t>.</a:t>
            </a:r>
            <a:r>
              <a:rPr lang="bg-BG" sz="1800" dirty="0" err="1" smtClean="0"/>
              <a:t>Migration</a:t>
            </a:r>
            <a:r>
              <a:rPr lang="bg-BG" sz="1800" dirty="0" smtClean="0"/>
              <a:t> </a:t>
            </a:r>
            <a:r>
              <a:rPr lang="bg-BG" sz="1800" dirty="0" err="1" smtClean="0"/>
              <a:t>testing</a:t>
            </a:r>
            <a:endParaRPr lang="bg-BG" sz="1800" dirty="0" smtClean="0"/>
          </a:p>
          <a:p>
            <a:pPr lvl="2" eaLnBrk="1" hangingPunct="1">
              <a:lnSpc>
                <a:spcPct val="90000"/>
              </a:lnSpc>
              <a:defRPr/>
            </a:pPr>
            <a:r>
              <a:rPr lang="bg-BG" sz="1800" dirty="0" smtClean="0"/>
              <a:t>Проверява се възможността софтуерът да бъде преместен от по-старите системни инфраструктури към текущите системни инфраструктури без никакви проблеми.</a:t>
            </a:r>
          </a:p>
        </p:txBody>
      </p:sp>
    </p:spTree>
    <p:extLst>
      <p:ext uri="{BB962C8B-B14F-4D97-AF65-F5344CB8AC3E}">
        <p14:creationId xmlns:p14="http://schemas.microsoft.com/office/powerpoint/2010/main" val="37457720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Тестване на системна интеграция</a:t>
            </a:r>
            <a:endParaRPr lang="en-US" sz="4000" dirty="0"/>
          </a:p>
        </p:txBody>
      </p:sp>
      <p:sp>
        <p:nvSpPr>
          <p:cNvPr id="3" name="Content Placeholder 2"/>
          <p:cNvSpPr>
            <a:spLocks noGrp="1"/>
          </p:cNvSpPr>
          <p:nvPr>
            <p:ph idx="1"/>
          </p:nvPr>
        </p:nvSpPr>
        <p:spPr>
          <a:xfrm>
            <a:off x="811213" y="1778000"/>
            <a:ext cx="8225283" cy="4751388"/>
          </a:xfrm>
        </p:spPr>
        <p:txBody>
          <a:bodyPr/>
          <a:lstStyle/>
          <a:p>
            <a:pPr>
              <a:lnSpc>
                <a:spcPct val="95000"/>
              </a:lnSpc>
              <a:spcBef>
                <a:spcPts val="0"/>
              </a:spcBef>
            </a:pPr>
            <a:r>
              <a:rPr lang="bg-BG" sz="2600" dirty="0" smtClean="0"/>
              <a:t>Има две основни задачи:</a:t>
            </a:r>
          </a:p>
          <a:p>
            <a:pPr lvl="1">
              <a:lnSpc>
                <a:spcPct val="95000"/>
              </a:lnSpc>
              <a:spcBef>
                <a:spcPts val="0"/>
              </a:spcBef>
            </a:pPr>
            <a:r>
              <a:rPr lang="bg-BG" sz="2200" dirty="0" smtClean="0"/>
              <a:t>Това тестване се извършва за проверка на интерфейса и взаимодействията между модулите на системата. </a:t>
            </a:r>
          </a:p>
          <a:p>
            <a:pPr lvl="2">
              <a:lnSpc>
                <a:spcPct val="95000"/>
              </a:lnSpc>
              <a:spcBef>
                <a:spcPts val="0"/>
              </a:spcBef>
            </a:pPr>
            <a:r>
              <a:rPr lang="bg-BG" sz="1900" dirty="0" smtClean="0"/>
              <a:t>Проверяват се както елементите от високото, така и от ниското ниво на системата.</a:t>
            </a:r>
          </a:p>
          <a:p>
            <a:pPr lvl="1">
              <a:lnSpc>
                <a:spcPct val="95000"/>
              </a:lnSpc>
              <a:spcBef>
                <a:spcPts val="0"/>
              </a:spcBef>
            </a:pPr>
            <a:r>
              <a:rPr lang="bg-BG" sz="2200" dirty="0" smtClean="0"/>
              <a:t>Той </a:t>
            </a:r>
            <a:r>
              <a:rPr lang="bg-BG" sz="2200" dirty="0"/>
              <a:t>също така проверява съвместното съществуване на софтуерна система с </a:t>
            </a:r>
            <a:r>
              <a:rPr lang="bg-BG" sz="2200" dirty="0" smtClean="0"/>
              <a:t>други. </a:t>
            </a:r>
          </a:p>
          <a:p>
            <a:pPr lvl="2">
              <a:lnSpc>
                <a:spcPct val="95000"/>
              </a:lnSpc>
              <a:spcBef>
                <a:spcPts val="0"/>
              </a:spcBef>
            </a:pPr>
            <a:r>
              <a:rPr lang="bg-BG" sz="1900" dirty="0"/>
              <a:t>Може да се извърши както в среда на разработчика, така и на средата на клиента</a:t>
            </a:r>
            <a:r>
              <a:rPr lang="bg-BG" sz="1900" dirty="0" smtClean="0"/>
              <a:t>.</a:t>
            </a:r>
            <a:endParaRPr lang="bg-BG" sz="1900" dirty="0"/>
          </a:p>
          <a:p>
            <a:pPr>
              <a:lnSpc>
                <a:spcPct val="95000"/>
              </a:lnSpc>
              <a:spcBef>
                <a:spcPts val="0"/>
              </a:spcBef>
            </a:pPr>
            <a:r>
              <a:rPr lang="bg-BG" sz="2600" dirty="0" smtClean="0"/>
              <a:t>Реализация:</a:t>
            </a:r>
          </a:p>
          <a:p>
            <a:pPr lvl="1">
              <a:lnSpc>
                <a:spcPct val="95000"/>
              </a:lnSpc>
              <a:spcBef>
                <a:spcPts val="0"/>
              </a:spcBef>
            </a:pPr>
            <a:r>
              <a:rPr lang="bg-BG" sz="2200" dirty="0" smtClean="0"/>
              <a:t>Първо модулите се тестват индивидуално.</a:t>
            </a:r>
          </a:p>
          <a:p>
            <a:pPr lvl="1">
              <a:lnSpc>
                <a:spcPct val="95000"/>
              </a:lnSpc>
              <a:spcBef>
                <a:spcPts val="0"/>
              </a:spcBef>
            </a:pPr>
            <a:r>
              <a:rPr lang="bg-BG" sz="2200" dirty="0" smtClean="0"/>
              <a:t>След това се комбинират софтуерни със софтуерни модули, за да се направи система.</a:t>
            </a:r>
          </a:p>
          <a:p>
            <a:pPr lvl="1">
              <a:lnSpc>
                <a:spcPct val="95000"/>
              </a:lnSpc>
              <a:spcBef>
                <a:spcPts val="0"/>
              </a:spcBef>
            </a:pPr>
            <a:r>
              <a:rPr lang="bg-BG" sz="2200" dirty="0" smtClean="0"/>
              <a:t>Накрая се комбинират софтуерни с хардуерни компоненти модули докато цялата система не бъде интегрирана.</a:t>
            </a:r>
            <a:endParaRPr lang="bg-BG" sz="2200" dirty="0"/>
          </a:p>
        </p:txBody>
      </p:sp>
    </p:spTree>
    <p:extLst>
      <p:ext uri="{BB962C8B-B14F-4D97-AF65-F5344CB8AC3E}">
        <p14:creationId xmlns:p14="http://schemas.microsoft.com/office/powerpoint/2010/main" val="423212777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Тестване на системна интеграция</a:t>
            </a:r>
            <a:endParaRPr lang="en-US" sz="4000" dirty="0"/>
          </a:p>
        </p:txBody>
      </p:sp>
      <p:sp>
        <p:nvSpPr>
          <p:cNvPr id="3" name="Content Placeholder 2"/>
          <p:cNvSpPr>
            <a:spLocks noGrp="1"/>
          </p:cNvSpPr>
          <p:nvPr>
            <p:ph idx="1"/>
          </p:nvPr>
        </p:nvSpPr>
        <p:spPr>
          <a:xfrm>
            <a:off x="811213" y="1778000"/>
            <a:ext cx="8225283" cy="4751388"/>
          </a:xfrm>
        </p:spPr>
        <p:txBody>
          <a:bodyPr/>
          <a:lstStyle/>
          <a:p>
            <a:pPr>
              <a:spcBef>
                <a:spcPts val="0"/>
              </a:spcBef>
            </a:pPr>
            <a:r>
              <a:rPr lang="bg-BG" sz="2600" dirty="0" smtClean="0"/>
              <a:t>Защо?</a:t>
            </a:r>
          </a:p>
          <a:p>
            <a:pPr lvl="1">
              <a:spcBef>
                <a:spcPts val="0"/>
              </a:spcBef>
            </a:pPr>
            <a:r>
              <a:rPr lang="bg-BG" sz="2200" dirty="0" smtClean="0"/>
              <a:t>Помага да се открият рано дефектите в работата на системата и основните подсистеми.</a:t>
            </a:r>
          </a:p>
          <a:p>
            <a:pPr lvl="1">
              <a:spcBef>
                <a:spcPts val="0"/>
              </a:spcBef>
            </a:pPr>
            <a:r>
              <a:rPr lang="bg-BG" sz="2200" dirty="0" smtClean="0"/>
              <a:t>По-ранна обратна връзка относно приемливостта на всеки отделен модул</a:t>
            </a:r>
          </a:p>
          <a:p>
            <a:pPr lvl="1">
              <a:spcBef>
                <a:spcPts val="0"/>
              </a:spcBef>
            </a:pPr>
            <a:r>
              <a:rPr lang="bg-BG" sz="2200" dirty="0" smtClean="0"/>
              <a:t>Осигурява по-гъвкаво планирането на поправки на дефектите и стабилизация на приложението</a:t>
            </a:r>
          </a:p>
          <a:p>
            <a:pPr lvl="1">
              <a:spcBef>
                <a:spcPts val="0"/>
              </a:spcBef>
            </a:pPr>
            <a:r>
              <a:rPr lang="bg-BG" sz="2200" dirty="0" smtClean="0"/>
              <a:t>Оценка на коректността на потока от данни</a:t>
            </a:r>
          </a:p>
          <a:p>
            <a:pPr lvl="1">
              <a:spcBef>
                <a:spcPts val="0"/>
              </a:spcBef>
            </a:pPr>
            <a:r>
              <a:rPr lang="bg-BG" sz="2200" dirty="0" smtClean="0"/>
              <a:t>Оценка на коректността на потока от команди</a:t>
            </a:r>
          </a:p>
          <a:p>
            <a:pPr lvl="1">
              <a:spcBef>
                <a:spcPts val="0"/>
              </a:spcBef>
            </a:pPr>
            <a:r>
              <a:rPr lang="bg-BG" sz="2200" dirty="0" smtClean="0"/>
              <a:t>Оценка на коректността на времената на възникване на външните събития и изработените реакции</a:t>
            </a:r>
          </a:p>
          <a:p>
            <a:pPr lvl="1">
              <a:spcBef>
                <a:spcPts val="0"/>
              </a:spcBef>
            </a:pPr>
            <a:r>
              <a:rPr lang="bg-BG" sz="2200" dirty="0" smtClean="0"/>
              <a:t>Оценка на правилното използване на паметта</a:t>
            </a:r>
          </a:p>
          <a:p>
            <a:pPr lvl="1">
              <a:spcBef>
                <a:spcPts val="0"/>
              </a:spcBef>
            </a:pPr>
            <a:r>
              <a:rPr lang="bg-BG" sz="2200" dirty="0" smtClean="0"/>
              <a:t>Крайна оценка на правилността на реализация на софтуерните изисквания.</a:t>
            </a:r>
            <a:endParaRPr lang="bg-BG" sz="2200" dirty="0"/>
          </a:p>
        </p:txBody>
      </p:sp>
    </p:spTree>
    <p:extLst>
      <p:ext uri="{BB962C8B-B14F-4D97-AF65-F5344CB8AC3E}">
        <p14:creationId xmlns:p14="http://schemas.microsoft.com/office/powerpoint/2010/main" val="16916546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1"/>
            <a:r>
              <a:rPr lang="bg-BG" sz="4000" dirty="0"/>
              <a:t>Апаратно/Програмно тестване</a:t>
            </a:r>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Това е тестване на софтуерни компоненти на системата, работещи в целевата работна среда на клиента за функционалността на високо ниво. </a:t>
            </a:r>
          </a:p>
          <a:p>
            <a:pPr lvl="1">
              <a:spcBef>
                <a:spcPts val="0"/>
              </a:spcBef>
            </a:pPr>
            <a:r>
              <a:rPr lang="bg-BG" sz="2400" dirty="0" smtClean="0"/>
              <a:t>Фокусът е върху поведението на интегрирания софтуер, специално разработен за целевата среда.</a:t>
            </a:r>
          </a:p>
          <a:p>
            <a:pPr lvl="2">
              <a:spcBef>
                <a:spcPts val="0"/>
              </a:spcBef>
            </a:pPr>
            <a:r>
              <a:rPr lang="bg-BG" sz="2000" dirty="0" smtClean="0"/>
              <a:t>Тестът се извършва на стандартен производствен хардуер и работна среда на клиента.</a:t>
            </a:r>
          </a:p>
          <a:p>
            <a:pPr lvl="1">
              <a:spcBef>
                <a:spcPts val="0"/>
              </a:spcBef>
            </a:pPr>
            <a:r>
              <a:rPr lang="bg-BG" sz="2400" dirty="0" smtClean="0"/>
              <a:t>Целта на теста е да се гарантира, че софтуерът в целевия компютър ще отговаря на изискванията от високо ниво към системата.</a:t>
            </a:r>
          </a:p>
          <a:p>
            <a:pPr lvl="2">
              <a:spcBef>
                <a:spcPts val="0"/>
              </a:spcBef>
            </a:pPr>
            <a:r>
              <a:rPr lang="bg-BG" sz="2000" dirty="0" smtClean="0"/>
              <a:t>Определят се тестовите случаи само от изискванията за високо ниво.</a:t>
            </a:r>
          </a:p>
          <a:p>
            <a:pPr lvl="1">
              <a:spcBef>
                <a:spcPts val="0"/>
              </a:spcBef>
            </a:pPr>
            <a:r>
              <a:rPr lang="bg-BG" sz="2400" dirty="0" smtClean="0"/>
              <a:t>Тестването е по метода на черната кутия.</a:t>
            </a:r>
            <a:endParaRPr lang="bg-BG" sz="2400" dirty="0"/>
          </a:p>
        </p:txBody>
      </p:sp>
    </p:spTree>
    <p:extLst>
      <p:ext uri="{BB962C8B-B14F-4D97-AF65-F5344CB8AC3E}">
        <p14:creationId xmlns:p14="http://schemas.microsoft.com/office/powerpoint/2010/main" val="136777021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1"/>
            <a:r>
              <a:rPr lang="bg-BG" sz="4000" dirty="0"/>
              <a:t>Апаратно/Програмно тестване</a:t>
            </a:r>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Типичните грешки, които се проверяват:</a:t>
            </a:r>
          </a:p>
          <a:p>
            <a:pPr lvl="1">
              <a:spcBef>
                <a:spcPts val="0"/>
              </a:spcBef>
            </a:pPr>
            <a:r>
              <a:rPr lang="bg-BG" sz="2200" dirty="0" smtClean="0"/>
              <a:t>Грешки в хардуер / софтуерен интерфейс</a:t>
            </a:r>
          </a:p>
          <a:p>
            <a:pPr lvl="1">
              <a:spcBef>
                <a:spcPts val="0"/>
              </a:spcBef>
            </a:pPr>
            <a:r>
              <a:rPr lang="bg-BG" sz="2200" dirty="0" smtClean="0"/>
              <a:t>Некоректно обособяване на подсистемите.</a:t>
            </a:r>
          </a:p>
          <a:p>
            <a:pPr lvl="1">
              <a:spcBef>
                <a:spcPts val="0"/>
              </a:spcBef>
            </a:pPr>
            <a:r>
              <a:rPr lang="bg-BG" sz="2200" dirty="0" smtClean="0"/>
              <a:t>Грешки, неоткрити с базовите тест.</a:t>
            </a:r>
          </a:p>
          <a:p>
            <a:pPr lvl="1">
              <a:spcBef>
                <a:spcPts val="0"/>
              </a:spcBef>
            </a:pPr>
            <a:r>
              <a:rPr lang="bg-BG" sz="2200" dirty="0" smtClean="0"/>
              <a:t>Неправилен отговор на хардуерни повреди</a:t>
            </a:r>
          </a:p>
          <a:p>
            <a:pPr lvl="1">
              <a:spcBef>
                <a:spcPts val="0"/>
              </a:spcBef>
            </a:pPr>
            <a:r>
              <a:rPr lang="bg-BG" sz="2200" dirty="0" smtClean="0"/>
              <a:t>Грешка поради последователност на постъпване, натовареност и преходи при постъпване на входни данни.</a:t>
            </a:r>
          </a:p>
          <a:p>
            <a:pPr lvl="1">
              <a:spcBef>
                <a:spcPts val="0"/>
              </a:spcBef>
            </a:pPr>
            <a:r>
              <a:rPr lang="bg-BG" sz="2200" dirty="0" smtClean="0"/>
              <a:t>Неправилно поведение на обратната връзка</a:t>
            </a:r>
          </a:p>
          <a:p>
            <a:pPr lvl="1">
              <a:spcBef>
                <a:spcPts val="0"/>
              </a:spcBef>
            </a:pPr>
            <a:r>
              <a:rPr lang="bg-BG" sz="2200" dirty="0" smtClean="0"/>
              <a:t>Неправилно или невнимателно управление на апаратурата за управление на паметта</a:t>
            </a:r>
          </a:p>
          <a:p>
            <a:pPr lvl="1">
              <a:spcBef>
                <a:spcPts val="0"/>
              </a:spcBef>
            </a:pPr>
            <a:r>
              <a:rPr lang="bg-BG" sz="2200" dirty="0" smtClean="0"/>
              <a:t>Проблеми в шината за данни</a:t>
            </a:r>
          </a:p>
          <a:p>
            <a:pPr lvl="1">
              <a:spcBef>
                <a:spcPts val="0"/>
              </a:spcBef>
            </a:pPr>
            <a:r>
              <a:rPr lang="bg-BG" sz="2200" dirty="0" smtClean="0"/>
              <a:t>Неправилна работа на механизма за проверка на съвместимостта и коректността на софтуера, който се зарежда на място според средата.</a:t>
            </a:r>
            <a:endParaRPr lang="bg-BG" sz="2200" dirty="0"/>
          </a:p>
        </p:txBody>
      </p:sp>
    </p:spTree>
    <p:extLst>
      <p:ext uri="{BB962C8B-B14F-4D97-AF65-F5344CB8AC3E}">
        <p14:creationId xmlns:p14="http://schemas.microsoft.com/office/powerpoint/2010/main" val="205365608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1"/>
            <a:r>
              <a:rPr lang="bg-BG" sz="4000" dirty="0"/>
              <a:t>Апаратно/Програмно тестване</a:t>
            </a:r>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600" dirty="0" smtClean="0"/>
              <a:t>Какво трябва да се отчита за да бъде коректно тестването?</a:t>
            </a:r>
          </a:p>
          <a:p>
            <a:pPr lvl="1">
              <a:spcBef>
                <a:spcPts val="0"/>
              </a:spcBef>
            </a:pPr>
            <a:r>
              <a:rPr lang="bg-BG" sz="2200" dirty="0" smtClean="0"/>
              <a:t>Правилно събиране на всички данни от софтуера</a:t>
            </a:r>
          </a:p>
          <a:p>
            <a:pPr lvl="1">
              <a:spcBef>
                <a:spcPts val="0"/>
              </a:spcBef>
            </a:pPr>
            <a:r>
              <a:rPr lang="bg-BG" sz="2200" dirty="0" smtClean="0"/>
              <a:t>Мащабиране и обхват на данните, както се очаква да постъпват от хардуера към софтуера</a:t>
            </a:r>
          </a:p>
          <a:p>
            <a:pPr lvl="1">
              <a:spcBef>
                <a:spcPts val="0"/>
              </a:spcBef>
            </a:pPr>
            <a:r>
              <a:rPr lang="bg-BG" sz="2200" dirty="0" smtClean="0"/>
              <a:t>Правилно подаване на данни от софтуера към хардуера.</a:t>
            </a:r>
          </a:p>
          <a:p>
            <a:pPr lvl="1">
              <a:spcBef>
                <a:spcPts val="0"/>
              </a:spcBef>
            </a:pPr>
            <a:r>
              <a:rPr lang="bg-BG" sz="2200" dirty="0" smtClean="0"/>
              <a:t>Нормален диапазон, некоректен диапазон и гранични случаи на данните според спецификации</a:t>
            </a:r>
          </a:p>
          <a:p>
            <a:pPr lvl="1">
              <a:spcBef>
                <a:spcPts val="0"/>
              </a:spcBef>
            </a:pPr>
            <a:r>
              <a:rPr lang="bg-BG" sz="2200" dirty="0" smtClean="0"/>
              <a:t>Възможни прекъсвания по събития у тяхната обработка.</a:t>
            </a:r>
          </a:p>
          <a:p>
            <a:pPr lvl="1">
              <a:spcBef>
                <a:spcPts val="0"/>
              </a:spcBef>
            </a:pPr>
            <a:r>
              <a:rPr lang="bg-BG" sz="2200" dirty="0" smtClean="0"/>
              <a:t>Времевите зависимости в системата.</a:t>
            </a:r>
          </a:p>
          <a:p>
            <a:pPr lvl="1">
              <a:spcBef>
                <a:spcPts val="0"/>
              </a:spcBef>
            </a:pPr>
            <a:r>
              <a:rPr lang="bg-BG" sz="2200" dirty="0" smtClean="0"/>
              <a:t>Правилно използване на паметта - адресиране, сегментиране, припокриване, …</a:t>
            </a:r>
          </a:p>
          <a:p>
            <a:pPr lvl="1">
              <a:spcBef>
                <a:spcPts val="0"/>
              </a:spcBef>
            </a:pPr>
            <a:r>
              <a:rPr lang="bg-BG" sz="2200" dirty="0" smtClean="0"/>
              <a:t>Системни разходи на други ресурси, необходими за работата на системата.</a:t>
            </a:r>
            <a:endParaRPr lang="bg-BG" sz="1800" dirty="0"/>
          </a:p>
        </p:txBody>
      </p:sp>
    </p:spTree>
    <p:extLst>
      <p:ext uri="{BB962C8B-B14F-4D97-AF65-F5344CB8AC3E}">
        <p14:creationId xmlns:p14="http://schemas.microsoft.com/office/powerpoint/2010/main" val="25142328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lnSpc>
                <a:spcPct val="95000"/>
              </a:lnSpc>
              <a:spcBef>
                <a:spcPts val="0"/>
              </a:spcBef>
              <a:defRPr/>
            </a:pPr>
            <a:r>
              <a:rPr lang="bg-BG" altLang="en-US" sz="2600" dirty="0" smtClean="0"/>
              <a:t>Това е вид тестване, извършвано от крайния потребител или клиента за проверка / приемане на софтуерната система преди стартиране на използването на програмата в реалната производствената среда. </a:t>
            </a:r>
          </a:p>
          <a:p>
            <a:pPr lvl="1">
              <a:lnSpc>
                <a:spcPct val="95000"/>
              </a:lnSpc>
              <a:spcBef>
                <a:spcPts val="0"/>
              </a:spcBef>
              <a:defRPr/>
            </a:pPr>
            <a:r>
              <a:rPr lang="bg-BG" altLang="en-US" sz="2200" dirty="0" smtClean="0"/>
              <a:t>Извършва се след приключване на всички етапи на системното тестване.</a:t>
            </a:r>
          </a:p>
          <a:p>
            <a:pPr lvl="1">
              <a:lnSpc>
                <a:spcPct val="95000"/>
              </a:lnSpc>
              <a:spcBef>
                <a:spcPts val="0"/>
              </a:spcBef>
              <a:defRPr/>
            </a:pPr>
            <a:r>
              <a:rPr lang="bg-BG" altLang="en-US" sz="2200" dirty="0" err="1" smtClean="0"/>
              <a:t>Англ</a:t>
            </a:r>
            <a:r>
              <a:rPr lang="bg-BG" altLang="en-US" sz="2200" dirty="0" smtClean="0"/>
              <a:t>. </a:t>
            </a:r>
            <a:r>
              <a:rPr lang="bg-BG" altLang="en-US" sz="2200" dirty="0" err="1" smtClean="0"/>
              <a:t>Аcceptance</a:t>
            </a:r>
            <a:r>
              <a:rPr lang="bg-BG" altLang="en-US" sz="2200" dirty="0" smtClean="0"/>
              <a:t> </a:t>
            </a:r>
            <a:r>
              <a:rPr lang="bg-BG" altLang="en-US" sz="2200" dirty="0" err="1" smtClean="0"/>
              <a:t>Тesting</a:t>
            </a:r>
            <a:r>
              <a:rPr lang="bg-BG" altLang="en-US" sz="2200" dirty="0" smtClean="0"/>
              <a:t> </a:t>
            </a:r>
          </a:p>
          <a:p>
            <a:pPr>
              <a:lnSpc>
                <a:spcPct val="95000"/>
              </a:lnSpc>
              <a:spcBef>
                <a:spcPts val="0"/>
              </a:spcBef>
              <a:defRPr/>
            </a:pPr>
            <a:r>
              <a:rPr lang="bg-BG" altLang="en-US" sz="2600" dirty="0" smtClean="0"/>
              <a:t>Основната цел е да се </a:t>
            </a:r>
            <a:r>
              <a:rPr lang="bg-BG" altLang="en-US" sz="2600" dirty="0" err="1" smtClean="0"/>
              <a:t>валидира</a:t>
            </a:r>
            <a:r>
              <a:rPr lang="bg-BG" altLang="en-US" sz="2600" dirty="0" smtClean="0"/>
              <a:t> бизнес потоците от данни и команди за всички описани бизнес-сценарии. </a:t>
            </a:r>
          </a:p>
          <a:p>
            <a:pPr lvl="1">
              <a:lnSpc>
                <a:spcPct val="95000"/>
              </a:lnSpc>
              <a:spcBef>
                <a:spcPts val="0"/>
              </a:spcBef>
              <a:defRPr/>
            </a:pPr>
            <a:r>
              <a:rPr lang="bg-BG" altLang="en-US" sz="2200" dirty="0" smtClean="0"/>
              <a:t>Не се интересува от «козметични» грешки, например правописни грешки в текстовете на менютата. </a:t>
            </a:r>
          </a:p>
        </p:txBody>
      </p:sp>
    </p:spTree>
    <p:extLst>
      <p:ext uri="{BB962C8B-B14F-4D97-AF65-F5344CB8AC3E}">
        <p14:creationId xmlns:p14="http://schemas.microsoft.com/office/powerpoint/2010/main" val="152530501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spcBef>
                <a:spcPts val="0"/>
              </a:spcBef>
              <a:defRPr/>
            </a:pPr>
            <a:r>
              <a:rPr lang="bg-BG" altLang="en-US" sz="2800" dirty="0" smtClean="0"/>
              <a:t>Защо е необходимо?</a:t>
            </a:r>
            <a:endParaRPr lang="bg-BG" altLang="en-US" sz="2800" dirty="0"/>
          </a:p>
          <a:p>
            <a:pPr lvl="1">
              <a:spcBef>
                <a:spcPts val="0"/>
              </a:spcBef>
              <a:defRPr/>
            </a:pPr>
            <a:r>
              <a:rPr lang="bg-BG" altLang="en-US" sz="2400" dirty="0" smtClean="0"/>
              <a:t>Лоша комуникация между клиент и разработчик.</a:t>
            </a:r>
          </a:p>
          <a:p>
            <a:pPr lvl="2">
              <a:spcBef>
                <a:spcPts val="0"/>
              </a:spcBef>
              <a:defRPr/>
            </a:pPr>
            <a:r>
              <a:rPr lang="bg-BG" altLang="en-US" sz="2000" dirty="0" smtClean="0"/>
              <a:t>При промяна на изискванията в процеса на разработката на софтуера настъпва объркване поради неправилна или закъсняла комуникация (вкл. документално объркване).</a:t>
            </a:r>
          </a:p>
          <a:p>
            <a:pPr lvl="1">
              <a:spcBef>
                <a:spcPts val="0"/>
              </a:spcBef>
              <a:defRPr/>
            </a:pPr>
            <a:r>
              <a:rPr lang="bg-BG" altLang="en-US" sz="2400" dirty="0" smtClean="0"/>
              <a:t>Всеки разработчик винаги има случаи, в които реализира своето разбиране, защото го счита за по-правилно от разбирането на клиента.</a:t>
            </a:r>
            <a:endParaRPr lang="bg-BG" altLang="en-US" sz="2000" dirty="0" smtClean="0"/>
          </a:p>
        </p:txBody>
      </p:sp>
    </p:spTree>
    <p:extLst>
      <p:ext uri="{BB962C8B-B14F-4D97-AF65-F5344CB8AC3E}">
        <p14:creationId xmlns:p14="http://schemas.microsoft.com/office/powerpoint/2010/main" val="364616865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lnSpc>
                <a:spcPct val="95000"/>
              </a:lnSpc>
              <a:spcBef>
                <a:spcPts val="0"/>
              </a:spcBef>
              <a:defRPr/>
            </a:pPr>
            <a:r>
              <a:rPr lang="bg-BG" altLang="en-US" sz="2600" dirty="0" smtClean="0"/>
              <a:t>Критерии, по които се определя дали може да се проведе тестване за приемливост:</a:t>
            </a:r>
          </a:p>
          <a:p>
            <a:pPr lvl="1">
              <a:lnSpc>
                <a:spcPct val="95000"/>
              </a:lnSpc>
              <a:spcBef>
                <a:spcPts val="0"/>
              </a:spcBef>
              <a:defRPr/>
            </a:pPr>
            <a:r>
              <a:rPr lang="bg-BG" altLang="en-US" sz="2200" dirty="0" smtClean="0"/>
              <a:t>Бизнес-изискванията трябва да са налице.</a:t>
            </a:r>
          </a:p>
          <a:p>
            <a:pPr lvl="2">
              <a:lnSpc>
                <a:spcPct val="95000"/>
              </a:lnSpc>
              <a:spcBef>
                <a:spcPts val="0"/>
              </a:spcBef>
              <a:defRPr/>
            </a:pPr>
            <a:r>
              <a:rPr lang="bg-BG" altLang="en-US" sz="1900" dirty="0" smtClean="0"/>
              <a:t>Матрицата за проследяване за тестовете трябва да бъде актуализиране с промените от крайните етапи на тестване.</a:t>
            </a:r>
          </a:p>
          <a:p>
            <a:pPr lvl="1">
              <a:lnSpc>
                <a:spcPct val="95000"/>
              </a:lnSpc>
              <a:spcBef>
                <a:spcPts val="0"/>
              </a:spcBef>
              <a:defRPr/>
            </a:pPr>
            <a:r>
              <a:rPr lang="bg-BG" altLang="en-US" sz="2200" dirty="0" smtClean="0"/>
              <a:t>Кодът на програмата трябва да бъде напълно завършен и стабилизиран.</a:t>
            </a:r>
          </a:p>
          <a:p>
            <a:pPr lvl="2">
              <a:lnSpc>
                <a:spcPct val="95000"/>
              </a:lnSpc>
              <a:spcBef>
                <a:spcPts val="0"/>
              </a:spcBef>
              <a:defRPr/>
            </a:pPr>
            <a:r>
              <a:rPr lang="bg-BG" altLang="en-US" sz="1900" dirty="0" smtClean="0"/>
              <a:t>Тестът за регресия трябва да бъде завършен без големи дефекти</a:t>
            </a:r>
          </a:p>
          <a:p>
            <a:pPr lvl="1">
              <a:lnSpc>
                <a:spcPct val="95000"/>
              </a:lnSpc>
              <a:spcBef>
                <a:spcPts val="0"/>
              </a:spcBef>
              <a:defRPr/>
            </a:pPr>
            <a:r>
              <a:rPr lang="bg-BG" altLang="en-US" sz="2200" dirty="0" smtClean="0"/>
              <a:t>Трябва да са завършени всички тестове от предходните нива, т.е. блокове, модули, компоненти, интегриране, системен тест</a:t>
            </a:r>
          </a:p>
          <a:p>
            <a:pPr lvl="2">
              <a:lnSpc>
                <a:spcPct val="95000"/>
              </a:lnSpc>
              <a:spcBef>
                <a:spcPts val="0"/>
              </a:spcBef>
              <a:defRPr/>
            </a:pPr>
            <a:r>
              <a:rPr lang="bg-BG" altLang="en-US" sz="1900" dirty="0" smtClean="0"/>
              <a:t>Всички сериозни дефекти са отстранени.</a:t>
            </a:r>
          </a:p>
          <a:p>
            <a:pPr lvl="2">
              <a:lnSpc>
                <a:spcPct val="95000"/>
              </a:lnSpc>
              <a:spcBef>
                <a:spcPts val="0"/>
              </a:spcBef>
              <a:defRPr/>
            </a:pPr>
            <a:r>
              <a:rPr lang="bg-BG" altLang="en-US" sz="1900" dirty="0" smtClean="0"/>
              <a:t>Всички по-малко опасни дефекти трябва да бъдат фиксирани и тествани.</a:t>
            </a:r>
          </a:p>
          <a:p>
            <a:pPr lvl="1">
              <a:lnSpc>
                <a:spcPct val="95000"/>
              </a:lnSpc>
              <a:spcBef>
                <a:spcPts val="0"/>
              </a:spcBef>
              <a:defRPr/>
            </a:pPr>
            <a:r>
              <a:rPr lang="bg-BG" altLang="en-US" sz="2200" dirty="0" smtClean="0"/>
              <a:t>Среда за тестване трябва да е готова.</a:t>
            </a:r>
            <a:endParaRPr lang="bg-BG" altLang="en-US" sz="2200" dirty="0"/>
          </a:p>
        </p:txBody>
      </p:sp>
    </p:spTree>
    <p:extLst>
      <p:ext uri="{BB962C8B-B14F-4D97-AF65-F5344CB8AC3E}">
        <p14:creationId xmlns:p14="http://schemas.microsoft.com/office/powerpoint/2010/main" val="29411426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spcBef>
                <a:spcPts val="0"/>
              </a:spcBef>
              <a:defRPr/>
            </a:pPr>
            <a:r>
              <a:rPr lang="bg-BG" altLang="en-US" sz="2800" dirty="0" smtClean="0"/>
              <a:t>Стратегия </a:t>
            </a:r>
            <a:r>
              <a:rPr lang="bg-BG" altLang="en-US" sz="2800" dirty="0"/>
              <a:t>за реализация:</a:t>
            </a:r>
          </a:p>
          <a:p>
            <a:pPr lvl="1">
              <a:spcBef>
                <a:spcPts val="0"/>
              </a:spcBef>
              <a:defRPr/>
            </a:pPr>
            <a:r>
              <a:rPr lang="bg-BG" altLang="en-US" sz="2400" dirty="0" smtClean="0"/>
              <a:t>Това се реализира като тестване на черната кутия.</a:t>
            </a:r>
          </a:p>
          <a:p>
            <a:pPr lvl="2">
              <a:spcBef>
                <a:spcPts val="0"/>
              </a:spcBef>
              <a:defRPr/>
            </a:pPr>
            <a:r>
              <a:rPr lang="bg-BG" altLang="en-US" sz="2000" dirty="0" smtClean="0"/>
              <a:t>Задължително участват двама или повече потребителя.</a:t>
            </a:r>
          </a:p>
          <a:p>
            <a:pPr lvl="1">
              <a:spcBef>
                <a:spcPts val="0"/>
              </a:spcBef>
              <a:defRPr/>
            </a:pPr>
            <a:r>
              <a:rPr lang="bg-BG" altLang="en-US" sz="2400" dirty="0"/>
              <a:t>Проверката се реализира с тестовите случаи и сценарии, описани в методиката за изпитание </a:t>
            </a:r>
            <a:r>
              <a:rPr lang="bg-BG" altLang="en-US" sz="2400" dirty="0" smtClean="0"/>
              <a:t>в работната среда.</a:t>
            </a:r>
            <a:endParaRPr lang="en-US" altLang="en-US" sz="2400" dirty="0"/>
          </a:p>
          <a:p>
            <a:pPr lvl="1">
              <a:spcBef>
                <a:spcPts val="0"/>
              </a:spcBef>
              <a:defRPr/>
            </a:pPr>
            <a:r>
              <a:rPr lang="bg-BG" altLang="en-US" sz="2400" dirty="0"/>
              <a:t>Тестът </a:t>
            </a:r>
            <a:r>
              <a:rPr lang="bg-BG" altLang="en-US" sz="2400" dirty="0" smtClean="0"/>
              <a:t>се </a:t>
            </a:r>
            <a:r>
              <a:rPr lang="bg-BG" altLang="en-US" sz="2400" dirty="0"/>
              <a:t>провежда в отделна среда за тестване с настройка на данни, подобна на </a:t>
            </a:r>
            <a:r>
              <a:rPr lang="bg-BG" altLang="en-US" sz="2400" dirty="0" smtClean="0"/>
              <a:t>реалната производствена среда. </a:t>
            </a:r>
            <a:endParaRPr lang="bg-BG" altLang="en-US" sz="2400" dirty="0"/>
          </a:p>
          <a:p>
            <a:pPr lvl="1">
              <a:spcBef>
                <a:spcPts val="0"/>
              </a:spcBef>
              <a:defRPr/>
            </a:pPr>
            <a:r>
              <a:rPr lang="bg-BG" altLang="en-US" sz="2400" dirty="0"/>
              <a:t>Пълната форма на </a:t>
            </a:r>
            <a:r>
              <a:rPr lang="bg-BG" altLang="en-US" sz="2400" dirty="0" smtClean="0"/>
              <a:t>това тестване е краен тест </a:t>
            </a:r>
            <a:r>
              <a:rPr lang="bg-BG" altLang="en-US" sz="2400" dirty="0"/>
              <a:t>за </a:t>
            </a:r>
            <a:r>
              <a:rPr lang="bg-BG" altLang="en-US" sz="2400" dirty="0" smtClean="0"/>
              <a:t>приемане/отхвърляне на софтуера от клиента.</a:t>
            </a:r>
            <a:endParaRPr lang="bg-BG" altLang="en-US" sz="2400" dirty="0"/>
          </a:p>
          <a:p>
            <a:pPr lvl="2">
              <a:spcBef>
                <a:spcPts val="0"/>
              </a:spcBef>
              <a:defRPr/>
            </a:pPr>
            <a:r>
              <a:rPr lang="bg-BG" altLang="en-US" sz="2000" dirty="0" smtClean="0"/>
              <a:t>От </a:t>
            </a:r>
            <a:r>
              <a:rPr lang="bg-BG" altLang="en-US" sz="2000" dirty="0"/>
              <a:t>документа с изискванията </a:t>
            </a:r>
            <a:r>
              <a:rPr lang="bg-BG" altLang="en-US" sz="2000" dirty="0" smtClean="0"/>
              <a:t>едно </a:t>
            </a:r>
            <a:r>
              <a:rPr lang="bg-BG" altLang="en-US" sz="2000" dirty="0"/>
              <a:t>по едно се </a:t>
            </a:r>
            <a:r>
              <a:rPr lang="bg-BG" altLang="en-US" sz="2000" dirty="0" smtClean="0"/>
              <a:t>проверява </a:t>
            </a:r>
            <a:r>
              <a:rPr lang="bg-BG" altLang="en-US" sz="2000" dirty="0"/>
              <a:t>кое </a:t>
            </a:r>
            <a:r>
              <a:rPr lang="bg-BG" altLang="en-US" sz="2000" dirty="0" smtClean="0"/>
              <a:t>изискване/сценарий не </a:t>
            </a:r>
            <a:r>
              <a:rPr lang="bg-BG" altLang="en-US" sz="2000" dirty="0"/>
              <a:t>е реализирано</a:t>
            </a:r>
            <a:r>
              <a:rPr lang="bg-BG" altLang="en-US" sz="2000" dirty="0" smtClean="0"/>
              <a:t>.</a:t>
            </a:r>
          </a:p>
        </p:txBody>
      </p:sp>
    </p:spTree>
    <p:extLst>
      <p:ext uri="{BB962C8B-B14F-4D97-AF65-F5344CB8AC3E}">
        <p14:creationId xmlns:p14="http://schemas.microsoft.com/office/powerpoint/2010/main" val="3552470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spcBef>
                <a:spcPts val="0"/>
              </a:spcBef>
              <a:defRPr/>
            </a:pPr>
            <a:r>
              <a:rPr lang="bg-BG" altLang="en-US" sz="2800" dirty="0" smtClean="0"/>
              <a:t>Процеси при реализация:</a:t>
            </a:r>
            <a:endParaRPr lang="bg-BG" altLang="en-US" sz="2800" dirty="0"/>
          </a:p>
        </p:txBody>
      </p:sp>
      <p:pic>
        <p:nvPicPr>
          <p:cNvPr id="4" name="Picture 3" descr="UAT Testing process image">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780928"/>
            <a:ext cx="5212829" cy="3472041"/>
          </a:xfrm>
          <a:prstGeom prst="rect">
            <a:avLst/>
          </a:prstGeom>
          <a:noFill/>
          <a:ln>
            <a:noFill/>
          </a:ln>
        </p:spPr>
      </p:pic>
    </p:spTree>
    <p:extLst>
      <p:ext uri="{BB962C8B-B14F-4D97-AF65-F5344CB8AC3E}">
        <p14:creationId xmlns:p14="http://schemas.microsoft.com/office/powerpoint/2010/main" val="237744250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Тест за приемливост</a:t>
            </a:r>
            <a:endParaRPr lang="en-US" dirty="0"/>
          </a:p>
        </p:txBody>
      </p:sp>
      <p:sp>
        <p:nvSpPr>
          <p:cNvPr id="38915" name="Content Placeholder 2"/>
          <p:cNvSpPr>
            <a:spLocks noGrp="1"/>
          </p:cNvSpPr>
          <p:nvPr>
            <p:ph idx="1"/>
          </p:nvPr>
        </p:nvSpPr>
        <p:spPr>
          <a:xfrm>
            <a:off x="809624" y="1916113"/>
            <a:ext cx="8154864" cy="4613275"/>
          </a:xfrm>
        </p:spPr>
        <p:txBody>
          <a:bodyPr/>
          <a:lstStyle/>
          <a:p>
            <a:pPr>
              <a:spcBef>
                <a:spcPts val="0"/>
              </a:spcBef>
              <a:defRPr/>
            </a:pPr>
            <a:r>
              <a:rPr lang="bg-BG" altLang="en-US" sz="2800" dirty="0" smtClean="0"/>
              <a:t>Добри практики:</a:t>
            </a:r>
          </a:p>
          <a:p>
            <a:pPr lvl="1">
              <a:spcBef>
                <a:spcPts val="0"/>
              </a:spcBef>
              <a:defRPr/>
            </a:pPr>
            <a:r>
              <a:rPr lang="bg-BG" sz="2400" dirty="0" smtClean="0"/>
              <a:t>Планът за провеждане на теста за приемливост се създава в началото на жизнения цикъл на проекта.</a:t>
            </a:r>
          </a:p>
          <a:p>
            <a:pPr lvl="2">
              <a:spcBef>
                <a:spcPts val="0"/>
              </a:spcBef>
              <a:defRPr/>
            </a:pPr>
            <a:r>
              <a:rPr lang="bg-BG" sz="2000" dirty="0" smtClean="0"/>
              <a:t>Обхватът и очакванията от теста трябва ясно да са определени.</a:t>
            </a:r>
          </a:p>
          <a:p>
            <a:pPr lvl="1">
              <a:spcBef>
                <a:spcPts val="0"/>
              </a:spcBef>
              <a:defRPr/>
            </a:pPr>
            <a:r>
              <a:rPr lang="bg-BG" sz="2400" dirty="0" smtClean="0"/>
              <a:t>Подгответе контролен списък за проверените сценарии преди да започне същинския тест</a:t>
            </a:r>
          </a:p>
          <a:p>
            <a:pPr lvl="1">
              <a:spcBef>
                <a:spcPts val="0"/>
              </a:spcBef>
              <a:defRPr/>
            </a:pPr>
            <a:r>
              <a:rPr lang="bg-BG" sz="2400" dirty="0" smtClean="0"/>
              <a:t>Добре е да се проведе неофициална сесия за тестване преди същинското тестване за приемливост.</a:t>
            </a:r>
          </a:p>
          <a:p>
            <a:pPr lvl="1">
              <a:spcBef>
                <a:spcPts val="0"/>
              </a:spcBef>
              <a:defRPr/>
            </a:pPr>
            <a:r>
              <a:rPr lang="bg-BG" sz="2400" dirty="0" smtClean="0"/>
              <a:t>Тества се крайния бизнес поток</a:t>
            </a:r>
          </a:p>
          <a:p>
            <a:pPr lvl="2">
              <a:spcBef>
                <a:spcPts val="0"/>
              </a:spcBef>
              <a:defRPr/>
            </a:pPr>
            <a:r>
              <a:rPr lang="bg-BG" sz="2000" dirty="0" smtClean="0"/>
              <a:t>Тествайте програмата с реални сценарии и данни.</a:t>
            </a:r>
          </a:p>
          <a:p>
            <a:pPr lvl="1">
              <a:spcBef>
                <a:spcPts val="0"/>
              </a:spcBef>
              <a:defRPr/>
            </a:pPr>
            <a:r>
              <a:rPr lang="bg-BG" sz="2400" dirty="0" smtClean="0"/>
              <a:t>Не се правят системни тестове.</a:t>
            </a:r>
          </a:p>
          <a:p>
            <a:pPr lvl="1">
              <a:spcBef>
                <a:spcPts val="0"/>
              </a:spcBef>
              <a:defRPr/>
            </a:pPr>
            <a:r>
              <a:rPr lang="bg-BG" sz="2400" dirty="0" smtClean="0"/>
              <a:t>Мислете като неизвестен потребител на системата.</a:t>
            </a:r>
          </a:p>
        </p:txBody>
      </p:sp>
    </p:spTree>
    <p:extLst>
      <p:ext uri="{BB962C8B-B14F-4D97-AF65-F5344CB8AC3E}">
        <p14:creationId xmlns:p14="http://schemas.microsoft.com/office/powerpoint/2010/main" val="326826849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Тестване на версията за клиента</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smtClean="0"/>
              <a:t>Версията за клиента е крайната версия на програмата във вида, в който ще бъде дадена на клиента при завършване на проекта.</a:t>
            </a:r>
          </a:p>
          <a:p>
            <a:pPr lvl="1"/>
            <a:r>
              <a:rPr lang="bg-BG" sz="2400" dirty="0" smtClean="0"/>
              <a:t>Версия може да бъде за общо или за частна ползване. </a:t>
            </a:r>
          </a:p>
          <a:p>
            <a:pPr lvl="1"/>
            <a:r>
              <a:rPr lang="bg-BG" sz="2400" dirty="0" smtClean="0"/>
              <a:t>Версията може да представлява първоначалното генериране на ново приложение или обновено/модернизирано приложение.</a:t>
            </a:r>
          </a:p>
          <a:p>
            <a:pPr lvl="1"/>
            <a:r>
              <a:rPr lang="bg-BG" sz="2400" dirty="0" smtClean="0"/>
              <a:t>Версията за клиента се предхожда от разпространение на т.нар. алфа-версия, последвана от </a:t>
            </a:r>
            <a:r>
              <a:rPr lang="bg-BG" sz="2400" dirty="0" err="1" smtClean="0"/>
              <a:t>бета-версия</a:t>
            </a:r>
            <a:r>
              <a:rPr lang="bg-BG" sz="2400" dirty="0" smtClean="0"/>
              <a:t> на програмата.</a:t>
            </a:r>
          </a:p>
        </p:txBody>
      </p:sp>
    </p:spTree>
    <p:extLst>
      <p:ext uri="{BB962C8B-B14F-4D97-AF65-F5344CB8AC3E}">
        <p14:creationId xmlns:p14="http://schemas.microsoft.com/office/powerpoint/2010/main" val="197859790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Тестване на версията за клиента</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a:t>Основната цел е да се увеличи увереността на </a:t>
            </a:r>
            <a:r>
              <a:rPr lang="bg-BG" sz="2800" dirty="0" smtClean="0"/>
              <a:t>клиента, </a:t>
            </a:r>
            <a:r>
              <a:rPr lang="bg-BG" sz="2800" dirty="0"/>
              <a:t>че системата отговаря на </a:t>
            </a:r>
            <a:r>
              <a:rPr lang="bg-BG" sz="2800" dirty="0" smtClean="0"/>
              <a:t>зададените изисквания</a:t>
            </a:r>
            <a:r>
              <a:rPr lang="bg-BG" sz="2800" dirty="0"/>
              <a:t>.</a:t>
            </a:r>
          </a:p>
          <a:p>
            <a:pPr lvl="1"/>
            <a:r>
              <a:rPr lang="bg-BG" sz="2400" dirty="0"/>
              <a:t>Тестът </a:t>
            </a:r>
            <a:r>
              <a:rPr lang="bg-BG" sz="2400" dirty="0" smtClean="0"/>
              <a:t>е за </a:t>
            </a:r>
            <a:r>
              <a:rPr lang="bg-BG" sz="2400" dirty="0"/>
              <a:t>да се провери дали софтуерът може да бъде </a:t>
            </a:r>
            <a:r>
              <a:rPr lang="bg-BG" sz="2400" dirty="0" smtClean="0"/>
              <a:t>пуснат в употреба.</a:t>
            </a:r>
            <a:endParaRPr lang="bg-BG" sz="2400" dirty="0"/>
          </a:p>
          <a:p>
            <a:pPr lvl="1"/>
            <a:r>
              <a:rPr lang="bg-BG" sz="2400" dirty="0" smtClean="0"/>
              <a:t>Тестовете има </a:t>
            </a:r>
            <a:r>
              <a:rPr lang="bg-BG" sz="2400" dirty="0"/>
              <a:t>широк фокус, </a:t>
            </a:r>
            <a:r>
              <a:rPr lang="bg-BG" sz="2400" dirty="0" smtClean="0"/>
              <a:t>защото се проверява цялата </a:t>
            </a:r>
            <a:r>
              <a:rPr lang="bg-BG" sz="2400" dirty="0"/>
              <a:t>функционалност на </a:t>
            </a:r>
            <a:r>
              <a:rPr lang="bg-BG" sz="2400" dirty="0" smtClean="0"/>
              <a:t>предоставената версия.</a:t>
            </a:r>
            <a:endParaRPr lang="bg-BG" sz="2400" dirty="0"/>
          </a:p>
          <a:p>
            <a:r>
              <a:rPr lang="bg-BG" sz="2800" dirty="0" smtClean="0"/>
              <a:t>Този тип тестване силно </a:t>
            </a:r>
            <a:r>
              <a:rPr lang="bg-BG" sz="2800" dirty="0"/>
              <a:t>зависят от самия </a:t>
            </a:r>
            <a:r>
              <a:rPr lang="bg-BG" sz="2800" dirty="0" smtClean="0"/>
              <a:t>вида и характера на създавания софтуер</a:t>
            </a:r>
            <a:r>
              <a:rPr lang="bg-BG" sz="2800" dirty="0"/>
              <a:t>.</a:t>
            </a:r>
          </a:p>
        </p:txBody>
      </p:sp>
    </p:spTree>
    <p:extLst>
      <p:ext uri="{BB962C8B-B14F-4D97-AF65-F5344CB8AC3E}">
        <p14:creationId xmlns:p14="http://schemas.microsoft.com/office/powerpoint/2010/main" val="247976317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Алфа и </a:t>
            </a:r>
            <a:r>
              <a:rPr lang="bg-BG" sz="4000" dirty="0" err="1" smtClean="0"/>
              <a:t>Вета</a:t>
            </a:r>
            <a:r>
              <a:rPr lang="bg-BG" sz="4000" dirty="0" smtClean="0"/>
              <a:t>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bg-BG" sz="2800" dirty="0" smtClean="0"/>
              <a:t>Това са варианти на тестване за приемливост</a:t>
            </a:r>
          </a:p>
          <a:p>
            <a:pPr lvl="1"/>
            <a:r>
              <a:rPr lang="bg-BG" sz="2400" dirty="0" smtClean="0"/>
              <a:t>извършва се за идентифициране на всички възможни проблеми / грешки, преди да бъде пуснат продукта за ежедневна употреба от клиентите. </a:t>
            </a:r>
          </a:p>
          <a:p>
            <a:pPr lvl="1"/>
            <a:r>
              <a:rPr lang="bg-BG" sz="2400" dirty="0" smtClean="0"/>
              <a:t>Фокусът на това тестване е да се симулират реални потребители, като се използват черни и бели техники. </a:t>
            </a:r>
          </a:p>
          <a:p>
            <a:pPr lvl="1"/>
            <a:r>
              <a:rPr lang="bg-BG" sz="2400" dirty="0" smtClean="0"/>
              <a:t>Целта е да се изпълнят задачите, които може да изпълнява типичният потребител. </a:t>
            </a:r>
          </a:p>
          <a:p>
            <a:pPr lvl="1"/>
            <a:r>
              <a:rPr lang="bg-BG" sz="2400" dirty="0" smtClean="0"/>
              <a:t>Реализират се по следната схема</a:t>
            </a:r>
          </a:p>
        </p:txBody>
      </p:sp>
      <p:pic>
        <p:nvPicPr>
          <p:cNvPr id="5" name="Picture 4" descr="Alpha Testing Vs Beta Testin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2051720" y="5589240"/>
            <a:ext cx="5657850" cy="1009650"/>
          </a:xfrm>
          <a:prstGeom prst="rect">
            <a:avLst/>
          </a:prstGeom>
          <a:noFill/>
          <a:ln>
            <a:noFill/>
          </a:ln>
        </p:spPr>
      </p:pic>
    </p:spTree>
    <p:extLst>
      <p:ext uri="{BB962C8B-B14F-4D97-AF65-F5344CB8AC3E}">
        <p14:creationId xmlns:p14="http://schemas.microsoft.com/office/powerpoint/2010/main" val="103318672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Алфа и </a:t>
            </a:r>
            <a:r>
              <a:rPr lang="bg-BG" sz="4000" dirty="0" err="1" smtClean="0"/>
              <a:t>Вета</a:t>
            </a:r>
            <a:r>
              <a:rPr lang="bg-BG" sz="4000" dirty="0" smtClean="0"/>
              <a:t>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800" dirty="0" err="1" smtClean="0"/>
              <a:t>Pre-Alpha</a:t>
            </a:r>
            <a:r>
              <a:rPr lang="bg-BG" sz="2800" dirty="0" smtClean="0"/>
              <a:t>:</a:t>
            </a:r>
          </a:p>
          <a:p>
            <a:pPr lvl="1">
              <a:lnSpc>
                <a:spcPct val="90000"/>
              </a:lnSpc>
              <a:spcBef>
                <a:spcPts val="0"/>
              </a:spcBef>
            </a:pPr>
            <a:r>
              <a:rPr lang="bg-BG" sz="2400" dirty="0" smtClean="0"/>
              <a:t>Софтуерът е прототип, т.е. не </a:t>
            </a:r>
            <a:r>
              <a:rPr lang="bg-BG" sz="2400" dirty="0"/>
              <a:t>всички функции са завършени. </a:t>
            </a:r>
            <a:endParaRPr lang="bg-BG" sz="2400" dirty="0" smtClean="0"/>
          </a:p>
          <a:p>
            <a:pPr lvl="1">
              <a:lnSpc>
                <a:spcPct val="90000"/>
              </a:lnSpc>
              <a:spcBef>
                <a:spcPts val="0"/>
              </a:spcBef>
            </a:pPr>
            <a:r>
              <a:rPr lang="bg-BG" sz="2400" dirty="0" smtClean="0"/>
              <a:t>Потребителският интерфейс е завършен. </a:t>
            </a:r>
          </a:p>
          <a:p>
            <a:pPr lvl="1">
              <a:lnSpc>
                <a:spcPct val="90000"/>
              </a:lnSpc>
              <a:spcBef>
                <a:spcPts val="0"/>
              </a:spcBef>
            </a:pPr>
            <a:r>
              <a:rPr lang="bg-BG" sz="2400" dirty="0" smtClean="0"/>
              <a:t>На този етап софтуерът не се дава на клиентите.</a:t>
            </a:r>
          </a:p>
          <a:p>
            <a:pPr>
              <a:lnSpc>
                <a:spcPct val="90000"/>
              </a:lnSpc>
              <a:spcBef>
                <a:spcPts val="0"/>
              </a:spcBef>
            </a:pPr>
            <a:r>
              <a:rPr lang="bg-BG" sz="2800" dirty="0" err="1" smtClean="0"/>
              <a:t>Alpha</a:t>
            </a:r>
            <a:r>
              <a:rPr lang="bg-BG" sz="2800" dirty="0" smtClean="0"/>
              <a:t>: </a:t>
            </a:r>
          </a:p>
          <a:p>
            <a:pPr lvl="1">
              <a:lnSpc>
                <a:spcPct val="90000"/>
              </a:lnSpc>
              <a:spcBef>
                <a:spcPts val="0"/>
              </a:spcBef>
            </a:pPr>
            <a:r>
              <a:rPr lang="bg-BG" sz="2400" dirty="0" smtClean="0"/>
              <a:t>Софтуерът е близо до своето завършване и е вътрешно (от разработчиците) тестван за грешки/проблеми</a:t>
            </a:r>
          </a:p>
          <a:p>
            <a:pPr marL="342900" lvl="1" indent="-342900">
              <a:lnSpc>
                <a:spcPct val="90000"/>
              </a:lnSpc>
              <a:spcBef>
                <a:spcPts val="0"/>
              </a:spcBef>
              <a:buFont typeface="Wingdings" pitchFamily="2" charset="2"/>
              <a:buChar char="Ä"/>
            </a:pPr>
            <a:r>
              <a:rPr lang="bg-BG" dirty="0" smtClean="0">
                <a:ea typeface="+mn-ea"/>
                <a:cs typeface="+mn-cs"/>
              </a:rPr>
              <a:t>Бета: </a:t>
            </a:r>
          </a:p>
          <a:p>
            <a:pPr lvl="1">
              <a:lnSpc>
                <a:spcPct val="90000"/>
              </a:lnSpc>
              <a:spcBef>
                <a:spcPts val="0"/>
              </a:spcBef>
            </a:pPr>
            <a:r>
              <a:rPr lang="bg-BG" sz="2400" dirty="0" smtClean="0"/>
              <a:t>Софтуерът е стабилен и се пуска на ограничена потребителска база - целта е да получите отзиви от клиентите за продукта и съответно да направите промени в софтуера</a:t>
            </a:r>
          </a:p>
        </p:txBody>
      </p:sp>
    </p:spTree>
    <p:extLst>
      <p:ext uri="{BB962C8B-B14F-4D97-AF65-F5344CB8AC3E}">
        <p14:creationId xmlns:p14="http://schemas.microsoft.com/office/powerpoint/2010/main" val="85363413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Алфа и </a:t>
            </a:r>
            <a:r>
              <a:rPr lang="bg-BG" sz="4000" dirty="0" err="1" smtClean="0"/>
              <a:t>Вета</a:t>
            </a:r>
            <a:r>
              <a:rPr lang="bg-BG" sz="4000" dirty="0" smtClean="0"/>
              <a:t>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lvl="1" indent="-342900">
              <a:spcBef>
                <a:spcPts val="0"/>
              </a:spcBef>
              <a:buFont typeface="Wingdings" pitchFamily="2" charset="2"/>
              <a:buChar char="Ä"/>
            </a:pPr>
            <a:r>
              <a:rPr lang="en-US" dirty="0">
                <a:ea typeface="+mn-ea"/>
                <a:cs typeface="+mn-cs"/>
              </a:rPr>
              <a:t>Release </a:t>
            </a:r>
            <a:r>
              <a:rPr lang="bg-BG" dirty="0" err="1">
                <a:ea typeface="+mn-ea"/>
                <a:cs typeface="+mn-cs"/>
              </a:rPr>
              <a:t>Candidate</a:t>
            </a:r>
            <a:r>
              <a:rPr lang="bg-BG" dirty="0">
                <a:ea typeface="+mn-ea"/>
                <a:cs typeface="+mn-cs"/>
              </a:rPr>
              <a:t> (RC): </a:t>
            </a:r>
          </a:p>
          <a:p>
            <a:pPr lvl="1">
              <a:spcBef>
                <a:spcPts val="0"/>
              </a:spcBef>
            </a:pPr>
            <a:r>
              <a:rPr lang="bg-BG" sz="2400" dirty="0" smtClean="0"/>
              <a:t>Въз основа на обратната връзка от </a:t>
            </a:r>
            <a:r>
              <a:rPr lang="bg-BG" sz="2400" dirty="0" err="1" smtClean="0"/>
              <a:t>Beta</a:t>
            </a:r>
            <a:r>
              <a:rPr lang="en-US" sz="2400" dirty="0" smtClean="0"/>
              <a:t>-</a:t>
            </a:r>
            <a:r>
              <a:rPr lang="bg-BG" sz="2400" dirty="0" smtClean="0"/>
              <a:t>теста</a:t>
            </a:r>
            <a:r>
              <a:rPr lang="en-US" sz="2400" dirty="0" smtClean="0"/>
              <a:t> </a:t>
            </a:r>
            <a:r>
              <a:rPr lang="bg-BG" sz="2400" dirty="0" smtClean="0"/>
              <a:t>са направени промени и корекциите , които е необходимо са се проверят за грешки. </a:t>
            </a:r>
          </a:p>
          <a:p>
            <a:pPr lvl="1">
              <a:spcBef>
                <a:spcPts val="0"/>
              </a:spcBef>
            </a:pPr>
            <a:r>
              <a:rPr lang="bg-BG" sz="2400" dirty="0" smtClean="0"/>
              <a:t>На този етап не се правят радикални промени във функционалността, а просто проверявате за грешки. </a:t>
            </a:r>
          </a:p>
          <a:p>
            <a:pPr lvl="1">
              <a:spcBef>
                <a:spcPts val="0"/>
              </a:spcBef>
            </a:pPr>
            <a:r>
              <a:rPr lang="bg-BG" sz="2400" dirty="0" smtClean="0"/>
              <a:t>Провежда се контрола на риска ако е необходимо</a:t>
            </a:r>
            <a:endParaRPr lang="en-US" sz="2400" dirty="0" smtClean="0"/>
          </a:p>
          <a:p>
            <a:pPr lvl="2">
              <a:spcBef>
                <a:spcPts val="0"/>
              </a:spcBef>
            </a:pPr>
            <a:r>
              <a:rPr lang="bg-BG" sz="2000" dirty="0" err="1" smtClean="0"/>
              <a:t>англ</a:t>
            </a:r>
            <a:r>
              <a:rPr lang="bg-BG" sz="2000" dirty="0" smtClean="0"/>
              <a:t>. </a:t>
            </a:r>
            <a:r>
              <a:rPr lang="en-US" sz="2000" dirty="0" smtClean="0"/>
              <a:t>Risk-based testing</a:t>
            </a:r>
            <a:endParaRPr lang="bg-BG" sz="2000" dirty="0" smtClean="0"/>
          </a:p>
          <a:p>
            <a:pPr marL="342900" lvl="1" indent="-342900">
              <a:spcBef>
                <a:spcPts val="0"/>
              </a:spcBef>
              <a:buFont typeface="Wingdings" pitchFamily="2" charset="2"/>
              <a:buChar char="Ä"/>
            </a:pPr>
            <a:r>
              <a:rPr lang="en-US" dirty="0">
                <a:ea typeface="+mn-ea"/>
                <a:cs typeface="+mn-cs"/>
              </a:rPr>
              <a:t>Release</a:t>
            </a:r>
            <a:r>
              <a:rPr lang="bg-BG" dirty="0">
                <a:ea typeface="+mn-ea"/>
                <a:cs typeface="+mn-cs"/>
              </a:rPr>
              <a:t>: </a:t>
            </a:r>
          </a:p>
          <a:p>
            <a:pPr lvl="1">
              <a:spcBef>
                <a:spcPts val="0"/>
              </a:spcBef>
            </a:pPr>
            <a:r>
              <a:rPr lang="bg-BG" sz="2400" dirty="0" smtClean="0"/>
              <a:t>Разработката е завършена и софтуерът се пуска за експлоатация от възложителя или на пазара за закупуване от клиенти.</a:t>
            </a:r>
            <a:endParaRPr lang="bg-BG" sz="2400" dirty="0"/>
          </a:p>
        </p:txBody>
      </p:sp>
    </p:spTree>
    <p:extLst>
      <p:ext uri="{BB962C8B-B14F-4D97-AF65-F5344CB8AC3E}">
        <p14:creationId xmlns:p14="http://schemas.microsoft.com/office/powerpoint/2010/main" val="375727009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Алфа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Фокусът на алфа-тестването е да се </a:t>
            </a:r>
            <a:r>
              <a:rPr lang="bg-BG" sz="2800" i="1" dirty="0" smtClean="0">
                <a:effectLst>
                  <a:outerShdw blurRad="38100" dist="38100" dir="2700000" algn="tl">
                    <a:srgbClr val="000000">
                      <a:alpha val="43137"/>
                    </a:srgbClr>
                  </a:outerShdw>
                </a:effectLst>
              </a:rPr>
              <a:t>симулират</a:t>
            </a:r>
            <a:r>
              <a:rPr lang="bg-BG" sz="2800" dirty="0" smtClean="0">
                <a:effectLst>
                  <a:outerShdw blurRad="38100" dist="38100" dir="2700000" algn="tl">
                    <a:srgbClr val="000000">
                      <a:alpha val="43137"/>
                    </a:srgbClr>
                  </a:outerShdw>
                </a:effectLst>
              </a:rPr>
              <a:t> </a:t>
            </a:r>
            <a:r>
              <a:rPr lang="bg-BG" sz="2800" dirty="0" smtClean="0"/>
              <a:t>реални потребители, работещи със системата.</a:t>
            </a:r>
          </a:p>
          <a:p>
            <a:pPr lvl="1">
              <a:spcBef>
                <a:spcPts val="0"/>
              </a:spcBef>
            </a:pPr>
            <a:r>
              <a:rPr lang="bg-BG" sz="2400" dirty="0"/>
              <a:t>Този вид тестване е наречен «алфа», защото се изпълнява в началото на крайния етап на разработка. </a:t>
            </a:r>
            <a:endParaRPr lang="bg-BG" sz="2400" dirty="0" smtClean="0"/>
          </a:p>
          <a:p>
            <a:pPr lvl="2">
              <a:spcBef>
                <a:spcPts val="0"/>
              </a:spcBef>
            </a:pPr>
            <a:r>
              <a:rPr lang="bg-BG" sz="2000" dirty="0" smtClean="0"/>
              <a:t>Това гарантира зададено качество на продукта, преди да преминете към </a:t>
            </a:r>
            <a:r>
              <a:rPr lang="bg-BG" sz="2000" dirty="0" err="1" smtClean="0"/>
              <a:t>бета-тестване</a:t>
            </a:r>
            <a:r>
              <a:rPr lang="bg-BG" sz="2000" dirty="0" smtClean="0"/>
              <a:t>.</a:t>
            </a:r>
          </a:p>
          <a:p>
            <a:pPr lvl="1">
              <a:spcBef>
                <a:spcPts val="0"/>
              </a:spcBef>
            </a:pPr>
            <a:r>
              <a:rPr lang="bg-BG" sz="2400" dirty="0" smtClean="0"/>
              <a:t>Целта е да се изпълнят задачите, които ще изпълнява типичният потребител в реални експлоатационни условия. </a:t>
            </a:r>
            <a:endParaRPr lang="bg-BG" sz="2000" dirty="0" smtClean="0"/>
          </a:p>
          <a:p>
            <a:pPr lvl="1">
              <a:spcBef>
                <a:spcPts val="0"/>
              </a:spcBef>
            </a:pPr>
            <a:r>
              <a:rPr lang="bg-BG" sz="2400" dirty="0" smtClean="0"/>
              <a:t>Алфа-тестването се извършва в лабораторна среда, т.е. на площадката на производителя.</a:t>
            </a:r>
          </a:p>
          <a:p>
            <a:pPr lvl="1">
              <a:spcBef>
                <a:spcPts val="0"/>
              </a:spcBef>
            </a:pPr>
            <a:r>
              <a:rPr lang="bg-BG" sz="2400" dirty="0" smtClean="0"/>
              <a:t>Като тестери на този етап обикновено се използват вътрешни за организацията служители. </a:t>
            </a:r>
          </a:p>
        </p:txBody>
      </p:sp>
    </p:spTree>
    <p:extLst>
      <p:ext uri="{BB962C8B-B14F-4D97-AF65-F5344CB8AC3E}">
        <p14:creationId xmlns:p14="http://schemas.microsoft.com/office/powerpoint/2010/main" val="360685118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Алфа тестване</a:t>
            </a:r>
            <a:endParaRPr lang="en-US" sz="4000" dirty="0"/>
          </a:p>
        </p:txBody>
      </p:sp>
      <p:sp>
        <p:nvSpPr>
          <p:cNvPr id="3" name="Content Placeholder 2"/>
          <p:cNvSpPr>
            <a:spLocks noGrp="1"/>
          </p:cNvSpPr>
          <p:nvPr>
            <p:ph idx="1"/>
          </p:nvPr>
        </p:nvSpPr>
        <p:spPr>
          <a:xfrm>
            <a:off x="811213" y="1778000"/>
            <a:ext cx="8081267"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Фокусът на алфа-тестването е да се </a:t>
            </a:r>
            <a:r>
              <a:rPr lang="bg-BG" sz="2800" i="1" dirty="0" smtClean="0">
                <a:effectLst>
                  <a:outerShdw blurRad="38100" dist="38100" dir="2700000" algn="tl">
                    <a:srgbClr val="000000">
                      <a:alpha val="43137"/>
                    </a:srgbClr>
                  </a:outerShdw>
                </a:effectLst>
              </a:rPr>
              <a:t>симулират</a:t>
            </a:r>
            <a:r>
              <a:rPr lang="bg-BG" sz="2800" dirty="0" smtClean="0">
                <a:effectLst>
                  <a:outerShdw blurRad="38100" dist="38100" dir="2700000" algn="tl">
                    <a:srgbClr val="000000">
                      <a:alpha val="43137"/>
                    </a:srgbClr>
                  </a:outerShdw>
                </a:effectLst>
              </a:rPr>
              <a:t> </a:t>
            </a:r>
            <a:r>
              <a:rPr lang="bg-BG" sz="2800" dirty="0" smtClean="0"/>
              <a:t>реални потребители, работещи със системата.</a:t>
            </a:r>
          </a:p>
          <a:p>
            <a:pPr lvl="1">
              <a:spcBef>
                <a:spcPts val="0"/>
              </a:spcBef>
            </a:pPr>
            <a:r>
              <a:rPr lang="bg-BG" sz="2400" dirty="0"/>
              <a:t>Алфа-тестването </a:t>
            </a:r>
            <a:r>
              <a:rPr lang="bg-BG" sz="2400" dirty="0" smtClean="0"/>
              <a:t>използва техники както от групата на бялата </a:t>
            </a:r>
            <a:r>
              <a:rPr lang="bg-BG" sz="2400" dirty="0"/>
              <a:t>кутия, така и </a:t>
            </a:r>
            <a:r>
              <a:rPr lang="bg-BG" sz="2400" dirty="0" smtClean="0"/>
              <a:t>от групата на черната кутия.</a:t>
            </a:r>
            <a:endParaRPr lang="bg-BG" sz="2400" dirty="0"/>
          </a:p>
          <a:p>
            <a:pPr lvl="1">
              <a:spcBef>
                <a:spcPts val="0"/>
              </a:spcBef>
            </a:pPr>
            <a:r>
              <a:rPr lang="bg-BG" sz="2400" dirty="0" smtClean="0"/>
              <a:t>Не се </a:t>
            </a:r>
            <a:r>
              <a:rPr lang="bg-BG" sz="2400" dirty="0"/>
              <a:t>извършват в </a:t>
            </a:r>
            <a:r>
              <a:rPr lang="bg-BG" sz="2400" dirty="0" smtClean="0"/>
              <a:t>дълбочина </a:t>
            </a:r>
            <a:r>
              <a:rPr lang="bg-BG" sz="2400" dirty="0" err="1" smtClean="0"/>
              <a:t>тестоване</a:t>
            </a:r>
            <a:r>
              <a:rPr lang="bg-BG" sz="2400" dirty="0" smtClean="0"/>
              <a:t> за надеждност и за сигурност.</a:t>
            </a:r>
          </a:p>
          <a:p>
            <a:pPr lvl="1">
              <a:spcBef>
                <a:spcPts val="0"/>
              </a:spcBef>
            </a:pPr>
            <a:r>
              <a:rPr lang="bg-BG" sz="2400" dirty="0" smtClean="0"/>
              <a:t>Може да е необходим дълъг цикъл на реализация на тестването.</a:t>
            </a:r>
          </a:p>
          <a:p>
            <a:pPr lvl="1">
              <a:spcBef>
                <a:spcPts val="0"/>
              </a:spcBef>
            </a:pPr>
            <a:r>
              <a:rPr lang="bg-BG" sz="2400" dirty="0" smtClean="0"/>
              <a:t>Критичните проблеми или поправки, резултат от алфа-тестването се адресират веднага към разработчиците.</a:t>
            </a:r>
            <a:endParaRPr lang="bg-BG" sz="2400" dirty="0"/>
          </a:p>
        </p:txBody>
      </p:sp>
    </p:spTree>
    <p:extLst>
      <p:ext uri="{BB962C8B-B14F-4D97-AF65-F5344CB8AC3E}">
        <p14:creationId xmlns:p14="http://schemas.microsoft.com/office/powerpoint/2010/main" val="353510694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Бета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bg-BG" sz="2800" dirty="0" smtClean="0"/>
              <a:t>Бета тестването на даден продукт може да се разглежда като форма на външно тестване за приемливост.</a:t>
            </a:r>
          </a:p>
          <a:p>
            <a:pPr lvl="1"/>
            <a:r>
              <a:rPr lang="bg-BG" sz="2400" dirty="0" smtClean="0"/>
              <a:t>Извършва се от „реални потребители“ на софтуерното приложение в „реална среда“.</a:t>
            </a:r>
          </a:p>
          <a:p>
            <a:pPr lvl="1"/>
            <a:r>
              <a:rPr lang="bg-BG" sz="2400" dirty="0" smtClean="0"/>
              <a:t>Бета версия на софтуера се предоставя на ограничен брой крайни потребители на продукта, за да получат обратна информация за качеството на продукта. </a:t>
            </a:r>
          </a:p>
          <a:p>
            <a:r>
              <a:rPr lang="bg-BG" sz="2800" dirty="0" smtClean="0"/>
              <a:t>Това е последният тест преди изпращане на продукт на клиентите. </a:t>
            </a:r>
          </a:p>
          <a:p>
            <a:pPr lvl="1"/>
            <a:r>
              <a:rPr lang="bg-BG" sz="2400" dirty="0" err="1" smtClean="0"/>
              <a:t>Валидиране</a:t>
            </a:r>
            <a:r>
              <a:rPr lang="bg-BG" sz="2400" dirty="0" smtClean="0"/>
              <a:t> с помощта на клиента.</a:t>
            </a:r>
            <a:endParaRPr lang="bg-BG" sz="2400" dirty="0"/>
          </a:p>
        </p:txBody>
      </p:sp>
    </p:spTree>
    <p:extLst>
      <p:ext uri="{BB962C8B-B14F-4D97-AF65-F5344CB8AC3E}">
        <p14:creationId xmlns:p14="http://schemas.microsoft.com/office/powerpoint/2010/main" val="97162602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Бета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5000"/>
              </a:lnSpc>
              <a:spcBef>
                <a:spcPts val="0"/>
              </a:spcBef>
            </a:pPr>
            <a:r>
              <a:rPr lang="bg-BG" sz="2800" dirty="0" smtClean="0"/>
              <a:t>Други характеристики:</a:t>
            </a:r>
          </a:p>
          <a:p>
            <a:pPr lvl="1">
              <a:lnSpc>
                <a:spcPct val="95000"/>
              </a:lnSpc>
              <a:spcBef>
                <a:spcPts val="0"/>
              </a:spcBef>
            </a:pPr>
            <a:r>
              <a:rPr lang="bg-BG" sz="2400" dirty="0" smtClean="0"/>
              <a:t>Бета тестването намалява рисковете от повреда на продукта и осигурява повишено качество на продукта </a:t>
            </a:r>
          </a:p>
          <a:p>
            <a:pPr lvl="2">
              <a:lnSpc>
                <a:spcPct val="95000"/>
              </a:lnSpc>
              <a:spcBef>
                <a:spcPts val="0"/>
              </a:spcBef>
            </a:pPr>
            <a:r>
              <a:rPr lang="bg-BG" sz="2000" dirty="0" smtClean="0"/>
              <a:t>Това тестване помага за тестване на продукта в клиентската среда.</a:t>
            </a:r>
          </a:p>
          <a:p>
            <a:pPr lvl="2">
              <a:lnSpc>
                <a:spcPct val="95000"/>
              </a:lnSpc>
              <a:spcBef>
                <a:spcPts val="0"/>
              </a:spcBef>
            </a:pPr>
            <a:r>
              <a:rPr lang="bg-BG" sz="2000" dirty="0" smtClean="0"/>
              <a:t>Събираните данни се използват за анализ на готовността на продукта за реално използване в практиката.</a:t>
            </a:r>
          </a:p>
          <a:p>
            <a:pPr lvl="1">
              <a:lnSpc>
                <a:spcPct val="95000"/>
              </a:lnSpc>
              <a:spcBef>
                <a:spcPts val="0"/>
              </a:spcBef>
            </a:pPr>
            <a:r>
              <a:rPr lang="bg-BG" sz="2400" dirty="0" smtClean="0"/>
              <a:t>Продължителността на тестване не е голямо – до няколко седмици.</a:t>
            </a:r>
          </a:p>
          <a:p>
            <a:pPr lvl="1">
              <a:lnSpc>
                <a:spcPct val="95000"/>
              </a:lnSpc>
              <a:spcBef>
                <a:spcPts val="0"/>
              </a:spcBef>
            </a:pPr>
            <a:r>
              <a:rPr lang="bg-BG" sz="2400" dirty="0" smtClean="0"/>
              <a:t>Основно предимство на това тестване е директната обратна връзка от клиентите за работата на системата. </a:t>
            </a:r>
          </a:p>
          <a:p>
            <a:pPr lvl="1">
              <a:lnSpc>
                <a:spcPct val="95000"/>
              </a:lnSpc>
              <a:spcBef>
                <a:spcPts val="0"/>
              </a:spcBef>
            </a:pPr>
            <a:r>
              <a:rPr lang="bg-BG" sz="2400" dirty="0" smtClean="0"/>
              <a:t>Тестването включва и проверки за надеждност (</a:t>
            </a:r>
            <a:r>
              <a:rPr lang="bg-BG" sz="2400" dirty="0" err="1" smtClean="0"/>
              <a:t>англ</a:t>
            </a:r>
            <a:r>
              <a:rPr lang="bg-BG" sz="2400" dirty="0" smtClean="0"/>
              <a:t>. </a:t>
            </a:r>
            <a:r>
              <a:rPr lang="bg-BG" sz="2400" dirty="0" err="1" smtClean="0"/>
              <a:t>Reliability</a:t>
            </a:r>
            <a:r>
              <a:rPr lang="bg-BG" sz="2400" dirty="0" smtClean="0"/>
              <a:t>), сигурност (</a:t>
            </a:r>
            <a:r>
              <a:rPr lang="bg-BG" sz="2400" dirty="0" err="1" smtClean="0"/>
              <a:t>англ</a:t>
            </a:r>
            <a:r>
              <a:rPr lang="bg-BG" sz="2400" dirty="0" smtClean="0"/>
              <a:t>. </a:t>
            </a:r>
            <a:r>
              <a:rPr lang="bg-BG" sz="2400" dirty="0" err="1" smtClean="0"/>
              <a:t>Security</a:t>
            </a:r>
            <a:r>
              <a:rPr lang="bg-BG" sz="2400" dirty="0" smtClean="0"/>
              <a:t>), устойчивост (</a:t>
            </a:r>
            <a:r>
              <a:rPr lang="bg-BG" sz="2400" dirty="0" err="1" smtClean="0"/>
              <a:t>англ</a:t>
            </a:r>
            <a:r>
              <a:rPr lang="bg-BG" sz="2400" dirty="0" smtClean="0"/>
              <a:t>. </a:t>
            </a:r>
            <a:r>
              <a:rPr lang="bg-BG" sz="2400" dirty="0" err="1" smtClean="0"/>
              <a:t>Robustness</a:t>
            </a:r>
            <a:r>
              <a:rPr lang="bg-BG" sz="2400" dirty="0" smtClean="0"/>
              <a:t>).</a:t>
            </a:r>
            <a:endParaRPr lang="bg-BG" sz="2400" dirty="0"/>
          </a:p>
        </p:txBody>
      </p:sp>
    </p:spTree>
    <p:extLst>
      <p:ext uri="{BB962C8B-B14F-4D97-AF65-F5344CB8AC3E}">
        <p14:creationId xmlns:p14="http://schemas.microsoft.com/office/powerpoint/2010/main" val="375515097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Бета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bg-BG" sz="2800" dirty="0" smtClean="0"/>
              <a:t>В практиката се използват няколко вида </a:t>
            </a:r>
            <a:r>
              <a:rPr lang="bg-BG" sz="2800" dirty="0" err="1" smtClean="0"/>
              <a:t>бета-тестове</a:t>
            </a:r>
            <a:r>
              <a:rPr lang="bg-BG" sz="2800" dirty="0" smtClean="0"/>
              <a:t>:</a:t>
            </a:r>
          </a:p>
          <a:p>
            <a:pPr lvl="1"/>
            <a:r>
              <a:rPr lang="bg-BG" sz="2400" dirty="0" smtClean="0"/>
              <a:t>Традиционно Бета-тестване</a:t>
            </a:r>
          </a:p>
          <a:p>
            <a:pPr lvl="2"/>
            <a:r>
              <a:rPr lang="bg-BG" sz="2000" dirty="0" smtClean="0"/>
              <a:t>Продуктът се разпространява на целевия пазар и свързаните данни се събират във всички аспекти. Тези данни могат да се използват за подобряване на продукта.</a:t>
            </a:r>
          </a:p>
          <a:p>
            <a:pPr lvl="1"/>
            <a:r>
              <a:rPr lang="bg-BG" sz="2400" dirty="0" smtClean="0"/>
              <a:t>Публично Бета-тестване</a:t>
            </a:r>
          </a:p>
          <a:p>
            <a:pPr lvl="2"/>
            <a:r>
              <a:rPr lang="bg-BG" sz="2000" dirty="0" smtClean="0"/>
              <a:t>Продуктът се предоставя на публично чрез онлайн канали и тестването може да се извършва от всеки.</a:t>
            </a:r>
          </a:p>
          <a:p>
            <a:pPr lvl="2"/>
            <a:r>
              <a:rPr lang="bg-BG" sz="2000" dirty="0" smtClean="0"/>
              <a:t>Въз основа на отзивите могат да се направят подобрения на продукта. </a:t>
            </a:r>
          </a:p>
          <a:p>
            <a:pPr lvl="3"/>
            <a:r>
              <a:rPr lang="bg-BG" sz="1800" dirty="0" smtClean="0"/>
              <a:t>Пример: Microsoft проведе най-големия от всички </a:t>
            </a:r>
            <a:r>
              <a:rPr lang="bg-BG" sz="1800" dirty="0" err="1" smtClean="0"/>
              <a:t>бета</a:t>
            </a:r>
            <a:r>
              <a:rPr lang="bg-BG" sz="1800" dirty="0" smtClean="0"/>
              <a:t> тестове за своята ОС за Windows 8, преди официално да го пусне.</a:t>
            </a:r>
          </a:p>
        </p:txBody>
      </p:sp>
    </p:spTree>
    <p:extLst>
      <p:ext uri="{BB962C8B-B14F-4D97-AF65-F5344CB8AC3E}">
        <p14:creationId xmlns:p14="http://schemas.microsoft.com/office/powerpoint/2010/main" val="238464003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sz="4000" dirty="0" smtClean="0"/>
              <a:t>Бета тестване</a:t>
            </a:r>
            <a:endParaRPr lang="en-US" sz="4000" dirty="0"/>
          </a:p>
        </p:txBody>
      </p:sp>
      <p:sp>
        <p:nvSpPr>
          <p:cNvPr id="3" name="Content Placeholder 2"/>
          <p:cNvSpPr>
            <a:spLocks noGrp="1"/>
          </p:cNvSpPr>
          <p:nvPr>
            <p:ph idx="1"/>
          </p:nvPr>
        </p:nvSpPr>
        <p:spPr>
          <a:xfrm>
            <a:off x="811213" y="1778000"/>
            <a:ext cx="8225283"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bg-BG" sz="2800" dirty="0" smtClean="0"/>
              <a:t>В практиката се използват няколко вида </a:t>
            </a:r>
            <a:r>
              <a:rPr lang="bg-BG" sz="2800" dirty="0" err="1" smtClean="0"/>
              <a:t>бета-тестове</a:t>
            </a:r>
            <a:r>
              <a:rPr lang="bg-BG" sz="2800" dirty="0" smtClean="0"/>
              <a:t>:</a:t>
            </a:r>
          </a:p>
          <a:p>
            <a:pPr lvl="1"/>
            <a:r>
              <a:rPr lang="bg-BG" sz="2400" dirty="0"/>
              <a:t>Технически </a:t>
            </a:r>
            <a:r>
              <a:rPr lang="bg-BG" sz="2400" dirty="0" smtClean="0"/>
              <a:t>Бета-тестове</a:t>
            </a:r>
            <a:endParaRPr lang="bg-BG" sz="2400" dirty="0"/>
          </a:p>
          <a:p>
            <a:pPr lvl="2"/>
            <a:r>
              <a:rPr lang="bg-BG" sz="2000" dirty="0"/>
              <a:t>Продуктът се </a:t>
            </a:r>
            <a:r>
              <a:rPr lang="bg-BG" sz="2000" dirty="0" smtClean="0"/>
              <a:t>дава на </a:t>
            </a:r>
            <a:r>
              <a:rPr lang="bg-BG" sz="2000" dirty="0"/>
              <a:t>вътрешната група </a:t>
            </a:r>
            <a:r>
              <a:rPr lang="bg-BG" sz="2000" dirty="0" smtClean="0"/>
              <a:t>за </a:t>
            </a:r>
            <a:r>
              <a:rPr lang="bg-BG" sz="2000" dirty="0"/>
              <a:t>организацията и </a:t>
            </a:r>
            <a:r>
              <a:rPr lang="bg-BG" sz="2000" dirty="0" smtClean="0"/>
              <a:t>се събира </a:t>
            </a:r>
            <a:r>
              <a:rPr lang="bg-BG" sz="2000" dirty="0"/>
              <a:t>обратна информация / данни от служителите на </a:t>
            </a:r>
            <a:r>
              <a:rPr lang="bg-BG" sz="2000" dirty="0" smtClean="0"/>
              <a:t>организацията за използване в реална среда.</a:t>
            </a:r>
            <a:endParaRPr lang="bg-BG" sz="2000" dirty="0"/>
          </a:p>
          <a:p>
            <a:pPr lvl="1"/>
            <a:r>
              <a:rPr lang="bg-BG" sz="2400" dirty="0" smtClean="0"/>
              <a:t>Фокусирано Бета-тестване</a:t>
            </a:r>
            <a:endParaRPr lang="bg-BG" sz="2400" dirty="0"/>
          </a:p>
          <a:p>
            <a:pPr lvl="2"/>
            <a:r>
              <a:rPr lang="bg-BG" sz="2000" dirty="0"/>
              <a:t>Продуктът е пуснат на пазара за събиране на отзиви за специфични характеристики на програмата. </a:t>
            </a:r>
            <a:endParaRPr lang="bg-BG" sz="2000" dirty="0" smtClean="0"/>
          </a:p>
          <a:p>
            <a:pPr lvl="2"/>
            <a:r>
              <a:rPr lang="bg-BG" sz="2000" dirty="0" smtClean="0"/>
              <a:t>Пример: </a:t>
            </a:r>
            <a:r>
              <a:rPr lang="bg-BG" sz="2000" dirty="0"/>
              <a:t>важна функционалност на софтуера.</a:t>
            </a:r>
          </a:p>
          <a:p>
            <a:pPr lvl="1"/>
            <a:r>
              <a:rPr lang="bg-BG" sz="2400" dirty="0" smtClean="0"/>
              <a:t>Бета-тестване след предоставяне на клиента</a:t>
            </a:r>
            <a:endParaRPr lang="bg-BG" sz="2400" dirty="0"/>
          </a:p>
          <a:p>
            <a:pPr lvl="2"/>
            <a:r>
              <a:rPr lang="bg-BG" sz="2000" dirty="0"/>
              <a:t>Продуктът се пуска на пазара и се събират данни, за да се направят подобрения за бъдещото пускане на продукта.</a:t>
            </a:r>
            <a:endParaRPr lang="bg-BG" sz="1600" dirty="0"/>
          </a:p>
        </p:txBody>
      </p:sp>
    </p:spTree>
    <p:extLst>
      <p:ext uri="{BB962C8B-B14F-4D97-AF65-F5344CB8AC3E}">
        <p14:creationId xmlns:p14="http://schemas.microsoft.com/office/powerpoint/2010/main" val="243880196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“Sanity” </a:t>
            </a:r>
            <a:r>
              <a:rPr lang="bg-BG" dirty="0" smtClean="0"/>
              <a:t>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600" dirty="0" smtClean="0"/>
              <a:t>Това е тестване на софтуера, извършвано при получаване на «готова» версия след малки промени в кода или функционалността, за да се установи дали грешките са били отстранени и дали не са въведени допълнителни проблеми с направените промени. </a:t>
            </a:r>
          </a:p>
          <a:p>
            <a:pPr lvl="1">
              <a:spcBef>
                <a:spcPts val="0"/>
              </a:spcBef>
            </a:pPr>
            <a:r>
              <a:rPr lang="bg-BG" sz="2300" dirty="0" smtClean="0"/>
              <a:t>Целта е да се определи, че предложената функционалност работи приблизително според очакванията. </a:t>
            </a:r>
          </a:p>
          <a:p>
            <a:pPr lvl="2">
              <a:spcBef>
                <a:spcPts val="0"/>
              </a:spcBef>
            </a:pPr>
            <a:r>
              <a:rPr lang="bg-BG" sz="1900" dirty="0" smtClean="0"/>
              <a:t>Това е не е проверка на нова </a:t>
            </a:r>
            <a:r>
              <a:rPr lang="bg-BG" sz="1900" dirty="0"/>
              <a:t>функционалност, а </a:t>
            </a:r>
            <a:r>
              <a:rPr lang="bg-BG" sz="1900" dirty="0" smtClean="0"/>
              <a:t>е проверка  доколко разработчикът </a:t>
            </a:r>
            <a:r>
              <a:rPr lang="bg-BG" sz="1900" dirty="0"/>
              <a:t>е </a:t>
            </a:r>
            <a:r>
              <a:rPr lang="bg-BG" sz="1900" dirty="0" smtClean="0"/>
              <a:t>бил </a:t>
            </a:r>
            <a:r>
              <a:rPr lang="bg-BG" sz="1900" dirty="0"/>
              <a:t>разумност </a:t>
            </a:r>
            <a:r>
              <a:rPr lang="bg-BG" sz="1900" dirty="0" smtClean="0"/>
              <a:t> и рационален, </a:t>
            </a:r>
            <a:r>
              <a:rPr lang="bg-BG" sz="1900" dirty="0"/>
              <a:t>докато </a:t>
            </a:r>
            <a:r>
              <a:rPr lang="bg-BG" sz="1900" dirty="0" smtClean="0"/>
              <a:t>е реализирал промените.</a:t>
            </a:r>
            <a:endParaRPr lang="bg-BG" sz="1900" dirty="0"/>
          </a:p>
          <a:p>
            <a:pPr lvl="1">
              <a:spcBef>
                <a:spcPts val="0"/>
              </a:spcBef>
            </a:pPr>
            <a:r>
              <a:rPr lang="bg-BG" sz="2300" dirty="0" smtClean="0"/>
              <a:t>Ако тестът не успее, компилацията се отхвърля, за да спести време и разходи, свързани с по-строгите тестове.</a:t>
            </a:r>
          </a:p>
        </p:txBody>
      </p:sp>
    </p:spTree>
    <p:extLst>
      <p:ext uri="{BB962C8B-B14F-4D97-AF65-F5344CB8AC3E}">
        <p14:creationId xmlns:p14="http://schemas.microsoft.com/office/powerpoint/2010/main" val="7990887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a:t>
            </a:r>
            <a:r>
              <a:rPr lang="bg-BG" dirty="0" smtClean="0"/>
              <a:t>тестване</a:t>
            </a:r>
            <a:endParaRPr lang="en-US" dirty="0"/>
          </a:p>
        </p:txBody>
      </p:sp>
      <p:sp>
        <p:nvSpPr>
          <p:cNvPr id="3" name="Content Placeholder 2"/>
          <p:cNvSpPr>
            <a:spLocks noGrp="1"/>
          </p:cNvSpPr>
          <p:nvPr>
            <p:ph idx="1"/>
          </p:nvPr>
        </p:nvSpPr>
        <p:spPr/>
        <p:txBody>
          <a:bodyPr/>
          <a:lstStyle/>
          <a:p>
            <a:r>
              <a:rPr lang="bg-BG" sz="2800" dirty="0" smtClean="0"/>
              <a:t>“</a:t>
            </a:r>
            <a:r>
              <a:rPr lang="bg-BG" sz="2800" dirty="0" err="1" smtClean="0"/>
              <a:t>Smoke</a:t>
            </a:r>
            <a:r>
              <a:rPr lang="bg-BG" sz="2800" dirty="0" smtClean="0"/>
              <a:t>”-тестването е вид тестване, извършвано след изграждане на софтуер, за да се установи, че критичните функции на програмата работят добре. </a:t>
            </a:r>
          </a:p>
          <a:p>
            <a:pPr lvl="1"/>
            <a:r>
              <a:rPr lang="bg-BG" sz="2400" dirty="0" smtClean="0"/>
              <a:t>Той се изпълнява "преди" всякакви подробни функционални (системни) или </a:t>
            </a:r>
            <a:r>
              <a:rPr lang="bg-BG" sz="2400" dirty="0" err="1" smtClean="0"/>
              <a:t>регресионни</a:t>
            </a:r>
            <a:r>
              <a:rPr lang="bg-BG" sz="2400" dirty="0" smtClean="0"/>
              <a:t> тестове да бъдат изпълнявани. </a:t>
            </a:r>
          </a:p>
          <a:p>
            <a:r>
              <a:rPr lang="bg-BG" sz="2800" dirty="0" smtClean="0"/>
              <a:t>Целта е да се отхвърли тестването на лошо изграден софтуер</a:t>
            </a:r>
          </a:p>
          <a:p>
            <a:pPr lvl="1"/>
            <a:r>
              <a:rPr lang="bg-BG" sz="2400" dirty="0" smtClean="0"/>
              <a:t>Спестява време за инсталиране и системно тестване.</a:t>
            </a:r>
          </a:p>
        </p:txBody>
      </p:sp>
    </p:spTree>
    <p:extLst>
      <p:ext uri="{BB962C8B-B14F-4D97-AF65-F5344CB8AC3E}">
        <p14:creationId xmlns:p14="http://schemas.microsoft.com/office/powerpoint/2010/main" val="5087348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a:t>
            </a:r>
            <a:r>
              <a:rPr lang="bg-BG" dirty="0" smtClean="0"/>
              <a:t>тестване</a:t>
            </a:r>
            <a:endParaRPr lang="en-US" dirty="0"/>
          </a:p>
        </p:txBody>
      </p:sp>
      <p:sp>
        <p:nvSpPr>
          <p:cNvPr id="3" name="Content Placeholder 2"/>
          <p:cNvSpPr>
            <a:spLocks noGrp="1"/>
          </p:cNvSpPr>
          <p:nvPr>
            <p:ph idx="1"/>
          </p:nvPr>
        </p:nvSpPr>
        <p:spPr/>
        <p:txBody>
          <a:bodyPr/>
          <a:lstStyle/>
          <a:p>
            <a:r>
              <a:rPr lang="bg-BG" sz="2800" dirty="0" smtClean="0"/>
              <a:t>В случаи тестовите вектори трябва да покрият най-важната функционалност или основните компоненти на системата. </a:t>
            </a:r>
          </a:p>
          <a:p>
            <a:pPr lvl="1"/>
            <a:r>
              <a:rPr lang="bg-BG" sz="2400" dirty="0" smtClean="0"/>
              <a:t>Целта не е да се извърши изчерпателно тестване, а да се провери дали критичните функционалности на системата работят добре.</a:t>
            </a:r>
          </a:p>
          <a:p>
            <a:pPr lvl="1"/>
            <a:r>
              <a:rPr lang="bg-BG" sz="2400" dirty="0" smtClean="0"/>
              <a:t>Успешното завършване на тестването отваря възможността за да се пристъпи към по-строги и по-сложни тестове.</a:t>
            </a:r>
          </a:p>
          <a:p>
            <a:pPr lvl="1"/>
            <a:r>
              <a:rPr lang="bg-BG" sz="2400" dirty="0" smtClean="0"/>
              <a:t>Може да се извърши както от разработчиците, така и от външни тестери.</a:t>
            </a:r>
            <a:endParaRPr lang="bg-BG" sz="2400" dirty="0"/>
          </a:p>
        </p:txBody>
      </p:sp>
    </p:spTree>
    <p:extLst>
      <p:ext uri="{BB962C8B-B14F-4D97-AF65-F5344CB8AC3E}">
        <p14:creationId xmlns:p14="http://schemas.microsoft.com/office/powerpoint/2010/main" val="19938585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a:t>
            </a:r>
            <a:r>
              <a:rPr lang="bg-BG" dirty="0" smtClean="0"/>
              <a:t>и </a:t>
            </a:r>
            <a:r>
              <a:rPr lang="en-US" dirty="0" smtClean="0"/>
              <a:t>“Sanity” </a:t>
            </a:r>
            <a:r>
              <a:rPr lang="bg-BG" dirty="0" smtClean="0"/>
              <a:t>тестване</a:t>
            </a:r>
            <a:endParaRPr lang="en-US" dirty="0"/>
          </a:p>
        </p:txBody>
      </p:sp>
      <p:sp>
        <p:nvSpPr>
          <p:cNvPr id="3" name="Content Placeholder 2"/>
          <p:cNvSpPr>
            <a:spLocks noGrp="1"/>
          </p:cNvSpPr>
          <p:nvPr>
            <p:ph idx="1"/>
          </p:nvPr>
        </p:nvSpPr>
        <p:spPr>
          <a:xfrm>
            <a:off x="811213" y="1778000"/>
            <a:ext cx="8009259" cy="4751388"/>
          </a:xfrm>
        </p:spPr>
        <p:txBody>
          <a:bodyPr/>
          <a:lstStyle/>
          <a:p>
            <a:r>
              <a:rPr lang="bg-BG" sz="2800" dirty="0" smtClean="0"/>
              <a:t>Двата вида тестване са начини да се избегне губенето на време и усилия</a:t>
            </a:r>
          </a:p>
          <a:p>
            <a:pPr lvl="1"/>
            <a:r>
              <a:rPr lang="bg-BG" sz="2400" dirty="0" smtClean="0"/>
              <a:t>Това е бързо определяне дали програмата е достатъчно готова за да заслужава всички по-строги и по-сложни тестове.</a:t>
            </a:r>
          </a:p>
          <a:p>
            <a:pPr lvl="2"/>
            <a:r>
              <a:rPr lang="bg-BG" sz="2000" dirty="0" smtClean="0"/>
              <a:t>„</a:t>
            </a:r>
            <a:r>
              <a:rPr lang="bg-BG" sz="2000" dirty="0" err="1" smtClean="0"/>
              <a:t>Sanity</a:t>
            </a:r>
            <a:r>
              <a:rPr lang="bg-BG" sz="2000" dirty="0" smtClean="0"/>
              <a:t>“ се нарича още „</a:t>
            </a:r>
            <a:r>
              <a:rPr lang="en-US" sz="2000" dirty="0" smtClean="0"/>
              <a:t>tester </a:t>
            </a:r>
            <a:r>
              <a:rPr lang="en-US" sz="2000" dirty="0"/>
              <a:t>acceptance </a:t>
            </a:r>
            <a:r>
              <a:rPr lang="en-US" sz="2000" dirty="0" smtClean="0"/>
              <a:t>testing</a:t>
            </a:r>
            <a:r>
              <a:rPr lang="bg-BG" sz="2000" dirty="0" smtClean="0"/>
              <a:t>“</a:t>
            </a:r>
            <a:r>
              <a:rPr lang="en-US" sz="2000" dirty="0" smtClean="0"/>
              <a:t> </a:t>
            </a:r>
            <a:endParaRPr lang="bg-BG" sz="2000" dirty="0" smtClean="0"/>
          </a:p>
          <a:p>
            <a:pPr lvl="2"/>
            <a:r>
              <a:rPr lang="en-US" sz="2000" dirty="0"/>
              <a:t>“Smoke” </a:t>
            </a:r>
            <a:r>
              <a:rPr lang="bg-BG" sz="2000" dirty="0" smtClean="0"/>
              <a:t>е известно още като „</a:t>
            </a:r>
            <a:r>
              <a:rPr lang="en-US" sz="2000" dirty="0"/>
              <a:t> build verification test</a:t>
            </a:r>
            <a:r>
              <a:rPr lang="bg-BG" sz="2000" dirty="0" smtClean="0"/>
              <a:t>“.</a:t>
            </a:r>
          </a:p>
          <a:p>
            <a:pPr lvl="1"/>
            <a:r>
              <a:rPr lang="bg-BG" sz="2400" dirty="0" smtClean="0"/>
              <a:t>Една от най-добрите практики в индустрията е провеждането на ежедневни версии (</a:t>
            </a:r>
            <a:r>
              <a:rPr lang="bg-BG" sz="2400" dirty="0" err="1" smtClean="0"/>
              <a:t>жарг</a:t>
            </a:r>
            <a:r>
              <a:rPr lang="bg-BG" sz="2400" dirty="0" smtClean="0"/>
              <a:t>. „</a:t>
            </a:r>
            <a:r>
              <a:rPr lang="bg-BG" sz="2400" dirty="0" err="1" smtClean="0"/>
              <a:t>билдове</a:t>
            </a:r>
            <a:r>
              <a:rPr lang="bg-BG" sz="2400" dirty="0" smtClean="0"/>
              <a:t>“) и реализиране на „</a:t>
            </a:r>
            <a:r>
              <a:rPr lang="en-US" sz="2400" dirty="0" smtClean="0"/>
              <a:t>Smoke” </a:t>
            </a:r>
            <a:r>
              <a:rPr lang="bg-BG" sz="2400" dirty="0" smtClean="0"/>
              <a:t>тестване.</a:t>
            </a:r>
            <a:endParaRPr lang="bg-BG" sz="2400" dirty="0"/>
          </a:p>
        </p:txBody>
      </p:sp>
    </p:spTree>
    <p:extLst>
      <p:ext uri="{BB962C8B-B14F-4D97-AF65-F5344CB8AC3E}">
        <p14:creationId xmlns:p14="http://schemas.microsoft.com/office/powerpoint/2010/main" val="27576667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a:t>
            </a:r>
            <a:r>
              <a:rPr lang="bg-BG" dirty="0" smtClean="0"/>
              <a:t>и </a:t>
            </a:r>
            <a:r>
              <a:rPr lang="en-US" dirty="0" smtClean="0"/>
              <a:t>“Sanity” </a:t>
            </a:r>
            <a:r>
              <a:rPr lang="bg-BG" dirty="0" smtClean="0"/>
              <a:t>тестване</a:t>
            </a:r>
            <a:endParaRPr lang="en-US" dirty="0"/>
          </a:p>
        </p:txBody>
      </p:sp>
      <p:sp>
        <p:nvSpPr>
          <p:cNvPr id="3" name="Content Placeholder 2"/>
          <p:cNvSpPr>
            <a:spLocks noGrp="1"/>
          </p:cNvSpPr>
          <p:nvPr>
            <p:ph idx="1"/>
          </p:nvPr>
        </p:nvSpPr>
        <p:spPr>
          <a:xfrm>
            <a:off x="811213" y="1778000"/>
            <a:ext cx="7001147" cy="4751388"/>
          </a:xfrm>
        </p:spPr>
        <p:txBody>
          <a:bodyPr/>
          <a:lstStyle/>
          <a:p>
            <a:pPr>
              <a:spcBef>
                <a:spcPts val="0"/>
              </a:spcBef>
            </a:pPr>
            <a:r>
              <a:rPr lang="bg-BG" sz="2800" dirty="0" smtClean="0"/>
              <a:t>И двата теста могат да се извършват ръчно или с помощта на инструмент за автоматизация. </a:t>
            </a:r>
          </a:p>
          <a:p>
            <a:pPr lvl="1">
              <a:spcBef>
                <a:spcPts val="0"/>
              </a:spcBef>
            </a:pPr>
            <a:r>
              <a:rPr lang="bg-BG" sz="2400" dirty="0" smtClean="0"/>
              <a:t>Когато се използват автоматизирани инструменти, тестовете често се инициират от един и същ процес, който генерира самото изграждане.</a:t>
            </a:r>
          </a:p>
          <a:p>
            <a:pPr>
              <a:spcBef>
                <a:spcPts val="0"/>
              </a:spcBef>
            </a:pPr>
            <a:r>
              <a:rPr lang="bg-BG" sz="2800" dirty="0" smtClean="0"/>
              <a:t>Ако е необходимо изпълнението и на двата теста, то първо ще извършва „</a:t>
            </a:r>
            <a:r>
              <a:rPr lang="en-US" sz="2800" dirty="0" smtClean="0"/>
              <a:t>Smoke</a:t>
            </a:r>
            <a:r>
              <a:rPr lang="bg-BG" sz="2800" dirty="0" smtClean="0"/>
              <a:t>“</a:t>
            </a:r>
            <a:r>
              <a:rPr lang="en-US" sz="2800" dirty="0" smtClean="0"/>
              <a:t> </a:t>
            </a:r>
            <a:r>
              <a:rPr lang="bg-BG" sz="2800" dirty="0" smtClean="0"/>
              <a:t>тестовете</a:t>
            </a:r>
            <a:r>
              <a:rPr lang="en-US" sz="2800" dirty="0" smtClean="0"/>
              <a:t>, a </a:t>
            </a:r>
            <a:r>
              <a:rPr lang="bg-BG" sz="2800" dirty="0" smtClean="0"/>
              <a:t>след това се изпълнява и „</a:t>
            </a:r>
            <a:r>
              <a:rPr lang="bg-BG" sz="2800" dirty="0" err="1" smtClean="0"/>
              <a:t>Sanity</a:t>
            </a:r>
            <a:r>
              <a:rPr lang="bg-BG" sz="2800" dirty="0" smtClean="0"/>
              <a:t>“ тестването. </a:t>
            </a:r>
            <a:endParaRPr lang="bg-BG"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604" y="2348880"/>
            <a:ext cx="1324845" cy="4293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99843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a:t>
            </a:r>
            <a:r>
              <a:rPr lang="bg-BG" dirty="0" smtClean="0"/>
              <a:t>и </a:t>
            </a:r>
            <a:r>
              <a:rPr lang="en-US" dirty="0" smtClean="0"/>
              <a:t>“Sanity” </a:t>
            </a:r>
            <a:r>
              <a:rPr lang="bg-BG" dirty="0" smtClean="0"/>
              <a:t>тестване</a:t>
            </a:r>
            <a:endParaRPr lang="en-US" dirty="0"/>
          </a:p>
        </p:txBody>
      </p:sp>
      <p:sp>
        <p:nvSpPr>
          <p:cNvPr id="3" name="Content Placeholder 2"/>
          <p:cNvSpPr>
            <a:spLocks noGrp="1"/>
          </p:cNvSpPr>
          <p:nvPr>
            <p:ph idx="1"/>
          </p:nvPr>
        </p:nvSpPr>
        <p:spPr>
          <a:xfrm>
            <a:off x="811213" y="1778000"/>
            <a:ext cx="8009259" cy="4751388"/>
          </a:xfrm>
        </p:spPr>
        <p:txBody>
          <a:bodyPr/>
          <a:lstStyle/>
          <a:p>
            <a:pPr>
              <a:spcBef>
                <a:spcPts val="0"/>
              </a:spcBef>
            </a:pPr>
            <a:endParaRPr lang="bg-BG" sz="2400" dirty="0"/>
          </a:p>
        </p:txBody>
      </p:sp>
      <p:pic>
        <p:nvPicPr>
          <p:cNvPr id="5" name="Picture 4" descr="Sanity Testing Vs Smoke Testing: Introduction &amp; Differences">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772816"/>
            <a:ext cx="7677237" cy="4813920"/>
          </a:xfrm>
          <a:prstGeom prst="rect">
            <a:avLst/>
          </a:prstGeom>
          <a:noFill/>
          <a:ln>
            <a:noFill/>
          </a:ln>
        </p:spPr>
      </p:pic>
    </p:spTree>
    <p:extLst>
      <p:ext uri="{BB962C8B-B14F-4D97-AF65-F5344CB8AC3E}">
        <p14:creationId xmlns:p14="http://schemas.microsoft.com/office/powerpoint/2010/main" val="10026322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800" dirty="0" smtClean="0"/>
              <a:t>Това е тип тестване, извършен въз основа оценката за вероятността за реализиране на даден риск. </a:t>
            </a:r>
          </a:p>
          <a:p>
            <a:pPr lvl="1">
              <a:spcBef>
                <a:spcPts val="0"/>
              </a:spcBef>
            </a:pPr>
            <a:r>
              <a:rPr lang="bg-BG" sz="2400" dirty="0" smtClean="0"/>
              <a:t>Тя включва оценка на риска въз основа на сложността, критичността на бизнеса, честотата на използване, видимите области, областите, които са склонни към дефекти и др. </a:t>
            </a:r>
          </a:p>
          <a:p>
            <a:pPr lvl="1">
              <a:spcBef>
                <a:spcPts val="0"/>
              </a:spcBef>
            </a:pPr>
            <a:r>
              <a:rPr lang="bg-BG" sz="2400" dirty="0" smtClean="0"/>
              <a:t>Тя включва приоритетно тестване на характеристиките, модулите и функциите на тестваното приложение въз основа на въздействието и вероятността от неуспехи.</a:t>
            </a:r>
            <a:endParaRPr lang="bg-BG" sz="2400" dirty="0"/>
          </a:p>
        </p:txBody>
      </p:sp>
    </p:spTree>
    <p:extLst>
      <p:ext uri="{BB962C8B-B14F-4D97-AF65-F5344CB8AC3E}">
        <p14:creationId xmlns:p14="http://schemas.microsoft.com/office/powerpoint/2010/main" val="379795022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smtClean="0"/>
              <a:t>Рискът е настъпването на несигурно събитие с положителен или отрицателен ефект върху измеримите критерии за успех на проекта. </a:t>
            </a:r>
          </a:p>
          <a:p>
            <a:pPr lvl="1"/>
            <a:r>
              <a:rPr lang="bg-BG" sz="2400" dirty="0" smtClean="0"/>
              <a:t>Това може да са събития, които са се случвали в миналото или текущи събития или нещо, което може да се случи в бъдеще. </a:t>
            </a:r>
          </a:p>
          <a:p>
            <a:pPr lvl="1"/>
            <a:r>
              <a:rPr lang="bg-BG" sz="2400" dirty="0" smtClean="0"/>
              <a:t>Тези несигурни събития могат да окажат влияние върху разходите, бизнес, техническите и качествените цели на даден проект.</a:t>
            </a:r>
            <a:endParaRPr lang="bg-BG" sz="2400" dirty="0"/>
          </a:p>
        </p:txBody>
      </p:sp>
    </p:spTree>
    <p:extLst>
      <p:ext uri="{BB962C8B-B14F-4D97-AF65-F5344CB8AC3E}">
        <p14:creationId xmlns:p14="http://schemas.microsoft.com/office/powerpoint/2010/main" val="164136154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smtClean="0"/>
              <a:t>Кога е задължителен ?</a:t>
            </a:r>
            <a:endParaRPr lang="bg-BG" sz="2400" dirty="0"/>
          </a:p>
        </p:txBody>
      </p:sp>
      <p:pic>
        <p:nvPicPr>
          <p:cNvPr id="4" name="Picture 3" descr="https://www.guru99.com/images/3-2016/032316_1114_RiskBasedTe3.pn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844824"/>
            <a:ext cx="3657600" cy="4693920"/>
          </a:xfrm>
          <a:prstGeom prst="rect">
            <a:avLst/>
          </a:prstGeom>
          <a:noFill/>
          <a:ln>
            <a:noFill/>
          </a:ln>
        </p:spPr>
      </p:pic>
    </p:spTree>
    <p:extLst>
      <p:ext uri="{BB962C8B-B14F-4D97-AF65-F5344CB8AC3E}">
        <p14:creationId xmlns:p14="http://schemas.microsoft.com/office/powerpoint/2010/main" val="288422546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smtClean="0"/>
              <a:t>Рисковете могат да бъдат положителни или отрицателни.</a:t>
            </a:r>
          </a:p>
          <a:p>
            <a:pPr lvl="1"/>
            <a:r>
              <a:rPr lang="bg-BG" sz="2400" dirty="0" smtClean="0"/>
              <a:t>Положителните рискове се означават като възможности и помощ за устойчивост на бизнеса. </a:t>
            </a:r>
          </a:p>
          <a:p>
            <a:pPr lvl="2"/>
            <a:r>
              <a:rPr lang="bg-BG" sz="2000" dirty="0" smtClean="0"/>
              <a:t>Например инвестиране в нов проект, промяна на бизнес процеси, разработване на нови продукти.</a:t>
            </a:r>
          </a:p>
          <a:p>
            <a:pPr lvl="1"/>
            <a:r>
              <a:rPr lang="bg-BG" sz="2400" dirty="0" smtClean="0"/>
              <a:t>Отрицателните рискове са посочени като заплахи и препоръките за тяхното минимизиране или премахване трябва да бъдат приложени за успех на проекта.</a:t>
            </a:r>
            <a:endParaRPr lang="bg-BG" sz="2400" dirty="0"/>
          </a:p>
        </p:txBody>
      </p:sp>
    </p:spTree>
    <p:extLst>
      <p:ext uri="{BB962C8B-B14F-4D97-AF65-F5344CB8AC3E}">
        <p14:creationId xmlns:p14="http://schemas.microsoft.com/office/powerpoint/2010/main" val="132678410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r>
              <a:rPr lang="bg-BG" sz="2800" dirty="0" smtClean="0"/>
              <a:t>Рисковете могат да бъдат положителни или отрицателни.</a:t>
            </a:r>
          </a:p>
          <a:p>
            <a:pPr lvl="1"/>
            <a:r>
              <a:rPr lang="bg-BG" sz="2400" dirty="0" smtClean="0"/>
              <a:t>Политики</a:t>
            </a:r>
            <a:endParaRPr lang="bg-BG" sz="2400" dirty="0"/>
          </a:p>
        </p:txBody>
      </p:sp>
      <p:pic>
        <p:nvPicPr>
          <p:cNvPr id="4" name="Picture 3" descr="https://www.guru99.com/images/3-2016/032316_1114_RiskBasedTe4.pn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3563888" y="2708920"/>
            <a:ext cx="5399122" cy="3888432"/>
          </a:xfrm>
          <a:prstGeom prst="rect">
            <a:avLst/>
          </a:prstGeom>
          <a:noFill/>
          <a:ln>
            <a:noFill/>
          </a:ln>
        </p:spPr>
      </p:pic>
    </p:spTree>
    <p:extLst>
      <p:ext uri="{BB962C8B-B14F-4D97-AF65-F5344CB8AC3E}">
        <p14:creationId xmlns:p14="http://schemas.microsoft.com/office/powerpoint/2010/main" val="158183966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800" dirty="0" smtClean="0"/>
              <a:t>Как се реализира?</a:t>
            </a:r>
          </a:p>
          <a:p>
            <a:pPr lvl="1">
              <a:spcBef>
                <a:spcPts val="0"/>
              </a:spcBef>
            </a:pPr>
            <a:r>
              <a:rPr lang="bg-BG" sz="2400" dirty="0" smtClean="0"/>
              <a:t>Стъпка 1. Идентификация на риска</a:t>
            </a:r>
          </a:p>
          <a:p>
            <a:pPr lvl="2">
              <a:spcBef>
                <a:spcPts val="0"/>
              </a:spcBef>
            </a:pPr>
            <a:r>
              <a:rPr lang="bg-BG" sz="2000" dirty="0" smtClean="0"/>
              <a:t>В този процес рисковете се идентифицират и категоризират, изготвя се проект на регистър на рисковете, прави се сортиране на риска, за да се идентифицират значимите рискове.</a:t>
            </a:r>
          </a:p>
          <a:p>
            <a:pPr lvl="1">
              <a:spcBef>
                <a:spcPts val="0"/>
              </a:spcBef>
            </a:pPr>
            <a:r>
              <a:rPr lang="bg-BG" sz="2400" dirty="0"/>
              <a:t>Стъпка </a:t>
            </a:r>
            <a:r>
              <a:rPr lang="bg-BG" sz="2400" dirty="0" smtClean="0"/>
              <a:t>2. Анализ на риска</a:t>
            </a:r>
          </a:p>
          <a:p>
            <a:pPr lvl="2">
              <a:spcBef>
                <a:spcPts val="0"/>
              </a:spcBef>
            </a:pPr>
            <a:r>
              <a:rPr lang="bg-BG" sz="2000" dirty="0" smtClean="0"/>
              <a:t>Формулират се тестовите цели от рисковете и се подбират  подходящи техники за демонстриране на тестовата активност / техниката на изпитване, за да се постигнат целите на теста.</a:t>
            </a:r>
          </a:p>
          <a:p>
            <a:pPr lvl="1">
              <a:spcBef>
                <a:spcPts val="0"/>
              </a:spcBef>
            </a:pPr>
            <a:r>
              <a:rPr lang="bg-BG" sz="2400" dirty="0"/>
              <a:t>Стъпка </a:t>
            </a:r>
            <a:r>
              <a:rPr lang="bg-BG" sz="2400" dirty="0" smtClean="0"/>
              <a:t>3. Реагиране на риска</a:t>
            </a:r>
          </a:p>
          <a:p>
            <a:pPr lvl="2">
              <a:spcBef>
                <a:spcPts val="0"/>
              </a:spcBef>
            </a:pPr>
            <a:r>
              <a:rPr lang="bg-BG" sz="2000" dirty="0" smtClean="0"/>
              <a:t>Според задание, изисквания, разходите, времето за разработка, необходим </a:t>
            </a:r>
            <a:r>
              <a:rPr lang="bg-BG" sz="2000" dirty="0"/>
              <a:t>софтуер </a:t>
            </a:r>
            <a:r>
              <a:rPr lang="bg-BG" sz="2000" dirty="0" smtClean="0"/>
              <a:t>за тестване и др. се изчислява оценката на степента на теста.</a:t>
            </a:r>
            <a:endParaRPr lang="bg-BG" sz="2000" dirty="0"/>
          </a:p>
        </p:txBody>
      </p:sp>
    </p:spTree>
    <p:extLst>
      <p:ext uri="{BB962C8B-B14F-4D97-AF65-F5344CB8AC3E}">
        <p14:creationId xmlns:p14="http://schemas.microsoft.com/office/powerpoint/2010/main" val="404664264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Риск-базирано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800" dirty="0" smtClean="0"/>
              <a:t>Как се реализира?</a:t>
            </a:r>
          </a:p>
          <a:p>
            <a:pPr lvl="1">
              <a:spcBef>
                <a:spcPts val="0"/>
              </a:spcBef>
            </a:pPr>
            <a:r>
              <a:rPr lang="bg-BG" sz="2400" dirty="0" smtClean="0"/>
              <a:t>Стъпка 4. Обхват на теста</a:t>
            </a:r>
          </a:p>
          <a:p>
            <a:pPr lvl="2">
              <a:spcBef>
                <a:spcPts val="0"/>
              </a:spcBef>
            </a:pPr>
            <a:r>
              <a:rPr lang="bg-BG" sz="2000" dirty="0" smtClean="0"/>
              <a:t>Определянето на обхвата на тестовете е дейност за преглед, която изисква участието на всички заинтересовани страни и технически персонал. </a:t>
            </a:r>
          </a:p>
          <a:p>
            <a:pPr lvl="2">
              <a:spcBef>
                <a:spcPts val="0"/>
              </a:spcBef>
            </a:pPr>
            <a:r>
              <a:rPr lang="bg-BG" sz="2000" dirty="0" smtClean="0"/>
              <a:t>Важно е да се придържаме към договорения обхват на рисковете. </a:t>
            </a:r>
          </a:p>
          <a:p>
            <a:pPr lvl="2">
              <a:spcBef>
                <a:spcPts val="0"/>
              </a:spcBef>
            </a:pPr>
            <a:r>
              <a:rPr lang="bg-BG" sz="2000" dirty="0" smtClean="0"/>
              <a:t>Тези рискове трябва да бъдат адресирани чрез тестване и всички членове са съгласни с възложените им отговорности и бюджета, отпуснат за тези дейности.</a:t>
            </a:r>
          </a:p>
          <a:p>
            <a:pPr lvl="1">
              <a:spcBef>
                <a:spcPts val="0"/>
              </a:spcBef>
            </a:pPr>
            <a:r>
              <a:rPr lang="bg-BG" sz="2400" dirty="0" smtClean="0"/>
              <a:t>Стъпка 5. Дефиниция на процеса на тест</a:t>
            </a:r>
          </a:p>
          <a:p>
            <a:pPr lvl="2">
              <a:spcBef>
                <a:spcPts val="0"/>
              </a:spcBef>
            </a:pPr>
            <a:r>
              <a:rPr lang="bg-BG" sz="2000" dirty="0" smtClean="0"/>
              <a:t>След финализиране на обхвата на тестовете целите на теста, допусканията и зависимостите за всеки етап на изпитване трябва да бъдат съставени в стандартния формат.</a:t>
            </a:r>
            <a:endParaRPr lang="bg-BG" sz="1600" dirty="0"/>
          </a:p>
        </p:txBody>
      </p:sp>
    </p:spTree>
    <p:extLst>
      <p:ext uri="{BB962C8B-B14F-4D97-AF65-F5344CB8AC3E}">
        <p14:creationId xmlns:p14="http://schemas.microsoft.com/office/powerpoint/2010/main" val="257332527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600" dirty="0" smtClean="0"/>
              <a:t>Това</a:t>
            </a:r>
            <a:r>
              <a:rPr lang="en-US" sz="2600" dirty="0" smtClean="0"/>
              <a:t> </a:t>
            </a:r>
            <a:r>
              <a:rPr lang="bg-BG" sz="2600" dirty="0" smtClean="0"/>
              <a:t>е </a:t>
            </a:r>
            <a:r>
              <a:rPr lang="bg-BG" sz="2600" dirty="0"/>
              <a:t>специален тип тестване, при който не се търсят програмни грешки, а се проверява за грешки, резултат от процеса на инсталиране на програмата на конкретна система.</a:t>
            </a:r>
          </a:p>
          <a:p>
            <a:pPr lvl="1">
              <a:lnSpc>
                <a:spcPct val="90000"/>
              </a:lnSpc>
              <a:spcBef>
                <a:spcPts val="0"/>
              </a:spcBef>
            </a:pPr>
            <a:r>
              <a:rPr lang="bg-BG" sz="2200" dirty="0" err="1"/>
              <a:t>Англ</a:t>
            </a:r>
            <a:r>
              <a:rPr lang="bg-BG" sz="2200" dirty="0"/>
              <a:t>. </a:t>
            </a:r>
            <a:r>
              <a:rPr lang="en-US" sz="2200" dirty="0"/>
              <a:t>Installation Testing</a:t>
            </a:r>
            <a:r>
              <a:rPr lang="bg-BG" sz="2200" dirty="0"/>
              <a:t> </a:t>
            </a:r>
          </a:p>
          <a:p>
            <a:pPr>
              <a:lnSpc>
                <a:spcPct val="90000"/>
              </a:lnSpc>
              <a:spcBef>
                <a:spcPts val="0"/>
              </a:spcBef>
            </a:pPr>
            <a:r>
              <a:rPr lang="bg-BG" sz="2600" dirty="0"/>
              <a:t>Основни грешки:</a:t>
            </a:r>
          </a:p>
          <a:p>
            <a:pPr lvl="1">
              <a:lnSpc>
                <a:spcPct val="90000"/>
              </a:lnSpc>
              <a:spcBef>
                <a:spcPts val="0"/>
              </a:spcBef>
            </a:pPr>
            <a:r>
              <a:rPr lang="bg-BG" sz="2200" dirty="0"/>
              <a:t>Валидни опции при конфигуриране на системата за инсталация.</a:t>
            </a:r>
          </a:p>
          <a:p>
            <a:pPr lvl="1">
              <a:lnSpc>
                <a:spcPct val="90000"/>
              </a:lnSpc>
              <a:spcBef>
                <a:spcPts val="0"/>
              </a:spcBef>
            </a:pPr>
            <a:r>
              <a:rPr lang="bg-BG" sz="2200" dirty="0"/>
              <a:t>Задаване на валидна апаратна среда.</a:t>
            </a:r>
          </a:p>
          <a:p>
            <a:pPr lvl="1">
              <a:lnSpc>
                <a:spcPct val="90000"/>
              </a:lnSpc>
              <a:spcBef>
                <a:spcPts val="0"/>
              </a:spcBef>
            </a:pPr>
            <a:r>
              <a:rPr lang="bg-BG" sz="2200" dirty="0"/>
              <a:t>Нужда от комуникация с други програми в процеса на инсталация.</a:t>
            </a:r>
          </a:p>
          <a:p>
            <a:pPr lvl="1">
              <a:lnSpc>
                <a:spcPct val="90000"/>
              </a:lnSpc>
              <a:spcBef>
                <a:spcPts val="0"/>
              </a:spcBef>
            </a:pPr>
            <a:r>
              <a:rPr lang="bg-BG" sz="2200" dirty="0"/>
              <a:t>Дали се прехвърлят и/или използват необходимите файлове и библиотеки.</a:t>
            </a:r>
          </a:p>
          <a:p>
            <a:pPr>
              <a:lnSpc>
                <a:spcPct val="90000"/>
              </a:lnSpc>
              <a:spcBef>
                <a:spcPts val="0"/>
              </a:spcBef>
            </a:pPr>
            <a:r>
              <a:rPr lang="bg-BG" sz="2400" dirty="0"/>
              <a:t>Създава се и се изпълнява от разработчиците.</a:t>
            </a:r>
            <a:endParaRPr lang="en-US" sz="2400" dirty="0"/>
          </a:p>
        </p:txBody>
      </p:sp>
    </p:spTree>
    <p:extLst>
      <p:ext uri="{BB962C8B-B14F-4D97-AF65-F5344CB8AC3E}">
        <p14:creationId xmlns:p14="http://schemas.microsoft.com/office/powerpoint/2010/main" val="240065254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800" dirty="0" smtClean="0"/>
              <a:t>Защо ?</a:t>
            </a:r>
          </a:p>
          <a:p>
            <a:pPr lvl="1">
              <a:lnSpc>
                <a:spcPct val="90000"/>
              </a:lnSpc>
              <a:spcBef>
                <a:spcPts val="0"/>
              </a:spcBef>
            </a:pPr>
            <a:r>
              <a:rPr lang="bg-BG" sz="2400" dirty="0" smtClean="0"/>
              <a:t>Ако инсталацията на новата система е успешна, то клиентът е доволен, защото може да използва закупената система</a:t>
            </a:r>
          </a:p>
          <a:p>
            <a:pPr lvl="1">
              <a:lnSpc>
                <a:spcPct val="90000"/>
              </a:lnSpc>
              <a:spcBef>
                <a:spcPts val="0"/>
              </a:spcBef>
            </a:pPr>
            <a:r>
              <a:rPr lang="bg-BG" sz="2400" dirty="0" smtClean="0"/>
              <a:t>Ако инсталацията не успее:</a:t>
            </a:r>
          </a:p>
          <a:p>
            <a:pPr lvl="2">
              <a:lnSpc>
                <a:spcPct val="90000"/>
              </a:lnSpc>
              <a:spcBef>
                <a:spcPts val="0"/>
              </a:spcBef>
            </a:pPr>
            <a:r>
              <a:rPr lang="bg-BG" sz="2000" dirty="0" smtClean="0"/>
              <a:t>Програмата  няма да работи в дадената работна среда на клиента.</a:t>
            </a:r>
          </a:p>
          <a:p>
            <a:pPr lvl="2">
              <a:lnSpc>
                <a:spcPct val="90000"/>
              </a:lnSpc>
              <a:spcBef>
                <a:spcPts val="0"/>
              </a:spcBef>
            </a:pPr>
            <a:r>
              <a:rPr lang="bg-BG" sz="2000" dirty="0" err="1" smtClean="0"/>
              <a:t>Некорактната</a:t>
            </a:r>
            <a:r>
              <a:rPr lang="bg-BG" sz="2000" dirty="0" smtClean="0"/>
              <a:t> инсталация може силно да повреди системата на клиента - в някои случаи може да се наложи пълно преинсталира на средата (вкл. ОС).</a:t>
            </a:r>
          </a:p>
          <a:p>
            <a:pPr lvl="1">
              <a:lnSpc>
                <a:spcPct val="90000"/>
              </a:lnSpc>
              <a:spcBef>
                <a:spcPts val="0"/>
              </a:spcBef>
            </a:pPr>
            <a:r>
              <a:rPr lang="ru-RU" sz="2400" dirty="0" err="1" smtClean="0"/>
              <a:t>Инсталацията</a:t>
            </a:r>
            <a:r>
              <a:rPr lang="ru-RU" sz="2400" dirty="0" smtClean="0"/>
              <a:t> </a:t>
            </a:r>
            <a:r>
              <a:rPr lang="ru-RU" sz="2400" dirty="0" err="1" smtClean="0"/>
              <a:t>най-често</a:t>
            </a:r>
            <a:r>
              <a:rPr lang="ru-RU" sz="2400" dirty="0" smtClean="0"/>
              <a:t> е </a:t>
            </a:r>
            <a:r>
              <a:rPr lang="ru-RU" sz="2400" dirty="0" err="1" smtClean="0"/>
              <a:t>първото</a:t>
            </a:r>
            <a:r>
              <a:rPr lang="ru-RU" sz="2400" dirty="0" smtClean="0"/>
              <a:t> </a:t>
            </a:r>
            <a:r>
              <a:rPr lang="ru-RU" sz="2400" dirty="0"/>
              <a:t>взаимодействие на </a:t>
            </a:r>
            <a:r>
              <a:rPr lang="ru-RU" sz="2400" dirty="0" smtClean="0"/>
              <a:t>производителя с </a:t>
            </a:r>
            <a:r>
              <a:rPr lang="ru-RU" sz="2400" dirty="0" err="1"/>
              <a:t>крайните</a:t>
            </a:r>
            <a:r>
              <a:rPr lang="ru-RU" sz="2400" dirty="0"/>
              <a:t> потребители.</a:t>
            </a:r>
          </a:p>
          <a:p>
            <a:pPr lvl="2">
              <a:lnSpc>
                <a:spcPct val="90000"/>
              </a:lnSpc>
              <a:spcBef>
                <a:spcPts val="0"/>
              </a:spcBef>
            </a:pPr>
            <a:endParaRPr lang="bg-BG" sz="2000" dirty="0" smtClean="0"/>
          </a:p>
        </p:txBody>
      </p:sp>
    </p:spTree>
    <p:extLst>
      <p:ext uri="{BB962C8B-B14F-4D97-AF65-F5344CB8AC3E}">
        <p14:creationId xmlns:p14="http://schemas.microsoft.com/office/powerpoint/2010/main" val="107784460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600" dirty="0" smtClean="0"/>
              <a:t>Как се реализира? </a:t>
            </a:r>
          </a:p>
          <a:p>
            <a:pPr lvl="1">
              <a:lnSpc>
                <a:spcPct val="90000"/>
              </a:lnSpc>
              <a:spcBef>
                <a:spcPts val="0"/>
              </a:spcBef>
            </a:pPr>
            <a:r>
              <a:rPr lang="bg-BG" sz="2300" dirty="0" smtClean="0"/>
              <a:t>Дефинира се броя на различни системни конфигурации, които ще се тестват. </a:t>
            </a:r>
          </a:p>
          <a:p>
            <a:pPr lvl="1">
              <a:lnSpc>
                <a:spcPct val="90000"/>
              </a:lnSpc>
              <a:spcBef>
                <a:spcPts val="0"/>
              </a:spcBef>
            </a:pPr>
            <a:r>
              <a:rPr lang="bg-BG" sz="2300" dirty="0" smtClean="0"/>
              <a:t>Едно устройство (твърд диск) се подготвя да бъде основна среда за тестване на инсталирането. </a:t>
            </a:r>
          </a:p>
          <a:p>
            <a:pPr lvl="2">
              <a:lnSpc>
                <a:spcPct val="90000"/>
              </a:lnSpc>
              <a:spcBef>
                <a:spcPts val="0"/>
              </a:spcBef>
            </a:pPr>
            <a:r>
              <a:rPr lang="bg-BG" sz="1900" dirty="0" smtClean="0"/>
              <a:t>Форматират се дискът с най-често използваната файлова система  и се инсталира най-често използваната ОС. </a:t>
            </a:r>
          </a:p>
          <a:p>
            <a:pPr lvl="2">
              <a:lnSpc>
                <a:spcPct val="90000"/>
              </a:lnSpc>
              <a:spcBef>
                <a:spcPts val="0"/>
              </a:spcBef>
            </a:pPr>
            <a:r>
              <a:rPr lang="bg-BG" sz="1900" dirty="0" smtClean="0"/>
              <a:t>Инсталират се някои основни необходими компоненти. </a:t>
            </a:r>
          </a:p>
          <a:p>
            <a:pPr lvl="2">
              <a:lnSpc>
                <a:spcPct val="90000"/>
              </a:lnSpc>
              <a:spcBef>
                <a:spcPts val="0"/>
              </a:spcBef>
            </a:pPr>
            <a:r>
              <a:rPr lang="bg-BG" sz="1900" dirty="0" smtClean="0"/>
              <a:t>Всеки път се създава копия (</a:t>
            </a:r>
            <a:r>
              <a:rPr lang="bg-BG" sz="1900" dirty="0" err="1" smtClean="0"/>
              <a:t>backups</a:t>
            </a:r>
            <a:r>
              <a:rPr lang="bg-BG" sz="1900" dirty="0" smtClean="0"/>
              <a:t>) на този основен диск.</a:t>
            </a:r>
          </a:p>
          <a:p>
            <a:pPr lvl="1">
              <a:lnSpc>
                <a:spcPct val="90000"/>
              </a:lnSpc>
              <a:spcBef>
                <a:spcPts val="0"/>
              </a:spcBef>
            </a:pPr>
            <a:r>
              <a:rPr lang="bg-BG" sz="2300" dirty="0" smtClean="0"/>
              <a:t>Може да се създадат и други конфигурации. </a:t>
            </a:r>
          </a:p>
          <a:p>
            <a:pPr lvl="2">
              <a:lnSpc>
                <a:spcPct val="90000"/>
              </a:lnSpc>
              <a:spcBef>
                <a:spcPts val="0"/>
              </a:spcBef>
            </a:pPr>
            <a:r>
              <a:rPr lang="bg-BG" sz="1900" dirty="0" smtClean="0"/>
              <a:t>По един набор от всяка конфигурация като ОС и формат на файла, който да се използва за по-нататъшно тестване.</a:t>
            </a:r>
          </a:p>
          <a:p>
            <a:pPr lvl="1">
              <a:lnSpc>
                <a:spcPct val="90000"/>
              </a:lnSpc>
              <a:spcBef>
                <a:spcPts val="0"/>
              </a:spcBef>
            </a:pPr>
            <a:r>
              <a:rPr lang="bg-BG" sz="2300" dirty="0" smtClean="0"/>
              <a:t>Една ОС се използва за множество опити за инсталиране на инсталатор. </a:t>
            </a:r>
          </a:p>
          <a:p>
            <a:pPr lvl="2">
              <a:lnSpc>
                <a:spcPct val="90000"/>
              </a:lnSpc>
              <a:spcBef>
                <a:spcPts val="0"/>
              </a:spcBef>
            </a:pPr>
            <a:r>
              <a:rPr lang="bg-BG" sz="1900" dirty="0" smtClean="0"/>
              <a:t>Всеки път, когато деинсталирате приложението и подготвяте базовото състояние за следващия тестов случай. </a:t>
            </a:r>
            <a:endParaRPr lang="bg-BG" sz="1900" dirty="0"/>
          </a:p>
        </p:txBody>
      </p:sp>
    </p:spTree>
    <p:extLst>
      <p:ext uri="{BB962C8B-B14F-4D97-AF65-F5344CB8AC3E}">
        <p14:creationId xmlns:p14="http://schemas.microsoft.com/office/powerpoint/2010/main" val="302121300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800" dirty="0" smtClean="0"/>
              <a:t>Възможните </a:t>
            </a:r>
            <a:r>
              <a:rPr lang="bg-BG" sz="2800" dirty="0" smtClean="0"/>
              <a:t>за изследване видове инсталация са:</a:t>
            </a:r>
          </a:p>
          <a:p>
            <a:pPr lvl="1">
              <a:lnSpc>
                <a:spcPct val="90000"/>
              </a:lnSpc>
              <a:spcBef>
                <a:spcPts val="0"/>
              </a:spcBef>
            </a:pPr>
            <a:r>
              <a:rPr lang="bg-BG" sz="2400" dirty="0" smtClean="0"/>
              <a:t>Инсталация във фонов режим </a:t>
            </a:r>
            <a:r>
              <a:rPr lang="bg-BG" sz="2400" dirty="0" smtClean="0"/>
              <a:t>(англ</a:t>
            </a:r>
            <a:r>
              <a:rPr lang="bg-BG" sz="2400" dirty="0" smtClean="0"/>
              <a:t>. </a:t>
            </a:r>
            <a:r>
              <a:rPr lang="bg-BG" sz="2400" dirty="0" err="1" smtClean="0"/>
              <a:t>Silent</a:t>
            </a:r>
            <a:r>
              <a:rPr lang="bg-BG" sz="2400" dirty="0" smtClean="0"/>
              <a:t> </a:t>
            </a:r>
            <a:r>
              <a:rPr lang="bg-BG" sz="2400" dirty="0" err="1" smtClean="0"/>
              <a:t>Installation</a:t>
            </a:r>
            <a:r>
              <a:rPr lang="bg-BG" sz="2400" dirty="0" smtClean="0"/>
              <a:t>)</a:t>
            </a:r>
          </a:p>
          <a:p>
            <a:pPr lvl="1">
              <a:lnSpc>
                <a:spcPct val="90000"/>
              </a:lnSpc>
              <a:spcBef>
                <a:spcPts val="0"/>
              </a:spcBef>
            </a:pPr>
            <a:r>
              <a:rPr lang="bg-BG" sz="2400" dirty="0" smtClean="0"/>
              <a:t>Инсталация с управление от инсталатора </a:t>
            </a:r>
            <a:r>
              <a:rPr lang="bg-BG" sz="2400" dirty="0" smtClean="0"/>
              <a:t>(англ</a:t>
            </a:r>
            <a:r>
              <a:rPr lang="bg-BG" sz="2400" dirty="0" smtClean="0"/>
              <a:t>. </a:t>
            </a:r>
            <a:r>
              <a:rPr lang="bg-BG" sz="2400" dirty="0" err="1" smtClean="0"/>
              <a:t>Silent</a:t>
            </a:r>
            <a:r>
              <a:rPr lang="bg-BG" sz="2400" dirty="0" smtClean="0"/>
              <a:t> </a:t>
            </a:r>
            <a:r>
              <a:rPr lang="bg-BG" sz="2400" dirty="0" err="1" smtClean="0"/>
              <a:t>Installation</a:t>
            </a:r>
            <a:r>
              <a:rPr lang="bg-BG" sz="2400" dirty="0" smtClean="0"/>
              <a:t>)</a:t>
            </a:r>
          </a:p>
          <a:p>
            <a:pPr lvl="1">
              <a:lnSpc>
                <a:spcPct val="90000"/>
              </a:lnSpc>
              <a:spcBef>
                <a:spcPts val="0"/>
              </a:spcBef>
            </a:pPr>
            <a:r>
              <a:rPr lang="bg-BG" sz="2400" dirty="0" smtClean="0"/>
              <a:t>Инсталация без надзор </a:t>
            </a:r>
            <a:r>
              <a:rPr lang="bg-BG" sz="2400" dirty="0" smtClean="0"/>
              <a:t>(англ</a:t>
            </a:r>
            <a:r>
              <a:rPr lang="bg-BG" sz="2400" dirty="0" smtClean="0"/>
              <a:t>. </a:t>
            </a:r>
            <a:r>
              <a:rPr lang="bg-BG" sz="2400" dirty="0" err="1" smtClean="0"/>
              <a:t>Unattended</a:t>
            </a:r>
            <a:r>
              <a:rPr lang="bg-BG" sz="2400" dirty="0" smtClean="0"/>
              <a:t> </a:t>
            </a:r>
            <a:r>
              <a:rPr lang="bg-BG" sz="2400" dirty="0" err="1" smtClean="0"/>
              <a:t>Installation</a:t>
            </a:r>
            <a:r>
              <a:rPr lang="bg-BG" sz="2400" dirty="0" smtClean="0"/>
              <a:t>)</a:t>
            </a:r>
          </a:p>
          <a:p>
            <a:pPr lvl="1">
              <a:lnSpc>
                <a:spcPct val="90000"/>
              </a:lnSpc>
              <a:spcBef>
                <a:spcPts val="0"/>
              </a:spcBef>
            </a:pPr>
            <a:r>
              <a:rPr lang="bg-BG" sz="2400" dirty="0" smtClean="0"/>
              <a:t>Мрежова инсталация </a:t>
            </a:r>
            <a:r>
              <a:rPr lang="bg-BG" sz="2400" dirty="0" smtClean="0"/>
              <a:t>(англ</a:t>
            </a:r>
            <a:r>
              <a:rPr lang="bg-BG" sz="2400" dirty="0" smtClean="0"/>
              <a:t>. </a:t>
            </a:r>
            <a:r>
              <a:rPr lang="bg-BG" sz="2400" dirty="0" err="1" smtClean="0"/>
              <a:t>Network</a:t>
            </a:r>
            <a:r>
              <a:rPr lang="bg-BG" sz="2400" dirty="0" smtClean="0"/>
              <a:t> </a:t>
            </a:r>
            <a:r>
              <a:rPr lang="bg-BG" sz="2400" dirty="0" err="1" smtClean="0"/>
              <a:t>Installation</a:t>
            </a:r>
            <a:r>
              <a:rPr lang="bg-BG" sz="2400" dirty="0" smtClean="0"/>
              <a:t>)</a:t>
            </a:r>
          </a:p>
          <a:p>
            <a:pPr lvl="1">
              <a:lnSpc>
                <a:spcPct val="90000"/>
              </a:lnSpc>
              <a:spcBef>
                <a:spcPts val="0"/>
              </a:spcBef>
            </a:pPr>
            <a:r>
              <a:rPr lang="bg-BG" sz="2400" dirty="0" smtClean="0"/>
              <a:t>Чиста (пълна) инсталация </a:t>
            </a:r>
            <a:r>
              <a:rPr lang="bg-BG" sz="2400" dirty="0" smtClean="0"/>
              <a:t>(англ</a:t>
            </a:r>
            <a:r>
              <a:rPr lang="bg-BG" sz="2400" dirty="0" smtClean="0"/>
              <a:t>. </a:t>
            </a:r>
            <a:r>
              <a:rPr lang="bg-BG" sz="2400" dirty="0" err="1" smtClean="0"/>
              <a:t>Clean</a:t>
            </a:r>
            <a:r>
              <a:rPr lang="bg-BG" sz="2400" dirty="0" smtClean="0"/>
              <a:t> </a:t>
            </a:r>
            <a:r>
              <a:rPr lang="bg-BG" sz="2400" dirty="0" err="1" smtClean="0"/>
              <a:t>Installation</a:t>
            </a:r>
            <a:r>
              <a:rPr lang="bg-BG" sz="2400" dirty="0" smtClean="0"/>
              <a:t>)</a:t>
            </a:r>
          </a:p>
          <a:p>
            <a:pPr lvl="1">
              <a:lnSpc>
                <a:spcPct val="90000"/>
              </a:lnSpc>
              <a:spcBef>
                <a:spcPts val="0"/>
              </a:spcBef>
            </a:pPr>
            <a:r>
              <a:rPr lang="bg-BG" sz="2400" dirty="0" smtClean="0"/>
              <a:t>Автоматизирана </a:t>
            </a:r>
            <a:r>
              <a:rPr lang="bg-BG" sz="2400" dirty="0" smtClean="0"/>
              <a:t>инсталация</a:t>
            </a:r>
          </a:p>
          <a:p>
            <a:pPr lvl="1">
              <a:lnSpc>
                <a:spcPct val="90000"/>
              </a:lnSpc>
              <a:spcBef>
                <a:spcPts val="0"/>
              </a:spcBef>
            </a:pPr>
            <a:r>
              <a:rPr lang="ru-RU" sz="2400" dirty="0"/>
              <a:t>Тестване на деинсталацията</a:t>
            </a:r>
            <a:r>
              <a:rPr lang="ru-RU" sz="2400" dirty="0" smtClean="0"/>
              <a:t>:</a:t>
            </a:r>
            <a:endParaRPr lang="ru-RU" sz="2400" dirty="0"/>
          </a:p>
          <a:p>
            <a:pPr lvl="2">
              <a:lnSpc>
                <a:spcPct val="90000"/>
              </a:lnSpc>
              <a:spcBef>
                <a:spcPts val="0"/>
              </a:spcBef>
            </a:pPr>
            <a:r>
              <a:rPr lang="ru-RU" sz="2000" dirty="0"/>
              <a:t>Всички файлове, свързани с приложението, заедно с неговата структура на папките трябва да бъдат премахнати при успешна деинсталация. </a:t>
            </a:r>
          </a:p>
          <a:p>
            <a:pPr lvl="2">
              <a:lnSpc>
                <a:spcPct val="90000"/>
              </a:lnSpc>
              <a:spcBef>
                <a:spcPts val="0"/>
              </a:spcBef>
            </a:pPr>
            <a:r>
              <a:rPr lang="ru-RU" sz="2000" dirty="0"/>
              <a:t>Системата след деинсталиране трябва да може да се върне към стабилното състояние</a:t>
            </a:r>
            <a:r>
              <a:rPr lang="ru-RU" sz="2000" dirty="0" smtClean="0"/>
              <a:t>.</a:t>
            </a:r>
            <a:endParaRPr lang="en-US" sz="2000" dirty="0"/>
          </a:p>
        </p:txBody>
      </p:sp>
    </p:spTree>
    <p:extLst>
      <p:ext uri="{BB962C8B-B14F-4D97-AF65-F5344CB8AC3E}">
        <p14:creationId xmlns:p14="http://schemas.microsoft.com/office/powerpoint/2010/main" val="345145030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lvl="1" indent="-342900">
              <a:lnSpc>
                <a:spcPct val="90000"/>
              </a:lnSpc>
              <a:spcBef>
                <a:spcPts val="0"/>
              </a:spcBef>
              <a:buFont typeface="Wingdings" pitchFamily="2" charset="2"/>
              <a:buChar char="Ä"/>
            </a:pPr>
            <a:r>
              <a:rPr lang="bg-BG" sz="2600" dirty="0" smtClean="0"/>
              <a:t>Основният проблем за тестването </a:t>
            </a:r>
            <a:r>
              <a:rPr lang="bg-BG" sz="2600" dirty="0"/>
              <a:t>е </a:t>
            </a:r>
            <a:r>
              <a:rPr lang="bg-BG" sz="2600" i="1" dirty="0" smtClean="0">
                <a:effectLst>
                  <a:outerShdw blurRad="38100" dist="38100" dir="2700000" algn="tl">
                    <a:srgbClr val="000000">
                      <a:alpha val="43137"/>
                    </a:srgbClr>
                  </a:outerShdw>
                </a:effectLst>
              </a:rPr>
              <a:t>времето</a:t>
            </a:r>
            <a:r>
              <a:rPr lang="bg-BG" sz="2600" dirty="0" smtClean="0"/>
              <a:t>.</a:t>
            </a:r>
            <a:endParaRPr lang="bg-BG" sz="2600" dirty="0"/>
          </a:p>
          <a:p>
            <a:pPr lvl="1">
              <a:lnSpc>
                <a:spcPct val="90000"/>
              </a:lnSpc>
              <a:spcBef>
                <a:spcPts val="0"/>
              </a:spcBef>
            </a:pPr>
            <a:r>
              <a:rPr lang="bg-BG" sz="2200" dirty="0"/>
              <a:t>Ако ще се тества голям инсталатор, тогава трябва да се помисли за необходимото време за извършване на толкова много тестови случаи в различни конфигурации.</a:t>
            </a:r>
          </a:p>
          <a:p>
            <a:pPr lvl="2">
              <a:lnSpc>
                <a:spcPct val="90000"/>
              </a:lnSpc>
              <a:spcBef>
                <a:spcPts val="0"/>
              </a:spcBef>
            </a:pPr>
            <a:r>
              <a:rPr lang="bg-BG" sz="1900" dirty="0" smtClean="0"/>
              <a:t>Трябва много </a:t>
            </a:r>
            <a:r>
              <a:rPr lang="bg-BG" sz="1900" dirty="0"/>
              <a:t>време даже и за </a:t>
            </a:r>
            <a:r>
              <a:rPr lang="bg-BG" sz="1900" dirty="0" smtClean="0"/>
              <a:t>един </a:t>
            </a:r>
            <a:r>
              <a:rPr lang="bg-BG" sz="1900" dirty="0"/>
              <a:t>тестов случай. </a:t>
            </a:r>
          </a:p>
          <a:p>
            <a:pPr>
              <a:lnSpc>
                <a:spcPct val="90000"/>
              </a:lnSpc>
              <a:spcBef>
                <a:spcPts val="0"/>
              </a:spcBef>
            </a:pPr>
            <a:r>
              <a:rPr lang="bg-BG" sz="2600" dirty="0" smtClean="0"/>
              <a:t>Основни </a:t>
            </a:r>
            <a:r>
              <a:rPr lang="bg-BG" sz="2600" dirty="0"/>
              <a:t>проблеми при </a:t>
            </a:r>
            <a:r>
              <a:rPr lang="bg-BG" sz="2600" dirty="0" smtClean="0"/>
              <a:t>инсталацията</a:t>
            </a:r>
          </a:p>
          <a:p>
            <a:pPr lvl="1">
              <a:lnSpc>
                <a:spcPct val="90000"/>
              </a:lnSpc>
              <a:spcBef>
                <a:spcPts val="0"/>
              </a:spcBef>
            </a:pPr>
            <a:r>
              <a:rPr lang="bg-BG" sz="2200" dirty="0" smtClean="0"/>
              <a:t>Заемане на дисково пространство</a:t>
            </a:r>
          </a:p>
          <a:p>
            <a:pPr lvl="1">
              <a:lnSpc>
                <a:spcPct val="90000"/>
              </a:lnSpc>
              <a:spcBef>
                <a:spcPts val="0"/>
              </a:spcBef>
            </a:pPr>
            <a:r>
              <a:rPr lang="bg-BG" sz="2200" dirty="0" smtClean="0"/>
              <a:t>Регистриране на новите компоненти в ОС</a:t>
            </a:r>
          </a:p>
          <a:p>
            <a:pPr lvl="2">
              <a:lnSpc>
                <a:spcPct val="90000"/>
              </a:lnSpc>
              <a:spcBef>
                <a:spcPts val="0"/>
              </a:spcBef>
            </a:pPr>
            <a:r>
              <a:rPr lang="bg-BG" sz="1900" dirty="0" smtClean="0"/>
              <a:t>Дали </a:t>
            </a:r>
            <a:r>
              <a:rPr lang="bg-BG" sz="1900" dirty="0"/>
              <a:t>се прехвърлят и/или използват необходимите файлове и библиотеки</a:t>
            </a:r>
            <a:r>
              <a:rPr lang="bg-BG" sz="1900" dirty="0" smtClean="0"/>
              <a:t>.</a:t>
            </a:r>
          </a:p>
          <a:p>
            <a:pPr lvl="2">
              <a:lnSpc>
                <a:spcPct val="90000"/>
              </a:lnSpc>
              <a:spcBef>
                <a:spcPts val="0"/>
              </a:spcBef>
            </a:pPr>
            <a:r>
              <a:rPr lang="bg-BG" sz="1900" dirty="0"/>
              <a:t>Валидни опции при конфигуриране на системата за инсталация.</a:t>
            </a:r>
          </a:p>
          <a:p>
            <a:pPr lvl="1">
              <a:lnSpc>
                <a:spcPct val="90000"/>
              </a:lnSpc>
              <a:spcBef>
                <a:spcPts val="0"/>
              </a:spcBef>
            </a:pPr>
            <a:r>
              <a:rPr lang="bg-BG" sz="2200" dirty="0" smtClean="0"/>
              <a:t>Прекъсване на инсталацията</a:t>
            </a:r>
          </a:p>
          <a:p>
            <a:pPr lvl="1">
              <a:lnSpc>
                <a:spcPct val="90000"/>
              </a:lnSpc>
              <a:spcBef>
                <a:spcPts val="0"/>
              </a:spcBef>
            </a:pPr>
            <a:r>
              <a:rPr lang="bg-BG" sz="2200" dirty="0" smtClean="0"/>
              <a:t>Деинсталиране</a:t>
            </a:r>
          </a:p>
          <a:p>
            <a:pPr lvl="1">
              <a:lnSpc>
                <a:spcPct val="90000"/>
              </a:lnSpc>
              <a:spcBef>
                <a:spcPts val="0"/>
              </a:spcBef>
            </a:pPr>
            <a:r>
              <a:rPr lang="bg-BG" sz="2200" dirty="0" smtClean="0"/>
              <a:t>Нужда </a:t>
            </a:r>
            <a:r>
              <a:rPr lang="bg-BG" sz="2200" dirty="0"/>
              <a:t>от комуникация с други програми в процеса на инсталация.</a:t>
            </a:r>
          </a:p>
          <a:p>
            <a:pPr lvl="1">
              <a:lnSpc>
                <a:spcPct val="90000"/>
              </a:lnSpc>
              <a:spcBef>
                <a:spcPts val="0"/>
              </a:spcBef>
            </a:pPr>
            <a:endParaRPr lang="bg-BG" sz="2400" dirty="0"/>
          </a:p>
        </p:txBody>
      </p:sp>
    </p:spTree>
    <p:extLst>
      <p:ext uri="{BB962C8B-B14F-4D97-AF65-F5344CB8AC3E}">
        <p14:creationId xmlns:p14="http://schemas.microsoft.com/office/powerpoint/2010/main" val="218819732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5"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5000"/>
              </a:lnSpc>
              <a:spcBef>
                <a:spcPts val="0"/>
              </a:spcBef>
            </a:pPr>
            <a:r>
              <a:rPr lang="bg-BG" sz="2700" dirty="0" smtClean="0"/>
              <a:t>Състоянието „прекъсване на инсталацията“ е нормално и трябва да се тества:</a:t>
            </a:r>
          </a:p>
          <a:p>
            <a:pPr lvl="1">
              <a:lnSpc>
                <a:spcPct val="95000"/>
              </a:lnSpc>
              <a:spcBef>
                <a:spcPts val="0"/>
              </a:spcBef>
            </a:pPr>
            <a:r>
              <a:rPr lang="bg-BG" sz="2300" dirty="0" smtClean="0"/>
              <a:t>Процесът на инсталация се прекъсва ръчно – изпълнява се за на всяка стъпка на инсталиране.</a:t>
            </a:r>
          </a:p>
          <a:p>
            <a:pPr lvl="1">
              <a:lnSpc>
                <a:spcPct val="95000"/>
              </a:lnSpc>
              <a:spcBef>
                <a:spcPts val="0"/>
              </a:spcBef>
            </a:pPr>
            <a:r>
              <a:rPr lang="bg-BG" sz="2300" dirty="0" smtClean="0"/>
              <a:t>Изследва се поведението на системата за проблеми и дали тя се възстановява до първоначалното си състояние. </a:t>
            </a:r>
          </a:p>
          <a:p>
            <a:pPr lvl="1">
              <a:lnSpc>
                <a:spcPct val="95000"/>
              </a:lnSpc>
              <a:spcBef>
                <a:spcPts val="0"/>
              </a:spcBef>
            </a:pPr>
            <a:r>
              <a:rPr lang="bg-BG" sz="2300" dirty="0" smtClean="0"/>
              <a:t>Проверява се дали файловете, записани на диска заради инсталирането, са премахнати.</a:t>
            </a:r>
          </a:p>
          <a:p>
            <a:pPr lvl="2">
              <a:lnSpc>
                <a:spcPct val="95000"/>
              </a:lnSpc>
              <a:spcBef>
                <a:spcPts val="0"/>
              </a:spcBef>
            </a:pPr>
            <a:r>
              <a:rPr lang="bg-BG" sz="1900" dirty="0" smtClean="0"/>
              <a:t>Ако не са премахнати се дали няма да „пречат“ при повторно инсталиране.</a:t>
            </a:r>
          </a:p>
          <a:p>
            <a:pPr lvl="1">
              <a:lnSpc>
                <a:spcPct val="95000"/>
              </a:lnSpc>
              <a:spcBef>
                <a:spcPts val="0"/>
              </a:spcBef>
            </a:pPr>
            <a:r>
              <a:rPr lang="bg-BG" sz="2300" dirty="0"/>
              <a:t>Проверява се </a:t>
            </a:r>
            <a:r>
              <a:rPr lang="bg-BG" sz="2300" dirty="0" smtClean="0"/>
              <a:t>възможността за продължаване на  инсталацията след прекъсване.</a:t>
            </a:r>
          </a:p>
          <a:p>
            <a:pPr lvl="1">
              <a:lnSpc>
                <a:spcPct val="95000"/>
              </a:lnSpc>
              <a:spcBef>
                <a:spcPts val="0"/>
              </a:spcBef>
            </a:pPr>
            <a:r>
              <a:rPr lang="bg-BG" sz="2300" dirty="0" smtClean="0"/>
              <a:t>Проверява се възможността за напълно нова пълна инсталация.</a:t>
            </a:r>
            <a:endParaRPr lang="bg-BG" sz="2300" dirty="0"/>
          </a:p>
        </p:txBody>
      </p:sp>
    </p:spTree>
    <p:extLst>
      <p:ext uri="{BB962C8B-B14F-4D97-AF65-F5344CB8AC3E}">
        <p14:creationId xmlns:p14="http://schemas.microsoft.com/office/powerpoint/2010/main" val="222648927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5" y="1916113"/>
            <a:ext cx="8154863"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700" dirty="0" smtClean="0"/>
              <a:t>Инсталирането не е само копиране на файлове на диска на клиента, а изисква регистриране на програмата и нейните компоненти по правилата на съответната ОС.</a:t>
            </a:r>
          </a:p>
          <a:p>
            <a:pPr lvl="1">
              <a:lnSpc>
                <a:spcPct val="90000"/>
              </a:lnSpc>
              <a:spcBef>
                <a:spcPts val="0"/>
              </a:spcBef>
            </a:pPr>
            <a:r>
              <a:rPr lang="bg-BG" sz="2300" dirty="0" smtClean="0"/>
              <a:t>ОС имат регистър на инсталираните програми и компоненти, затова се проверяват промените в регистъра при успешна инсталация – дали очакваното отговаря на получения резултат. </a:t>
            </a:r>
          </a:p>
          <a:p>
            <a:pPr lvl="1">
              <a:lnSpc>
                <a:spcPct val="90000"/>
              </a:lnSpc>
              <a:spcBef>
                <a:spcPts val="0"/>
              </a:spcBef>
            </a:pPr>
            <a:r>
              <a:rPr lang="bg-BG" sz="2300" dirty="0" smtClean="0"/>
              <a:t>Регистрацията може да стане в края на „успешната“ инсталация или след всяка самостоятелна част от нея.</a:t>
            </a:r>
          </a:p>
          <a:p>
            <a:pPr lvl="2">
              <a:lnSpc>
                <a:spcPct val="90000"/>
              </a:lnSpc>
              <a:spcBef>
                <a:spcPts val="0"/>
              </a:spcBef>
            </a:pPr>
            <a:r>
              <a:rPr lang="bg-BG" sz="1900" dirty="0" smtClean="0"/>
              <a:t>При прекъсната инсталация, според вида на инсталацията, се проверява как се е променил регистъра на ОС.</a:t>
            </a:r>
          </a:p>
          <a:p>
            <a:pPr lvl="1">
              <a:lnSpc>
                <a:spcPct val="90000"/>
              </a:lnSpc>
              <a:spcBef>
                <a:spcPts val="0"/>
              </a:spcBef>
            </a:pPr>
            <a:r>
              <a:rPr lang="bg-BG" sz="2300" dirty="0" smtClean="0"/>
              <a:t>При </a:t>
            </a:r>
            <a:r>
              <a:rPr lang="bg-BG" sz="2300" dirty="0" err="1" smtClean="0"/>
              <a:t>дерегистрация</a:t>
            </a:r>
            <a:r>
              <a:rPr lang="bg-BG" sz="2300" dirty="0" smtClean="0"/>
              <a:t> се проверява дали всичко е премахнато.</a:t>
            </a:r>
          </a:p>
        </p:txBody>
      </p:sp>
    </p:spTree>
    <p:extLst>
      <p:ext uri="{BB962C8B-B14F-4D97-AF65-F5344CB8AC3E}">
        <p14:creationId xmlns:p14="http://schemas.microsoft.com/office/powerpoint/2010/main" val="160886601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5" y="1916113"/>
            <a:ext cx="8082855"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Управление на дисковото пространство:</a:t>
            </a:r>
          </a:p>
          <a:p>
            <a:pPr lvl="1">
              <a:spcBef>
                <a:spcPts val="0"/>
              </a:spcBef>
            </a:pPr>
            <a:r>
              <a:rPr lang="bg-BG" sz="2400" dirty="0" smtClean="0"/>
              <a:t>Това е от решаващо значение при избор на сценария за тестване на инсталацията. </a:t>
            </a:r>
          </a:p>
          <a:p>
            <a:pPr lvl="1">
              <a:spcBef>
                <a:spcPts val="0"/>
              </a:spcBef>
            </a:pPr>
            <a:r>
              <a:rPr lang="bg-BG" sz="2400" dirty="0" smtClean="0"/>
              <a:t>Може да се използват ръчни или автоматизирани техники за проверка на дисковото пространство преди, по време и след инсталиране. </a:t>
            </a:r>
          </a:p>
          <a:p>
            <a:pPr lvl="2">
              <a:spcBef>
                <a:spcPts val="0"/>
              </a:spcBef>
            </a:pPr>
            <a:r>
              <a:rPr lang="bg-BG" sz="2000" dirty="0" smtClean="0"/>
              <a:t>Задължителна е проверката след инсталиране – дава точните данни на запълване. </a:t>
            </a:r>
          </a:p>
          <a:p>
            <a:pPr lvl="1">
              <a:spcBef>
                <a:spcPts val="0"/>
              </a:spcBef>
            </a:pPr>
            <a:r>
              <a:rPr lang="bg-BG" sz="2400" dirty="0" smtClean="0"/>
              <a:t>Проверяват се различни комбинации на заемане на дисково пространство за определяне на оптималния модел.</a:t>
            </a:r>
          </a:p>
          <a:p>
            <a:pPr lvl="2">
              <a:spcBef>
                <a:spcPts val="0"/>
              </a:spcBef>
            </a:pPr>
            <a:r>
              <a:rPr lang="bg-BG" sz="2000" dirty="0" smtClean="0"/>
              <a:t>Проверява се бързодействието при всяко от тези разпределения.</a:t>
            </a:r>
          </a:p>
        </p:txBody>
      </p:sp>
    </p:spTree>
    <p:extLst>
      <p:ext uri="{BB962C8B-B14F-4D97-AF65-F5344CB8AC3E}">
        <p14:creationId xmlns:p14="http://schemas.microsoft.com/office/powerpoint/2010/main" val="405805312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5" y="1916113"/>
            <a:ext cx="8082855"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Управление на дисковото пространство:</a:t>
            </a:r>
          </a:p>
          <a:p>
            <a:pPr lvl="1">
              <a:lnSpc>
                <a:spcPct val="90000"/>
              </a:lnSpc>
              <a:spcBef>
                <a:spcPts val="0"/>
              </a:spcBef>
            </a:pPr>
            <a:r>
              <a:rPr lang="bg-BG" sz="2400" dirty="0" smtClean="0"/>
              <a:t>Задължително се тества инсталирането, когато дискът е форматиран с различни формати на секторите</a:t>
            </a:r>
          </a:p>
          <a:p>
            <a:pPr lvl="2">
              <a:lnSpc>
                <a:spcPct val="90000"/>
              </a:lnSpc>
              <a:spcBef>
                <a:spcPts val="0"/>
              </a:spcBef>
            </a:pPr>
            <a:r>
              <a:rPr lang="bg-BG" sz="2000" dirty="0" smtClean="0"/>
              <a:t>В различните системи файловете заемат различно поле по големина от диска – два файла не могат да използват един и същ физически сектор върху диска. </a:t>
            </a:r>
          </a:p>
          <a:p>
            <a:pPr lvl="2">
              <a:lnSpc>
                <a:spcPct val="90000"/>
              </a:lnSpc>
              <a:spcBef>
                <a:spcPts val="0"/>
              </a:spcBef>
            </a:pPr>
            <a:r>
              <a:rPr lang="bg-BG" sz="2000" dirty="0" smtClean="0"/>
              <a:t>Пример: FAT16 изисква повече пространство от NTFS и FAT32.</a:t>
            </a:r>
          </a:p>
          <a:p>
            <a:pPr lvl="1">
              <a:lnSpc>
                <a:spcPct val="90000"/>
              </a:lnSpc>
              <a:spcBef>
                <a:spcPts val="0"/>
              </a:spcBef>
            </a:pPr>
            <a:r>
              <a:rPr lang="bg-BG" sz="2400" dirty="0" smtClean="0"/>
              <a:t>Задължително се тества инсталацията в режим на малко свободно пространство на диска.</a:t>
            </a:r>
          </a:p>
          <a:p>
            <a:pPr lvl="1">
              <a:lnSpc>
                <a:spcPct val="90000"/>
              </a:lnSpc>
              <a:spcBef>
                <a:spcPts val="0"/>
              </a:spcBef>
            </a:pPr>
            <a:r>
              <a:rPr lang="bg-BG" sz="2400" dirty="0" smtClean="0"/>
              <a:t>При инсталиране се използват файлове, които след това се изтриват, защото не се използват при работа.</a:t>
            </a:r>
          </a:p>
          <a:p>
            <a:pPr lvl="2">
              <a:lnSpc>
                <a:spcPct val="90000"/>
              </a:lnSpc>
              <a:spcBef>
                <a:spcPts val="0"/>
              </a:spcBef>
            </a:pPr>
            <a:r>
              <a:rPr lang="bg-BG" sz="2000" dirty="0" smtClean="0"/>
              <a:t>Анализира се «</a:t>
            </a:r>
            <a:r>
              <a:rPr lang="bg-BG" sz="2000" dirty="0" err="1" smtClean="0"/>
              <a:t>сегментиранети</a:t>
            </a:r>
            <a:r>
              <a:rPr lang="bg-BG" sz="2000" dirty="0" smtClean="0"/>
              <a:t>» на диска след изтриване.</a:t>
            </a:r>
            <a:endParaRPr lang="bg-BG" sz="2000" dirty="0"/>
          </a:p>
        </p:txBody>
      </p:sp>
    </p:spTree>
    <p:extLst>
      <p:ext uri="{BB962C8B-B14F-4D97-AF65-F5344CB8AC3E}">
        <p14:creationId xmlns:p14="http://schemas.microsoft.com/office/powerpoint/2010/main" val="164641651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Инсталационен тест</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0"/>
              </a:spcBef>
            </a:pPr>
            <a:r>
              <a:rPr lang="bg-BG" sz="2600" dirty="0" smtClean="0"/>
              <a:t>Проверката на инсталацията изисква и тестване за деинсталиране. </a:t>
            </a:r>
          </a:p>
          <a:p>
            <a:pPr lvl="1">
              <a:spcBef>
                <a:spcPts val="0"/>
              </a:spcBef>
            </a:pPr>
            <a:r>
              <a:rPr lang="bg-BG" sz="2300" dirty="0" smtClean="0"/>
              <a:t>Преди всяка нова итерация на инсталацията се проверява дали файлове, записани на диска, са премахнати след деинсталирането. </a:t>
            </a:r>
          </a:p>
          <a:p>
            <a:pPr lvl="1">
              <a:spcBef>
                <a:spcPts val="0"/>
              </a:spcBef>
            </a:pPr>
            <a:r>
              <a:rPr lang="bg-BG" sz="2300" dirty="0" smtClean="0"/>
              <a:t>Проверява се дали при деинсталиране се премахват всички файлове на системата или само тези от последното „обновяване“</a:t>
            </a:r>
          </a:p>
          <a:p>
            <a:pPr lvl="2">
              <a:spcBef>
                <a:spcPts val="0"/>
              </a:spcBef>
            </a:pPr>
            <a:r>
              <a:rPr lang="bg-BG" sz="1900" dirty="0" smtClean="0"/>
              <a:t>Обновяването най-често е итеративно, т.е. нещо се премахва и нещо се добавя. </a:t>
            </a:r>
          </a:p>
          <a:p>
            <a:pPr lvl="1">
              <a:spcBef>
                <a:spcPts val="0"/>
              </a:spcBef>
            </a:pPr>
            <a:r>
              <a:rPr lang="bg-BG" sz="2300" dirty="0" smtClean="0"/>
              <a:t>Проверява се работата на опцията за рестартиране на ОС след деинсталиране (когато е задължително).</a:t>
            </a:r>
          </a:p>
          <a:p>
            <a:pPr lvl="2">
              <a:spcBef>
                <a:spcPts val="0"/>
              </a:spcBef>
            </a:pPr>
            <a:r>
              <a:rPr lang="bg-BG" sz="1900" dirty="0" smtClean="0"/>
              <a:t>Проверява се както с автоматично рестартиране, ръчно рестартиране и без рестартирате.</a:t>
            </a:r>
            <a:endParaRPr lang="bg-BG" sz="1900" dirty="0"/>
          </a:p>
        </p:txBody>
      </p:sp>
    </p:spTree>
    <p:extLst>
      <p:ext uri="{BB962C8B-B14F-4D97-AF65-F5344CB8AC3E}">
        <p14:creationId xmlns:p14="http://schemas.microsoft.com/office/powerpoint/2010/main" val="36312716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4" y="1916113"/>
            <a:ext cx="8226871"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800" dirty="0" smtClean="0"/>
              <a:t>Добри практики</a:t>
            </a:r>
          </a:p>
          <a:p>
            <a:pPr lvl="1">
              <a:lnSpc>
                <a:spcPct val="90000"/>
              </a:lnSpc>
              <a:spcBef>
                <a:spcPts val="0"/>
              </a:spcBef>
            </a:pPr>
            <a:r>
              <a:rPr lang="bg-BG" sz="2400" dirty="0" smtClean="0"/>
              <a:t>Тестовете за инсталация са свързани с тестовете за </a:t>
            </a:r>
            <a:r>
              <a:rPr lang="bg-BG" sz="2400" dirty="0" err="1" smtClean="0"/>
              <a:t>деинсталация</a:t>
            </a:r>
            <a:r>
              <a:rPr lang="bg-BG" sz="2400" dirty="0" smtClean="0"/>
              <a:t> на програмата.</a:t>
            </a:r>
          </a:p>
          <a:p>
            <a:pPr lvl="1">
              <a:lnSpc>
                <a:spcPct val="90000"/>
              </a:lnSpc>
              <a:spcBef>
                <a:spcPts val="0"/>
              </a:spcBef>
            </a:pPr>
            <a:r>
              <a:rPr lang="bg-BG" sz="2400" dirty="0" smtClean="0"/>
              <a:t>Инсталаторът се тества с подходяща комбинация от ръчни и автоматизирани процеси на различни машини с различна конфигурация. </a:t>
            </a:r>
          </a:p>
          <a:p>
            <a:pPr lvl="1">
              <a:lnSpc>
                <a:spcPct val="90000"/>
              </a:lnSpc>
              <a:spcBef>
                <a:spcPts val="0"/>
              </a:spcBef>
            </a:pPr>
            <a:r>
              <a:rPr lang="bg-BG" sz="2400" dirty="0" smtClean="0"/>
              <a:t>Диаграмите на потока (</a:t>
            </a:r>
            <a:r>
              <a:rPr lang="bg-BG" sz="2400" dirty="0" err="1" smtClean="0"/>
              <a:t>flow</a:t>
            </a:r>
            <a:r>
              <a:rPr lang="bg-BG" sz="2400" dirty="0" smtClean="0"/>
              <a:t> </a:t>
            </a:r>
            <a:r>
              <a:rPr lang="bg-BG" sz="2400" dirty="0" err="1" smtClean="0"/>
              <a:t>giagrams</a:t>
            </a:r>
            <a:r>
              <a:rPr lang="bg-BG" sz="2400" dirty="0" smtClean="0"/>
              <a:t>) опростяват задача за тестване на инсталацията. </a:t>
            </a:r>
          </a:p>
          <a:p>
            <a:pPr lvl="2">
              <a:lnSpc>
                <a:spcPct val="90000"/>
              </a:lnSpc>
              <a:spcBef>
                <a:spcPts val="0"/>
              </a:spcBef>
            </a:pPr>
            <a:r>
              <a:rPr lang="bg-BG" sz="2000" dirty="0" smtClean="0"/>
              <a:t>Диаграмата на потока, използвана за тестване на записването на различните файлове от системата, се използва в обратен ред при тестване на деинсталирането на всички инсталирани файлове на диска.</a:t>
            </a:r>
          </a:p>
          <a:p>
            <a:pPr lvl="2">
              <a:lnSpc>
                <a:spcPct val="90000"/>
              </a:lnSpc>
              <a:spcBef>
                <a:spcPts val="0"/>
              </a:spcBef>
            </a:pPr>
            <a:r>
              <a:rPr lang="bg-BG" sz="2000" dirty="0" smtClean="0"/>
              <a:t>диаграмите на потока на инсталиране улесняват автоматизирането на процеса на инсталация - много лесно се преобразуват в автоматизирани скриптове.</a:t>
            </a:r>
          </a:p>
        </p:txBody>
      </p:sp>
    </p:spTree>
    <p:extLst>
      <p:ext uri="{BB962C8B-B14F-4D97-AF65-F5344CB8AC3E}">
        <p14:creationId xmlns:p14="http://schemas.microsoft.com/office/powerpoint/2010/main" val="176430254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bg-BG" dirty="0" smtClean="0"/>
              <a:t>Инсталационен тест</a:t>
            </a:r>
            <a:endParaRPr lang="en-US" dirty="0"/>
          </a:p>
        </p:txBody>
      </p:sp>
      <p:sp>
        <p:nvSpPr>
          <p:cNvPr id="3" name="Content Placeholder 2"/>
          <p:cNvSpPr>
            <a:spLocks noGrp="1"/>
          </p:cNvSpPr>
          <p:nvPr>
            <p:ph idx="1"/>
          </p:nvPr>
        </p:nvSpPr>
        <p:spPr>
          <a:xfrm>
            <a:off x="809625" y="1916113"/>
            <a:ext cx="8082855" cy="461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90000"/>
              </a:lnSpc>
              <a:spcBef>
                <a:spcPts val="0"/>
              </a:spcBef>
            </a:pPr>
            <a:r>
              <a:rPr lang="bg-BG" sz="2600" dirty="0" smtClean="0"/>
              <a:t>Добри практики</a:t>
            </a:r>
          </a:p>
          <a:p>
            <a:pPr lvl="1">
              <a:lnSpc>
                <a:spcPct val="90000"/>
              </a:lnSpc>
              <a:spcBef>
                <a:spcPts val="0"/>
              </a:spcBef>
            </a:pPr>
            <a:r>
              <a:rPr lang="bg-BG" sz="2200" dirty="0" smtClean="0"/>
              <a:t>Ако има инсталирана компактна основна версия на приложението, то за следващия тестов случай за инсталира пълната версия като се използва същата процедура като при компактната версия.</a:t>
            </a:r>
          </a:p>
          <a:p>
            <a:pPr lvl="1">
              <a:lnSpc>
                <a:spcPct val="90000"/>
              </a:lnSpc>
              <a:spcBef>
                <a:spcPts val="0"/>
              </a:spcBef>
            </a:pPr>
            <a:r>
              <a:rPr lang="bg-BG" sz="2200" dirty="0"/>
              <a:t>Използвайте разпределена среда за тестване, за да проведете тестване на инсталацията – пести време и усилия по управление на различните тестови случаи.</a:t>
            </a:r>
          </a:p>
          <a:p>
            <a:pPr lvl="2">
              <a:lnSpc>
                <a:spcPct val="90000"/>
              </a:lnSpc>
              <a:spcBef>
                <a:spcPts val="0"/>
              </a:spcBef>
            </a:pPr>
            <a:r>
              <a:rPr lang="bg-BG" sz="1900" dirty="0"/>
              <a:t>Добрият подход е да се създаде главна машина, която да управлява различни подчинени машини – тя стартира едновременно инсталацията върху различни машини</a:t>
            </a:r>
            <a:r>
              <a:rPr lang="bg-BG" sz="1900" dirty="0" smtClean="0"/>
              <a:t>.</a:t>
            </a:r>
            <a:endParaRPr lang="en-US" sz="1900" dirty="0" smtClean="0"/>
          </a:p>
          <a:p>
            <a:pPr lvl="1">
              <a:lnSpc>
                <a:spcPct val="90000"/>
              </a:lnSpc>
              <a:spcBef>
                <a:spcPts val="0"/>
              </a:spcBef>
            </a:pPr>
            <a:r>
              <a:rPr lang="bg-BG" sz="2200" dirty="0" smtClean="0"/>
              <a:t>Разпределената</a:t>
            </a:r>
            <a:r>
              <a:rPr lang="en-US" sz="2200" dirty="0" smtClean="0"/>
              <a:t> </a:t>
            </a:r>
            <a:r>
              <a:rPr lang="bg-BG" sz="2200" dirty="0" smtClean="0"/>
              <a:t>среда </a:t>
            </a:r>
            <a:r>
              <a:rPr lang="bg-BG" sz="2200" dirty="0"/>
              <a:t>за </a:t>
            </a:r>
            <a:r>
              <a:rPr lang="bg-BG" sz="2200" dirty="0" smtClean="0"/>
              <a:t>тестване на инсталацията </a:t>
            </a:r>
            <a:r>
              <a:rPr lang="bg-BG" sz="2200" dirty="0"/>
              <a:t>пести време и усилия по управление на </a:t>
            </a:r>
            <a:r>
              <a:rPr lang="bg-BG" sz="2200" dirty="0" smtClean="0"/>
              <a:t>процеса.</a:t>
            </a:r>
            <a:endParaRPr lang="bg-BG" sz="2200" dirty="0"/>
          </a:p>
          <a:p>
            <a:pPr lvl="2">
              <a:lnSpc>
                <a:spcPct val="90000"/>
              </a:lnSpc>
              <a:spcBef>
                <a:spcPts val="0"/>
              </a:spcBef>
            </a:pPr>
            <a:r>
              <a:rPr lang="bg-BG" sz="1900" dirty="0"/>
              <a:t>Добрият подход е да се създаде главна машина, която да управлява различни подчинени машини – тя стартира едновременно инсталацията върху различни машини</a:t>
            </a:r>
            <a:r>
              <a:rPr lang="bg-BG" sz="1900" dirty="0" smtClean="0"/>
              <a:t>.</a:t>
            </a:r>
            <a:endParaRPr lang="bg-BG" sz="1900" dirty="0"/>
          </a:p>
        </p:txBody>
      </p:sp>
    </p:spTree>
    <p:extLst>
      <p:ext uri="{BB962C8B-B14F-4D97-AF65-F5344CB8AC3E}">
        <p14:creationId xmlns:p14="http://schemas.microsoft.com/office/powerpoint/2010/main" val="236381288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a:t>Регресивно </a:t>
            </a:r>
            <a:r>
              <a:rPr lang="bg-BG" dirty="0" smtClean="0"/>
              <a:t>тестване и Тестване за поддръжка</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67301381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p:txBody>
          <a:bodyPr/>
          <a:lstStyle/>
          <a:p>
            <a:pPr>
              <a:spcBef>
                <a:spcPts val="0"/>
              </a:spcBef>
            </a:pPr>
            <a:r>
              <a:rPr lang="bg-BG" sz="2600" dirty="0" smtClean="0"/>
              <a:t>Дефиниция </a:t>
            </a:r>
          </a:p>
          <a:p>
            <a:pPr lvl="1">
              <a:spcBef>
                <a:spcPts val="0"/>
              </a:spcBef>
            </a:pPr>
            <a:r>
              <a:rPr lang="bg-BG" sz="2200" dirty="0" err="1" smtClean="0"/>
              <a:t>Регресионното</a:t>
            </a:r>
            <a:r>
              <a:rPr lang="bg-BG" sz="2200" dirty="0" smtClean="0"/>
              <a:t> тестване се дефинира като вид тестване на софтуер, за да се потвърди, че скорошна промяна на програма или код не е повлияла неблагоприятно на съществуващите функции.</a:t>
            </a:r>
          </a:p>
          <a:p>
            <a:pPr lvl="1">
              <a:spcBef>
                <a:spcPts val="0"/>
              </a:spcBef>
            </a:pPr>
            <a:r>
              <a:rPr lang="bg-BG" sz="2200" dirty="0" err="1" smtClean="0"/>
              <a:t>Англ</a:t>
            </a:r>
            <a:r>
              <a:rPr lang="bg-BG" sz="2200" dirty="0" smtClean="0"/>
              <a:t>. </a:t>
            </a:r>
            <a:r>
              <a:rPr lang="en-US" sz="2200" dirty="0" smtClean="0"/>
              <a:t>Regression Testing</a:t>
            </a:r>
            <a:endParaRPr lang="bg-BG" sz="2200" dirty="0" smtClean="0"/>
          </a:p>
          <a:p>
            <a:pPr marL="342900" lvl="1" indent="-342900">
              <a:spcBef>
                <a:spcPts val="0"/>
              </a:spcBef>
              <a:buFont typeface="Wingdings" pitchFamily="2" charset="2"/>
              <a:buChar char="Ä"/>
            </a:pPr>
            <a:r>
              <a:rPr lang="bg-BG" sz="2600" dirty="0"/>
              <a:t>Това тестване се </a:t>
            </a:r>
            <a:r>
              <a:rPr lang="bg-BG" sz="2600" dirty="0" smtClean="0"/>
              <a:t>прави </a:t>
            </a:r>
            <a:r>
              <a:rPr lang="bg-BG" sz="2600" dirty="0"/>
              <a:t>за да се гарантира, че новите промени в кода не трябва да имат странични ефекти върху съществуващите функционалности.</a:t>
            </a:r>
          </a:p>
          <a:p>
            <a:pPr lvl="1">
              <a:spcBef>
                <a:spcPts val="0"/>
              </a:spcBef>
            </a:pPr>
            <a:r>
              <a:rPr lang="bg-BG" sz="2200" dirty="0" smtClean="0"/>
              <a:t>Това гарантира</a:t>
            </a:r>
            <a:r>
              <a:rPr lang="bg-BG" sz="2200" dirty="0"/>
              <a:t>, че старият код все още работи, след като се извършат новите промени в кода.</a:t>
            </a:r>
          </a:p>
          <a:p>
            <a:pPr lvl="1">
              <a:spcBef>
                <a:spcPts val="0"/>
              </a:spcBef>
            </a:pPr>
            <a:r>
              <a:rPr lang="bg-BG" sz="2200" dirty="0" smtClean="0"/>
              <a:t>Реално, тестването започва с пълен или частичен подбор на вече изпълнени тестови случаи, които се изпълняват отново.</a:t>
            </a:r>
          </a:p>
        </p:txBody>
      </p:sp>
    </p:spTree>
    <p:extLst>
      <p:ext uri="{BB962C8B-B14F-4D97-AF65-F5344CB8AC3E}">
        <p14:creationId xmlns:p14="http://schemas.microsoft.com/office/powerpoint/2010/main" val="2810066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p:txBody>
          <a:bodyPr/>
          <a:lstStyle/>
          <a:p>
            <a:pPr>
              <a:spcBef>
                <a:spcPts val="0"/>
              </a:spcBef>
            </a:pPr>
            <a:r>
              <a:rPr lang="bg-BG" sz="2400" dirty="0" err="1" smtClean="0"/>
              <a:t>Регресионно</a:t>
            </a:r>
            <a:r>
              <a:rPr lang="bg-BG" sz="2400" dirty="0" smtClean="0"/>
              <a:t> тестване е необходимо, когато има:</a:t>
            </a:r>
          </a:p>
          <a:p>
            <a:pPr lvl="1">
              <a:spcBef>
                <a:spcPts val="0"/>
              </a:spcBef>
            </a:pPr>
            <a:r>
              <a:rPr lang="bg-BG" sz="2000" dirty="0" smtClean="0"/>
              <a:t>Промяната в изискванията и и това води до променя в съществуващите кодове на програмата.</a:t>
            </a:r>
          </a:p>
          <a:p>
            <a:pPr lvl="1">
              <a:spcBef>
                <a:spcPts val="0"/>
              </a:spcBef>
            </a:pPr>
            <a:r>
              <a:rPr lang="bg-BG" sz="2000" dirty="0" smtClean="0"/>
              <a:t>Към сегашната версия на програмата е добавена нова функция.</a:t>
            </a:r>
          </a:p>
          <a:p>
            <a:pPr lvl="1">
              <a:spcBef>
                <a:spcPts val="0"/>
              </a:spcBef>
            </a:pPr>
            <a:r>
              <a:rPr lang="bg-BG" sz="2000" dirty="0" smtClean="0"/>
              <a:t>След поправката на открит дефект или група дефекти (с поправката се фиксират няколко дефекта едновременно)</a:t>
            </a:r>
          </a:p>
          <a:p>
            <a:pPr lvl="1">
              <a:spcBef>
                <a:spcPts val="0"/>
              </a:spcBef>
            </a:pPr>
            <a:r>
              <a:rPr lang="bg-BG" sz="2000" dirty="0" smtClean="0"/>
              <a:t>След прилагане на техники за подобряване на ефективността на програмата.</a:t>
            </a:r>
          </a:p>
          <a:p>
            <a:pPr>
              <a:spcBef>
                <a:spcPts val="0"/>
              </a:spcBef>
            </a:pPr>
            <a:r>
              <a:rPr lang="bg-BG" sz="2400" dirty="0" err="1" smtClean="0"/>
              <a:t>Регресионно</a:t>
            </a:r>
            <a:r>
              <a:rPr lang="bg-BG" sz="2400" dirty="0" smtClean="0"/>
              <a:t> тестване </a:t>
            </a:r>
            <a:r>
              <a:rPr lang="bg-BG" sz="2400" i="1" dirty="0" smtClean="0">
                <a:effectLst>
                  <a:outerShdw blurRad="38100" dist="38100" dir="2700000" algn="tl">
                    <a:srgbClr val="000000">
                      <a:alpha val="43137"/>
                    </a:srgbClr>
                  </a:outerShdw>
                </a:effectLst>
              </a:rPr>
              <a:t>не е повторно тестване </a:t>
            </a:r>
            <a:r>
              <a:rPr lang="bg-BG" sz="2400" dirty="0" smtClean="0">
                <a:effectLst>
                  <a:outerShdw blurRad="38100" dist="38100" dir="2700000" algn="tl">
                    <a:srgbClr val="000000">
                      <a:alpha val="43137"/>
                    </a:srgbClr>
                  </a:outerShdw>
                </a:effectLst>
              </a:rPr>
              <a:t>!</a:t>
            </a:r>
          </a:p>
          <a:p>
            <a:pPr lvl="1">
              <a:spcBef>
                <a:spcPts val="0"/>
              </a:spcBef>
            </a:pPr>
            <a:r>
              <a:rPr lang="bg-BG" sz="2000" dirty="0" smtClean="0"/>
              <a:t>Повторното тестване е тестване, при което се повтаря тест, с който е намерен дефект в програмата – резултатът показва дали дефектът е поправен или трябва още да се работи.</a:t>
            </a:r>
          </a:p>
          <a:p>
            <a:pPr lvl="1">
              <a:spcBef>
                <a:spcPts val="0"/>
              </a:spcBef>
            </a:pPr>
            <a:r>
              <a:rPr lang="bg-BG" sz="2000" dirty="0" err="1" smtClean="0"/>
              <a:t>Регресионното</a:t>
            </a:r>
            <a:r>
              <a:rPr lang="bg-BG" sz="2000" dirty="0" smtClean="0"/>
              <a:t> тестване проверява дали </a:t>
            </a:r>
            <a:r>
              <a:rPr lang="bg-BG" sz="2000" dirty="0" err="1" smtClean="0"/>
              <a:t>отвърдена</a:t>
            </a:r>
            <a:r>
              <a:rPr lang="bg-BG" sz="2000" dirty="0" smtClean="0"/>
              <a:t> поправка на дефект не е повредила вече приет код за «готов».</a:t>
            </a:r>
          </a:p>
        </p:txBody>
      </p:sp>
    </p:spTree>
    <p:extLst>
      <p:ext uri="{BB962C8B-B14F-4D97-AF65-F5344CB8AC3E}">
        <p14:creationId xmlns:p14="http://schemas.microsoft.com/office/powerpoint/2010/main" val="4253669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p:txBody>
          <a:bodyPr/>
          <a:lstStyle/>
          <a:p>
            <a:pPr>
              <a:spcBef>
                <a:spcPts val="0"/>
              </a:spcBef>
            </a:pPr>
            <a:r>
              <a:rPr lang="bg-BG" sz="2400" dirty="0" smtClean="0"/>
              <a:t>Поддръжката на софтуер е дейност, която включва подобрения, корекции на грешки, оптимизация и изтриване на съществуващи функции. </a:t>
            </a:r>
          </a:p>
          <a:p>
            <a:pPr lvl="1">
              <a:spcBef>
                <a:spcPts val="0"/>
              </a:spcBef>
            </a:pPr>
            <a:r>
              <a:rPr lang="bg-BG" sz="2000" dirty="0" smtClean="0"/>
              <a:t>Тези модификации могат да доведат до неправилна работа на системата, т.е. </a:t>
            </a:r>
            <a:r>
              <a:rPr lang="bg-BG" sz="2000" dirty="0" err="1" smtClean="0"/>
              <a:t>регресионното</a:t>
            </a:r>
            <a:r>
              <a:rPr lang="bg-BG" sz="2000" dirty="0" smtClean="0"/>
              <a:t> тестване е необходимо.</a:t>
            </a:r>
          </a:p>
          <a:p>
            <a:pPr>
              <a:spcBef>
                <a:spcPts val="0"/>
              </a:spcBef>
            </a:pPr>
            <a:r>
              <a:rPr lang="bg-BG" sz="2400" dirty="0" smtClean="0"/>
              <a:t>При </a:t>
            </a:r>
            <a:r>
              <a:rPr lang="bg-BG" sz="2400" dirty="0" err="1" smtClean="0"/>
              <a:t>регресионно</a:t>
            </a:r>
            <a:r>
              <a:rPr lang="bg-BG" sz="2400" dirty="0" smtClean="0"/>
              <a:t> тестване трябва да се прилагат следните правила за управление на конфигурацията:</a:t>
            </a:r>
          </a:p>
          <a:p>
            <a:pPr lvl="1">
              <a:spcBef>
                <a:spcPts val="0"/>
              </a:spcBef>
            </a:pPr>
            <a:r>
              <a:rPr lang="bg-BG" sz="2000" dirty="0" smtClean="0"/>
              <a:t>Кодът, който се тества с регресия, трябва да се управлява от инструмент за контрол на конфигурацията</a:t>
            </a:r>
          </a:p>
          <a:p>
            <a:pPr lvl="1">
              <a:spcBef>
                <a:spcPts val="0"/>
              </a:spcBef>
            </a:pPr>
            <a:r>
              <a:rPr lang="bg-BG" sz="2000" dirty="0" smtClean="0"/>
              <a:t>Не трябва да се допускат промени в кода по време на фазата на </a:t>
            </a:r>
            <a:r>
              <a:rPr lang="bg-BG" sz="2000" dirty="0" err="1" smtClean="0"/>
              <a:t>регресионен</a:t>
            </a:r>
            <a:r>
              <a:rPr lang="bg-BG" sz="2000" dirty="0" smtClean="0"/>
              <a:t> тест – проверяваният код не може да се променя от разработчика.</a:t>
            </a:r>
          </a:p>
          <a:p>
            <a:pPr lvl="1">
              <a:spcBef>
                <a:spcPts val="0"/>
              </a:spcBef>
            </a:pPr>
            <a:r>
              <a:rPr lang="bg-BG" sz="2000" dirty="0" smtClean="0"/>
              <a:t>Базата от данни, използвана за </a:t>
            </a:r>
            <a:r>
              <a:rPr lang="bg-BG" sz="2000" dirty="0" err="1" smtClean="0"/>
              <a:t>регресионно</a:t>
            </a:r>
            <a:r>
              <a:rPr lang="bg-BG" sz="2000" dirty="0" smtClean="0"/>
              <a:t> тестване, трябва да бъде изолирана и не трябва да се допускат промени в нея.</a:t>
            </a:r>
            <a:endParaRPr lang="bg-BG" sz="2000" dirty="0"/>
          </a:p>
        </p:txBody>
      </p:sp>
    </p:spTree>
    <p:extLst>
      <p:ext uri="{BB962C8B-B14F-4D97-AF65-F5344CB8AC3E}">
        <p14:creationId xmlns:p14="http://schemas.microsoft.com/office/powerpoint/2010/main" val="1970734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p:txBody>
          <a:bodyPr/>
          <a:lstStyle/>
          <a:p>
            <a:pPr>
              <a:spcBef>
                <a:spcPts val="300"/>
              </a:spcBef>
            </a:pPr>
            <a:r>
              <a:rPr lang="bg-BG" sz="2800" dirty="0" smtClean="0"/>
              <a:t>Три са основните техники, използвани за реализация на </a:t>
            </a:r>
            <a:r>
              <a:rPr lang="bg-BG" sz="2800" dirty="0" err="1" smtClean="0"/>
              <a:t>регресионно</a:t>
            </a:r>
            <a:r>
              <a:rPr lang="bg-BG" sz="2800" dirty="0" smtClean="0"/>
              <a:t> тестване:</a:t>
            </a:r>
          </a:p>
          <a:p>
            <a:pPr lvl="1">
              <a:spcBef>
                <a:spcPts val="300"/>
              </a:spcBef>
            </a:pPr>
            <a:r>
              <a:rPr lang="bg-BG" sz="2400" dirty="0" smtClean="0"/>
              <a:t>Пълна проверка</a:t>
            </a:r>
          </a:p>
          <a:p>
            <a:pPr lvl="2">
              <a:spcBef>
                <a:spcPts val="300"/>
              </a:spcBef>
            </a:pPr>
            <a:r>
              <a:rPr lang="bg-BG" sz="2000" dirty="0" smtClean="0"/>
              <a:t>В този случай всички тестове в съществуващата тестова група трябва да бъдат изпълнени отново.</a:t>
            </a:r>
          </a:p>
          <a:p>
            <a:pPr lvl="2">
              <a:spcBef>
                <a:spcPts val="300"/>
              </a:spcBef>
            </a:pPr>
            <a:r>
              <a:rPr lang="bg-BG" sz="2000" dirty="0" smtClean="0"/>
              <a:t>Много скъпо - изисква много време и ресурси.</a:t>
            </a:r>
          </a:p>
          <a:p>
            <a:pPr lvl="1">
              <a:spcBef>
                <a:spcPts val="300"/>
              </a:spcBef>
            </a:pPr>
            <a:r>
              <a:rPr lang="bg-BG" sz="2400" dirty="0" smtClean="0"/>
              <a:t>По приоритет на тестовите случаи</a:t>
            </a:r>
          </a:p>
          <a:p>
            <a:pPr lvl="2">
              <a:spcBef>
                <a:spcPts val="300"/>
              </a:spcBef>
            </a:pPr>
            <a:r>
              <a:rPr lang="bg-BG" sz="2000" dirty="0" smtClean="0"/>
              <a:t>Тестовите случаи получават приоритет според въздействието на бизнес ниво, влиянието върху критичните и/или често използвани функции, както и други критерии.</a:t>
            </a:r>
          </a:p>
          <a:p>
            <a:pPr lvl="2">
              <a:spcBef>
                <a:spcPts val="300"/>
              </a:spcBef>
            </a:pPr>
            <a:r>
              <a:rPr lang="bg-BG" sz="2000" dirty="0" smtClean="0"/>
              <a:t>Определените приоритети позволяват съществено да се намали броят на тестовите случаи, които ще се реализират.</a:t>
            </a:r>
          </a:p>
        </p:txBody>
      </p:sp>
    </p:spTree>
    <p:extLst>
      <p:ext uri="{BB962C8B-B14F-4D97-AF65-F5344CB8AC3E}">
        <p14:creationId xmlns:p14="http://schemas.microsoft.com/office/powerpoint/2010/main" val="3501560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a:xfrm>
            <a:off x="811213" y="1778000"/>
            <a:ext cx="8153275" cy="4751388"/>
          </a:xfrm>
        </p:spPr>
        <p:txBody>
          <a:bodyPr/>
          <a:lstStyle/>
          <a:p>
            <a:pPr>
              <a:spcBef>
                <a:spcPts val="300"/>
              </a:spcBef>
            </a:pPr>
            <a:r>
              <a:rPr lang="bg-BG" sz="2800" dirty="0" smtClean="0"/>
              <a:t>Три са основните техники, използвани за реализация на </a:t>
            </a:r>
            <a:r>
              <a:rPr lang="bg-BG" sz="2800" dirty="0" err="1" smtClean="0"/>
              <a:t>регресионно</a:t>
            </a:r>
            <a:r>
              <a:rPr lang="bg-BG" sz="2800" dirty="0" smtClean="0"/>
              <a:t> тестване:</a:t>
            </a:r>
          </a:p>
          <a:p>
            <a:pPr lvl="1">
              <a:spcBef>
                <a:spcPts val="300"/>
              </a:spcBef>
            </a:pPr>
            <a:r>
              <a:rPr lang="bg-BG" sz="2400" dirty="0" smtClean="0"/>
              <a:t>Редукция на тестовете чрез категоризация</a:t>
            </a:r>
          </a:p>
          <a:p>
            <a:pPr lvl="2">
              <a:spcBef>
                <a:spcPts val="300"/>
              </a:spcBef>
            </a:pPr>
            <a:r>
              <a:rPr lang="bg-BG" sz="2000" dirty="0" smtClean="0"/>
              <a:t>Извършва се категоризация на тестовите случаи:</a:t>
            </a:r>
          </a:p>
          <a:p>
            <a:pPr lvl="3">
              <a:spcBef>
                <a:spcPts val="300"/>
              </a:spcBef>
            </a:pPr>
            <a:r>
              <a:rPr lang="bg-BG" sz="1800" dirty="0" smtClean="0"/>
              <a:t>Тестовите случаи за многократна употреба могат да бъдат използвани в следващите </a:t>
            </a:r>
            <a:r>
              <a:rPr lang="bg-BG" sz="1800" dirty="0" err="1" smtClean="0"/>
              <a:t>регресионни</a:t>
            </a:r>
            <a:r>
              <a:rPr lang="bg-BG" sz="1800" dirty="0" smtClean="0"/>
              <a:t> цикли.</a:t>
            </a:r>
          </a:p>
          <a:p>
            <a:pPr lvl="3">
              <a:spcBef>
                <a:spcPts val="300"/>
              </a:spcBef>
            </a:pPr>
            <a:r>
              <a:rPr lang="bg-BG" sz="1800" dirty="0" smtClean="0"/>
              <a:t>Застарелите тестови случаи не могат да се използват в следващите цикли</a:t>
            </a:r>
          </a:p>
          <a:p>
            <a:pPr lvl="2">
              <a:spcBef>
                <a:spcPts val="300"/>
              </a:spcBef>
            </a:pPr>
            <a:r>
              <a:rPr lang="bg-BG" sz="2000" dirty="0" smtClean="0"/>
              <a:t>Изпълнява се само направената извадка според категоризация.</a:t>
            </a:r>
          </a:p>
          <a:p>
            <a:pPr lvl="1">
              <a:spcBef>
                <a:spcPts val="300"/>
              </a:spcBef>
            </a:pPr>
            <a:r>
              <a:rPr lang="bg-BG" sz="2400" dirty="0" smtClean="0"/>
              <a:t>Ефективна стратегия за тестване пести време и пари.</a:t>
            </a:r>
          </a:p>
          <a:p>
            <a:pPr lvl="2">
              <a:spcBef>
                <a:spcPts val="300"/>
              </a:spcBef>
            </a:pPr>
            <a:r>
              <a:rPr lang="bg-BG" sz="2000" dirty="0" smtClean="0"/>
              <a:t>Пример: за приложения в банковата област  регресията спестява до 60% от време в корекции на грешки и 40% от разходите за това.</a:t>
            </a:r>
            <a:endParaRPr lang="bg-BG" sz="2000" dirty="0"/>
          </a:p>
        </p:txBody>
      </p:sp>
    </p:spTree>
    <p:extLst>
      <p:ext uri="{BB962C8B-B14F-4D97-AF65-F5344CB8AC3E}">
        <p14:creationId xmlns:p14="http://schemas.microsoft.com/office/powerpoint/2010/main" val="2749899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err="1"/>
              <a:t>Регресионното</a:t>
            </a:r>
            <a:r>
              <a:rPr lang="bg-BG" dirty="0"/>
              <a:t> тестване</a:t>
            </a:r>
            <a:endParaRPr lang="en-US" dirty="0"/>
          </a:p>
        </p:txBody>
      </p:sp>
      <p:sp>
        <p:nvSpPr>
          <p:cNvPr id="3" name="Content Placeholder 2"/>
          <p:cNvSpPr>
            <a:spLocks noGrp="1"/>
          </p:cNvSpPr>
          <p:nvPr>
            <p:ph idx="1"/>
          </p:nvPr>
        </p:nvSpPr>
        <p:spPr>
          <a:xfrm>
            <a:off x="755576" y="1700808"/>
            <a:ext cx="8280920" cy="469999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300"/>
              </a:spcBef>
            </a:pPr>
            <a:r>
              <a:rPr lang="bg-BG" sz="2600" dirty="0"/>
              <a:t>За подобряване на ефективността на </a:t>
            </a:r>
            <a:r>
              <a:rPr lang="bg-BG" sz="2600" dirty="0" smtClean="0"/>
              <a:t>тестване </a:t>
            </a:r>
            <a:r>
              <a:rPr lang="bg-BG" sz="2600" dirty="0"/>
              <a:t>могат да се използват следните добри практики:</a:t>
            </a:r>
          </a:p>
          <a:p>
            <a:pPr lvl="1">
              <a:spcBef>
                <a:spcPts val="300"/>
              </a:spcBef>
            </a:pPr>
            <a:r>
              <a:rPr lang="bg-BG" sz="2300" dirty="0"/>
              <a:t>Тестови случаи, които </a:t>
            </a:r>
            <a:r>
              <a:rPr lang="bg-BG" sz="2300" dirty="0" smtClean="0"/>
              <a:t>често откриват </a:t>
            </a:r>
            <a:r>
              <a:rPr lang="bg-BG" sz="2300" dirty="0"/>
              <a:t>дефекти</a:t>
            </a:r>
          </a:p>
          <a:p>
            <a:pPr lvl="1">
              <a:spcBef>
                <a:spcPts val="300"/>
              </a:spcBef>
            </a:pPr>
            <a:r>
              <a:rPr lang="bg-BG" sz="2300" dirty="0" smtClean="0"/>
              <a:t>По-видими и по-използваните от потребителите функции</a:t>
            </a:r>
            <a:endParaRPr lang="bg-BG" sz="2300" dirty="0"/>
          </a:p>
          <a:p>
            <a:pPr lvl="1">
              <a:spcBef>
                <a:spcPts val="300"/>
              </a:spcBef>
            </a:pPr>
            <a:r>
              <a:rPr lang="bg-BG" sz="2300" dirty="0"/>
              <a:t>Тестови случаи, които проверяват основните характеристики на </a:t>
            </a:r>
            <a:r>
              <a:rPr lang="bg-BG" sz="2300" dirty="0" smtClean="0"/>
              <a:t>продукта.</a:t>
            </a:r>
            <a:endParaRPr lang="bg-BG" sz="2300" dirty="0"/>
          </a:p>
          <a:p>
            <a:pPr lvl="1">
              <a:spcBef>
                <a:spcPts val="300"/>
              </a:spcBef>
            </a:pPr>
            <a:r>
              <a:rPr lang="bg-BG" sz="2300" dirty="0"/>
              <a:t>Тестови случаи на функционалности, които са претърпели повече </a:t>
            </a:r>
            <a:r>
              <a:rPr lang="bg-BG" sz="2300" dirty="0" smtClean="0"/>
              <a:t>или по-близки във времето промени</a:t>
            </a:r>
            <a:endParaRPr lang="bg-BG" sz="2300" dirty="0"/>
          </a:p>
          <a:p>
            <a:pPr lvl="1">
              <a:spcBef>
                <a:spcPts val="300"/>
              </a:spcBef>
            </a:pPr>
            <a:r>
              <a:rPr lang="bg-BG" sz="2300" dirty="0"/>
              <a:t>Всички тестове за интеграция</a:t>
            </a:r>
          </a:p>
          <a:p>
            <a:pPr lvl="1">
              <a:spcBef>
                <a:spcPts val="300"/>
              </a:spcBef>
            </a:pPr>
            <a:r>
              <a:rPr lang="bg-BG" sz="2300" dirty="0"/>
              <a:t>Всички сложни тестови случаи</a:t>
            </a:r>
          </a:p>
          <a:p>
            <a:pPr lvl="1">
              <a:spcBef>
                <a:spcPts val="300"/>
              </a:spcBef>
            </a:pPr>
            <a:r>
              <a:rPr lang="bg-BG" sz="2300" dirty="0"/>
              <a:t>Тестови случаи с гранична стойност</a:t>
            </a:r>
          </a:p>
          <a:p>
            <a:pPr lvl="1">
              <a:spcBef>
                <a:spcPts val="300"/>
              </a:spcBef>
            </a:pPr>
            <a:r>
              <a:rPr lang="bg-BG" sz="2300" dirty="0" smtClean="0"/>
              <a:t>Тестови случаи за валидация</a:t>
            </a:r>
            <a:endParaRPr lang="bg-BG" sz="2300" dirty="0"/>
          </a:p>
        </p:txBody>
      </p:sp>
    </p:spTree>
    <p:extLst>
      <p:ext uri="{BB962C8B-B14F-4D97-AF65-F5344CB8AC3E}">
        <p14:creationId xmlns:p14="http://schemas.microsoft.com/office/powerpoint/2010/main" val="4018230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body" idx="1"/>
          </p:nvPr>
        </p:nvSpPr>
        <p:spPr>
          <a:xfrm>
            <a:off x="809625" y="1916113"/>
            <a:ext cx="7958138" cy="4613275"/>
          </a:xfrm>
        </p:spPr>
        <p:txBody>
          <a:bodyPr lIns="83852" tIns="41190" rIns="83852" bIns="41190"/>
          <a:lstStyle/>
          <a:p>
            <a:pPr eaLnBrk="1" hangingPunct="1">
              <a:spcBef>
                <a:spcPts val="831"/>
              </a:spcBef>
              <a:defRPr/>
            </a:pPr>
            <a:r>
              <a:rPr lang="bg-BG" sz="2585" dirty="0"/>
              <a:t>Насовено е към откриване на дефекти от грешки в интерфейсите или в интерпретацията на информацията за интерфейсите.</a:t>
            </a:r>
            <a:endParaRPr lang="en-GB" sz="2585" dirty="0"/>
          </a:p>
          <a:p>
            <a:pPr lvl="1" eaLnBrk="1" hangingPunct="1">
              <a:spcBef>
                <a:spcPts val="831"/>
              </a:spcBef>
              <a:defRPr/>
            </a:pPr>
            <a:r>
              <a:rPr lang="bg-BG" sz="2215" dirty="0"/>
              <a:t>Изключително важно за </a:t>
            </a:r>
            <a:r>
              <a:rPr lang="en-US" sz="2215" dirty="0"/>
              <a:t>OO </a:t>
            </a:r>
            <a:r>
              <a:rPr lang="bg-BG" sz="2215" dirty="0"/>
              <a:t>програмиране</a:t>
            </a:r>
            <a:r>
              <a:rPr lang="en-GB" sz="2215" dirty="0"/>
              <a:t>.</a:t>
            </a:r>
            <a:endParaRPr lang="bg-BG" sz="2215" dirty="0"/>
          </a:p>
          <a:p>
            <a:pPr eaLnBrk="1" hangingPunct="1">
              <a:spcBef>
                <a:spcPts val="831"/>
              </a:spcBef>
              <a:defRPr/>
            </a:pPr>
            <a:r>
              <a:rPr lang="bg-BG" sz="2585" dirty="0"/>
              <a:t>Препоръки:</a:t>
            </a:r>
          </a:p>
          <a:p>
            <a:pPr lvl="1" eaLnBrk="1" hangingPunct="1">
              <a:spcBef>
                <a:spcPts val="831"/>
              </a:spcBef>
              <a:defRPr/>
            </a:pPr>
            <a:r>
              <a:rPr lang="bg-BG" sz="2215" dirty="0"/>
              <a:t>Тестовете трябва да използват параметир, които са в близост до границите на дефиниционното си множество</a:t>
            </a:r>
            <a:r>
              <a:rPr lang="en-GB" sz="2215" dirty="0"/>
              <a:t>.</a:t>
            </a:r>
          </a:p>
          <a:p>
            <a:pPr lvl="1" eaLnBrk="1" hangingPunct="1">
              <a:spcBef>
                <a:spcPts val="831"/>
              </a:spcBef>
              <a:defRPr/>
            </a:pPr>
            <a:r>
              <a:rPr lang="bg-BG" sz="2215" dirty="0"/>
              <a:t>Всички поинтери за </a:t>
            </a:r>
            <a:r>
              <a:rPr lang="en-US" sz="2215" dirty="0"/>
              <a:t>NULL</a:t>
            </a:r>
            <a:r>
              <a:rPr lang="en-GB" sz="2215" dirty="0"/>
              <a:t>.</a:t>
            </a:r>
          </a:p>
          <a:p>
            <a:pPr lvl="1" eaLnBrk="1" hangingPunct="1">
              <a:spcBef>
                <a:spcPts val="831"/>
              </a:spcBef>
              <a:defRPr/>
            </a:pPr>
            <a:r>
              <a:rPr lang="bg-BG" sz="2215" dirty="0"/>
              <a:t>Тестове, които водят до спиране на работата на компонента</a:t>
            </a:r>
            <a:r>
              <a:rPr lang="en-GB" sz="2215" dirty="0"/>
              <a:t>.</a:t>
            </a:r>
          </a:p>
          <a:p>
            <a:pPr marL="414715" lvl="1" indent="-414715" eaLnBrk="1" hangingPunct="1">
              <a:spcBef>
                <a:spcPts val="1108"/>
              </a:spcBef>
              <a:buClr>
                <a:srgbClr val="000099"/>
              </a:buClr>
              <a:buSzPct val="90000"/>
              <a:buFont typeface="Wingdings" pitchFamily="2" charset="2"/>
              <a:buChar char="F"/>
              <a:defRPr/>
            </a:pPr>
            <a:endParaRPr lang="en-GB" dirty="0" smtClean="0">
              <a:ea typeface="+mn-ea"/>
              <a:cs typeface="+mn-cs"/>
            </a:endParaRPr>
          </a:p>
        </p:txBody>
      </p:sp>
      <p:sp>
        <p:nvSpPr>
          <p:cNvPr id="901123" name="Rectangle 3"/>
          <p:cNvSpPr>
            <a:spLocks noGrp="1" noRot="1" noChangeArrowheads="1"/>
          </p:cNvSpPr>
          <p:nvPr>
            <p:ph type="title"/>
          </p:nvPr>
        </p:nvSpPr>
        <p:spPr/>
        <p:txBody>
          <a:bodyPr/>
          <a:lstStyle/>
          <a:p>
            <a:pPr>
              <a:defRPr/>
            </a:pPr>
            <a:r>
              <a:rPr lang="bg-BG" dirty="0" smtClean="0"/>
              <a:t>Тестване на интерфейсите</a:t>
            </a:r>
            <a:endParaRPr lang="en-GB" dirty="0" smtClean="0"/>
          </a:p>
        </p:txBody>
      </p:sp>
    </p:spTree>
    <p:extLst>
      <p:ext uri="{BB962C8B-B14F-4D97-AF65-F5344CB8AC3E}">
        <p14:creationId xmlns:p14="http://schemas.microsoft.com/office/powerpoint/2010/main" val="1140865374"/>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Rot="1" noChangeArrowheads="1"/>
          </p:cNvSpPr>
          <p:nvPr>
            <p:ph type="title"/>
          </p:nvPr>
        </p:nvSpPr>
        <p:spPr/>
        <p:txBody>
          <a:bodyPr/>
          <a:lstStyle/>
          <a:p>
            <a:pPr>
              <a:defRPr/>
            </a:pPr>
            <a:r>
              <a:rPr lang="bg-BG" dirty="0" smtClean="0"/>
              <a:t>Видове интерфейси за тестване</a:t>
            </a:r>
            <a:endParaRPr lang="en-GB" dirty="0" smtClean="0"/>
          </a:p>
        </p:txBody>
      </p:sp>
      <p:sp>
        <p:nvSpPr>
          <p:cNvPr id="31747" name="Rectangle 3"/>
          <p:cNvSpPr>
            <a:spLocks noGrp="1" noChangeArrowheads="1"/>
          </p:cNvSpPr>
          <p:nvPr>
            <p:ph type="body" idx="1"/>
          </p:nvPr>
        </p:nvSpPr>
        <p:spPr>
          <a:xfrm>
            <a:off x="755576" y="1741488"/>
            <a:ext cx="8104262" cy="4783856"/>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3852" tIns="41190" rIns="83852" bIns="41190" numCol="1" anchor="t" anchorCtr="0" compatLnSpc="1">
            <a:prstTxWarp prst="textNoShape">
              <a:avLst/>
            </a:prstTxWarp>
          </a:bodyPr>
          <a:lstStyle/>
          <a:p>
            <a:pPr eaLnBrk="1" hangingPunct="1">
              <a:spcBef>
                <a:spcPts val="831"/>
              </a:spcBef>
            </a:pPr>
            <a:r>
              <a:rPr lang="bg-BG" altLang="en-US" sz="2585" dirty="0"/>
              <a:t>Параметрични</a:t>
            </a:r>
            <a:endParaRPr lang="en-GB" altLang="en-US" sz="2585" dirty="0"/>
          </a:p>
          <a:p>
            <a:pPr lvl="1" eaLnBrk="1" hangingPunct="1">
              <a:spcBef>
                <a:spcPts val="831"/>
              </a:spcBef>
            </a:pPr>
            <a:r>
              <a:rPr lang="bg-BG" altLang="en-US" sz="2215" dirty="0" smtClean="0"/>
              <a:t>Данн</a:t>
            </a:r>
            <a:r>
              <a:rPr lang="bg-BG" altLang="en-US" sz="2215" dirty="0"/>
              <a:t>и</a:t>
            </a:r>
            <a:r>
              <a:rPr lang="bg-BG" altLang="en-US" sz="2215" dirty="0" smtClean="0"/>
              <a:t>, които </a:t>
            </a:r>
            <a:r>
              <a:rPr lang="bg-BG" altLang="en-US" sz="2215" dirty="0"/>
              <a:t>се предава от една процедура към друга</a:t>
            </a:r>
            <a:r>
              <a:rPr lang="en-GB" altLang="en-US" sz="2215" dirty="0"/>
              <a:t>.</a:t>
            </a:r>
          </a:p>
          <a:p>
            <a:pPr eaLnBrk="1" hangingPunct="1">
              <a:spcBef>
                <a:spcPts val="831"/>
              </a:spcBef>
            </a:pPr>
            <a:r>
              <a:rPr lang="bg-BG" altLang="en-US" sz="2585" dirty="0"/>
              <a:t>Споделена памет</a:t>
            </a:r>
            <a:endParaRPr lang="en-GB" altLang="en-US" sz="2585" dirty="0"/>
          </a:p>
          <a:p>
            <a:pPr lvl="1" eaLnBrk="1" hangingPunct="1">
              <a:spcBef>
                <a:spcPts val="831"/>
              </a:spcBef>
            </a:pPr>
            <a:r>
              <a:rPr lang="bg-BG" altLang="en-US" sz="2215" dirty="0"/>
              <a:t>Място, което се използва за предаване на данни между процедури/обекти</a:t>
            </a:r>
            <a:r>
              <a:rPr lang="en-GB" altLang="en-US" sz="2215" dirty="0"/>
              <a:t>.</a:t>
            </a:r>
          </a:p>
          <a:p>
            <a:pPr eaLnBrk="1" hangingPunct="1">
              <a:spcBef>
                <a:spcPts val="831"/>
              </a:spcBef>
            </a:pPr>
            <a:r>
              <a:rPr lang="bg-BG" altLang="en-US" sz="2585" dirty="0"/>
              <a:t>Процедурни</a:t>
            </a:r>
            <a:endParaRPr lang="en-GB" altLang="en-US" sz="2585" dirty="0"/>
          </a:p>
          <a:p>
            <a:pPr lvl="1" eaLnBrk="1" hangingPunct="1">
              <a:spcBef>
                <a:spcPts val="831"/>
              </a:spcBef>
            </a:pPr>
            <a:r>
              <a:rPr lang="bg-BG" altLang="en-US" sz="2215" dirty="0"/>
              <a:t>Подсистемата съдържа процедури, които се извикват от други подсистеми</a:t>
            </a:r>
            <a:r>
              <a:rPr lang="en-GB" altLang="en-US" sz="2215" dirty="0"/>
              <a:t>.</a:t>
            </a:r>
          </a:p>
          <a:p>
            <a:pPr eaLnBrk="1" hangingPunct="1">
              <a:spcBef>
                <a:spcPts val="831"/>
              </a:spcBef>
            </a:pPr>
            <a:r>
              <a:rPr lang="bg-BG" altLang="en-US" sz="2585" dirty="0"/>
              <a:t>Базирани на съобщения</a:t>
            </a:r>
            <a:endParaRPr lang="en-GB" altLang="en-US" sz="2585" dirty="0"/>
          </a:p>
          <a:p>
            <a:pPr lvl="1" eaLnBrk="1" hangingPunct="1">
              <a:spcBef>
                <a:spcPts val="831"/>
              </a:spcBef>
            </a:pPr>
            <a:r>
              <a:rPr lang="bg-BG" altLang="en-US" sz="2215" dirty="0"/>
              <a:t>Подсистеми иска услуга (</a:t>
            </a:r>
            <a:r>
              <a:rPr lang="en-US" altLang="en-US" sz="2215" dirty="0"/>
              <a:t>service) </a:t>
            </a:r>
            <a:r>
              <a:rPr lang="bg-BG" altLang="en-US" sz="2215" dirty="0"/>
              <a:t>от друга подсистема.</a:t>
            </a:r>
            <a:endParaRPr lang="en-GB" altLang="en-US" sz="2215" dirty="0"/>
          </a:p>
        </p:txBody>
      </p:sp>
    </p:spTree>
    <p:extLst>
      <p:ext uri="{BB962C8B-B14F-4D97-AF65-F5344CB8AC3E}">
        <p14:creationId xmlns:p14="http://schemas.microsoft.com/office/powerpoint/2010/main" val="1299270393"/>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Rot="1" noChangeArrowheads="1"/>
          </p:cNvSpPr>
          <p:nvPr>
            <p:ph type="title"/>
          </p:nvPr>
        </p:nvSpPr>
        <p:spPr/>
        <p:txBody>
          <a:bodyPr/>
          <a:lstStyle/>
          <a:p>
            <a:pPr>
              <a:defRPr/>
            </a:pPr>
            <a:r>
              <a:rPr lang="bg-BG" dirty="0" smtClean="0"/>
              <a:t>Дефекти при интерфейси</a:t>
            </a:r>
            <a:endParaRPr lang="en-GB" dirty="0" smtClean="0"/>
          </a:p>
        </p:txBody>
      </p:sp>
      <p:sp>
        <p:nvSpPr>
          <p:cNvPr id="32771" name="Rectangle 3"/>
          <p:cNvSpPr>
            <a:spLocks noGrp="1" noChangeArrowheads="1"/>
          </p:cNvSpPr>
          <p:nvPr>
            <p:ph type="body" idx="1"/>
          </p:nvPr>
        </p:nvSpPr>
        <p:spPr>
          <a:xfrm>
            <a:off x="809625" y="1916113"/>
            <a:ext cx="7958138" cy="4613275"/>
          </a:xfrm>
        </p:spPr>
        <p:txBody>
          <a:bodyPr lIns="83852" tIns="41190" rIns="83852" bIns="41190"/>
          <a:lstStyle/>
          <a:p>
            <a:pPr eaLnBrk="1" hangingPunct="1">
              <a:defRPr/>
            </a:pPr>
            <a:r>
              <a:rPr lang="bg-BG" altLang="en-US" sz="2585"/>
              <a:t>Неправилно използване на интерфейса</a:t>
            </a:r>
            <a:endParaRPr lang="en-GB" altLang="en-US" sz="2585"/>
          </a:p>
          <a:p>
            <a:pPr lvl="1" eaLnBrk="1" hangingPunct="1">
              <a:defRPr/>
            </a:pPr>
            <a:r>
              <a:rPr lang="bg-BG" altLang="en-US" sz="2215"/>
              <a:t>Един компонент неправилно използва интерфейса на друг компонент</a:t>
            </a:r>
            <a:r>
              <a:rPr lang="en-GB" altLang="en-US" sz="2215"/>
              <a:t>.</a:t>
            </a:r>
            <a:endParaRPr lang="bg-BG" altLang="en-US" sz="2215"/>
          </a:p>
          <a:p>
            <a:pPr lvl="2" eaLnBrk="1" hangingPunct="1">
              <a:defRPr/>
            </a:pPr>
            <a:r>
              <a:rPr lang="bg-BG" altLang="en-US" sz="1846"/>
              <a:t>Неправилен ред на параметри</a:t>
            </a:r>
            <a:endParaRPr lang="en-GB" altLang="en-US" sz="1846"/>
          </a:p>
          <a:p>
            <a:pPr eaLnBrk="1" hangingPunct="1">
              <a:defRPr/>
            </a:pPr>
            <a:r>
              <a:rPr lang="bg-BG" altLang="en-US" sz="2585"/>
              <a:t>Неправилно разбиране на интерфейса</a:t>
            </a:r>
            <a:endParaRPr lang="en-GB" altLang="en-US" sz="2585"/>
          </a:p>
          <a:p>
            <a:pPr lvl="1" eaLnBrk="1" hangingPunct="1">
              <a:defRPr/>
            </a:pPr>
            <a:r>
              <a:rPr lang="bg-BG" altLang="en-US" sz="2215"/>
              <a:t>Извикващият компонент има неправилно разбиране на функционирането на извиквания компонент</a:t>
            </a:r>
            <a:r>
              <a:rPr lang="en-GB" altLang="en-US" sz="2215"/>
              <a:t>.</a:t>
            </a:r>
          </a:p>
          <a:p>
            <a:pPr eaLnBrk="1" hangingPunct="1">
              <a:defRPr/>
            </a:pPr>
            <a:r>
              <a:rPr lang="bg-BG" altLang="en-US" sz="2585"/>
              <a:t>Дефекти от времеви ограничения</a:t>
            </a:r>
            <a:endParaRPr lang="en-GB" altLang="en-US" sz="2585"/>
          </a:p>
          <a:p>
            <a:pPr lvl="1" eaLnBrk="1" hangingPunct="1">
              <a:defRPr/>
            </a:pPr>
            <a:r>
              <a:rPr lang="bg-BG" altLang="en-US" sz="2215"/>
              <a:t>Двата компонента (извикващ и извикван) работят в различни времеви мащаби.</a:t>
            </a:r>
            <a:endParaRPr lang="en-GB" altLang="en-US" sz="2215"/>
          </a:p>
        </p:txBody>
      </p:sp>
    </p:spTree>
    <p:extLst>
      <p:ext uri="{BB962C8B-B14F-4D97-AF65-F5344CB8AC3E}">
        <p14:creationId xmlns:p14="http://schemas.microsoft.com/office/powerpoint/2010/main" val="1068047877"/>
      </p:ext>
    </p:extLst>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smtClean="0"/>
              <a:t>Нефункционално </a:t>
            </a:r>
            <a:r>
              <a:rPr lang="bg-BG" dirty="0"/>
              <a:t>тестване</a:t>
            </a:r>
            <a:endParaRPr lang="en-US" dirty="0"/>
          </a:p>
        </p:txBody>
      </p:sp>
      <p:sp>
        <p:nvSpPr>
          <p:cNvPr id="5" name="Content Placeholder 4"/>
          <p:cNvSpPr>
            <a:spLocks noGrp="1"/>
          </p:cNvSpPr>
          <p:nvPr>
            <p:ph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Нефункционалното тестване може също да бъде описано като тестване на софтуерни атрибути, които не са свързани с конкретни действия или действия на потребителите</a:t>
            </a:r>
          </a:p>
          <a:p>
            <a:pPr lvl="1">
              <a:spcBef>
                <a:spcPts val="0"/>
              </a:spcBef>
            </a:pPr>
            <a:r>
              <a:rPr lang="bg-BG" sz="2400" dirty="0" smtClean="0"/>
              <a:t>Това тестване е свързано с нефункционалните изисквания и е разработено специално за оценка на готовността на системата според различните критерии, които не са обхванати от функционалното тестване. </a:t>
            </a:r>
          </a:p>
          <a:p>
            <a:pPr lvl="1">
              <a:spcBef>
                <a:spcPts val="0"/>
              </a:spcBef>
            </a:pPr>
            <a:r>
              <a:rPr lang="bg-BG" sz="2400" dirty="0" smtClean="0"/>
              <a:t>Пример: </a:t>
            </a:r>
            <a:r>
              <a:rPr lang="bg-BG" sz="2400" dirty="0" err="1" smtClean="0"/>
              <a:t>мащабируемост</a:t>
            </a:r>
            <a:r>
              <a:rPr lang="bg-BG" sz="2400" dirty="0" smtClean="0"/>
              <a:t>, сигурност, поведение на приложението при определени ограничения, производителност и други. </a:t>
            </a:r>
            <a:endParaRPr lang="bg-BG" sz="2400" dirty="0"/>
          </a:p>
        </p:txBody>
      </p:sp>
    </p:spTree>
    <p:extLst>
      <p:ext uri="{BB962C8B-B14F-4D97-AF65-F5344CB8AC3E}">
        <p14:creationId xmlns:p14="http://schemas.microsoft.com/office/powerpoint/2010/main" val="296362719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smtClean="0"/>
              <a:t>Нефункционално </a:t>
            </a:r>
            <a:r>
              <a:rPr lang="bg-BG" dirty="0"/>
              <a:t>тестване</a:t>
            </a:r>
            <a:endParaRPr lang="en-US" dirty="0"/>
          </a:p>
        </p:txBody>
      </p:sp>
      <p:sp>
        <p:nvSpPr>
          <p:cNvPr id="5" name="Content Placeholder 4"/>
          <p:cNvSpPr>
            <a:spLocks noGrp="1"/>
          </p:cNvSpPr>
          <p:nvPr>
            <p:ph idx="1"/>
          </p:nvPr>
        </p:nvSpPr>
        <p:spPr>
          <a:xfrm>
            <a:off x="811213" y="1778000"/>
            <a:ext cx="8153275"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По същество, нефункционалното тестване позволява да се измерват и сравняват резултатите от тестване на нефункционалните атрибути на софтуерните системи.</a:t>
            </a:r>
          </a:p>
          <a:p>
            <a:pPr lvl="1">
              <a:spcBef>
                <a:spcPts val="0"/>
              </a:spcBef>
            </a:pPr>
            <a:r>
              <a:rPr lang="bg-BG" sz="2400" dirty="0" smtClean="0"/>
              <a:t>Очаквани </a:t>
            </a:r>
            <a:r>
              <a:rPr lang="bg-BG" sz="2400" dirty="0" err="1" smtClean="0"/>
              <a:t>vs</a:t>
            </a:r>
            <a:r>
              <a:rPr lang="bg-BG" sz="2400" dirty="0" smtClean="0"/>
              <a:t>. Получени</a:t>
            </a:r>
          </a:p>
          <a:p>
            <a:pPr lvl="1">
              <a:spcBef>
                <a:spcPts val="0"/>
              </a:spcBef>
            </a:pPr>
            <a:r>
              <a:rPr lang="bg-BG" sz="2400" dirty="0" smtClean="0"/>
              <a:t>Текуща версия </a:t>
            </a:r>
            <a:r>
              <a:rPr lang="bg-BG" sz="2400" dirty="0" err="1" smtClean="0"/>
              <a:t>vs</a:t>
            </a:r>
            <a:r>
              <a:rPr lang="bg-BG" sz="2400" dirty="0" smtClean="0"/>
              <a:t>. Предходна версия</a:t>
            </a:r>
          </a:p>
          <a:p>
            <a:pPr lvl="1">
              <a:spcBef>
                <a:spcPts val="0"/>
              </a:spcBef>
            </a:pPr>
            <a:r>
              <a:rPr lang="bg-BG" sz="2400" dirty="0" smtClean="0"/>
              <a:t>Разработван </a:t>
            </a:r>
            <a:r>
              <a:rPr lang="en-US" sz="2400" dirty="0" smtClean="0"/>
              <a:t>vs. </a:t>
            </a:r>
            <a:r>
              <a:rPr lang="bg-BG" sz="2400" dirty="0" smtClean="0"/>
              <a:t>Добри практики</a:t>
            </a:r>
          </a:p>
          <a:p>
            <a:pPr lvl="1">
              <a:spcBef>
                <a:spcPts val="0"/>
              </a:spcBef>
            </a:pPr>
            <a:r>
              <a:rPr lang="bg-BG" sz="2400" dirty="0" smtClean="0"/>
              <a:t>Разработван </a:t>
            </a:r>
            <a:r>
              <a:rPr lang="en-US" sz="2400" dirty="0" smtClean="0"/>
              <a:t>vs. </a:t>
            </a:r>
            <a:r>
              <a:rPr lang="bg-BG" sz="2400" dirty="0" smtClean="0"/>
              <a:t>Други продукти на пазара</a:t>
            </a:r>
          </a:p>
          <a:p>
            <a:pPr>
              <a:spcBef>
                <a:spcPts val="0"/>
              </a:spcBef>
            </a:pPr>
            <a:r>
              <a:rPr lang="bg-BG" sz="2800" dirty="0" smtClean="0"/>
              <a:t>Има голямо влияние върху удовлетвореността на клиентите и потребителите от продукта. </a:t>
            </a:r>
          </a:p>
          <a:p>
            <a:pPr lvl="1">
              <a:spcBef>
                <a:spcPts val="0"/>
              </a:spcBef>
            </a:pPr>
            <a:r>
              <a:rPr lang="bg-BG" sz="2400" dirty="0" smtClean="0"/>
              <a:t>Извършва се въз основа на изискванията и тестовите сценарии, определени от клиента.</a:t>
            </a:r>
          </a:p>
        </p:txBody>
      </p:sp>
    </p:spTree>
    <p:extLst>
      <p:ext uri="{BB962C8B-B14F-4D97-AF65-F5344CB8AC3E}">
        <p14:creationId xmlns:p14="http://schemas.microsoft.com/office/powerpoint/2010/main" val="123595164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smtClean="0"/>
              <a:t>Нефункционално </a:t>
            </a:r>
            <a:r>
              <a:rPr lang="bg-BG" dirty="0"/>
              <a:t>тестване</a:t>
            </a:r>
            <a:endParaRPr lang="en-US" dirty="0"/>
          </a:p>
        </p:txBody>
      </p:sp>
      <p:sp>
        <p:nvSpPr>
          <p:cNvPr id="5" name="Content Placeholder 4"/>
          <p:cNvSpPr>
            <a:spLocks noGrp="1"/>
          </p:cNvSpPr>
          <p:nvPr>
            <p:ph idx="1"/>
          </p:nvPr>
        </p:nvSpPr>
        <p:spPr>
          <a:xfrm>
            <a:off x="811213" y="1778000"/>
            <a:ext cx="8153275"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Цели на нефункционалното тестване</a:t>
            </a:r>
          </a:p>
          <a:p>
            <a:pPr lvl="1">
              <a:spcBef>
                <a:spcPts val="0"/>
              </a:spcBef>
            </a:pPr>
            <a:r>
              <a:rPr lang="bg-BG" sz="2400" dirty="0" smtClean="0"/>
              <a:t>Да увеличи използваемостта, ефективността, поддръжка и преносимостта на продукта.</a:t>
            </a:r>
          </a:p>
          <a:p>
            <a:pPr lvl="1">
              <a:spcBef>
                <a:spcPts val="0"/>
              </a:spcBef>
            </a:pPr>
            <a:r>
              <a:rPr lang="bg-BG" sz="2400" dirty="0" smtClean="0"/>
              <a:t>Да намали производствения риск и разходите, свързани с нефункционални аспекти на продукта.</a:t>
            </a:r>
          </a:p>
          <a:p>
            <a:pPr lvl="1">
              <a:spcBef>
                <a:spcPts val="0"/>
              </a:spcBef>
            </a:pPr>
            <a:r>
              <a:rPr lang="bg-BG" sz="2400" dirty="0" smtClean="0"/>
              <a:t>Да подпомогне оптимизирането на начина, по който продуктът се инсталира, изпълнява, управлява и контролира.</a:t>
            </a:r>
          </a:p>
          <a:p>
            <a:pPr lvl="1">
              <a:spcBef>
                <a:spcPts val="0"/>
              </a:spcBef>
            </a:pPr>
            <a:r>
              <a:rPr lang="bg-BG" sz="2400" dirty="0" smtClean="0"/>
              <a:t>Осигурява измервания и показатели за вътрешни изследвания и научно-производствени проекти.</a:t>
            </a:r>
          </a:p>
          <a:p>
            <a:pPr lvl="1">
              <a:spcBef>
                <a:spcPts val="0"/>
              </a:spcBef>
            </a:pPr>
            <a:r>
              <a:rPr lang="bg-BG" sz="2400" dirty="0" smtClean="0"/>
              <a:t>Подпомага усъвършенстването на познанията за поведението на даден клас продукти и на използваемост/ограничения на технологии.</a:t>
            </a:r>
            <a:endParaRPr lang="bg-BG" sz="2000" dirty="0" smtClean="0"/>
          </a:p>
        </p:txBody>
      </p:sp>
    </p:spTree>
    <p:extLst>
      <p:ext uri="{BB962C8B-B14F-4D97-AF65-F5344CB8AC3E}">
        <p14:creationId xmlns:p14="http://schemas.microsoft.com/office/powerpoint/2010/main" val="382399723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smtClean="0"/>
              <a:t>Нефункционално </a:t>
            </a:r>
            <a:r>
              <a:rPr lang="bg-BG" dirty="0"/>
              <a:t>тестване</a:t>
            </a:r>
            <a:endParaRPr lang="en-US" dirty="0"/>
          </a:p>
        </p:txBody>
      </p:sp>
      <p:sp>
        <p:nvSpPr>
          <p:cNvPr id="5" name="Content Placeholder 4"/>
          <p:cNvSpPr>
            <a:spLocks noGrp="1"/>
          </p:cNvSpPr>
          <p:nvPr>
            <p:ph idx="1"/>
          </p:nvPr>
        </p:nvSpPr>
        <p:spPr>
          <a:xfrm>
            <a:off x="811213" y="1778000"/>
            <a:ext cx="8153275"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Характеристики на нефункционалното тестване</a:t>
            </a:r>
          </a:p>
          <a:p>
            <a:pPr lvl="1">
              <a:spcBef>
                <a:spcPts val="0"/>
              </a:spcBef>
            </a:pPr>
            <a:r>
              <a:rPr lang="bg-BG" sz="2400" dirty="0" smtClean="0"/>
              <a:t>Нефункционалното тестване трябва да бъде измеримо, т.е. няма място за субективни оценки като добро, по-добро, най-добро и т.н.</a:t>
            </a:r>
          </a:p>
          <a:p>
            <a:pPr lvl="1">
              <a:spcBef>
                <a:spcPts val="0"/>
              </a:spcBef>
            </a:pPr>
            <a:r>
              <a:rPr lang="bg-BG" sz="2400" dirty="0" smtClean="0"/>
              <a:t>Точните стойности за нефункционалните характеристики е малко вероятно да бъдат известни в началото на процеса на дефиниране на изискванията.</a:t>
            </a:r>
          </a:p>
          <a:p>
            <a:pPr lvl="1">
              <a:spcBef>
                <a:spcPts val="0"/>
              </a:spcBef>
            </a:pPr>
            <a:r>
              <a:rPr lang="bg-BG" sz="2400" dirty="0" smtClean="0"/>
              <a:t>Трябва да се дефинират приоритетите на нефункционалните изисквания</a:t>
            </a:r>
          </a:p>
          <a:p>
            <a:pPr lvl="1">
              <a:spcBef>
                <a:spcPts val="0"/>
              </a:spcBef>
            </a:pPr>
            <a:r>
              <a:rPr lang="bg-BG" sz="2400" dirty="0" smtClean="0"/>
              <a:t>Ако атрибутите за качество не са идентифицирани правилно, то нефункционалното тестване на може да покрие очакваните резултати.</a:t>
            </a:r>
            <a:endParaRPr lang="bg-BG" sz="2400" dirty="0"/>
          </a:p>
        </p:txBody>
      </p:sp>
    </p:spTree>
    <p:extLst>
      <p:ext uri="{BB962C8B-B14F-4D97-AF65-F5344CB8AC3E}">
        <p14:creationId xmlns:p14="http://schemas.microsoft.com/office/powerpoint/2010/main" val="199827816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bg-BG" dirty="0" smtClean="0"/>
              <a:t>Нефункционално </a:t>
            </a:r>
            <a:r>
              <a:rPr lang="bg-BG" dirty="0"/>
              <a:t>тестване</a:t>
            </a:r>
            <a:endParaRPr lang="en-US" dirty="0"/>
          </a:p>
        </p:txBody>
      </p:sp>
      <p:sp>
        <p:nvSpPr>
          <p:cNvPr id="5" name="Content Placeholder 4"/>
          <p:cNvSpPr>
            <a:spLocks noGrp="1"/>
          </p:cNvSpPr>
          <p:nvPr>
            <p:ph idx="1"/>
          </p:nvPr>
        </p:nvSpPr>
        <p:spPr>
          <a:xfrm>
            <a:off x="811213" y="1778000"/>
            <a:ext cx="8153275" cy="475138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0"/>
              </a:spcBef>
            </a:pPr>
            <a:r>
              <a:rPr lang="bg-BG" sz="2800" dirty="0" smtClean="0"/>
              <a:t>Основни атрибути за тестване</a:t>
            </a:r>
          </a:p>
        </p:txBody>
      </p:sp>
      <p:pic>
        <p:nvPicPr>
          <p:cNvPr id="7" name="Picture 6" descr="Non-functional Testing Image">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1714499" y="2708920"/>
            <a:ext cx="6977343" cy="3672408"/>
          </a:xfrm>
          <a:prstGeom prst="rect">
            <a:avLst/>
          </a:prstGeom>
          <a:noFill/>
          <a:ln>
            <a:noFill/>
          </a:ln>
        </p:spPr>
      </p:pic>
    </p:spTree>
    <p:extLst>
      <p:ext uri="{BB962C8B-B14F-4D97-AF65-F5344CB8AC3E}">
        <p14:creationId xmlns:p14="http://schemas.microsoft.com/office/powerpoint/2010/main" val="222538243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smtClean="0"/>
              <a:t>Нефункционално тестване</a:t>
            </a:r>
            <a:endParaRPr lang="en-US" dirty="0"/>
          </a:p>
        </p:txBody>
      </p:sp>
      <p:sp>
        <p:nvSpPr>
          <p:cNvPr id="3" name="Content Placeholder 2"/>
          <p:cNvSpPr>
            <a:spLocks noGrp="1"/>
          </p:cNvSpPr>
          <p:nvPr>
            <p:ph idx="1"/>
          </p:nvPr>
        </p:nvSpPr>
        <p:spPr/>
        <p:txBody>
          <a:bodyPr/>
          <a:lstStyle/>
          <a:p>
            <a:pPr>
              <a:spcBef>
                <a:spcPts val="200"/>
              </a:spcBef>
            </a:pPr>
            <a:r>
              <a:rPr lang="bg-BG" sz="2400" dirty="0" smtClean="0"/>
              <a:t>Видове тестове</a:t>
            </a:r>
          </a:p>
          <a:p>
            <a:pPr lvl="1">
              <a:spcBef>
                <a:spcPts val="200"/>
              </a:spcBef>
            </a:pPr>
            <a:r>
              <a:rPr lang="en-US" sz="2000" dirty="0"/>
              <a:t>Performance Testing</a:t>
            </a:r>
          </a:p>
          <a:p>
            <a:pPr lvl="1">
              <a:spcBef>
                <a:spcPts val="200"/>
              </a:spcBef>
            </a:pPr>
            <a:r>
              <a:rPr lang="en-US" sz="2000" dirty="0"/>
              <a:t>Load Testing</a:t>
            </a:r>
          </a:p>
          <a:p>
            <a:pPr lvl="1">
              <a:spcBef>
                <a:spcPts val="200"/>
              </a:spcBef>
            </a:pPr>
            <a:r>
              <a:rPr lang="en-US" sz="2000" dirty="0"/>
              <a:t>Volume Testing</a:t>
            </a:r>
          </a:p>
          <a:p>
            <a:pPr lvl="1">
              <a:spcBef>
                <a:spcPts val="200"/>
              </a:spcBef>
            </a:pPr>
            <a:r>
              <a:rPr lang="en-US" sz="2000" dirty="0"/>
              <a:t>Stress Testing</a:t>
            </a:r>
          </a:p>
          <a:p>
            <a:pPr lvl="1">
              <a:spcBef>
                <a:spcPts val="200"/>
              </a:spcBef>
            </a:pPr>
            <a:r>
              <a:rPr lang="en-US" sz="2000" dirty="0"/>
              <a:t>Security Testing</a:t>
            </a:r>
          </a:p>
          <a:p>
            <a:pPr lvl="1">
              <a:spcBef>
                <a:spcPts val="200"/>
              </a:spcBef>
            </a:pPr>
            <a:r>
              <a:rPr lang="en-US" sz="2000" dirty="0" smtClean="0"/>
              <a:t>Penetration </a:t>
            </a:r>
            <a:r>
              <a:rPr lang="en-US" sz="2000" dirty="0"/>
              <a:t>Testing</a:t>
            </a:r>
          </a:p>
          <a:p>
            <a:pPr lvl="1">
              <a:spcBef>
                <a:spcPts val="200"/>
              </a:spcBef>
            </a:pPr>
            <a:r>
              <a:rPr lang="en-US" sz="2000" dirty="0" smtClean="0"/>
              <a:t>Migration </a:t>
            </a:r>
            <a:r>
              <a:rPr lang="en-US" sz="2000" dirty="0"/>
              <a:t>Testing</a:t>
            </a:r>
          </a:p>
          <a:p>
            <a:pPr lvl="1">
              <a:spcBef>
                <a:spcPts val="200"/>
              </a:spcBef>
            </a:pPr>
            <a:r>
              <a:rPr lang="en-US" sz="2000" dirty="0" smtClean="0"/>
              <a:t>Endurance</a:t>
            </a:r>
            <a:r>
              <a:rPr lang="bg-BG" sz="2000" dirty="0" smtClean="0"/>
              <a:t> </a:t>
            </a:r>
            <a:r>
              <a:rPr lang="en-US" sz="2000" dirty="0" smtClean="0"/>
              <a:t>Testing</a:t>
            </a:r>
          </a:p>
          <a:p>
            <a:pPr lvl="1"/>
            <a:r>
              <a:rPr lang="en-US" sz="2000" dirty="0"/>
              <a:t>Localization</a:t>
            </a:r>
          </a:p>
          <a:p>
            <a:pPr lvl="1"/>
            <a:r>
              <a:rPr lang="en-US" sz="2000" dirty="0"/>
              <a:t>Globalization</a:t>
            </a:r>
          </a:p>
          <a:p>
            <a:pPr lvl="1"/>
            <a:r>
              <a:rPr lang="en-US" sz="2000" dirty="0" smtClean="0"/>
              <a:t>Interoperability</a:t>
            </a:r>
            <a:endParaRPr lang="bg-BG" sz="2000" dirty="0" smtClean="0"/>
          </a:p>
          <a:p>
            <a:pPr lvl="1"/>
            <a:r>
              <a:rPr lang="en-US" sz="2000" dirty="0"/>
              <a:t>Availability </a:t>
            </a:r>
            <a:r>
              <a:rPr lang="en-US" sz="2000" dirty="0" smtClean="0"/>
              <a:t>Testing</a:t>
            </a:r>
            <a:endParaRPr lang="bg-BG" sz="2000" dirty="0" smtClean="0"/>
          </a:p>
          <a:p>
            <a:pPr lvl="1"/>
            <a:r>
              <a:rPr lang="en-US" sz="2000" dirty="0"/>
              <a:t>Maintainability </a:t>
            </a:r>
            <a:r>
              <a:rPr lang="en-US" sz="2000" dirty="0" smtClean="0"/>
              <a:t>Testing</a:t>
            </a:r>
            <a:endParaRPr lang="en-US" sz="2000" dirty="0"/>
          </a:p>
          <a:p>
            <a:pPr lvl="1"/>
            <a:endParaRPr lang="en-US" sz="2000" dirty="0"/>
          </a:p>
          <a:p>
            <a:pPr lvl="1">
              <a:spcBef>
                <a:spcPts val="200"/>
              </a:spcBef>
            </a:pPr>
            <a:endParaRPr lang="en-US" sz="2000" dirty="0"/>
          </a:p>
          <a:p>
            <a:pPr lvl="1">
              <a:spcBef>
                <a:spcPts val="200"/>
              </a:spcBef>
            </a:pPr>
            <a:endParaRPr lang="en-US" sz="2000" dirty="0"/>
          </a:p>
          <a:p>
            <a:pPr lvl="1">
              <a:spcBef>
                <a:spcPts val="200"/>
              </a:spcBef>
            </a:pPr>
            <a:endParaRPr lang="en-US" sz="2000" dirty="0"/>
          </a:p>
        </p:txBody>
      </p:sp>
      <p:sp>
        <p:nvSpPr>
          <p:cNvPr id="4" name="Rectangle 3"/>
          <p:cNvSpPr/>
          <p:nvPr/>
        </p:nvSpPr>
        <p:spPr>
          <a:xfrm>
            <a:off x="4427984" y="2132856"/>
            <a:ext cx="4320480" cy="4437112"/>
          </a:xfrm>
          <a:prstGeom prst="rect">
            <a:avLst/>
          </a:prstGeom>
        </p:spPr>
        <p:txBody>
          <a:bodyPr wrap="square">
            <a:spAutoFit/>
          </a:bodyPr>
          <a:lstStyle/>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Failover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Scalability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Configuration Testing</a:t>
            </a:r>
          </a:p>
          <a:p>
            <a:pPr marL="742950" lvl="1" indent="-285750" algn="l" eaLnBrk="0" hangingPunct="0">
              <a:spcBef>
                <a:spcPts val="200"/>
              </a:spcBef>
              <a:buClr>
                <a:schemeClr val="accent2"/>
              </a:buClr>
              <a:buSzPct val="70000"/>
              <a:buFont typeface="Wingdings" pitchFamily="2" charset="2"/>
              <a:buChar char="Ø"/>
            </a:pPr>
            <a:r>
              <a:rPr lang="en-US" sz="2000" dirty="0" smtClean="0">
                <a:latin typeface="Calibri" panose="020F0502020204030204" pitchFamily="34" charset="0"/>
              </a:rPr>
              <a:t>Compliance </a:t>
            </a:r>
            <a:r>
              <a:rPr lang="en-US" sz="2000" dirty="0">
                <a:latin typeface="Calibri" panose="020F0502020204030204" pitchFamily="34" charset="0"/>
              </a:rPr>
              <a:t>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Portability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Efficiency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Reliability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Baseline Testing</a:t>
            </a:r>
          </a:p>
          <a:p>
            <a:pPr marL="742950" lvl="1" indent="-285750" algn="l" eaLnBrk="0" hangingPunct="0">
              <a:spcBef>
                <a:spcPts val="200"/>
              </a:spcBef>
              <a:buClr>
                <a:schemeClr val="accent2"/>
              </a:buClr>
              <a:buSzPct val="70000"/>
              <a:buFont typeface="Wingdings" pitchFamily="2" charset="2"/>
              <a:buChar char="Ø"/>
            </a:pPr>
            <a:r>
              <a:rPr lang="en-US" sz="2000" dirty="0" smtClean="0">
                <a:latin typeface="Calibri" panose="020F0502020204030204" pitchFamily="34" charset="0"/>
              </a:rPr>
              <a:t>Recovery </a:t>
            </a:r>
            <a:r>
              <a:rPr lang="en-US" sz="2000" dirty="0">
                <a:latin typeface="Calibri" panose="020F0502020204030204" pitchFamily="34" charset="0"/>
              </a:rPr>
              <a:t>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Compatibility Testing</a:t>
            </a:r>
          </a:p>
          <a:p>
            <a:pPr marL="742950" lvl="1" indent="-285750" algn="l" eaLnBrk="0" hangingPunct="0">
              <a:spcBef>
                <a:spcPts val="200"/>
              </a:spcBef>
              <a:buClr>
                <a:schemeClr val="accent2"/>
              </a:buClr>
              <a:buSzPct val="70000"/>
              <a:buFont typeface="Wingdings" pitchFamily="2" charset="2"/>
              <a:buChar char="Ø"/>
            </a:pPr>
            <a:r>
              <a:rPr lang="en-US" sz="2000" dirty="0" smtClean="0">
                <a:latin typeface="Calibri" panose="020F0502020204030204" pitchFamily="34" charset="0"/>
              </a:rPr>
              <a:t>Disaster </a:t>
            </a:r>
            <a:r>
              <a:rPr lang="en-US" sz="2000" dirty="0">
                <a:latin typeface="Calibri" panose="020F0502020204030204" pitchFamily="34" charset="0"/>
              </a:rPr>
              <a:t>Recovery </a:t>
            </a:r>
            <a:r>
              <a:rPr lang="en-US" sz="2000" dirty="0" smtClean="0">
                <a:latin typeface="Calibri" panose="020F0502020204030204" pitchFamily="34" charset="0"/>
              </a:rPr>
              <a:t>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Backup and Restore Testing</a:t>
            </a:r>
          </a:p>
          <a:p>
            <a:pPr marL="742950" lvl="1" indent="-285750" algn="l" eaLnBrk="0" hangingPunct="0">
              <a:spcBef>
                <a:spcPts val="200"/>
              </a:spcBef>
              <a:buClr>
                <a:schemeClr val="accent2"/>
              </a:buClr>
              <a:buSzPct val="70000"/>
              <a:buFont typeface="Wingdings" pitchFamily="2" charset="2"/>
              <a:buChar char="Ø"/>
            </a:pPr>
            <a:r>
              <a:rPr lang="en-US" sz="2000" dirty="0">
                <a:latin typeface="Calibri" panose="020F0502020204030204" pitchFamily="34" charset="0"/>
              </a:rPr>
              <a:t>D</a:t>
            </a:r>
            <a:r>
              <a:rPr lang="en-US" sz="2000" dirty="0" smtClean="0">
                <a:latin typeface="Calibri" panose="020F0502020204030204" pitchFamily="34" charset="0"/>
              </a:rPr>
              <a:t>ocumentation Testing</a:t>
            </a:r>
            <a:endParaRPr lang="en-US" sz="2000" dirty="0">
              <a:latin typeface="Calibri" panose="020F0502020204030204" pitchFamily="34" charset="0"/>
            </a:endParaRPr>
          </a:p>
        </p:txBody>
      </p:sp>
    </p:spTree>
    <p:extLst>
      <p:ext uri="{BB962C8B-B14F-4D97-AF65-F5344CB8AC3E}">
        <p14:creationId xmlns:p14="http://schemas.microsoft.com/office/powerpoint/2010/main" val="204302309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defRPr/>
            </a:pPr>
            <a:endParaRPr lang="bg-BG" altLang="en-US" smtClean="0"/>
          </a:p>
        </p:txBody>
      </p:sp>
      <p:sp>
        <p:nvSpPr>
          <p:cNvPr id="100355" name="Rectangle 3"/>
          <p:cNvSpPr>
            <a:spLocks noGrp="1" noChangeArrowheads="1"/>
          </p:cNvSpPr>
          <p:nvPr>
            <p:ph type="body" idx="1"/>
          </p:nvPr>
        </p:nvSpPr>
        <p:spPr/>
        <p:txBody>
          <a:bodyPr/>
          <a:lstStyle/>
          <a:p>
            <a:pPr algn="ctr" eaLnBrk="1" hangingPunct="1">
              <a:buFont typeface="Wingdings" pitchFamily="2" charset="2"/>
              <a:buNone/>
            </a:pPr>
            <a:endParaRPr lang="bg-BG" altLang="en-US" dirty="0" smtClean="0"/>
          </a:p>
          <a:p>
            <a:pPr algn="ctr" eaLnBrk="1" hangingPunct="1">
              <a:buFont typeface="Wingdings" pitchFamily="2" charset="2"/>
              <a:buNone/>
            </a:pPr>
            <a:endParaRPr lang="bg-BG" altLang="en-US" dirty="0" smtClean="0"/>
          </a:p>
          <a:p>
            <a:pPr algn="ctr" eaLnBrk="1" hangingPunct="1">
              <a:buFont typeface="Wingdings" pitchFamily="2" charset="2"/>
              <a:buNone/>
            </a:pPr>
            <a:endParaRPr lang="bg-BG" altLang="en-US" dirty="0" smtClean="0"/>
          </a:p>
          <a:p>
            <a:pPr algn="ctr" eaLnBrk="1" hangingPunct="1">
              <a:buFont typeface="Wingdings" pitchFamily="2" charset="2"/>
              <a:buNone/>
            </a:pPr>
            <a:r>
              <a:rPr lang="bg-BG" altLang="en-US" sz="4400" smtClean="0">
                <a:effectLst>
                  <a:outerShdw blurRad="38100" dist="38100" dir="2700000" algn="tl">
                    <a:srgbClr val="000000">
                      <a:alpha val="43137"/>
                    </a:srgbClr>
                  </a:outerShdw>
                </a:effectLst>
              </a:rPr>
              <a:t>Въпроси ?</a:t>
            </a:r>
            <a:endParaRPr lang="bg-BG" altLang="en-US" sz="4400" dirty="0" smtClean="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Ad-hoc </a:t>
            </a:r>
            <a:r>
              <a:rPr lang="en-US" sz="4000" dirty="0" smtClean="0"/>
              <a:t>vs </a:t>
            </a:r>
            <a:r>
              <a:rPr lang="en-GB" sz="4000" dirty="0" smtClean="0"/>
              <a:t>Monkey vs Gorilla Testing</a:t>
            </a:r>
            <a:endParaRPr lang="en-US" sz="4000" dirty="0"/>
          </a:p>
        </p:txBody>
      </p:sp>
      <p:sp>
        <p:nvSpPr>
          <p:cNvPr id="3" name="Content Placeholder 2"/>
          <p:cNvSpPr>
            <a:spLocks noGrp="1"/>
          </p:cNvSpPr>
          <p:nvPr>
            <p:ph idx="1"/>
          </p:nvPr>
        </p:nvSpPr>
        <p:spPr/>
        <p:txBody>
          <a:bodyPr/>
          <a:lstStyle/>
          <a:p>
            <a:r>
              <a:rPr lang="en-US" sz="2800" dirty="0" smtClean="0"/>
              <a:t>Ad-hoc Testing </a:t>
            </a:r>
            <a:endParaRPr lang="en-US" sz="2800" dirty="0"/>
          </a:p>
          <a:p>
            <a:pPr lvl="1"/>
            <a:r>
              <a:rPr lang="en-US" sz="2400" dirty="0" smtClean="0"/>
              <a:t>It performed </a:t>
            </a:r>
            <a:r>
              <a:rPr lang="en-US" sz="2400" dirty="0"/>
              <a:t>without planning and </a:t>
            </a:r>
            <a:r>
              <a:rPr lang="en-US" sz="2400" dirty="0" smtClean="0"/>
              <a:t>documentation.</a:t>
            </a:r>
          </a:p>
          <a:p>
            <a:pPr lvl="2"/>
            <a:r>
              <a:rPr lang="en-US" sz="2000" dirty="0" smtClean="0"/>
              <a:t>The tester </a:t>
            </a:r>
            <a:r>
              <a:rPr lang="en-US" sz="2000" dirty="0"/>
              <a:t>tries to 'break' the system by randomly trying the system's functionality. </a:t>
            </a:r>
          </a:p>
          <a:p>
            <a:pPr lvl="1"/>
            <a:r>
              <a:rPr lang="en-US" sz="2400" dirty="0"/>
              <a:t>Objective </a:t>
            </a:r>
            <a:r>
              <a:rPr lang="en-US" sz="2400" dirty="0" smtClean="0"/>
              <a:t>is </a:t>
            </a:r>
            <a:r>
              <a:rPr lang="en-US" sz="2400" dirty="0"/>
              <a:t>to divide the system randomly into subparts and check their </a:t>
            </a:r>
            <a:r>
              <a:rPr lang="en-US" sz="2400" dirty="0" smtClean="0"/>
              <a:t>functionality.</a:t>
            </a:r>
          </a:p>
          <a:p>
            <a:pPr lvl="2"/>
            <a:r>
              <a:rPr lang="en-US" sz="2000" dirty="0"/>
              <a:t>Tester must understand the system significantly before performing testing.</a:t>
            </a:r>
          </a:p>
          <a:p>
            <a:pPr lvl="1"/>
            <a:r>
              <a:rPr lang="en-US" sz="2400" dirty="0" smtClean="0"/>
              <a:t>It </a:t>
            </a:r>
            <a:r>
              <a:rPr lang="en-US" sz="2400" dirty="0"/>
              <a:t>is performed by the testing team. </a:t>
            </a:r>
            <a:endParaRPr lang="en-US" sz="2400" dirty="0" smtClean="0"/>
          </a:p>
          <a:p>
            <a:endParaRPr lang="en-US" sz="2800" dirty="0"/>
          </a:p>
        </p:txBody>
      </p:sp>
    </p:spTree>
    <p:extLst>
      <p:ext uri="{BB962C8B-B14F-4D97-AF65-F5344CB8AC3E}">
        <p14:creationId xmlns:p14="http://schemas.microsoft.com/office/powerpoint/2010/main" val="20746642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Ad-hoc vs </a:t>
            </a:r>
            <a:r>
              <a:rPr lang="en-GB" sz="4000" dirty="0"/>
              <a:t>Monkey vs Gorilla Testing</a:t>
            </a:r>
            <a:endParaRPr lang="en-US" sz="4000" dirty="0"/>
          </a:p>
        </p:txBody>
      </p:sp>
      <p:sp>
        <p:nvSpPr>
          <p:cNvPr id="3" name="Content Placeholder 2"/>
          <p:cNvSpPr>
            <a:spLocks noGrp="1"/>
          </p:cNvSpPr>
          <p:nvPr>
            <p:ph idx="1"/>
          </p:nvPr>
        </p:nvSpPr>
        <p:spPr/>
        <p:txBody>
          <a:bodyPr/>
          <a:lstStyle/>
          <a:p>
            <a:r>
              <a:rPr lang="en-US" sz="2800" dirty="0" smtClean="0"/>
              <a:t>Gorilla Testing </a:t>
            </a:r>
            <a:endParaRPr lang="en-US" sz="2800" dirty="0"/>
          </a:p>
          <a:p>
            <a:pPr lvl="1"/>
            <a:r>
              <a:rPr lang="en-US" sz="2400" dirty="0" smtClean="0"/>
              <a:t>It is a testing technique wherein </a:t>
            </a:r>
            <a:r>
              <a:rPr lang="en-US" sz="2400" dirty="0"/>
              <a:t>a module of the program is repeatedly tested to ensure that it is working correctly and there is no bug in that module.</a:t>
            </a:r>
          </a:p>
          <a:p>
            <a:pPr lvl="2"/>
            <a:r>
              <a:rPr lang="en-US" sz="2000" dirty="0" smtClean="0"/>
              <a:t>Gorilla testing is </a:t>
            </a:r>
            <a:r>
              <a:rPr lang="en-US" sz="2000" dirty="0"/>
              <a:t>performed on specifically few selective modules with few test </a:t>
            </a:r>
            <a:r>
              <a:rPr lang="en-US" sz="2000" dirty="0" smtClean="0"/>
              <a:t>cases: a selected module </a:t>
            </a:r>
            <a:r>
              <a:rPr lang="en-US" sz="2000" dirty="0"/>
              <a:t>can be tested over a hundred times, and in the same manner. </a:t>
            </a:r>
            <a:endParaRPr lang="en-US" sz="2000" dirty="0" smtClean="0"/>
          </a:p>
          <a:p>
            <a:pPr lvl="2"/>
            <a:r>
              <a:rPr lang="en-US" sz="2000" dirty="0"/>
              <a:t>Objective is to check whether the module is working properly or </a:t>
            </a:r>
            <a:r>
              <a:rPr lang="en-US" sz="2000" dirty="0" smtClean="0"/>
              <a:t>not.</a:t>
            </a:r>
            <a:endParaRPr lang="en-US" sz="2000" dirty="0"/>
          </a:p>
          <a:p>
            <a:pPr lvl="1"/>
            <a:r>
              <a:rPr lang="en-US" sz="2400" dirty="0" smtClean="0"/>
              <a:t>It </a:t>
            </a:r>
            <a:r>
              <a:rPr lang="en-US" sz="2400" dirty="0"/>
              <a:t>is neither predefined nor </a:t>
            </a:r>
            <a:r>
              <a:rPr lang="en-US" sz="2400" dirty="0" smtClean="0"/>
              <a:t>random.</a:t>
            </a:r>
          </a:p>
          <a:p>
            <a:pPr lvl="1"/>
            <a:r>
              <a:rPr lang="en-US" sz="2400" dirty="0" smtClean="0"/>
              <a:t>It is </a:t>
            </a:r>
            <a:r>
              <a:rPr lang="en-US" sz="2400" dirty="0"/>
              <a:t>also known as "Frustrating Testing".</a:t>
            </a:r>
          </a:p>
        </p:txBody>
      </p:sp>
    </p:spTree>
    <p:extLst>
      <p:ext uri="{BB962C8B-B14F-4D97-AF65-F5344CB8AC3E}">
        <p14:creationId xmlns:p14="http://schemas.microsoft.com/office/powerpoint/2010/main" val="2822236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Ad-hoc vs </a:t>
            </a:r>
            <a:r>
              <a:rPr lang="en-GB" sz="4000" dirty="0"/>
              <a:t>Monkey vs Gorilla Testing</a:t>
            </a:r>
            <a:endParaRPr lang="en-US" sz="4000" dirty="0"/>
          </a:p>
        </p:txBody>
      </p:sp>
      <p:sp>
        <p:nvSpPr>
          <p:cNvPr id="3" name="Content Placeholder 2"/>
          <p:cNvSpPr>
            <a:spLocks noGrp="1"/>
          </p:cNvSpPr>
          <p:nvPr>
            <p:ph idx="1"/>
          </p:nvPr>
        </p:nvSpPr>
        <p:spPr/>
        <p:txBody>
          <a:bodyPr/>
          <a:lstStyle/>
          <a:p>
            <a:pPr>
              <a:spcBef>
                <a:spcPts val="0"/>
              </a:spcBef>
            </a:pPr>
            <a:r>
              <a:rPr lang="en-GB" sz="2800" dirty="0"/>
              <a:t>Monkey</a:t>
            </a:r>
            <a:r>
              <a:rPr lang="en-US" sz="2800" dirty="0" smtClean="0"/>
              <a:t> Testing </a:t>
            </a:r>
            <a:endParaRPr lang="en-US" sz="2800" dirty="0"/>
          </a:p>
          <a:p>
            <a:pPr lvl="1">
              <a:spcBef>
                <a:spcPts val="0"/>
              </a:spcBef>
            </a:pPr>
            <a:r>
              <a:rPr lang="en-US" sz="2400" dirty="0" smtClean="0"/>
              <a:t>It is </a:t>
            </a:r>
            <a:r>
              <a:rPr lang="en-US" sz="2400" dirty="0"/>
              <a:t>defined as the kind of testing that deals with random inputs.</a:t>
            </a:r>
          </a:p>
          <a:p>
            <a:pPr lvl="2">
              <a:spcBef>
                <a:spcPts val="0"/>
              </a:spcBef>
            </a:pPr>
            <a:r>
              <a:rPr lang="en-US" sz="2000" dirty="0" smtClean="0"/>
              <a:t>The testers </a:t>
            </a:r>
            <a:r>
              <a:rPr lang="en-US" sz="2000" dirty="0"/>
              <a:t>may not know what is the system is all about and its </a:t>
            </a:r>
            <a:r>
              <a:rPr lang="en-US" sz="2000" dirty="0" smtClean="0"/>
              <a:t>purpose.</a:t>
            </a:r>
          </a:p>
          <a:p>
            <a:pPr lvl="1">
              <a:spcBef>
                <a:spcPts val="0"/>
              </a:spcBef>
            </a:pPr>
            <a:r>
              <a:rPr lang="en-US" sz="2400" dirty="0"/>
              <a:t>It is performed on entire system can have several test </a:t>
            </a:r>
            <a:r>
              <a:rPr lang="en-US" sz="2400" dirty="0" smtClean="0"/>
              <a:t>cases.</a:t>
            </a:r>
          </a:p>
          <a:p>
            <a:pPr lvl="2">
              <a:spcBef>
                <a:spcPts val="0"/>
              </a:spcBef>
            </a:pPr>
            <a:r>
              <a:rPr lang="en-US" sz="2000" dirty="0"/>
              <a:t>The objective </a:t>
            </a:r>
            <a:r>
              <a:rPr lang="en-US" sz="2000" dirty="0" smtClean="0"/>
              <a:t>is </a:t>
            </a:r>
            <a:r>
              <a:rPr lang="en-US" sz="2000" dirty="0"/>
              <a:t>to check for system </a:t>
            </a:r>
            <a:r>
              <a:rPr lang="en-US" sz="2000" dirty="0" smtClean="0"/>
              <a:t>crash.</a:t>
            </a:r>
          </a:p>
          <a:p>
            <a:pPr lvl="1">
              <a:spcBef>
                <a:spcPts val="0"/>
              </a:spcBef>
            </a:pPr>
            <a:r>
              <a:rPr lang="en-US" sz="2400" dirty="0"/>
              <a:t>Three types of </a:t>
            </a:r>
            <a:r>
              <a:rPr lang="en-US" sz="2400" dirty="0" smtClean="0"/>
              <a:t>Monkey testing:</a:t>
            </a:r>
          </a:p>
          <a:p>
            <a:pPr lvl="2">
              <a:spcBef>
                <a:spcPts val="0"/>
              </a:spcBef>
            </a:pPr>
            <a:r>
              <a:rPr lang="en-US" sz="2000" dirty="0">
                <a:effectLst>
                  <a:outerShdw blurRad="38100" dist="38100" dir="2700000" algn="tl">
                    <a:srgbClr val="000000">
                      <a:alpha val="43137"/>
                    </a:srgbClr>
                  </a:outerShdw>
                </a:effectLst>
              </a:rPr>
              <a:t>Dumb Monkey</a:t>
            </a:r>
            <a:r>
              <a:rPr lang="en-US" sz="2000" dirty="0"/>
              <a:t>: Testers have no idea about the system and its functionality, also no assurance about the validity of test case.</a:t>
            </a:r>
          </a:p>
          <a:p>
            <a:pPr lvl="2">
              <a:spcBef>
                <a:spcPts val="0"/>
              </a:spcBef>
            </a:pPr>
            <a:r>
              <a:rPr lang="en-US" sz="2000" dirty="0">
                <a:effectLst>
                  <a:outerShdw blurRad="38100" dist="38100" dir="2700000" algn="tl">
                    <a:srgbClr val="000000">
                      <a:alpha val="43137"/>
                    </a:srgbClr>
                  </a:outerShdw>
                </a:effectLst>
              </a:rPr>
              <a:t>Smart Monkey</a:t>
            </a:r>
            <a:r>
              <a:rPr lang="en-US" sz="2000" dirty="0"/>
              <a:t>: Tester has a precise idea about system its purpose and functionality. Tester navigates through the system and gives valid inputs to perform testing.</a:t>
            </a:r>
          </a:p>
          <a:p>
            <a:pPr lvl="2">
              <a:spcBef>
                <a:spcPts val="0"/>
              </a:spcBef>
            </a:pPr>
            <a:r>
              <a:rPr lang="en-US" sz="2000" dirty="0">
                <a:effectLst>
                  <a:outerShdw blurRad="38100" dist="38100" dir="2700000" algn="tl">
                    <a:srgbClr val="000000">
                      <a:alpha val="43137"/>
                    </a:srgbClr>
                  </a:outerShdw>
                </a:effectLst>
              </a:rPr>
              <a:t>Brilliant Monkey</a:t>
            </a:r>
            <a:r>
              <a:rPr lang="en-US" sz="2000" dirty="0"/>
              <a:t>: Testers perform testing as per user's behavior and can specify some probabilities of bugs to have occurred</a:t>
            </a:r>
            <a:r>
              <a:rPr lang="en-US" sz="2000" dirty="0" smtClean="0"/>
              <a:t>.</a:t>
            </a:r>
            <a:endParaRPr lang="en-US" sz="2000" dirty="0"/>
          </a:p>
        </p:txBody>
      </p:sp>
    </p:spTree>
    <p:extLst>
      <p:ext uri="{BB962C8B-B14F-4D97-AF65-F5344CB8AC3E}">
        <p14:creationId xmlns:p14="http://schemas.microsoft.com/office/powerpoint/2010/main" val="27306052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4270</TotalTime>
  <Words>10353</Words>
  <Application>Microsoft Office PowerPoint</Application>
  <PresentationFormat>On-screen Show (4:3)</PresentationFormat>
  <Paragraphs>1003</Paragraphs>
  <Slides>130</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130</vt:i4>
      </vt:variant>
    </vt:vector>
  </HeadingPairs>
  <TitlesOfParts>
    <vt:vector size="137" baseType="lpstr">
      <vt:lpstr>Arial</vt:lpstr>
      <vt:lpstr>Calibri</vt:lpstr>
      <vt:lpstr>Cambria</vt:lpstr>
      <vt:lpstr>Times</vt:lpstr>
      <vt:lpstr>Times New Roman</vt:lpstr>
      <vt:lpstr>Wingdings</vt:lpstr>
      <vt:lpstr>Straight Edge</vt:lpstr>
      <vt:lpstr>Тестване на Програмно Осигуряване</vt:lpstr>
      <vt:lpstr>Тестването като задача</vt:lpstr>
      <vt:lpstr>Тестването като задача</vt:lpstr>
      <vt:lpstr>Тестването като задача</vt:lpstr>
      <vt:lpstr>Тестването като задача</vt:lpstr>
      <vt:lpstr>Основни групи тестове</vt:lpstr>
      <vt:lpstr>Някои важни термини</vt:lpstr>
      <vt:lpstr>Някои важни термини</vt:lpstr>
      <vt:lpstr>Някои важни термини</vt:lpstr>
      <vt:lpstr>Тестване vs. Дебъгване</vt:lpstr>
      <vt:lpstr>STLC-модел</vt:lpstr>
      <vt:lpstr>Основни принципи на тестването</vt:lpstr>
      <vt:lpstr>Основни принципи на тестването</vt:lpstr>
      <vt:lpstr>Основни принципи на тестването</vt:lpstr>
      <vt:lpstr>Основни принципи на тестването</vt:lpstr>
      <vt:lpstr>Основни принципи на тестването</vt:lpstr>
      <vt:lpstr>10-те основни правила</vt:lpstr>
      <vt:lpstr>10-те основни правила</vt:lpstr>
      <vt:lpstr>Допълнителни правила</vt:lpstr>
      <vt:lpstr>Допълнителни правила</vt:lpstr>
      <vt:lpstr>Допълнителни правила</vt:lpstr>
      <vt:lpstr>Методология на тестване</vt:lpstr>
      <vt:lpstr>Стратегия за тестване</vt:lpstr>
      <vt:lpstr>Стратегия за тестване</vt:lpstr>
      <vt:lpstr>Сценарии за тестване</vt:lpstr>
      <vt:lpstr>Сценарии за тестване</vt:lpstr>
      <vt:lpstr>Тестови случаи</vt:lpstr>
      <vt:lpstr>Тестови случаи</vt:lpstr>
      <vt:lpstr>Тестови случаи</vt:lpstr>
      <vt:lpstr>Функционално тестване</vt:lpstr>
      <vt:lpstr>Функционално тестване</vt:lpstr>
      <vt:lpstr>Нива на тестване</vt:lpstr>
      <vt:lpstr>Тестване на блок</vt:lpstr>
      <vt:lpstr>Тестване на блок</vt:lpstr>
      <vt:lpstr>Тестване на блок</vt:lpstr>
      <vt:lpstr>Тестване на блок</vt:lpstr>
      <vt:lpstr>Тестване на блок</vt:lpstr>
      <vt:lpstr>Тестване на блок</vt:lpstr>
      <vt:lpstr>Тестване на модул</vt:lpstr>
      <vt:lpstr>Тестване на компоненти</vt:lpstr>
      <vt:lpstr>Тестване на компоненти</vt:lpstr>
      <vt:lpstr>Интеграционно тестване</vt:lpstr>
      <vt:lpstr>Интеграционно тестване</vt:lpstr>
      <vt:lpstr>Подход на „Големия взрив“</vt:lpstr>
      <vt:lpstr>Инкрементален подход</vt:lpstr>
      <vt:lpstr>Инкрементален подход</vt:lpstr>
      <vt:lpstr>Инкрементален подход</vt:lpstr>
      <vt:lpstr>Интегриране „Отгоре-Надолу“</vt:lpstr>
      <vt:lpstr>Интегриране „Отгоре-Надолу“</vt:lpstr>
      <vt:lpstr>Интегриране „Отгоре-Надолу“</vt:lpstr>
      <vt:lpstr>Интегриране „Отгоре-Надолу“</vt:lpstr>
      <vt:lpstr>Интегриране „Отгоре-Надолу“</vt:lpstr>
      <vt:lpstr>Интегриране „Отдолу-Нагоре“</vt:lpstr>
      <vt:lpstr>Интегриране „Отдолу-Нагоре“</vt:lpstr>
      <vt:lpstr>Интегриране „Отдолу-Нагоре“</vt:lpstr>
      <vt:lpstr>Интегриране „Отдолу-Нагоре“</vt:lpstr>
      <vt:lpstr>Хибридно интегриране</vt:lpstr>
      <vt:lpstr>Хибридно интегриране</vt:lpstr>
      <vt:lpstr>Системен тест</vt:lpstr>
      <vt:lpstr>Системен тест</vt:lpstr>
      <vt:lpstr>Системен тест</vt:lpstr>
      <vt:lpstr>Системен тест</vt:lpstr>
      <vt:lpstr>Системен тест</vt:lpstr>
      <vt:lpstr>Тестване на системна интеграция</vt:lpstr>
      <vt:lpstr>Тестване на системна интеграция</vt:lpstr>
      <vt:lpstr>Апаратно/Програмно тестване</vt:lpstr>
      <vt:lpstr>Апаратно/Програмно тестване</vt:lpstr>
      <vt:lpstr>Апаратно/Програмно тестване</vt:lpstr>
      <vt:lpstr>Тест за приемливост</vt:lpstr>
      <vt:lpstr>Тест за приемливост</vt:lpstr>
      <vt:lpstr>Тест за приемливост</vt:lpstr>
      <vt:lpstr>Тест за приемливост</vt:lpstr>
      <vt:lpstr>Тест за приемливост</vt:lpstr>
      <vt:lpstr>Тест за приемливост</vt:lpstr>
      <vt:lpstr>Тестване на версията за клиента</vt:lpstr>
      <vt:lpstr>Тестване на версията за клиента</vt:lpstr>
      <vt:lpstr>Алфа и Вета тестване</vt:lpstr>
      <vt:lpstr>Алфа и Вета тестване</vt:lpstr>
      <vt:lpstr>Алфа и Вета тестване</vt:lpstr>
      <vt:lpstr>Алфа тестване</vt:lpstr>
      <vt:lpstr>Алфа тестване</vt:lpstr>
      <vt:lpstr>Бета тестване</vt:lpstr>
      <vt:lpstr>Бета тестване</vt:lpstr>
      <vt:lpstr>Бета тестване</vt:lpstr>
      <vt:lpstr>Бета тестване</vt:lpstr>
      <vt:lpstr>“Sanity” тестване</vt:lpstr>
      <vt:lpstr>“Smoke” тестване</vt:lpstr>
      <vt:lpstr>“Smoke” тестване</vt:lpstr>
      <vt:lpstr>“Smoke” и “Sanity” тестване</vt:lpstr>
      <vt:lpstr>“Smoke” и “Sanity” тестване</vt:lpstr>
      <vt:lpstr>“Smoke” и “Sanity” тестване</vt:lpstr>
      <vt:lpstr>Риск-базирано тестване</vt:lpstr>
      <vt:lpstr>Риск-базирано тестване</vt:lpstr>
      <vt:lpstr>Риск-базирано тестване</vt:lpstr>
      <vt:lpstr>Риск-базирано тестване</vt:lpstr>
      <vt:lpstr>Риск-базирано тестване</vt:lpstr>
      <vt:lpstr>Риск-базирано тестване</vt:lpstr>
      <vt:lpstr>Риск-базирано тестване</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Инсталационен тест</vt:lpstr>
      <vt:lpstr>Регресивно тестване и Тестване за поддръжка</vt:lpstr>
      <vt:lpstr>Регресионното тестване</vt:lpstr>
      <vt:lpstr>Регресионното тестване</vt:lpstr>
      <vt:lpstr>Регресионното тестване</vt:lpstr>
      <vt:lpstr>Регресионното тестване</vt:lpstr>
      <vt:lpstr>Регресионното тестване</vt:lpstr>
      <vt:lpstr>Регресионното тестване</vt:lpstr>
      <vt:lpstr>Тестване на интерфейсите</vt:lpstr>
      <vt:lpstr>Видове интерфейси за тестване</vt:lpstr>
      <vt:lpstr>Дефекти при интерфейси</vt:lpstr>
      <vt:lpstr>Нефункционално тестване</vt:lpstr>
      <vt:lpstr>Нефункционално тестване</vt:lpstr>
      <vt:lpstr>Нефункционално тестване</vt:lpstr>
      <vt:lpstr>Нефункционално тестване</vt:lpstr>
      <vt:lpstr>Нефункционално тестване</vt:lpstr>
      <vt:lpstr>Нефункционално тестване</vt:lpstr>
      <vt:lpstr>PowerPoint Presentation</vt:lpstr>
      <vt:lpstr>Ad-hoc vs Monkey vs Gorilla Testing</vt:lpstr>
      <vt:lpstr>Ad-hoc vs Monkey vs Gorilla Testing</vt:lpstr>
      <vt:lpstr>Ad-hoc vs Monkey vs Gorilla Testing</vt:lpstr>
    </vt:vector>
  </TitlesOfParts>
  <Company>TU-Sofia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Основни Елементи на Композицията</dc:title>
  <dc:creator>SysMan</dc:creator>
  <cp:lastModifiedBy>xxxxx</cp:lastModifiedBy>
  <cp:revision>347</cp:revision>
  <cp:lastPrinted>1601-01-01T00:00:00Z</cp:lastPrinted>
  <dcterms:created xsi:type="dcterms:W3CDTF">2003-10-13T14:47:45Z</dcterms:created>
  <dcterms:modified xsi:type="dcterms:W3CDTF">2023-03-20T21:09:46Z</dcterms:modified>
</cp:coreProperties>
</file>